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62" r:id="rId3"/>
    <p:sldId id="263" r:id="rId4"/>
    <p:sldId id="717" r:id="rId5"/>
    <p:sldId id="718" r:id="rId6"/>
    <p:sldId id="799" r:id="rId7"/>
    <p:sldId id="724" r:id="rId8"/>
    <p:sldId id="804" r:id="rId9"/>
    <p:sldId id="805" r:id="rId10"/>
    <p:sldId id="807" r:id="rId11"/>
    <p:sldId id="808" r:id="rId12"/>
    <p:sldId id="809" r:id="rId13"/>
    <p:sldId id="810" r:id="rId14"/>
    <p:sldId id="812" r:id="rId15"/>
    <p:sldId id="811" r:id="rId16"/>
    <p:sldId id="813" r:id="rId17"/>
    <p:sldId id="814" r:id="rId18"/>
    <p:sldId id="815" r:id="rId19"/>
    <p:sldId id="816" r:id="rId20"/>
    <p:sldId id="817" r:id="rId21"/>
    <p:sldId id="818" r:id="rId22"/>
    <p:sldId id="819" r:id="rId23"/>
    <p:sldId id="820" r:id="rId24"/>
    <p:sldId id="260" r:id="rId2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96" autoAdjust="0"/>
    <p:restoredTop sz="94660"/>
  </p:normalViewPr>
  <p:slideViewPr>
    <p:cSldViewPr snapToGrid="0">
      <p:cViewPr>
        <p:scale>
          <a:sx n="100" d="100"/>
          <a:sy n="100" d="100"/>
        </p:scale>
        <p:origin x="924"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8889A1-9D5F-44B8-914E-291F880859DB}" type="datetimeFigureOut">
              <a:rPr lang="es-PE" smtClean="0"/>
              <a:t>18/10/2024</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89E40C-7386-45A4-9EF3-038954DC55A0}" type="slidenum">
              <a:rPr lang="es-PE" smtClean="0"/>
              <a:t>‹Nº›</a:t>
            </a:fld>
            <a:endParaRPr lang="es-PE"/>
          </a:p>
        </p:txBody>
      </p:sp>
    </p:spTree>
    <p:extLst>
      <p:ext uri="{BB962C8B-B14F-4D97-AF65-F5344CB8AC3E}">
        <p14:creationId xmlns:p14="http://schemas.microsoft.com/office/powerpoint/2010/main" val="3281874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4C89E3A-30EB-E0AC-7349-01070F286D69}"/>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3978EED8-662C-5237-0AE9-8F1F256E15C0}"/>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5929C1BD-048B-4325-B13A-7CA3CCA9818B}"/>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2291" name="Rectangle 3">
            <a:extLst>
              <a:ext uri="{FF2B5EF4-FFF2-40B4-BE49-F238E27FC236}">
                <a16:creationId xmlns:a16="http://schemas.microsoft.com/office/drawing/2014/main" id="{FA21C9E7-4308-2C3F-B1D6-7997279C197F}"/>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050">
            <a:extLst>
              <a:ext uri="{FF2B5EF4-FFF2-40B4-BE49-F238E27FC236}">
                <a16:creationId xmlns:a16="http://schemas.microsoft.com/office/drawing/2014/main" id="{6D004195-DBA1-7B00-A29D-9486BFC380B0}"/>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5363" name="Rectangle 2051">
            <a:extLst>
              <a:ext uri="{FF2B5EF4-FFF2-40B4-BE49-F238E27FC236}">
                <a16:creationId xmlns:a16="http://schemas.microsoft.com/office/drawing/2014/main" id="{EFF9A94E-901E-0E14-3278-96547A0447B3}"/>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3D1ED6C-8563-D89A-3EF4-AB43C2FBD11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FACC6F5F-32EA-720A-4636-FC131C9449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CO" altLang="es-P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3D1ED6C-8563-D89A-3EF4-AB43C2FBD11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FACC6F5F-32EA-720A-4636-FC131C9449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CO" altLang="es-PE"/>
          </a:p>
        </p:txBody>
      </p:sp>
    </p:spTree>
    <p:extLst>
      <p:ext uri="{BB962C8B-B14F-4D97-AF65-F5344CB8AC3E}">
        <p14:creationId xmlns:p14="http://schemas.microsoft.com/office/powerpoint/2010/main" val="2131413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3D1ED6C-8563-D89A-3EF4-AB43C2FBD11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FACC6F5F-32EA-720A-4636-FC131C9449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CO" altLang="es-PE"/>
          </a:p>
        </p:txBody>
      </p:sp>
    </p:spTree>
    <p:extLst>
      <p:ext uri="{BB962C8B-B14F-4D97-AF65-F5344CB8AC3E}">
        <p14:creationId xmlns:p14="http://schemas.microsoft.com/office/powerpoint/2010/main" val="29322503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3D1ED6C-8563-D89A-3EF4-AB43C2FBD11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FACC6F5F-32EA-720A-4636-FC131C9449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CO" altLang="es-PE"/>
          </a:p>
        </p:txBody>
      </p:sp>
    </p:spTree>
    <p:extLst>
      <p:ext uri="{BB962C8B-B14F-4D97-AF65-F5344CB8AC3E}">
        <p14:creationId xmlns:p14="http://schemas.microsoft.com/office/powerpoint/2010/main" val="6409072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3D1ED6C-8563-D89A-3EF4-AB43C2FBD11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FACC6F5F-32EA-720A-4636-FC131C9449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CO" altLang="es-PE"/>
          </a:p>
        </p:txBody>
      </p:sp>
    </p:spTree>
    <p:extLst>
      <p:ext uri="{BB962C8B-B14F-4D97-AF65-F5344CB8AC3E}">
        <p14:creationId xmlns:p14="http://schemas.microsoft.com/office/powerpoint/2010/main" val="17037487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3D1ED6C-8563-D89A-3EF4-AB43C2FBD11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FACC6F5F-32EA-720A-4636-FC131C9449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CO" altLang="es-PE"/>
          </a:p>
        </p:txBody>
      </p:sp>
    </p:spTree>
    <p:extLst>
      <p:ext uri="{BB962C8B-B14F-4D97-AF65-F5344CB8AC3E}">
        <p14:creationId xmlns:p14="http://schemas.microsoft.com/office/powerpoint/2010/main" val="767110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3D1ED6C-8563-D89A-3EF4-AB43C2FBD11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FACC6F5F-32EA-720A-4636-FC131C9449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CO" altLang="es-PE"/>
          </a:p>
        </p:txBody>
      </p:sp>
    </p:spTree>
    <p:extLst>
      <p:ext uri="{BB962C8B-B14F-4D97-AF65-F5344CB8AC3E}">
        <p14:creationId xmlns:p14="http://schemas.microsoft.com/office/powerpoint/2010/main" val="2220822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3D1ED6C-8563-D89A-3EF4-AB43C2FBD11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FACC6F5F-32EA-720A-4636-FC131C9449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CO" altLang="es-PE"/>
          </a:p>
        </p:txBody>
      </p:sp>
    </p:spTree>
    <p:extLst>
      <p:ext uri="{BB962C8B-B14F-4D97-AF65-F5344CB8AC3E}">
        <p14:creationId xmlns:p14="http://schemas.microsoft.com/office/powerpoint/2010/main" val="314892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3D1ED6C-8563-D89A-3EF4-AB43C2FBD11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FACC6F5F-32EA-720A-4636-FC131C9449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CO" altLang="es-PE"/>
          </a:p>
        </p:txBody>
      </p:sp>
    </p:spTree>
    <p:extLst>
      <p:ext uri="{BB962C8B-B14F-4D97-AF65-F5344CB8AC3E}">
        <p14:creationId xmlns:p14="http://schemas.microsoft.com/office/powerpoint/2010/main" val="32593096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3D1ED6C-8563-D89A-3EF4-AB43C2FBD11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FACC6F5F-32EA-720A-4636-FC131C9449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CO" altLang="es-PE"/>
          </a:p>
        </p:txBody>
      </p:sp>
    </p:spTree>
    <p:extLst>
      <p:ext uri="{BB962C8B-B14F-4D97-AF65-F5344CB8AC3E}">
        <p14:creationId xmlns:p14="http://schemas.microsoft.com/office/powerpoint/2010/main" val="26649011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3D1ED6C-8563-D89A-3EF4-AB43C2FBD11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FACC6F5F-32EA-720A-4636-FC131C9449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CO" altLang="es-PE"/>
          </a:p>
        </p:txBody>
      </p:sp>
    </p:spTree>
    <p:extLst>
      <p:ext uri="{BB962C8B-B14F-4D97-AF65-F5344CB8AC3E}">
        <p14:creationId xmlns:p14="http://schemas.microsoft.com/office/powerpoint/2010/main" val="29762817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3D1ED6C-8563-D89A-3EF4-AB43C2FBD11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FACC6F5F-32EA-720A-4636-FC131C9449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CO" altLang="es-PE"/>
          </a:p>
        </p:txBody>
      </p:sp>
    </p:spTree>
    <p:extLst>
      <p:ext uri="{BB962C8B-B14F-4D97-AF65-F5344CB8AC3E}">
        <p14:creationId xmlns:p14="http://schemas.microsoft.com/office/powerpoint/2010/main" val="9299181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3D1ED6C-8563-D89A-3EF4-AB43C2FBD11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FACC6F5F-32EA-720A-4636-FC131C9449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CO" altLang="es-PE"/>
          </a:p>
        </p:txBody>
      </p:sp>
    </p:spTree>
    <p:extLst>
      <p:ext uri="{BB962C8B-B14F-4D97-AF65-F5344CB8AC3E}">
        <p14:creationId xmlns:p14="http://schemas.microsoft.com/office/powerpoint/2010/main" val="1274186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3D1ED6C-8563-D89A-3EF4-AB43C2FBD11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FACC6F5F-32EA-720A-4636-FC131C9449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CO" altLang="es-PE"/>
          </a:p>
        </p:txBody>
      </p:sp>
    </p:spTree>
    <p:extLst>
      <p:ext uri="{BB962C8B-B14F-4D97-AF65-F5344CB8AC3E}">
        <p14:creationId xmlns:p14="http://schemas.microsoft.com/office/powerpoint/2010/main" val="2158106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3D1ED6C-8563-D89A-3EF4-AB43C2FBD11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FACC6F5F-32EA-720A-4636-FC131C9449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CO" altLang="es-PE"/>
          </a:p>
        </p:txBody>
      </p:sp>
    </p:spTree>
    <p:extLst>
      <p:ext uri="{BB962C8B-B14F-4D97-AF65-F5344CB8AC3E}">
        <p14:creationId xmlns:p14="http://schemas.microsoft.com/office/powerpoint/2010/main" val="16560926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3D1ED6C-8563-D89A-3EF4-AB43C2FBD11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FACC6F5F-32EA-720A-4636-FC131C9449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CO" altLang="es-PE"/>
          </a:p>
        </p:txBody>
      </p:sp>
    </p:spTree>
    <p:extLst>
      <p:ext uri="{BB962C8B-B14F-4D97-AF65-F5344CB8AC3E}">
        <p14:creationId xmlns:p14="http://schemas.microsoft.com/office/powerpoint/2010/main" val="32065128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3D1ED6C-8563-D89A-3EF4-AB43C2FBD11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FACC6F5F-32EA-720A-4636-FC131C9449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CO" altLang="es-PE"/>
          </a:p>
        </p:txBody>
      </p:sp>
    </p:spTree>
    <p:extLst>
      <p:ext uri="{BB962C8B-B14F-4D97-AF65-F5344CB8AC3E}">
        <p14:creationId xmlns:p14="http://schemas.microsoft.com/office/powerpoint/2010/main" val="30865700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18/10/2024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18/10/2024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18/10/2024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18/10/2024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18/10/2024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18/10/2024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18/10/2024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18/10/2024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18/10/2024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18/10/2024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18/10/2024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18/10/2024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jpe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jpe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jpe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1649338" y="2875002"/>
            <a:ext cx="10015556" cy="954107"/>
          </a:xfrm>
          <a:prstGeom prst="rect">
            <a:avLst/>
          </a:prstGeom>
        </p:spPr>
        <p:txBody>
          <a:bodyPr wrap="square">
            <a:spAutoFit/>
          </a:bodyPr>
          <a:lstStyle/>
          <a:p>
            <a:pPr algn="r"/>
            <a:r>
              <a:rPr lang="es-ES" sz="2800" b="1" dirty="0">
                <a:solidFill>
                  <a:schemeClr val="bg1"/>
                </a:solidFill>
                <a:latin typeface="Prompt" panose="00000500000000000000" pitchFamily="2" charset="-34"/>
                <a:cs typeface="Prompt" panose="00000500000000000000" pitchFamily="2" charset="-34"/>
              </a:rPr>
              <a:t>Programación en Python para Mantenimiento Predictivo y Simulaciones</a:t>
            </a:r>
          </a:p>
        </p:txBody>
      </p:sp>
      <p:sp>
        <p:nvSpPr>
          <p:cNvPr id="2" name="Rectángulo 1">
            <a:extLst>
              <a:ext uri="{FF2B5EF4-FFF2-40B4-BE49-F238E27FC236}">
                <a16:creationId xmlns:a16="http://schemas.microsoft.com/office/drawing/2014/main" id="{28AB71E2-9429-B203-FB59-DC7DD12C16B1}"/>
              </a:ext>
            </a:extLst>
          </p:cNvPr>
          <p:cNvSpPr/>
          <p:nvPr/>
        </p:nvSpPr>
        <p:spPr>
          <a:xfrm>
            <a:off x="8129952" y="4668193"/>
            <a:ext cx="3534942" cy="477054"/>
          </a:xfrm>
          <a:prstGeom prst="rect">
            <a:avLst/>
          </a:prstGeom>
        </p:spPr>
        <p:txBody>
          <a:bodyPr wrap="none">
            <a:spAutoFit/>
          </a:bodyPr>
          <a:lstStyle/>
          <a:p>
            <a:pPr algn="ctr"/>
            <a:r>
              <a:rPr lang="es-ES" sz="2500" dirty="0">
                <a:solidFill>
                  <a:schemeClr val="bg1"/>
                </a:solidFill>
                <a:latin typeface="Prompt" panose="00000500000000000000" pitchFamily="2" charset="-34"/>
                <a:cs typeface="Prompt" panose="00000500000000000000" pitchFamily="2" charset="-34"/>
              </a:rPr>
              <a:t>Ing. </a:t>
            </a:r>
            <a:r>
              <a:rPr lang="es-ES" sz="2500" dirty="0" err="1">
                <a:solidFill>
                  <a:schemeClr val="bg1"/>
                </a:solidFill>
                <a:latin typeface="Prompt" panose="00000500000000000000" pitchFamily="2" charset="-34"/>
                <a:cs typeface="Prompt" panose="00000500000000000000" pitchFamily="2" charset="-34"/>
              </a:rPr>
              <a:t>Breynner</a:t>
            </a:r>
            <a:r>
              <a:rPr lang="es-ES" sz="2500" dirty="0">
                <a:solidFill>
                  <a:schemeClr val="bg1"/>
                </a:solidFill>
                <a:latin typeface="Prompt" panose="00000500000000000000" pitchFamily="2" charset="-34"/>
                <a:cs typeface="Prompt" panose="00000500000000000000" pitchFamily="2" charset="-34"/>
              </a:rPr>
              <a:t> Chávez</a:t>
            </a: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54C6507F-CD92-719F-87D3-5CDDE660A43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4618" y="4581398"/>
            <a:ext cx="2080507" cy="701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6" descr="SKF entre las empresas más sostenibles del mundo por 14o año consecutivo">
            <a:extLst>
              <a:ext uri="{FF2B5EF4-FFF2-40B4-BE49-F238E27FC236}">
                <a16:creationId xmlns:a16="http://schemas.microsoft.com/office/drawing/2014/main" id="{8093DCAF-BEC0-0945-63D1-12DF3BE905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7853" y="4584216"/>
            <a:ext cx="1370310" cy="698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descr="Cementos Pacasmayo | Pacasmayo">
            <a:extLst>
              <a:ext uri="{FF2B5EF4-FFF2-40B4-BE49-F238E27FC236}">
                <a16:creationId xmlns:a16="http://schemas.microsoft.com/office/drawing/2014/main" id="{1E88F832-9270-55B1-4E13-122C95FD0AC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55223" y="5785233"/>
            <a:ext cx="814699" cy="814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5" descr="Coazucar :::">
            <a:extLst>
              <a:ext uri="{FF2B5EF4-FFF2-40B4-BE49-F238E27FC236}">
                <a16:creationId xmlns:a16="http://schemas.microsoft.com/office/drawing/2014/main" id="{9B72640A-D84D-80FF-959F-F6AEC22B4B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7857" t="36198" b="34669"/>
          <a:stretch>
            <a:fillRect/>
          </a:stretch>
        </p:blipFill>
        <p:spPr bwMode="auto">
          <a:xfrm>
            <a:off x="725654" y="5367455"/>
            <a:ext cx="2134264" cy="371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Buenaventura advierte sobre modalidad de estafa que ofrece supuestos  empleos y vehículos a cambio de dinero - Revista Minería &amp; Energía">
            <a:extLst>
              <a:ext uri="{FF2B5EF4-FFF2-40B4-BE49-F238E27FC236}">
                <a16:creationId xmlns:a16="http://schemas.microsoft.com/office/drawing/2014/main" id="{833F24A6-2D27-AEA5-4263-250D2871C6D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t="37685" b="33504"/>
          <a:stretch>
            <a:fillRect/>
          </a:stretch>
        </p:blipFill>
        <p:spPr bwMode="auto">
          <a:xfrm>
            <a:off x="3461302" y="6170565"/>
            <a:ext cx="25246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Hayduk Corporación">
            <a:extLst>
              <a:ext uri="{FF2B5EF4-FFF2-40B4-BE49-F238E27FC236}">
                <a16:creationId xmlns:a16="http://schemas.microsoft.com/office/drawing/2014/main" id="{09F5A825-CB95-4BA2-1EBF-FF50C4D538A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31445" b="28477"/>
          <a:stretch/>
        </p:blipFill>
        <p:spPr bwMode="auto">
          <a:xfrm>
            <a:off x="769647" y="5931912"/>
            <a:ext cx="1594788" cy="63916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NFIPETROL - Cámara de Comercio">
            <a:extLst>
              <a:ext uri="{FF2B5EF4-FFF2-40B4-BE49-F238E27FC236}">
                <a16:creationId xmlns:a16="http://schemas.microsoft.com/office/drawing/2014/main" id="{532C5AFC-13B2-4E90-2172-A4F9F6B573AC}"/>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40895" b="41621"/>
          <a:stretch/>
        </p:blipFill>
        <p:spPr bwMode="auto">
          <a:xfrm>
            <a:off x="2950706" y="5367455"/>
            <a:ext cx="2288476" cy="40011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mpañía Minera Antamina">
            <a:extLst>
              <a:ext uri="{FF2B5EF4-FFF2-40B4-BE49-F238E27FC236}">
                <a16:creationId xmlns:a16="http://schemas.microsoft.com/office/drawing/2014/main" id="{328B1321-001D-3D6D-7A83-C996E2411736}"/>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19633" b="20698"/>
          <a:stretch/>
        </p:blipFill>
        <p:spPr bwMode="auto">
          <a:xfrm>
            <a:off x="4810892" y="4581398"/>
            <a:ext cx="1175064" cy="701149"/>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642D51DA-1F7D-CF2D-F057-B76AF0FB453B}"/>
              </a:ext>
            </a:extLst>
          </p:cNvPr>
          <p:cNvSpPr txBox="1"/>
          <p:nvPr/>
        </p:nvSpPr>
        <p:spPr>
          <a:xfrm>
            <a:off x="653405" y="4120877"/>
            <a:ext cx="4323440" cy="400110"/>
          </a:xfrm>
          <a:prstGeom prst="rect">
            <a:avLst/>
          </a:prstGeom>
          <a:noFill/>
        </p:spPr>
        <p:txBody>
          <a:bodyPr wrap="square" rtlCol="0">
            <a:spAutoFit/>
          </a:bodyPr>
          <a:lstStyle/>
          <a:p>
            <a:r>
              <a:rPr lang="es-ES" sz="2000" b="1" dirty="0"/>
              <a:t>EXPERIENCIA PROFESIONAL</a:t>
            </a:r>
            <a:endParaRPr lang="es-PE" sz="2000" b="1" dirty="0"/>
          </a:p>
        </p:txBody>
      </p:sp>
      <p:sp>
        <p:nvSpPr>
          <p:cNvPr id="8" name="CuadroTexto 7">
            <a:extLst>
              <a:ext uri="{FF2B5EF4-FFF2-40B4-BE49-F238E27FC236}">
                <a16:creationId xmlns:a16="http://schemas.microsoft.com/office/drawing/2014/main" id="{5432A1FC-484E-98BA-3889-79AED98DDB47}"/>
              </a:ext>
            </a:extLst>
          </p:cNvPr>
          <p:cNvSpPr txBox="1"/>
          <p:nvPr/>
        </p:nvSpPr>
        <p:spPr>
          <a:xfrm>
            <a:off x="728982" y="1543194"/>
            <a:ext cx="4323440" cy="400110"/>
          </a:xfrm>
          <a:prstGeom prst="rect">
            <a:avLst/>
          </a:prstGeom>
          <a:noFill/>
        </p:spPr>
        <p:txBody>
          <a:bodyPr wrap="square" rtlCol="0">
            <a:spAutoFit/>
          </a:bodyPr>
          <a:lstStyle/>
          <a:p>
            <a:r>
              <a:rPr lang="es-ES" sz="2000" b="1" dirty="0"/>
              <a:t>ESTUDIOS ACADEMICOS</a:t>
            </a:r>
            <a:endParaRPr lang="es-PE" sz="2000" b="1" dirty="0"/>
          </a:p>
        </p:txBody>
      </p:sp>
      <p:pic>
        <p:nvPicPr>
          <p:cNvPr id="1032" name="Picture 8" descr="Universidad Nacional de Trujillo - Colegio Regional de Licenciados en  Administración La Libertad">
            <a:extLst>
              <a:ext uri="{FF2B5EF4-FFF2-40B4-BE49-F238E27FC236}">
                <a16:creationId xmlns:a16="http://schemas.microsoft.com/office/drawing/2014/main" id="{60E8F97E-82B3-6833-AAC2-AC126E55CC88}"/>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10981"/>
          <a:stretch/>
        </p:blipFill>
        <p:spPr bwMode="auto">
          <a:xfrm>
            <a:off x="833380" y="2076569"/>
            <a:ext cx="1566969" cy="74515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Centrum PUCP - Centrum PUCP agregó una foto nueva.">
            <a:extLst>
              <a:ext uri="{FF2B5EF4-FFF2-40B4-BE49-F238E27FC236}">
                <a16:creationId xmlns:a16="http://schemas.microsoft.com/office/drawing/2014/main" id="{CFF94D81-83F8-5478-9893-FF7A191CFF00}"/>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37153" b="30548"/>
          <a:stretch/>
        </p:blipFill>
        <p:spPr bwMode="auto">
          <a:xfrm>
            <a:off x="4723629" y="2190296"/>
            <a:ext cx="1910910" cy="617207"/>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Tecsup presenta su nuevo concepto educativo Tec Lab - Agenda ...">
            <a:extLst>
              <a:ext uri="{FF2B5EF4-FFF2-40B4-BE49-F238E27FC236}">
                <a16:creationId xmlns:a16="http://schemas.microsoft.com/office/drawing/2014/main" id="{0279859B-52A7-705C-E7BF-C12EE217B6EE}"/>
              </a:ext>
            </a:extLst>
          </p:cNvPr>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l="15828" t="26710" r="14873" b="39500"/>
          <a:stretch/>
        </p:blipFill>
        <p:spPr bwMode="auto">
          <a:xfrm>
            <a:off x="2498570" y="2176128"/>
            <a:ext cx="2094621" cy="631375"/>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2D0A7DAE-ACBF-3655-E635-57D9E7DD0D10}"/>
              </a:ext>
            </a:extLst>
          </p:cNvPr>
          <p:cNvPicPr>
            <a:picLocks noChangeAspect="1"/>
          </p:cNvPicPr>
          <p:nvPr/>
        </p:nvPicPr>
        <p:blipFill>
          <a:blip r:embed="rId13"/>
          <a:srcRect t="7980" r="2298" b="3394"/>
          <a:stretch/>
        </p:blipFill>
        <p:spPr>
          <a:xfrm>
            <a:off x="774166" y="2945808"/>
            <a:ext cx="1558700" cy="585553"/>
          </a:xfrm>
          <a:prstGeom prst="rect">
            <a:avLst/>
          </a:prstGeom>
        </p:spPr>
      </p:pic>
      <p:pic>
        <p:nvPicPr>
          <p:cNvPr id="12" name="Imagen 11">
            <a:extLst>
              <a:ext uri="{FF2B5EF4-FFF2-40B4-BE49-F238E27FC236}">
                <a16:creationId xmlns:a16="http://schemas.microsoft.com/office/drawing/2014/main" id="{A6C481C6-67DE-800C-9D0D-7AEA79BBEF50}"/>
              </a:ext>
            </a:extLst>
          </p:cNvPr>
          <p:cNvPicPr>
            <a:picLocks noChangeAspect="1"/>
          </p:cNvPicPr>
          <p:nvPr/>
        </p:nvPicPr>
        <p:blipFill>
          <a:blip r:embed="rId14"/>
          <a:stretch>
            <a:fillRect/>
          </a:stretch>
        </p:blipFill>
        <p:spPr>
          <a:xfrm>
            <a:off x="2712289" y="2894942"/>
            <a:ext cx="1558700" cy="649090"/>
          </a:xfrm>
          <a:prstGeom prst="rect">
            <a:avLst/>
          </a:prstGeom>
        </p:spPr>
      </p:pic>
      <p:pic>
        <p:nvPicPr>
          <p:cNvPr id="14" name="Imagen 13">
            <a:extLst>
              <a:ext uri="{FF2B5EF4-FFF2-40B4-BE49-F238E27FC236}">
                <a16:creationId xmlns:a16="http://schemas.microsoft.com/office/drawing/2014/main" id="{31D6E7B2-1F87-7B94-C733-0B12F884FB12}"/>
              </a:ext>
            </a:extLst>
          </p:cNvPr>
          <p:cNvPicPr>
            <a:picLocks noChangeAspect="1"/>
          </p:cNvPicPr>
          <p:nvPr/>
        </p:nvPicPr>
        <p:blipFill>
          <a:blip r:embed="rId15"/>
          <a:stretch>
            <a:fillRect/>
          </a:stretch>
        </p:blipFill>
        <p:spPr>
          <a:xfrm>
            <a:off x="4670195" y="2911242"/>
            <a:ext cx="1224423" cy="698523"/>
          </a:xfrm>
          <a:prstGeom prst="rect">
            <a:avLst/>
          </a:prstGeom>
        </p:spPr>
      </p:pic>
      <p:sp>
        <p:nvSpPr>
          <p:cNvPr id="15" name="CuadroTexto 14">
            <a:extLst>
              <a:ext uri="{FF2B5EF4-FFF2-40B4-BE49-F238E27FC236}">
                <a16:creationId xmlns:a16="http://schemas.microsoft.com/office/drawing/2014/main" id="{64E307B9-E677-6E26-1734-A1D2226A6A27}"/>
              </a:ext>
            </a:extLst>
          </p:cNvPr>
          <p:cNvSpPr txBox="1"/>
          <p:nvPr/>
        </p:nvSpPr>
        <p:spPr>
          <a:xfrm>
            <a:off x="660188" y="706966"/>
            <a:ext cx="4323440" cy="553998"/>
          </a:xfrm>
          <a:prstGeom prst="rect">
            <a:avLst/>
          </a:prstGeom>
          <a:noFill/>
        </p:spPr>
        <p:txBody>
          <a:bodyPr wrap="square" rtlCol="0">
            <a:spAutoFit/>
          </a:bodyPr>
          <a:lstStyle/>
          <a:p>
            <a:r>
              <a:rPr lang="es-ES" sz="3000" b="1" dirty="0"/>
              <a:t>ING. BREYNNER CHÁVEZ</a:t>
            </a:r>
            <a:endParaRPr lang="es-PE" sz="3000" b="1" dirty="0"/>
          </a:p>
        </p:txBody>
      </p:sp>
    </p:spTree>
    <p:extLst>
      <p:ext uri="{BB962C8B-B14F-4D97-AF65-F5344CB8AC3E}">
        <p14:creationId xmlns:p14="http://schemas.microsoft.com/office/powerpoint/2010/main" val="2519111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050">
            <a:extLst>
              <a:ext uri="{FF2B5EF4-FFF2-40B4-BE49-F238E27FC236}">
                <a16:creationId xmlns:a16="http://schemas.microsoft.com/office/drawing/2014/main" id="{57B32D3B-B320-4CB5-22CF-F0AEA261EEFD}"/>
              </a:ext>
            </a:extLst>
          </p:cNvPr>
          <p:cNvSpPr>
            <a:spLocks noGrp="1" noChangeArrowheads="1"/>
          </p:cNvSpPr>
          <p:nvPr>
            <p:ph type="title"/>
          </p:nvPr>
        </p:nvSpPr>
        <p:spPr>
          <a:xfrm>
            <a:off x="687803" y="240176"/>
            <a:ext cx="8789572" cy="892175"/>
          </a:xfrm>
        </p:spPr>
        <p:txBody>
          <a:bodyPr>
            <a:normAutofit fontScale="90000"/>
          </a:bodyPr>
          <a:lstStyle/>
          <a:p>
            <a:pPr eaLnBrk="1" hangingPunct="1"/>
            <a:br>
              <a:rPr lang="es-CO" altLang="es-PE" sz="3600" b="0" dirty="0">
                <a:latin typeface="Chevin-DemiBold" pitchFamily="34" charset="0"/>
              </a:rPr>
            </a:br>
            <a:r>
              <a:rPr lang="es-ES" altLang="es-PE" sz="3300" dirty="0">
                <a:latin typeface="Chevin-DemiBold" pitchFamily="34" charset="0"/>
              </a:rPr>
              <a:t>Introducción a Python para Mantenimiento Predictivo</a:t>
            </a:r>
            <a:endParaRPr lang="en-US" altLang="es-PE" sz="3300" dirty="0">
              <a:latin typeface="Chevin-DemiBold" pitchFamily="34" charset="0"/>
            </a:endParaRPr>
          </a:p>
        </p:txBody>
      </p:sp>
      <p:sp>
        <p:nvSpPr>
          <p:cNvPr id="9222" name="Rectangle 2073">
            <a:extLst>
              <a:ext uri="{FF2B5EF4-FFF2-40B4-BE49-F238E27FC236}">
                <a16:creationId xmlns:a16="http://schemas.microsoft.com/office/drawing/2014/main" id="{1CC7BA97-DA88-0ACC-0652-2269D29D9638}"/>
              </a:ext>
            </a:extLst>
          </p:cNvPr>
          <p:cNvSpPr>
            <a:spLocks noChangeArrowheads="1"/>
          </p:cNvSpPr>
          <p:nvPr/>
        </p:nvSpPr>
        <p:spPr bwMode="auto">
          <a:xfrm>
            <a:off x="687803" y="1399937"/>
            <a:ext cx="8617562" cy="2300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111000"/>
              </a:lnSpc>
              <a:spcAft>
                <a:spcPts val="1200"/>
              </a:spcAft>
              <a:buClr>
                <a:schemeClr val="tx2"/>
              </a:buClr>
              <a:buChar char="•"/>
              <a:defRPr sz="2400">
                <a:solidFill>
                  <a:srgbClr val="0066CC"/>
                </a:solidFill>
                <a:latin typeface="SKF Chevin Medium" pitchFamily="34" charset="0"/>
                <a:cs typeface="Times New Roman" panose="02020603050405020304" pitchFamily="18" charset="0"/>
              </a:defRPr>
            </a:lvl1pPr>
            <a:lvl2pPr marL="742950" indent="-285750">
              <a:lnSpc>
                <a:spcPct val="116000"/>
              </a:lnSpc>
              <a:spcAft>
                <a:spcPts val="1200"/>
              </a:spcAft>
              <a:buClr>
                <a:schemeClr val="tx2"/>
              </a:buClr>
              <a:buSzPct val="105000"/>
              <a:buChar char="•"/>
              <a:defRPr sz="2800">
                <a:solidFill>
                  <a:srgbClr val="0066CC"/>
                </a:solidFill>
                <a:latin typeface="SKF Chevin Medium" pitchFamily="34" charset="0"/>
                <a:cs typeface="Times New Roman" panose="02020603050405020304" pitchFamily="18" charset="0"/>
              </a:defRPr>
            </a:lvl2pPr>
            <a:lvl3pPr marL="1143000" indent="-228600">
              <a:lnSpc>
                <a:spcPct val="115000"/>
              </a:lnSpc>
              <a:spcAft>
                <a:spcPts val="1100"/>
              </a:spcAft>
              <a:buClr>
                <a:schemeClr val="tx2"/>
              </a:buClr>
              <a:buSzPct val="105000"/>
              <a:buChar char="•"/>
              <a:defRPr sz="1600">
                <a:solidFill>
                  <a:srgbClr val="0066CC"/>
                </a:solidFill>
                <a:latin typeface="SKF Chevin Medium" pitchFamily="34" charset="0"/>
                <a:cs typeface="Times New Roman" panose="02020603050405020304" pitchFamily="18" charset="0"/>
              </a:defRPr>
            </a:lvl3pPr>
            <a:lvl4pPr marL="1600200" indent="-228600">
              <a:lnSpc>
                <a:spcPct val="111000"/>
              </a:lnSpc>
              <a:spcAft>
                <a:spcPts val="1000"/>
              </a:spcAft>
              <a:buClr>
                <a:schemeClr val="tx2"/>
              </a:buClr>
              <a:buSzPct val="105000"/>
              <a:buChar char="•"/>
              <a:defRPr sz="1500">
                <a:solidFill>
                  <a:srgbClr val="0066CC"/>
                </a:solidFill>
                <a:latin typeface="SKF Chevin Medium" pitchFamily="34" charset="0"/>
                <a:cs typeface="Times New Roman" panose="02020603050405020304" pitchFamily="18" charset="0"/>
              </a:defRPr>
            </a:lvl4pPr>
            <a:lvl5pPr marL="2057400" indent="-228600">
              <a:lnSpc>
                <a:spcPct val="107000"/>
              </a:lnSpc>
              <a:spcAft>
                <a:spcPts val="900"/>
              </a:spcAft>
              <a:buClr>
                <a:schemeClr val="tx2"/>
              </a:buClr>
              <a:buSzPct val="105000"/>
              <a:buChar char="•"/>
              <a:defRPr sz="1400">
                <a:solidFill>
                  <a:srgbClr val="0066CC"/>
                </a:solidFill>
                <a:latin typeface="SKF Chevin Medium" pitchFamily="34" charset="0"/>
                <a:cs typeface="Times New Roman" panose="02020603050405020304" pitchFamily="18" charset="0"/>
              </a:defRPr>
            </a:lvl5pPr>
            <a:lvl6pPr marL="2514600" indent="-228600" eaLnBrk="0" fontAlgn="base" hangingPunct="0">
              <a:lnSpc>
                <a:spcPct val="107000"/>
              </a:lnSpc>
              <a:spcBef>
                <a:spcPct val="0"/>
              </a:spcBef>
              <a:spcAft>
                <a:spcPts val="900"/>
              </a:spcAft>
              <a:buClr>
                <a:schemeClr val="tx2"/>
              </a:buClr>
              <a:buSzPct val="105000"/>
              <a:buChar char="•"/>
              <a:defRPr sz="1400">
                <a:solidFill>
                  <a:srgbClr val="0066CC"/>
                </a:solidFill>
                <a:latin typeface="SKF Chevin Medium" pitchFamily="34" charset="0"/>
                <a:cs typeface="Times New Roman" panose="02020603050405020304" pitchFamily="18" charset="0"/>
              </a:defRPr>
            </a:lvl6pPr>
            <a:lvl7pPr marL="2971800" indent="-228600" eaLnBrk="0" fontAlgn="base" hangingPunct="0">
              <a:lnSpc>
                <a:spcPct val="107000"/>
              </a:lnSpc>
              <a:spcBef>
                <a:spcPct val="0"/>
              </a:spcBef>
              <a:spcAft>
                <a:spcPts val="900"/>
              </a:spcAft>
              <a:buClr>
                <a:schemeClr val="tx2"/>
              </a:buClr>
              <a:buSzPct val="105000"/>
              <a:buChar char="•"/>
              <a:defRPr sz="1400">
                <a:solidFill>
                  <a:srgbClr val="0066CC"/>
                </a:solidFill>
                <a:latin typeface="SKF Chevin Medium" pitchFamily="34" charset="0"/>
                <a:cs typeface="Times New Roman" panose="02020603050405020304" pitchFamily="18" charset="0"/>
              </a:defRPr>
            </a:lvl7pPr>
            <a:lvl8pPr marL="3429000" indent="-228600" eaLnBrk="0" fontAlgn="base" hangingPunct="0">
              <a:lnSpc>
                <a:spcPct val="107000"/>
              </a:lnSpc>
              <a:spcBef>
                <a:spcPct val="0"/>
              </a:spcBef>
              <a:spcAft>
                <a:spcPts val="900"/>
              </a:spcAft>
              <a:buClr>
                <a:schemeClr val="tx2"/>
              </a:buClr>
              <a:buSzPct val="105000"/>
              <a:buChar char="•"/>
              <a:defRPr sz="1400">
                <a:solidFill>
                  <a:srgbClr val="0066CC"/>
                </a:solidFill>
                <a:latin typeface="SKF Chevin Medium" pitchFamily="34" charset="0"/>
                <a:cs typeface="Times New Roman" panose="02020603050405020304" pitchFamily="18" charset="0"/>
              </a:defRPr>
            </a:lvl8pPr>
            <a:lvl9pPr marL="3886200" indent="-228600" eaLnBrk="0" fontAlgn="base" hangingPunct="0">
              <a:lnSpc>
                <a:spcPct val="107000"/>
              </a:lnSpc>
              <a:spcBef>
                <a:spcPct val="0"/>
              </a:spcBef>
              <a:spcAft>
                <a:spcPts val="900"/>
              </a:spcAft>
              <a:buClr>
                <a:schemeClr val="tx2"/>
              </a:buClr>
              <a:buSzPct val="105000"/>
              <a:buChar char="•"/>
              <a:defRPr sz="1400">
                <a:solidFill>
                  <a:srgbClr val="0066CC"/>
                </a:solidFill>
                <a:latin typeface="SKF Chevin Medium" pitchFamily="34" charset="0"/>
                <a:cs typeface="Times New Roman" panose="02020603050405020304" pitchFamily="18" charset="0"/>
              </a:defRPr>
            </a:lvl9pPr>
          </a:lstStyle>
          <a:p>
            <a:pPr>
              <a:lnSpc>
                <a:spcPts val="2500"/>
              </a:lnSpc>
              <a:spcAft>
                <a:spcPct val="0"/>
              </a:spcAft>
              <a:buClrTx/>
              <a:buNone/>
            </a:pPr>
            <a:r>
              <a:rPr lang="es-ES" altLang="es-PE" b="1" dirty="0">
                <a:solidFill>
                  <a:schemeClr val="tx1"/>
                </a:solidFill>
                <a:latin typeface="Chevin-Medium" pitchFamily="34" charset="0"/>
              </a:rPr>
              <a:t>¿Qué es Python?</a:t>
            </a:r>
          </a:p>
          <a:p>
            <a:pPr>
              <a:lnSpc>
                <a:spcPts val="2500"/>
              </a:lnSpc>
              <a:spcAft>
                <a:spcPct val="0"/>
              </a:spcAft>
              <a:buClrTx/>
              <a:buNone/>
            </a:pPr>
            <a:endParaRPr lang="es-ES" altLang="es-PE" dirty="0">
              <a:solidFill>
                <a:schemeClr val="tx1"/>
              </a:solidFill>
              <a:latin typeface="Chevin-Medium" pitchFamily="34" charset="0"/>
            </a:endParaRPr>
          </a:p>
          <a:p>
            <a:pPr>
              <a:lnSpc>
                <a:spcPts val="2500"/>
              </a:lnSpc>
              <a:spcAft>
                <a:spcPct val="0"/>
              </a:spcAft>
              <a:buClrTx/>
              <a:buNone/>
            </a:pPr>
            <a:r>
              <a:rPr lang="es-ES" altLang="es-PE" dirty="0">
                <a:solidFill>
                  <a:schemeClr val="tx1"/>
                </a:solidFill>
                <a:latin typeface="Chevin-Medium" pitchFamily="34" charset="0"/>
              </a:rPr>
              <a:t>Python es un lenguaje de programación de alto nivel, fácil de aprender y ampliamente utilizado en diversas áreas.</a:t>
            </a:r>
          </a:p>
          <a:p>
            <a:pPr>
              <a:lnSpc>
                <a:spcPts val="2500"/>
              </a:lnSpc>
              <a:spcAft>
                <a:spcPct val="0"/>
              </a:spcAft>
              <a:buClrTx/>
              <a:buNone/>
            </a:pPr>
            <a:endParaRPr lang="es-ES" altLang="es-PE" dirty="0">
              <a:solidFill>
                <a:schemeClr val="tx1"/>
              </a:solidFill>
              <a:latin typeface="Chevin-Medium" pitchFamily="34" charset="0"/>
            </a:endParaRPr>
          </a:p>
          <a:p>
            <a:pPr>
              <a:lnSpc>
                <a:spcPts val="2500"/>
              </a:lnSpc>
              <a:spcAft>
                <a:spcPct val="0"/>
              </a:spcAft>
              <a:buClrTx/>
              <a:buNone/>
            </a:pPr>
            <a:r>
              <a:rPr lang="es-ES" altLang="es-PE" dirty="0">
                <a:solidFill>
                  <a:schemeClr val="tx1"/>
                </a:solidFill>
                <a:latin typeface="Chevin-Medium" pitchFamily="34" charset="0"/>
              </a:rPr>
              <a:t>Su sintaxis simple y extensa biblioteca de paquetes lo hacen ideal para análisis de datos, automatización y desarrollo de aplicaciones.</a:t>
            </a:r>
          </a:p>
        </p:txBody>
      </p:sp>
      <p:sp>
        <p:nvSpPr>
          <p:cNvPr id="9223" name="Rectángulo 29">
            <a:extLst>
              <a:ext uri="{FF2B5EF4-FFF2-40B4-BE49-F238E27FC236}">
                <a16:creationId xmlns:a16="http://schemas.microsoft.com/office/drawing/2014/main" id="{FB122D43-7504-212C-2D5D-74F9A6B3337E}"/>
              </a:ext>
            </a:extLst>
          </p:cNvPr>
          <p:cNvSpPr>
            <a:spLocks noChangeArrowheads="1"/>
          </p:cNvSpPr>
          <p:nvPr/>
        </p:nvSpPr>
        <p:spPr bwMode="auto">
          <a:xfrm>
            <a:off x="1735139" y="6192839"/>
            <a:ext cx="1654175" cy="649287"/>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9224" name="Rectángulo 30">
            <a:extLst>
              <a:ext uri="{FF2B5EF4-FFF2-40B4-BE49-F238E27FC236}">
                <a16:creationId xmlns:a16="http://schemas.microsoft.com/office/drawing/2014/main" id="{47D5526D-FC20-EBFE-BC8C-2DC37A91D9A4}"/>
              </a:ext>
            </a:extLst>
          </p:cNvPr>
          <p:cNvSpPr>
            <a:spLocks noChangeArrowheads="1"/>
          </p:cNvSpPr>
          <p:nvPr/>
        </p:nvSpPr>
        <p:spPr bwMode="auto">
          <a:xfrm>
            <a:off x="8572501" y="6192839"/>
            <a:ext cx="1654175" cy="649287"/>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3" name="CuadroTexto 2">
            <a:extLst>
              <a:ext uri="{FF2B5EF4-FFF2-40B4-BE49-F238E27FC236}">
                <a16:creationId xmlns:a16="http://schemas.microsoft.com/office/drawing/2014/main" id="{3B2AC2B3-D132-702F-7134-827B976FCCF0}"/>
              </a:ext>
            </a:extLst>
          </p:cNvPr>
          <p:cNvSpPr txBox="1"/>
          <p:nvPr/>
        </p:nvSpPr>
        <p:spPr>
          <a:xfrm>
            <a:off x="572396" y="3926919"/>
            <a:ext cx="10454191" cy="2648674"/>
          </a:xfrm>
          <a:prstGeom prst="rect">
            <a:avLst/>
          </a:prstGeom>
          <a:noFill/>
        </p:spPr>
        <p:txBody>
          <a:bodyPr wrap="square">
            <a:spAutoFit/>
          </a:bodyPr>
          <a:lstStyle/>
          <a:p>
            <a:pPr>
              <a:lnSpc>
                <a:spcPct val="107000"/>
              </a:lnSpc>
              <a:spcAft>
                <a:spcPts val="800"/>
              </a:spcAft>
            </a:pPr>
            <a:r>
              <a:rPr lang="es-PE" sz="2400" b="1" kern="100" dirty="0">
                <a:effectLst/>
                <a:latin typeface="Arial" panose="020B0604020202020204" pitchFamily="34" charset="0"/>
                <a:ea typeface="Calibri" panose="020F0502020204030204" pitchFamily="34" charset="0"/>
                <a:cs typeface="Times New Roman" panose="02020603050405020304" pitchFamily="18" charset="0"/>
              </a:rPr>
              <a:t>Aplicaciones: </a:t>
            </a:r>
            <a:endParaRPr lang="es-PE" sz="2400" b="1"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PE" sz="2400" kern="100" dirty="0">
                <a:effectLst/>
                <a:latin typeface="Arial" panose="020B0604020202020204" pitchFamily="34" charset="0"/>
                <a:ea typeface="Calibri" panose="020F0502020204030204" pitchFamily="34" charset="0"/>
                <a:cs typeface="Times New Roman" panose="02020603050405020304" pitchFamily="18" charset="0"/>
              </a:rPr>
              <a:t>Python se utiliza en ciencia de datos para la manipulación, análisis y visualización de grandes volúmenes de datos.</a:t>
            </a:r>
            <a:endParaRPr lang="es-PE"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PE" sz="2400" kern="100" dirty="0">
                <a:latin typeface="Arial" panose="020B0604020202020204" pitchFamily="34" charset="0"/>
                <a:ea typeface="Calibri" panose="020F0502020204030204" pitchFamily="34" charset="0"/>
                <a:cs typeface="Times New Roman" panose="02020603050405020304" pitchFamily="18" charset="0"/>
              </a:rPr>
              <a:t>P</a:t>
            </a:r>
            <a:r>
              <a:rPr lang="es-PE" sz="2400" kern="100" dirty="0">
                <a:effectLst/>
                <a:latin typeface="Arial" panose="020B0604020202020204" pitchFamily="34" charset="0"/>
                <a:ea typeface="Calibri" panose="020F0502020204030204" pitchFamily="34" charset="0"/>
                <a:cs typeface="Times New Roman" panose="02020603050405020304" pitchFamily="18" charset="0"/>
              </a:rPr>
              <a:t>ermite analizar datos de fallos, predecir tiempos de inactividad, y optimizar planes de mantenimiento mediante modelos estadísticos y de aprendizaje automático.</a:t>
            </a:r>
            <a:endParaRPr lang="es-PE"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Rectangle 1049">
            <a:extLst>
              <a:ext uri="{FF2B5EF4-FFF2-40B4-BE49-F238E27FC236}">
                <a16:creationId xmlns:a16="http://schemas.microsoft.com/office/drawing/2014/main" id="{59BAA8D9-1310-3D95-3864-FE8CAC4176B2}"/>
              </a:ext>
            </a:extLst>
          </p:cNvPr>
          <p:cNvSpPr>
            <a:spLocks noChangeArrowheads="1"/>
          </p:cNvSpPr>
          <p:nvPr/>
        </p:nvSpPr>
        <p:spPr bwMode="auto">
          <a:xfrm>
            <a:off x="785308" y="1215614"/>
            <a:ext cx="9187031" cy="3373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111000"/>
              </a:lnSpc>
              <a:spcAft>
                <a:spcPts val="1200"/>
              </a:spcAft>
              <a:buClr>
                <a:schemeClr val="tx2"/>
              </a:buClr>
              <a:buChar char="•"/>
              <a:defRPr sz="2400">
                <a:solidFill>
                  <a:srgbClr val="0066CC"/>
                </a:solidFill>
                <a:latin typeface="SKF Chevin Medium" pitchFamily="34" charset="0"/>
                <a:cs typeface="Times New Roman" panose="02020603050405020304" pitchFamily="18" charset="0"/>
              </a:defRPr>
            </a:lvl1pPr>
            <a:lvl2pPr marL="742950" indent="-285750">
              <a:lnSpc>
                <a:spcPct val="116000"/>
              </a:lnSpc>
              <a:spcAft>
                <a:spcPts val="1200"/>
              </a:spcAft>
              <a:buClr>
                <a:schemeClr val="tx2"/>
              </a:buClr>
              <a:buSzPct val="105000"/>
              <a:buChar char="•"/>
              <a:defRPr sz="2800">
                <a:solidFill>
                  <a:srgbClr val="0066CC"/>
                </a:solidFill>
                <a:latin typeface="SKF Chevin Medium" pitchFamily="34" charset="0"/>
                <a:cs typeface="Times New Roman" panose="02020603050405020304" pitchFamily="18" charset="0"/>
              </a:defRPr>
            </a:lvl2pPr>
            <a:lvl3pPr marL="1143000" indent="-228600">
              <a:lnSpc>
                <a:spcPct val="115000"/>
              </a:lnSpc>
              <a:spcAft>
                <a:spcPts val="1100"/>
              </a:spcAft>
              <a:buClr>
                <a:schemeClr val="tx2"/>
              </a:buClr>
              <a:buSzPct val="105000"/>
              <a:buChar char="•"/>
              <a:defRPr sz="1600">
                <a:solidFill>
                  <a:srgbClr val="0066CC"/>
                </a:solidFill>
                <a:latin typeface="SKF Chevin Medium" pitchFamily="34" charset="0"/>
                <a:cs typeface="Times New Roman" panose="02020603050405020304" pitchFamily="18" charset="0"/>
              </a:defRPr>
            </a:lvl3pPr>
            <a:lvl4pPr marL="1600200" indent="-228600">
              <a:lnSpc>
                <a:spcPct val="111000"/>
              </a:lnSpc>
              <a:spcAft>
                <a:spcPts val="1000"/>
              </a:spcAft>
              <a:buClr>
                <a:schemeClr val="tx2"/>
              </a:buClr>
              <a:buSzPct val="105000"/>
              <a:buChar char="•"/>
              <a:defRPr sz="1500">
                <a:solidFill>
                  <a:srgbClr val="0066CC"/>
                </a:solidFill>
                <a:latin typeface="SKF Chevin Medium" pitchFamily="34" charset="0"/>
                <a:cs typeface="Times New Roman" panose="02020603050405020304" pitchFamily="18" charset="0"/>
              </a:defRPr>
            </a:lvl4pPr>
            <a:lvl5pPr marL="2057400" indent="-228600">
              <a:lnSpc>
                <a:spcPct val="107000"/>
              </a:lnSpc>
              <a:spcAft>
                <a:spcPts val="900"/>
              </a:spcAft>
              <a:buClr>
                <a:schemeClr val="tx2"/>
              </a:buClr>
              <a:buSzPct val="105000"/>
              <a:buChar char="•"/>
              <a:defRPr sz="1400">
                <a:solidFill>
                  <a:srgbClr val="0066CC"/>
                </a:solidFill>
                <a:latin typeface="SKF Chevin Medium" pitchFamily="34" charset="0"/>
                <a:cs typeface="Times New Roman" panose="02020603050405020304" pitchFamily="18" charset="0"/>
              </a:defRPr>
            </a:lvl5pPr>
            <a:lvl6pPr marL="2514600" indent="-228600" eaLnBrk="0" fontAlgn="base" hangingPunct="0">
              <a:lnSpc>
                <a:spcPct val="107000"/>
              </a:lnSpc>
              <a:spcBef>
                <a:spcPct val="0"/>
              </a:spcBef>
              <a:spcAft>
                <a:spcPts val="900"/>
              </a:spcAft>
              <a:buClr>
                <a:schemeClr val="tx2"/>
              </a:buClr>
              <a:buSzPct val="105000"/>
              <a:buChar char="•"/>
              <a:defRPr sz="1400">
                <a:solidFill>
                  <a:srgbClr val="0066CC"/>
                </a:solidFill>
                <a:latin typeface="SKF Chevin Medium" pitchFamily="34" charset="0"/>
                <a:cs typeface="Times New Roman" panose="02020603050405020304" pitchFamily="18" charset="0"/>
              </a:defRPr>
            </a:lvl6pPr>
            <a:lvl7pPr marL="2971800" indent="-228600" eaLnBrk="0" fontAlgn="base" hangingPunct="0">
              <a:lnSpc>
                <a:spcPct val="107000"/>
              </a:lnSpc>
              <a:spcBef>
                <a:spcPct val="0"/>
              </a:spcBef>
              <a:spcAft>
                <a:spcPts val="900"/>
              </a:spcAft>
              <a:buClr>
                <a:schemeClr val="tx2"/>
              </a:buClr>
              <a:buSzPct val="105000"/>
              <a:buChar char="•"/>
              <a:defRPr sz="1400">
                <a:solidFill>
                  <a:srgbClr val="0066CC"/>
                </a:solidFill>
                <a:latin typeface="SKF Chevin Medium" pitchFamily="34" charset="0"/>
                <a:cs typeface="Times New Roman" panose="02020603050405020304" pitchFamily="18" charset="0"/>
              </a:defRPr>
            </a:lvl7pPr>
            <a:lvl8pPr marL="3429000" indent="-228600" eaLnBrk="0" fontAlgn="base" hangingPunct="0">
              <a:lnSpc>
                <a:spcPct val="107000"/>
              </a:lnSpc>
              <a:spcBef>
                <a:spcPct val="0"/>
              </a:spcBef>
              <a:spcAft>
                <a:spcPts val="900"/>
              </a:spcAft>
              <a:buClr>
                <a:schemeClr val="tx2"/>
              </a:buClr>
              <a:buSzPct val="105000"/>
              <a:buChar char="•"/>
              <a:defRPr sz="1400">
                <a:solidFill>
                  <a:srgbClr val="0066CC"/>
                </a:solidFill>
                <a:latin typeface="SKF Chevin Medium" pitchFamily="34" charset="0"/>
                <a:cs typeface="Times New Roman" panose="02020603050405020304" pitchFamily="18" charset="0"/>
              </a:defRPr>
            </a:lvl8pPr>
            <a:lvl9pPr marL="3886200" indent="-228600" eaLnBrk="0" fontAlgn="base" hangingPunct="0">
              <a:lnSpc>
                <a:spcPct val="107000"/>
              </a:lnSpc>
              <a:spcBef>
                <a:spcPct val="0"/>
              </a:spcBef>
              <a:spcAft>
                <a:spcPts val="900"/>
              </a:spcAft>
              <a:buClr>
                <a:schemeClr val="tx2"/>
              </a:buClr>
              <a:buSzPct val="105000"/>
              <a:buChar char="•"/>
              <a:defRPr sz="1400">
                <a:solidFill>
                  <a:srgbClr val="0066CC"/>
                </a:solidFill>
                <a:latin typeface="SKF Chevin Medium" pitchFamily="34" charset="0"/>
                <a:cs typeface="Times New Roman" panose="02020603050405020304" pitchFamily="18" charset="0"/>
              </a:defRPr>
            </a:lvl9pPr>
          </a:lstStyle>
          <a:p>
            <a:pPr>
              <a:lnSpc>
                <a:spcPts val="2500"/>
              </a:lnSpc>
              <a:spcAft>
                <a:spcPct val="0"/>
              </a:spcAft>
              <a:buClrTx/>
              <a:buNone/>
            </a:pPr>
            <a:r>
              <a:rPr lang="es-ES" altLang="es-PE" dirty="0">
                <a:solidFill>
                  <a:schemeClr val="tx1"/>
                </a:solidFill>
                <a:latin typeface="Chevin-Medium" pitchFamily="34" charset="0"/>
              </a:rPr>
              <a:t>Google </a:t>
            </a:r>
            <a:r>
              <a:rPr lang="es-ES" altLang="es-PE" dirty="0" err="1">
                <a:solidFill>
                  <a:schemeClr val="tx1"/>
                </a:solidFill>
                <a:latin typeface="Chevin-Medium" pitchFamily="34" charset="0"/>
              </a:rPr>
              <a:t>Colab</a:t>
            </a:r>
            <a:r>
              <a:rPr lang="es-ES" altLang="es-PE" dirty="0">
                <a:solidFill>
                  <a:schemeClr val="tx1"/>
                </a:solidFill>
                <a:latin typeface="Chevin-Medium" pitchFamily="34" charset="0"/>
              </a:rPr>
              <a:t> es una plataforma online gratuita que permite ejecutar Python en un entorno basado en la nube.</a:t>
            </a:r>
          </a:p>
          <a:p>
            <a:pPr>
              <a:lnSpc>
                <a:spcPts val="2500"/>
              </a:lnSpc>
              <a:spcAft>
                <a:spcPct val="0"/>
              </a:spcAft>
              <a:buClrTx/>
              <a:buNone/>
            </a:pPr>
            <a:endParaRPr lang="es-ES" altLang="es-PE" dirty="0">
              <a:solidFill>
                <a:schemeClr val="tx1"/>
              </a:solidFill>
              <a:latin typeface="Chevin-Medium" pitchFamily="34" charset="0"/>
            </a:endParaRPr>
          </a:p>
          <a:p>
            <a:pPr>
              <a:lnSpc>
                <a:spcPts val="2500"/>
              </a:lnSpc>
              <a:spcAft>
                <a:spcPct val="0"/>
              </a:spcAft>
              <a:buClrTx/>
              <a:buNone/>
            </a:pPr>
            <a:r>
              <a:rPr lang="es-ES" altLang="es-PE" dirty="0">
                <a:solidFill>
                  <a:schemeClr val="tx1"/>
                </a:solidFill>
                <a:latin typeface="Chevin-Medium" pitchFamily="34" charset="0"/>
              </a:rPr>
              <a:t>Es ideal para proyectos de ciencia de datos y mantenimiento predictivo, ya que no requiere instalación local de software.</a:t>
            </a:r>
          </a:p>
          <a:p>
            <a:pPr>
              <a:lnSpc>
                <a:spcPts val="2500"/>
              </a:lnSpc>
              <a:spcAft>
                <a:spcPct val="0"/>
              </a:spcAft>
              <a:buClrTx/>
              <a:buNone/>
            </a:pPr>
            <a:endParaRPr lang="es-ES" altLang="es-PE" dirty="0">
              <a:solidFill>
                <a:schemeClr val="tx1"/>
              </a:solidFill>
              <a:latin typeface="Chevin-Medium" pitchFamily="34" charset="0"/>
            </a:endParaRPr>
          </a:p>
          <a:p>
            <a:pPr>
              <a:lnSpc>
                <a:spcPts val="2500"/>
              </a:lnSpc>
              <a:spcAft>
                <a:spcPct val="0"/>
              </a:spcAft>
              <a:buClrTx/>
              <a:buNone/>
            </a:pPr>
            <a:r>
              <a:rPr lang="es-ES" altLang="es-PE" dirty="0">
                <a:solidFill>
                  <a:schemeClr val="tx1"/>
                </a:solidFill>
                <a:latin typeface="Chevin-Medium" pitchFamily="34" charset="0"/>
              </a:rPr>
              <a:t>Ofrece recursos computacionales gratuitos, como GPU y almacenamiento en la nube, facilitando el desarrollo y la ejecución de modelos predictivos.</a:t>
            </a:r>
          </a:p>
        </p:txBody>
      </p:sp>
      <p:sp>
        <p:nvSpPr>
          <p:cNvPr id="11274" name="Rectángulo 34">
            <a:extLst>
              <a:ext uri="{FF2B5EF4-FFF2-40B4-BE49-F238E27FC236}">
                <a16:creationId xmlns:a16="http://schemas.microsoft.com/office/drawing/2014/main" id="{B08EAC9B-7F6D-5A81-70DC-96AC05619C80}"/>
              </a:ext>
            </a:extLst>
          </p:cNvPr>
          <p:cNvSpPr>
            <a:spLocks noChangeArrowheads="1"/>
          </p:cNvSpPr>
          <p:nvPr/>
        </p:nvSpPr>
        <p:spPr bwMode="auto">
          <a:xfrm>
            <a:off x="1735139" y="6192839"/>
            <a:ext cx="1654175" cy="649287"/>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11275" name="Rectángulo 35">
            <a:extLst>
              <a:ext uri="{FF2B5EF4-FFF2-40B4-BE49-F238E27FC236}">
                <a16:creationId xmlns:a16="http://schemas.microsoft.com/office/drawing/2014/main" id="{23D34D67-B0C3-760C-096E-87FAD3A9CCF0}"/>
              </a:ext>
            </a:extLst>
          </p:cNvPr>
          <p:cNvSpPr>
            <a:spLocks noChangeArrowheads="1"/>
          </p:cNvSpPr>
          <p:nvPr/>
        </p:nvSpPr>
        <p:spPr bwMode="auto">
          <a:xfrm>
            <a:off x="8572501" y="6192839"/>
            <a:ext cx="1654175" cy="649287"/>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2" name="Rectangle 2050">
            <a:extLst>
              <a:ext uri="{FF2B5EF4-FFF2-40B4-BE49-F238E27FC236}">
                <a16:creationId xmlns:a16="http://schemas.microsoft.com/office/drawing/2014/main" id="{AB40474D-F3C0-BD6A-31F4-B870AF104D86}"/>
              </a:ext>
            </a:extLst>
          </p:cNvPr>
          <p:cNvSpPr>
            <a:spLocks noGrp="1" noChangeArrowheads="1"/>
          </p:cNvSpPr>
          <p:nvPr>
            <p:ph type="title"/>
          </p:nvPr>
        </p:nvSpPr>
        <p:spPr>
          <a:xfrm>
            <a:off x="687803" y="240176"/>
            <a:ext cx="7766050" cy="892175"/>
          </a:xfrm>
        </p:spPr>
        <p:txBody>
          <a:bodyPr>
            <a:normAutofit fontScale="90000"/>
          </a:bodyPr>
          <a:lstStyle/>
          <a:p>
            <a:pPr eaLnBrk="1" hangingPunct="1"/>
            <a:br>
              <a:rPr lang="es-CO" altLang="es-PE" sz="3600" b="0" dirty="0">
                <a:latin typeface="Chevin-DemiBold" pitchFamily="34" charset="0"/>
              </a:rPr>
            </a:br>
            <a:r>
              <a:rPr lang="es-ES" altLang="es-PE" sz="3600" dirty="0">
                <a:latin typeface="Chevin-DemiBold" pitchFamily="34" charset="0"/>
              </a:rPr>
              <a:t>Introducción a Google </a:t>
            </a:r>
            <a:r>
              <a:rPr lang="es-ES" altLang="es-PE" sz="3600" dirty="0" err="1">
                <a:latin typeface="Chevin-DemiBold" pitchFamily="34" charset="0"/>
              </a:rPr>
              <a:t>Colab</a:t>
            </a:r>
            <a:r>
              <a:rPr lang="es-ES" altLang="es-PE" sz="3600" dirty="0">
                <a:latin typeface="Chevin-DemiBold" pitchFamily="34" charset="0"/>
              </a:rPr>
              <a:t>:</a:t>
            </a:r>
            <a:endParaRPr lang="en-US" altLang="es-PE" sz="3600" dirty="0">
              <a:latin typeface="Chevin-DemiBold" pitchFamily="34" charset="0"/>
            </a:endParaRPr>
          </a:p>
        </p:txBody>
      </p:sp>
      <p:sp>
        <p:nvSpPr>
          <p:cNvPr id="4" name="Rectangle 1049">
            <a:extLst>
              <a:ext uri="{FF2B5EF4-FFF2-40B4-BE49-F238E27FC236}">
                <a16:creationId xmlns:a16="http://schemas.microsoft.com/office/drawing/2014/main" id="{BA845D14-83A2-2D56-D05E-A42DCBF3F1C7}"/>
              </a:ext>
            </a:extLst>
          </p:cNvPr>
          <p:cNvSpPr>
            <a:spLocks noChangeArrowheads="1"/>
          </p:cNvSpPr>
          <p:nvPr/>
        </p:nvSpPr>
        <p:spPr bwMode="auto">
          <a:xfrm>
            <a:off x="785308" y="4437731"/>
            <a:ext cx="9187030" cy="2180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111000"/>
              </a:lnSpc>
              <a:spcAft>
                <a:spcPts val="1200"/>
              </a:spcAft>
              <a:buClr>
                <a:schemeClr val="tx2"/>
              </a:buClr>
              <a:buChar char="•"/>
              <a:defRPr sz="2400">
                <a:solidFill>
                  <a:srgbClr val="0066CC"/>
                </a:solidFill>
                <a:latin typeface="SKF Chevin Medium" pitchFamily="34" charset="0"/>
                <a:cs typeface="Times New Roman" panose="02020603050405020304" pitchFamily="18" charset="0"/>
              </a:defRPr>
            </a:lvl1pPr>
            <a:lvl2pPr marL="742950" indent="-285750">
              <a:lnSpc>
                <a:spcPct val="116000"/>
              </a:lnSpc>
              <a:spcAft>
                <a:spcPts val="1200"/>
              </a:spcAft>
              <a:buClr>
                <a:schemeClr val="tx2"/>
              </a:buClr>
              <a:buSzPct val="105000"/>
              <a:buChar char="•"/>
              <a:defRPr sz="2800">
                <a:solidFill>
                  <a:srgbClr val="0066CC"/>
                </a:solidFill>
                <a:latin typeface="SKF Chevin Medium" pitchFamily="34" charset="0"/>
                <a:cs typeface="Times New Roman" panose="02020603050405020304" pitchFamily="18" charset="0"/>
              </a:defRPr>
            </a:lvl2pPr>
            <a:lvl3pPr marL="1143000" indent="-228600">
              <a:lnSpc>
                <a:spcPct val="115000"/>
              </a:lnSpc>
              <a:spcAft>
                <a:spcPts val="1100"/>
              </a:spcAft>
              <a:buClr>
                <a:schemeClr val="tx2"/>
              </a:buClr>
              <a:buSzPct val="105000"/>
              <a:buChar char="•"/>
              <a:defRPr sz="1600">
                <a:solidFill>
                  <a:srgbClr val="0066CC"/>
                </a:solidFill>
                <a:latin typeface="SKF Chevin Medium" pitchFamily="34" charset="0"/>
                <a:cs typeface="Times New Roman" panose="02020603050405020304" pitchFamily="18" charset="0"/>
              </a:defRPr>
            </a:lvl3pPr>
            <a:lvl4pPr marL="1600200" indent="-228600">
              <a:lnSpc>
                <a:spcPct val="111000"/>
              </a:lnSpc>
              <a:spcAft>
                <a:spcPts val="1000"/>
              </a:spcAft>
              <a:buClr>
                <a:schemeClr val="tx2"/>
              </a:buClr>
              <a:buSzPct val="105000"/>
              <a:buChar char="•"/>
              <a:defRPr sz="1500">
                <a:solidFill>
                  <a:srgbClr val="0066CC"/>
                </a:solidFill>
                <a:latin typeface="SKF Chevin Medium" pitchFamily="34" charset="0"/>
                <a:cs typeface="Times New Roman" panose="02020603050405020304" pitchFamily="18" charset="0"/>
              </a:defRPr>
            </a:lvl4pPr>
            <a:lvl5pPr marL="2057400" indent="-228600">
              <a:lnSpc>
                <a:spcPct val="107000"/>
              </a:lnSpc>
              <a:spcAft>
                <a:spcPts val="900"/>
              </a:spcAft>
              <a:buClr>
                <a:schemeClr val="tx2"/>
              </a:buClr>
              <a:buSzPct val="105000"/>
              <a:buChar char="•"/>
              <a:defRPr sz="1400">
                <a:solidFill>
                  <a:srgbClr val="0066CC"/>
                </a:solidFill>
                <a:latin typeface="SKF Chevin Medium" pitchFamily="34" charset="0"/>
                <a:cs typeface="Times New Roman" panose="02020603050405020304" pitchFamily="18" charset="0"/>
              </a:defRPr>
            </a:lvl5pPr>
            <a:lvl6pPr marL="2514600" indent="-228600" eaLnBrk="0" fontAlgn="base" hangingPunct="0">
              <a:lnSpc>
                <a:spcPct val="107000"/>
              </a:lnSpc>
              <a:spcBef>
                <a:spcPct val="0"/>
              </a:spcBef>
              <a:spcAft>
                <a:spcPts val="900"/>
              </a:spcAft>
              <a:buClr>
                <a:schemeClr val="tx2"/>
              </a:buClr>
              <a:buSzPct val="105000"/>
              <a:buChar char="•"/>
              <a:defRPr sz="1400">
                <a:solidFill>
                  <a:srgbClr val="0066CC"/>
                </a:solidFill>
                <a:latin typeface="SKF Chevin Medium" pitchFamily="34" charset="0"/>
                <a:cs typeface="Times New Roman" panose="02020603050405020304" pitchFamily="18" charset="0"/>
              </a:defRPr>
            </a:lvl6pPr>
            <a:lvl7pPr marL="2971800" indent="-228600" eaLnBrk="0" fontAlgn="base" hangingPunct="0">
              <a:lnSpc>
                <a:spcPct val="107000"/>
              </a:lnSpc>
              <a:spcBef>
                <a:spcPct val="0"/>
              </a:spcBef>
              <a:spcAft>
                <a:spcPts val="900"/>
              </a:spcAft>
              <a:buClr>
                <a:schemeClr val="tx2"/>
              </a:buClr>
              <a:buSzPct val="105000"/>
              <a:buChar char="•"/>
              <a:defRPr sz="1400">
                <a:solidFill>
                  <a:srgbClr val="0066CC"/>
                </a:solidFill>
                <a:latin typeface="SKF Chevin Medium" pitchFamily="34" charset="0"/>
                <a:cs typeface="Times New Roman" panose="02020603050405020304" pitchFamily="18" charset="0"/>
              </a:defRPr>
            </a:lvl7pPr>
            <a:lvl8pPr marL="3429000" indent="-228600" eaLnBrk="0" fontAlgn="base" hangingPunct="0">
              <a:lnSpc>
                <a:spcPct val="107000"/>
              </a:lnSpc>
              <a:spcBef>
                <a:spcPct val="0"/>
              </a:spcBef>
              <a:spcAft>
                <a:spcPts val="900"/>
              </a:spcAft>
              <a:buClr>
                <a:schemeClr val="tx2"/>
              </a:buClr>
              <a:buSzPct val="105000"/>
              <a:buChar char="•"/>
              <a:defRPr sz="1400">
                <a:solidFill>
                  <a:srgbClr val="0066CC"/>
                </a:solidFill>
                <a:latin typeface="SKF Chevin Medium" pitchFamily="34" charset="0"/>
                <a:cs typeface="Times New Roman" panose="02020603050405020304" pitchFamily="18" charset="0"/>
              </a:defRPr>
            </a:lvl8pPr>
            <a:lvl9pPr marL="3886200" indent="-228600" eaLnBrk="0" fontAlgn="base" hangingPunct="0">
              <a:lnSpc>
                <a:spcPct val="107000"/>
              </a:lnSpc>
              <a:spcBef>
                <a:spcPct val="0"/>
              </a:spcBef>
              <a:spcAft>
                <a:spcPts val="900"/>
              </a:spcAft>
              <a:buClr>
                <a:schemeClr val="tx2"/>
              </a:buClr>
              <a:buSzPct val="105000"/>
              <a:buChar char="•"/>
              <a:defRPr sz="1400">
                <a:solidFill>
                  <a:srgbClr val="0066CC"/>
                </a:solidFill>
                <a:latin typeface="SKF Chevin Medium" pitchFamily="34" charset="0"/>
                <a:cs typeface="Times New Roman" panose="02020603050405020304" pitchFamily="18" charset="0"/>
              </a:defRPr>
            </a:lvl9pPr>
          </a:lstStyle>
          <a:p>
            <a:pPr>
              <a:lnSpc>
                <a:spcPts val="2500"/>
              </a:lnSpc>
              <a:spcAft>
                <a:spcPct val="0"/>
              </a:spcAft>
              <a:buClrTx/>
              <a:buNone/>
            </a:pPr>
            <a:r>
              <a:rPr lang="es-ES" altLang="es-PE" dirty="0">
                <a:solidFill>
                  <a:schemeClr val="tx1"/>
                </a:solidFill>
                <a:latin typeface="Chevin-Medium" pitchFamily="34" charset="0"/>
              </a:rPr>
              <a:t>Las principales bibliotecas que utilizaremos son:</a:t>
            </a:r>
          </a:p>
          <a:p>
            <a:pPr>
              <a:lnSpc>
                <a:spcPts val="2500"/>
              </a:lnSpc>
              <a:spcAft>
                <a:spcPct val="0"/>
              </a:spcAft>
              <a:buClrTx/>
              <a:buNone/>
            </a:pPr>
            <a:endParaRPr lang="es-ES" altLang="es-PE" dirty="0">
              <a:solidFill>
                <a:schemeClr val="tx1"/>
              </a:solidFill>
              <a:latin typeface="Chevin-Medium" pitchFamily="34" charset="0"/>
            </a:endParaRPr>
          </a:p>
          <a:p>
            <a:pPr>
              <a:lnSpc>
                <a:spcPts val="2500"/>
              </a:lnSpc>
              <a:spcAft>
                <a:spcPct val="0"/>
              </a:spcAft>
              <a:buClrTx/>
              <a:buNone/>
            </a:pPr>
            <a:r>
              <a:rPr lang="es-ES" altLang="es-PE" dirty="0">
                <a:solidFill>
                  <a:schemeClr val="tx1"/>
                </a:solidFill>
                <a:latin typeface="Chevin-Medium" pitchFamily="34" charset="0"/>
              </a:rPr>
              <a:t>pandas: Para la manipulación y análisis de datos.</a:t>
            </a:r>
          </a:p>
          <a:p>
            <a:pPr>
              <a:lnSpc>
                <a:spcPts val="2500"/>
              </a:lnSpc>
              <a:spcAft>
                <a:spcPct val="0"/>
              </a:spcAft>
              <a:buClrTx/>
              <a:buNone/>
            </a:pPr>
            <a:r>
              <a:rPr lang="es-ES" altLang="es-PE" dirty="0" err="1">
                <a:solidFill>
                  <a:schemeClr val="tx1"/>
                </a:solidFill>
                <a:latin typeface="Chevin-Medium" pitchFamily="34" charset="0"/>
              </a:rPr>
              <a:t>numpy</a:t>
            </a:r>
            <a:r>
              <a:rPr lang="es-ES" altLang="es-PE" dirty="0">
                <a:solidFill>
                  <a:schemeClr val="tx1"/>
                </a:solidFill>
                <a:latin typeface="Chevin-Medium" pitchFamily="34" charset="0"/>
              </a:rPr>
              <a:t>: Para cálculos numéricos y operaciones con </a:t>
            </a:r>
            <a:r>
              <a:rPr lang="es-ES" altLang="es-PE" dirty="0" err="1">
                <a:solidFill>
                  <a:schemeClr val="tx1"/>
                </a:solidFill>
                <a:latin typeface="Chevin-Medium" pitchFamily="34" charset="0"/>
              </a:rPr>
              <a:t>arrays</a:t>
            </a:r>
            <a:r>
              <a:rPr lang="es-ES" altLang="es-PE" dirty="0">
                <a:solidFill>
                  <a:schemeClr val="tx1"/>
                </a:solidFill>
                <a:latin typeface="Chevin-Medium" pitchFamily="34" charset="0"/>
              </a:rPr>
              <a:t>.</a:t>
            </a:r>
          </a:p>
          <a:p>
            <a:pPr>
              <a:lnSpc>
                <a:spcPts val="2500"/>
              </a:lnSpc>
              <a:spcAft>
                <a:spcPct val="0"/>
              </a:spcAft>
              <a:buClrTx/>
              <a:buNone/>
            </a:pPr>
            <a:r>
              <a:rPr lang="es-ES" altLang="es-PE" dirty="0" err="1">
                <a:solidFill>
                  <a:schemeClr val="tx1"/>
                </a:solidFill>
                <a:latin typeface="Chevin-Medium" pitchFamily="34" charset="0"/>
              </a:rPr>
              <a:t>matplotlib</a:t>
            </a:r>
            <a:r>
              <a:rPr lang="es-ES" altLang="es-PE" dirty="0">
                <a:solidFill>
                  <a:schemeClr val="tx1"/>
                </a:solidFill>
                <a:latin typeface="Chevin-Medium" pitchFamily="34" charset="0"/>
              </a:rPr>
              <a:t>: Para la visualización de datos a través de gráficos.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3" name="Rectangle 2051">
            <a:extLst>
              <a:ext uri="{FF2B5EF4-FFF2-40B4-BE49-F238E27FC236}">
                <a16:creationId xmlns:a16="http://schemas.microsoft.com/office/drawing/2014/main" id="{A723CFE4-D299-0DE9-103C-ADB835D2596B}"/>
              </a:ext>
            </a:extLst>
          </p:cNvPr>
          <p:cNvSpPr>
            <a:spLocks noGrp="1" noChangeArrowheads="1"/>
          </p:cNvSpPr>
          <p:nvPr>
            <p:ph type="body" idx="1"/>
          </p:nvPr>
        </p:nvSpPr>
        <p:spPr>
          <a:xfrm>
            <a:off x="838200" y="1365102"/>
            <a:ext cx="10347864" cy="4943774"/>
          </a:xfrm>
        </p:spPr>
        <p:txBody>
          <a:bodyPr>
            <a:normAutofit fontScale="25000" lnSpcReduction="20000"/>
          </a:bodyPr>
          <a:lstStyle/>
          <a:p>
            <a:pPr marL="0" indent="0">
              <a:lnSpc>
                <a:spcPct val="107000"/>
              </a:lnSpc>
              <a:spcAft>
                <a:spcPts val="800"/>
              </a:spcAft>
              <a:buNone/>
            </a:pPr>
            <a:r>
              <a:rPr lang="es-PE" sz="9600" kern="100" dirty="0">
                <a:effectLst/>
                <a:latin typeface="Arial" panose="020B0604020202020204" pitchFamily="34" charset="0"/>
                <a:ea typeface="Calibri" panose="020F0502020204030204" pitchFamily="34" charset="0"/>
                <a:cs typeface="Times New Roman" panose="02020603050405020304" pitchFamily="18" charset="0"/>
              </a:rPr>
              <a:t>Google </a:t>
            </a:r>
            <a:r>
              <a:rPr lang="es-PE" sz="9600" kern="100" dirty="0" err="1">
                <a:effectLst/>
                <a:latin typeface="Arial" panose="020B0604020202020204" pitchFamily="34" charset="0"/>
                <a:ea typeface="Calibri" panose="020F0502020204030204" pitchFamily="34" charset="0"/>
                <a:cs typeface="Times New Roman" panose="02020603050405020304" pitchFamily="18" charset="0"/>
              </a:rPr>
              <a:t>Colab</a:t>
            </a:r>
            <a:r>
              <a:rPr lang="es-PE" sz="9600" kern="100" dirty="0">
                <a:effectLst/>
                <a:latin typeface="Arial" panose="020B0604020202020204" pitchFamily="34" charset="0"/>
                <a:ea typeface="Calibri" panose="020F0502020204030204" pitchFamily="34" charset="0"/>
                <a:cs typeface="Times New Roman" panose="02020603050405020304" pitchFamily="18" charset="0"/>
              </a:rPr>
              <a:t> se estructura en celdas que pueden contener código Python.</a:t>
            </a:r>
            <a:endParaRPr lang="es-PE" sz="9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s-PE" sz="9600" kern="100" dirty="0">
                <a:effectLst/>
                <a:latin typeface="Arial" panose="020B0604020202020204" pitchFamily="34" charset="0"/>
                <a:ea typeface="Calibri" panose="020F0502020204030204" pitchFamily="34" charset="0"/>
                <a:cs typeface="Times New Roman" panose="02020603050405020304" pitchFamily="18" charset="0"/>
              </a:rPr>
              <a:t>Cuenta con panel de navegación para acceder a archivos y otras herramientas.</a:t>
            </a:r>
            <a:endParaRPr lang="es-PE" sz="9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s-PE" sz="9600" kern="100" dirty="0">
                <a:effectLst/>
                <a:latin typeface="Arial" panose="020B0604020202020204" pitchFamily="34" charset="0"/>
                <a:ea typeface="Calibri" panose="020F0502020204030204" pitchFamily="34" charset="0"/>
                <a:cs typeface="Times New Roman" panose="02020603050405020304" pitchFamily="18" charset="0"/>
              </a:rPr>
              <a:t>En la parte superior, hay opciones para gestionar notebooks, añadir celdas, conectarte a la ejecución en la nube, y compartir tu trabajo con otros usuarios.</a:t>
            </a:r>
          </a:p>
          <a:p>
            <a:pPr marL="0" indent="0">
              <a:lnSpc>
                <a:spcPct val="107000"/>
              </a:lnSpc>
              <a:spcAft>
                <a:spcPts val="800"/>
              </a:spcAft>
              <a:buNone/>
            </a:pPr>
            <a:r>
              <a:rPr lang="es-ES" sz="9600" b="1" kern="100" dirty="0">
                <a:effectLst/>
                <a:latin typeface="Calibri" panose="020F0502020204030204" pitchFamily="34" charset="0"/>
                <a:ea typeface="Calibri" panose="020F0502020204030204" pitchFamily="34" charset="0"/>
                <a:cs typeface="Times New Roman" panose="02020603050405020304" pitchFamily="18" charset="0"/>
              </a:rPr>
              <a:t>Creación de tu primer notebook:</a:t>
            </a:r>
          </a:p>
          <a:p>
            <a:pPr marL="0" indent="0">
              <a:lnSpc>
                <a:spcPct val="107000"/>
              </a:lnSpc>
              <a:spcAft>
                <a:spcPts val="800"/>
              </a:spcAft>
              <a:buNone/>
            </a:pPr>
            <a:r>
              <a:rPr lang="es-ES" sz="9600" kern="100" dirty="0">
                <a:effectLst/>
                <a:latin typeface="Calibri" panose="020F0502020204030204" pitchFamily="34" charset="0"/>
                <a:ea typeface="Calibri" panose="020F0502020204030204" pitchFamily="34" charset="0"/>
                <a:cs typeface="Times New Roman" panose="02020603050405020304" pitchFamily="18" charset="0"/>
              </a:rPr>
              <a:t>Para empezar a trabajar, solo debes hacer clic en "Archivo" -&gt; "Nuevo cuaderno".</a:t>
            </a:r>
          </a:p>
          <a:p>
            <a:pPr marL="0" indent="0">
              <a:lnSpc>
                <a:spcPct val="107000"/>
              </a:lnSpc>
              <a:spcAft>
                <a:spcPts val="800"/>
              </a:spcAft>
              <a:buNone/>
            </a:pPr>
            <a:r>
              <a:rPr lang="es-ES" sz="9600" kern="100" dirty="0">
                <a:effectLst/>
                <a:latin typeface="Calibri" panose="020F0502020204030204" pitchFamily="34" charset="0"/>
                <a:ea typeface="Calibri" panose="020F0502020204030204" pitchFamily="34" charset="0"/>
                <a:cs typeface="Times New Roman" panose="02020603050405020304" pitchFamily="18" charset="0"/>
              </a:rPr>
              <a:t>Esto creará un nuevo notebook en el que puedes escribir y ejecutar código Python directamente desde el navegador y se guarda automáticamente en Google Drive.</a:t>
            </a:r>
          </a:p>
          <a:p>
            <a:pPr marL="0" indent="0">
              <a:lnSpc>
                <a:spcPct val="107000"/>
              </a:lnSpc>
              <a:spcAft>
                <a:spcPts val="800"/>
              </a:spcAft>
              <a:buNone/>
            </a:pPr>
            <a:endParaRPr lang="es-PE"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190500" lvl="1" indent="0">
              <a:lnSpc>
                <a:spcPct val="80000"/>
              </a:lnSpc>
              <a:buNone/>
              <a:defRPr/>
            </a:pPr>
            <a:endParaRPr lang="es-CO" altLang="es-PE" sz="2200" dirty="0">
              <a:latin typeface="Chevin-Medium" pitchFamily="34" charset="0"/>
            </a:endParaRPr>
          </a:p>
        </p:txBody>
      </p:sp>
      <p:sp>
        <p:nvSpPr>
          <p:cNvPr id="3" name="Título 2">
            <a:extLst>
              <a:ext uri="{FF2B5EF4-FFF2-40B4-BE49-F238E27FC236}">
                <a16:creationId xmlns:a16="http://schemas.microsoft.com/office/drawing/2014/main" id="{E89E9975-F334-9047-85AE-D53CBECEA9FB}"/>
              </a:ext>
            </a:extLst>
          </p:cNvPr>
          <p:cNvSpPr>
            <a:spLocks noGrp="1"/>
          </p:cNvSpPr>
          <p:nvPr>
            <p:ph type="title"/>
          </p:nvPr>
        </p:nvSpPr>
        <p:spPr>
          <a:xfrm>
            <a:off x="838200" y="365125"/>
            <a:ext cx="10515600" cy="854075"/>
          </a:xfrm>
        </p:spPr>
        <p:txBody>
          <a:bodyPr>
            <a:normAutofit/>
          </a:bodyPr>
          <a:lstStyle/>
          <a:p>
            <a:r>
              <a:rPr lang="es-PE" sz="3200" kern="100" dirty="0">
                <a:effectLst/>
                <a:latin typeface="Arial" panose="020B0604020202020204" pitchFamily="34" charset="0"/>
                <a:ea typeface="Calibri" panose="020F0502020204030204" pitchFamily="34" charset="0"/>
                <a:cs typeface="Times New Roman" panose="02020603050405020304" pitchFamily="18" charset="0"/>
              </a:rPr>
              <a:t>Interfaz de Google </a:t>
            </a:r>
            <a:r>
              <a:rPr lang="es-PE" sz="3200" kern="100" dirty="0" err="1">
                <a:effectLst/>
                <a:latin typeface="Arial" panose="020B0604020202020204" pitchFamily="34" charset="0"/>
                <a:ea typeface="Calibri" panose="020F0502020204030204" pitchFamily="34" charset="0"/>
                <a:cs typeface="Times New Roman" panose="02020603050405020304" pitchFamily="18" charset="0"/>
              </a:rPr>
              <a:t>Colab</a:t>
            </a:r>
            <a:endParaRPr lang="es-PE"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1026">
            <a:extLst>
              <a:ext uri="{FF2B5EF4-FFF2-40B4-BE49-F238E27FC236}">
                <a16:creationId xmlns:a16="http://schemas.microsoft.com/office/drawing/2014/main" id="{BDE8CAF4-7E48-11F7-7C32-06A99387F51B}"/>
              </a:ext>
            </a:extLst>
          </p:cNvPr>
          <p:cNvSpPr>
            <a:spLocks noGrp="1" noChangeArrowheads="1"/>
          </p:cNvSpPr>
          <p:nvPr>
            <p:ph type="title"/>
          </p:nvPr>
        </p:nvSpPr>
        <p:spPr>
          <a:xfrm>
            <a:off x="462579" y="142936"/>
            <a:ext cx="10515600" cy="1325563"/>
          </a:xfrm>
        </p:spPr>
        <p:txBody>
          <a:bodyPr>
            <a:normAutofit/>
          </a:bodyPr>
          <a:lstStyle/>
          <a:p>
            <a:pPr marL="0" indent="0">
              <a:spcAft>
                <a:spcPts val="900"/>
              </a:spcAft>
              <a:buNone/>
            </a:pPr>
            <a:r>
              <a:rPr lang="es-ES" altLang="es-PE" sz="3200" dirty="0">
                <a:latin typeface="Chevin-Medium" pitchFamily="34" charset="0"/>
              </a:rPr>
              <a:t>Variables y tipos de datos:</a:t>
            </a:r>
          </a:p>
        </p:txBody>
      </p:sp>
      <p:sp>
        <p:nvSpPr>
          <p:cNvPr id="1083395" name="Rectangle 1027">
            <a:extLst>
              <a:ext uri="{FF2B5EF4-FFF2-40B4-BE49-F238E27FC236}">
                <a16:creationId xmlns:a16="http://schemas.microsoft.com/office/drawing/2014/main" id="{0B62ABAA-CAA0-60C6-20AA-21EFD263469B}"/>
              </a:ext>
            </a:extLst>
          </p:cNvPr>
          <p:cNvSpPr>
            <a:spLocks noGrp="1" noChangeArrowheads="1"/>
          </p:cNvSpPr>
          <p:nvPr>
            <p:ph type="body" idx="1"/>
          </p:nvPr>
        </p:nvSpPr>
        <p:spPr>
          <a:xfrm>
            <a:off x="462579" y="1275437"/>
            <a:ext cx="9732554" cy="2830036"/>
          </a:xfrm>
        </p:spPr>
        <p:txBody>
          <a:bodyPr>
            <a:noAutofit/>
          </a:bodyPr>
          <a:lstStyle/>
          <a:p>
            <a:pPr marL="192088" indent="-192088">
              <a:spcAft>
                <a:spcPts val="900"/>
              </a:spcAft>
            </a:pPr>
            <a:r>
              <a:rPr lang="es-ES" altLang="es-PE" sz="2200" dirty="0">
                <a:latin typeface="Chevin-Medium" pitchFamily="34" charset="0"/>
              </a:rPr>
              <a:t>Una variable es un contenedor que almacena un valor, como números o texto.</a:t>
            </a:r>
          </a:p>
          <a:p>
            <a:pPr marL="192088" indent="-192088">
              <a:spcAft>
                <a:spcPts val="900"/>
              </a:spcAft>
            </a:pPr>
            <a:r>
              <a:rPr lang="es-ES" altLang="es-PE" sz="2200" dirty="0">
                <a:latin typeface="Chevin-Medium" pitchFamily="34" charset="0"/>
              </a:rPr>
              <a:t>En Python, los tipos de datos más comunes son:</a:t>
            </a:r>
          </a:p>
          <a:p>
            <a:pPr marL="649288" lvl="1" indent="-192088">
              <a:spcAft>
                <a:spcPts val="900"/>
              </a:spcAft>
            </a:pPr>
            <a:r>
              <a:rPr lang="es-ES" altLang="es-PE" sz="1800" dirty="0">
                <a:latin typeface="Chevin-Medium" pitchFamily="34" charset="0"/>
              </a:rPr>
              <a:t>Enteros (</a:t>
            </a:r>
            <a:r>
              <a:rPr lang="es-ES" altLang="es-PE" sz="1800" dirty="0" err="1">
                <a:latin typeface="Chevin-Medium" pitchFamily="34" charset="0"/>
              </a:rPr>
              <a:t>int</a:t>
            </a:r>
            <a:r>
              <a:rPr lang="es-ES" altLang="es-PE" sz="1800" dirty="0">
                <a:latin typeface="Chevin-Medium" pitchFamily="34" charset="0"/>
              </a:rPr>
              <a:t>): Números enteros (ej. 100)</a:t>
            </a:r>
          </a:p>
          <a:p>
            <a:pPr marL="649288" lvl="1" indent="-192088">
              <a:spcAft>
                <a:spcPts val="900"/>
              </a:spcAft>
            </a:pPr>
            <a:r>
              <a:rPr lang="es-ES" altLang="es-PE" sz="1800" dirty="0">
                <a:latin typeface="Chevin-Medium" pitchFamily="34" charset="0"/>
              </a:rPr>
              <a:t>Flotantes (</a:t>
            </a:r>
            <a:r>
              <a:rPr lang="es-ES" altLang="es-PE" sz="1800" dirty="0" err="1">
                <a:latin typeface="Chevin-Medium" pitchFamily="34" charset="0"/>
              </a:rPr>
              <a:t>float</a:t>
            </a:r>
            <a:r>
              <a:rPr lang="es-ES" altLang="es-PE" sz="1800" dirty="0">
                <a:latin typeface="Chevin-Medium" pitchFamily="34" charset="0"/>
              </a:rPr>
              <a:t>): Números con decimales (ej. 99.5)</a:t>
            </a:r>
            <a:endParaRPr lang="es-ES" altLang="es-PE" sz="2200" dirty="0">
              <a:latin typeface="Chevin-Medium" pitchFamily="34" charset="0"/>
            </a:endParaRPr>
          </a:p>
          <a:p>
            <a:pPr marL="649288" lvl="1" indent="-192088">
              <a:spcAft>
                <a:spcPts val="900"/>
              </a:spcAft>
            </a:pPr>
            <a:r>
              <a:rPr lang="es-ES" altLang="es-PE" sz="1800" dirty="0">
                <a:latin typeface="Chevin-Medium" pitchFamily="34" charset="0"/>
              </a:rPr>
              <a:t>Cadenas de texto (</a:t>
            </a:r>
            <a:r>
              <a:rPr lang="es-ES" altLang="es-PE" sz="1800" dirty="0" err="1">
                <a:latin typeface="Chevin-Medium" pitchFamily="34" charset="0"/>
              </a:rPr>
              <a:t>str</a:t>
            </a:r>
            <a:r>
              <a:rPr lang="es-ES" altLang="es-PE" sz="1800" dirty="0">
                <a:latin typeface="Chevin-Medium" pitchFamily="34" charset="0"/>
              </a:rPr>
              <a:t>): Texto o secuencias de caracteres (ej. "Equipo A")</a:t>
            </a:r>
            <a:endParaRPr lang="es-ES" altLang="es-PE" sz="2200" dirty="0">
              <a:latin typeface="Chevin-Medium" pitchFamily="34" charset="0"/>
            </a:endParaRPr>
          </a:p>
          <a:p>
            <a:pPr marL="649288" lvl="1" indent="-192088">
              <a:spcAft>
                <a:spcPts val="900"/>
              </a:spcAft>
            </a:pPr>
            <a:r>
              <a:rPr lang="es-ES" altLang="es-PE" sz="1800" dirty="0">
                <a:latin typeface="Chevin-Medium" pitchFamily="34" charset="0"/>
              </a:rPr>
              <a:t>Booleanos (</a:t>
            </a:r>
            <a:r>
              <a:rPr lang="es-ES" altLang="es-PE" sz="1800" dirty="0" err="1">
                <a:latin typeface="Chevin-Medium" pitchFamily="34" charset="0"/>
              </a:rPr>
              <a:t>bool</a:t>
            </a:r>
            <a:r>
              <a:rPr lang="es-ES" altLang="es-PE" sz="1800" dirty="0">
                <a:latin typeface="Chevin-Medium" pitchFamily="34" charset="0"/>
              </a:rPr>
              <a:t>): Valores de verdad: True o False</a:t>
            </a:r>
          </a:p>
        </p:txBody>
      </p:sp>
      <p:sp>
        <p:nvSpPr>
          <p:cNvPr id="21509" name="Rectángulo 4">
            <a:extLst>
              <a:ext uri="{FF2B5EF4-FFF2-40B4-BE49-F238E27FC236}">
                <a16:creationId xmlns:a16="http://schemas.microsoft.com/office/drawing/2014/main" id="{C72B0641-6A3D-E004-793A-F59B38488CE4}"/>
              </a:ext>
            </a:extLst>
          </p:cNvPr>
          <p:cNvSpPr>
            <a:spLocks noChangeArrowheads="1"/>
          </p:cNvSpPr>
          <p:nvPr/>
        </p:nvSpPr>
        <p:spPr bwMode="auto">
          <a:xfrm>
            <a:off x="1735139" y="6200775"/>
            <a:ext cx="1654175" cy="649288"/>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2" name="Rectangle 1027">
            <a:extLst>
              <a:ext uri="{FF2B5EF4-FFF2-40B4-BE49-F238E27FC236}">
                <a16:creationId xmlns:a16="http://schemas.microsoft.com/office/drawing/2014/main" id="{4C977EB9-6EAA-BD77-B754-A7F2A5609A59}"/>
              </a:ext>
            </a:extLst>
          </p:cNvPr>
          <p:cNvSpPr txBox="1">
            <a:spLocks noChangeArrowheads="1"/>
          </p:cNvSpPr>
          <p:nvPr/>
        </p:nvSpPr>
        <p:spPr>
          <a:xfrm>
            <a:off x="462579" y="4105473"/>
            <a:ext cx="11099881" cy="28300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92088" indent="-192088">
              <a:spcAft>
                <a:spcPts val="900"/>
              </a:spcAft>
            </a:pPr>
            <a:r>
              <a:rPr lang="es-PE" sz="2200" dirty="0"/>
              <a:t>Operadores básicos:</a:t>
            </a:r>
          </a:p>
          <a:p>
            <a:pPr marL="192088" indent="-192088">
              <a:spcAft>
                <a:spcPts val="900"/>
              </a:spcAft>
            </a:pPr>
            <a:r>
              <a:rPr lang="es-PE" sz="2200" dirty="0"/>
              <a:t>Aritméticos: Para realizar cálculos matemáticos (+, -, *, /, % ).</a:t>
            </a:r>
          </a:p>
          <a:p>
            <a:pPr marL="192088" indent="-192088">
              <a:spcAft>
                <a:spcPts val="900"/>
              </a:spcAft>
            </a:pPr>
            <a:r>
              <a:rPr lang="es-ES" sz="2200" dirty="0"/>
              <a:t>Relacionales: Comparan valores y devuelven True o False (==, !=, &gt;, &lt;, &gt;=, &lt;=).</a:t>
            </a:r>
          </a:p>
          <a:p>
            <a:pPr marL="192088" indent="-192088">
              <a:spcAft>
                <a:spcPts val="900"/>
              </a:spcAft>
            </a:pPr>
            <a:r>
              <a:rPr lang="es-PE" sz="2200" dirty="0"/>
              <a:t>Lógicos: Operan sobre valores booleanos (and, </a:t>
            </a:r>
            <a:r>
              <a:rPr lang="es-PE" sz="2200" dirty="0" err="1"/>
              <a:t>or</a:t>
            </a:r>
            <a:r>
              <a:rPr lang="es-PE" sz="2200" dirty="0"/>
              <a:t>, </a:t>
            </a:r>
            <a:r>
              <a:rPr lang="es-PE" sz="2200" dirty="0" err="1"/>
              <a:t>not</a:t>
            </a:r>
            <a:r>
              <a:rPr lang="es-PE" sz="2200" dirty="0"/>
              <a:t>).</a:t>
            </a:r>
          </a:p>
          <a:p>
            <a:pPr marL="192088" indent="-192088">
              <a:spcAft>
                <a:spcPts val="900"/>
              </a:spcAft>
            </a:pPr>
            <a:endParaRPr lang="es-PE" sz="2200" dirty="0"/>
          </a:p>
          <a:p>
            <a:pPr marL="192088" indent="-192088">
              <a:spcAft>
                <a:spcPts val="900"/>
              </a:spcAft>
            </a:pPr>
            <a:endParaRPr lang="es-ES" altLang="es-PE" sz="2200" dirty="0">
              <a:latin typeface="Chevin-Medium"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499"/>
                                          </p:stCondLst>
                                        </p:cTn>
                                        <p:tgtEl>
                                          <p:spTgt spid="1083395">
                                            <p:txEl>
                                              <p:pRg st="0" end="0"/>
                                            </p:txEl>
                                          </p:spTgt>
                                        </p:tgtEl>
                                        <p:attrNameLst>
                                          <p:attrName>style.visibility</p:attrName>
                                        </p:attrNameLst>
                                      </p:cBhvr>
                                      <p:to>
                                        <p:strVal val="visible"/>
                                      </p:to>
                                    </p:set>
                                  </p:childTnLst>
                                </p:cTn>
                              </p:par>
                            </p:childTnLst>
                          </p:cTn>
                        </p:par>
                        <p:par>
                          <p:cTn id="7" fill="hold">
                            <p:stCondLst>
                              <p:cond delay="1500"/>
                            </p:stCondLst>
                            <p:childTnLst>
                              <p:par>
                                <p:cTn id="8" presetID="1" presetClass="entr" presetSubtype="0" fill="hold" grpId="0" nodeType="afterEffect">
                                  <p:stCondLst>
                                    <p:cond delay="1000"/>
                                  </p:stCondLst>
                                  <p:childTnLst>
                                    <p:set>
                                      <p:cBhvr>
                                        <p:cTn id="9" dur="1" fill="hold">
                                          <p:stCondLst>
                                            <p:cond delay="499"/>
                                          </p:stCondLst>
                                        </p:cTn>
                                        <p:tgtEl>
                                          <p:spTgt spid="1083395">
                                            <p:txEl>
                                              <p:pRg st="1" end="1"/>
                                            </p:txEl>
                                          </p:spTgt>
                                        </p:tgtEl>
                                        <p:attrNameLst>
                                          <p:attrName>style.visibility</p:attrName>
                                        </p:attrNameLst>
                                      </p:cBhvr>
                                      <p:to>
                                        <p:strVal val="visible"/>
                                      </p:to>
                                    </p:set>
                                  </p:childTnLst>
                                </p:cTn>
                              </p:par>
                              <p:par>
                                <p:cTn id="10" presetID="1" presetClass="entr" presetSubtype="0" fill="hold" grpId="0" nodeType="withEffect">
                                  <p:stCondLst>
                                    <p:cond delay="2000"/>
                                  </p:stCondLst>
                                  <p:childTnLst>
                                    <p:set>
                                      <p:cBhvr>
                                        <p:cTn id="11" dur="1" fill="hold">
                                          <p:stCondLst>
                                            <p:cond delay="499"/>
                                          </p:stCondLst>
                                        </p:cTn>
                                        <p:tgtEl>
                                          <p:spTgt spid="1083395">
                                            <p:txEl>
                                              <p:pRg st="2" end="2"/>
                                            </p:txEl>
                                          </p:spTgt>
                                        </p:tgtEl>
                                        <p:attrNameLst>
                                          <p:attrName>style.visibility</p:attrName>
                                        </p:attrNameLst>
                                      </p:cBhvr>
                                      <p:to>
                                        <p:strVal val="visible"/>
                                      </p:to>
                                    </p:set>
                                  </p:childTnLst>
                                </p:cTn>
                              </p:par>
                              <p:par>
                                <p:cTn id="12" presetID="1" presetClass="entr" presetSubtype="0" fill="hold" grpId="0" nodeType="withEffect">
                                  <p:stCondLst>
                                    <p:cond delay="3000"/>
                                  </p:stCondLst>
                                  <p:childTnLst>
                                    <p:set>
                                      <p:cBhvr>
                                        <p:cTn id="13" dur="1" fill="hold">
                                          <p:stCondLst>
                                            <p:cond delay="499"/>
                                          </p:stCondLst>
                                        </p:cTn>
                                        <p:tgtEl>
                                          <p:spTgt spid="1083395">
                                            <p:txEl>
                                              <p:pRg st="3" end="3"/>
                                            </p:txEl>
                                          </p:spTgt>
                                        </p:tgtEl>
                                        <p:attrNameLst>
                                          <p:attrName>style.visibility</p:attrName>
                                        </p:attrNameLst>
                                      </p:cBhvr>
                                      <p:to>
                                        <p:strVal val="visible"/>
                                      </p:to>
                                    </p:set>
                                  </p:childTnLst>
                                </p:cTn>
                              </p:par>
                              <p:par>
                                <p:cTn id="14" presetID="1" presetClass="entr" presetSubtype="0" fill="hold" grpId="0" nodeType="withEffect">
                                  <p:stCondLst>
                                    <p:cond delay="2000"/>
                                  </p:stCondLst>
                                  <p:childTnLst>
                                    <p:set>
                                      <p:cBhvr>
                                        <p:cTn id="15" dur="1" fill="hold">
                                          <p:stCondLst>
                                            <p:cond delay="499"/>
                                          </p:stCondLst>
                                        </p:cTn>
                                        <p:tgtEl>
                                          <p:spTgt spid="1083395">
                                            <p:txEl>
                                              <p:pRg st="4" end="4"/>
                                            </p:txEl>
                                          </p:spTgt>
                                        </p:tgtEl>
                                        <p:attrNameLst>
                                          <p:attrName>style.visibility</p:attrName>
                                        </p:attrNameLst>
                                      </p:cBhvr>
                                      <p:to>
                                        <p:strVal val="visible"/>
                                      </p:to>
                                    </p:set>
                                  </p:childTnLst>
                                </p:cTn>
                              </p:par>
                              <p:par>
                                <p:cTn id="16" presetID="1" presetClass="entr" presetSubtype="0" fill="hold" grpId="0" nodeType="withEffect">
                                  <p:stCondLst>
                                    <p:cond delay="2000"/>
                                  </p:stCondLst>
                                  <p:childTnLst>
                                    <p:set>
                                      <p:cBhvr>
                                        <p:cTn id="17" dur="1" fill="hold">
                                          <p:stCondLst>
                                            <p:cond delay="499"/>
                                          </p:stCondLst>
                                        </p:cTn>
                                        <p:tgtEl>
                                          <p:spTgt spid="1083395">
                                            <p:txEl>
                                              <p:pRg st="5" end="5"/>
                                            </p:txEl>
                                          </p:spTgt>
                                        </p:tgtEl>
                                        <p:attrNameLst>
                                          <p:attrName>style.visibility</p:attrName>
                                        </p:attrNameLst>
                                      </p:cBhvr>
                                      <p:to>
                                        <p:strVal val="visible"/>
                                      </p:to>
                                    </p:set>
                                  </p:childTnLst>
                                </p:cTn>
                              </p:par>
                            </p:childTnLst>
                          </p:cTn>
                        </p:par>
                        <p:par>
                          <p:cTn id="18" fill="hold">
                            <p:stCondLst>
                              <p:cond delay="5000"/>
                            </p:stCondLst>
                            <p:childTnLst>
                              <p:par>
                                <p:cTn id="19" presetID="1" presetClass="entr" presetSubtype="0" fill="hold" grpId="0" nodeType="afterEffect">
                                  <p:stCondLst>
                                    <p:cond delay="1000"/>
                                  </p:stCondLst>
                                  <p:childTnLst>
                                    <p:set>
                                      <p:cBhvr>
                                        <p:cTn id="20" dur="1" fill="hold">
                                          <p:stCondLst>
                                            <p:cond delay="499"/>
                                          </p:stCondLst>
                                        </p:cTn>
                                        <p:tgtEl>
                                          <p:spTgt spid="2">
                                            <p:txEl>
                                              <p:pRg st="0" end="0"/>
                                            </p:txEl>
                                          </p:spTgt>
                                        </p:tgtEl>
                                        <p:attrNameLst>
                                          <p:attrName>style.visibility</p:attrName>
                                        </p:attrNameLst>
                                      </p:cBhvr>
                                      <p:to>
                                        <p:strVal val="visible"/>
                                      </p:to>
                                    </p:set>
                                  </p:childTnLst>
                                </p:cTn>
                              </p:par>
                            </p:childTnLst>
                          </p:cTn>
                        </p:par>
                        <p:par>
                          <p:cTn id="21" fill="hold">
                            <p:stCondLst>
                              <p:cond delay="6500"/>
                            </p:stCondLst>
                            <p:childTnLst>
                              <p:par>
                                <p:cTn id="22" presetID="1" presetClass="entr" presetSubtype="0" fill="hold" grpId="0" nodeType="afterEffect">
                                  <p:stCondLst>
                                    <p:cond delay="2000"/>
                                  </p:stCondLst>
                                  <p:childTnLst>
                                    <p:set>
                                      <p:cBhvr>
                                        <p:cTn id="23" dur="1" fill="hold">
                                          <p:stCondLst>
                                            <p:cond delay="499"/>
                                          </p:stCondLst>
                                        </p:cTn>
                                        <p:tgtEl>
                                          <p:spTgt spid="2">
                                            <p:txEl>
                                              <p:pRg st="1" end="1"/>
                                            </p:txEl>
                                          </p:spTgt>
                                        </p:tgtEl>
                                        <p:attrNameLst>
                                          <p:attrName>style.visibility</p:attrName>
                                        </p:attrNameLst>
                                      </p:cBhvr>
                                      <p:to>
                                        <p:strVal val="visible"/>
                                      </p:to>
                                    </p:set>
                                  </p:childTnLst>
                                </p:cTn>
                              </p:par>
                            </p:childTnLst>
                          </p:cTn>
                        </p:par>
                        <p:par>
                          <p:cTn id="24" fill="hold">
                            <p:stCondLst>
                              <p:cond delay="9000"/>
                            </p:stCondLst>
                            <p:childTnLst>
                              <p:par>
                                <p:cTn id="25" presetID="1" presetClass="entr" presetSubtype="0" fill="hold" grpId="0" nodeType="afterEffect">
                                  <p:stCondLst>
                                    <p:cond delay="3000"/>
                                  </p:stCondLst>
                                  <p:childTnLst>
                                    <p:set>
                                      <p:cBhvr>
                                        <p:cTn id="26" dur="1" fill="hold">
                                          <p:stCondLst>
                                            <p:cond delay="499"/>
                                          </p:stCondLst>
                                        </p:cTn>
                                        <p:tgtEl>
                                          <p:spTgt spid="2">
                                            <p:txEl>
                                              <p:pRg st="2" end="2"/>
                                            </p:txEl>
                                          </p:spTgt>
                                        </p:tgtEl>
                                        <p:attrNameLst>
                                          <p:attrName>style.visibility</p:attrName>
                                        </p:attrNameLst>
                                      </p:cBhvr>
                                      <p:to>
                                        <p:strVal val="visible"/>
                                      </p:to>
                                    </p:set>
                                  </p:childTnLst>
                                </p:cTn>
                              </p:par>
                            </p:childTnLst>
                          </p:cTn>
                        </p:par>
                        <p:par>
                          <p:cTn id="27" fill="hold">
                            <p:stCondLst>
                              <p:cond delay="12500"/>
                            </p:stCondLst>
                            <p:childTnLst>
                              <p:par>
                                <p:cTn id="28" presetID="1" presetClass="entr" presetSubtype="0" fill="hold" grpId="0" nodeType="afterEffect">
                                  <p:stCondLst>
                                    <p:cond delay="4000"/>
                                  </p:stCondLst>
                                  <p:childTnLst>
                                    <p:set>
                                      <p:cBhvr>
                                        <p:cTn id="29" dur="1" fill="hold">
                                          <p:stCondLst>
                                            <p:cond delay="499"/>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3395" grpId="0" build="p" autoUpdateAnimBg="0" advAuto="1000"/>
      <p:bldP spid="2" grpId="0" build="p" autoUpdateAnimBg="0" advAuto="100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1026">
            <a:extLst>
              <a:ext uri="{FF2B5EF4-FFF2-40B4-BE49-F238E27FC236}">
                <a16:creationId xmlns:a16="http://schemas.microsoft.com/office/drawing/2014/main" id="{BDE8CAF4-7E48-11F7-7C32-06A99387F51B}"/>
              </a:ext>
            </a:extLst>
          </p:cNvPr>
          <p:cNvSpPr>
            <a:spLocks noGrp="1" noChangeArrowheads="1"/>
          </p:cNvSpPr>
          <p:nvPr>
            <p:ph type="title"/>
          </p:nvPr>
        </p:nvSpPr>
        <p:spPr>
          <a:xfrm>
            <a:off x="462579" y="142936"/>
            <a:ext cx="10515600" cy="1325563"/>
          </a:xfrm>
        </p:spPr>
        <p:txBody>
          <a:bodyPr>
            <a:normAutofit/>
          </a:bodyPr>
          <a:lstStyle/>
          <a:p>
            <a:pPr marL="0" indent="0">
              <a:spcAft>
                <a:spcPts val="900"/>
              </a:spcAft>
              <a:buNone/>
            </a:pPr>
            <a:r>
              <a:rPr lang="es-ES" altLang="es-PE" sz="3200" dirty="0">
                <a:latin typeface="Chevin-Medium" pitchFamily="34" charset="0"/>
              </a:rPr>
              <a:t>FUNCIONES</a:t>
            </a:r>
          </a:p>
        </p:txBody>
      </p:sp>
      <p:sp>
        <p:nvSpPr>
          <p:cNvPr id="21509" name="Rectángulo 4">
            <a:extLst>
              <a:ext uri="{FF2B5EF4-FFF2-40B4-BE49-F238E27FC236}">
                <a16:creationId xmlns:a16="http://schemas.microsoft.com/office/drawing/2014/main" id="{C72B0641-6A3D-E004-793A-F59B38488CE4}"/>
              </a:ext>
            </a:extLst>
          </p:cNvPr>
          <p:cNvSpPr>
            <a:spLocks noChangeArrowheads="1"/>
          </p:cNvSpPr>
          <p:nvPr/>
        </p:nvSpPr>
        <p:spPr bwMode="auto">
          <a:xfrm>
            <a:off x="1735139" y="6200775"/>
            <a:ext cx="1654175" cy="649288"/>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3" name="Rectangle 1027">
            <a:extLst>
              <a:ext uri="{FF2B5EF4-FFF2-40B4-BE49-F238E27FC236}">
                <a16:creationId xmlns:a16="http://schemas.microsoft.com/office/drawing/2014/main" id="{2A2F40B2-07B5-E59B-A064-3E872ADEE571}"/>
              </a:ext>
            </a:extLst>
          </p:cNvPr>
          <p:cNvSpPr txBox="1">
            <a:spLocks noChangeArrowheads="1"/>
          </p:cNvSpPr>
          <p:nvPr/>
        </p:nvSpPr>
        <p:spPr>
          <a:xfrm>
            <a:off x="601308" y="1189621"/>
            <a:ext cx="8771292" cy="14627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92088" indent="-192088">
              <a:spcAft>
                <a:spcPts val="900"/>
              </a:spcAft>
            </a:pPr>
            <a:r>
              <a:rPr lang="es-ES" altLang="es-PE" sz="2400" dirty="0">
                <a:latin typeface="Chevin-Medium" pitchFamily="34" charset="0"/>
              </a:rPr>
              <a:t>Una función es un bloque de código reutilizable que realiza una tarea específica.</a:t>
            </a:r>
          </a:p>
          <a:p>
            <a:pPr marL="192088" indent="-192088">
              <a:spcAft>
                <a:spcPts val="900"/>
              </a:spcAft>
            </a:pPr>
            <a:r>
              <a:rPr lang="es-ES" altLang="es-PE" sz="2400" dirty="0">
                <a:latin typeface="Chevin-Medium" pitchFamily="34" charset="0"/>
              </a:rPr>
              <a:t>Se define usando la palabra clave </a:t>
            </a:r>
            <a:r>
              <a:rPr lang="es-ES" altLang="es-PE" sz="2400" dirty="0" err="1">
                <a:latin typeface="Chevin-Medium" pitchFamily="34" charset="0"/>
              </a:rPr>
              <a:t>def</a:t>
            </a:r>
            <a:r>
              <a:rPr lang="es-ES" altLang="es-PE" sz="2400" dirty="0">
                <a:latin typeface="Chevin-Medium" pitchFamily="34" charset="0"/>
              </a:rPr>
              <a:t> seguida del nombre de la función.</a:t>
            </a:r>
          </a:p>
        </p:txBody>
      </p:sp>
      <p:sp>
        <p:nvSpPr>
          <p:cNvPr id="7" name="Rectangle 1027">
            <a:extLst>
              <a:ext uri="{FF2B5EF4-FFF2-40B4-BE49-F238E27FC236}">
                <a16:creationId xmlns:a16="http://schemas.microsoft.com/office/drawing/2014/main" id="{922FC765-38AD-47C8-04CE-C020224368EF}"/>
              </a:ext>
            </a:extLst>
          </p:cNvPr>
          <p:cNvSpPr txBox="1">
            <a:spLocks noChangeArrowheads="1"/>
          </p:cNvSpPr>
          <p:nvPr/>
        </p:nvSpPr>
        <p:spPr>
          <a:xfrm>
            <a:off x="601307" y="2967660"/>
            <a:ext cx="9218967" cy="10042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92088" indent="-192088">
              <a:spcAft>
                <a:spcPts val="900"/>
              </a:spcAft>
            </a:pPr>
            <a:r>
              <a:rPr lang="es-ES" altLang="es-PE" sz="2400" dirty="0">
                <a:latin typeface="Chevin-Medium" pitchFamily="34" charset="0"/>
              </a:rPr>
              <a:t>Las funciones pueden aceptar parámetros para recibir datos externos.</a:t>
            </a:r>
          </a:p>
          <a:p>
            <a:pPr marL="192088" indent="-192088">
              <a:spcAft>
                <a:spcPts val="900"/>
              </a:spcAft>
            </a:pPr>
            <a:r>
              <a:rPr lang="es-ES" altLang="es-PE" sz="2400" dirty="0">
                <a:latin typeface="Chevin-Medium" pitchFamily="34" charset="0"/>
              </a:rPr>
              <a:t>También pueden devolver valores usando la instrucción </a:t>
            </a:r>
            <a:r>
              <a:rPr lang="es-ES" altLang="es-PE" sz="2400" dirty="0" err="1">
                <a:latin typeface="Chevin-Medium" pitchFamily="34" charset="0"/>
              </a:rPr>
              <a:t>return</a:t>
            </a:r>
            <a:r>
              <a:rPr lang="es-ES" altLang="es-PE" sz="2400" dirty="0">
                <a:latin typeface="Chevin-Medium" pitchFamily="34" charset="0"/>
              </a:rPr>
              <a:t>.</a:t>
            </a:r>
          </a:p>
        </p:txBody>
      </p:sp>
      <p:pic>
        <p:nvPicPr>
          <p:cNvPr id="9" name="Imagen 8">
            <a:extLst>
              <a:ext uri="{FF2B5EF4-FFF2-40B4-BE49-F238E27FC236}">
                <a16:creationId xmlns:a16="http://schemas.microsoft.com/office/drawing/2014/main" id="{86A45484-117E-BD7D-22C9-5A752096690B}"/>
              </a:ext>
            </a:extLst>
          </p:cNvPr>
          <p:cNvPicPr>
            <a:picLocks noChangeAspect="1"/>
          </p:cNvPicPr>
          <p:nvPr/>
        </p:nvPicPr>
        <p:blipFill>
          <a:blip r:embed="rId3"/>
          <a:stretch>
            <a:fillRect/>
          </a:stretch>
        </p:blipFill>
        <p:spPr>
          <a:xfrm>
            <a:off x="694135" y="4151491"/>
            <a:ext cx="4046773" cy="2335034"/>
          </a:xfrm>
          <a:prstGeom prst="rect">
            <a:avLst/>
          </a:prstGeom>
        </p:spPr>
      </p:pic>
    </p:spTree>
    <p:extLst>
      <p:ext uri="{BB962C8B-B14F-4D97-AF65-F5344CB8AC3E}">
        <p14:creationId xmlns:p14="http://schemas.microsoft.com/office/powerpoint/2010/main" val="15160597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499"/>
                                          </p:stCondLst>
                                        </p:cTn>
                                        <p:tgtEl>
                                          <p:spTgt spid="3">
                                            <p:txEl>
                                              <p:pRg st="0" end="0"/>
                                            </p:txEl>
                                          </p:spTgt>
                                        </p:tgtEl>
                                        <p:attrNameLst>
                                          <p:attrName>style.visibility</p:attrName>
                                        </p:attrNameLst>
                                      </p:cBhvr>
                                      <p:to>
                                        <p:strVal val="visible"/>
                                      </p:to>
                                    </p:set>
                                  </p:childTnLst>
                                </p:cTn>
                              </p:par>
                            </p:childTnLst>
                          </p:cTn>
                        </p:par>
                        <p:par>
                          <p:cTn id="7" fill="hold">
                            <p:stCondLst>
                              <p:cond delay="1500"/>
                            </p:stCondLst>
                            <p:childTnLst>
                              <p:par>
                                <p:cTn id="8" presetID="1" presetClass="entr" presetSubtype="0" fill="hold" grpId="0" nodeType="afterEffect">
                                  <p:stCondLst>
                                    <p:cond delay="1000"/>
                                  </p:stCondLst>
                                  <p:childTnLst>
                                    <p:set>
                                      <p:cBhvr>
                                        <p:cTn id="9" dur="1" fill="hold">
                                          <p:stCondLst>
                                            <p:cond delay="499"/>
                                          </p:stCondLst>
                                        </p:cTn>
                                        <p:tgtEl>
                                          <p:spTgt spid="3">
                                            <p:txEl>
                                              <p:pRg st="1" end="1"/>
                                            </p:txEl>
                                          </p:spTgt>
                                        </p:tgtEl>
                                        <p:attrNameLst>
                                          <p:attrName>style.visibility</p:attrName>
                                        </p:attrNameLst>
                                      </p:cBhvr>
                                      <p:to>
                                        <p:strVal val="visible"/>
                                      </p:to>
                                    </p:set>
                                  </p:childTnLst>
                                </p:cTn>
                              </p:par>
                            </p:childTnLst>
                          </p:cTn>
                        </p:par>
                        <p:par>
                          <p:cTn id="10" fill="hold">
                            <p:stCondLst>
                              <p:cond delay="3000"/>
                            </p:stCondLst>
                            <p:childTnLst>
                              <p:par>
                                <p:cTn id="11" presetID="1" presetClass="entr" presetSubtype="0" fill="hold" grpId="0" nodeType="afterEffect">
                                  <p:stCondLst>
                                    <p:cond delay="1000"/>
                                  </p:stCondLst>
                                  <p:childTnLst>
                                    <p:set>
                                      <p:cBhvr>
                                        <p:cTn id="12" dur="1" fill="hold">
                                          <p:stCondLst>
                                            <p:cond delay="499"/>
                                          </p:stCondLst>
                                        </p:cTn>
                                        <p:tgtEl>
                                          <p:spTgt spid="7">
                                            <p:txEl>
                                              <p:pRg st="0" end="0"/>
                                            </p:txEl>
                                          </p:spTgt>
                                        </p:tgtEl>
                                        <p:attrNameLst>
                                          <p:attrName>style.visibility</p:attrName>
                                        </p:attrNameLst>
                                      </p:cBhvr>
                                      <p:to>
                                        <p:strVal val="visible"/>
                                      </p:to>
                                    </p:set>
                                  </p:childTnLst>
                                </p:cTn>
                              </p:par>
                            </p:childTnLst>
                          </p:cTn>
                        </p:par>
                        <p:par>
                          <p:cTn id="13" fill="hold">
                            <p:stCondLst>
                              <p:cond delay="4500"/>
                            </p:stCondLst>
                            <p:childTnLst>
                              <p:par>
                                <p:cTn id="14" presetID="1" presetClass="entr" presetSubtype="0" fill="hold" grpId="0" nodeType="afterEffect">
                                  <p:stCondLst>
                                    <p:cond delay="1000"/>
                                  </p:stCondLst>
                                  <p:childTnLst>
                                    <p:set>
                                      <p:cBhvr>
                                        <p:cTn id="15" dur="1" fill="hold">
                                          <p:stCondLst>
                                            <p:cond delay="499"/>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advAuto="1000"/>
      <p:bldP spid="7" grpId="0" build="p" autoUpdateAnimBg="0" advAuto="100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1026">
            <a:extLst>
              <a:ext uri="{FF2B5EF4-FFF2-40B4-BE49-F238E27FC236}">
                <a16:creationId xmlns:a16="http://schemas.microsoft.com/office/drawing/2014/main" id="{BDE8CAF4-7E48-11F7-7C32-06A99387F51B}"/>
              </a:ext>
            </a:extLst>
          </p:cNvPr>
          <p:cNvSpPr>
            <a:spLocks noGrp="1" noChangeArrowheads="1"/>
          </p:cNvSpPr>
          <p:nvPr>
            <p:ph type="title"/>
          </p:nvPr>
        </p:nvSpPr>
        <p:spPr>
          <a:xfrm>
            <a:off x="462579" y="142936"/>
            <a:ext cx="10515600" cy="1325563"/>
          </a:xfrm>
        </p:spPr>
        <p:txBody>
          <a:bodyPr>
            <a:normAutofit/>
          </a:bodyPr>
          <a:lstStyle/>
          <a:p>
            <a:pPr marL="0" indent="0">
              <a:spcAft>
                <a:spcPts val="900"/>
              </a:spcAft>
              <a:buNone/>
            </a:pPr>
            <a:r>
              <a:rPr lang="es-ES" altLang="es-PE" sz="3200" dirty="0">
                <a:latin typeface="Chevin-Medium" pitchFamily="34" charset="0"/>
              </a:rPr>
              <a:t>Manipulación de Datos con Python (pandas)</a:t>
            </a:r>
          </a:p>
        </p:txBody>
      </p:sp>
      <p:sp>
        <p:nvSpPr>
          <p:cNvPr id="21509" name="Rectángulo 4">
            <a:extLst>
              <a:ext uri="{FF2B5EF4-FFF2-40B4-BE49-F238E27FC236}">
                <a16:creationId xmlns:a16="http://schemas.microsoft.com/office/drawing/2014/main" id="{C72B0641-6A3D-E004-793A-F59B38488CE4}"/>
              </a:ext>
            </a:extLst>
          </p:cNvPr>
          <p:cNvSpPr>
            <a:spLocks noChangeArrowheads="1"/>
          </p:cNvSpPr>
          <p:nvPr/>
        </p:nvSpPr>
        <p:spPr bwMode="auto">
          <a:xfrm>
            <a:off x="1735139" y="6200775"/>
            <a:ext cx="1654175" cy="649288"/>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3" name="Rectangle 1027">
            <a:extLst>
              <a:ext uri="{FF2B5EF4-FFF2-40B4-BE49-F238E27FC236}">
                <a16:creationId xmlns:a16="http://schemas.microsoft.com/office/drawing/2014/main" id="{2A2F40B2-07B5-E59B-A064-3E872ADEE571}"/>
              </a:ext>
            </a:extLst>
          </p:cNvPr>
          <p:cNvSpPr txBox="1">
            <a:spLocks noChangeArrowheads="1"/>
          </p:cNvSpPr>
          <p:nvPr/>
        </p:nvSpPr>
        <p:spPr>
          <a:xfrm>
            <a:off x="614979" y="1620897"/>
            <a:ext cx="10681671" cy="45036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92088" indent="-192088">
              <a:spcAft>
                <a:spcPts val="900"/>
              </a:spcAft>
            </a:pPr>
            <a:r>
              <a:rPr lang="es-ES" altLang="es-PE" sz="2400" dirty="0">
                <a:latin typeface="Chevin-Medium" pitchFamily="34" charset="0"/>
              </a:rPr>
              <a:t>Pandas es una biblioteca poderosa para la manipulación y análisis de datos en Python.</a:t>
            </a:r>
          </a:p>
          <a:p>
            <a:pPr marL="192088" indent="-192088">
              <a:spcAft>
                <a:spcPts val="900"/>
              </a:spcAft>
            </a:pPr>
            <a:r>
              <a:rPr lang="es-ES" altLang="es-PE" sz="2400" dirty="0">
                <a:latin typeface="Chevin-Medium" pitchFamily="34" charset="0"/>
              </a:rPr>
              <a:t>Permite trabajar con estructuras de datos como </a:t>
            </a:r>
            <a:r>
              <a:rPr lang="es-ES" altLang="es-PE" sz="2400" dirty="0" err="1">
                <a:latin typeface="Chevin-Medium" pitchFamily="34" charset="0"/>
              </a:rPr>
              <a:t>DataFrames</a:t>
            </a:r>
            <a:r>
              <a:rPr lang="es-ES" altLang="es-PE" sz="2400" dirty="0">
                <a:latin typeface="Chevin-Medium" pitchFamily="34" charset="0"/>
              </a:rPr>
              <a:t>, que son similares a tablas de bases de datos u hojas de cálculo.</a:t>
            </a:r>
          </a:p>
          <a:p>
            <a:pPr marL="192088" indent="-192088">
              <a:spcAft>
                <a:spcPts val="900"/>
              </a:spcAft>
            </a:pPr>
            <a:r>
              <a:rPr lang="es-ES" altLang="es-PE" sz="2400" dirty="0">
                <a:latin typeface="Chevin-Medium" pitchFamily="34" charset="0"/>
              </a:rPr>
              <a:t>Es ideal para la lectura, escritura, limpieza y análisis de grandes conjuntos de datos.</a:t>
            </a:r>
          </a:p>
          <a:p>
            <a:r>
              <a:rPr lang="es-PE" sz="2400" dirty="0"/>
              <a:t>Los archivos CSV (valores separados por comas) son un formato común para almacenar datos históricos de mantenimiento.</a:t>
            </a:r>
          </a:p>
          <a:p>
            <a:r>
              <a:rPr lang="es-PE" sz="2400" dirty="0"/>
              <a:t>Con pandas, puedes fácilmente leer un archivo CSV en un </a:t>
            </a:r>
            <a:r>
              <a:rPr lang="es-PE" sz="2400" dirty="0" err="1"/>
              <a:t>DataFrame</a:t>
            </a:r>
            <a:r>
              <a:rPr lang="es-PE" sz="2400" dirty="0"/>
              <a:t>, realizar análisis y guardar resultados modificados en un nuevo archivo CSV.</a:t>
            </a:r>
          </a:p>
          <a:p>
            <a:pPr marL="192088" indent="-192088">
              <a:spcAft>
                <a:spcPts val="900"/>
              </a:spcAft>
            </a:pPr>
            <a:endParaRPr lang="es-ES" altLang="es-PE" sz="2400" dirty="0">
              <a:latin typeface="Chevin-Medium" pitchFamily="34" charset="0"/>
            </a:endParaRPr>
          </a:p>
        </p:txBody>
      </p:sp>
    </p:spTree>
    <p:extLst>
      <p:ext uri="{BB962C8B-B14F-4D97-AF65-F5344CB8AC3E}">
        <p14:creationId xmlns:p14="http://schemas.microsoft.com/office/powerpoint/2010/main" val="42231334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499"/>
                                          </p:stCondLst>
                                        </p:cTn>
                                        <p:tgtEl>
                                          <p:spTgt spid="3">
                                            <p:txEl>
                                              <p:pRg st="0" end="0"/>
                                            </p:txEl>
                                          </p:spTgt>
                                        </p:tgtEl>
                                        <p:attrNameLst>
                                          <p:attrName>style.visibility</p:attrName>
                                        </p:attrNameLst>
                                      </p:cBhvr>
                                      <p:to>
                                        <p:strVal val="visible"/>
                                      </p:to>
                                    </p:set>
                                  </p:childTnLst>
                                </p:cTn>
                              </p:par>
                            </p:childTnLst>
                          </p:cTn>
                        </p:par>
                        <p:par>
                          <p:cTn id="7" fill="hold">
                            <p:stCondLst>
                              <p:cond delay="1500"/>
                            </p:stCondLst>
                            <p:childTnLst>
                              <p:par>
                                <p:cTn id="8" presetID="1" presetClass="entr" presetSubtype="0" fill="hold" grpId="0" nodeType="afterEffect">
                                  <p:stCondLst>
                                    <p:cond delay="1000"/>
                                  </p:stCondLst>
                                  <p:childTnLst>
                                    <p:set>
                                      <p:cBhvr>
                                        <p:cTn id="9" dur="1" fill="hold">
                                          <p:stCondLst>
                                            <p:cond delay="499"/>
                                          </p:stCondLst>
                                        </p:cTn>
                                        <p:tgtEl>
                                          <p:spTgt spid="3">
                                            <p:txEl>
                                              <p:pRg st="1" end="1"/>
                                            </p:txEl>
                                          </p:spTgt>
                                        </p:tgtEl>
                                        <p:attrNameLst>
                                          <p:attrName>style.visibility</p:attrName>
                                        </p:attrNameLst>
                                      </p:cBhvr>
                                      <p:to>
                                        <p:strVal val="visible"/>
                                      </p:to>
                                    </p:set>
                                  </p:childTnLst>
                                </p:cTn>
                              </p:par>
                            </p:childTnLst>
                          </p:cTn>
                        </p:par>
                        <p:par>
                          <p:cTn id="10" fill="hold">
                            <p:stCondLst>
                              <p:cond delay="3000"/>
                            </p:stCondLst>
                            <p:childTnLst>
                              <p:par>
                                <p:cTn id="11" presetID="1" presetClass="entr" presetSubtype="0" fill="hold" grpId="0" nodeType="afterEffect">
                                  <p:stCondLst>
                                    <p:cond delay="1000"/>
                                  </p:stCondLst>
                                  <p:childTnLst>
                                    <p:set>
                                      <p:cBhvr>
                                        <p:cTn id="12" dur="1" fill="hold">
                                          <p:stCondLst>
                                            <p:cond delay="499"/>
                                          </p:stCondLst>
                                        </p:cTn>
                                        <p:tgtEl>
                                          <p:spTgt spid="3">
                                            <p:txEl>
                                              <p:pRg st="2" end="2"/>
                                            </p:txEl>
                                          </p:spTgt>
                                        </p:tgtEl>
                                        <p:attrNameLst>
                                          <p:attrName>style.visibility</p:attrName>
                                        </p:attrNameLst>
                                      </p:cBhvr>
                                      <p:to>
                                        <p:strVal val="visible"/>
                                      </p:to>
                                    </p:set>
                                  </p:childTnLst>
                                </p:cTn>
                              </p:par>
                            </p:childTnLst>
                          </p:cTn>
                        </p:par>
                        <p:par>
                          <p:cTn id="13" fill="hold">
                            <p:stCondLst>
                              <p:cond delay="4500"/>
                            </p:stCondLst>
                            <p:childTnLst>
                              <p:par>
                                <p:cTn id="14" presetID="1" presetClass="entr" presetSubtype="0" fill="hold" grpId="0" nodeType="afterEffect">
                                  <p:stCondLst>
                                    <p:cond delay="2000"/>
                                  </p:stCondLst>
                                  <p:childTnLst>
                                    <p:set>
                                      <p:cBhvr>
                                        <p:cTn id="15" dur="1" fill="hold">
                                          <p:stCondLst>
                                            <p:cond delay="499"/>
                                          </p:stCondLst>
                                        </p:cTn>
                                        <p:tgtEl>
                                          <p:spTgt spid="3">
                                            <p:txEl>
                                              <p:pRg st="3" end="3"/>
                                            </p:txEl>
                                          </p:spTgt>
                                        </p:tgtEl>
                                        <p:attrNameLst>
                                          <p:attrName>style.visibility</p:attrName>
                                        </p:attrNameLst>
                                      </p:cBhvr>
                                      <p:to>
                                        <p:strVal val="visible"/>
                                      </p:to>
                                    </p:set>
                                  </p:childTnLst>
                                </p:cTn>
                              </p:par>
                            </p:childTnLst>
                          </p:cTn>
                        </p:par>
                        <p:par>
                          <p:cTn id="16" fill="hold">
                            <p:stCondLst>
                              <p:cond delay="7000"/>
                            </p:stCondLst>
                            <p:childTnLst>
                              <p:par>
                                <p:cTn id="17" presetID="1" presetClass="entr" presetSubtype="0" fill="hold" grpId="0" nodeType="afterEffect">
                                  <p:stCondLst>
                                    <p:cond delay="2000"/>
                                  </p:stCondLst>
                                  <p:childTnLst>
                                    <p:set>
                                      <p:cBhvr>
                                        <p:cTn id="18" dur="1" fill="hold">
                                          <p:stCondLst>
                                            <p:cond delay="499"/>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advAuto="100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1026">
            <a:extLst>
              <a:ext uri="{FF2B5EF4-FFF2-40B4-BE49-F238E27FC236}">
                <a16:creationId xmlns:a16="http://schemas.microsoft.com/office/drawing/2014/main" id="{BDE8CAF4-7E48-11F7-7C32-06A99387F51B}"/>
              </a:ext>
            </a:extLst>
          </p:cNvPr>
          <p:cNvSpPr>
            <a:spLocks noGrp="1" noChangeArrowheads="1"/>
          </p:cNvSpPr>
          <p:nvPr>
            <p:ph type="title"/>
          </p:nvPr>
        </p:nvSpPr>
        <p:spPr>
          <a:xfrm>
            <a:off x="462579" y="142936"/>
            <a:ext cx="10515600" cy="1325563"/>
          </a:xfrm>
        </p:spPr>
        <p:txBody>
          <a:bodyPr>
            <a:normAutofit/>
          </a:bodyPr>
          <a:lstStyle/>
          <a:p>
            <a:pPr marL="0" indent="0">
              <a:spcAft>
                <a:spcPts val="900"/>
              </a:spcAft>
              <a:buNone/>
            </a:pPr>
            <a:r>
              <a:rPr lang="es-ES" altLang="es-PE" sz="3200" dirty="0">
                <a:latin typeface="Chevin-Medium" pitchFamily="34" charset="0"/>
              </a:rPr>
              <a:t>Introducción a </a:t>
            </a:r>
            <a:r>
              <a:rPr lang="es-ES" altLang="es-PE" sz="3200" dirty="0" err="1">
                <a:latin typeface="Chevin-Medium" pitchFamily="34" charset="0"/>
              </a:rPr>
              <a:t>Numpy</a:t>
            </a:r>
            <a:endParaRPr lang="es-ES" altLang="es-PE" sz="3200" dirty="0">
              <a:latin typeface="Chevin-Medium" pitchFamily="34" charset="0"/>
            </a:endParaRPr>
          </a:p>
        </p:txBody>
      </p:sp>
      <p:sp>
        <p:nvSpPr>
          <p:cNvPr id="21509" name="Rectángulo 4">
            <a:extLst>
              <a:ext uri="{FF2B5EF4-FFF2-40B4-BE49-F238E27FC236}">
                <a16:creationId xmlns:a16="http://schemas.microsoft.com/office/drawing/2014/main" id="{C72B0641-6A3D-E004-793A-F59B38488CE4}"/>
              </a:ext>
            </a:extLst>
          </p:cNvPr>
          <p:cNvSpPr>
            <a:spLocks noChangeArrowheads="1"/>
          </p:cNvSpPr>
          <p:nvPr/>
        </p:nvSpPr>
        <p:spPr bwMode="auto">
          <a:xfrm>
            <a:off x="1735139" y="6200775"/>
            <a:ext cx="1654175" cy="649288"/>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3" name="Rectangle 1027">
            <a:extLst>
              <a:ext uri="{FF2B5EF4-FFF2-40B4-BE49-F238E27FC236}">
                <a16:creationId xmlns:a16="http://schemas.microsoft.com/office/drawing/2014/main" id="{2A2F40B2-07B5-E59B-A064-3E872ADEE571}"/>
              </a:ext>
            </a:extLst>
          </p:cNvPr>
          <p:cNvSpPr txBox="1">
            <a:spLocks noChangeArrowheads="1"/>
          </p:cNvSpPr>
          <p:nvPr/>
        </p:nvSpPr>
        <p:spPr>
          <a:xfrm>
            <a:off x="614979" y="1620897"/>
            <a:ext cx="10681671" cy="45036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92088" indent="-192088">
              <a:spcAft>
                <a:spcPts val="900"/>
              </a:spcAft>
            </a:pPr>
            <a:r>
              <a:rPr lang="es-ES" altLang="es-PE" sz="2400" dirty="0" err="1">
                <a:latin typeface="Chevin-Medium" pitchFamily="34" charset="0"/>
              </a:rPr>
              <a:t>Numpy</a:t>
            </a:r>
            <a:r>
              <a:rPr lang="es-ES" altLang="es-PE" sz="2400" dirty="0">
                <a:latin typeface="Chevin-Medium" pitchFamily="34" charset="0"/>
              </a:rPr>
              <a:t> es una biblioteca fundamental para el cálculo numérico en Python, especialmente útil para trabajar con </a:t>
            </a:r>
            <a:r>
              <a:rPr lang="es-ES" altLang="es-PE" sz="2400" dirty="0" err="1">
                <a:latin typeface="Chevin-Medium" pitchFamily="34" charset="0"/>
              </a:rPr>
              <a:t>arrays</a:t>
            </a:r>
            <a:r>
              <a:rPr lang="es-ES" altLang="es-PE" sz="2400" dirty="0">
                <a:latin typeface="Chevin-Medium" pitchFamily="34" charset="0"/>
              </a:rPr>
              <a:t> (matrices de datos).</a:t>
            </a:r>
          </a:p>
          <a:p>
            <a:pPr marL="192088" indent="-192088">
              <a:spcAft>
                <a:spcPts val="900"/>
              </a:spcAft>
            </a:pPr>
            <a:r>
              <a:rPr lang="es-ES" altLang="es-PE" sz="2400" dirty="0">
                <a:latin typeface="Chevin-Medium" pitchFamily="34" charset="0"/>
              </a:rPr>
              <a:t>Los </a:t>
            </a:r>
            <a:r>
              <a:rPr lang="es-ES" altLang="es-PE" sz="2400" dirty="0" err="1">
                <a:latin typeface="Chevin-Medium" pitchFamily="34" charset="0"/>
              </a:rPr>
              <a:t>arrays</a:t>
            </a:r>
            <a:r>
              <a:rPr lang="es-ES" altLang="es-PE" sz="2400" dirty="0">
                <a:latin typeface="Chevin-Medium" pitchFamily="34" charset="0"/>
              </a:rPr>
              <a:t> de </a:t>
            </a:r>
            <a:r>
              <a:rPr lang="es-ES" altLang="es-PE" sz="2400" dirty="0" err="1">
                <a:latin typeface="Chevin-Medium" pitchFamily="34" charset="0"/>
              </a:rPr>
              <a:t>Numpy</a:t>
            </a:r>
            <a:r>
              <a:rPr lang="es-ES" altLang="es-PE" sz="2400" dirty="0">
                <a:latin typeface="Chevin-Medium" pitchFamily="34" charset="0"/>
              </a:rPr>
              <a:t> son más eficientes y rápidos que las listas estándar de Python cuando se trabaja con grandes volúmenes de datos.</a:t>
            </a:r>
          </a:p>
          <a:p>
            <a:pPr marL="192088" indent="-192088">
              <a:spcAft>
                <a:spcPts val="900"/>
              </a:spcAft>
            </a:pPr>
            <a:r>
              <a:rPr lang="es-ES" altLang="es-PE" sz="2400" dirty="0">
                <a:latin typeface="Chevin-Medium" pitchFamily="34" charset="0"/>
              </a:rPr>
              <a:t>Operaciones numéricas avanzadas:</a:t>
            </a:r>
          </a:p>
          <a:p>
            <a:pPr marL="192088" indent="-192088">
              <a:spcAft>
                <a:spcPts val="900"/>
              </a:spcAft>
            </a:pPr>
            <a:r>
              <a:rPr lang="es-ES" altLang="es-PE" sz="2400" dirty="0" err="1">
                <a:latin typeface="Chevin-Medium" pitchFamily="34" charset="0"/>
              </a:rPr>
              <a:t>Numpy</a:t>
            </a:r>
            <a:r>
              <a:rPr lang="es-ES" altLang="es-PE" sz="2400" dirty="0">
                <a:latin typeface="Chevin-Medium" pitchFamily="34" charset="0"/>
              </a:rPr>
              <a:t> permite realizar operaciones matemáticas avanzadas directamente sobre </a:t>
            </a:r>
            <a:r>
              <a:rPr lang="es-ES" altLang="es-PE" sz="2400" dirty="0" err="1">
                <a:latin typeface="Chevin-Medium" pitchFamily="34" charset="0"/>
              </a:rPr>
              <a:t>arrays</a:t>
            </a:r>
            <a:r>
              <a:rPr lang="es-ES" altLang="es-PE" sz="2400" dirty="0">
                <a:latin typeface="Chevin-Medium" pitchFamily="34" charset="0"/>
              </a:rPr>
              <a:t> sin necesidad de bucles.</a:t>
            </a:r>
          </a:p>
          <a:p>
            <a:pPr marL="192088" indent="-192088">
              <a:spcAft>
                <a:spcPts val="900"/>
              </a:spcAft>
            </a:pPr>
            <a:r>
              <a:rPr lang="es-ES" altLang="es-PE" sz="2400" dirty="0">
                <a:latin typeface="Chevin-Medium" pitchFamily="34" charset="0"/>
              </a:rPr>
              <a:t>Entre las operaciones más comunes están las suma, media, desviación estándar, y otras funciones estadísticas o algebraicas.</a:t>
            </a:r>
          </a:p>
          <a:p>
            <a:pPr marL="192088" indent="-192088">
              <a:spcAft>
                <a:spcPts val="900"/>
              </a:spcAft>
            </a:pPr>
            <a:endParaRPr lang="es-ES" altLang="es-PE" sz="2400" dirty="0">
              <a:latin typeface="Chevin-Medium" pitchFamily="34" charset="0"/>
            </a:endParaRPr>
          </a:p>
          <a:p>
            <a:pPr marL="192088" indent="-192088">
              <a:spcAft>
                <a:spcPts val="900"/>
              </a:spcAft>
            </a:pPr>
            <a:endParaRPr lang="es-ES" altLang="es-PE" sz="2400" dirty="0">
              <a:latin typeface="Chevin-Medium" pitchFamily="34" charset="0"/>
            </a:endParaRPr>
          </a:p>
        </p:txBody>
      </p:sp>
    </p:spTree>
    <p:extLst>
      <p:ext uri="{BB962C8B-B14F-4D97-AF65-F5344CB8AC3E}">
        <p14:creationId xmlns:p14="http://schemas.microsoft.com/office/powerpoint/2010/main" val="33342315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499"/>
                                          </p:stCondLst>
                                        </p:cTn>
                                        <p:tgtEl>
                                          <p:spTgt spid="3">
                                            <p:txEl>
                                              <p:pRg st="0" end="0"/>
                                            </p:txEl>
                                          </p:spTgt>
                                        </p:tgtEl>
                                        <p:attrNameLst>
                                          <p:attrName>style.visibility</p:attrName>
                                        </p:attrNameLst>
                                      </p:cBhvr>
                                      <p:to>
                                        <p:strVal val="visible"/>
                                      </p:to>
                                    </p:set>
                                  </p:childTnLst>
                                </p:cTn>
                              </p:par>
                            </p:childTnLst>
                          </p:cTn>
                        </p:par>
                        <p:par>
                          <p:cTn id="7" fill="hold">
                            <p:stCondLst>
                              <p:cond delay="1500"/>
                            </p:stCondLst>
                            <p:childTnLst>
                              <p:par>
                                <p:cTn id="8" presetID="1" presetClass="entr" presetSubtype="0" fill="hold" grpId="0" nodeType="afterEffect">
                                  <p:stCondLst>
                                    <p:cond delay="1000"/>
                                  </p:stCondLst>
                                  <p:childTnLst>
                                    <p:set>
                                      <p:cBhvr>
                                        <p:cTn id="9" dur="1" fill="hold">
                                          <p:stCondLst>
                                            <p:cond delay="499"/>
                                          </p:stCondLst>
                                        </p:cTn>
                                        <p:tgtEl>
                                          <p:spTgt spid="3">
                                            <p:txEl>
                                              <p:pRg st="1" end="1"/>
                                            </p:txEl>
                                          </p:spTgt>
                                        </p:tgtEl>
                                        <p:attrNameLst>
                                          <p:attrName>style.visibility</p:attrName>
                                        </p:attrNameLst>
                                      </p:cBhvr>
                                      <p:to>
                                        <p:strVal val="visible"/>
                                      </p:to>
                                    </p:set>
                                  </p:childTnLst>
                                </p:cTn>
                              </p:par>
                            </p:childTnLst>
                          </p:cTn>
                        </p:par>
                        <p:par>
                          <p:cTn id="10" fill="hold">
                            <p:stCondLst>
                              <p:cond delay="3000"/>
                            </p:stCondLst>
                            <p:childTnLst>
                              <p:par>
                                <p:cTn id="11" presetID="1" presetClass="entr" presetSubtype="0" fill="hold" grpId="0" nodeType="afterEffect">
                                  <p:stCondLst>
                                    <p:cond delay="2000"/>
                                  </p:stCondLst>
                                  <p:childTnLst>
                                    <p:set>
                                      <p:cBhvr>
                                        <p:cTn id="12" dur="1" fill="hold">
                                          <p:stCondLst>
                                            <p:cond delay="499"/>
                                          </p:stCondLst>
                                        </p:cTn>
                                        <p:tgtEl>
                                          <p:spTgt spid="3">
                                            <p:txEl>
                                              <p:pRg st="2" end="2"/>
                                            </p:txEl>
                                          </p:spTgt>
                                        </p:tgtEl>
                                        <p:attrNameLst>
                                          <p:attrName>style.visibility</p:attrName>
                                        </p:attrNameLst>
                                      </p:cBhvr>
                                      <p:to>
                                        <p:strVal val="visible"/>
                                      </p:to>
                                    </p:set>
                                  </p:childTnLst>
                                </p:cTn>
                              </p:par>
                            </p:childTnLst>
                          </p:cTn>
                        </p:par>
                        <p:par>
                          <p:cTn id="13" fill="hold">
                            <p:stCondLst>
                              <p:cond delay="5500"/>
                            </p:stCondLst>
                            <p:childTnLst>
                              <p:par>
                                <p:cTn id="14" presetID="1" presetClass="entr" presetSubtype="0" fill="hold" grpId="0" nodeType="afterEffect">
                                  <p:stCondLst>
                                    <p:cond delay="2000"/>
                                  </p:stCondLst>
                                  <p:childTnLst>
                                    <p:set>
                                      <p:cBhvr>
                                        <p:cTn id="15" dur="1" fill="hold">
                                          <p:stCondLst>
                                            <p:cond delay="499"/>
                                          </p:stCondLst>
                                        </p:cTn>
                                        <p:tgtEl>
                                          <p:spTgt spid="3">
                                            <p:txEl>
                                              <p:pRg st="3" end="3"/>
                                            </p:txEl>
                                          </p:spTgt>
                                        </p:tgtEl>
                                        <p:attrNameLst>
                                          <p:attrName>style.visibility</p:attrName>
                                        </p:attrNameLst>
                                      </p:cBhvr>
                                      <p:to>
                                        <p:strVal val="visible"/>
                                      </p:to>
                                    </p:set>
                                  </p:childTnLst>
                                </p:cTn>
                              </p:par>
                            </p:childTnLst>
                          </p:cTn>
                        </p:par>
                        <p:par>
                          <p:cTn id="16" fill="hold">
                            <p:stCondLst>
                              <p:cond delay="8000"/>
                            </p:stCondLst>
                            <p:childTnLst>
                              <p:par>
                                <p:cTn id="17" presetID="1" presetClass="entr" presetSubtype="0" fill="hold" grpId="0" nodeType="afterEffect">
                                  <p:stCondLst>
                                    <p:cond delay="2000"/>
                                  </p:stCondLst>
                                  <p:childTnLst>
                                    <p:set>
                                      <p:cBhvr>
                                        <p:cTn id="18" dur="1" fill="hold">
                                          <p:stCondLst>
                                            <p:cond delay="499"/>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advAuto="100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1026">
            <a:extLst>
              <a:ext uri="{FF2B5EF4-FFF2-40B4-BE49-F238E27FC236}">
                <a16:creationId xmlns:a16="http://schemas.microsoft.com/office/drawing/2014/main" id="{BDE8CAF4-7E48-11F7-7C32-06A99387F51B}"/>
              </a:ext>
            </a:extLst>
          </p:cNvPr>
          <p:cNvSpPr>
            <a:spLocks noGrp="1" noChangeArrowheads="1"/>
          </p:cNvSpPr>
          <p:nvPr>
            <p:ph type="title"/>
          </p:nvPr>
        </p:nvSpPr>
        <p:spPr>
          <a:xfrm>
            <a:off x="462579" y="142936"/>
            <a:ext cx="10515600" cy="1325563"/>
          </a:xfrm>
        </p:spPr>
        <p:txBody>
          <a:bodyPr>
            <a:normAutofit/>
          </a:bodyPr>
          <a:lstStyle/>
          <a:p>
            <a:pPr marL="0" indent="0">
              <a:spcAft>
                <a:spcPts val="900"/>
              </a:spcAft>
              <a:buNone/>
            </a:pPr>
            <a:r>
              <a:rPr lang="es-ES" altLang="es-PE" sz="3200" dirty="0">
                <a:latin typeface="Chevin-Medium" pitchFamily="34" charset="0"/>
              </a:rPr>
              <a:t>Visualización de Datos con </a:t>
            </a:r>
            <a:r>
              <a:rPr lang="es-ES" altLang="es-PE" sz="3200" dirty="0" err="1">
                <a:latin typeface="Chevin-Medium" pitchFamily="34" charset="0"/>
              </a:rPr>
              <a:t>Matplotlib</a:t>
            </a:r>
            <a:endParaRPr lang="es-ES" altLang="es-PE" sz="3200" dirty="0">
              <a:latin typeface="Chevin-Medium" pitchFamily="34" charset="0"/>
            </a:endParaRPr>
          </a:p>
        </p:txBody>
      </p:sp>
      <p:sp>
        <p:nvSpPr>
          <p:cNvPr id="21509" name="Rectángulo 4">
            <a:extLst>
              <a:ext uri="{FF2B5EF4-FFF2-40B4-BE49-F238E27FC236}">
                <a16:creationId xmlns:a16="http://schemas.microsoft.com/office/drawing/2014/main" id="{C72B0641-6A3D-E004-793A-F59B38488CE4}"/>
              </a:ext>
            </a:extLst>
          </p:cNvPr>
          <p:cNvSpPr>
            <a:spLocks noChangeArrowheads="1"/>
          </p:cNvSpPr>
          <p:nvPr/>
        </p:nvSpPr>
        <p:spPr bwMode="auto">
          <a:xfrm>
            <a:off x="1735139" y="6200775"/>
            <a:ext cx="1654175" cy="649288"/>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3" name="Rectangle 1027">
            <a:extLst>
              <a:ext uri="{FF2B5EF4-FFF2-40B4-BE49-F238E27FC236}">
                <a16:creationId xmlns:a16="http://schemas.microsoft.com/office/drawing/2014/main" id="{2A2F40B2-07B5-E59B-A064-3E872ADEE571}"/>
              </a:ext>
            </a:extLst>
          </p:cNvPr>
          <p:cNvSpPr txBox="1">
            <a:spLocks noChangeArrowheads="1"/>
          </p:cNvSpPr>
          <p:nvPr/>
        </p:nvSpPr>
        <p:spPr>
          <a:xfrm>
            <a:off x="614979" y="1620897"/>
            <a:ext cx="10681671" cy="45036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900"/>
              </a:spcAft>
              <a:buNone/>
            </a:pPr>
            <a:r>
              <a:rPr lang="es-ES" altLang="es-PE" sz="2400" dirty="0">
                <a:latin typeface="Chevin-Medium" pitchFamily="34" charset="0"/>
              </a:rPr>
              <a:t>Gráficos básicos:</a:t>
            </a:r>
          </a:p>
          <a:p>
            <a:pPr marL="192088" indent="-192088">
              <a:spcAft>
                <a:spcPts val="900"/>
              </a:spcAft>
            </a:pPr>
            <a:r>
              <a:rPr lang="es-ES" altLang="es-PE" sz="2400" dirty="0" err="1">
                <a:latin typeface="Chevin-Medium" pitchFamily="34" charset="0"/>
              </a:rPr>
              <a:t>Matplotlib</a:t>
            </a:r>
            <a:r>
              <a:rPr lang="es-ES" altLang="es-PE" sz="2400" dirty="0">
                <a:latin typeface="Chevin-Medium" pitchFamily="34" charset="0"/>
              </a:rPr>
              <a:t> es la biblioteca más utilizada en Python para la visualización de datos.</a:t>
            </a:r>
          </a:p>
          <a:p>
            <a:pPr marL="192088" indent="-192088">
              <a:spcAft>
                <a:spcPts val="900"/>
              </a:spcAft>
            </a:pPr>
            <a:r>
              <a:rPr lang="es-ES" altLang="es-PE" sz="2400" dirty="0">
                <a:latin typeface="Chevin-Medium" pitchFamily="34" charset="0"/>
              </a:rPr>
              <a:t>Permite crear gráficos de líneas, barras, histogramas, dispersión, y más, para analizar datos de forma visual. </a:t>
            </a:r>
          </a:p>
          <a:p>
            <a:pPr marL="0" indent="0">
              <a:spcAft>
                <a:spcPts val="900"/>
              </a:spcAft>
              <a:buNone/>
            </a:pPr>
            <a:r>
              <a:rPr lang="es-ES" altLang="es-PE" sz="2400" dirty="0">
                <a:latin typeface="Chevin-Medium" pitchFamily="34" charset="0"/>
              </a:rPr>
              <a:t>Visualización de datos de mantenimiento:</a:t>
            </a:r>
          </a:p>
          <a:p>
            <a:pPr marL="192088" indent="-192088">
              <a:spcAft>
                <a:spcPts val="900"/>
              </a:spcAft>
            </a:pPr>
            <a:r>
              <a:rPr lang="es-ES" altLang="es-PE" sz="2400" dirty="0">
                <a:latin typeface="Chevin-Medium" pitchFamily="34" charset="0"/>
              </a:rPr>
              <a:t>Visualizar datos históricos de mantenimiento permite identificar patrones y tomar decisiones informadas.</a:t>
            </a:r>
          </a:p>
          <a:p>
            <a:pPr marL="192088" indent="-192088">
              <a:spcAft>
                <a:spcPts val="900"/>
              </a:spcAft>
            </a:pPr>
            <a:r>
              <a:rPr lang="es-ES" altLang="es-PE" sz="2400" dirty="0">
                <a:latin typeface="Chevin-Medium" pitchFamily="34" charset="0"/>
              </a:rPr>
              <a:t>Se pueden generar gráficos para representar el número de fallos por equipo, tiempo de inactividad, o la distribución de horas de uso.</a:t>
            </a:r>
          </a:p>
          <a:p>
            <a:pPr marL="192088" indent="-192088">
              <a:spcAft>
                <a:spcPts val="900"/>
              </a:spcAft>
            </a:pPr>
            <a:endParaRPr lang="es-ES" altLang="es-PE" sz="2400" dirty="0">
              <a:latin typeface="Chevin-Medium" pitchFamily="34" charset="0"/>
            </a:endParaRPr>
          </a:p>
          <a:p>
            <a:pPr marL="192088" indent="-192088">
              <a:spcAft>
                <a:spcPts val="900"/>
              </a:spcAft>
            </a:pPr>
            <a:endParaRPr lang="es-ES" altLang="es-PE" sz="2400" dirty="0">
              <a:latin typeface="Chevin-Medium" pitchFamily="34" charset="0"/>
            </a:endParaRPr>
          </a:p>
        </p:txBody>
      </p:sp>
    </p:spTree>
    <p:extLst>
      <p:ext uri="{BB962C8B-B14F-4D97-AF65-F5344CB8AC3E}">
        <p14:creationId xmlns:p14="http://schemas.microsoft.com/office/powerpoint/2010/main" val="11956797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499"/>
                                          </p:stCondLst>
                                        </p:cTn>
                                        <p:tgtEl>
                                          <p:spTgt spid="3">
                                            <p:txEl>
                                              <p:pRg st="0" end="0"/>
                                            </p:txEl>
                                          </p:spTgt>
                                        </p:tgtEl>
                                        <p:attrNameLst>
                                          <p:attrName>style.visibility</p:attrName>
                                        </p:attrNameLst>
                                      </p:cBhvr>
                                      <p:to>
                                        <p:strVal val="visible"/>
                                      </p:to>
                                    </p:set>
                                  </p:childTnLst>
                                </p:cTn>
                              </p:par>
                            </p:childTnLst>
                          </p:cTn>
                        </p:par>
                        <p:par>
                          <p:cTn id="7" fill="hold">
                            <p:stCondLst>
                              <p:cond delay="1500"/>
                            </p:stCondLst>
                            <p:childTnLst>
                              <p:par>
                                <p:cTn id="8" presetID="1" presetClass="entr" presetSubtype="0" fill="hold" grpId="0" nodeType="afterEffect">
                                  <p:stCondLst>
                                    <p:cond delay="1000"/>
                                  </p:stCondLst>
                                  <p:childTnLst>
                                    <p:set>
                                      <p:cBhvr>
                                        <p:cTn id="9" dur="1" fill="hold">
                                          <p:stCondLst>
                                            <p:cond delay="499"/>
                                          </p:stCondLst>
                                        </p:cTn>
                                        <p:tgtEl>
                                          <p:spTgt spid="3">
                                            <p:txEl>
                                              <p:pRg st="1" end="1"/>
                                            </p:txEl>
                                          </p:spTgt>
                                        </p:tgtEl>
                                        <p:attrNameLst>
                                          <p:attrName>style.visibility</p:attrName>
                                        </p:attrNameLst>
                                      </p:cBhvr>
                                      <p:to>
                                        <p:strVal val="visible"/>
                                      </p:to>
                                    </p:set>
                                  </p:childTnLst>
                                </p:cTn>
                              </p:par>
                            </p:childTnLst>
                          </p:cTn>
                        </p:par>
                        <p:par>
                          <p:cTn id="10" fill="hold">
                            <p:stCondLst>
                              <p:cond delay="3000"/>
                            </p:stCondLst>
                            <p:childTnLst>
                              <p:par>
                                <p:cTn id="11" presetID="1" presetClass="entr" presetSubtype="0" fill="hold" grpId="0" nodeType="afterEffect">
                                  <p:stCondLst>
                                    <p:cond delay="1000"/>
                                  </p:stCondLst>
                                  <p:childTnLst>
                                    <p:set>
                                      <p:cBhvr>
                                        <p:cTn id="12" dur="1" fill="hold">
                                          <p:stCondLst>
                                            <p:cond delay="499"/>
                                          </p:stCondLst>
                                        </p:cTn>
                                        <p:tgtEl>
                                          <p:spTgt spid="3">
                                            <p:txEl>
                                              <p:pRg st="2" end="2"/>
                                            </p:txEl>
                                          </p:spTgt>
                                        </p:tgtEl>
                                        <p:attrNameLst>
                                          <p:attrName>style.visibility</p:attrName>
                                        </p:attrNameLst>
                                      </p:cBhvr>
                                      <p:to>
                                        <p:strVal val="visible"/>
                                      </p:to>
                                    </p:set>
                                  </p:childTnLst>
                                </p:cTn>
                              </p:par>
                            </p:childTnLst>
                          </p:cTn>
                        </p:par>
                        <p:par>
                          <p:cTn id="13" fill="hold">
                            <p:stCondLst>
                              <p:cond delay="4500"/>
                            </p:stCondLst>
                            <p:childTnLst>
                              <p:par>
                                <p:cTn id="14" presetID="1" presetClass="entr" presetSubtype="0" fill="hold" grpId="0" nodeType="afterEffect">
                                  <p:stCondLst>
                                    <p:cond delay="2000"/>
                                  </p:stCondLst>
                                  <p:childTnLst>
                                    <p:set>
                                      <p:cBhvr>
                                        <p:cTn id="15" dur="1" fill="hold">
                                          <p:stCondLst>
                                            <p:cond delay="499"/>
                                          </p:stCondLst>
                                        </p:cTn>
                                        <p:tgtEl>
                                          <p:spTgt spid="3">
                                            <p:txEl>
                                              <p:pRg st="3" end="3"/>
                                            </p:txEl>
                                          </p:spTgt>
                                        </p:tgtEl>
                                        <p:attrNameLst>
                                          <p:attrName>style.visibility</p:attrName>
                                        </p:attrNameLst>
                                      </p:cBhvr>
                                      <p:to>
                                        <p:strVal val="visible"/>
                                      </p:to>
                                    </p:set>
                                  </p:childTnLst>
                                </p:cTn>
                              </p:par>
                            </p:childTnLst>
                          </p:cTn>
                        </p:par>
                        <p:par>
                          <p:cTn id="16" fill="hold">
                            <p:stCondLst>
                              <p:cond delay="7000"/>
                            </p:stCondLst>
                            <p:childTnLst>
                              <p:par>
                                <p:cTn id="17" presetID="1" presetClass="entr" presetSubtype="0" fill="hold" grpId="0" nodeType="afterEffect">
                                  <p:stCondLst>
                                    <p:cond delay="2000"/>
                                  </p:stCondLst>
                                  <p:childTnLst>
                                    <p:set>
                                      <p:cBhvr>
                                        <p:cTn id="18" dur="1" fill="hold">
                                          <p:stCondLst>
                                            <p:cond delay="499"/>
                                          </p:stCondLst>
                                        </p:cTn>
                                        <p:tgtEl>
                                          <p:spTgt spid="3">
                                            <p:txEl>
                                              <p:pRg st="4" end="4"/>
                                            </p:txEl>
                                          </p:spTgt>
                                        </p:tgtEl>
                                        <p:attrNameLst>
                                          <p:attrName>style.visibility</p:attrName>
                                        </p:attrNameLst>
                                      </p:cBhvr>
                                      <p:to>
                                        <p:strVal val="visible"/>
                                      </p:to>
                                    </p:set>
                                  </p:childTnLst>
                                </p:cTn>
                              </p:par>
                            </p:childTnLst>
                          </p:cTn>
                        </p:par>
                        <p:par>
                          <p:cTn id="19" fill="hold">
                            <p:stCondLst>
                              <p:cond delay="9500"/>
                            </p:stCondLst>
                            <p:childTnLst>
                              <p:par>
                                <p:cTn id="20" presetID="1" presetClass="entr" presetSubtype="0" fill="hold" grpId="0" nodeType="afterEffect">
                                  <p:stCondLst>
                                    <p:cond delay="2000"/>
                                  </p:stCondLst>
                                  <p:childTnLst>
                                    <p:set>
                                      <p:cBhvr>
                                        <p:cTn id="21" dur="1" fill="hold">
                                          <p:stCondLst>
                                            <p:cond delay="499"/>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advAuto="100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1026">
            <a:extLst>
              <a:ext uri="{FF2B5EF4-FFF2-40B4-BE49-F238E27FC236}">
                <a16:creationId xmlns:a16="http://schemas.microsoft.com/office/drawing/2014/main" id="{BDE8CAF4-7E48-11F7-7C32-06A99387F51B}"/>
              </a:ext>
            </a:extLst>
          </p:cNvPr>
          <p:cNvSpPr>
            <a:spLocks noGrp="1" noChangeArrowheads="1"/>
          </p:cNvSpPr>
          <p:nvPr>
            <p:ph type="title"/>
          </p:nvPr>
        </p:nvSpPr>
        <p:spPr>
          <a:xfrm>
            <a:off x="462579" y="142936"/>
            <a:ext cx="10515600" cy="1325563"/>
          </a:xfrm>
        </p:spPr>
        <p:txBody>
          <a:bodyPr>
            <a:normAutofit/>
          </a:bodyPr>
          <a:lstStyle/>
          <a:p>
            <a:pPr marL="0" indent="0">
              <a:spcAft>
                <a:spcPts val="900"/>
              </a:spcAft>
              <a:buNone/>
            </a:pPr>
            <a:r>
              <a:rPr lang="es-ES" altLang="es-PE" sz="3200" dirty="0">
                <a:latin typeface="Chevin-Medium" pitchFamily="34" charset="0"/>
              </a:rPr>
              <a:t>Introducción a las Simulaciones de Montecarlo</a:t>
            </a:r>
          </a:p>
        </p:txBody>
      </p:sp>
      <p:sp>
        <p:nvSpPr>
          <p:cNvPr id="21509" name="Rectángulo 4">
            <a:extLst>
              <a:ext uri="{FF2B5EF4-FFF2-40B4-BE49-F238E27FC236}">
                <a16:creationId xmlns:a16="http://schemas.microsoft.com/office/drawing/2014/main" id="{C72B0641-6A3D-E004-793A-F59B38488CE4}"/>
              </a:ext>
            </a:extLst>
          </p:cNvPr>
          <p:cNvSpPr>
            <a:spLocks noChangeArrowheads="1"/>
          </p:cNvSpPr>
          <p:nvPr/>
        </p:nvSpPr>
        <p:spPr bwMode="auto">
          <a:xfrm>
            <a:off x="1735139" y="6200775"/>
            <a:ext cx="1654175" cy="649288"/>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3" name="Rectangle 1027">
            <a:extLst>
              <a:ext uri="{FF2B5EF4-FFF2-40B4-BE49-F238E27FC236}">
                <a16:creationId xmlns:a16="http://schemas.microsoft.com/office/drawing/2014/main" id="{2A2F40B2-07B5-E59B-A064-3E872ADEE571}"/>
              </a:ext>
            </a:extLst>
          </p:cNvPr>
          <p:cNvSpPr txBox="1">
            <a:spLocks noChangeArrowheads="1"/>
          </p:cNvSpPr>
          <p:nvPr/>
        </p:nvSpPr>
        <p:spPr>
          <a:xfrm>
            <a:off x="598489" y="1210530"/>
            <a:ext cx="11176971" cy="53148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900"/>
              </a:spcAft>
              <a:buNone/>
            </a:pPr>
            <a:r>
              <a:rPr lang="es-ES" altLang="es-PE" sz="2400" b="1" dirty="0">
                <a:latin typeface="Chevin-Medium" pitchFamily="34" charset="0"/>
              </a:rPr>
              <a:t>¿Qué es una simulación de Montecarlo?</a:t>
            </a:r>
          </a:p>
          <a:p>
            <a:pPr marL="0" indent="0">
              <a:spcAft>
                <a:spcPts val="900"/>
              </a:spcAft>
              <a:buNone/>
            </a:pPr>
            <a:r>
              <a:rPr lang="es-ES" altLang="es-PE" sz="2400" dirty="0">
                <a:latin typeface="Chevin-Medium" pitchFamily="34" charset="0"/>
              </a:rPr>
              <a:t>Es un método estadístico que utiliza el muestreo aleatorio para obtener estimaciones numéricas de un problema.</a:t>
            </a:r>
          </a:p>
          <a:p>
            <a:pPr marL="0" indent="0">
              <a:spcAft>
                <a:spcPts val="900"/>
              </a:spcAft>
              <a:buNone/>
            </a:pPr>
            <a:r>
              <a:rPr lang="es-ES" altLang="es-PE" sz="2400" dirty="0">
                <a:latin typeface="Chevin-Medium" pitchFamily="34" charset="0"/>
              </a:rPr>
              <a:t>Consiste en realizar múltiples simulaciones aleatorias para modelar el comportamiento de sistemas complejos o procesos inciertos, generando resultados basados en distribuciones de probabilidad.</a:t>
            </a:r>
          </a:p>
          <a:p>
            <a:pPr marL="0" indent="0">
              <a:spcAft>
                <a:spcPts val="900"/>
              </a:spcAft>
              <a:buNone/>
            </a:pPr>
            <a:r>
              <a:rPr lang="es-ES" altLang="es-PE" sz="2400" dirty="0">
                <a:latin typeface="Chevin-Medium" pitchFamily="34" charset="0"/>
              </a:rPr>
              <a:t>Se usa en diversos campos, como las finanzas, la ciencia de datos y la predicción de fallos en mantenimiento.</a:t>
            </a:r>
          </a:p>
          <a:p>
            <a:pPr marL="0" indent="0">
              <a:spcAft>
                <a:spcPts val="900"/>
              </a:spcAft>
              <a:buNone/>
            </a:pPr>
            <a:r>
              <a:rPr lang="es-ES" altLang="es-PE" sz="2400" b="1" dirty="0">
                <a:latin typeface="Chevin-Medium" pitchFamily="34" charset="0"/>
              </a:rPr>
              <a:t>Aplicación en predicción de fallos:</a:t>
            </a:r>
          </a:p>
          <a:p>
            <a:pPr marL="0" indent="0">
              <a:spcAft>
                <a:spcPts val="900"/>
              </a:spcAft>
              <a:buNone/>
            </a:pPr>
            <a:r>
              <a:rPr lang="es-ES" altLang="es-PE" sz="2400" dirty="0">
                <a:latin typeface="Chevin-Medium" pitchFamily="34" charset="0"/>
              </a:rPr>
              <a:t>En mantenimiento predictivo, las simulaciones de Montecarlo pueden predecir el tiempo hasta que un equipo falle, tomando en cuenta la variabilidad de las condiciones operativas y los datos históricos.</a:t>
            </a:r>
          </a:p>
          <a:p>
            <a:pPr marL="0" indent="0">
              <a:spcAft>
                <a:spcPts val="900"/>
              </a:spcAft>
              <a:buNone/>
            </a:pPr>
            <a:endParaRPr lang="es-ES" altLang="es-PE" sz="2400" dirty="0">
              <a:latin typeface="Chevin-Medium" pitchFamily="34" charset="0"/>
            </a:endParaRPr>
          </a:p>
          <a:p>
            <a:pPr marL="0" indent="0">
              <a:spcAft>
                <a:spcPts val="900"/>
              </a:spcAft>
              <a:buNone/>
            </a:pPr>
            <a:r>
              <a:rPr lang="es-ES" altLang="es-PE" sz="2400" dirty="0">
                <a:latin typeface="Chevin-Medium" pitchFamily="34" charset="0"/>
              </a:rPr>
              <a:t>Por ejemplo, se pueden usar distribuciones probabilísticas para modelar el tiempo de vida útil de un equipo y simular cuándo podría fallar bajo diferentes escenarios.</a:t>
            </a:r>
          </a:p>
          <a:p>
            <a:pPr marL="0" indent="0">
              <a:spcAft>
                <a:spcPts val="900"/>
              </a:spcAft>
              <a:buNone/>
            </a:pPr>
            <a:endParaRPr lang="es-ES" altLang="es-PE" sz="2400" dirty="0">
              <a:latin typeface="Chevin-Medium" pitchFamily="34" charset="0"/>
            </a:endParaRPr>
          </a:p>
          <a:p>
            <a:pPr marL="192088" indent="-192088">
              <a:spcAft>
                <a:spcPts val="900"/>
              </a:spcAft>
            </a:pPr>
            <a:endParaRPr lang="es-ES" altLang="es-PE" sz="2400" dirty="0">
              <a:latin typeface="Chevin-Medium" pitchFamily="34" charset="0"/>
            </a:endParaRPr>
          </a:p>
          <a:p>
            <a:pPr marL="192088" indent="-192088">
              <a:spcAft>
                <a:spcPts val="900"/>
              </a:spcAft>
            </a:pPr>
            <a:endParaRPr lang="es-ES" altLang="es-PE" sz="2400" dirty="0">
              <a:latin typeface="Chevin-Medium" pitchFamily="34" charset="0"/>
            </a:endParaRPr>
          </a:p>
        </p:txBody>
      </p:sp>
    </p:spTree>
    <p:extLst>
      <p:ext uri="{BB962C8B-B14F-4D97-AF65-F5344CB8AC3E}">
        <p14:creationId xmlns:p14="http://schemas.microsoft.com/office/powerpoint/2010/main" val="1987132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1026">
            <a:extLst>
              <a:ext uri="{FF2B5EF4-FFF2-40B4-BE49-F238E27FC236}">
                <a16:creationId xmlns:a16="http://schemas.microsoft.com/office/drawing/2014/main" id="{BDE8CAF4-7E48-11F7-7C32-06A99387F51B}"/>
              </a:ext>
            </a:extLst>
          </p:cNvPr>
          <p:cNvSpPr>
            <a:spLocks noGrp="1" noChangeArrowheads="1"/>
          </p:cNvSpPr>
          <p:nvPr>
            <p:ph type="title"/>
          </p:nvPr>
        </p:nvSpPr>
        <p:spPr>
          <a:xfrm>
            <a:off x="462579" y="142936"/>
            <a:ext cx="10515600" cy="1325563"/>
          </a:xfrm>
        </p:spPr>
        <p:txBody>
          <a:bodyPr>
            <a:normAutofit/>
          </a:bodyPr>
          <a:lstStyle/>
          <a:p>
            <a:pPr marL="0" indent="0">
              <a:spcAft>
                <a:spcPts val="900"/>
              </a:spcAft>
              <a:buNone/>
            </a:pPr>
            <a:r>
              <a:rPr lang="es-ES" altLang="es-PE" sz="3200" dirty="0">
                <a:latin typeface="Chevin-Medium" pitchFamily="34" charset="0"/>
              </a:rPr>
              <a:t>Introducción a las Simulaciones de Montecarlo</a:t>
            </a:r>
          </a:p>
        </p:txBody>
      </p:sp>
      <p:sp>
        <p:nvSpPr>
          <p:cNvPr id="21509" name="Rectángulo 4">
            <a:extLst>
              <a:ext uri="{FF2B5EF4-FFF2-40B4-BE49-F238E27FC236}">
                <a16:creationId xmlns:a16="http://schemas.microsoft.com/office/drawing/2014/main" id="{C72B0641-6A3D-E004-793A-F59B38488CE4}"/>
              </a:ext>
            </a:extLst>
          </p:cNvPr>
          <p:cNvSpPr>
            <a:spLocks noChangeArrowheads="1"/>
          </p:cNvSpPr>
          <p:nvPr/>
        </p:nvSpPr>
        <p:spPr bwMode="auto">
          <a:xfrm>
            <a:off x="1735139" y="6200775"/>
            <a:ext cx="1654175" cy="649288"/>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3" name="Rectangle 1027">
            <a:extLst>
              <a:ext uri="{FF2B5EF4-FFF2-40B4-BE49-F238E27FC236}">
                <a16:creationId xmlns:a16="http://schemas.microsoft.com/office/drawing/2014/main" id="{2A2F40B2-07B5-E59B-A064-3E872ADEE571}"/>
              </a:ext>
            </a:extLst>
          </p:cNvPr>
          <p:cNvSpPr txBox="1">
            <a:spLocks noChangeArrowheads="1"/>
          </p:cNvSpPr>
          <p:nvPr/>
        </p:nvSpPr>
        <p:spPr>
          <a:xfrm>
            <a:off x="598489" y="1210530"/>
            <a:ext cx="11176971" cy="53148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900"/>
              </a:spcAft>
              <a:buNone/>
            </a:pPr>
            <a:r>
              <a:rPr lang="es-ES" altLang="es-PE" sz="2400" b="1" dirty="0">
                <a:latin typeface="Chevin-Medium" pitchFamily="34" charset="0"/>
              </a:rPr>
              <a:t>¿Qué es una simulación de Montecarlo?</a:t>
            </a:r>
          </a:p>
          <a:p>
            <a:pPr marL="0" indent="0">
              <a:spcAft>
                <a:spcPts val="900"/>
              </a:spcAft>
              <a:buNone/>
            </a:pPr>
            <a:r>
              <a:rPr lang="es-ES" altLang="es-PE" sz="2400" dirty="0">
                <a:latin typeface="Chevin-Medium" pitchFamily="34" charset="0"/>
              </a:rPr>
              <a:t>Es un método estadístico que utiliza el muestreo aleatorio para obtener estimaciones numéricas de un problema.</a:t>
            </a:r>
          </a:p>
          <a:p>
            <a:pPr marL="0" indent="0">
              <a:spcAft>
                <a:spcPts val="900"/>
              </a:spcAft>
              <a:buNone/>
            </a:pPr>
            <a:r>
              <a:rPr lang="es-ES" altLang="es-PE" sz="2400" dirty="0">
                <a:latin typeface="Chevin-Medium" pitchFamily="34" charset="0"/>
              </a:rPr>
              <a:t>Consiste en realizar múltiples simulaciones aleatorias para modelar el comportamiento de sistemas complejos o procesos inciertos, generando resultados basados en distribuciones de probabilidad.</a:t>
            </a:r>
          </a:p>
          <a:p>
            <a:pPr marL="0" indent="0">
              <a:spcAft>
                <a:spcPts val="900"/>
              </a:spcAft>
              <a:buNone/>
            </a:pPr>
            <a:r>
              <a:rPr lang="es-ES" altLang="es-PE" sz="2400" dirty="0">
                <a:latin typeface="Chevin-Medium" pitchFamily="34" charset="0"/>
              </a:rPr>
              <a:t>Se usa en diversos campos, como las finanzas, la ciencia de datos y la predicción de fallos en mantenimiento.</a:t>
            </a:r>
          </a:p>
          <a:p>
            <a:pPr marL="0" indent="0">
              <a:spcAft>
                <a:spcPts val="900"/>
              </a:spcAft>
              <a:buNone/>
            </a:pPr>
            <a:r>
              <a:rPr lang="es-ES" altLang="es-PE" sz="2400" b="1" dirty="0">
                <a:latin typeface="Chevin-Medium" pitchFamily="34" charset="0"/>
              </a:rPr>
              <a:t>Aplicación en predicción de fallos:</a:t>
            </a:r>
          </a:p>
          <a:p>
            <a:pPr marL="0" indent="0">
              <a:spcAft>
                <a:spcPts val="900"/>
              </a:spcAft>
              <a:buNone/>
            </a:pPr>
            <a:r>
              <a:rPr lang="es-ES" altLang="es-PE" sz="2400" dirty="0">
                <a:latin typeface="Chevin-Medium" pitchFamily="34" charset="0"/>
              </a:rPr>
              <a:t>En mantenimiento predictivo, las simulaciones de Montecarlo pueden predecir el tiempo hasta que un equipo falle, tomando en cuenta la variabilidad de las condiciones operativas y los datos históricos.</a:t>
            </a:r>
          </a:p>
          <a:p>
            <a:pPr marL="0" indent="0">
              <a:spcAft>
                <a:spcPts val="900"/>
              </a:spcAft>
              <a:buNone/>
            </a:pPr>
            <a:endParaRPr lang="es-ES" altLang="es-PE" sz="2400" dirty="0">
              <a:latin typeface="Chevin-Medium" pitchFamily="34" charset="0"/>
            </a:endParaRPr>
          </a:p>
          <a:p>
            <a:pPr marL="0" indent="0">
              <a:spcAft>
                <a:spcPts val="900"/>
              </a:spcAft>
              <a:buNone/>
            </a:pPr>
            <a:r>
              <a:rPr lang="es-ES" altLang="es-PE" sz="2400" dirty="0">
                <a:latin typeface="Chevin-Medium" pitchFamily="34" charset="0"/>
              </a:rPr>
              <a:t>Por ejemplo, se pueden usar distribuciones probabilísticas para modelar el tiempo de vida útil de un equipo y simular cuándo podría fallar bajo diferentes escenarios.</a:t>
            </a:r>
          </a:p>
          <a:p>
            <a:pPr marL="0" indent="0">
              <a:spcAft>
                <a:spcPts val="900"/>
              </a:spcAft>
              <a:buNone/>
            </a:pPr>
            <a:endParaRPr lang="es-ES" altLang="es-PE" sz="2400" dirty="0">
              <a:latin typeface="Chevin-Medium" pitchFamily="34" charset="0"/>
            </a:endParaRPr>
          </a:p>
          <a:p>
            <a:pPr marL="192088" indent="-192088">
              <a:spcAft>
                <a:spcPts val="900"/>
              </a:spcAft>
            </a:pPr>
            <a:endParaRPr lang="es-ES" altLang="es-PE" sz="2400" dirty="0">
              <a:latin typeface="Chevin-Medium" pitchFamily="34" charset="0"/>
            </a:endParaRPr>
          </a:p>
          <a:p>
            <a:pPr marL="192088" indent="-192088">
              <a:spcAft>
                <a:spcPts val="900"/>
              </a:spcAft>
            </a:pPr>
            <a:endParaRPr lang="es-ES" altLang="es-PE" sz="2400" dirty="0">
              <a:latin typeface="Chevin-Medium" pitchFamily="34" charset="0"/>
            </a:endParaRPr>
          </a:p>
        </p:txBody>
      </p:sp>
    </p:spTree>
    <p:extLst>
      <p:ext uri="{BB962C8B-B14F-4D97-AF65-F5344CB8AC3E}">
        <p14:creationId xmlns:p14="http://schemas.microsoft.com/office/powerpoint/2010/main" val="1259337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1026">
            <a:extLst>
              <a:ext uri="{FF2B5EF4-FFF2-40B4-BE49-F238E27FC236}">
                <a16:creationId xmlns:a16="http://schemas.microsoft.com/office/drawing/2014/main" id="{BDE8CAF4-7E48-11F7-7C32-06A99387F51B}"/>
              </a:ext>
            </a:extLst>
          </p:cNvPr>
          <p:cNvSpPr>
            <a:spLocks noGrp="1" noChangeArrowheads="1"/>
          </p:cNvSpPr>
          <p:nvPr>
            <p:ph type="title"/>
          </p:nvPr>
        </p:nvSpPr>
        <p:spPr>
          <a:xfrm>
            <a:off x="462579" y="142936"/>
            <a:ext cx="10515600" cy="1325563"/>
          </a:xfrm>
        </p:spPr>
        <p:txBody>
          <a:bodyPr>
            <a:normAutofit/>
          </a:bodyPr>
          <a:lstStyle/>
          <a:p>
            <a:pPr marL="0" indent="0">
              <a:spcAft>
                <a:spcPts val="900"/>
              </a:spcAft>
              <a:buNone/>
            </a:pPr>
            <a:r>
              <a:rPr lang="es-ES" altLang="es-PE" sz="3200" dirty="0">
                <a:latin typeface="Chevin-Medium" pitchFamily="34" charset="0"/>
              </a:rPr>
              <a:t>Introducción a las Simulaciones de Montecarlo</a:t>
            </a:r>
          </a:p>
        </p:txBody>
      </p:sp>
      <p:sp>
        <p:nvSpPr>
          <p:cNvPr id="21509" name="Rectángulo 4">
            <a:extLst>
              <a:ext uri="{FF2B5EF4-FFF2-40B4-BE49-F238E27FC236}">
                <a16:creationId xmlns:a16="http://schemas.microsoft.com/office/drawing/2014/main" id="{C72B0641-6A3D-E004-793A-F59B38488CE4}"/>
              </a:ext>
            </a:extLst>
          </p:cNvPr>
          <p:cNvSpPr>
            <a:spLocks noChangeArrowheads="1"/>
          </p:cNvSpPr>
          <p:nvPr/>
        </p:nvSpPr>
        <p:spPr bwMode="auto">
          <a:xfrm>
            <a:off x="1735139" y="6200775"/>
            <a:ext cx="1654175" cy="649288"/>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3" name="Rectangle 1027">
            <a:extLst>
              <a:ext uri="{FF2B5EF4-FFF2-40B4-BE49-F238E27FC236}">
                <a16:creationId xmlns:a16="http://schemas.microsoft.com/office/drawing/2014/main" id="{2A2F40B2-07B5-E59B-A064-3E872ADEE571}"/>
              </a:ext>
            </a:extLst>
          </p:cNvPr>
          <p:cNvSpPr txBox="1">
            <a:spLocks noChangeArrowheads="1"/>
          </p:cNvSpPr>
          <p:nvPr/>
        </p:nvSpPr>
        <p:spPr>
          <a:xfrm>
            <a:off x="598489" y="1210530"/>
            <a:ext cx="10641011" cy="53148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900"/>
              </a:spcAft>
              <a:buNone/>
            </a:pPr>
            <a:r>
              <a:rPr lang="es-ES" altLang="es-PE" sz="2400" b="1" dirty="0">
                <a:latin typeface="Chevin-Medium" pitchFamily="34" charset="0"/>
              </a:rPr>
              <a:t>Función </a:t>
            </a:r>
            <a:r>
              <a:rPr lang="es-ES" altLang="es-PE" sz="2400" b="1" dirty="0" err="1">
                <a:latin typeface="Chevin-Medium" pitchFamily="34" charset="0"/>
              </a:rPr>
              <a:t>random</a:t>
            </a:r>
            <a:r>
              <a:rPr lang="es-ES" altLang="es-PE" sz="2400" dirty="0">
                <a:latin typeface="Chevin-Medium" pitchFamily="34" charset="0"/>
              </a:rPr>
              <a:t>: (biblioteca </a:t>
            </a:r>
            <a:r>
              <a:rPr lang="es-ES" altLang="es-PE" sz="2400" dirty="0" err="1">
                <a:latin typeface="Chevin-Medium" pitchFamily="34" charset="0"/>
              </a:rPr>
              <a:t>NumPy</a:t>
            </a:r>
            <a:r>
              <a:rPr lang="es-ES" altLang="es-PE" sz="2400" dirty="0">
                <a:latin typeface="Chevin-Medium" pitchFamily="34" charset="0"/>
              </a:rPr>
              <a:t> ) permite generar números aleatorios que siguen diversas distribuciones. Esto es esencial en las simulaciones de Montecarlo, donde las variables aleatorias son fundamentales para modelar incertidumbres.</a:t>
            </a:r>
          </a:p>
          <a:p>
            <a:pPr marL="0" indent="0">
              <a:spcAft>
                <a:spcPts val="900"/>
              </a:spcAft>
              <a:buNone/>
            </a:pPr>
            <a:r>
              <a:rPr lang="es-ES" altLang="es-PE" sz="2400" dirty="0">
                <a:latin typeface="Chevin-Medium" pitchFamily="34" charset="0"/>
              </a:rPr>
              <a:t>Por ejemplo, se pueden usar distribuciones probabilísticas para modelar el tiempo de vida útil de un equipo y simular cuándo podría fallar bajo diferentes escenarios.</a:t>
            </a:r>
          </a:p>
          <a:p>
            <a:pPr marL="0" indent="0">
              <a:spcAft>
                <a:spcPts val="900"/>
              </a:spcAft>
              <a:buNone/>
            </a:pPr>
            <a:r>
              <a:rPr lang="es-ES" altLang="es-PE" sz="2400" b="1" dirty="0">
                <a:latin typeface="Chevin-Medium" pitchFamily="34" charset="0"/>
              </a:rPr>
              <a:t>Distribución Normal: </a:t>
            </a:r>
            <a:r>
              <a:rPr lang="es-ES" altLang="es-PE" sz="2400" dirty="0">
                <a:latin typeface="Chevin-Medium" pitchFamily="34" charset="0"/>
              </a:rPr>
              <a:t>Utilizada para modelar fenómenos que tienden a agruparse alrededor de un valor promedio, ideal para tiempos de operación y datos de mantenimiento que siguen un patrón centrado.</a:t>
            </a:r>
          </a:p>
          <a:p>
            <a:pPr marL="0" indent="0">
              <a:spcAft>
                <a:spcPts val="900"/>
              </a:spcAft>
              <a:buNone/>
            </a:pPr>
            <a:r>
              <a:rPr lang="es-ES" altLang="es-PE" sz="2400" b="1" dirty="0">
                <a:latin typeface="Chevin-Medium" pitchFamily="34" charset="0"/>
              </a:rPr>
              <a:t>Distribución Exponencial: </a:t>
            </a:r>
            <a:r>
              <a:rPr lang="es-ES" altLang="es-PE" sz="2400" dirty="0">
                <a:latin typeface="Chevin-Medium" pitchFamily="34" charset="0"/>
              </a:rPr>
              <a:t>Útil para modelar el tiempo entre eventos, como el tiempo hasta que una máquina falle. Representa la probabilidad de que un evento ocurra en un intervalo de tiempo específico.</a:t>
            </a:r>
          </a:p>
          <a:p>
            <a:pPr marL="0" indent="0">
              <a:spcAft>
                <a:spcPts val="900"/>
              </a:spcAft>
              <a:buNone/>
            </a:pPr>
            <a:endParaRPr lang="es-ES" altLang="es-PE" sz="2400" dirty="0">
              <a:latin typeface="Chevin-Medium" pitchFamily="34" charset="0"/>
            </a:endParaRPr>
          </a:p>
          <a:p>
            <a:pPr marL="192088" indent="-192088">
              <a:spcAft>
                <a:spcPts val="900"/>
              </a:spcAft>
            </a:pPr>
            <a:endParaRPr lang="es-ES" altLang="es-PE" sz="2400" dirty="0">
              <a:latin typeface="Chevin-Medium" pitchFamily="34" charset="0"/>
            </a:endParaRPr>
          </a:p>
          <a:p>
            <a:pPr marL="192088" indent="-192088">
              <a:spcAft>
                <a:spcPts val="900"/>
              </a:spcAft>
            </a:pPr>
            <a:endParaRPr lang="es-ES" altLang="es-PE" sz="2400" dirty="0">
              <a:latin typeface="Chevin-Medium" pitchFamily="34" charset="0"/>
            </a:endParaRPr>
          </a:p>
        </p:txBody>
      </p:sp>
    </p:spTree>
    <p:extLst>
      <p:ext uri="{BB962C8B-B14F-4D97-AF65-F5344CB8AC3E}">
        <p14:creationId xmlns:p14="http://schemas.microsoft.com/office/powerpoint/2010/main" val="2164050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1026">
            <a:extLst>
              <a:ext uri="{FF2B5EF4-FFF2-40B4-BE49-F238E27FC236}">
                <a16:creationId xmlns:a16="http://schemas.microsoft.com/office/drawing/2014/main" id="{BDE8CAF4-7E48-11F7-7C32-06A99387F51B}"/>
              </a:ext>
            </a:extLst>
          </p:cNvPr>
          <p:cNvSpPr>
            <a:spLocks noGrp="1" noChangeArrowheads="1"/>
          </p:cNvSpPr>
          <p:nvPr>
            <p:ph type="title"/>
          </p:nvPr>
        </p:nvSpPr>
        <p:spPr>
          <a:xfrm>
            <a:off x="462579" y="142936"/>
            <a:ext cx="10515600" cy="1325563"/>
          </a:xfrm>
        </p:spPr>
        <p:txBody>
          <a:bodyPr>
            <a:normAutofit/>
          </a:bodyPr>
          <a:lstStyle/>
          <a:p>
            <a:pPr marL="0" indent="0">
              <a:spcAft>
                <a:spcPts val="900"/>
              </a:spcAft>
              <a:buNone/>
            </a:pPr>
            <a:r>
              <a:rPr lang="es-ES" altLang="es-PE" sz="3200" dirty="0">
                <a:latin typeface="Chevin-Medium" pitchFamily="34" charset="0"/>
              </a:rPr>
              <a:t>Introducción a las Simulaciones de Montecarlo</a:t>
            </a:r>
          </a:p>
        </p:txBody>
      </p:sp>
      <p:sp>
        <p:nvSpPr>
          <p:cNvPr id="21509" name="Rectángulo 4">
            <a:extLst>
              <a:ext uri="{FF2B5EF4-FFF2-40B4-BE49-F238E27FC236}">
                <a16:creationId xmlns:a16="http://schemas.microsoft.com/office/drawing/2014/main" id="{C72B0641-6A3D-E004-793A-F59B38488CE4}"/>
              </a:ext>
            </a:extLst>
          </p:cNvPr>
          <p:cNvSpPr>
            <a:spLocks noChangeArrowheads="1"/>
          </p:cNvSpPr>
          <p:nvPr/>
        </p:nvSpPr>
        <p:spPr bwMode="auto">
          <a:xfrm>
            <a:off x="1735139" y="6200775"/>
            <a:ext cx="1654175" cy="649288"/>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3" name="Rectangle 1027">
            <a:extLst>
              <a:ext uri="{FF2B5EF4-FFF2-40B4-BE49-F238E27FC236}">
                <a16:creationId xmlns:a16="http://schemas.microsoft.com/office/drawing/2014/main" id="{2A2F40B2-07B5-E59B-A064-3E872ADEE571}"/>
              </a:ext>
            </a:extLst>
          </p:cNvPr>
          <p:cNvSpPr txBox="1">
            <a:spLocks noChangeArrowheads="1"/>
          </p:cNvSpPr>
          <p:nvPr/>
        </p:nvSpPr>
        <p:spPr>
          <a:xfrm>
            <a:off x="526435" y="1305780"/>
            <a:ext cx="11202986" cy="53148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900"/>
              </a:spcAft>
              <a:buNone/>
            </a:pPr>
            <a:r>
              <a:rPr lang="es-ES" altLang="es-PE" sz="2100" b="1" dirty="0">
                <a:latin typeface="Chevin-Medium" pitchFamily="34" charset="0"/>
              </a:rPr>
              <a:t>Modelado de escenarios de fallos:</a:t>
            </a:r>
          </a:p>
          <a:p>
            <a:pPr marL="0" indent="0">
              <a:spcAft>
                <a:spcPts val="900"/>
              </a:spcAft>
              <a:buNone/>
            </a:pPr>
            <a:r>
              <a:rPr lang="es-ES" altLang="es-PE" sz="2100" dirty="0">
                <a:latin typeface="Chevin-Medium" pitchFamily="34" charset="0"/>
              </a:rPr>
              <a:t>Simulación de diferentes escenarios de fallo basados en datos históricos.</a:t>
            </a:r>
          </a:p>
          <a:p>
            <a:pPr marL="0" indent="0">
              <a:spcAft>
                <a:spcPts val="900"/>
              </a:spcAft>
              <a:buNone/>
            </a:pPr>
            <a:r>
              <a:rPr lang="es-ES" altLang="es-PE" sz="2100" dirty="0">
                <a:latin typeface="Chevin-Medium" pitchFamily="34" charset="0"/>
              </a:rPr>
              <a:t>Uso de distribuciones para modelar la probabilidad de fallos en distintos tipos de maquinaria.</a:t>
            </a:r>
          </a:p>
          <a:p>
            <a:pPr marL="0" indent="0">
              <a:spcAft>
                <a:spcPts val="900"/>
              </a:spcAft>
              <a:buNone/>
            </a:pPr>
            <a:r>
              <a:rPr lang="es-ES" altLang="es-PE" sz="2100" b="1" dirty="0">
                <a:latin typeface="Chevin-Medium" pitchFamily="34" charset="0"/>
              </a:rPr>
              <a:t>Predicción de tiempos de inactividad:</a:t>
            </a:r>
          </a:p>
          <a:p>
            <a:pPr marL="0" indent="0">
              <a:spcAft>
                <a:spcPts val="900"/>
              </a:spcAft>
              <a:buNone/>
            </a:pPr>
            <a:r>
              <a:rPr lang="es-ES" altLang="es-PE" sz="2100" dirty="0">
                <a:latin typeface="Chevin-Medium" pitchFamily="34" charset="0"/>
              </a:rPr>
              <a:t>Estimación del tiempo en que un equipo estará inactivo debido a fallos.</a:t>
            </a:r>
          </a:p>
          <a:p>
            <a:pPr marL="0" indent="0">
              <a:spcAft>
                <a:spcPts val="900"/>
              </a:spcAft>
              <a:buNone/>
            </a:pPr>
            <a:r>
              <a:rPr lang="es-ES" altLang="es-PE" sz="2100" dirty="0">
                <a:latin typeface="Chevin-Medium" pitchFamily="34" charset="0"/>
              </a:rPr>
              <a:t>Evaluación de múltiples simulaciones para determinar el rango de posibles tiempos de inactividad y su impacto en la producción.</a:t>
            </a:r>
          </a:p>
          <a:p>
            <a:pPr marL="0" indent="0">
              <a:spcAft>
                <a:spcPts val="900"/>
              </a:spcAft>
              <a:buNone/>
            </a:pPr>
            <a:r>
              <a:rPr lang="es-ES" altLang="es-PE" sz="2100" b="1" dirty="0">
                <a:latin typeface="Chevin-Medium" pitchFamily="34" charset="0"/>
              </a:rPr>
              <a:t>Simulación y análisis de resultados en un entorno industrial:</a:t>
            </a:r>
          </a:p>
          <a:p>
            <a:pPr marL="0" indent="0">
              <a:spcAft>
                <a:spcPts val="900"/>
              </a:spcAft>
              <a:buNone/>
            </a:pPr>
            <a:r>
              <a:rPr lang="es-ES" altLang="es-PE" sz="2100" dirty="0">
                <a:latin typeface="Chevin-Medium" pitchFamily="34" charset="0"/>
              </a:rPr>
              <a:t>Uso de Montecarlo para prever posibles eventos de fallos y su impacto.</a:t>
            </a:r>
          </a:p>
          <a:p>
            <a:pPr marL="0" indent="0">
              <a:spcAft>
                <a:spcPts val="900"/>
              </a:spcAft>
              <a:buNone/>
            </a:pPr>
            <a:r>
              <a:rPr lang="es-ES" altLang="es-PE" sz="2100" dirty="0">
                <a:latin typeface="Chevin-Medium" pitchFamily="34" charset="0"/>
              </a:rPr>
              <a:t>Optimización de la planificación de mantenimiento preventivo basado en los resultados de las simulaciones.</a:t>
            </a:r>
          </a:p>
          <a:p>
            <a:pPr marL="0" indent="0">
              <a:spcAft>
                <a:spcPts val="900"/>
              </a:spcAft>
              <a:buNone/>
            </a:pPr>
            <a:endParaRPr lang="es-ES" altLang="es-PE" sz="2400" dirty="0">
              <a:latin typeface="Chevin-Medium" pitchFamily="34" charset="0"/>
            </a:endParaRPr>
          </a:p>
          <a:p>
            <a:pPr marL="192088" indent="-192088">
              <a:spcAft>
                <a:spcPts val="900"/>
              </a:spcAft>
            </a:pPr>
            <a:endParaRPr lang="es-ES" altLang="es-PE" sz="2400" dirty="0">
              <a:latin typeface="Chevin-Medium" pitchFamily="34" charset="0"/>
            </a:endParaRPr>
          </a:p>
          <a:p>
            <a:pPr marL="192088" indent="-192088">
              <a:spcAft>
                <a:spcPts val="900"/>
              </a:spcAft>
            </a:pPr>
            <a:endParaRPr lang="es-ES" altLang="es-PE" sz="2400" dirty="0">
              <a:latin typeface="Chevin-Medium" pitchFamily="34" charset="0"/>
            </a:endParaRPr>
          </a:p>
        </p:txBody>
      </p:sp>
    </p:spTree>
    <p:extLst>
      <p:ext uri="{BB962C8B-B14F-4D97-AF65-F5344CB8AC3E}">
        <p14:creationId xmlns:p14="http://schemas.microsoft.com/office/powerpoint/2010/main" val="2917350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1026">
            <a:extLst>
              <a:ext uri="{FF2B5EF4-FFF2-40B4-BE49-F238E27FC236}">
                <a16:creationId xmlns:a16="http://schemas.microsoft.com/office/drawing/2014/main" id="{BDE8CAF4-7E48-11F7-7C32-06A99387F51B}"/>
              </a:ext>
            </a:extLst>
          </p:cNvPr>
          <p:cNvSpPr>
            <a:spLocks noGrp="1" noChangeArrowheads="1"/>
          </p:cNvSpPr>
          <p:nvPr>
            <p:ph type="title"/>
          </p:nvPr>
        </p:nvSpPr>
        <p:spPr>
          <a:xfrm>
            <a:off x="462579" y="142936"/>
            <a:ext cx="8929071" cy="1325563"/>
          </a:xfrm>
        </p:spPr>
        <p:txBody>
          <a:bodyPr>
            <a:normAutofit/>
          </a:bodyPr>
          <a:lstStyle/>
          <a:p>
            <a:pPr marL="0" indent="0">
              <a:spcAft>
                <a:spcPts val="900"/>
              </a:spcAft>
              <a:buNone/>
            </a:pPr>
            <a:r>
              <a:rPr lang="es-ES" altLang="es-PE" sz="3200" dirty="0">
                <a:latin typeface="Chevin-Medium" pitchFamily="34" charset="0"/>
              </a:rPr>
              <a:t>Fundamentos de Programación Aplicados a la Ciencia de Datos</a:t>
            </a:r>
          </a:p>
        </p:txBody>
      </p:sp>
      <p:sp>
        <p:nvSpPr>
          <p:cNvPr id="21509" name="Rectángulo 4">
            <a:extLst>
              <a:ext uri="{FF2B5EF4-FFF2-40B4-BE49-F238E27FC236}">
                <a16:creationId xmlns:a16="http://schemas.microsoft.com/office/drawing/2014/main" id="{C72B0641-6A3D-E004-793A-F59B38488CE4}"/>
              </a:ext>
            </a:extLst>
          </p:cNvPr>
          <p:cNvSpPr>
            <a:spLocks noChangeArrowheads="1"/>
          </p:cNvSpPr>
          <p:nvPr/>
        </p:nvSpPr>
        <p:spPr bwMode="auto">
          <a:xfrm>
            <a:off x="1735139" y="6200775"/>
            <a:ext cx="1654175" cy="649288"/>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3" name="Rectangle 1027">
            <a:extLst>
              <a:ext uri="{FF2B5EF4-FFF2-40B4-BE49-F238E27FC236}">
                <a16:creationId xmlns:a16="http://schemas.microsoft.com/office/drawing/2014/main" id="{2A2F40B2-07B5-E59B-A064-3E872ADEE571}"/>
              </a:ext>
            </a:extLst>
          </p:cNvPr>
          <p:cNvSpPr txBox="1">
            <a:spLocks noChangeArrowheads="1"/>
          </p:cNvSpPr>
          <p:nvPr/>
        </p:nvSpPr>
        <p:spPr>
          <a:xfrm>
            <a:off x="526435" y="1468499"/>
            <a:ext cx="11202986" cy="439890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900"/>
              </a:spcAft>
              <a:buNone/>
            </a:pPr>
            <a:r>
              <a:rPr lang="es-ES" altLang="es-PE" sz="2400" dirty="0">
                <a:latin typeface="Chevin-Medium" pitchFamily="34" charset="0"/>
              </a:rPr>
              <a:t>Estructuras de datos: listas, diccionarios y tuplas:</a:t>
            </a:r>
          </a:p>
          <a:p>
            <a:pPr marL="0" indent="0">
              <a:spcAft>
                <a:spcPts val="900"/>
              </a:spcAft>
              <a:buNone/>
            </a:pPr>
            <a:r>
              <a:rPr lang="es-ES" altLang="es-PE" sz="2400" b="1" dirty="0">
                <a:latin typeface="Chevin-Medium" pitchFamily="34" charset="0"/>
              </a:rPr>
              <a:t>Listas: </a:t>
            </a:r>
            <a:r>
              <a:rPr lang="es-ES" altLang="es-PE" sz="2400" dirty="0">
                <a:latin typeface="Chevin-Medium" pitchFamily="34" charset="0"/>
              </a:rPr>
              <a:t>Estructuras ordenadas y mutables, ideales para almacenar colecciones de datos.</a:t>
            </a:r>
          </a:p>
          <a:p>
            <a:pPr marL="0" indent="0">
              <a:spcAft>
                <a:spcPts val="900"/>
              </a:spcAft>
              <a:buNone/>
            </a:pPr>
            <a:r>
              <a:rPr lang="es-ES" altLang="es-PE" sz="2400" b="1" dirty="0">
                <a:latin typeface="Chevin-Medium" pitchFamily="34" charset="0"/>
              </a:rPr>
              <a:t>Diccionarios: </a:t>
            </a:r>
            <a:r>
              <a:rPr lang="es-ES" altLang="es-PE" sz="2400" dirty="0">
                <a:latin typeface="Chevin-Medium" pitchFamily="34" charset="0"/>
              </a:rPr>
              <a:t>Estructuras que almacenan pares clave-valor, perfectas para representar datos de forma asociativa.</a:t>
            </a:r>
          </a:p>
          <a:p>
            <a:pPr marL="0" indent="0">
              <a:spcAft>
                <a:spcPts val="900"/>
              </a:spcAft>
              <a:buNone/>
            </a:pPr>
            <a:r>
              <a:rPr lang="es-ES" altLang="es-PE" sz="2400" b="1" dirty="0">
                <a:latin typeface="Chevin-Medium" pitchFamily="34" charset="0"/>
              </a:rPr>
              <a:t>Tuplas: </a:t>
            </a:r>
            <a:r>
              <a:rPr lang="es-ES" altLang="es-PE" sz="2400" dirty="0">
                <a:latin typeface="Chevin-Medium" pitchFamily="34" charset="0"/>
              </a:rPr>
              <a:t>Estructuras inmutables, útiles cuando se necesita asegurar la integridad de los datos.</a:t>
            </a:r>
          </a:p>
          <a:p>
            <a:pPr marL="0" indent="0">
              <a:spcAft>
                <a:spcPts val="900"/>
              </a:spcAft>
              <a:buNone/>
            </a:pPr>
            <a:r>
              <a:rPr lang="es-ES" altLang="es-PE" sz="2400" dirty="0">
                <a:latin typeface="Chevin-Medium" pitchFamily="34" charset="0"/>
              </a:rPr>
              <a:t>Importancia de organizar datos para su análisis predictivo:</a:t>
            </a:r>
          </a:p>
          <a:p>
            <a:pPr marL="0" indent="0">
              <a:spcAft>
                <a:spcPts val="900"/>
              </a:spcAft>
              <a:buNone/>
            </a:pPr>
            <a:r>
              <a:rPr lang="es-ES" altLang="es-PE" sz="2400" dirty="0">
                <a:latin typeface="Chevin-Medium" pitchFamily="34" charset="0"/>
              </a:rPr>
              <a:t>La correcta estructura de los datos facilita su manipulación y análisis.</a:t>
            </a:r>
          </a:p>
          <a:p>
            <a:pPr marL="0" indent="0">
              <a:spcAft>
                <a:spcPts val="900"/>
              </a:spcAft>
              <a:buNone/>
            </a:pPr>
            <a:endParaRPr lang="es-ES" altLang="es-PE" sz="2100" b="1" dirty="0">
              <a:latin typeface="Chevin-Medium" pitchFamily="34" charset="0"/>
            </a:endParaRPr>
          </a:p>
          <a:p>
            <a:pPr marL="0" indent="0">
              <a:spcAft>
                <a:spcPts val="900"/>
              </a:spcAft>
              <a:buNone/>
            </a:pPr>
            <a:endParaRPr lang="es-ES" altLang="es-PE" sz="2400" dirty="0">
              <a:latin typeface="Chevin-Medium" pitchFamily="34" charset="0"/>
            </a:endParaRPr>
          </a:p>
          <a:p>
            <a:pPr marL="192088" indent="-192088">
              <a:spcAft>
                <a:spcPts val="900"/>
              </a:spcAft>
            </a:pPr>
            <a:endParaRPr lang="es-ES" altLang="es-PE" sz="2400" dirty="0">
              <a:latin typeface="Chevin-Medium" pitchFamily="34" charset="0"/>
            </a:endParaRPr>
          </a:p>
          <a:p>
            <a:pPr marL="192088" indent="-192088">
              <a:spcAft>
                <a:spcPts val="900"/>
              </a:spcAft>
            </a:pPr>
            <a:endParaRPr lang="es-ES" altLang="es-PE" sz="2400" dirty="0">
              <a:latin typeface="Chevin-Medium" pitchFamily="34" charset="0"/>
            </a:endParaRPr>
          </a:p>
        </p:txBody>
      </p:sp>
    </p:spTree>
    <p:extLst>
      <p:ext uri="{BB962C8B-B14F-4D97-AF65-F5344CB8AC3E}">
        <p14:creationId xmlns:p14="http://schemas.microsoft.com/office/powerpoint/2010/main" val="1678839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1026">
            <a:extLst>
              <a:ext uri="{FF2B5EF4-FFF2-40B4-BE49-F238E27FC236}">
                <a16:creationId xmlns:a16="http://schemas.microsoft.com/office/drawing/2014/main" id="{BDE8CAF4-7E48-11F7-7C32-06A99387F51B}"/>
              </a:ext>
            </a:extLst>
          </p:cNvPr>
          <p:cNvSpPr>
            <a:spLocks noGrp="1" noChangeArrowheads="1"/>
          </p:cNvSpPr>
          <p:nvPr>
            <p:ph type="title"/>
          </p:nvPr>
        </p:nvSpPr>
        <p:spPr>
          <a:xfrm>
            <a:off x="462579" y="142936"/>
            <a:ext cx="8929071" cy="1325563"/>
          </a:xfrm>
        </p:spPr>
        <p:txBody>
          <a:bodyPr>
            <a:normAutofit/>
          </a:bodyPr>
          <a:lstStyle/>
          <a:p>
            <a:pPr marL="0" indent="0">
              <a:spcAft>
                <a:spcPts val="900"/>
              </a:spcAft>
              <a:buNone/>
            </a:pPr>
            <a:r>
              <a:rPr lang="es-ES" altLang="es-PE" sz="3200" dirty="0">
                <a:latin typeface="Chevin-Medium" pitchFamily="34" charset="0"/>
              </a:rPr>
              <a:t>Análisis Estadístico de Datos en Mantenimiento</a:t>
            </a:r>
          </a:p>
        </p:txBody>
      </p:sp>
      <p:sp>
        <p:nvSpPr>
          <p:cNvPr id="21509" name="Rectángulo 4">
            <a:extLst>
              <a:ext uri="{FF2B5EF4-FFF2-40B4-BE49-F238E27FC236}">
                <a16:creationId xmlns:a16="http://schemas.microsoft.com/office/drawing/2014/main" id="{C72B0641-6A3D-E004-793A-F59B38488CE4}"/>
              </a:ext>
            </a:extLst>
          </p:cNvPr>
          <p:cNvSpPr>
            <a:spLocks noChangeArrowheads="1"/>
          </p:cNvSpPr>
          <p:nvPr/>
        </p:nvSpPr>
        <p:spPr bwMode="auto">
          <a:xfrm>
            <a:off x="1735139" y="6200775"/>
            <a:ext cx="1654175" cy="649288"/>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3" name="Rectangle 1027">
            <a:extLst>
              <a:ext uri="{FF2B5EF4-FFF2-40B4-BE49-F238E27FC236}">
                <a16:creationId xmlns:a16="http://schemas.microsoft.com/office/drawing/2014/main" id="{2A2F40B2-07B5-E59B-A064-3E872ADEE571}"/>
              </a:ext>
            </a:extLst>
          </p:cNvPr>
          <p:cNvSpPr txBox="1">
            <a:spLocks noChangeArrowheads="1"/>
          </p:cNvSpPr>
          <p:nvPr/>
        </p:nvSpPr>
        <p:spPr>
          <a:xfrm>
            <a:off x="526435" y="1278854"/>
            <a:ext cx="11202986" cy="52465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900"/>
              </a:spcAft>
              <a:buNone/>
            </a:pPr>
            <a:r>
              <a:rPr lang="es-ES" altLang="es-PE" sz="2400" dirty="0">
                <a:latin typeface="Chevin-Medium" pitchFamily="34" charset="0"/>
              </a:rPr>
              <a:t>Estadística descriptiva: La estadística descriptiva permite resumir y describir las características básicas de los datos.</a:t>
            </a:r>
          </a:p>
          <a:p>
            <a:pPr marL="0" indent="0">
              <a:spcAft>
                <a:spcPts val="900"/>
              </a:spcAft>
              <a:buNone/>
            </a:pPr>
            <a:r>
              <a:rPr lang="es-ES" altLang="es-PE" sz="2400" b="1" dirty="0">
                <a:latin typeface="Chevin-Medium" pitchFamily="34" charset="0"/>
              </a:rPr>
              <a:t>Media: </a:t>
            </a:r>
            <a:r>
              <a:rPr lang="es-ES" altLang="es-PE" sz="2400" dirty="0">
                <a:latin typeface="Chevin-Medium" pitchFamily="34" charset="0"/>
              </a:rPr>
              <a:t>Promedio de los datos.</a:t>
            </a:r>
          </a:p>
          <a:p>
            <a:pPr marL="0" indent="0">
              <a:spcAft>
                <a:spcPts val="900"/>
              </a:spcAft>
              <a:buNone/>
            </a:pPr>
            <a:r>
              <a:rPr lang="es-ES" altLang="es-PE" sz="2400" b="1" dirty="0">
                <a:latin typeface="Chevin-Medium" pitchFamily="34" charset="0"/>
              </a:rPr>
              <a:t>Mediana: </a:t>
            </a:r>
            <a:r>
              <a:rPr lang="es-ES" altLang="es-PE" sz="2400" dirty="0">
                <a:latin typeface="Chevin-Medium" pitchFamily="34" charset="0"/>
              </a:rPr>
              <a:t>Valor que divide el conjunto de datos en dos partes iguales.</a:t>
            </a:r>
          </a:p>
          <a:p>
            <a:pPr marL="0" indent="0">
              <a:spcAft>
                <a:spcPts val="900"/>
              </a:spcAft>
              <a:buNone/>
            </a:pPr>
            <a:r>
              <a:rPr lang="es-ES" altLang="es-PE" sz="2400" b="1" dirty="0">
                <a:latin typeface="Chevin-Medium" pitchFamily="34" charset="0"/>
              </a:rPr>
              <a:t>Desviación estándar: </a:t>
            </a:r>
            <a:r>
              <a:rPr lang="es-ES" altLang="es-PE" sz="2400" dirty="0">
                <a:latin typeface="Chevin-Medium" pitchFamily="34" charset="0"/>
              </a:rPr>
              <a:t>Medida de la dispersión de los datos respecto a la media. </a:t>
            </a:r>
          </a:p>
          <a:p>
            <a:pPr marL="0" indent="0">
              <a:spcAft>
                <a:spcPts val="900"/>
              </a:spcAft>
              <a:buNone/>
            </a:pPr>
            <a:r>
              <a:rPr lang="es-ES" altLang="es-PE" sz="2400" dirty="0">
                <a:latin typeface="Chevin-Medium" pitchFamily="34" charset="0"/>
              </a:rPr>
              <a:t>Uso de pandas para análisis de series temporales de mantenimiento: </a:t>
            </a:r>
          </a:p>
          <a:p>
            <a:pPr marL="0" indent="0">
              <a:spcAft>
                <a:spcPts val="900"/>
              </a:spcAft>
              <a:buNone/>
            </a:pPr>
            <a:r>
              <a:rPr lang="es-ES" altLang="es-PE" sz="2400" dirty="0">
                <a:latin typeface="Chevin-Medium" pitchFamily="34" charset="0"/>
              </a:rPr>
              <a:t>pandas es ideal para el análisis de series temporales, ya que permite manipular datos de fechas y horas de manera eficiente.</a:t>
            </a:r>
          </a:p>
          <a:p>
            <a:pPr marL="0" indent="0">
              <a:spcAft>
                <a:spcPts val="900"/>
              </a:spcAft>
              <a:buNone/>
            </a:pPr>
            <a:r>
              <a:rPr lang="es-ES" altLang="es-PE" sz="2400" dirty="0">
                <a:latin typeface="Chevin-Medium" pitchFamily="34" charset="0"/>
              </a:rPr>
              <a:t>Se pueden realizar operaciones como la recolección de datos, el cálculo de estadísticas y la visualización de tendencias a lo largo del tiempo</a:t>
            </a:r>
          </a:p>
          <a:p>
            <a:pPr marL="0" indent="0">
              <a:spcAft>
                <a:spcPts val="900"/>
              </a:spcAft>
              <a:buNone/>
            </a:pPr>
            <a:endParaRPr lang="es-ES" altLang="es-PE" sz="2100" b="1" dirty="0">
              <a:latin typeface="Chevin-Medium" pitchFamily="34" charset="0"/>
            </a:endParaRPr>
          </a:p>
          <a:p>
            <a:pPr marL="0" indent="0">
              <a:spcAft>
                <a:spcPts val="900"/>
              </a:spcAft>
              <a:buNone/>
            </a:pPr>
            <a:endParaRPr lang="es-ES" altLang="es-PE" sz="2400" dirty="0">
              <a:latin typeface="Chevin-Medium" pitchFamily="34" charset="0"/>
            </a:endParaRPr>
          </a:p>
          <a:p>
            <a:pPr marL="192088" indent="-192088">
              <a:spcAft>
                <a:spcPts val="900"/>
              </a:spcAft>
            </a:pPr>
            <a:endParaRPr lang="es-ES" altLang="es-PE" sz="2400" dirty="0">
              <a:latin typeface="Chevin-Medium" pitchFamily="34" charset="0"/>
            </a:endParaRPr>
          </a:p>
          <a:p>
            <a:pPr marL="192088" indent="-192088">
              <a:spcAft>
                <a:spcPts val="900"/>
              </a:spcAft>
            </a:pPr>
            <a:endParaRPr lang="es-ES" altLang="es-PE" sz="2400" dirty="0">
              <a:latin typeface="Chevin-Medium" pitchFamily="34" charset="0"/>
            </a:endParaRPr>
          </a:p>
        </p:txBody>
      </p:sp>
    </p:spTree>
    <p:extLst>
      <p:ext uri="{BB962C8B-B14F-4D97-AF65-F5344CB8AC3E}">
        <p14:creationId xmlns:p14="http://schemas.microsoft.com/office/powerpoint/2010/main" val="999908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1026">
            <a:extLst>
              <a:ext uri="{FF2B5EF4-FFF2-40B4-BE49-F238E27FC236}">
                <a16:creationId xmlns:a16="http://schemas.microsoft.com/office/drawing/2014/main" id="{BDE8CAF4-7E48-11F7-7C32-06A99387F51B}"/>
              </a:ext>
            </a:extLst>
          </p:cNvPr>
          <p:cNvSpPr>
            <a:spLocks noGrp="1" noChangeArrowheads="1"/>
          </p:cNvSpPr>
          <p:nvPr>
            <p:ph type="title"/>
          </p:nvPr>
        </p:nvSpPr>
        <p:spPr>
          <a:xfrm>
            <a:off x="462579" y="142936"/>
            <a:ext cx="8929071" cy="1325563"/>
          </a:xfrm>
        </p:spPr>
        <p:txBody>
          <a:bodyPr>
            <a:normAutofit/>
          </a:bodyPr>
          <a:lstStyle/>
          <a:p>
            <a:pPr marL="0" indent="0">
              <a:spcAft>
                <a:spcPts val="900"/>
              </a:spcAft>
              <a:buNone/>
            </a:pPr>
            <a:r>
              <a:rPr lang="es-ES" altLang="es-PE" sz="3200" dirty="0">
                <a:latin typeface="Chevin-Medium" pitchFamily="34" charset="0"/>
              </a:rPr>
              <a:t>Introducción a la Programación Orientada a Objetos (POO)</a:t>
            </a:r>
          </a:p>
        </p:txBody>
      </p:sp>
      <p:sp>
        <p:nvSpPr>
          <p:cNvPr id="21509" name="Rectángulo 4">
            <a:extLst>
              <a:ext uri="{FF2B5EF4-FFF2-40B4-BE49-F238E27FC236}">
                <a16:creationId xmlns:a16="http://schemas.microsoft.com/office/drawing/2014/main" id="{C72B0641-6A3D-E004-793A-F59B38488CE4}"/>
              </a:ext>
            </a:extLst>
          </p:cNvPr>
          <p:cNvSpPr>
            <a:spLocks noChangeArrowheads="1"/>
          </p:cNvSpPr>
          <p:nvPr/>
        </p:nvSpPr>
        <p:spPr bwMode="auto">
          <a:xfrm>
            <a:off x="1735139" y="6200775"/>
            <a:ext cx="1654175" cy="649288"/>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3" name="Rectangle 1027">
            <a:extLst>
              <a:ext uri="{FF2B5EF4-FFF2-40B4-BE49-F238E27FC236}">
                <a16:creationId xmlns:a16="http://schemas.microsoft.com/office/drawing/2014/main" id="{2A2F40B2-07B5-E59B-A064-3E872ADEE571}"/>
              </a:ext>
            </a:extLst>
          </p:cNvPr>
          <p:cNvSpPr txBox="1">
            <a:spLocks noChangeArrowheads="1"/>
          </p:cNvSpPr>
          <p:nvPr/>
        </p:nvSpPr>
        <p:spPr>
          <a:xfrm>
            <a:off x="526435" y="1278854"/>
            <a:ext cx="11202986" cy="52465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900"/>
              </a:spcAft>
              <a:buNone/>
            </a:pPr>
            <a:r>
              <a:rPr lang="es-ES" altLang="es-PE" sz="2400" b="1" dirty="0">
                <a:latin typeface="Chevin-Medium" pitchFamily="34" charset="0"/>
              </a:rPr>
              <a:t>Clases: </a:t>
            </a:r>
            <a:r>
              <a:rPr lang="es-ES" altLang="es-PE" sz="2400" dirty="0">
                <a:latin typeface="Chevin-Medium" pitchFamily="34" charset="0"/>
              </a:rPr>
              <a:t>Plantillas para crear objetos. Definen atributos y métodos que los objetos pueden tener.</a:t>
            </a:r>
          </a:p>
          <a:p>
            <a:pPr marL="0" indent="0">
              <a:spcAft>
                <a:spcPts val="900"/>
              </a:spcAft>
              <a:buNone/>
            </a:pPr>
            <a:r>
              <a:rPr lang="es-ES" altLang="es-PE" sz="2400" b="1" dirty="0">
                <a:latin typeface="Chevin-Medium" pitchFamily="34" charset="0"/>
              </a:rPr>
              <a:t>Objetos: </a:t>
            </a:r>
            <a:r>
              <a:rPr lang="es-ES" altLang="es-PE" sz="2400" dirty="0">
                <a:latin typeface="Chevin-Medium" pitchFamily="34" charset="0"/>
              </a:rPr>
              <a:t>Instancias de clases que representan entidades específicas con sus propios estados y comportamientos.</a:t>
            </a:r>
          </a:p>
          <a:p>
            <a:pPr marL="0" indent="0">
              <a:spcAft>
                <a:spcPts val="900"/>
              </a:spcAft>
              <a:buNone/>
            </a:pPr>
            <a:r>
              <a:rPr lang="es-ES" altLang="es-PE" sz="2400" dirty="0">
                <a:latin typeface="Chevin-Medium" pitchFamily="34" charset="0"/>
              </a:rPr>
              <a:t>Aplicación de POO en el modelado de equipos de mantenimiento:</a:t>
            </a:r>
          </a:p>
          <a:p>
            <a:pPr marL="0" indent="0">
              <a:spcAft>
                <a:spcPts val="900"/>
              </a:spcAft>
              <a:buNone/>
            </a:pPr>
            <a:r>
              <a:rPr lang="es-ES" altLang="es-PE" sz="2400" dirty="0">
                <a:latin typeface="Chevin-Medium" pitchFamily="34" charset="0"/>
              </a:rPr>
              <a:t>Permite crear modelos más claros y estructurados de equipos, facilitando la simulación y el análisis.</a:t>
            </a:r>
          </a:p>
          <a:p>
            <a:pPr marL="0" indent="0">
              <a:spcAft>
                <a:spcPts val="900"/>
              </a:spcAft>
              <a:buNone/>
            </a:pPr>
            <a:r>
              <a:rPr lang="es-ES" altLang="es-PE" sz="2400" dirty="0">
                <a:latin typeface="Chevin-Medium" pitchFamily="34" charset="0"/>
              </a:rPr>
              <a:t>Cada equipo puede ser representado como un objeto con atributos que describen su estado y comportamiento, como horas de uso y tiempo hasta fallo.</a:t>
            </a:r>
            <a:endParaRPr lang="es-ES" altLang="es-PE" sz="2100" b="1" dirty="0">
              <a:latin typeface="Chevin-Medium" pitchFamily="34" charset="0"/>
            </a:endParaRPr>
          </a:p>
          <a:p>
            <a:pPr marL="0" indent="0">
              <a:spcAft>
                <a:spcPts val="900"/>
              </a:spcAft>
              <a:buNone/>
            </a:pPr>
            <a:endParaRPr lang="es-ES" altLang="es-PE" sz="2400" dirty="0">
              <a:latin typeface="Chevin-Medium" pitchFamily="34" charset="0"/>
            </a:endParaRPr>
          </a:p>
          <a:p>
            <a:pPr marL="192088" indent="-192088">
              <a:spcAft>
                <a:spcPts val="900"/>
              </a:spcAft>
            </a:pPr>
            <a:endParaRPr lang="es-ES" altLang="es-PE" sz="2400" dirty="0">
              <a:latin typeface="Chevin-Medium" pitchFamily="34" charset="0"/>
            </a:endParaRPr>
          </a:p>
          <a:p>
            <a:pPr marL="192088" indent="-192088">
              <a:spcAft>
                <a:spcPts val="900"/>
              </a:spcAft>
            </a:pPr>
            <a:endParaRPr lang="es-ES" altLang="es-PE" sz="2400" dirty="0">
              <a:latin typeface="Chevin-Medium" pitchFamily="34" charset="0"/>
            </a:endParaRPr>
          </a:p>
        </p:txBody>
      </p:sp>
    </p:spTree>
    <p:extLst>
      <p:ext uri="{BB962C8B-B14F-4D97-AF65-F5344CB8AC3E}">
        <p14:creationId xmlns:p14="http://schemas.microsoft.com/office/powerpoint/2010/main" val="1389517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1026">
            <a:extLst>
              <a:ext uri="{FF2B5EF4-FFF2-40B4-BE49-F238E27FC236}">
                <a16:creationId xmlns:a16="http://schemas.microsoft.com/office/drawing/2014/main" id="{BDE8CAF4-7E48-11F7-7C32-06A99387F51B}"/>
              </a:ext>
            </a:extLst>
          </p:cNvPr>
          <p:cNvSpPr>
            <a:spLocks noGrp="1" noChangeArrowheads="1"/>
          </p:cNvSpPr>
          <p:nvPr>
            <p:ph type="title"/>
          </p:nvPr>
        </p:nvSpPr>
        <p:spPr>
          <a:xfrm>
            <a:off x="462579" y="142936"/>
            <a:ext cx="8929071" cy="1325563"/>
          </a:xfrm>
        </p:spPr>
        <p:txBody>
          <a:bodyPr>
            <a:normAutofit/>
          </a:bodyPr>
          <a:lstStyle/>
          <a:p>
            <a:pPr marL="0" indent="0">
              <a:spcAft>
                <a:spcPts val="900"/>
              </a:spcAft>
              <a:buNone/>
            </a:pPr>
            <a:r>
              <a:rPr lang="es-ES" altLang="es-PE" sz="3200" dirty="0">
                <a:latin typeface="Chevin-Medium" pitchFamily="34" charset="0"/>
              </a:rPr>
              <a:t>Creación de Modelos Predictivos Sencillos en Python</a:t>
            </a:r>
          </a:p>
        </p:txBody>
      </p:sp>
      <p:sp>
        <p:nvSpPr>
          <p:cNvPr id="21509" name="Rectángulo 4">
            <a:extLst>
              <a:ext uri="{FF2B5EF4-FFF2-40B4-BE49-F238E27FC236}">
                <a16:creationId xmlns:a16="http://schemas.microsoft.com/office/drawing/2014/main" id="{C72B0641-6A3D-E004-793A-F59B38488CE4}"/>
              </a:ext>
            </a:extLst>
          </p:cNvPr>
          <p:cNvSpPr>
            <a:spLocks noChangeArrowheads="1"/>
          </p:cNvSpPr>
          <p:nvPr/>
        </p:nvSpPr>
        <p:spPr bwMode="auto">
          <a:xfrm>
            <a:off x="1735139" y="6200775"/>
            <a:ext cx="1654175" cy="649288"/>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3" name="Rectangle 1027">
            <a:extLst>
              <a:ext uri="{FF2B5EF4-FFF2-40B4-BE49-F238E27FC236}">
                <a16:creationId xmlns:a16="http://schemas.microsoft.com/office/drawing/2014/main" id="{2A2F40B2-07B5-E59B-A064-3E872ADEE571}"/>
              </a:ext>
            </a:extLst>
          </p:cNvPr>
          <p:cNvSpPr txBox="1">
            <a:spLocks noChangeArrowheads="1"/>
          </p:cNvSpPr>
          <p:nvPr/>
        </p:nvSpPr>
        <p:spPr>
          <a:xfrm>
            <a:off x="526435" y="1468499"/>
            <a:ext cx="11202986" cy="52465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900"/>
              </a:spcAft>
              <a:buNone/>
            </a:pPr>
            <a:r>
              <a:rPr lang="es-ES" altLang="es-PE" sz="2400" b="1" dirty="0">
                <a:latin typeface="Chevin-Medium" pitchFamily="34" charset="0"/>
              </a:rPr>
              <a:t>Modelos simples de predicción utilizando fórmulas estadísticas:</a:t>
            </a:r>
          </a:p>
          <a:p>
            <a:pPr marL="0" indent="0">
              <a:spcAft>
                <a:spcPts val="900"/>
              </a:spcAft>
              <a:buNone/>
            </a:pPr>
            <a:r>
              <a:rPr lang="es-ES" altLang="es-PE" sz="2400" dirty="0">
                <a:latin typeface="Chevin-Medium" pitchFamily="34" charset="0"/>
              </a:rPr>
              <a:t>Uso de métodos estadísticos para modelar y predecir comportamientos.</a:t>
            </a:r>
          </a:p>
          <a:p>
            <a:pPr marL="0" indent="0">
              <a:spcAft>
                <a:spcPts val="900"/>
              </a:spcAft>
              <a:buNone/>
            </a:pPr>
            <a:r>
              <a:rPr lang="es-ES" altLang="es-PE" sz="2400" dirty="0">
                <a:latin typeface="Chevin-Medium" pitchFamily="34" charset="0"/>
              </a:rPr>
              <a:t>Implementación de técnicas como la regresión lineal para realizar predicciones basadas en datos históricos.</a:t>
            </a:r>
          </a:p>
          <a:p>
            <a:pPr marL="0" indent="0">
              <a:spcAft>
                <a:spcPts val="900"/>
              </a:spcAft>
              <a:buNone/>
            </a:pPr>
            <a:r>
              <a:rPr lang="es-ES" altLang="es-PE" sz="2400" b="1" dirty="0">
                <a:latin typeface="Chevin-Medium" pitchFamily="34" charset="0"/>
              </a:rPr>
              <a:t>Predicción de la vida útil de un equipo:</a:t>
            </a:r>
          </a:p>
          <a:p>
            <a:pPr marL="0" indent="0">
              <a:spcAft>
                <a:spcPts val="900"/>
              </a:spcAft>
              <a:buNone/>
            </a:pPr>
            <a:r>
              <a:rPr lang="es-ES" altLang="es-PE" sz="2400" dirty="0">
                <a:latin typeface="Chevin-Medium" pitchFamily="34" charset="0"/>
              </a:rPr>
              <a:t>Estimación de la duración que un equipo puede operar antes de fallar, basada en el uso anterior y otros factores relevantes.</a:t>
            </a:r>
          </a:p>
          <a:p>
            <a:pPr marL="0" indent="0">
              <a:spcAft>
                <a:spcPts val="900"/>
              </a:spcAft>
              <a:buNone/>
            </a:pPr>
            <a:r>
              <a:rPr lang="es-ES" altLang="es-PE" sz="2400" dirty="0">
                <a:latin typeface="Chevin-Medium" pitchFamily="34" charset="0"/>
              </a:rPr>
              <a:t>Los modelos predictivos ayudan a optimizar el mantenimiento y la gestión de recursos</a:t>
            </a:r>
            <a:r>
              <a:rPr lang="es-ES" altLang="es-PE" sz="2400" b="1" dirty="0">
                <a:latin typeface="Chevin-Medium" pitchFamily="34" charset="0"/>
              </a:rPr>
              <a:t>.</a:t>
            </a:r>
            <a:endParaRPr lang="es-ES" altLang="es-PE" sz="2400" dirty="0">
              <a:latin typeface="Chevin-Medium" pitchFamily="34" charset="0"/>
            </a:endParaRPr>
          </a:p>
          <a:p>
            <a:pPr marL="192088" indent="-192088">
              <a:spcAft>
                <a:spcPts val="900"/>
              </a:spcAft>
            </a:pPr>
            <a:endParaRPr lang="es-ES" altLang="es-PE" sz="2400" dirty="0">
              <a:latin typeface="Chevin-Medium" pitchFamily="34" charset="0"/>
            </a:endParaRPr>
          </a:p>
          <a:p>
            <a:pPr marL="192088" indent="-192088">
              <a:spcAft>
                <a:spcPts val="900"/>
              </a:spcAft>
            </a:pPr>
            <a:endParaRPr lang="es-ES" altLang="es-PE" sz="2400" dirty="0">
              <a:latin typeface="Chevin-Medium" pitchFamily="34" charset="0"/>
            </a:endParaRPr>
          </a:p>
        </p:txBody>
      </p:sp>
    </p:spTree>
    <p:extLst>
      <p:ext uri="{BB962C8B-B14F-4D97-AF65-F5344CB8AC3E}">
        <p14:creationId xmlns:p14="http://schemas.microsoft.com/office/powerpoint/2010/main" val="5921433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1026">
            <a:extLst>
              <a:ext uri="{FF2B5EF4-FFF2-40B4-BE49-F238E27FC236}">
                <a16:creationId xmlns:a16="http://schemas.microsoft.com/office/drawing/2014/main" id="{BDE8CAF4-7E48-11F7-7C32-06A99387F51B}"/>
              </a:ext>
            </a:extLst>
          </p:cNvPr>
          <p:cNvSpPr>
            <a:spLocks noGrp="1" noChangeArrowheads="1"/>
          </p:cNvSpPr>
          <p:nvPr>
            <p:ph type="title"/>
          </p:nvPr>
        </p:nvSpPr>
        <p:spPr>
          <a:xfrm>
            <a:off x="462579" y="142936"/>
            <a:ext cx="8929071" cy="1325563"/>
          </a:xfrm>
        </p:spPr>
        <p:txBody>
          <a:bodyPr>
            <a:normAutofit/>
          </a:bodyPr>
          <a:lstStyle/>
          <a:p>
            <a:pPr marL="0" indent="0">
              <a:spcAft>
                <a:spcPts val="900"/>
              </a:spcAft>
              <a:buNone/>
            </a:pPr>
            <a:r>
              <a:rPr lang="es-ES" altLang="es-PE" sz="3200" dirty="0">
                <a:latin typeface="Chevin-Medium" pitchFamily="34" charset="0"/>
              </a:rPr>
              <a:t>Ejemplos Prácticos de Programación para Mantenimiento</a:t>
            </a:r>
          </a:p>
        </p:txBody>
      </p:sp>
      <p:sp>
        <p:nvSpPr>
          <p:cNvPr id="21509" name="Rectángulo 4">
            <a:extLst>
              <a:ext uri="{FF2B5EF4-FFF2-40B4-BE49-F238E27FC236}">
                <a16:creationId xmlns:a16="http://schemas.microsoft.com/office/drawing/2014/main" id="{C72B0641-6A3D-E004-793A-F59B38488CE4}"/>
              </a:ext>
            </a:extLst>
          </p:cNvPr>
          <p:cNvSpPr>
            <a:spLocks noChangeArrowheads="1"/>
          </p:cNvSpPr>
          <p:nvPr/>
        </p:nvSpPr>
        <p:spPr bwMode="auto">
          <a:xfrm>
            <a:off x="1735139" y="6200775"/>
            <a:ext cx="1654175" cy="649288"/>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3" name="Rectangle 1027">
            <a:extLst>
              <a:ext uri="{FF2B5EF4-FFF2-40B4-BE49-F238E27FC236}">
                <a16:creationId xmlns:a16="http://schemas.microsoft.com/office/drawing/2014/main" id="{2A2F40B2-07B5-E59B-A064-3E872ADEE571}"/>
              </a:ext>
            </a:extLst>
          </p:cNvPr>
          <p:cNvSpPr txBox="1">
            <a:spLocks noChangeArrowheads="1"/>
          </p:cNvSpPr>
          <p:nvPr/>
        </p:nvSpPr>
        <p:spPr>
          <a:xfrm>
            <a:off x="526435" y="1468499"/>
            <a:ext cx="11202986" cy="52465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900"/>
              </a:spcAft>
              <a:buNone/>
            </a:pPr>
            <a:r>
              <a:rPr lang="es-ES" altLang="es-PE" sz="2400" b="1" dirty="0">
                <a:latin typeface="Chevin-Medium" pitchFamily="34" charset="0"/>
              </a:rPr>
              <a:t>Creación de un script que analice fallos históricos</a:t>
            </a:r>
            <a:r>
              <a:rPr lang="es-ES" altLang="es-PE" sz="2400" dirty="0">
                <a:latin typeface="Chevin-Medium" pitchFamily="34" charset="0"/>
              </a:rPr>
              <a:t>:</a:t>
            </a:r>
          </a:p>
          <a:p>
            <a:pPr marL="0" indent="0">
              <a:spcAft>
                <a:spcPts val="900"/>
              </a:spcAft>
              <a:buNone/>
            </a:pPr>
            <a:r>
              <a:rPr lang="es-ES" altLang="es-PE" sz="2400" dirty="0">
                <a:latin typeface="Chevin-Medium" pitchFamily="34" charset="0"/>
              </a:rPr>
              <a:t>Uso de pandas para leer y procesar datos de fallos en formato CSV. Identificación de patrones y tendencias en los datos históricos de fallos.</a:t>
            </a:r>
          </a:p>
          <a:p>
            <a:pPr marL="0" indent="0">
              <a:spcAft>
                <a:spcPts val="900"/>
              </a:spcAft>
              <a:buNone/>
            </a:pPr>
            <a:r>
              <a:rPr lang="es-ES" altLang="es-PE" sz="2400" b="1" dirty="0">
                <a:latin typeface="Chevin-Medium" pitchFamily="34" charset="0"/>
              </a:rPr>
              <a:t>Ejemplo de mantenimiento preventivo basado en datos:</a:t>
            </a:r>
          </a:p>
          <a:p>
            <a:pPr marL="0" indent="0">
              <a:spcAft>
                <a:spcPts val="900"/>
              </a:spcAft>
              <a:buNone/>
            </a:pPr>
            <a:r>
              <a:rPr lang="es-ES" altLang="es-PE" sz="2400" dirty="0">
                <a:latin typeface="Chevin-Medium" pitchFamily="34" charset="0"/>
              </a:rPr>
              <a:t>Implementación de un script que prediga la necesidad de mantenimiento en función de los datos de uso y fallo.</a:t>
            </a:r>
          </a:p>
          <a:p>
            <a:pPr marL="0" indent="0">
              <a:spcAft>
                <a:spcPts val="900"/>
              </a:spcAft>
              <a:buNone/>
            </a:pPr>
            <a:r>
              <a:rPr lang="es-ES" altLang="es-PE" sz="2400" b="1" dirty="0">
                <a:latin typeface="Chevin-Medium" pitchFamily="34" charset="0"/>
              </a:rPr>
              <a:t>Establecimiento de alertas y recomendaciones basadas en el análisis de los datos.</a:t>
            </a:r>
          </a:p>
          <a:p>
            <a:pPr marL="0" indent="0">
              <a:spcAft>
                <a:spcPts val="900"/>
              </a:spcAft>
              <a:buNone/>
            </a:pPr>
            <a:r>
              <a:rPr lang="es-ES" altLang="es-PE" sz="2400" dirty="0">
                <a:latin typeface="Chevin-Medium" pitchFamily="34" charset="0"/>
              </a:rPr>
              <a:t>Uso de datos en tiempo real de sensores para monitorear el estado de la máquina. Implementación de un modelo simple para predecir fallos basándose en los datos de sensores (temperatura, presión, etc.).</a:t>
            </a:r>
          </a:p>
          <a:p>
            <a:pPr marL="192088" indent="-192088">
              <a:spcAft>
                <a:spcPts val="900"/>
              </a:spcAft>
            </a:pPr>
            <a:endParaRPr lang="es-ES" altLang="es-PE" sz="2400" dirty="0">
              <a:latin typeface="Chevin-Medium" pitchFamily="34" charset="0"/>
            </a:endParaRPr>
          </a:p>
        </p:txBody>
      </p:sp>
    </p:spTree>
    <p:extLst>
      <p:ext uri="{BB962C8B-B14F-4D97-AF65-F5344CB8AC3E}">
        <p14:creationId xmlns:p14="http://schemas.microsoft.com/office/powerpoint/2010/main" val="4070834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1026">
            <a:extLst>
              <a:ext uri="{FF2B5EF4-FFF2-40B4-BE49-F238E27FC236}">
                <a16:creationId xmlns:a16="http://schemas.microsoft.com/office/drawing/2014/main" id="{BDE8CAF4-7E48-11F7-7C32-06A99387F51B}"/>
              </a:ext>
            </a:extLst>
          </p:cNvPr>
          <p:cNvSpPr>
            <a:spLocks noGrp="1" noChangeArrowheads="1"/>
          </p:cNvSpPr>
          <p:nvPr>
            <p:ph type="title"/>
          </p:nvPr>
        </p:nvSpPr>
        <p:spPr>
          <a:xfrm>
            <a:off x="462579" y="142936"/>
            <a:ext cx="8929071" cy="1325563"/>
          </a:xfrm>
        </p:spPr>
        <p:txBody>
          <a:bodyPr>
            <a:normAutofit/>
          </a:bodyPr>
          <a:lstStyle/>
          <a:p>
            <a:pPr marL="0" indent="0">
              <a:spcAft>
                <a:spcPts val="900"/>
              </a:spcAft>
              <a:buNone/>
            </a:pPr>
            <a:r>
              <a:rPr lang="es-ES" altLang="es-PE" sz="3200" dirty="0">
                <a:latin typeface="Chevin-Medium" pitchFamily="34" charset="0"/>
              </a:rPr>
              <a:t>Integración de Simulaciones con Modelos Predictivos</a:t>
            </a:r>
          </a:p>
        </p:txBody>
      </p:sp>
      <p:sp>
        <p:nvSpPr>
          <p:cNvPr id="21509" name="Rectángulo 4">
            <a:extLst>
              <a:ext uri="{FF2B5EF4-FFF2-40B4-BE49-F238E27FC236}">
                <a16:creationId xmlns:a16="http://schemas.microsoft.com/office/drawing/2014/main" id="{C72B0641-6A3D-E004-793A-F59B38488CE4}"/>
              </a:ext>
            </a:extLst>
          </p:cNvPr>
          <p:cNvSpPr>
            <a:spLocks noChangeArrowheads="1"/>
          </p:cNvSpPr>
          <p:nvPr/>
        </p:nvSpPr>
        <p:spPr bwMode="auto">
          <a:xfrm>
            <a:off x="1735139" y="6200775"/>
            <a:ext cx="1654175" cy="649288"/>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3" name="Rectangle 1027">
            <a:extLst>
              <a:ext uri="{FF2B5EF4-FFF2-40B4-BE49-F238E27FC236}">
                <a16:creationId xmlns:a16="http://schemas.microsoft.com/office/drawing/2014/main" id="{2A2F40B2-07B5-E59B-A064-3E872ADEE571}"/>
              </a:ext>
            </a:extLst>
          </p:cNvPr>
          <p:cNvSpPr txBox="1">
            <a:spLocks noChangeArrowheads="1"/>
          </p:cNvSpPr>
          <p:nvPr/>
        </p:nvSpPr>
        <p:spPr>
          <a:xfrm>
            <a:off x="526435" y="1468499"/>
            <a:ext cx="11202986" cy="52465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900"/>
              </a:spcAft>
              <a:buNone/>
            </a:pPr>
            <a:r>
              <a:rPr lang="es-ES" altLang="es-PE" sz="2400" dirty="0">
                <a:latin typeface="Chevin-Medium" pitchFamily="34" charset="0"/>
              </a:rPr>
              <a:t>Uso de Simulaciones de Montecarlo con Modelos Predictivos</a:t>
            </a:r>
          </a:p>
          <a:p>
            <a:pPr marL="0" indent="0">
              <a:spcAft>
                <a:spcPts val="900"/>
              </a:spcAft>
              <a:buNone/>
            </a:pPr>
            <a:r>
              <a:rPr lang="es-ES" altLang="es-PE" sz="2400" dirty="0">
                <a:latin typeface="Chevin-Medium" pitchFamily="34" charset="0"/>
              </a:rPr>
              <a:t>Simulaciones de Montecarlo generan escenarios basados en distribuciones probabilísticas.</a:t>
            </a:r>
          </a:p>
          <a:p>
            <a:pPr marL="0" indent="0">
              <a:spcAft>
                <a:spcPts val="900"/>
              </a:spcAft>
              <a:buNone/>
            </a:pPr>
            <a:r>
              <a:rPr lang="es-ES" altLang="es-PE" sz="2400" dirty="0">
                <a:latin typeface="Chevin-Medium" pitchFamily="34" charset="0"/>
              </a:rPr>
              <a:t>Modelos predictivos usan datos históricos para estimar la probabilidad de fallos y optimizar decisiones.</a:t>
            </a:r>
          </a:p>
          <a:p>
            <a:pPr marL="0" indent="0">
              <a:spcAft>
                <a:spcPts val="900"/>
              </a:spcAft>
              <a:buNone/>
            </a:pPr>
            <a:r>
              <a:rPr lang="es-ES" altLang="es-PE" sz="2400" dirty="0">
                <a:latin typeface="Chevin-Medium" pitchFamily="34" charset="0"/>
              </a:rPr>
              <a:t>La combinación permite evaluar múltiples escenarios de mantenimiento bajo condiciones inciertas.</a:t>
            </a:r>
          </a:p>
          <a:p>
            <a:pPr marL="0" indent="0">
              <a:spcAft>
                <a:spcPts val="900"/>
              </a:spcAft>
              <a:buNone/>
            </a:pPr>
            <a:r>
              <a:rPr lang="es-ES" altLang="es-PE" sz="2400" dirty="0">
                <a:latin typeface="Chevin-Medium" pitchFamily="34" charset="0"/>
              </a:rPr>
              <a:t>Se genera una simulación de Montecarlo basada en una distribución normal para el tiempo de fallos, Se simula un escenario de mantenimiento cada 300 horas y se calcula cuántos fallos ocurren en ese tiempo. Se visualiza la distribución de fallos y el impacto del mantenimiento en la frecuencia de fallos.</a:t>
            </a:r>
          </a:p>
        </p:txBody>
      </p:sp>
    </p:spTree>
    <p:extLst>
      <p:ext uri="{BB962C8B-B14F-4D97-AF65-F5344CB8AC3E}">
        <p14:creationId xmlns:p14="http://schemas.microsoft.com/office/powerpoint/2010/main" val="2096807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1026">
            <a:extLst>
              <a:ext uri="{FF2B5EF4-FFF2-40B4-BE49-F238E27FC236}">
                <a16:creationId xmlns:a16="http://schemas.microsoft.com/office/drawing/2014/main" id="{BDE8CAF4-7E48-11F7-7C32-06A99387F51B}"/>
              </a:ext>
            </a:extLst>
          </p:cNvPr>
          <p:cNvSpPr>
            <a:spLocks noGrp="1" noChangeArrowheads="1"/>
          </p:cNvSpPr>
          <p:nvPr>
            <p:ph type="title"/>
          </p:nvPr>
        </p:nvSpPr>
        <p:spPr>
          <a:xfrm>
            <a:off x="462579" y="142936"/>
            <a:ext cx="8929071" cy="1325563"/>
          </a:xfrm>
        </p:spPr>
        <p:txBody>
          <a:bodyPr>
            <a:normAutofit/>
          </a:bodyPr>
          <a:lstStyle/>
          <a:p>
            <a:pPr marL="0" indent="0">
              <a:spcAft>
                <a:spcPts val="900"/>
              </a:spcAft>
              <a:buNone/>
            </a:pPr>
            <a:r>
              <a:rPr lang="es-ES" altLang="es-PE" sz="3200" dirty="0">
                <a:latin typeface="Chevin-Medium" pitchFamily="34" charset="0"/>
              </a:rPr>
              <a:t>Resumen y Conclusiones</a:t>
            </a:r>
          </a:p>
        </p:txBody>
      </p:sp>
      <p:sp>
        <p:nvSpPr>
          <p:cNvPr id="21509" name="Rectángulo 4">
            <a:extLst>
              <a:ext uri="{FF2B5EF4-FFF2-40B4-BE49-F238E27FC236}">
                <a16:creationId xmlns:a16="http://schemas.microsoft.com/office/drawing/2014/main" id="{C72B0641-6A3D-E004-793A-F59B38488CE4}"/>
              </a:ext>
            </a:extLst>
          </p:cNvPr>
          <p:cNvSpPr>
            <a:spLocks noChangeArrowheads="1"/>
          </p:cNvSpPr>
          <p:nvPr/>
        </p:nvSpPr>
        <p:spPr bwMode="auto">
          <a:xfrm>
            <a:off x="1735139" y="6200775"/>
            <a:ext cx="1654175" cy="649288"/>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3" name="Rectangle 1027">
            <a:extLst>
              <a:ext uri="{FF2B5EF4-FFF2-40B4-BE49-F238E27FC236}">
                <a16:creationId xmlns:a16="http://schemas.microsoft.com/office/drawing/2014/main" id="{2A2F40B2-07B5-E59B-A064-3E872ADEE571}"/>
              </a:ext>
            </a:extLst>
          </p:cNvPr>
          <p:cNvSpPr txBox="1">
            <a:spLocks noChangeArrowheads="1"/>
          </p:cNvSpPr>
          <p:nvPr/>
        </p:nvSpPr>
        <p:spPr>
          <a:xfrm>
            <a:off x="526435" y="1468499"/>
            <a:ext cx="11202986" cy="52465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900"/>
              </a:spcAft>
              <a:buNone/>
            </a:pPr>
            <a:r>
              <a:rPr lang="es-ES" altLang="es-PE" sz="2400" dirty="0">
                <a:latin typeface="Chevin-Medium" pitchFamily="34" charset="0"/>
              </a:rPr>
              <a:t>Programación en Python: Fundamentos y su aplicación en mantenimiento predictivo.</a:t>
            </a:r>
          </a:p>
          <a:p>
            <a:pPr marL="0" indent="0">
              <a:spcAft>
                <a:spcPts val="900"/>
              </a:spcAft>
              <a:buNone/>
            </a:pPr>
            <a:r>
              <a:rPr lang="es-ES" altLang="es-PE" sz="2400" dirty="0">
                <a:latin typeface="Chevin-Medium" pitchFamily="34" charset="0"/>
              </a:rPr>
              <a:t>Simulaciones: Uso de técnicas como Montecarlo para predecir fallos y optimizar estrategias.</a:t>
            </a:r>
          </a:p>
          <a:p>
            <a:pPr marL="0" indent="0">
              <a:spcAft>
                <a:spcPts val="900"/>
              </a:spcAft>
              <a:buNone/>
            </a:pPr>
            <a:r>
              <a:rPr lang="es-ES" altLang="es-PE" sz="2400" dirty="0">
                <a:latin typeface="Chevin-Medium" pitchFamily="34" charset="0"/>
              </a:rPr>
              <a:t>Ciencia de Datos: Modelado predictivo, análisis y visualización de datos para la toma de decisiones. </a:t>
            </a:r>
          </a:p>
          <a:p>
            <a:pPr marL="0" indent="0">
              <a:spcAft>
                <a:spcPts val="900"/>
              </a:spcAft>
              <a:buNone/>
            </a:pPr>
            <a:r>
              <a:rPr lang="es-ES" altLang="es-PE" sz="2400" b="1" dirty="0">
                <a:latin typeface="Chevin-Medium" pitchFamily="34" charset="0"/>
              </a:rPr>
              <a:t>Aplicación de Python en el Mundo Real del Mantenimiento Predictivo</a:t>
            </a:r>
          </a:p>
          <a:p>
            <a:pPr marL="0" indent="0">
              <a:spcAft>
                <a:spcPts val="900"/>
              </a:spcAft>
              <a:buNone/>
            </a:pPr>
            <a:r>
              <a:rPr lang="es-ES" altLang="es-PE" sz="2400" dirty="0">
                <a:latin typeface="Chevin-Medium" pitchFamily="34" charset="0"/>
              </a:rPr>
              <a:t>Automatización de procesos: Cálculo de tiempos de falla y mantenimiento óptimos.</a:t>
            </a:r>
          </a:p>
          <a:p>
            <a:pPr marL="0" indent="0">
              <a:spcAft>
                <a:spcPts val="900"/>
              </a:spcAft>
              <a:buNone/>
            </a:pPr>
            <a:r>
              <a:rPr lang="es-ES" altLang="es-PE" sz="2400" dirty="0">
                <a:latin typeface="Chevin-Medium" pitchFamily="34" charset="0"/>
              </a:rPr>
              <a:t>Modelos predictivos: Integración de análisis históricos con datos en tiempo real para prevenir fallos.</a:t>
            </a:r>
          </a:p>
          <a:p>
            <a:pPr marL="0" indent="0">
              <a:spcAft>
                <a:spcPts val="900"/>
              </a:spcAft>
              <a:buNone/>
            </a:pPr>
            <a:r>
              <a:rPr lang="es-ES" altLang="es-PE" sz="2400" dirty="0">
                <a:latin typeface="Chevin-Medium" pitchFamily="34" charset="0"/>
              </a:rPr>
              <a:t>Simulaciones: Previsión de diferentes escenarios operativos para una mejor planificación</a:t>
            </a:r>
          </a:p>
          <a:p>
            <a:pPr marL="0" indent="0">
              <a:spcAft>
                <a:spcPts val="900"/>
              </a:spcAft>
              <a:buNone/>
            </a:pPr>
            <a:endParaRPr lang="es-ES" altLang="es-PE" sz="2400" dirty="0">
              <a:latin typeface="Chevin-Medium" pitchFamily="34" charset="0"/>
            </a:endParaRPr>
          </a:p>
        </p:txBody>
      </p:sp>
    </p:spTree>
    <p:extLst>
      <p:ext uri="{BB962C8B-B14F-4D97-AF65-F5344CB8AC3E}">
        <p14:creationId xmlns:p14="http://schemas.microsoft.com/office/powerpoint/2010/main" val="38336393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1026">
            <a:extLst>
              <a:ext uri="{FF2B5EF4-FFF2-40B4-BE49-F238E27FC236}">
                <a16:creationId xmlns:a16="http://schemas.microsoft.com/office/drawing/2014/main" id="{BDE8CAF4-7E48-11F7-7C32-06A99387F51B}"/>
              </a:ext>
            </a:extLst>
          </p:cNvPr>
          <p:cNvSpPr>
            <a:spLocks noGrp="1" noChangeArrowheads="1"/>
          </p:cNvSpPr>
          <p:nvPr>
            <p:ph type="title"/>
          </p:nvPr>
        </p:nvSpPr>
        <p:spPr>
          <a:xfrm>
            <a:off x="462579" y="142936"/>
            <a:ext cx="8929071" cy="1325563"/>
          </a:xfrm>
        </p:spPr>
        <p:txBody>
          <a:bodyPr>
            <a:normAutofit/>
          </a:bodyPr>
          <a:lstStyle/>
          <a:p>
            <a:pPr marL="0" indent="0">
              <a:spcAft>
                <a:spcPts val="900"/>
              </a:spcAft>
              <a:buNone/>
            </a:pPr>
            <a:r>
              <a:rPr lang="es-ES" altLang="es-PE" sz="3200" dirty="0">
                <a:latin typeface="Chevin-Medium" pitchFamily="34" charset="0"/>
              </a:rPr>
              <a:t>Resumen y Conclusiones</a:t>
            </a:r>
          </a:p>
        </p:txBody>
      </p:sp>
      <p:sp>
        <p:nvSpPr>
          <p:cNvPr id="21509" name="Rectángulo 4">
            <a:extLst>
              <a:ext uri="{FF2B5EF4-FFF2-40B4-BE49-F238E27FC236}">
                <a16:creationId xmlns:a16="http://schemas.microsoft.com/office/drawing/2014/main" id="{C72B0641-6A3D-E004-793A-F59B38488CE4}"/>
              </a:ext>
            </a:extLst>
          </p:cNvPr>
          <p:cNvSpPr>
            <a:spLocks noChangeArrowheads="1"/>
          </p:cNvSpPr>
          <p:nvPr/>
        </p:nvSpPr>
        <p:spPr bwMode="auto">
          <a:xfrm>
            <a:off x="1735139" y="6200775"/>
            <a:ext cx="1654175" cy="649288"/>
          </a:xfrm>
          <a:prstGeom prst="rect">
            <a:avLst/>
          </a:prstGeom>
          <a:solidFill>
            <a:schemeClr val="bg1"/>
          </a:solidFill>
          <a:ln w="9525" algn="ctr">
            <a:solidFill>
              <a:schemeClr val="bg1"/>
            </a:solidFill>
            <a:round/>
            <a:headEnd/>
            <a:tailEnd/>
          </a:ln>
        </p:spPr>
        <p:txBody>
          <a:bodyPr/>
          <a:lstStyle>
            <a:lvl1pPr>
              <a:defRPr sz="3600" b="1">
                <a:solidFill>
                  <a:schemeClr val="tx1"/>
                </a:solidFill>
                <a:latin typeface="SKF Chevin Light" pitchFamily="34" charset="0"/>
                <a:cs typeface="Times New Roman" panose="02020603050405020304" pitchFamily="18" charset="0"/>
              </a:defRPr>
            </a:lvl1pPr>
            <a:lvl2pPr marL="742950" indent="-285750">
              <a:defRPr sz="3600" b="1">
                <a:solidFill>
                  <a:schemeClr val="tx1"/>
                </a:solidFill>
                <a:latin typeface="SKF Chevin Light" pitchFamily="34" charset="0"/>
                <a:cs typeface="Times New Roman" panose="02020603050405020304" pitchFamily="18" charset="0"/>
              </a:defRPr>
            </a:lvl2pPr>
            <a:lvl3pPr marL="1143000" indent="-228600">
              <a:defRPr sz="3600" b="1">
                <a:solidFill>
                  <a:schemeClr val="tx1"/>
                </a:solidFill>
                <a:latin typeface="SKF Chevin Light" pitchFamily="34" charset="0"/>
                <a:cs typeface="Times New Roman" panose="02020603050405020304" pitchFamily="18" charset="0"/>
              </a:defRPr>
            </a:lvl3pPr>
            <a:lvl4pPr marL="1600200" indent="-228600">
              <a:defRPr sz="3600" b="1">
                <a:solidFill>
                  <a:schemeClr val="tx1"/>
                </a:solidFill>
                <a:latin typeface="SKF Chevin Light" pitchFamily="34" charset="0"/>
                <a:cs typeface="Times New Roman" panose="02020603050405020304" pitchFamily="18" charset="0"/>
              </a:defRPr>
            </a:lvl4pPr>
            <a:lvl5pPr marL="2057400" indent="-228600">
              <a:defRPr sz="3600" b="1">
                <a:solidFill>
                  <a:schemeClr val="tx1"/>
                </a:solidFill>
                <a:latin typeface="SKF Chevin Light" pitchFamily="34" charset="0"/>
                <a:cs typeface="Times New Roman" panose="02020603050405020304" pitchFamily="18" charset="0"/>
              </a:defRPr>
            </a:lvl5pPr>
            <a:lvl6pPr marL="25146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6pPr>
            <a:lvl7pPr marL="29718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7pPr>
            <a:lvl8pPr marL="34290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8pPr>
            <a:lvl9pPr marL="3886200" indent="-228600" eaLnBrk="0" fontAlgn="base" hangingPunct="0">
              <a:spcBef>
                <a:spcPct val="0"/>
              </a:spcBef>
              <a:spcAft>
                <a:spcPct val="0"/>
              </a:spcAft>
              <a:defRPr sz="3600" b="1">
                <a:solidFill>
                  <a:schemeClr val="tx1"/>
                </a:solidFill>
                <a:latin typeface="SKF Chevin Light" pitchFamily="34" charset="0"/>
                <a:cs typeface="Times New Roman" panose="02020603050405020304" pitchFamily="18" charset="0"/>
              </a:defRPr>
            </a:lvl9pPr>
          </a:lstStyle>
          <a:p>
            <a:pPr eaLnBrk="1" hangingPunct="1"/>
            <a:endParaRPr lang="es-PE" altLang="es-PE"/>
          </a:p>
        </p:txBody>
      </p:sp>
      <p:sp>
        <p:nvSpPr>
          <p:cNvPr id="3" name="Rectangle 1027">
            <a:extLst>
              <a:ext uri="{FF2B5EF4-FFF2-40B4-BE49-F238E27FC236}">
                <a16:creationId xmlns:a16="http://schemas.microsoft.com/office/drawing/2014/main" id="{2A2F40B2-07B5-E59B-A064-3E872ADEE571}"/>
              </a:ext>
            </a:extLst>
          </p:cNvPr>
          <p:cNvSpPr txBox="1">
            <a:spLocks noChangeArrowheads="1"/>
          </p:cNvSpPr>
          <p:nvPr/>
        </p:nvSpPr>
        <p:spPr>
          <a:xfrm>
            <a:off x="526435" y="1468499"/>
            <a:ext cx="11202986" cy="52465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900"/>
              </a:spcAft>
              <a:buNone/>
            </a:pPr>
            <a:r>
              <a:rPr lang="es-ES" altLang="es-PE" sz="2400" b="1" dirty="0">
                <a:latin typeface="Chevin-Medium" pitchFamily="34" charset="0"/>
              </a:rPr>
              <a:t>Importancia de la Automatización para la Eficiencia Operativa</a:t>
            </a:r>
          </a:p>
          <a:p>
            <a:pPr>
              <a:spcAft>
                <a:spcPts val="900"/>
              </a:spcAft>
            </a:pPr>
            <a:r>
              <a:rPr lang="es-ES" altLang="es-PE" sz="2400" dirty="0">
                <a:latin typeface="Chevin-Medium" pitchFamily="34" charset="0"/>
              </a:rPr>
              <a:t>Reducción de tiempos muertos: El mantenimiento predictivo minimiza interrupciones no planificadas.</a:t>
            </a:r>
          </a:p>
          <a:p>
            <a:pPr>
              <a:spcAft>
                <a:spcPts val="900"/>
              </a:spcAft>
            </a:pPr>
            <a:r>
              <a:rPr lang="es-ES" altLang="es-PE" sz="2400" dirty="0">
                <a:latin typeface="Chevin-Medium" pitchFamily="34" charset="0"/>
              </a:rPr>
              <a:t>Optimización de recursos: Uso más eficiente de equipos, ahorro de costos operativos.</a:t>
            </a:r>
          </a:p>
          <a:p>
            <a:pPr>
              <a:spcAft>
                <a:spcPts val="900"/>
              </a:spcAft>
            </a:pPr>
            <a:r>
              <a:rPr lang="es-ES" altLang="es-PE" sz="2400" dirty="0">
                <a:latin typeface="Chevin-Medium" pitchFamily="34" charset="0"/>
              </a:rPr>
              <a:t>Decisiones basadas en datos: Implementación de estrategias proactivas, respaldadas por simulaciones y modelos predictivos.</a:t>
            </a:r>
          </a:p>
        </p:txBody>
      </p:sp>
    </p:spTree>
    <p:extLst>
      <p:ext uri="{BB962C8B-B14F-4D97-AF65-F5344CB8AC3E}">
        <p14:creationId xmlns:p14="http://schemas.microsoft.com/office/powerpoint/2010/main" val="14820350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546</TotalTime>
  <Words>2095</Words>
  <Application>Microsoft Office PowerPoint</Application>
  <PresentationFormat>Panorámica</PresentationFormat>
  <Paragraphs>163</Paragraphs>
  <Slides>24</Slides>
  <Notes>20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24</vt:i4>
      </vt:variant>
    </vt:vector>
  </HeadingPairs>
  <TitlesOfParts>
    <vt:vector size="32" baseType="lpstr">
      <vt:lpstr>Aptos</vt:lpstr>
      <vt:lpstr>Arial</vt:lpstr>
      <vt:lpstr>Calibri</vt:lpstr>
      <vt:lpstr>Chevin-DemiBold</vt:lpstr>
      <vt:lpstr>Chevin-Medium</vt:lpstr>
      <vt:lpstr>Outfit</vt:lpstr>
      <vt:lpstr>Prompt</vt:lpstr>
      <vt:lpstr>Tema de Office</vt:lpstr>
      <vt:lpstr>Presentación de PowerPoint</vt:lpstr>
      <vt:lpstr>Presentación de PowerPoint</vt:lpstr>
      <vt:lpstr>Presentación de PowerPoint</vt:lpstr>
      <vt:lpstr> Introducción a Python para Mantenimiento Predictivo</vt:lpstr>
      <vt:lpstr> Introducción a Google Colab:</vt:lpstr>
      <vt:lpstr>Interfaz de Google Colab</vt:lpstr>
      <vt:lpstr>Variables y tipos de datos:</vt:lpstr>
      <vt:lpstr>FUNCIONES</vt:lpstr>
      <vt:lpstr>Manipulación de Datos con Python (pandas)</vt:lpstr>
      <vt:lpstr>Introducción a Numpy</vt:lpstr>
      <vt:lpstr>Visualización de Datos con Matplotlib</vt:lpstr>
      <vt:lpstr>Introducción a las Simulaciones de Montecarlo</vt:lpstr>
      <vt:lpstr>Introducción a las Simulaciones de Montecarlo</vt:lpstr>
      <vt:lpstr>Introducción a las Simulaciones de Montecarlo</vt:lpstr>
      <vt:lpstr>Introducción a las Simulaciones de Montecarlo</vt:lpstr>
      <vt:lpstr>Fundamentos de Programación Aplicados a la Ciencia de Datos</vt:lpstr>
      <vt:lpstr>Análisis Estadístico de Datos en Mantenimiento</vt:lpstr>
      <vt:lpstr>Introducción a la Programación Orientada a Objetos (POO)</vt:lpstr>
      <vt:lpstr>Creación de Modelos Predictivos Sencillos en Python</vt:lpstr>
      <vt:lpstr>Ejemplos Prácticos de Programación para Mantenimiento</vt:lpstr>
      <vt:lpstr>Integración de Simulaciones con Modelos Predictivos</vt:lpstr>
      <vt:lpstr>Resumen y Conclusiones</vt:lpstr>
      <vt:lpstr>Resumen y Conclusiones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BREYNNER CHAVEZ</cp:lastModifiedBy>
  <cp:revision>15</cp:revision>
  <dcterms:created xsi:type="dcterms:W3CDTF">2022-04-19T18:02:09Z</dcterms:created>
  <dcterms:modified xsi:type="dcterms:W3CDTF">2024-10-18T23:32:22Z</dcterms:modified>
</cp:coreProperties>
</file>