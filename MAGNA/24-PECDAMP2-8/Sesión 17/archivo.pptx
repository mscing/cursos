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2" r:id="rId3"/>
    <p:sldId id="886" r:id="rId4"/>
    <p:sldId id="1050" r:id="rId5"/>
    <p:sldId id="1034" r:id="rId6"/>
    <p:sldId id="1051" r:id="rId7"/>
    <p:sldId id="1052" r:id="rId8"/>
    <p:sldId id="1053" r:id="rId9"/>
    <p:sldId id="1054" r:id="rId10"/>
    <p:sldId id="1055" r:id="rId11"/>
    <p:sldId id="1035" r:id="rId12"/>
    <p:sldId id="1036" r:id="rId13"/>
    <p:sldId id="1056" r:id="rId14"/>
    <p:sldId id="1040" r:id="rId15"/>
    <p:sldId id="1058" r:id="rId16"/>
    <p:sldId id="1041" r:id="rId17"/>
    <p:sldId id="1042" r:id="rId18"/>
    <p:sldId id="1043" r:id="rId19"/>
    <p:sldId id="1044" r:id="rId20"/>
    <p:sldId id="1045" r:id="rId21"/>
    <p:sldId id="1046" r:id="rId22"/>
    <p:sldId id="1059" r:id="rId23"/>
    <p:sldId id="1060" r:id="rId24"/>
    <p:sldId id="1047" r:id="rId25"/>
    <p:sldId id="1048" r:id="rId26"/>
    <p:sldId id="1049" r:id="rId27"/>
    <p:sldId id="260" r:id="rId2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37" autoAdjust="0"/>
    <p:restoredTop sz="94660"/>
  </p:normalViewPr>
  <p:slideViewPr>
    <p:cSldViewPr snapToGrid="0">
      <p:cViewPr varScale="1">
        <p:scale>
          <a:sx n="112" d="100"/>
          <a:sy n="112" d="100"/>
        </p:scale>
        <p:origin x="42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8889A1-9D5F-44B8-914E-291F880859DB}" type="datetimeFigureOut">
              <a:rPr lang="es-PE" smtClean="0"/>
              <a:t>3/01/2025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9E40C-7386-45A4-9EF3-038954DC55A0}" type="slidenum">
              <a:rPr lang="es-PE" smtClean="0"/>
              <a:t>‹Nº›</a:t>
            </a:fld>
            <a:endParaRPr lang="es-PE"/>
          </a:p>
        </p:txBody>
      </p:sp>
    </p:spTree>
    <p:extLst>
      <p:ext uri="{BB962C8B-B14F-4D97-AF65-F5344CB8AC3E}">
        <p14:creationId xmlns:p14="http://schemas.microsoft.com/office/powerpoint/2010/main" val="3281874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46768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8C37-2AC7-95F6-B086-A1E0C4F163E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47C9BEB-F05F-1FB4-50DB-58BA5E3DFF41}"/>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D77BFF21-FEF4-A98D-94D4-36A6804E2819}"/>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2081360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989885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C0E8-8CF2-2D08-63F0-E9389176D17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80F84AC-0F8E-905A-DEBF-4316A71B85A0}"/>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D8A82FF2-3196-8EC3-459A-A16B2E3D0E8B}"/>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878111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C212-6C55-7DCD-A954-B8FF36B6529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566BCF2-57CF-318B-A406-58E7F57EDE81}"/>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04F17EBE-DA5C-623E-45E4-7A6DF7878AB9}"/>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306032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78F2-3254-66AA-A734-544BF898BCA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3A5F464-930B-88CA-4F94-9CA32E2A0495}"/>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990DA9D2-7E76-A0EE-BAF7-1E2E07BA288F}"/>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192516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5DEDF-C483-BFB0-F8E3-F2C042E3694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8E67D21-1FB6-3567-AC68-7F49346ADE55}"/>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5EDE3352-A148-2902-88E6-9C44703FC367}"/>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397105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1FDB-3554-27B7-7DEB-F751C570EB3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AB1BEFA-FB32-D306-F860-42FBB0A5F9AF}"/>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677135DD-078E-E90C-6FE5-FB9A1E5A72F9}"/>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131310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827633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1400116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89EE8-D139-BF6D-9628-07B10025461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0E236B5-C397-52C5-FD91-F80861DE7252}"/>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DFC26F6A-5FDF-9253-41C7-07BDB9D76C67}"/>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661817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2852200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6A879-9F6C-DA4B-0A77-77C0A27F4DA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F6AF99E-29AE-88A2-CEFE-24780AD67F64}"/>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1C7489CC-7066-32DD-7CFA-366A142F165D}"/>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876110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1965446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430551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505545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070681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62406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1519016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DA7D6-502A-61C0-783A-7AC42ADAF8D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CD3F7B3-A006-05E2-4600-5DAA59C854CA}"/>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B895B766-B86E-0E11-4DB5-8EC0BEBC79B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73576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0D3F-F606-2C27-079E-12C94DCC9B1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A882A59-5D6F-98D1-0A9E-E36654EEDC3E}"/>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597DAF65-6770-8683-85EA-AF5444D2187D}"/>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118462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508675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30398424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4C89E3A-30EB-E0AC-7349-01070F286D69}"/>
              </a:ext>
            </a:extLst>
          </p:cNvPr>
          <p:cNvSpPr>
            <a:spLocks noGrp="1" noRot="1" noChangeAspect="1" noChangeArrowheads="1" noTextEdit="1"/>
          </p:cNvSpPr>
          <p:nvPr>
            <p:ph type="sldImg"/>
          </p:nvPr>
        </p:nvSpPr>
        <p:spPr>
          <a:xfrm>
            <a:off x="463550" y="722313"/>
            <a:ext cx="6392863" cy="3597275"/>
          </a:xfrm>
          <a:solidFill>
            <a:srgbClr val="FFFFFF"/>
          </a:solidFill>
          <a:ln/>
        </p:spPr>
      </p:sp>
      <p:sp>
        <p:nvSpPr>
          <p:cNvPr id="10243" name="Rectangle 3">
            <a:extLst>
              <a:ext uri="{FF2B5EF4-FFF2-40B4-BE49-F238E27FC236}">
                <a16:creationId xmlns:a16="http://schemas.microsoft.com/office/drawing/2014/main" id="{3978EED8-662C-5237-0AE9-8F1F256E15C0}"/>
              </a:ext>
            </a:extLst>
          </p:cNvPr>
          <p:cNvSpPr>
            <a:spLocks noGrp="1" noChangeArrowheads="1"/>
          </p:cNvSpPr>
          <p:nvPr>
            <p:ph type="body" idx="1"/>
          </p:nvPr>
        </p:nvSpPr>
        <p:spPr>
          <a:xfrm>
            <a:off x="976313" y="4560888"/>
            <a:ext cx="5362575" cy="4240212"/>
          </a:xfrm>
          <a:solidFill>
            <a:srgbClr val="FFFFFF"/>
          </a:solidFill>
          <a:ln>
            <a:solidFill>
              <a:srgbClr val="000000"/>
            </a:solidFill>
          </a:ln>
        </p:spPr>
        <p:txBody>
          <a:bodyPr/>
          <a:lstStyle/>
          <a:p>
            <a:pPr eaLnBrk="1" hangingPunct="1"/>
            <a:endParaRPr lang="es-ES" altLang="es-PE"/>
          </a:p>
        </p:txBody>
      </p:sp>
    </p:spTree>
    <p:extLst>
      <p:ext uri="{BB962C8B-B14F-4D97-AF65-F5344CB8AC3E}">
        <p14:creationId xmlns:p14="http://schemas.microsoft.com/office/powerpoint/2010/main" val="2962743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03/01/2025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03/01/2025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03/01/2025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03/01/2025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03/01/2025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03/01/2025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03/01/2025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03/01/2025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03/01/2025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03/01/2025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03/01/2025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03/01/2025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649338" y="2875002"/>
            <a:ext cx="10015556" cy="954107"/>
          </a:xfrm>
          <a:prstGeom prst="rect">
            <a:avLst/>
          </a:prstGeom>
        </p:spPr>
        <p:txBody>
          <a:bodyPr wrap="square">
            <a:spAutoFit/>
          </a:bodyPr>
          <a:lstStyle/>
          <a:p>
            <a:pPr algn="r"/>
            <a:r>
              <a:rPr lang="es-ES" sz="2800" b="1" dirty="0">
                <a:solidFill>
                  <a:schemeClr val="bg1"/>
                </a:solidFill>
                <a:latin typeface="Prompt" panose="00000500000000000000" pitchFamily="2" charset="-34"/>
                <a:cs typeface="Prompt" panose="00000500000000000000" pitchFamily="2" charset="-34"/>
              </a:rPr>
              <a:t> OPTIMIZACIÓN DE MODELOS PREDICTIVOS</a:t>
            </a:r>
          </a:p>
          <a:p>
            <a:pPr algn="r"/>
            <a:r>
              <a:rPr lang="es-ES" sz="2800" b="1" dirty="0">
                <a:solidFill>
                  <a:schemeClr val="bg1"/>
                </a:solidFill>
                <a:latin typeface="Prompt" panose="00000500000000000000" pitchFamily="2" charset="-34"/>
                <a:cs typeface="Prompt" panose="00000500000000000000" pitchFamily="2" charset="-34"/>
              </a:rPr>
              <a:t> EN MANTENIMIENTO</a:t>
            </a:r>
          </a:p>
        </p:txBody>
      </p:sp>
      <p:sp>
        <p:nvSpPr>
          <p:cNvPr id="2" name="Rectángulo 1">
            <a:extLst>
              <a:ext uri="{FF2B5EF4-FFF2-40B4-BE49-F238E27FC236}">
                <a16:creationId xmlns:a16="http://schemas.microsoft.com/office/drawing/2014/main" id="{28AB71E2-9429-B203-FB59-DC7DD12C16B1}"/>
              </a:ext>
            </a:extLst>
          </p:cNvPr>
          <p:cNvSpPr/>
          <p:nvPr/>
        </p:nvSpPr>
        <p:spPr>
          <a:xfrm>
            <a:off x="8129952" y="4668193"/>
            <a:ext cx="3534942" cy="477054"/>
          </a:xfrm>
          <a:prstGeom prst="rect">
            <a:avLst/>
          </a:prstGeom>
        </p:spPr>
        <p:txBody>
          <a:bodyPr wrap="none">
            <a:spAutoFit/>
          </a:bodyPr>
          <a:lstStyle/>
          <a:p>
            <a:pPr algn="ctr"/>
            <a:r>
              <a:rPr lang="es-ES" sz="2500" dirty="0">
                <a:solidFill>
                  <a:schemeClr val="bg1"/>
                </a:solidFill>
                <a:latin typeface="Prompt" panose="00000500000000000000" pitchFamily="2" charset="-34"/>
                <a:cs typeface="Prompt" panose="00000500000000000000" pitchFamily="2" charset="-34"/>
              </a:rPr>
              <a:t>Ing. </a:t>
            </a:r>
            <a:r>
              <a:rPr lang="es-ES" sz="2500" dirty="0" err="1">
                <a:solidFill>
                  <a:schemeClr val="bg1"/>
                </a:solidFill>
                <a:latin typeface="Prompt" panose="00000500000000000000" pitchFamily="2" charset="-34"/>
                <a:cs typeface="Prompt" panose="00000500000000000000" pitchFamily="2" charset="-34"/>
              </a:rPr>
              <a:t>Breynner</a:t>
            </a:r>
            <a:r>
              <a:rPr lang="es-ES" sz="2500" dirty="0">
                <a:solidFill>
                  <a:schemeClr val="bg1"/>
                </a:solidFill>
                <a:latin typeface="Prompt" panose="00000500000000000000" pitchFamily="2" charset="-34"/>
                <a:cs typeface="Prompt" panose="00000500000000000000" pitchFamily="2" charset="-34"/>
              </a:rPr>
              <a:t> Chávez</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746404" cy="3046988"/>
          </a:xfrm>
          <a:prstGeom prst="rect">
            <a:avLst/>
          </a:prstGeom>
          <a:noFill/>
        </p:spPr>
        <p:txBody>
          <a:bodyPr wrap="square" rtlCol="0">
            <a:spAutoFit/>
          </a:bodyPr>
          <a:lstStyle/>
          <a:p>
            <a:r>
              <a:rPr lang="es-MX" altLang="es-PE" sz="2400" dirty="0">
                <a:solidFill>
                  <a:schemeClr val="tx1"/>
                </a:solidFill>
                <a:latin typeface="Chevin-Medium"/>
              </a:rPr>
              <a:t>La optimización de modelos predictivos representa uno de los pilares fundamentales en el desarrollo de soluciones basadas en aprendizaje automático y análisis de datos.</a:t>
            </a:r>
          </a:p>
          <a:p>
            <a:endParaRPr lang="es-MX" altLang="es-PE" sz="2400" dirty="0">
              <a:latin typeface="Chevin-Medium"/>
            </a:endParaRPr>
          </a:p>
          <a:p>
            <a:r>
              <a:rPr lang="es-MX" altLang="es-PE" sz="2400" dirty="0">
                <a:latin typeface="Chevin-Medium"/>
              </a:rPr>
              <a:t>C</a:t>
            </a:r>
            <a:r>
              <a:rPr lang="es-MX" altLang="es-PE" sz="2400" dirty="0">
                <a:solidFill>
                  <a:schemeClr val="tx1"/>
                </a:solidFill>
                <a:latin typeface="Chevin-Medium"/>
              </a:rPr>
              <a:t>onsiste en una serie de técnicas y procesos diseñados para mejorar la capacidad de un modelo para realizar predicciones precisas y confiables en datos nuevos. Esto implica no solo reducir los errores, sino también garantizar que el modelo sea estable y que su desempeño no se vea comprometido ante cambios o variaciones en los datos de entrada.</a:t>
            </a:r>
            <a:endParaRPr lang="es-ES" altLang="es-PE" sz="2400" dirty="0">
              <a:solidFill>
                <a:schemeClr val="tx1"/>
              </a:solidFill>
              <a:latin typeface="Chevin-Medium"/>
            </a:endParaRP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Introducción</a:t>
            </a:r>
            <a:endParaRPr lang="es-MX" altLang="es-PE" sz="2800" dirty="0">
              <a:latin typeface="Chevin-DemiBold" pitchFamily="34" charset="0"/>
            </a:endParaRPr>
          </a:p>
        </p:txBody>
      </p:sp>
    </p:spTree>
    <p:extLst>
      <p:ext uri="{BB962C8B-B14F-4D97-AF65-F5344CB8AC3E}">
        <p14:creationId xmlns:p14="http://schemas.microsoft.com/office/powerpoint/2010/main" val="24210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7F08-35F0-8C85-6845-3212FB69EB4F}"/>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33564DF8-0B80-D9DB-E169-E0F7E09D92A8}"/>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6FB65DE8-A242-A89C-50DA-B754AF77873C}"/>
              </a:ext>
            </a:extLst>
          </p:cNvPr>
          <p:cNvSpPr txBox="1"/>
          <p:nvPr/>
        </p:nvSpPr>
        <p:spPr>
          <a:xfrm>
            <a:off x="722798" y="1713153"/>
            <a:ext cx="10746404" cy="4524315"/>
          </a:xfrm>
          <a:prstGeom prst="rect">
            <a:avLst/>
          </a:prstGeom>
          <a:noFill/>
        </p:spPr>
        <p:txBody>
          <a:bodyPr wrap="square" rtlCol="0">
            <a:spAutoFit/>
          </a:bodyPr>
          <a:lstStyle/>
          <a:p>
            <a:r>
              <a:rPr lang="es-MX" sz="2400" dirty="0"/>
              <a:t>La optimización busca alcanzar un delicado equilibrio entre dos aspectos críticos: la </a:t>
            </a:r>
            <a:r>
              <a:rPr lang="es-MX" sz="2400" b="1" dirty="0"/>
              <a:t>complejidad del modelo</a:t>
            </a:r>
            <a:r>
              <a:rPr lang="es-MX" sz="2400" dirty="0"/>
              <a:t> y su </a:t>
            </a:r>
            <a:r>
              <a:rPr lang="es-MX" sz="2400" b="1" dirty="0"/>
              <a:t>capacidad de generalización</a:t>
            </a:r>
            <a:r>
              <a:rPr lang="es-MX" sz="2400" dirty="0"/>
              <a:t>. Si un modelo es demasiado complejo, puede memorizar patrones específicos de los datos de entrenamiento, generando problemas de sobreajuste. Por el contrario, si es demasiado simple, puede fallar en capturar las relaciones subyacentes en los datos, resultando en subajuste. </a:t>
            </a:r>
          </a:p>
          <a:p>
            <a:endParaRPr lang="es-MX" sz="2400" dirty="0"/>
          </a:p>
          <a:p>
            <a:r>
              <a:rPr lang="es-MX" sz="2400" dirty="0"/>
              <a:t>La optimización de modelos predictivos es el proceso mediante el cual se ajustan los parámetros, hiperparámetros y estructuras de un modelo para maximizar su desempeño en términos de precisión, estabilidad y generalización. Este enfoque no solo se centra en mejorar los resultados del modelo en datos de entrenamiento, sino también en garantizar su capacidad para funcionar bien con datos desconocidos.</a:t>
            </a:r>
            <a:endParaRPr lang="es-ES" altLang="es-PE" sz="2400" dirty="0">
              <a:solidFill>
                <a:schemeClr val="tx1"/>
              </a:solidFill>
              <a:latin typeface="Chevin-Medium"/>
            </a:endParaRPr>
          </a:p>
        </p:txBody>
      </p:sp>
      <p:sp>
        <p:nvSpPr>
          <p:cNvPr id="5" name="Rectangle 2050">
            <a:extLst>
              <a:ext uri="{FF2B5EF4-FFF2-40B4-BE49-F238E27FC236}">
                <a16:creationId xmlns:a16="http://schemas.microsoft.com/office/drawing/2014/main" id="{53625953-C9B7-457B-DF1D-497CB40BDBFA}"/>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Introducción</a:t>
            </a:r>
            <a:endParaRPr lang="es-MX" altLang="es-PE" sz="2800" dirty="0">
              <a:latin typeface="Chevin-DemiBold" pitchFamily="34" charset="0"/>
            </a:endParaRPr>
          </a:p>
        </p:txBody>
      </p:sp>
    </p:spTree>
    <p:extLst>
      <p:ext uri="{BB962C8B-B14F-4D97-AF65-F5344CB8AC3E}">
        <p14:creationId xmlns:p14="http://schemas.microsoft.com/office/powerpoint/2010/main" val="1795077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4893647"/>
          </a:xfrm>
          <a:prstGeom prst="rect">
            <a:avLst/>
          </a:prstGeom>
          <a:noFill/>
        </p:spPr>
        <p:txBody>
          <a:bodyPr wrap="square" rtlCol="0">
            <a:spAutoFit/>
          </a:bodyPr>
          <a:lstStyle/>
          <a:p>
            <a:r>
              <a:rPr lang="es-ES" altLang="es-PE" sz="2400" dirty="0">
                <a:solidFill>
                  <a:schemeClr val="tx1"/>
                </a:solidFill>
                <a:latin typeface="Chevin-Medium"/>
              </a:rPr>
              <a:t>La optimización de modelos predictivos es fundamental por </a:t>
            </a:r>
            <a:r>
              <a:rPr lang="es-ES" altLang="es-PE" sz="2400" dirty="0">
                <a:latin typeface="Chevin-Medium"/>
              </a:rPr>
              <a:t>las siguientes</a:t>
            </a:r>
            <a:r>
              <a:rPr lang="es-ES" altLang="es-PE" sz="2400" dirty="0">
                <a:solidFill>
                  <a:schemeClr val="tx1"/>
                </a:solidFill>
                <a:latin typeface="Chevin-Medium"/>
              </a:rPr>
              <a:t> razones:</a:t>
            </a:r>
          </a:p>
          <a:p>
            <a:endParaRPr lang="es-ES" altLang="es-PE" sz="2400" dirty="0">
              <a:solidFill>
                <a:schemeClr val="tx1"/>
              </a:solidFill>
              <a:latin typeface="Chevin-Medium"/>
            </a:endParaRPr>
          </a:p>
          <a:p>
            <a:pPr marL="457200" indent="-457200">
              <a:buFont typeface="+mj-lt"/>
              <a:buAutoNum type="arabicPeriod"/>
            </a:pPr>
            <a:r>
              <a:rPr lang="es-ES" altLang="es-PE" sz="2400" b="1" dirty="0">
                <a:solidFill>
                  <a:schemeClr val="tx1"/>
                </a:solidFill>
                <a:latin typeface="Chevin-Medium"/>
              </a:rPr>
              <a:t>Precisión mejorada: </a:t>
            </a:r>
            <a:r>
              <a:rPr lang="es-ES" altLang="es-PE" sz="2400" dirty="0">
                <a:solidFill>
                  <a:schemeClr val="tx1"/>
                </a:solidFill>
                <a:latin typeface="Chevin-Medium"/>
              </a:rPr>
              <a:t>Un modelo optimizado puede identificar patrones más sutiles en los datos, lo que resulta en predicciones más precisas sobre cuándo podría fallar un equipo. </a:t>
            </a:r>
            <a:r>
              <a:rPr lang="es-MX" altLang="es-PE" sz="2400" dirty="0">
                <a:solidFill>
                  <a:schemeClr val="tx1"/>
                </a:solidFill>
                <a:latin typeface="Chevin-Medium"/>
              </a:rPr>
              <a:t>Se busca reducir al máximo la diferencia entre las predicciones del modelo y los valores reales. Esto se mide a través de métricas como el error cuadrático medio (MSE) o la precisión.</a:t>
            </a:r>
          </a:p>
          <a:p>
            <a:pPr marL="457200" indent="-457200">
              <a:buFont typeface="+mj-lt"/>
              <a:buAutoNum type="arabicPeriod"/>
            </a:pPr>
            <a:endParaRPr lang="es-ES" altLang="es-PE" sz="2400" dirty="0">
              <a:solidFill>
                <a:schemeClr val="tx1"/>
              </a:solidFill>
              <a:latin typeface="Chevin-Medium"/>
            </a:endParaRPr>
          </a:p>
          <a:p>
            <a:pPr marL="457200" indent="-457200">
              <a:buFont typeface="+mj-lt"/>
              <a:buAutoNum type="arabicPeriod"/>
            </a:pPr>
            <a:r>
              <a:rPr lang="es-ES" altLang="es-PE" sz="2400" b="1" dirty="0">
                <a:solidFill>
                  <a:schemeClr val="tx1"/>
                </a:solidFill>
                <a:latin typeface="Chevin-Medium"/>
              </a:rPr>
              <a:t>Eficiencia operativa: </a:t>
            </a:r>
            <a:r>
              <a:rPr lang="es-MX" altLang="es-PE" sz="2400" dirty="0">
                <a:solidFill>
                  <a:schemeClr val="tx1"/>
                </a:solidFill>
                <a:latin typeface="Chevin-Medium"/>
              </a:rPr>
              <a:t>Los modelos pueden cometer errores debido a patrones subyacentes en los datos. La optimización ayuda a abordar estas limitaciones ajustando los algoritmos utilizados. </a:t>
            </a:r>
            <a:r>
              <a:rPr lang="es-ES" altLang="es-PE" sz="2400" dirty="0">
                <a:solidFill>
                  <a:schemeClr val="tx1"/>
                </a:solidFill>
                <a:latin typeface="Chevin-Medium"/>
              </a:rPr>
              <a:t>Al reducir las falsas alarmas y mejorar la precisión de las predicciones, se optimiza el uso de recursos de mantenimiento y se reducen los costos operativos.</a:t>
            </a:r>
            <a:r>
              <a:rPr lang="es-MX" altLang="es-PE" sz="2400" dirty="0">
                <a:solidFill>
                  <a:schemeClr val="tx1"/>
                </a:solidFill>
                <a:latin typeface="Chevin-Medium"/>
              </a:rPr>
              <a:t> </a:t>
            </a:r>
            <a:endParaRPr lang="es-ES" altLang="es-PE" sz="2400" dirty="0">
              <a:solidFill>
                <a:schemeClr val="tx1"/>
              </a:solidFill>
              <a:latin typeface="Chevin-Medium"/>
            </a:endParaRP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9837626"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¿Por qué es importante la optimización de modelos predictivos?</a:t>
            </a:r>
            <a:endParaRPr lang="es-MX" altLang="es-PE" sz="2800" dirty="0">
              <a:latin typeface="Chevin-DemiBold" pitchFamily="34" charset="0"/>
            </a:endParaRPr>
          </a:p>
        </p:txBody>
      </p:sp>
    </p:spTree>
    <p:extLst>
      <p:ext uri="{BB962C8B-B14F-4D97-AF65-F5344CB8AC3E}">
        <p14:creationId xmlns:p14="http://schemas.microsoft.com/office/powerpoint/2010/main" val="357793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95D08-6DC8-E46F-40E9-FD6E73E5DF0F}"/>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A99D432C-D255-E3A1-32C4-80A7E095C7DF}"/>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7E50849A-924B-7E28-700D-F36E54B807F3}"/>
              </a:ext>
            </a:extLst>
          </p:cNvPr>
          <p:cNvSpPr txBox="1"/>
          <p:nvPr/>
        </p:nvSpPr>
        <p:spPr>
          <a:xfrm>
            <a:off x="722798" y="1713153"/>
            <a:ext cx="10671343" cy="3046988"/>
          </a:xfrm>
          <a:prstGeom prst="rect">
            <a:avLst/>
          </a:prstGeom>
          <a:noFill/>
        </p:spPr>
        <p:txBody>
          <a:bodyPr wrap="square" rtlCol="0">
            <a:spAutoFit/>
          </a:bodyPr>
          <a:lstStyle/>
          <a:p>
            <a:r>
              <a:rPr lang="es-ES" altLang="es-PE" sz="2400" b="1" dirty="0">
                <a:solidFill>
                  <a:schemeClr val="tx1"/>
                </a:solidFill>
                <a:latin typeface="Chevin-Medium"/>
              </a:rPr>
              <a:t>3. Confiabilidad: </a:t>
            </a:r>
            <a:r>
              <a:rPr lang="es-ES" altLang="es-PE" sz="2400" dirty="0">
                <a:solidFill>
                  <a:schemeClr val="tx1"/>
                </a:solidFill>
                <a:latin typeface="Chevin-Medium"/>
              </a:rPr>
              <a:t>Los modelos optimizados tienden a ser más robustos y confiables en diferentes condiciones operativas.</a:t>
            </a:r>
          </a:p>
          <a:p>
            <a:endParaRPr lang="es-ES" altLang="es-PE" sz="2400" b="1" dirty="0">
              <a:latin typeface="Chevin-Medium"/>
            </a:endParaRPr>
          </a:p>
          <a:p>
            <a:r>
              <a:rPr lang="es-ES" altLang="es-PE" sz="2400" b="1" dirty="0">
                <a:solidFill>
                  <a:schemeClr val="tx1"/>
                </a:solidFill>
                <a:latin typeface="Chevin-Medium"/>
              </a:rPr>
              <a:t>4. Adaptabilidad: </a:t>
            </a:r>
            <a:r>
              <a:rPr lang="es-MX" sz="2400" dirty="0"/>
              <a:t>Un modelo demasiado complejo puede ser propenso al sobreajuste, mientras que uno demasiado simple puede no capturar información valiosa. La optimización encuentra un punto medio ideal. </a:t>
            </a:r>
            <a:r>
              <a:rPr lang="es-ES" altLang="es-PE" sz="2400" dirty="0">
                <a:solidFill>
                  <a:schemeClr val="tx1"/>
                </a:solidFill>
                <a:latin typeface="Chevin-Medium"/>
              </a:rPr>
              <a:t>Un modelo bien optimizado puede adaptarse mejor a cambios en los patrones de datos y mantener su rendimiento a lo largo del tiempo.</a:t>
            </a:r>
          </a:p>
        </p:txBody>
      </p:sp>
      <p:sp>
        <p:nvSpPr>
          <p:cNvPr id="5" name="Rectangle 2050">
            <a:extLst>
              <a:ext uri="{FF2B5EF4-FFF2-40B4-BE49-F238E27FC236}">
                <a16:creationId xmlns:a16="http://schemas.microsoft.com/office/drawing/2014/main" id="{D51E54F6-2BC9-F96D-68E8-8EFE47EE9AC9}"/>
              </a:ext>
            </a:extLst>
          </p:cNvPr>
          <p:cNvSpPr txBox="1">
            <a:spLocks noChangeArrowheads="1"/>
          </p:cNvSpPr>
          <p:nvPr/>
        </p:nvSpPr>
        <p:spPr>
          <a:xfrm>
            <a:off x="722798" y="907369"/>
            <a:ext cx="9837626"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¿Por qué es importante la optimización de modelos predictivos?</a:t>
            </a:r>
            <a:endParaRPr lang="es-MX" altLang="es-PE" sz="2800" dirty="0">
              <a:latin typeface="Chevin-DemiBold" pitchFamily="34" charset="0"/>
            </a:endParaRPr>
          </a:p>
        </p:txBody>
      </p:sp>
    </p:spTree>
    <p:extLst>
      <p:ext uri="{BB962C8B-B14F-4D97-AF65-F5344CB8AC3E}">
        <p14:creationId xmlns:p14="http://schemas.microsoft.com/office/powerpoint/2010/main" val="2299583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AB81B-229E-F200-D53D-8966063313DF}"/>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F3A248CF-D35C-16A4-9855-80326E831BE5}"/>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444AA57B-C6C2-7E54-2BCD-52C011BDF326}"/>
              </a:ext>
            </a:extLst>
          </p:cNvPr>
          <p:cNvSpPr txBox="1"/>
          <p:nvPr/>
        </p:nvSpPr>
        <p:spPr>
          <a:xfrm>
            <a:off x="722798" y="1713153"/>
            <a:ext cx="10671343" cy="4154984"/>
          </a:xfrm>
          <a:prstGeom prst="rect">
            <a:avLst/>
          </a:prstGeom>
          <a:noFill/>
        </p:spPr>
        <p:txBody>
          <a:bodyPr wrap="square" rtlCol="0">
            <a:spAutoFit/>
          </a:bodyPr>
          <a:lstStyle/>
          <a:p>
            <a:r>
              <a:rPr lang="es-MX" altLang="es-PE" sz="2400" dirty="0">
                <a:solidFill>
                  <a:schemeClr val="tx1"/>
                </a:solidFill>
                <a:latin typeface="Chevin-Medium"/>
              </a:rPr>
              <a:t>La optimización de modelos predictivos enfrenta numerosos desafíos, cada uno de los cuales puede comprometer el desempeño del modelo si no se aborda adecuadamente. Los más destacados son el sobreajuste, el subajuste y la selección de hiperparámetros y características relevantes</a:t>
            </a:r>
          </a:p>
          <a:p>
            <a:endParaRPr lang="es-ES" altLang="es-PE" sz="2400" dirty="0">
              <a:solidFill>
                <a:schemeClr val="tx1"/>
              </a:solidFill>
              <a:latin typeface="Chevin-Medium"/>
            </a:endParaRPr>
          </a:p>
          <a:p>
            <a:pPr marL="457200" indent="-457200">
              <a:buFont typeface="+mj-lt"/>
              <a:buAutoNum type="arabicPeriod"/>
            </a:pPr>
            <a:r>
              <a:rPr lang="es-ES" altLang="es-PE" sz="2400" b="1" dirty="0">
                <a:solidFill>
                  <a:schemeClr val="tx1"/>
                </a:solidFill>
                <a:latin typeface="Chevin-Medium"/>
              </a:rPr>
              <a:t>Sobreajuste (Overfitting)</a:t>
            </a:r>
            <a:endParaRPr lang="es-ES" altLang="es-PE" sz="2400" b="1" dirty="0">
              <a:latin typeface="Chevin-Medium"/>
            </a:endParaRPr>
          </a:p>
          <a:p>
            <a:endParaRPr lang="es-ES" altLang="es-PE" sz="2400" b="1" dirty="0">
              <a:solidFill>
                <a:schemeClr val="tx1"/>
              </a:solidFill>
              <a:latin typeface="Chevin-Medium"/>
            </a:endParaRPr>
          </a:p>
          <a:p>
            <a:r>
              <a:rPr lang="es-MX" altLang="es-PE" sz="2400" dirty="0">
                <a:solidFill>
                  <a:schemeClr val="tx1"/>
                </a:solidFill>
                <a:latin typeface="Chevin-Medium"/>
              </a:rPr>
              <a:t>El sobreajuste ocurre cuando un modelo aprende no solo los patrones generales en los datos, sino también el ruido o las peculiaridades específicas de los datos de entrenamiento. Esto lleva a un desempeño excelente en el conjunto de entrenamiento pero a un fracaso notable al trabajar con datos de prueba.</a:t>
            </a:r>
            <a:endParaRPr lang="es-ES" altLang="es-PE" sz="2400" dirty="0">
              <a:solidFill>
                <a:schemeClr val="tx1"/>
              </a:solidFill>
              <a:latin typeface="Chevin-Medium"/>
            </a:endParaRPr>
          </a:p>
        </p:txBody>
      </p:sp>
      <p:sp>
        <p:nvSpPr>
          <p:cNvPr id="5" name="Rectangle 2050">
            <a:extLst>
              <a:ext uri="{FF2B5EF4-FFF2-40B4-BE49-F238E27FC236}">
                <a16:creationId xmlns:a16="http://schemas.microsoft.com/office/drawing/2014/main" id="{BBC03069-3D0F-3C34-396E-9F2625D97A3D}"/>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Desafíos comunes en la optimización</a:t>
            </a:r>
          </a:p>
        </p:txBody>
      </p:sp>
    </p:spTree>
    <p:extLst>
      <p:ext uri="{BB962C8B-B14F-4D97-AF65-F5344CB8AC3E}">
        <p14:creationId xmlns:p14="http://schemas.microsoft.com/office/powerpoint/2010/main" val="183169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DE6D-1AF2-722A-0D9C-468C32F28046}"/>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00EFE699-2B77-6803-4F47-D5FD126A2566}"/>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8609BDE0-CA05-6FE3-8F52-4664E2CD4361}"/>
              </a:ext>
            </a:extLst>
          </p:cNvPr>
          <p:cNvSpPr txBox="1"/>
          <p:nvPr/>
        </p:nvSpPr>
        <p:spPr>
          <a:xfrm>
            <a:off x="722798" y="1713153"/>
            <a:ext cx="10671343" cy="4832092"/>
          </a:xfrm>
          <a:prstGeom prst="rect">
            <a:avLst/>
          </a:prstGeom>
          <a:noFill/>
        </p:spPr>
        <p:txBody>
          <a:bodyPr wrap="square" rtlCol="0">
            <a:spAutoFit/>
          </a:bodyPr>
          <a:lstStyle/>
          <a:p>
            <a:pPr marL="457200" indent="-457200">
              <a:buFont typeface="+mj-lt"/>
              <a:buAutoNum type="arabicPeriod"/>
            </a:pPr>
            <a:r>
              <a:rPr lang="es-ES" altLang="es-PE" sz="2200" b="1" dirty="0">
                <a:solidFill>
                  <a:schemeClr val="tx1"/>
                </a:solidFill>
                <a:latin typeface="Chevin-Medium"/>
              </a:rPr>
              <a:t>Sobreajuste (Overfitting)</a:t>
            </a:r>
            <a:endParaRPr lang="es-ES" altLang="es-PE" sz="2200" b="1" dirty="0">
              <a:latin typeface="Chevin-Medium"/>
            </a:endParaRPr>
          </a:p>
          <a:p>
            <a:endParaRPr lang="es-ES" altLang="es-PE" sz="2200" b="1" dirty="0">
              <a:solidFill>
                <a:schemeClr val="tx1"/>
              </a:solidFill>
              <a:latin typeface="Chevin-Medium"/>
            </a:endParaRPr>
          </a:p>
          <a:p>
            <a:r>
              <a:rPr lang="es-MX" altLang="es-PE" sz="2200" b="1" dirty="0">
                <a:solidFill>
                  <a:schemeClr val="tx1"/>
                </a:solidFill>
                <a:latin typeface="Chevin-Medium"/>
              </a:rPr>
              <a:t>Ejemplo: </a:t>
            </a:r>
            <a:r>
              <a:rPr lang="es-MX" altLang="es-PE" sz="2200" dirty="0">
                <a:solidFill>
                  <a:schemeClr val="tx1"/>
                </a:solidFill>
                <a:latin typeface="Chevin-Medium"/>
              </a:rPr>
              <a:t>Un modelo de regresión polinómica de grado muy alto que ajusta perfectamente los datos de entrenamiento pero genera predicciones poco realistas en datos nuevos.</a:t>
            </a:r>
          </a:p>
          <a:p>
            <a:endParaRPr lang="es-MX" altLang="es-PE" sz="2200" dirty="0">
              <a:solidFill>
                <a:schemeClr val="tx1"/>
              </a:solidFill>
              <a:latin typeface="Chevin-Medium"/>
            </a:endParaRPr>
          </a:p>
          <a:p>
            <a:r>
              <a:rPr lang="es-MX" altLang="es-PE" sz="2200" b="1" dirty="0">
                <a:solidFill>
                  <a:schemeClr val="tx1"/>
                </a:solidFill>
                <a:latin typeface="Chevin-Medium"/>
              </a:rPr>
              <a:t>Consecuencias:</a:t>
            </a:r>
          </a:p>
          <a:p>
            <a:pPr marL="342900" indent="-342900">
              <a:buFont typeface="Arial" panose="020B0604020202020204" pitchFamily="34" charset="0"/>
              <a:buChar char="•"/>
            </a:pPr>
            <a:r>
              <a:rPr lang="es-MX" altLang="es-PE" sz="2200" dirty="0">
                <a:solidFill>
                  <a:schemeClr val="tx1"/>
                </a:solidFill>
                <a:latin typeface="Chevin-Medium"/>
              </a:rPr>
              <a:t>Pobre capacidad de generalización.</a:t>
            </a:r>
          </a:p>
          <a:p>
            <a:pPr marL="342900" indent="-342900">
              <a:buFont typeface="Arial" panose="020B0604020202020204" pitchFamily="34" charset="0"/>
              <a:buChar char="•"/>
            </a:pPr>
            <a:r>
              <a:rPr lang="es-MX" altLang="es-PE" sz="2200" dirty="0">
                <a:solidFill>
                  <a:schemeClr val="tx1"/>
                </a:solidFill>
                <a:latin typeface="Chevin-Medium"/>
              </a:rPr>
              <a:t>Resultados engañosamente buenos en el entrenamiento.</a:t>
            </a:r>
          </a:p>
          <a:p>
            <a:endParaRPr lang="es-MX" altLang="es-PE" sz="2200" dirty="0">
              <a:solidFill>
                <a:schemeClr val="tx1"/>
              </a:solidFill>
              <a:latin typeface="Chevin-Medium"/>
            </a:endParaRPr>
          </a:p>
          <a:p>
            <a:r>
              <a:rPr lang="es-MX" altLang="es-PE" sz="2200" b="1" dirty="0">
                <a:solidFill>
                  <a:schemeClr val="tx1"/>
                </a:solidFill>
                <a:latin typeface="Chevin-Medium"/>
              </a:rPr>
              <a:t>Soluciones:</a:t>
            </a:r>
          </a:p>
          <a:p>
            <a:r>
              <a:rPr lang="es-MX" altLang="es-PE" sz="2200" b="1" dirty="0">
                <a:solidFill>
                  <a:schemeClr val="tx1"/>
                </a:solidFill>
                <a:latin typeface="Chevin-Medium"/>
              </a:rPr>
              <a:t>Simplificación del modelo: </a:t>
            </a:r>
            <a:r>
              <a:rPr lang="es-MX" altLang="es-PE" sz="2200" dirty="0">
                <a:solidFill>
                  <a:schemeClr val="tx1"/>
                </a:solidFill>
                <a:latin typeface="Chevin-Medium"/>
              </a:rPr>
              <a:t>Reducir el número de parámetros o nodos en modelos como redes neuronales o árboles de decisión.</a:t>
            </a:r>
          </a:p>
          <a:p>
            <a:r>
              <a:rPr lang="es-MX" altLang="es-PE" sz="2200" b="1" dirty="0">
                <a:solidFill>
                  <a:schemeClr val="tx1"/>
                </a:solidFill>
                <a:latin typeface="Chevin-Medium"/>
              </a:rPr>
              <a:t>Validación cruzada: </a:t>
            </a:r>
            <a:r>
              <a:rPr lang="es-MX" altLang="es-PE" sz="2200" dirty="0">
                <a:solidFill>
                  <a:schemeClr val="tx1"/>
                </a:solidFill>
                <a:latin typeface="Chevin-Medium"/>
              </a:rPr>
              <a:t>Dividir los datos en múltiples subconjuntos para evaluar el desempeño promedio.</a:t>
            </a:r>
            <a:endParaRPr lang="es-ES" altLang="es-PE" sz="2200" dirty="0">
              <a:solidFill>
                <a:schemeClr val="tx1"/>
              </a:solidFill>
              <a:latin typeface="Chevin-Medium"/>
            </a:endParaRPr>
          </a:p>
        </p:txBody>
      </p:sp>
      <p:sp>
        <p:nvSpPr>
          <p:cNvPr id="5" name="Rectangle 2050">
            <a:extLst>
              <a:ext uri="{FF2B5EF4-FFF2-40B4-BE49-F238E27FC236}">
                <a16:creationId xmlns:a16="http://schemas.microsoft.com/office/drawing/2014/main" id="{71DD967A-82D3-1342-1F6F-6A63E35AF62A}"/>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Desafíos comunes en la optimización</a:t>
            </a:r>
          </a:p>
        </p:txBody>
      </p:sp>
    </p:spTree>
    <p:extLst>
      <p:ext uri="{BB962C8B-B14F-4D97-AF65-F5344CB8AC3E}">
        <p14:creationId xmlns:p14="http://schemas.microsoft.com/office/powerpoint/2010/main" val="1029537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7335-AD96-D5F5-2E48-CEF851D7486A}"/>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0EDD73CA-21B5-AC42-67EB-453DC9E235C3}"/>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B961F11-1726-2E23-F280-E79BF4309FB6}"/>
              </a:ext>
            </a:extLst>
          </p:cNvPr>
          <p:cNvSpPr txBox="1"/>
          <p:nvPr/>
        </p:nvSpPr>
        <p:spPr>
          <a:xfrm>
            <a:off x="722798" y="1713153"/>
            <a:ext cx="10671343" cy="4493538"/>
          </a:xfrm>
          <a:prstGeom prst="rect">
            <a:avLst/>
          </a:prstGeom>
          <a:noFill/>
        </p:spPr>
        <p:txBody>
          <a:bodyPr wrap="square" rtlCol="0">
            <a:spAutoFit/>
          </a:bodyPr>
          <a:lstStyle/>
          <a:p>
            <a:r>
              <a:rPr lang="es-ES" altLang="es-PE" sz="2200" b="1" dirty="0">
                <a:solidFill>
                  <a:schemeClr val="tx1"/>
                </a:solidFill>
                <a:latin typeface="Chevin-Medium"/>
              </a:rPr>
              <a:t>2. Subajuste (</a:t>
            </a:r>
            <a:r>
              <a:rPr lang="es-ES" altLang="es-PE" sz="2200" b="1" dirty="0" err="1">
                <a:solidFill>
                  <a:schemeClr val="tx1"/>
                </a:solidFill>
                <a:latin typeface="Chevin-Medium"/>
              </a:rPr>
              <a:t>Underfitting</a:t>
            </a:r>
            <a:r>
              <a:rPr lang="es-ES" altLang="es-PE" sz="2200" b="1" dirty="0">
                <a:solidFill>
                  <a:schemeClr val="tx1"/>
                </a:solidFill>
                <a:latin typeface="Chevin-Medium"/>
              </a:rPr>
              <a:t>)</a:t>
            </a:r>
            <a:endParaRPr lang="es-ES" altLang="es-PE" sz="2200" b="1" dirty="0">
              <a:latin typeface="Chevin-Medium"/>
            </a:endParaRPr>
          </a:p>
          <a:p>
            <a:endParaRPr lang="es-ES" altLang="es-PE" sz="2200" b="1" dirty="0">
              <a:solidFill>
                <a:schemeClr val="tx1"/>
              </a:solidFill>
              <a:latin typeface="Chevin-Medium"/>
            </a:endParaRPr>
          </a:p>
          <a:p>
            <a:r>
              <a:rPr lang="es-MX" altLang="es-PE" sz="2200" dirty="0">
                <a:solidFill>
                  <a:schemeClr val="tx1"/>
                </a:solidFill>
                <a:latin typeface="Chevin-Medium"/>
              </a:rPr>
              <a:t>El subajuste se presenta cuando el modelo no es lo suficientemente complejo para capturar los patrones importantes en los datos. Esto puede ocurrir debido a la elección de algoritmos inapropiados o por un ajuste insuficiente de parámetros.</a:t>
            </a:r>
          </a:p>
          <a:p>
            <a:endParaRPr lang="es-MX" altLang="es-PE" sz="2200" dirty="0">
              <a:solidFill>
                <a:schemeClr val="tx1"/>
              </a:solidFill>
              <a:latin typeface="Chevin-Medium"/>
            </a:endParaRPr>
          </a:p>
          <a:p>
            <a:r>
              <a:rPr lang="es-MX" altLang="es-PE" sz="2200" b="1" dirty="0">
                <a:solidFill>
                  <a:schemeClr val="tx1"/>
                </a:solidFill>
                <a:latin typeface="Chevin-Medium"/>
              </a:rPr>
              <a:t>Ejemplo:</a:t>
            </a:r>
          </a:p>
          <a:p>
            <a:r>
              <a:rPr lang="es-MX" altLang="es-PE" sz="2200" dirty="0">
                <a:solidFill>
                  <a:schemeClr val="tx1"/>
                </a:solidFill>
                <a:latin typeface="Chevin-Medium"/>
              </a:rPr>
              <a:t>Una línea recta que intenta ajustarse a un conjunto de datos con una relación claramente no lineal.</a:t>
            </a:r>
          </a:p>
          <a:p>
            <a:endParaRPr lang="es-MX" altLang="es-PE" sz="2200" dirty="0">
              <a:latin typeface="Chevin-Medium"/>
            </a:endParaRPr>
          </a:p>
          <a:p>
            <a:r>
              <a:rPr lang="es-MX" altLang="es-PE" sz="2200" b="1" dirty="0">
                <a:solidFill>
                  <a:schemeClr val="tx1"/>
                </a:solidFill>
                <a:latin typeface="Chevin-Medium"/>
              </a:rPr>
              <a:t>Consecuencias:</a:t>
            </a:r>
          </a:p>
          <a:p>
            <a:r>
              <a:rPr lang="es-MX" altLang="es-PE" sz="2200" dirty="0">
                <a:solidFill>
                  <a:schemeClr val="tx1"/>
                </a:solidFill>
                <a:latin typeface="Chevin-Medium"/>
              </a:rPr>
              <a:t>Resultados consistentemente pobres en datos de entrenamiento y prueba.</a:t>
            </a:r>
          </a:p>
          <a:p>
            <a:r>
              <a:rPr lang="es-MX" altLang="es-PE" sz="2200" dirty="0">
                <a:solidFill>
                  <a:schemeClr val="tx1"/>
                </a:solidFill>
                <a:latin typeface="Chevin-Medium"/>
              </a:rPr>
              <a:t>Incapacidad para identificar tendencias importantes.</a:t>
            </a:r>
          </a:p>
        </p:txBody>
      </p:sp>
      <p:sp>
        <p:nvSpPr>
          <p:cNvPr id="5" name="Rectangle 2050">
            <a:extLst>
              <a:ext uri="{FF2B5EF4-FFF2-40B4-BE49-F238E27FC236}">
                <a16:creationId xmlns:a16="http://schemas.microsoft.com/office/drawing/2014/main" id="{84369E79-2F15-5931-1B2C-56AF7F5858D0}"/>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Desafíos comunes en la optimización</a:t>
            </a:r>
          </a:p>
        </p:txBody>
      </p:sp>
    </p:spTree>
    <p:extLst>
      <p:ext uri="{BB962C8B-B14F-4D97-AF65-F5344CB8AC3E}">
        <p14:creationId xmlns:p14="http://schemas.microsoft.com/office/powerpoint/2010/main" val="3689951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C50F3-A253-78A7-F0E4-EE6CBD74E2A6}"/>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12751DCC-BBB2-C992-D314-B49D9D7C4379}"/>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B8340D4B-41DD-BEC1-169E-9132FB52523A}"/>
              </a:ext>
            </a:extLst>
          </p:cNvPr>
          <p:cNvSpPr txBox="1"/>
          <p:nvPr/>
        </p:nvSpPr>
        <p:spPr>
          <a:xfrm>
            <a:off x="722798" y="1713153"/>
            <a:ext cx="10671343" cy="2123658"/>
          </a:xfrm>
          <a:prstGeom prst="rect">
            <a:avLst/>
          </a:prstGeom>
          <a:noFill/>
        </p:spPr>
        <p:txBody>
          <a:bodyPr wrap="square" rtlCol="0">
            <a:spAutoFit/>
          </a:bodyPr>
          <a:lstStyle/>
          <a:p>
            <a:r>
              <a:rPr lang="es-ES" altLang="es-PE" sz="2200" b="1" dirty="0">
                <a:solidFill>
                  <a:schemeClr val="tx1"/>
                </a:solidFill>
                <a:latin typeface="Chevin-Medium"/>
              </a:rPr>
              <a:t>2. Subajuste (</a:t>
            </a:r>
            <a:r>
              <a:rPr lang="es-ES" altLang="es-PE" sz="2200" b="1" dirty="0" err="1">
                <a:solidFill>
                  <a:schemeClr val="tx1"/>
                </a:solidFill>
                <a:latin typeface="Chevin-Medium"/>
              </a:rPr>
              <a:t>Underfitting</a:t>
            </a:r>
            <a:r>
              <a:rPr lang="es-ES" altLang="es-PE" sz="2200" b="1" dirty="0">
                <a:solidFill>
                  <a:schemeClr val="tx1"/>
                </a:solidFill>
                <a:latin typeface="Chevin-Medium"/>
              </a:rPr>
              <a:t>)</a:t>
            </a:r>
            <a:endParaRPr lang="es-ES" altLang="es-PE" sz="2200" b="1" dirty="0">
              <a:latin typeface="Chevin-Medium"/>
            </a:endParaRPr>
          </a:p>
          <a:p>
            <a:endParaRPr lang="es-MX" altLang="es-PE" sz="2200" dirty="0">
              <a:latin typeface="Chevin-Medium"/>
            </a:endParaRPr>
          </a:p>
          <a:p>
            <a:r>
              <a:rPr lang="es-MX" altLang="es-PE" sz="2200" b="1" dirty="0">
                <a:solidFill>
                  <a:schemeClr val="tx1"/>
                </a:solidFill>
                <a:latin typeface="Chevin-Medium"/>
              </a:rPr>
              <a:t>Soluciones:</a:t>
            </a:r>
          </a:p>
          <a:p>
            <a:r>
              <a:rPr lang="es-MX" altLang="es-PE" sz="2200" dirty="0">
                <a:solidFill>
                  <a:schemeClr val="tx1"/>
                </a:solidFill>
                <a:latin typeface="Chevin-Medium"/>
              </a:rPr>
              <a:t>Incrementar la complejidad del modelo mediante técnicas como el uso de redes neuronales más profundas o árboles de decisión con mayor profundidad.</a:t>
            </a:r>
          </a:p>
          <a:p>
            <a:r>
              <a:rPr lang="es-MX" altLang="es-PE" sz="2200" dirty="0">
                <a:solidFill>
                  <a:schemeClr val="tx1"/>
                </a:solidFill>
                <a:latin typeface="Chevin-Medium"/>
              </a:rPr>
              <a:t>Incorporar más características relevantes o transformar las existentes.</a:t>
            </a:r>
          </a:p>
        </p:txBody>
      </p:sp>
      <p:sp>
        <p:nvSpPr>
          <p:cNvPr id="5" name="Rectangle 2050">
            <a:extLst>
              <a:ext uri="{FF2B5EF4-FFF2-40B4-BE49-F238E27FC236}">
                <a16:creationId xmlns:a16="http://schemas.microsoft.com/office/drawing/2014/main" id="{F1AF8137-69EF-F84B-84E0-90B90C2CB47B}"/>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Desafíos comunes en la optimización</a:t>
            </a:r>
          </a:p>
        </p:txBody>
      </p:sp>
    </p:spTree>
    <p:extLst>
      <p:ext uri="{BB962C8B-B14F-4D97-AF65-F5344CB8AC3E}">
        <p14:creationId xmlns:p14="http://schemas.microsoft.com/office/powerpoint/2010/main" val="4100726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416320"/>
          </a:xfrm>
          <a:prstGeom prst="rect">
            <a:avLst/>
          </a:prstGeom>
          <a:noFill/>
        </p:spPr>
        <p:txBody>
          <a:bodyPr wrap="square" rtlCol="0">
            <a:spAutoFit/>
          </a:bodyPr>
          <a:lstStyle/>
          <a:p>
            <a:r>
              <a:rPr lang="es-ES" altLang="es-PE" sz="2400" b="1" dirty="0">
                <a:solidFill>
                  <a:schemeClr val="tx1"/>
                </a:solidFill>
                <a:latin typeface="Chevin-Medium"/>
              </a:rPr>
              <a:t>3.</a:t>
            </a:r>
            <a:r>
              <a:rPr lang="es-MX" altLang="es-PE" sz="2400" b="1" dirty="0">
                <a:solidFill>
                  <a:schemeClr val="tx1"/>
                </a:solidFill>
                <a:latin typeface="Chevin-Medium"/>
              </a:rPr>
              <a:t> Selección de hiperparámetros y características relevantes</a:t>
            </a:r>
          </a:p>
          <a:p>
            <a:endParaRPr lang="es-MX" altLang="es-PE" sz="2400" dirty="0">
              <a:solidFill>
                <a:schemeClr val="tx1"/>
              </a:solidFill>
              <a:latin typeface="Chevin-Medium"/>
            </a:endParaRPr>
          </a:p>
          <a:p>
            <a:r>
              <a:rPr lang="es-MX" altLang="es-PE" sz="2400" dirty="0">
                <a:solidFill>
                  <a:schemeClr val="tx1"/>
                </a:solidFill>
                <a:latin typeface="Chevin-Medium"/>
              </a:rPr>
              <a:t>Elegir correctamente los hiperparámetros y las características a incluir en el modelo es una parte crucial de la optimización. Los hiperparámetros, como la tasa de aprendizaje, el número de capas en una red neuronal o la profundidad de un árbol, influyen significativamente en el rendimiento del modelo.</a:t>
            </a:r>
          </a:p>
          <a:p>
            <a:endParaRPr lang="es-ES" altLang="es-PE" sz="2400" b="1" dirty="0">
              <a:solidFill>
                <a:schemeClr val="tx1"/>
              </a:solidFill>
              <a:latin typeface="Chevin-Medium"/>
            </a:endParaRPr>
          </a:p>
          <a:p>
            <a:r>
              <a:rPr lang="es-ES" altLang="es-PE" sz="2400" b="1" dirty="0">
                <a:solidFill>
                  <a:schemeClr val="tx1"/>
                </a:solidFill>
                <a:latin typeface="Chevin-Medium"/>
              </a:rPr>
              <a:t>4. Validación del modelo: </a:t>
            </a:r>
            <a:r>
              <a:rPr lang="es-ES" altLang="es-PE" sz="2400" dirty="0">
                <a:solidFill>
                  <a:schemeClr val="tx1"/>
                </a:solidFill>
                <a:latin typeface="Chevin-Medium"/>
              </a:rPr>
              <a:t>Evaluar y ajustar el rendimiento del modelo de manera sistemática.</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Fundamentos de la Optimización de Modelos</a:t>
            </a:r>
            <a:endParaRPr lang="es-MX" altLang="es-PE" sz="2800" dirty="0">
              <a:latin typeface="Chevin-DemiBold" pitchFamily="34" charset="0"/>
            </a:endParaRPr>
          </a:p>
        </p:txBody>
      </p:sp>
    </p:spTree>
    <p:extLst>
      <p:ext uri="{BB962C8B-B14F-4D97-AF65-F5344CB8AC3E}">
        <p14:creationId xmlns:p14="http://schemas.microsoft.com/office/powerpoint/2010/main" val="136893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785652"/>
          </a:xfrm>
          <a:prstGeom prst="rect">
            <a:avLst/>
          </a:prstGeom>
          <a:noFill/>
        </p:spPr>
        <p:txBody>
          <a:bodyPr wrap="square" rtlCol="0">
            <a:spAutoFit/>
          </a:bodyPr>
          <a:lstStyle/>
          <a:p>
            <a:r>
              <a:rPr lang="es-MX" altLang="es-PE" sz="2400" dirty="0">
                <a:solidFill>
                  <a:schemeClr val="tx1"/>
                </a:solidFill>
                <a:latin typeface="Chevin-Medium"/>
              </a:rPr>
              <a:t>Los hiperparámetros son configuraciones externas al modelo, predefinidas antes del entrenamiento, que afectan directamente su desempeño y forma de aprender. A diferencia de los parámetros internos, que el modelo ajusta automáticamente durante el entrenamiento, los hiperparámetros requieren una cuidadosa selección manual o automatizada para encontrar el equilibrio óptimo entre rendimiento y complejidad.</a:t>
            </a:r>
          </a:p>
          <a:p>
            <a:endParaRPr lang="es-MX" altLang="es-PE" sz="2400" dirty="0">
              <a:latin typeface="Chevin-Medium"/>
            </a:endParaRPr>
          </a:p>
          <a:p>
            <a:r>
              <a:rPr lang="es-MX" altLang="es-PE" sz="2400" b="1" dirty="0">
                <a:solidFill>
                  <a:schemeClr val="tx1"/>
                </a:solidFill>
                <a:latin typeface="Chevin-Medium"/>
              </a:rPr>
              <a:t>¿Qué son los hiperparámetros?</a:t>
            </a:r>
          </a:p>
          <a:p>
            <a:r>
              <a:rPr lang="es-MX" altLang="es-PE" sz="2400" dirty="0">
                <a:solidFill>
                  <a:schemeClr val="tx1"/>
                </a:solidFill>
                <a:latin typeface="Chevin-Medium"/>
              </a:rPr>
              <a:t>Los hiperparámetros determinan la arquitectura y el comportamiento del modelo durante el entrenamiento. </a:t>
            </a:r>
            <a:endParaRPr lang="es-ES" altLang="es-PE" sz="2400" dirty="0">
              <a:solidFill>
                <a:schemeClr val="tx1"/>
              </a:solidFill>
              <a:latin typeface="Chevin-Medium"/>
            </a:endParaRP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Optimización de Hiperparámetros</a:t>
            </a:r>
            <a:endParaRPr lang="es-MX" altLang="es-PE" sz="2800" dirty="0">
              <a:latin typeface="Chevin-DemiBold" pitchFamily="34" charset="0"/>
            </a:endParaRPr>
          </a:p>
        </p:txBody>
      </p:sp>
    </p:spTree>
    <p:extLst>
      <p:ext uri="{BB962C8B-B14F-4D97-AF65-F5344CB8AC3E}">
        <p14:creationId xmlns:p14="http://schemas.microsoft.com/office/powerpoint/2010/main" val="1872009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EA808-723D-1AC7-4620-563DD9A8494F}"/>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E3477C75-5D3C-DC8D-F852-D7C21352FBF9}"/>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5A56CA9B-101C-C50A-6E1F-E2B920985704}"/>
              </a:ext>
            </a:extLst>
          </p:cNvPr>
          <p:cNvSpPr txBox="1"/>
          <p:nvPr/>
        </p:nvSpPr>
        <p:spPr>
          <a:xfrm>
            <a:off x="722798" y="1713153"/>
            <a:ext cx="10671343" cy="4154984"/>
          </a:xfrm>
          <a:prstGeom prst="rect">
            <a:avLst/>
          </a:prstGeom>
          <a:noFill/>
        </p:spPr>
        <p:txBody>
          <a:bodyPr wrap="square" rtlCol="0">
            <a:spAutoFit/>
          </a:bodyPr>
          <a:lstStyle/>
          <a:p>
            <a:r>
              <a:rPr lang="es-MX" altLang="es-PE" sz="2400" b="1" dirty="0">
                <a:solidFill>
                  <a:schemeClr val="tx1"/>
                </a:solidFill>
                <a:latin typeface="Chevin-Medium"/>
              </a:rPr>
              <a:t>Profundidad de un árbol: </a:t>
            </a:r>
            <a:r>
              <a:rPr lang="es-MX" altLang="es-PE" sz="2400" dirty="0">
                <a:solidFill>
                  <a:schemeClr val="tx1"/>
                </a:solidFill>
                <a:latin typeface="Chevin-Medium"/>
              </a:rPr>
              <a:t>En modelos como Random Forest, esta configuración controla cuán detalladamente el modelo divide los datos en nodos. Una mayor profundidad puede capturar patrones complejos, pero también aumenta el riesgo de sobreajuste.</a:t>
            </a:r>
          </a:p>
          <a:p>
            <a:r>
              <a:rPr lang="es-MX" altLang="es-PE" sz="2400" b="1" dirty="0">
                <a:solidFill>
                  <a:schemeClr val="tx1"/>
                </a:solidFill>
                <a:latin typeface="Chevin-Medium"/>
              </a:rPr>
              <a:t>Tasa de aprendizaje: </a:t>
            </a:r>
            <a:r>
              <a:rPr lang="es-MX" altLang="es-PE" sz="2400" dirty="0">
                <a:solidFill>
                  <a:schemeClr val="tx1"/>
                </a:solidFill>
                <a:latin typeface="Chevin-Medium"/>
              </a:rPr>
              <a:t>En redes neuronales, este parámetro regula la velocidad con la que el modelo actualiza sus pesos. Tasas demasiado altas pueden causar oscilaciones en el aprendizaje, mientras que tasas bajas pueden ralentizar el proceso.</a:t>
            </a:r>
          </a:p>
          <a:p>
            <a:r>
              <a:rPr lang="es-MX" altLang="es-PE" sz="2400" b="1" dirty="0">
                <a:solidFill>
                  <a:schemeClr val="tx1"/>
                </a:solidFill>
                <a:latin typeface="Chevin-Medium"/>
              </a:rPr>
              <a:t>Número de vecinos en KNN</a:t>
            </a:r>
            <a:r>
              <a:rPr lang="es-MX" altLang="es-PE" sz="2400" dirty="0">
                <a:solidFill>
                  <a:schemeClr val="tx1"/>
                </a:solidFill>
                <a:latin typeface="Chevin-Medium"/>
              </a:rPr>
              <a:t>: Este parámetro define cuántos puntos cercanos se consideran para tomar decisiones. Un número muy bajo puede llevar a decisiones erráticas, mientras que uno muy alto puede diluir el efecto de los puntos relevantes.</a:t>
            </a:r>
            <a:endParaRPr lang="es-ES" altLang="es-PE" sz="2400" dirty="0">
              <a:solidFill>
                <a:schemeClr val="tx1"/>
              </a:solidFill>
              <a:latin typeface="Chevin-Medium"/>
            </a:endParaRPr>
          </a:p>
        </p:txBody>
      </p:sp>
      <p:sp>
        <p:nvSpPr>
          <p:cNvPr id="5" name="Rectangle 2050">
            <a:extLst>
              <a:ext uri="{FF2B5EF4-FFF2-40B4-BE49-F238E27FC236}">
                <a16:creationId xmlns:a16="http://schemas.microsoft.com/office/drawing/2014/main" id="{847E969D-3598-6336-E717-3F90760ADA8B}"/>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Optimización de Hiperparámetros</a:t>
            </a:r>
            <a:endParaRPr lang="es-MX" altLang="es-PE" sz="2800" dirty="0">
              <a:latin typeface="Chevin-DemiBold" pitchFamily="34" charset="0"/>
            </a:endParaRPr>
          </a:p>
        </p:txBody>
      </p:sp>
    </p:spTree>
    <p:extLst>
      <p:ext uri="{BB962C8B-B14F-4D97-AF65-F5344CB8AC3E}">
        <p14:creationId xmlns:p14="http://schemas.microsoft.com/office/powerpoint/2010/main" val="1788594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4524315"/>
          </a:xfrm>
          <a:prstGeom prst="rect">
            <a:avLst/>
          </a:prstGeom>
          <a:noFill/>
        </p:spPr>
        <p:txBody>
          <a:bodyPr wrap="square" rtlCol="0">
            <a:spAutoFit/>
          </a:bodyPr>
          <a:lstStyle/>
          <a:p>
            <a:r>
              <a:rPr lang="es-MX" altLang="es-PE" sz="2400" dirty="0">
                <a:solidFill>
                  <a:schemeClr val="tx1"/>
                </a:solidFill>
                <a:latin typeface="Chevin-Medium"/>
              </a:rPr>
              <a:t>Existen diversos enfoques para explorar y seleccionar combinaciones de hiperparámetros que maximicen el rendimiento del modelo:</a:t>
            </a:r>
          </a:p>
          <a:p>
            <a:endParaRPr lang="es-ES" altLang="es-PE" sz="2400" dirty="0">
              <a:solidFill>
                <a:schemeClr val="tx1"/>
              </a:solidFill>
              <a:latin typeface="Chevin-Medium"/>
            </a:endParaRPr>
          </a:p>
          <a:p>
            <a:pPr marL="457200" indent="-457200">
              <a:buFont typeface="+mj-lt"/>
              <a:buAutoNum type="arabicPeriod"/>
            </a:pPr>
            <a:r>
              <a:rPr lang="es-MX" altLang="es-PE" sz="2400" b="1" dirty="0">
                <a:solidFill>
                  <a:schemeClr val="tx1"/>
                </a:solidFill>
                <a:latin typeface="Chevin-Medium"/>
              </a:rPr>
              <a:t>Búsqueda de cuadrícula (</a:t>
            </a:r>
            <a:r>
              <a:rPr lang="es-MX" altLang="es-PE" sz="2400" b="1" dirty="0" err="1">
                <a:solidFill>
                  <a:schemeClr val="tx1"/>
                </a:solidFill>
                <a:latin typeface="Chevin-Medium"/>
              </a:rPr>
              <a:t>Grid</a:t>
            </a:r>
            <a:r>
              <a:rPr lang="es-MX" altLang="es-PE" sz="2400" b="1" dirty="0">
                <a:solidFill>
                  <a:schemeClr val="tx1"/>
                </a:solidFill>
                <a:latin typeface="Chevin-Medium"/>
              </a:rPr>
              <a:t> </a:t>
            </a:r>
            <a:r>
              <a:rPr lang="es-MX" altLang="es-PE" sz="2400" b="1" dirty="0" err="1">
                <a:solidFill>
                  <a:schemeClr val="tx1"/>
                </a:solidFill>
                <a:latin typeface="Chevin-Medium"/>
              </a:rPr>
              <a:t>Search</a:t>
            </a:r>
            <a:r>
              <a:rPr lang="es-MX" altLang="es-PE" sz="2400" b="1" dirty="0">
                <a:solidFill>
                  <a:schemeClr val="tx1"/>
                </a:solidFill>
                <a:latin typeface="Chevin-Medium"/>
              </a:rPr>
              <a:t>)</a:t>
            </a:r>
            <a:endParaRPr lang="es-ES" altLang="es-PE" sz="2400" b="1" dirty="0">
              <a:solidFill>
                <a:schemeClr val="tx1"/>
              </a:solidFill>
              <a:latin typeface="Chevin-Medium"/>
            </a:endParaRPr>
          </a:p>
          <a:p>
            <a:pPr lvl="1"/>
            <a:r>
              <a:rPr lang="es-MX" altLang="es-PE" sz="2400" dirty="0">
                <a:solidFill>
                  <a:schemeClr val="tx1"/>
                </a:solidFill>
                <a:latin typeface="Chevin-Medium"/>
              </a:rPr>
              <a:t>Este método consiste en evaluar todas las combinaciones posibles de hiperparámetros dentro de un rango definido.</a:t>
            </a:r>
          </a:p>
          <a:p>
            <a:pPr lvl="1"/>
            <a:endParaRPr lang="es-ES" altLang="es-PE" sz="2400" b="1" dirty="0">
              <a:solidFill>
                <a:schemeClr val="tx1"/>
              </a:solidFill>
              <a:latin typeface="Chevin-Medium"/>
            </a:endParaRPr>
          </a:p>
          <a:p>
            <a:pPr lvl="1"/>
            <a:r>
              <a:rPr lang="es-ES" altLang="es-PE" sz="2400" b="1" dirty="0">
                <a:solidFill>
                  <a:schemeClr val="tx1"/>
                </a:solidFill>
                <a:latin typeface="Chevin-Medium"/>
              </a:rPr>
              <a:t>Ventajas</a:t>
            </a:r>
          </a:p>
          <a:p>
            <a:pPr marL="800100" lvl="1" indent="-342900">
              <a:buFont typeface="Wingdings" panose="05000000000000000000" pitchFamily="2" charset="2"/>
              <a:buChar char="ü"/>
            </a:pPr>
            <a:r>
              <a:rPr lang="es-ES" altLang="es-PE" sz="2400" b="1" dirty="0">
                <a:solidFill>
                  <a:schemeClr val="tx1"/>
                </a:solidFill>
                <a:latin typeface="Chevin-Medium"/>
              </a:rPr>
              <a:t>Exhaustividad: </a:t>
            </a:r>
            <a:r>
              <a:rPr lang="es-ES" altLang="es-PE" sz="2400" dirty="0">
                <a:solidFill>
                  <a:schemeClr val="tx1"/>
                </a:solidFill>
                <a:latin typeface="Chevin-Medium"/>
              </a:rPr>
              <a:t>Prueba todas las combinaciones posibles, </a:t>
            </a:r>
            <a:r>
              <a:rPr lang="es-MX" altLang="es-PE" sz="2400" dirty="0">
                <a:solidFill>
                  <a:schemeClr val="tx1"/>
                </a:solidFill>
                <a:latin typeface="Chevin-Medium"/>
              </a:rPr>
              <a:t>asegurando que no se pase por alto ninguna combinación potencialmente óptima.</a:t>
            </a:r>
            <a:endParaRPr lang="es-ES" altLang="es-PE" sz="2400" dirty="0">
              <a:solidFill>
                <a:schemeClr val="tx1"/>
              </a:solidFill>
              <a:latin typeface="Chevin-Medium"/>
            </a:endParaRPr>
          </a:p>
          <a:p>
            <a:pPr marL="800100" lvl="1" indent="-342900">
              <a:buFont typeface="Wingdings" panose="05000000000000000000" pitchFamily="2" charset="2"/>
              <a:buChar char="ü"/>
            </a:pPr>
            <a:r>
              <a:rPr lang="es-ES" altLang="es-PE" sz="2400" b="1" dirty="0">
                <a:solidFill>
                  <a:schemeClr val="tx1"/>
                </a:solidFill>
                <a:latin typeface="Chevin-Medium"/>
              </a:rPr>
              <a:t>Determinismo: </a:t>
            </a:r>
            <a:r>
              <a:rPr lang="es-ES" altLang="es-PE" sz="2400" dirty="0">
                <a:solidFill>
                  <a:schemeClr val="tx1"/>
                </a:solidFill>
                <a:latin typeface="Chevin-Medium"/>
              </a:rPr>
              <a:t>Siempre encuentra el mejor resultado dentro del espacio definido.</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Métodos de optimización de hiperparámetros</a:t>
            </a:r>
          </a:p>
        </p:txBody>
      </p:sp>
    </p:spTree>
    <p:extLst>
      <p:ext uri="{BB962C8B-B14F-4D97-AF65-F5344CB8AC3E}">
        <p14:creationId xmlns:p14="http://schemas.microsoft.com/office/powerpoint/2010/main" val="3662020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2BEFC-7DAA-BF2F-1645-AD9A1C68047E}"/>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9A38F1D0-409A-4035-3D9F-01773A7565E6}"/>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EA62AC1-2D26-99B7-0B32-1EA9175FAB1D}"/>
              </a:ext>
            </a:extLst>
          </p:cNvPr>
          <p:cNvSpPr txBox="1"/>
          <p:nvPr/>
        </p:nvSpPr>
        <p:spPr>
          <a:xfrm>
            <a:off x="722798" y="1713153"/>
            <a:ext cx="10671343" cy="3416320"/>
          </a:xfrm>
          <a:prstGeom prst="rect">
            <a:avLst/>
          </a:prstGeom>
          <a:noFill/>
        </p:spPr>
        <p:txBody>
          <a:bodyPr wrap="square" rtlCol="0">
            <a:spAutoFit/>
          </a:bodyPr>
          <a:lstStyle/>
          <a:p>
            <a:pPr lvl="1"/>
            <a:r>
              <a:rPr lang="es-MX" altLang="es-PE" sz="2400" b="1" dirty="0">
                <a:solidFill>
                  <a:schemeClr val="tx1"/>
                </a:solidFill>
                <a:latin typeface="Chevin-Medium"/>
              </a:rPr>
              <a:t>Desventajas</a:t>
            </a:r>
          </a:p>
          <a:p>
            <a:pPr marL="800100" lvl="1" indent="-342900">
              <a:buFont typeface="Wingdings" panose="05000000000000000000" pitchFamily="2" charset="2"/>
              <a:buChar char="ü"/>
            </a:pPr>
            <a:r>
              <a:rPr lang="es-MX" altLang="es-PE" sz="2400" b="1" dirty="0">
                <a:solidFill>
                  <a:schemeClr val="tx1"/>
                </a:solidFill>
                <a:latin typeface="Chevin-Medium"/>
              </a:rPr>
              <a:t>Computacionalmente intensivo: </a:t>
            </a:r>
            <a:r>
              <a:rPr lang="es-MX" altLang="es-PE" sz="2400" dirty="0">
                <a:solidFill>
                  <a:schemeClr val="tx1"/>
                </a:solidFill>
                <a:latin typeface="Chevin-Medium"/>
              </a:rPr>
              <a:t>Puede requerir mucho tiempo y recursos, es computacionalmente costoso y poco escalable para problemas con múltiples hiperparámetros o rangos amplios.</a:t>
            </a:r>
          </a:p>
          <a:p>
            <a:pPr marL="800100" lvl="1" indent="-342900">
              <a:buFont typeface="Wingdings" panose="05000000000000000000" pitchFamily="2" charset="2"/>
              <a:buChar char="ü"/>
            </a:pPr>
            <a:endParaRPr lang="es-ES" altLang="es-PE" sz="2400" dirty="0">
              <a:solidFill>
                <a:schemeClr val="tx1"/>
              </a:solidFill>
              <a:latin typeface="Chevin-Medium"/>
            </a:endParaRPr>
          </a:p>
          <a:p>
            <a:pPr lvl="1"/>
            <a:r>
              <a:rPr lang="es-ES" altLang="es-PE" sz="2400" b="1" dirty="0">
                <a:solidFill>
                  <a:schemeClr val="tx1"/>
                </a:solidFill>
                <a:latin typeface="Chevin-Medium"/>
              </a:rPr>
              <a:t>Consideraciones:</a:t>
            </a:r>
          </a:p>
          <a:p>
            <a:pPr marL="800100" lvl="1" indent="-342900">
              <a:buFont typeface="Wingdings" panose="05000000000000000000" pitchFamily="2" charset="2"/>
              <a:buChar char="ü"/>
            </a:pPr>
            <a:r>
              <a:rPr lang="es-ES" altLang="es-PE" sz="2400" dirty="0">
                <a:solidFill>
                  <a:schemeClr val="tx1"/>
                </a:solidFill>
                <a:latin typeface="Chevin-Medium"/>
              </a:rPr>
              <a:t>Ideal para espacios de búsqueda pequeños</a:t>
            </a:r>
          </a:p>
          <a:p>
            <a:pPr marL="800100" lvl="1" indent="-342900">
              <a:buFont typeface="Wingdings" panose="05000000000000000000" pitchFamily="2" charset="2"/>
              <a:buChar char="ü"/>
            </a:pPr>
            <a:r>
              <a:rPr lang="es-ES" altLang="es-PE" sz="2400" dirty="0">
                <a:solidFill>
                  <a:schemeClr val="tx1"/>
                </a:solidFill>
                <a:latin typeface="Chevin-Medium"/>
              </a:rPr>
              <a:t>Requiere conocimiento previo para definir rangos razonables</a:t>
            </a:r>
          </a:p>
          <a:p>
            <a:pPr marL="800100" lvl="1" indent="-342900">
              <a:buFont typeface="Wingdings" panose="05000000000000000000" pitchFamily="2" charset="2"/>
              <a:buChar char="ü"/>
            </a:pPr>
            <a:r>
              <a:rPr lang="es-ES" altLang="es-PE" sz="2400" dirty="0">
                <a:solidFill>
                  <a:schemeClr val="tx1"/>
                </a:solidFill>
                <a:latin typeface="Chevin-Medium"/>
              </a:rPr>
              <a:t>La complejidad aumenta exponencialmente con cada hiperparámetro.</a:t>
            </a:r>
          </a:p>
        </p:txBody>
      </p:sp>
      <p:sp>
        <p:nvSpPr>
          <p:cNvPr id="5" name="Rectangle 2050">
            <a:extLst>
              <a:ext uri="{FF2B5EF4-FFF2-40B4-BE49-F238E27FC236}">
                <a16:creationId xmlns:a16="http://schemas.microsoft.com/office/drawing/2014/main" id="{FEB23809-5DD8-68CF-0713-6241A19D5833}"/>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Métodos de optimización de hiperparámetros</a:t>
            </a:r>
          </a:p>
        </p:txBody>
      </p:sp>
    </p:spTree>
    <p:extLst>
      <p:ext uri="{BB962C8B-B14F-4D97-AF65-F5344CB8AC3E}">
        <p14:creationId xmlns:p14="http://schemas.microsoft.com/office/powerpoint/2010/main" val="2290625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785652"/>
          </a:xfrm>
          <a:prstGeom prst="rect">
            <a:avLst/>
          </a:prstGeom>
          <a:noFill/>
        </p:spPr>
        <p:txBody>
          <a:bodyPr wrap="square" rtlCol="0">
            <a:spAutoFit/>
          </a:bodyPr>
          <a:lstStyle/>
          <a:p>
            <a:pPr marL="457200" indent="-457200">
              <a:buFont typeface="+mj-lt"/>
              <a:buAutoNum type="arabicPeriod" startAt="2"/>
            </a:pPr>
            <a:r>
              <a:rPr lang="es-ES" altLang="es-PE" sz="2400" b="1" dirty="0">
                <a:solidFill>
                  <a:schemeClr val="tx1"/>
                </a:solidFill>
                <a:latin typeface="Chevin-Medium"/>
              </a:rPr>
              <a:t>Búsqueda Aleatoria</a:t>
            </a:r>
            <a:r>
              <a:rPr lang="es-ES" altLang="es-PE" sz="2400" b="1" dirty="0">
                <a:latin typeface="Chevin-Medium"/>
              </a:rPr>
              <a:t> </a:t>
            </a:r>
            <a:r>
              <a:rPr lang="es-ES" altLang="es-PE" sz="2400" b="1" dirty="0">
                <a:solidFill>
                  <a:schemeClr val="tx1"/>
                </a:solidFill>
                <a:latin typeface="Chevin-Medium"/>
              </a:rPr>
              <a:t>(Random </a:t>
            </a:r>
            <a:r>
              <a:rPr lang="es-ES" altLang="es-PE" sz="2400" b="1" dirty="0" err="1">
                <a:solidFill>
                  <a:schemeClr val="tx1"/>
                </a:solidFill>
                <a:latin typeface="Chevin-Medium"/>
              </a:rPr>
              <a:t>Search</a:t>
            </a:r>
            <a:r>
              <a:rPr lang="es-ES" altLang="es-PE" sz="2400" b="1" dirty="0">
                <a:solidFill>
                  <a:schemeClr val="tx1"/>
                </a:solidFill>
                <a:latin typeface="Chevin-Medium"/>
              </a:rPr>
              <a:t> ):</a:t>
            </a:r>
          </a:p>
          <a:p>
            <a:pPr lvl="1"/>
            <a:r>
              <a:rPr lang="es-MX" altLang="es-PE" sz="2400" dirty="0">
                <a:solidFill>
                  <a:schemeClr val="tx1"/>
                </a:solidFill>
                <a:latin typeface="Chevin-Medium"/>
              </a:rPr>
              <a:t>Este método selecciona combinaciones de hiperparámetros de manera aleatoria dentro de un rango definido, en lugar de evaluar todas las posibilidades</a:t>
            </a:r>
            <a:endParaRPr lang="es-ES" altLang="es-PE" sz="2400" dirty="0">
              <a:solidFill>
                <a:schemeClr val="tx1"/>
              </a:solidFill>
              <a:latin typeface="Chevin-Medium"/>
            </a:endParaRPr>
          </a:p>
          <a:p>
            <a:pPr lvl="1"/>
            <a:r>
              <a:rPr lang="es-ES" altLang="es-PE" sz="2400" b="1" dirty="0">
                <a:solidFill>
                  <a:schemeClr val="tx1"/>
                </a:solidFill>
                <a:latin typeface="Chevin-Medium"/>
              </a:rPr>
              <a:t>Ventajas:</a:t>
            </a:r>
          </a:p>
          <a:p>
            <a:pPr marL="800100" lvl="1" indent="-342900">
              <a:buFont typeface="Wingdings" panose="05000000000000000000" pitchFamily="2" charset="2"/>
              <a:buChar char="ü"/>
            </a:pPr>
            <a:r>
              <a:rPr lang="es-ES" altLang="es-PE" sz="2400" dirty="0">
                <a:solidFill>
                  <a:schemeClr val="tx1"/>
                </a:solidFill>
                <a:latin typeface="Chevin-Medium"/>
              </a:rPr>
              <a:t>Más eficiente que </a:t>
            </a:r>
            <a:r>
              <a:rPr lang="es-ES" altLang="es-PE" sz="2400" dirty="0" err="1">
                <a:solidFill>
                  <a:schemeClr val="tx1"/>
                </a:solidFill>
                <a:latin typeface="Chevin-Medium"/>
              </a:rPr>
              <a:t>Grid</a:t>
            </a:r>
            <a:r>
              <a:rPr lang="es-ES" altLang="es-PE" sz="2400" dirty="0">
                <a:solidFill>
                  <a:schemeClr val="tx1"/>
                </a:solidFill>
                <a:latin typeface="Chevin-Medium"/>
              </a:rPr>
              <a:t> </a:t>
            </a:r>
            <a:r>
              <a:rPr lang="es-ES" altLang="es-PE" sz="2400" dirty="0" err="1">
                <a:solidFill>
                  <a:schemeClr val="tx1"/>
                </a:solidFill>
                <a:latin typeface="Chevin-Medium"/>
              </a:rPr>
              <a:t>Search</a:t>
            </a:r>
            <a:r>
              <a:rPr lang="es-ES" altLang="es-PE" sz="2400" dirty="0">
                <a:solidFill>
                  <a:schemeClr val="tx1"/>
                </a:solidFill>
                <a:latin typeface="Chevin-Medium"/>
              </a:rPr>
              <a:t> en espacios grandes.</a:t>
            </a:r>
          </a:p>
          <a:p>
            <a:pPr marL="800100" lvl="1" indent="-342900">
              <a:buFont typeface="Wingdings" panose="05000000000000000000" pitchFamily="2" charset="2"/>
              <a:buChar char="ü"/>
            </a:pPr>
            <a:r>
              <a:rPr lang="es-ES" altLang="es-PE" sz="2400" dirty="0">
                <a:solidFill>
                  <a:schemeClr val="tx1"/>
                </a:solidFill>
                <a:latin typeface="Chevin-Medium"/>
              </a:rPr>
              <a:t>Puede encontrar buenos resultados más rápidamente.</a:t>
            </a:r>
          </a:p>
          <a:p>
            <a:pPr marL="800100" lvl="1" indent="-342900">
              <a:buFont typeface="Wingdings" panose="05000000000000000000" pitchFamily="2" charset="2"/>
              <a:buChar char="ü"/>
            </a:pPr>
            <a:r>
              <a:rPr lang="es-ES" altLang="es-PE" sz="2400" dirty="0">
                <a:solidFill>
                  <a:schemeClr val="tx1"/>
                </a:solidFill>
                <a:latin typeface="Chevin-Medium"/>
              </a:rPr>
              <a:t>Mejor distribución de recursos computacionales.</a:t>
            </a:r>
          </a:p>
          <a:p>
            <a:pPr lvl="1"/>
            <a:r>
              <a:rPr lang="es-ES" altLang="es-PE" sz="2400" b="1" dirty="0">
                <a:solidFill>
                  <a:schemeClr val="tx1"/>
                </a:solidFill>
                <a:latin typeface="Chevin-Medium"/>
              </a:rPr>
              <a:t>Desventajas:</a:t>
            </a:r>
          </a:p>
          <a:p>
            <a:pPr marL="800100" lvl="1" indent="-342900">
              <a:buFont typeface="Wingdings" panose="05000000000000000000" pitchFamily="2" charset="2"/>
              <a:buChar char="ü"/>
            </a:pPr>
            <a:r>
              <a:rPr lang="es-ES" altLang="es-PE" sz="2400" dirty="0">
                <a:solidFill>
                  <a:schemeClr val="tx1"/>
                </a:solidFill>
                <a:latin typeface="Chevin-Medium"/>
              </a:rPr>
              <a:t>No garantiza encontrar el óptimo global.</a:t>
            </a:r>
          </a:p>
          <a:p>
            <a:pPr marL="800100" lvl="1" indent="-342900">
              <a:buFont typeface="Wingdings" panose="05000000000000000000" pitchFamily="2" charset="2"/>
              <a:buChar char="ü"/>
            </a:pPr>
            <a:r>
              <a:rPr lang="es-ES" altLang="es-PE" sz="2400" dirty="0">
                <a:solidFill>
                  <a:schemeClr val="tx1"/>
                </a:solidFill>
                <a:latin typeface="Chevin-Medium"/>
              </a:rPr>
              <a:t>Puede requerir múltiples ejecuciones para resultados consistentes.</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Métodos de optimización de hiperparámetros</a:t>
            </a:r>
          </a:p>
        </p:txBody>
      </p:sp>
    </p:spTree>
    <p:extLst>
      <p:ext uri="{BB962C8B-B14F-4D97-AF65-F5344CB8AC3E}">
        <p14:creationId xmlns:p14="http://schemas.microsoft.com/office/powerpoint/2010/main" val="2423726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4832092"/>
          </a:xfrm>
          <a:prstGeom prst="rect">
            <a:avLst/>
          </a:prstGeom>
          <a:noFill/>
        </p:spPr>
        <p:txBody>
          <a:bodyPr wrap="square" rtlCol="0">
            <a:spAutoFit/>
          </a:bodyPr>
          <a:lstStyle/>
          <a:p>
            <a:pPr marL="457200" indent="-457200">
              <a:buFont typeface="+mj-lt"/>
              <a:buAutoNum type="arabicPeriod" startAt="3"/>
            </a:pPr>
            <a:r>
              <a:rPr lang="es-ES" altLang="es-PE" sz="2200" b="1" dirty="0">
                <a:solidFill>
                  <a:schemeClr val="tx1"/>
                </a:solidFill>
                <a:latin typeface="Chevin-Medium"/>
              </a:rPr>
              <a:t>Optimización Bayesiana:</a:t>
            </a:r>
          </a:p>
          <a:p>
            <a:pPr lvl="1"/>
            <a:r>
              <a:rPr lang="es-MX" altLang="es-PE" sz="2200" dirty="0">
                <a:solidFill>
                  <a:schemeClr val="tx1"/>
                </a:solidFill>
                <a:latin typeface="Chevin-Medium"/>
              </a:rPr>
              <a:t>Este enfoque utiliza modelos probabilísticos para predecir las combinaciones de hiperparámetros que tienen mayor probabilidad de mejorar el rendimiento.</a:t>
            </a:r>
          </a:p>
          <a:p>
            <a:pPr lvl="1"/>
            <a:r>
              <a:rPr lang="es-ES" altLang="es-PE" sz="2200" b="1" dirty="0">
                <a:solidFill>
                  <a:schemeClr val="tx1"/>
                </a:solidFill>
                <a:latin typeface="Chevin-Medium"/>
              </a:rPr>
              <a:t>Funcionamiento:</a:t>
            </a:r>
          </a:p>
          <a:p>
            <a:pPr marL="914400" lvl="1" indent="-457200">
              <a:buFont typeface="+mj-lt"/>
              <a:buAutoNum type="arabicPeriod"/>
            </a:pPr>
            <a:r>
              <a:rPr lang="es-ES" altLang="es-PE" sz="2200" dirty="0">
                <a:solidFill>
                  <a:schemeClr val="tx1"/>
                </a:solidFill>
                <a:latin typeface="Chevin-Medium"/>
              </a:rPr>
              <a:t>Construye un modelo probabilístico del objetivo.</a:t>
            </a:r>
          </a:p>
          <a:p>
            <a:pPr marL="914400" lvl="1" indent="-457200">
              <a:buFont typeface="+mj-lt"/>
              <a:buAutoNum type="arabicPeriod"/>
            </a:pPr>
            <a:r>
              <a:rPr lang="es-ES" altLang="es-PE" sz="2200" dirty="0">
                <a:solidFill>
                  <a:schemeClr val="tx1"/>
                </a:solidFill>
                <a:latin typeface="Chevin-Medium"/>
              </a:rPr>
              <a:t>Usa este modelo para seleccionar puntos prometedores.</a:t>
            </a:r>
          </a:p>
          <a:p>
            <a:pPr marL="914400" lvl="1" indent="-457200">
              <a:buFont typeface="+mj-lt"/>
              <a:buAutoNum type="arabicPeriod"/>
            </a:pPr>
            <a:r>
              <a:rPr lang="es-ES" altLang="es-PE" sz="2200" dirty="0">
                <a:solidFill>
                  <a:schemeClr val="tx1"/>
                </a:solidFill>
                <a:latin typeface="Chevin-Medium"/>
              </a:rPr>
              <a:t>Actualiza el modelo con nuevas observaciones.</a:t>
            </a:r>
          </a:p>
          <a:p>
            <a:pPr marL="914400" lvl="1" indent="-457200">
              <a:buFont typeface="+mj-lt"/>
              <a:buAutoNum type="arabicPeriod"/>
            </a:pPr>
            <a:r>
              <a:rPr lang="es-ES" altLang="es-PE" sz="2200" dirty="0">
                <a:solidFill>
                  <a:schemeClr val="tx1"/>
                </a:solidFill>
                <a:latin typeface="Chevin-Medium"/>
              </a:rPr>
              <a:t>Repite el proceso de manera iterativa.</a:t>
            </a:r>
          </a:p>
          <a:p>
            <a:pPr lvl="1"/>
            <a:r>
              <a:rPr lang="es-ES" altLang="es-PE" sz="2200" b="1" dirty="0">
                <a:solidFill>
                  <a:schemeClr val="tx1"/>
                </a:solidFill>
                <a:latin typeface="Chevin-Medium"/>
              </a:rPr>
              <a:t>Ventajas:</a:t>
            </a:r>
          </a:p>
          <a:p>
            <a:pPr marL="800100" lvl="1" indent="-342900">
              <a:buFont typeface="Wingdings" panose="05000000000000000000" pitchFamily="2" charset="2"/>
              <a:buChar char="ü"/>
            </a:pPr>
            <a:r>
              <a:rPr lang="es-ES" altLang="es-PE" sz="2200" dirty="0">
                <a:solidFill>
                  <a:schemeClr val="tx1"/>
                </a:solidFill>
                <a:latin typeface="Chevin-Medium"/>
              </a:rPr>
              <a:t>Más eficiente que búsquedas aleatorias o en cuadricul</a:t>
            </a:r>
            <a:r>
              <a:rPr lang="es-ES" altLang="es-PE" sz="2200" dirty="0">
                <a:latin typeface="Chevin-Medium"/>
              </a:rPr>
              <a:t>a.</a:t>
            </a:r>
            <a:endParaRPr lang="es-ES" altLang="es-PE" sz="2200" dirty="0">
              <a:solidFill>
                <a:schemeClr val="tx1"/>
              </a:solidFill>
              <a:latin typeface="Chevin-Medium"/>
            </a:endParaRPr>
          </a:p>
          <a:p>
            <a:pPr marL="800100" lvl="1" indent="-342900">
              <a:buFont typeface="Wingdings" panose="05000000000000000000" pitchFamily="2" charset="2"/>
              <a:buChar char="ü"/>
            </a:pPr>
            <a:r>
              <a:rPr lang="es-ES" altLang="es-PE" sz="2200" dirty="0">
                <a:solidFill>
                  <a:schemeClr val="tx1"/>
                </a:solidFill>
                <a:latin typeface="Chevin-Medium"/>
              </a:rPr>
              <a:t>Aprende de intentos anteriores</a:t>
            </a:r>
            <a:r>
              <a:rPr lang="es-ES" altLang="es-PE" sz="2200" dirty="0">
                <a:latin typeface="Chevin-Medium"/>
              </a:rPr>
              <a:t>.</a:t>
            </a:r>
            <a:endParaRPr lang="es-ES" altLang="es-PE" sz="2200" dirty="0">
              <a:solidFill>
                <a:schemeClr val="tx1"/>
              </a:solidFill>
              <a:latin typeface="Chevin-Medium"/>
            </a:endParaRPr>
          </a:p>
          <a:p>
            <a:pPr marL="800100" lvl="1" indent="-342900">
              <a:buFont typeface="Wingdings" panose="05000000000000000000" pitchFamily="2" charset="2"/>
              <a:buChar char="ü"/>
            </a:pPr>
            <a:r>
              <a:rPr lang="es-ES" altLang="es-PE" sz="2200" dirty="0">
                <a:solidFill>
                  <a:schemeClr val="tx1"/>
                </a:solidFill>
                <a:latin typeface="Chevin-Medium"/>
              </a:rPr>
              <a:t>Particularmente útil para funciones objetivo costosas.</a:t>
            </a:r>
          </a:p>
          <a:p>
            <a:pPr lvl="1"/>
            <a:r>
              <a:rPr lang="es-ES" altLang="es-PE" sz="2200" b="1" dirty="0">
                <a:solidFill>
                  <a:schemeClr val="tx1"/>
                </a:solidFill>
                <a:latin typeface="Chevin-Medium"/>
              </a:rPr>
              <a:t>Desventajas:</a:t>
            </a:r>
          </a:p>
          <a:p>
            <a:pPr marL="800100" lvl="1" indent="-342900">
              <a:buFont typeface="Wingdings" panose="05000000000000000000" pitchFamily="2" charset="2"/>
              <a:buChar char="ü"/>
            </a:pPr>
            <a:r>
              <a:rPr lang="es-MX" altLang="es-PE" sz="2200" dirty="0">
                <a:solidFill>
                  <a:schemeClr val="tx1"/>
                </a:solidFill>
                <a:latin typeface="Chevin-Medium"/>
              </a:rPr>
              <a:t>Su implementación es más compleja y requiere herramientas especializadas</a:t>
            </a:r>
            <a:endParaRPr lang="es-ES" altLang="es-PE" sz="2200" dirty="0">
              <a:solidFill>
                <a:schemeClr val="tx1"/>
              </a:solidFill>
              <a:latin typeface="Chevin-Medium"/>
            </a:endParaRP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Métodos de optimización de hiperparámetros</a:t>
            </a:r>
          </a:p>
        </p:txBody>
      </p:sp>
    </p:spTree>
    <p:extLst>
      <p:ext uri="{BB962C8B-B14F-4D97-AF65-F5344CB8AC3E}">
        <p14:creationId xmlns:p14="http://schemas.microsoft.com/office/powerpoint/2010/main" val="30606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4493538"/>
          </a:xfrm>
          <a:prstGeom prst="rect">
            <a:avLst/>
          </a:prstGeom>
          <a:noFill/>
        </p:spPr>
        <p:txBody>
          <a:bodyPr wrap="square" rtlCol="0">
            <a:spAutoFit/>
          </a:bodyPr>
          <a:lstStyle/>
          <a:p>
            <a:r>
              <a:rPr lang="es-MX" altLang="es-PE" sz="2200" dirty="0">
                <a:solidFill>
                  <a:schemeClr val="tx1"/>
                </a:solidFill>
                <a:latin typeface="Chevin-Medium"/>
              </a:rPr>
              <a:t>El sobreajuste ocurre cuando un modelo aprende en exceso de los datos de entrenamiento, incluyendo ruido o detalles irrelevantes, lo que compromete su desempeño en datos nuevos.</a:t>
            </a:r>
          </a:p>
          <a:p>
            <a:r>
              <a:rPr lang="es-MX" altLang="es-PE" sz="2200" dirty="0">
                <a:solidFill>
                  <a:schemeClr val="tx1"/>
                </a:solidFill>
                <a:latin typeface="Chevin-Medium"/>
              </a:rPr>
              <a:t>La regularización es una técnica esencial para prevenir este fenómeno y garantizar que el modelo pueda generalizar adecuadamente. </a:t>
            </a:r>
            <a:r>
              <a:rPr lang="es-MX" altLang="es-PE" sz="2200" dirty="0">
                <a:latin typeface="Chevin-Medium"/>
              </a:rPr>
              <a:t>I</a:t>
            </a:r>
            <a:r>
              <a:rPr lang="es-MX" altLang="es-PE" sz="2200" dirty="0">
                <a:solidFill>
                  <a:schemeClr val="tx1"/>
                </a:solidFill>
                <a:latin typeface="Chevin-Medium"/>
              </a:rPr>
              <a:t>ntroduciendo penalizaciones a la complejidad del modelo durante el entrenamiento.</a:t>
            </a:r>
          </a:p>
          <a:p>
            <a:endParaRPr lang="es-MX" altLang="es-PE" sz="2200" b="1" dirty="0">
              <a:latin typeface="Chevin-Medium"/>
            </a:endParaRPr>
          </a:p>
          <a:p>
            <a:r>
              <a:rPr lang="es-ES" altLang="es-PE" sz="2200" b="1" dirty="0">
                <a:solidFill>
                  <a:schemeClr val="tx1"/>
                </a:solidFill>
                <a:latin typeface="Chevin-Medium"/>
              </a:rPr>
              <a:t>Tipos de Regularización</a:t>
            </a:r>
          </a:p>
          <a:p>
            <a:pPr marL="457200" indent="-457200">
              <a:buFont typeface="+mj-lt"/>
              <a:buAutoNum type="arabicPeriod"/>
            </a:pPr>
            <a:r>
              <a:rPr lang="es-ES" altLang="es-PE" sz="2200" b="1" dirty="0">
                <a:solidFill>
                  <a:schemeClr val="tx1"/>
                </a:solidFill>
                <a:latin typeface="Chevin-Medium"/>
              </a:rPr>
              <a:t>Regularización L1 (Lasso)</a:t>
            </a:r>
          </a:p>
          <a:p>
            <a:pPr marL="914400" lvl="1" indent="-457200">
              <a:buFont typeface="Wingdings" panose="05000000000000000000" pitchFamily="2" charset="2"/>
              <a:buChar char="ü"/>
            </a:pPr>
            <a:r>
              <a:rPr lang="es-ES" altLang="es-PE" sz="2200" dirty="0">
                <a:solidFill>
                  <a:schemeClr val="tx1"/>
                </a:solidFill>
                <a:latin typeface="Chevin-Medium"/>
              </a:rPr>
              <a:t>Añade la suma del valor absoluto de los coeficientes como término de penalización.</a:t>
            </a:r>
          </a:p>
          <a:p>
            <a:pPr marL="914400" lvl="1" indent="-457200">
              <a:buFont typeface="Wingdings" panose="05000000000000000000" pitchFamily="2" charset="2"/>
              <a:buChar char="ü"/>
            </a:pPr>
            <a:r>
              <a:rPr lang="es-ES" altLang="es-PE" sz="2200" dirty="0">
                <a:solidFill>
                  <a:schemeClr val="tx1"/>
                </a:solidFill>
                <a:latin typeface="Chevin-Medium"/>
              </a:rPr>
              <a:t>Promueve la esparsidad (algunos coeficientes se vuelven exactamente cero).</a:t>
            </a:r>
          </a:p>
          <a:p>
            <a:pPr marL="914400" lvl="1" indent="-457200">
              <a:buFont typeface="Wingdings" panose="05000000000000000000" pitchFamily="2" charset="2"/>
              <a:buChar char="ü"/>
            </a:pPr>
            <a:r>
              <a:rPr lang="es-ES" altLang="es-PE" sz="2200" dirty="0">
                <a:solidFill>
                  <a:schemeClr val="tx1"/>
                </a:solidFill>
                <a:latin typeface="Chevin-Medium"/>
              </a:rPr>
              <a:t>Útil para selección automática de características </a:t>
            </a:r>
            <a:r>
              <a:rPr lang="es-MX" altLang="es-PE" sz="2200" dirty="0">
                <a:solidFill>
                  <a:schemeClr val="tx1"/>
                </a:solidFill>
                <a:latin typeface="Chevin-Medium"/>
              </a:rPr>
              <a:t>ya que tiende a eliminar por completo aquellas que no son relevantes.</a:t>
            </a:r>
            <a:endParaRPr lang="es-ES" altLang="es-PE" sz="2200" dirty="0">
              <a:solidFill>
                <a:schemeClr val="tx1"/>
              </a:solidFill>
              <a:latin typeface="Chevin-Medium"/>
            </a:endParaRP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Regularización para Evitar Sobreajuste</a:t>
            </a:r>
            <a:endParaRPr lang="es-MX" altLang="es-PE" sz="2800" dirty="0">
              <a:latin typeface="Chevin-DemiBold" pitchFamily="34" charset="0"/>
            </a:endParaRPr>
          </a:p>
        </p:txBody>
      </p:sp>
    </p:spTree>
    <p:extLst>
      <p:ext uri="{BB962C8B-B14F-4D97-AF65-F5344CB8AC3E}">
        <p14:creationId xmlns:p14="http://schemas.microsoft.com/office/powerpoint/2010/main" val="3457605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687803" y="1720840"/>
            <a:ext cx="10671343" cy="3416320"/>
          </a:xfrm>
          <a:prstGeom prst="rect">
            <a:avLst/>
          </a:prstGeom>
          <a:noFill/>
        </p:spPr>
        <p:txBody>
          <a:bodyPr wrap="square" rtlCol="0">
            <a:spAutoFit/>
          </a:bodyPr>
          <a:lstStyle/>
          <a:p>
            <a:pPr marL="457200" indent="-457200">
              <a:buFont typeface="+mj-lt"/>
              <a:buAutoNum type="arabicPeriod" startAt="2"/>
            </a:pPr>
            <a:r>
              <a:rPr lang="es-ES" altLang="es-PE" sz="2400" b="1" dirty="0">
                <a:solidFill>
                  <a:schemeClr val="tx1"/>
                </a:solidFill>
                <a:latin typeface="Chevin-Medium"/>
              </a:rPr>
              <a:t>Regularización L2 (Ridge)</a:t>
            </a:r>
          </a:p>
          <a:p>
            <a:pPr marL="914400" lvl="1" indent="-457200">
              <a:buFont typeface="Wingdings" panose="05000000000000000000" pitchFamily="2" charset="2"/>
              <a:buChar char="ü"/>
            </a:pPr>
            <a:r>
              <a:rPr lang="es-ES" altLang="es-PE" sz="2400" dirty="0">
                <a:solidFill>
                  <a:schemeClr val="tx1"/>
                </a:solidFill>
                <a:latin typeface="Chevin-Medium"/>
              </a:rPr>
              <a:t>Añade la suma del cuadrado de los coeficientes como término de penalización</a:t>
            </a:r>
          </a:p>
          <a:p>
            <a:pPr marL="914400" lvl="1" indent="-457200">
              <a:buFont typeface="Wingdings" panose="05000000000000000000" pitchFamily="2" charset="2"/>
              <a:buChar char="ü"/>
            </a:pPr>
            <a:r>
              <a:rPr lang="es-MX" altLang="es-PE" sz="2400" dirty="0">
                <a:solidFill>
                  <a:schemeClr val="tx1"/>
                </a:solidFill>
                <a:latin typeface="Chevin-Medium"/>
              </a:rPr>
              <a:t>Reduce la magnitud de los coeficientes irrelevantes, lo que puede ser útil cuando todas las variables aportan valor en menor o mayor medida.</a:t>
            </a:r>
            <a:endParaRPr lang="es-ES" altLang="es-PE" sz="2400" dirty="0">
              <a:solidFill>
                <a:schemeClr val="tx1"/>
              </a:solidFill>
              <a:latin typeface="Chevin-Medium"/>
            </a:endParaRPr>
          </a:p>
          <a:p>
            <a:pPr marL="457200" indent="-457200">
              <a:buFont typeface="+mj-lt"/>
              <a:buAutoNum type="arabicPeriod" startAt="2"/>
            </a:pPr>
            <a:r>
              <a:rPr lang="es-ES" altLang="es-PE" sz="2400" b="1" dirty="0">
                <a:solidFill>
                  <a:schemeClr val="tx1"/>
                </a:solidFill>
                <a:latin typeface="Chevin-Medium"/>
              </a:rPr>
              <a:t>Regularización Elástica Net</a:t>
            </a:r>
          </a:p>
          <a:p>
            <a:pPr marL="914400" lvl="1" indent="-457200">
              <a:buFont typeface="Wingdings" panose="05000000000000000000" pitchFamily="2" charset="2"/>
              <a:buChar char="ü"/>
            </a:pPr>
            <a:r>
              <a:rPr lang="es-ES" altLang="es-PE" sz="2400" dirty="0">
                <a:solidFill>
                  <a:schemeClr val="tx1"/>
                </a:solidFill>
                <a:latin typeface="Chevin-Medium"/>
              </a:rPr>
              <a:t>Combina L1 y L2.</a:t>
            </a:r>
          </a:p>
          <a:p>
            <a:pPr marL="914400" lvl="1" indent="-457200">
              <a:buFont typeface="Wingdings" panose="05000000000000000000" pitchFamily="2" charset="2"/>
              <a:buChar char="ü"/>
            </a:pPr>
            <a:r>
              <a:rPr lang="es-ES" altLang="es-PE" sz="2400" dirty="0">
                <a:solidFill>
                  <a:schemeClr val="tx1"/>
                </a:solidFill>
                <a:latin typeface="Chevin-Medium"/>
              </a:rPr>
              <a:t>Ofrece un balance entre esparsidad y estabilidad.</a:t>
            </a:r>
          </a:p>
          <a:p>
            <a:pPr marL="914400" lvl="1" indent="-457200">
              <a:buFont typeface="Wingdings" panose="05000000000000000000" pitchFamily="2" charset="2"/>
              <a:buChar char="ü"/>
            </a:pPr>
            <a:r>
              <a:rPr lang="es-ES" altLang="es-PE" sz="2400" dirty="0">
                <a:solidFill>
                  <a:schemeClr val="tx1"/>
                </a:solidFill>
                <a:latin typeface="Chevin-Medium"/>
              </a:rPr>
              <a:t>Particularmente útil cuando hay muchas características correlacionadas.</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Regularización para Evitar Sobreajuste</a:t>
            </a:r>
          </a:p>
        </p:txBody>
      </p:sp>
    </p:spTree>
    <p:extLst>
      <p:ext uri="{BB962C8B-B14F-4D97-AF65-F5344CB8AC3E}">
        <p14:creationId xmlns:p14="http://schemas.microsoft.com/office/powerpoint/2010/main" val="825529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4524315"/>
          </a:xfrm>
          <a:prstGeom prst="rect">
            <a:avLst/>
          </a:prstGeom>
          <a:noFill/>
        </p:spPr>
        <p:txBody>
          <a:bodyPr wrap="square" rtlCol="0">
            <a:spAutoFit/>
          </a:bodyPr>
          <a:lstStyle/>
          <a:p>
            <a:pPr marL="457200" indent="-457200">
              <a:buFont typeface="+mj-lt"/>
              <a:buAutoNum type="arabicPeriod"/>
            </a:pPr>
            <a:r>
              <a:rPr lang="es-ES" altLang="es-PE" sz="2400" b="1" dirty="0">
                <a:solidFill>
                  <a:schemeClr val="tx1"/>
                </a:solidFill>
                <a:latin typeface="Chevin-Medium"/>
              </a:rPr>
              <a:t>Control del Sobreajuste:</a:t>
            </a:r>
          </a:p>
          <a:p>
            <a:pPr marL="914400" lvl="1" indent="-457200">
              <a:buFont typeface="Wingdings" panose="05000000000000000000" pitchFamily="2" charset="2"/>
              <a:buChar char="ü"/>
            </a:pPr>
            <a:r>
              <a:rPr lang="es-ES" altLang="es-PE" sz="2400" dirty="0">
                <a:solidFill>
                  <a:schemeClr val="tx1"/>
                </a:solidFill>
                <a:latin typeface="Chevin-Medium"/>
              </a:rPr>
              <a:t>Limita la complejidad del modelo</a:t>
            </a:r>
          </a:p>
          <a:p>
            <a:pPr marL="914400" lvl="1" indent="-457200">
              <a:buFont typeface="Wingdings" panose="05000000000000000000" pitchFamily="2" charset="2"/>
              <a:buChar char="ü"/>
            </a:pPr>
            <a:r>
              <a:rPr lang="es-ES" altLang="es-PE" sz="2400" dirty="0">
                <a:solidFill>
                  <a:schemeClr val="tx1"/>
                </a:solidFill>
                <a:latin typeface="Chevin-Medium"/>
              </a:rPr>
              <a:t>Mejora la generalización</a:t>
            </a:r>
          </a:p>
          <a:p>
            <a:pPr marL="914400" lvl="1" indent="-457200">
              <a:buFont typeface="Wingdings" panose="05000000000000000000" pitchFamily="2" charset="2"/>
              <a:buChar char="ü"/>
            </a:pPr>
            <a:r>
              <a:rPr lang="es-ES" altLang="es-PE" sz="2400" dirty="0">
                <a:solidFill>
                  <a:schemeClr val="tx1"/>
                </a:solidFill>
                <a:latin typeface="Chevin-Medium"/>
              </a:rPr>
              <a:t>Reduce la varianza del modelo</a:t>
            </a:r>
          </a:p>
          <a:p>
            <a:pPr marL="457200" indent="-457200">
              <a:buFont typeface="+mj-lt"/>
              <a:buAutoNum type="arabicPeriod"/>
            </a:pPr>
            <a:r>
              <a:rPr lang="es-ES" altLang="es-PE" sz="2400" b="1" dirty="0">
                <a:solidFill>
                  <a:schemeClr val="tx1"/>
                </a:solidFill>
                <a:latin typeface="Chevin-Medium"/>
              </a:rPr>
              <a:t>Selección de Características:</a:t>
            </a:r>
          </a:p>
          <a:p>
            <a:pPr marL="914400" lvl="1" indent="-457200">
              <a:buFont typeface="Wingdings" panose="05000000000000000000" pitchFamily="2" charset="2"/>
              <a:buChar char="ü"/>
            </a:pPr>
            <a:r>
              <a:rPr lang="es-ES" altLang="es-PE" sz="2400" dirty="0">
                <a:solidFill>
                  <a:schemeClr val="tx1"/>
                </a:solidFill>
                <a:latin typeface="Chevin-Medium"/>
              </a:rPr>
              <a:t>Identifica características relevantes</a:t>
            </a:r>
          </a:p>
          <a:p>
            <a:pPr marL="914400" lvl="1" indent="-457200">
              <a:buFont typeface="Wingdings" panose="05000000000000000000" pitchFamily="2" charset="2"/>
              <a:buChar char="ü"/>
            </a:pPr>
            <a:r>
              <a:rPr lang="es-ES" altLang="es-PE" sz="2400" dirty="0">
                <a:solidFill>
                  <a:schemeClr val="tx1"/>
                </a:solidFill>
                <a:latin typeface="Chevin-Medium"/>
              </a:rPr>
              <a:t>Elimina características redundantes</a:t>
            </a:r>
          </a:p>
          <a:p>
            <a:pPr marL="914400" lvl="1" indent="-457200">
              <a:buFont typeface="Wingdings" panose="05000000000000000000" pitchFamily="2" charset="2"/>
              <a:buChar char="ü"/>
            </a:pPr>
            <a:r>
              <a:rPr lang="es-ES" altLang="es-PE" sz="2400" dirty="0">
                <a:solidFill>
                  <a:schemeClr val="tx1"/>
                </a:solidFill>
                <a:latin typeface="Chevin-Medium"/>
              </a:rPr>
              <a:t>Simplifica el modelo</a:t>
            </a:r>
          </a:p>
          <a:p>
            <a:pPr marL="457200" indent="-457200">
              <a:buFont typeface="+mj-lt"/>
              <a:buAutoNum type="arabicPeriod"/>
            </a:pPr>
            <a:r>
              <a:rPr lang="es-ES" altLang="es-PE" sz="2400" b="1" dirty="0">
                <a:solidFill>
                  <a:schemeClr val="tx1"/>
                </a:solidFill>
                <a:latin typeface="Chevin-Medium"/>
              </a:rPr>
              <a:t>Estabilidad del Modelo:</a:t>
            </a:r>
          </a:p>
          <a:p>
            <a:pPr marL="914400" lvl="1" indent="-457200">
              <a:buFont typeface="Wingdings" panose="05000000000000000000" pitchFamily="2" charset="2"/>
              <a:buChar char="ü"/>
            </a:pPr>
            <a:r>
              <a:rPr lang="es-ES" altLang="es-PE" sz="2400" dirty="0">
                <a:solidFill>
                  <a:schemeClr val="tx1"/>
                </a:solidFill>
                <a:latin typeface="Chevin-Medium"/>
              </a:rPr>
              <a:t>Reduce la sensibilidad a </a:t>
            </a:r>
            <a:r>
              <a:rPr lang="es-ES" altLang="es-PE" sz="2400" dirty="0" err="1">
                <a:solidFill>
                  <a:schemeClr val="tx1"/>
                </a:solidFill>
                <a:latin typeface="Chevin-Medium"/>
              </a:rPr>
              <a:t>outliers</a:t>
            </a:r>
            <a:endParaRPr lang="es-ES" altLang="es-PE" sz="2400" dirty="0">
              <a:solidFill>
                <a:schemeClr val="tx1"/>
              </a:solidFill>
              <a:latin typeface="Chevin-Medium"/>
            </a:endParaRPr>
          </a:p>
          <a:p>
            <a:pPr marL="914400" lvl="1" indent="-457200">
              <a:buFont typeface="Wingdings" panose="05000000000000000000" pitchFamily="2" charset="2"/>
              <a:buChar char="ü"/>
            </a:pPr>
            <a:r>
              <a:rPr lang="es-ES" altLang="es-PE" sz="2400" dirty="0">
                <a:solidFill>
                  <a:schemeClr val="tx1"/>
                </a:solidFill>
                <a:latin typeface="Chevin-Medium"/>
              </a:rPr>
              <a:t>Mejora la robustez del modelo</a:t>
            </a:r>
          </a:p>
          <a:p>
            <a:pPr marL="914400" lvl="1" indent="-457200">
              <a:buFont typeface="Wingdings" panose="05000000000000000000" pitchFamily="2" charset="2"/>
              <a:buChar char="ü"/>
            </a:pPr>
            <a:r>
              <a:rPr lang="es-ES" altLang="es-PE" sz="2400" dirty="0">
                <a:solidFill>
                  <a:schemeClr val="tx1"/>
                </a:solidFill>
                <a:latin typeface="Chevin-Medium"/>
              </a:rPr>
              <a:t>Aumenta la interpretabilidad</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Impacto de la Regularización</a:t>
            </a:r>
            <a:endParaRPr lang="es-MX" altLang="es-PE" sz="2800" dirty="0">
              <a:latin typeface="Chevin-DemiBold" pitchFamily="34" charset="0"/>
            </a:endParaRPr>
          </a:p>
        </p:txBody>
      </p:sp>
    </p:spTree>
    <p:extLst>
      <p:ext uri="{BB962C8B-B14F-4D97-AF65-F5344CB8AC3E}">
        <p14:creationId xmlns:p14="http://schemas.microsoft.com/office/powerpoint/2010/main" val="244414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416320"/>
          </a:xfrm>
          <a:prstGeom prst="rect">
            <a:avLst/>
          </a:prstGeom>
          <a:noFill/>
        </p:spPr>
        <p:txBody>
          <a:bodyPr wrap="square" rtlCol="0">
            <a:spAutoFit/>
          </a:bodyPr>
          <a:lstStyle/>
          <a:p>
            <a:r>
              <a:rPr lang="es-ES" altLang="es-PE" sz="2400" b="1" dirty="0">
                <a:solidFill>
                  <a:schemeClr val="tx1"/>
                </a:solidFill>
                <a:latin typeface="Chevin-Medium"/>
              </a:rPr>
              <a:t>Métricas de Rendimiento</a:t>
            </a:r>
          </a:p>
          <a:p>
            <a:pPr marL="457200" indent="-457200">
              <a:buFont typeface="+mj-lt"/>
              <a:buAutoNum type="arabicPeriod"/>
            </a:pPr>
            <a:r>
              <a:rPr lang="es-ES" altLang="es-PE" sz="2400" b="1" dirty="0">
                <a:solidFill>
                  <a:schemeClr val="tx1"/>
                </a:solidFill>
                <a:latin typeface="Chevin-Medium"/>
              </a:rPr>
              <a:t>Métricas de Clasificación:</a:t>
            </a:r>
          </a:p>
          <a:p>
            <a:pPr marL="914400" lvl="1" indent="-457200">
              <a:buFont typeface="Wingdings" panose="05000000000000000000" pitchFamily="2" charset="2"/>
              <a:buChar char="ü"/>
            </a:pPr>
            <a:r>
              <a:rPr lang="es-ES" altLang="es-PE" sz="2400" dirty="0">
                <a:solidFill>
                  <a:schemeClr val="tx1"/>
                </a:solidFill>
                <a:latin typeface="Chevin-Medium"/>
              </a:rPr>
              <a:t>Precisión, </a:t>
            </a:r>
            <a:r>
              <a:rPr lang="es-ES" altLang="es-PE" sz="2400" dirty="0" err="1">
                <a:solidFill>
                  <a:schemeClr val="tx1"/>
                </a:solidFill>
                <a:latin typeface="Chevin-Medium"/>
              </a:rPr>
              <a:t>Recall</a:t>
            </a:r>
            <a:r>
              <a:rPr lang="es-ES" altLang="es-PE" sz="2400" dirty="0">
                <a:solidFill>
                  <a:schemeClr val="tx1"/>
                </a:solidFill>
                <a:latin typeface="Chevin-Medium"/>
              </a:rPr>
              <a:t>, F1-Score</a:t>
            </a:r>
          </a:p>
          <a:p>
            <a:pPr marL="914400" lvl="1" indent="-457200">
              <a:buFont typeface="Wingdings" panose="05000000000000000000" pitchFamily="2" charset="2"/>
              <a:buChar char="ü"/>
            </a:pPr>
            <a:r>
              <a:rPr lang="es-ES" altLang="es-PE" sz="2400" dirty="0">
                <a:solidFill>
                  <a:schemeClr val="tx1"/>
                </a:solidFill>
                <a:latin typeface="Chevin-Medium"/>
              </a:rPr>
              <a:t>Área bajo la curva ROC</a:t>
            </a:r>
          </a:p>
          <a:p>
            <a:pPr marL="914400" lvl="1" indent="-457200">
              <a:buFont typeface="Wingdings" panose="05000000000000000000" pitchFamily="2" charset="2"/>
              <a:buChar char="ü"/>
            </a:pPr>
            <a:r>
              <a:rPr lang="es-ES" altLang="es-PE" sz="2400" dirty="0">
                <a:solidFill>
                  <a:schemeClr val="tx1"/>
                </a:solidFill>
                <a:latin typeface="Chevin-Medium"/>
              </a:rPr>
              <a:t>Matriz de confusión</a:t>
            </a:r>
          </a:p>
          <a:p>
            <a:pPr marL="457200" indent="-457200">
              <a:buFont typeface="+mj-lt"/>
              <a:buAutoNum type="arabicPeriod"/>
            </a:pPr>
            <a:r>
              <a:rPr lang="es-ES" altLang="es-PE" sz="2400" b="1" dirty="0">
                <a:solidFill>
                  <a:schemeClr val="tx1"/>
                </a:solidFill>
                <a:latin typeface="Chevin-Medium"/>
              </a:rPr>
              <a:t>Métricas de Regresión:</a:t>
            </a:r>
          </a:p>
          <a:p>
            <a:pPr marL="914400" lvl="1" indent="-457200">
              <a:buFont typeface="Wingdings" panose="05000000000000000000" pitchFamily="2" charset="2"/>
              <a:buChar char="ü"/>
            </a:pPr>
            <a:r>
              <a:rPr lang="es-ES" altLang="es-PE" sz="2400" dirty="0">
                <a:solidFill>
                  <a:schemeClr val="tx1"/>
                </a:solidFill>
                <a:latin typeface="Chevin-Medium"/>
              </a:rPr>
              <a:t>Error cuadrático medio (MSE)</a:t>
            </a:r>
          </a:p>
          <a:p>
            <a:pPr marL="914400" lvl="1" indent="-457200">
              <a:buFont typeface="Wingdings" panose="05000000000000000000" pitchFamily="2" charset="2"/>
              <a:buChar char="ü"/>
            </a:pPr>
            <a:r>
              <a:rPr lang="es-ES" altLang="es-PE" sz="2400" dirty="0">
                <a:solidFill>
                  <a:schemeClr val="tx1"/>
                </a:solidFill>
                <a:latin typeface="Chevin-Medium"/>
              </a:rPr>
              <a:t>Error absoluto medio (MAE)</a:t>
            </a:r>
          </a:p>
          <a:p>
            <a:pPr marL="914400" lvl="1" indent="-457200">
              <a:buFont typeface="Wingdings" panose="05000000000000000000" pitchFamily="2" charset="2"/>
              <a:buChar char="ü"/>
            </a:pPr>
            <a:r>
              <a:rPr lang="es-ES" altLang="es-PE" sz="2400" dirty="0">
                <a:solidFill>
                  <a:schemeClr val="tx1"/>
                </a:solidFill>
                <a:latin typeface="Chevin-Medium"/>
              </a:rPr>
              <a:t>R-cuadrado</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Evaluación y Validación</a:t>
            </a:r>
            <a:endParaRPr lang="es-MX" altLang="es-PE" sz="2800" dirty="0">
              <a:latin typeface="Chevin-DemiBold" pitchFamily="34" charset="0"/>
            </a:endParaRPr>
          </a:p>
        </p:txBody>
      </p:sp>
    </p:spTree>
    <p:extLst>
      <p:ext uri="{BB962C8B-B14F-4D97-AF65-F5344CB8AC3E}">
        <p14:creationId xmlns:p14="http://schemas.microsoft.com/office/powerpoint/2010/main" val="3646197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719B8-0B1B-DF4F-D121-50D7FBB2B77B}"/>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685A6F17-A157-BDCE-C09B-8A54B8F54EB8}"/>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78C5D0E-031C-B4A3-86C5-2B4B650A46D8}"/>
              </a:ext>
            </a:extLst>
          </p:cNvPr>
          <p:cNvSpPr txBox="1"/>
          <p:nvPr/>
        </p:nvSpPr>
        <p:spPr>
          <a:xfrm>
            <a:off x="722798" y="1713153"/>
            <a:ext cx="10671343" cy="4893647"/>
          </a:xfrm>
          <a:prstGeom prst="rect">
            <a:avLst/>
          </a:prstGeom>
          <a:noFill/>
        </p:spPr>
        <p:txBody>
          <a:bodyPr wrap="square" rtlCol="0">
            <a:spAutoFit/>
          </a:bodyPr>
          <a:lstStyle/>
          <a:p>
            <a:r>
              <a:rPr lang="es-MX" altLang="es-PE" sz="2400" dirty="0">
                <a:solidFill>
                  <a:schemeClr val="tx1"/>
                </a:solidFill>
                <a:latin typeface="Chevin-Medium"/>
              </a:rPr>
              <a:t>La ingeniería de características transformar los datos originales en un formato que maximice el rendimiento del modelo. Este proceso incluye la creación, selección y transformación de características relevantes, esencial para garantizar que los datos capturen adecuadamente las relaciones subyacentes en el problema.</a:t>
            </a:r>
          </a:p>
          <a:p>
            <a:endParaRPr lang="es-MX" altLang="es-PE" sz="2400" dirty="0">
              <a:latin typeface="Chevin-Medium"/>
            </a:endParaRPr>
          </a:p>
          <a:p>
            <a:r>
              <a:rPr lang="es-MX" altLang="es-PE" sz="2400" b="1" dirty="0">
                <a:solidFill>
                  <a:schemeClr val="tx1"/>
                </a:solidFill>
                <a:latin typeface="Chevin-Medium"/>
              </a:rPr>
              <a:t>Técnicas comunes en ingeniería de características</a:t>
            </a:r>
          </a:p>
          <a:p>
            <a:endParaRPr lang="es-ES" altLang="es-PE" sz="2400" dirty="0">
              <a:solidFill>
                <a:schemeClr val="tx1"/>
              </a:solidFill>
              <a:latin typeface="Chevin-Medium"/>
            </a:endParaRPr>
          </a:p>
          <a:p>
            <a:r>
              <a:rPr lang="es-ES" altLang="es-PE" sz="2400" b="1" dirty="0">
                <a:solidFill>
                  <a:schemeClr val="tx1"/>
                </a:solidFill>
                <a:latin typeface="Chevin-Medium"/>
              </a:rPr>
              <a:t>1. Escalado de datos</a:t>
            </a:r>
          </a:p>
          <a:p>
            <a:pPr lvl="1"/>
            <a:r>
              <a:rPr lang="es-MX" altLang="es-PE" sz="2400" dirty="0">
                <a:solidFill>
                  <a:schemeClr val="tx1"/>
                </a:solidFill>
                <a:latin typeface="Chevin-Medium"/>
              </a:rPr>
              <a:t>Normalizar o estandarizar características asegura que todas las variables tengan igual importancia en el modelo, evitando que aquellas con rangos más amplios dominen el proceso de aprendizaje. </a:t>
            </a:r>
            <a:endParaRPr lang="es-MX" altLang="es-PE" sz="2400" dirty="0">
              <a:latin typeface="Chevin-Medium"/>
            </a:endParaRPr>
          </a:p>
          <a:p>
            <a:pPr marL="800100" lvl="1" indent="-342900">
              <a:buFont typeface="Arial" panose="020B0604020202020204" pitchFamily="34" charset="0"/>
              <a:buChar char="•"/>
            </a:pPr>
            <a:r>
              <a:rPr lang="es-MX" altLang="es-PE" sz="2400" dirty="0">
                <a:solidFill>
                  <a:schemeClr val="tx1"/>
                </a:solidFill>
                <a:latin typeface="Chevin-Medium"/>
              </a:rPr>
              <a:t>Uso de </a:t>
            </a:r>
            <a:r>
              <a:rPr lang="es-MX" altLang="es-PE" sz="2400" dirty="0" err="1">
                <a:solidFill>
                  <a:schemeClr val="tx1"/>
                </a:solidFill>
                <a:latin typeface="Chevin-Medium"/>
              </a:rPr>
              <a:t>StandardScaler</a:t>
            </a:r>
            <a:r>
              <a:rPr lang="es-MX" altLang="es-PE" sz="2400" dirty="0">
                <a:solidFill>
                  <a:schemeClr val="tx1"/>
                </a:solidFill>
                <a:latin typeface="Chevin-Medium"/>
              </a:rPr>
              <a:t> o </a:t>
            </a:r>
            <a:r>
              <a:rPr lang="es-MX" altLang="es-PE" sz="2400" dirty="0" err="1">
                <a:solidFill>
                  <a:schemeClr val="tx1"/>
                </a:solidFill>
                <a:latin typeface="Chevin-Medium"/>
              </a:rPr>
              <a:t>MinMaxScaler</a:t>
            </a:r>
            <a:r>
              <a:rPr lang="es-MX" altLang="es-PE" sz="2400" dirty="0">
                <a:solidFill>
                  <a:schemeClr val="tx1"/>
                </a:solidFill>
                <a:latin typeface="Chevin-Medium"/>
              </a:rPr>
              <a:t> (Python) para normalizar las características.</a:t>
            </a:r>
            <a:endParaRPr lang="es-ES" altLang="es-PE" sz="2400" b="1" dirty="0">
              <a:solidFill>
                <a:schemeClr val="tx1"/>
              </a:solidFill>
              <a:latin typeface="Chevin-Medium"/>
            </a:endParaRPr>
          </a:p>
        </p:txBody>
      </p:sp>
      <p:sp>
        <p:nvSpPr>
          <p:cNvPr id="5" name="Rectangle 2050">
            <a:extLst>
              <a:ext uri="{FF2B5EF4-FFF2-40B4-BE49-F238E27FC236}">
                <a16:creationId xmlns:a16="http://schemas.microsoft.com/office/drawing/2014/main" id="{0B0D6F3E-6EE3-8C7A-FE63-6EA3212C908C}"/>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Ingeniería de Características (</a:t>
            </a:r>
            <a:r>
              <a:rPr lang="es-MX" altLang="es-PE" sz="2800" dirty="0" err="1">
                <a:latin typeface="Chevin-DemiBold" pitchFamily="34" charset="0"/>
              </a:rPr>
              <a:t>Feature</a:t>
            </a:r>
            <a:r>
              <a:rPr lang="es-MX" altLang="es-PE" sz="2800" dirty="0">
                <a:latin typeface="Chevin-DemiBold" pitchFamily="34" charset="0"/>
              </a:rPr>
              <a:t> </a:t>
            </a:r>
            <a:r>
              <a:rPr lang="es-MX" altLang="es-PE" sz="2800" dirty="0" err="1">
                <a:latin typeface="Chevin-DemiBold" pitchFamily="34" charset="0"/>
              </a:rPr>
              <a:t>Engineering</a:t>
            </a:r>
            <a:r>
              <a:rPr lang="es-MX" altLang="es-PE" sz="2800" dirty="0">
                <a:latin typeface="Chevin-DemiBold" pitchFamily="34" charset="0"/>
              </a:rPr>
              <a:t>)</a:t>
            </a:r>
          </a:p>
        </p:txBody>
      </p:sp>
    </p:spTree>
    <p:extLst>
      <p:ext uri="{BB962C8B-B14F-4D97-AF65-F5344CB8AC3E}">
        <p14:creationId xmlns:p14="http://schemas.microsoft.com/office/powerpoint/2010/main" val="65030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A9BED-2428-0587-BB9B-24E4A1C8C880}"/>
            </a:ext>
          </a:extLst>
        </p:cNvPr>
        <p:cNvGrpSpPr/>
        <p:nvPr/>
      </p:nvGrpSpPr>
      <p:grpSpPr>
        <a:xfrm>
          <a:off x="0" y="0"/>
          <a:ext cx="0" cy="0"/>
          <a:chOff x="0" y="0"/>
          <a:chExt cx="0" cy="0"/>
        </a:xfrm>
      </p:grpSpPr>
      <p:sp>
        <p:nvSpPr>
          <p:cNvPr id="9218" name="Rectangle 2050">
            <a:extLst>
              <a:ext uri="{FF2B5EF4-FFF2-40B4-BE49-F238E27FC236}">
                <a16:creationId xmlns:a16="http://schemas.microsoft.com/office/drawing/2014/main" id="{4F7EE73F-6340-2D8E-9C3B-A290334C99E6}"/>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79503B73-3833-0A00-8064-2B530BAE53F5}"/>
              </a:ext>
            </a:extLst>
          </p:cNvPr>
          <p:cNvSpPr txBox="1"/>
          <p:nvPr/>
        </p:nvSpPr>
        <p:spPr>
          <a:xfrm>
            <a:off x="722798" y="1713153"/>
            <a:ext cx="10671343" cy="5047536"/>
          </a:xfrm>
          <a:prstGeom prst="rect">
            <a:avLst/>
          </a:prstGeom>
          <a:noFill/>
        </p:spPr>
        <p:txBody>
          <a:bodyPr wrap="square" rtlCol="0">
            <a:spAutoFit/>
          </a:bodyPr>
          <a:lstStyle/>
          <a:p>
            <a:r>
              <a:rPr lang="es-MX" altLang="es-PE" sz="2300" b="1" dirty="0">
                <a:solidFill>
                  <a:schemeClr val="tx1"/>
                </a:solidFill>
                <a:latin typeface="Chevin-Medium"/>
              </a:rPr>
              <a:t>Técnicas comunes en ingeniería de características</a:t>
            </a:r>
          </a:p>
          <a:p>
            <a:endParaRPr lang="es-ES" altLang="es-PE" sz="2300" dirty="0">
              <a:solidFill>
                <a:schemeClr val="tx1"/>
              </a:solidFill>
              <a:latin typeface="Chevin-Medium"/>
            </a:endParaRPr>
          </a:p>
          <a:p>
            <a:r>
              <a:rPr lang="es-ES" altLang="es-PE" sz="2300" b="1" dirty="0">
                <a:latin typeface="Chevin-Medium"/>
              </a:rPr>
              <a:t>2</a:t>
            </a:r>
            <a:r>
              <a:rPr lang="es-ES" altLang="es-PE" sz="2300" b="1" dirty="0">
                <a:solidFill>
                  <a:schemeClr val="tx1"/>
                </a:solidFill>
                <a:latin typeface="Chevin-Medium"/>
              </a:rPr>
              <a:t>. Creación de nuevas características</a:t>
            </a:r>
          </a:p>
          <a:p>
            <a:pPr lvl="1"/>
            <a:r>
              <a:rPr lang="es-MX" altLang="es-PE" sz="2300" dirty="0">
                <a:solidFill>
                  <a:schemeClr val="tx1"/>
                </a:solidFill>
                <a:latin typeface="Chevin-Medium"/>
              </a:rPr>
              <a:t>Generar características adicionales puede permitir que el modelo capture relaciones no evidentes en los datos originales.</a:t>
            </a:r>
          </a:p>
          <a:p>
            <a:pPr marL="800100" lvl="1" indent="-342900">
              <a:buFont typeface="Arial" panose="020B0604020202020204" pitchFamily="34" charset="0"/>
              <a:buChar char="•"/>
            </a:pPr>
            <a:r>
              <a:rPr lang="es-MX" altLang="es-PE" sz="2300" dirty="0">
                <a:solidFill>
                  <a:schemeClr val="tx1"/>
                </a:solidFill>
                <a:latin typeface="Chevin-Medium"/>
              </a:rPr>
              <a:t>Interacciones entre variables, logaritmos, o transformaciones cuadráticas.</a:t>
            </a:r>
            <a:endParaRPr lang="es-ES" altLang="es-PE" sz="2300" b="1" dirty="0">
              <a:latin typeface="Chevin-Medium"/>
            </a:endParaRPr>
          </a:p>
          <a:p>
            <a:pPr marL="800100" lvl="1" indent="-342900">
              <a:buFont typeface="Arial" panose="020B0604020202020204" pitchFamily="34" charset="0"/>
              <a:buChar char="•"/>
            </a:pPr>
            <a:endParaRPr lang="es-ES" altLang="es-PE" sz="2300" b="1" dirty="0">
              <a:solidFill>
                <a:schemeClr val="tx1"/>
              </a:solidFill>
              <a:latin typeface="Chevin-Medium"/>
            </a:endParaRPr>
          </a:p>
          <a:p>
            <a:r>
              <a:rPr lang="es-ES" altLang="es-PE" sz="2300" b="1" dirty="0">
                <a:solidFill>
                  <a:schemeClr val="tx1"/>
                </a:solidFill>
                <a:latin typeface="Chevin-Medium"/>
              </a:rPr>
              <a:t>3. Eliminación de características irrelevantes</a:t>
            </a:r>
          </a:p>
          <a:p>
            <a:pPr lvl="1"/>
            <a:r>
              <a:rPr lang="es-MX" altLang="es-PE" sz="2300" dirty="0">
                <a:solidFill>
                  <a:schemeClr val="tx1"/>
                </a:solidFill>
                <a:latin typeface="Chevin-Medium"/>
              </a:rPr>
              <a:t>Identificar y eliminar variables que no aportan valor al modelo ayuda a reducir el ruido y mejorar la interpretabilidad.</a:t>
            </a:r>
          </a:p>
          <a:p>
            <a:pPr marL="800100" lvl="1" indent="-342900">
              <a:buFont typeface="Arial" panose="020B0604020202020204" pitchFamily="34" charset="0"/>
              <a:buChar char="•"/>
            </a:pPr>
            <a:r>
              <a:rPr lang="es-MX" altLang="es-PE" sz="2300" dirty="0">
                <a:solidFill>
                  <a:schemeClr val="tx1"/>
                </a:solidFill>
                <a:latin typeface="Chevin-Medium"/>
              </a:rPr>
              <a:t>Uso de algoritmos como Random Forest para evaluar la importancia de características. </a:t>
            </a:r>
          </a:p>
          <a:p>
            <a:pPr marL="800100" lvl="1" indent="-342900">
              <a:buFont typeface="Arial" panose="020B0604020202020204" pitchFamily="34" charset="0"/>
              <a:buChar char="•"/>
            </a:pPr>
            <a:r>
              <a:rPr lang="es-MX" altLang="es-PE" sz="2300" dirty="0">
                <a:solidFill>
                  <a:schemeClr val="tx1"/>
                </a:solidFill>
                <a:latin typeface="Chevin-Medium"/>
              </a:rPr>
              <a:t>Utilizar técnicas como análisis de para filtrar características redundantes en conjuntos de datos masivos.</a:t>
            </a:r>
          </a:p>
        </p:txBody>
      </p:sp>
      <p:sp>
        <p:nvSpPr>
          <p:cNvPr id="5" name="Rectangle 2050">
            <a:extLst>
              <a:ext uri="{FF2B5EF4-FFF2-40B4-BE49-F238E27FC236}">
                <a16:creationId xmlns:a16="http://schemas.microsoft.com/office/drawing/2014/main" id="{7A5EAD6D-62F7-ABC5-DDCF-4EB6D0F10A87}"/>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MX" altLang="es-PE" sz="2800" dirty="0">
                <a:latin typeface="Chevin-DemiBold" pitchFamily="34" charset="0"/>
              </a:rPr>
              <a:t>Ingeniería de Características (</a:t>
            </a:r>
            <a:r>
              <a:rPr lang="es-MX" altLang="es-PE" sz="2800" dirty="0" err="1">
                <a:latin typeface="Chevin-DemiBold" pitchFamily="34" charset="0"/>
              </a:rPr>
              <a:t>Feature</a:t>
            </a:r>
            <a:r>
              <a:rPr lang="es-MX" altLang="es-PE" sz="2800" dirty="0">
                <a:latin typeface="Chevin-DemiBold" pitchFamily="34" charset="0"/>
              </a:rPr>
              <a:t> </a:t>
            </a:r>
            <a:r>
              <a:rPr lang="es-MX" altLang="es-PE" sz="2800" dirty="0" err="1">
                <a:latin typeface="Chevin-DemiBold" pitchFamily="34" charset="0"/>
              </a:rPr>
              <a:t>Engineering</a:t>
            </a:r>
            <a:r>
              <a:rPr lang="es-MX" altLang="es-PE" sz="2800" dirty="0">
                <a:latin typeface="Chevin-DemiBold" pitchFamily="34" charset="0"/>
              </a:rPr>
              <a:t>)</a:t>
            </a:r>
          </a:p>
        </p:txBody>
      </p:sp>
    </p:spTree>
    <p:extLst>
      <p:ext uri="{BB962C8B-B14F-4D97-AF65-F5344CB8AC3E}">
        <p14:creationId xmlns:p14="http://schemas.microsoft.com/office/powerpoint/2010/main" val="3292848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416320"/>
          </a:xfrm>
          <a:prstGeom prst="rect">
            <a:avLst/>
          </a:prstGeom>
          <a:noFill/>
        </p:spPr>
        <p:txBody>
          <a:bodyPr wrap="square" rtlCol="0">
            <a:spAutoFit/>
          </a:bodyPr>
          <a:lstStyle/>
          <a:p>
            <a:r>
              <a:rPr lang="es-ES" altLang="es-PE" sz="2400" b="1" dirty="0">
                <a:solidFill>
                  <a:schemeClr val="tx1"/>
                </a:solidFill>
                <a:latin typeface="Chevin-Medium"/>
              </a:rPr>
              <a:t>Técnicas de Validación</a:t>
            </a:r>
          </a:p>
          <a:p>
            <a:pPr marL="457200" indent="-457200">
              <a:buFont typeface="+mj-lt"/>
              <a:buAutoNum type="arabicPeriod"/>
            </a:pPr>
            <a:r>
              <a:rPr lang="es-ES" altLang="es-PE" sz="2400" b="1" dirty="0">
                <a:solidFill>
                  <a:schemeClr val="tx1"/>
                </a:solidFill>
                <a:latin typeface="Chevin-Medium"/>
              </a:rPr>
              <a:t>Validación Cruzada:</a:t>
            </a:r>
          </a:p>
          <a:p>
            <a:pPr marL="914400" lvl="1" indent="-457200">
              <a:buFont typeface="Wingdings" panose="05000000000000000000" pitchFamily="2" charset="2"/>
              <a:buChar char="ü"/>
            </a:pPr>
            <a:r>
              <a:rPr lang="es-ES" altLang="es-PE" sz="2400" dirty="0">
                <a:solidFill>
                  <a:schemeClr val="tx1"/>
                </a:solidFill>
                <a:latin typeface="Chevin-Medium"/>
              </a:rPr>
              <a:t>K-</a:t>
            </a:r>
            <a:r>
              <a:rPr lang="es-ES" altLang="es-PE" sz="2400" dirty="0" err="1">
                <a:solidFill>
                  <a:schemeClr val="tx1"/>
                </a:solidFill>
                <a:latin typeface="Chevin-Medium"/>
              </a:rPr>
              <a:t>fold</a:t>
            </a:r>
            <a:r>
              <a:rPr lang="es-ES" altLang="es-PE" sz="2400" dirty="0">
                <a:solidFill>
                  <a:schemeClr val="tx1"/>
                </a:solidFill>
                <a:latin typeface="Chevin-Medium"/>
              </a:rPr>
              <a:t> </a:t>
            </a:r>
            <a:r>
              <a:rPr lang="es-ES" altLang="es-PE" sz="2400" dirty="0" err="1">
                <a:solidFill>
                  <a:schemeClr val="tx1"/>
                </a:solidFill>
                <a:latin typeface="Chevin-Medium"/>
              </a:rPr>
              <a:t>cross-validation</a:t>
            </a:r>
            <a:endParaRPr lang="es-ES" altLang="es-PE" sz="2400" dirty="0">
              <a:solidFill>
                <a:schemeClr val="tx1"/>
              </a:solidFill>
              <a:latin typeface="Chevin-Medium"/>
            </a:endParaRPr>
          </a:p>
          <a:p>
            <a:pPr marL="914400" lvl="1" indent="-457200">
              <a:buFont typeface="Wingdings" panose="05000000000000000000" pitchFamily="2" charset="2"/>
              <a:buChar char="ü"/>
            </a:pPr>
            <a:r>
              <a:rPr lang="es-ES" altLang="es-PE" sz="2400" dirty="0" err="1">
                <a:solidFill>
                  <a:schemeClr val="tx1"/>
                </a:solidFill>
                <a:latin typeface="Chevin-Medium"/>
              </a:rPr>
              <a:t>Leave-one-out</a:t>
            </a:r>
            <a:r>
              <a:rPr lang="es-ES" altLang="es-PE" sz="2400" dirty="0">
                <a:solidFill>
                  <a:schemeClr val="tx1"/>
                </a:solidFill>
                <a:latin typeface="Chevin-Medium"/>
              </a:rPr>
              <a:t> </a:t>
            </a:r>
            <a:r>
              <a:rPr lang="es-ES" altLang="es-PE" sz="2400" dirty="0" err="1">
                <a:solidFill>
                  <a:schemeClr val="tx1"/>
                </a:solidFill>
                <a:latin typeface="Chevin-Medium"/>
              </a:rPr>
              <a:t>cross-validation</a:t>
            </a:r>
            <a:endParaRPr lang="es-ES" altLang="es-PE" sz="2400" dirty="0">
              <a:solidFill>
                <a:schemeClr val="tx1"/>
              </a:solidFill>
              <a:latin typeface="Chevin-Medium"/>
            </a:endParaRPr>
          </a:p>
          <a:p>
            <a:pPr marL="914400" lvl="1" indent="-457200">
              <a:buFont typeface="Wingdings" panose="05000000000000000000" pitchFamily="2" charset="2"/>
              <a:buChar char="ü"/>
            </a:pPr>
            <a:r>
              <a:rPr lang="es-ES" altLang="es-PE" sz="2400" dirty="0">
                <a:solidFill>
                  <a:schemeClr val="tx1"/>
                </a:solidFill>
                <a:latin typeface="Chevin-Medium"/>
              </a:rPr>
              <a:t>Validación estratificada</a:t>
            </a:r>
          </a:p>
          <a:p>
            <a:pPr marL="457200" indent="-457200">
              <a:buFont typeface="+mj-lt"/>
              <a:buAutoNum type="arabicPeriod"/>
            </a:pPr>
            <a:r>
              <a:rPr lang="es-ES" altLang="es-PE" sz="2400" b="1" dirty="0" err="1">
                <a:solidFill>
                  <a:schemeClr val="tx1"/>
                </a:solidFill>
                <a:latin typeface="Chevin-Medium"/>
              </a:rPr>
              <a:t>Hold-out</a:t>
            </a:r>
            <a:r>
              <a:rPr lang="es-ES" altLang="es-PE" sz="2400" b="1" dirty="0">
                <a:solidFill>
                  <a:schemeClr val="tx1"/>
                </a:solidFill>
                <a:latin typeface="Chevin-Medium"/>
              </a:rPr>
              <a:t> </a:t>
            </a:r>
            <a:r>
              <a:rPr lang="es-ES" altLang="es-PE" sz="2400" b="1" dirty="0" err="1">
                <a:solidFill>
                  <a:schemeClr val="tx1"/>
                </a:solidFill>
                <a:latin typeface="Chevin-Medium"/>
              </a:rPr>
              <a:t>Validation</a:t>
            </a:r>
            <a:r>
              <a:rPr lang="es-ES" altLang="es-PE" sz="2400" b="1" dirty="0">
                <a:solidFill>
                  <a:schemeClr val="tx1"/>
                </a:solidFill>
                <a:latin typeface="Chevin-Medium"/>
              </a:rPr>
              <a:t>:</a:t>
            </a:r>
          </a:p>
          <a:p>
            <a:pPr marL="914400" lvl="1" indent="-457200">
              <a:buFont typeface="Wingdings" panose="05000000000000000000" pitchFamily="2" charset="2"/>
              <a:buChar char="ü"/>
            </a:pPr>
            <a:r>
              <a:rPr lang="es-ES" altLang="es-PE" sz="2400" dirty="0">
                <a:solidFill>
                  <a:schemeClr val="tx1"/>
                </a:solidFill>
                <a:latin typeface="Chevin-Medium"/>
              </a:rPr>
              <a:t>División en conjuntos de entrenamiento/validación/prueba</a:t>
            </a:r>
          </a:p>
          <a:p>
            <a:pPr marL="914400" lvl="1" indent="-457200">
              <a:buFont typeface="Wingdings" panose="05000000000000000000" pitchFamily="2" charset="2"/>
              <a:buChar char="ü"/>
            </a:pPr>
            <a:r>
              <a:rPr lang="es-ES" altLang="es-PE" sz="2400" dirty="0">
                <a:solidFill>
                  <a:schemeClr val="tx1"/>
                </a:solidFill>
                <a:latin typeface="Chevin-Medium"/>
              </a:rPr>
              <a:t>Importancia de la aleatoriedad en la división</a:t>
            </a:r>
          </a:p>
          <a:p>
            <a:pPr marL="914400" lvl="1" indent="-457200">
              <a:buFont typeface="Wingdings" panose="05000000000000000000" pitchFamily="2" charset="2"/>
              <a:buChar char="ü"/>
            </a:pPr>
            <a:r>
              <a:rPr lang="es-ES" altLang="es-PE" sz="2400" dirty="0">
                <a:solidFill>
                  <a:schemeClr val="tx1"/>
                </a:solidFill>
                <a:latin typeface="Chevin-Medium"/>
              </a:rPr>
              <a:t>Consideraciones de temporalidad en datos de series temporales</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Evaluación y Validación</a:t>
            </a:r>
            <a:endParaRPr lang="es-MX" altLang="es-PE" sz="2800" dirty="0">
              <a:latin typeface="Chevin-DemiBold" pitchFamily="34" charset="0"/>
            </a:endParaRPr>
          </a:p>
        </p:txBody>
      </p:sp>
    </p:spTree>
    <p:extLst>
      <p:ext uri="{BB962C8B-B14F-4D97-AF65-F5344CB8AC3E}">
        <p14:creationId xmlns:p14="http://schemas.microsoft.com/office/powerpoint/2010/main" val="3401571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046988"/>
          </a:xfrm>
          <a:prstGeom prst="rect">
            <a:avLst/>
          </a:prstGeom>
          <a:noFill/>
        </p:spPr>
        <p:txBody>
          <a:bodyPr wrap="square" rtlCol="0">
            <a:spAutoFit/>
          </a:bodyPr>
          <a:lstStyle/>
          <a:p>
            <a:pPr marL="457200" indent="-457200">
              <a:buFont typeface="+mj-lt"/>
              <a:buAutoNum type="arabicPeriod"/>
            </a:pPr>
            <a:r>
              <a:rPr lang="es-ES" altLang="es-PE" sz="2400" b="1" dirty="0">
                <a:solidFill>
                  <a:schemeClr val="tx1"/>
                </a:solidFill>
                <a:latin typeface="Chevin-Medium"/>
              </a:rPr>
              <a:t>Preparación de Datos:</a:t>
            </a:r>
          </a:p>
          <a:p>
            <a:pPr marL="914400" lvl="1" indent="-457200">
              <a:buFont typeface="Wingdings" panose="05000000000000000000" pitchFamily="2" charset="2"/>
              <a:buChar char="ü"/>
            </a:pPr>
            <a:r>
              <a:rPr lang="es-ES" altLang="es-PE" sz="2400" dirty="0">
                <a:solidFill>
                  <a:schemeClr val="tx1"/>
                </a:solidFill>
                <a:latin typeface="Chevin-Medium"/>
              </a:rPr>
              <a:t>Limpieza y preprocesamiento adecuado</a:t>
            </a:r>
          </a:p>
          <a:p>
            <a:pPr marL="914400" lvl="1" indent="-457200">
              <a:buFont typeface="Wingdings" panose="05000000000000000000" pitchFamily="2" charset="2"/>
              <a:buChar char="ü"/>
            </a:pPr>
            <a:r>
              <a:rPr lang="es-ES" altLang="es-PE" sz="2400" dirty="0">
                <a:solidFill>
                  <a:schemeClr val="tx1"/>
                </a:solidFill>
                <a:latin typeface="Chevin-Medium"/>
              </a:rPr>
              <a:t>Normalización/estandarización de características</a:t>
            </a:r>
          </a:p>
          <a:p>
            <a:pPr marL="914400" lvl="1" indent="-457200">
              <a:buFont typeface="Wingdings" panose="05000000000000000000" pitchFamily="2" charset="2"/>
              <a:buChar char="ü"/>
            </a:pPr>
            <a:r>
              <a:rPr lang="es-ES" altLang="es-PE" sz="2400" dirty="0">
                <a:solidFill>
                  <a:schemeClr val="tx1"/>
                </a:solidFill>
                <a:latin typeface="Chevin-Medium"/>
              </a:rPr>
              <a:t>Manejo de valores faltantes y </a:t>
            </a:r>
            <a:r>
              <a:rPr lang="es-ES" altLang="es-PE" sz="2400" dirty="0" err="1">
                <a:solidFill>
                  <a:schemeClr val="tx1"/>
                </a:solidFill>
                <a:latin typeface="Chevin-Medium"/>
              </a:rPr>
              <a:t>outliers</a:t>
            </a:r>
            <a:endParaRPr lang="es-ES" altLang="es-PE" sz="2400" dirty="0">
              <a:solidFill>
                <a:schemeClr val="tx1"/>
              </a:solidFill>
              <a:latin typeface="Chevin-Medium"/>
            </a:endParaRPr>
          </a:p>
          <a:p>
            <a:pPr marL="457200" indent="-457200">
              <a:buFont typeface="+mj-lt"/>
              <a:buAutoNum type="arabicPeriod"/>
            </a:pPr>
            <a:r>
              <a:rPr lang="es-ES" altLang="es-PE" sz="2400" b="1" dirty="0">
                <a:solidFill>
                  <a:schemeClr val="tx1"/>
                </a:solidFill>
                <a:latin typeface="Chevin-Medium"/>
              </a:rPr>
              <a:t>Selección del Modelo Base:</a:t>
            </a:r>
          </a:p>
          <a:p>
            <a:pPr marL="914400" lvl="1" indent="-457200">
              <a:buFont typeface="Wingdings" panose="05000000000000000000" pitchFamily="2" charset="2"/>
              <a:buChar char="ü"/>
            </a:pPr>
            <a:r>
              <a:rPr lang="es-ES" altLang="es-PE" sz="2400" dirty="0">
                <a:solidFill>
                  <a:schemeClr val="tx1"/>
                </a:solidFill>
                <a:latin typeface="Chevin-Medium"/>
              </a:rPr>
              <a:t>Considerar la naturaleza del problema</a:t>
            </a:r>
          </a:p>
          <a:p>
            <a:pPr marL="914400" lvl="1" indent="-457200">
              <a:buFont typeface="Wingdings" panose="05000000000000000000" pitchFamily="2" charset="2"/>
              <a:buChar char="ü"/>
            </a:pPr>
            <a:r>
              <a:rPr lang="es-ES" altLang="es-PE" sz="2400" dirty="0">
                <a:solidFill>
                  <a:schemeClr val="tx1"/>
                </a:solidFill>
                <a:latin typeface="Chevin-Medium"/>
              </a:rPr>
              <a:t>Evaluar restricciones computacionales</a:t>
            </a:r>
          </a:p>
          <a:p>
            <a:pPr marL="914400" lvl="1" indent="-457200">
              <a:buFont typeface="Wingdings" panose="05000000000000000000" pitchFamily="2" charset="2"/>
              <a:buChar char="ü"/>
            </a:pPr>
            <a:r>
              <a:rPr lang="es-ES" altLang="es-PE" sz="2400" dirty="0">
                <a:solidFill>
                  <a:schemeClr val="tx1"/>
                </a:solidFill>
                <a:latin typeface="Chevin-Medium"/>
              </a:rPr>
              <a:t>Tener en cuenta la interpretabilidad requerida</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Mejores Prácticas y Consideraciones</a:t>
            </a:r>
            <a:endParaRPr lang="es-MX" altLang="es-PE" sz="2800" dirty="0">
              <a:latin typeface="Chevin-DemiBold" pitchFamily="34" charset="0"/>
            </a:endParaRPr>
          </a:p>
        </p:txBody>
      </p:sp>
    </p:spTree>
    <p:extLst>
      <p:ext uri="{BB962C8B-B14F-4D97-AF65-F5344CB8AC3E}">
        <p14:creationId xmlns:p14="http://schemas.microsoft.com/office/powerpoint/2010/main" val="1937527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050">
            <a:extLst>
              <a:ext uri="{FF2B5EF4-FFF2-40B4-BE49-F238E27FC236}">
                <a16:creationId xmlns:a16="http://schemas.microsoft.com/office/drawing/2014/main" id="{57B32D3B-B320-4CB5-22CF-F0AEA261EEFD}"/>
              </a:ext>
            </a:extLst>
          </p:cNvPr>
          <p:cNvSpPr>
            <a:spLocks noGrp="1" noChangeArrowheads="1"/>
          </p:cNvSpPr>
          <p:nvPr>
            <p:ph type="title"/>
          </p:nvPr>
        </p:nvSpPr>
        <p:spPr>
          <a:xfrm>
            <a:off x="687803" y="240176"/>
            <a:ext cx="8789572" cy="892175"/>
          </a:xfrm>
        </p:spPr>
        <p:txBody>
          <a:bodyPr>
            <a:normAutofit/>
          </a:bodyPr>
          <a:lstStyle/>
          <a:p>
            <a:pPr eaLnBrk="1" hangingPunct="1"/>
            <a:r>
              <a:rPr lang="es-ES" altLang="es-PE" sz="3300" dirty="0">
                <a:latin typeface="Chevin-DemiBold" pitchFamily="34" charset="0"/>
              </a:rPr>
              <a:t>Técnicas de Optimización de Modelos Predictivos</a:t>
            </a:r>
            <a:endParaRPr lang="es-MX" altLang="es-PE" sz="3300" dirty="0">
              <a:latin typeface="Chevin-DemiBold" pitchFamily="34" charset="0"/>
            </a:endParaRPr>
          </a:p>
        </p:txBody>
      </p:sp>
      <p:sp>
        <p:nvSpPr>
          <p:cNvPr id="4" name="CuadroTexto 3">
            <a:extLst>
              <a:ext uri="{FF2B5EF4-FFF2-40B4-BE49-F238E27FC236}">
                <a16:creationId xmlns:a16="http://schemas.microsoft.com/office/drawing/2014/main" id="{09CF40B6-F13E-292E-CEA6-0837BE890BDE}"/>
              </a:ext>
            </a:extLst>
          </p:cNvPr>
          <p:cNvSpPr txBox="1"/>
          <p:nvPr/>
        </p:nvSpPr>
        <p:spPr>
          <a:xfrm>
            <a:off x="722798" y="1713153"/>
            <a:ext cx="10671343" cy="3046988"/>
          </a:xfrm>
          <a:prstGeom prst="rect">
            <a:avLst/>
          </a:prstGeom>
          <a:noFill/>
        </p:spPr>
        <p:txBody>
          <a:bodyPr wrap="square" rtlCol="0">
            <a:spAutoFit/>
          </a:bodyPr>
          <a:lstStyle/>
          <a:p>
            <a:pPr marL="457200" indent="-457200">
              <a:buFont typeface="+mj-lt"/>
              <a:buAutoNum type="arabicPeriod" startAt="3"/>
            </a:pPr>
            <a:r>
              <a:rPr lang="es-ES" altLang="es-PE" sz="2400" b="1" dirty="0">
                <a:solidFill>
                  <a:schemeClr val="tx1"/>
                </a:solidFill>
                <a:latin typeface="Chevin-Medium"/>
              </a:rPr>
              <a:t>Proceso de Optimización:</a:t>
            </a:r>
          </a:p>
          <a:p>
            <a:pPr marL="914400" lvl="1" indent="-457200">
              <a:buFont typeface="Wingdings" panose="05000000000000000000" pitchFamily="2" charset="2"/>
              <a:buChar char="ü"/>
            </a:pPr>
            <a:r>
              <a:rPr lang="es-ES" altLang="es-PE" sz="2400" dirty="0">
                <a:solidFill>
                  <a:schemeClr val="tx1"/>
                </a:solidFill>
                <a:latin typeface="Chevin-Medium"/>
              </a:rPr>
              <a:t>Comenzar con búsquedas amplias</a:t>
            </a:r>
          </a:p>
          <a:p>
            <a:pPr marL="914400" lvl="1" indent="-457200">
              <a:buFont typeface="Wingdings" panose="05000000000000000000" pitchFamily="2" charset="2"/>
              <a:buChar char="ü"/>
            </a:pPr>
            <a:r>
              <a:rPr lang="es-ES" altLang="es-PE" sz="2400" dirty="0">
                <a:solidFill>
                  <a:schemeClr val="tx1"/>
                </a:solidFill>
                <a:latin typeface="Chevin-Medium"/>
              </a:rPr>
              <a:t>Refinar progresivamente</a:t>
            </a:r>
          </a:p>
          <a:p>
            <a:pPr marL="914400" lvl="1" indent="-457200">
              <a:buFont typeface="Wingdings" panose="05000000000000000000" pitchFamily="2" charset="2"/>
              <a:buChar char="ü"/>
            </a:pPr>
            <a:r>
              <a:rPr lang="es-ES" altLang="es-PE" sz="2400" dirty="0">
                <a:solidFill>
                  <a:schemeClr val="tx1"/>
                </a:solidFill>
                <a:latin typeface="Chevin-Medium"/>
              </a:rPr>
              <a:t>Documentar resultados y decisiones</a:t>
            </a:r>
          </a:p>
          <a:p>
            <a:pPr marL="457200" indent="-457200">
              <a:buFont typeface="+mj-lt"/>
              <a:buAutoNum type="arabicPeriod" startAt="3"/>
            </a:pPr>
            <a:r>
              <a:rPr lang="es-ES" altLang="es-PE" sz="2400" b="1" dirty="0">
                <a:solidFill>
                  <a:schemeClr val="tx1"/>
                </a:solidFill>
                <a:latin typeface="Chevin-Medium"/>
              </a:rPr>
              <a:t>Monitoreo y Mantenimiento:</a:t>
            </a:r>
          </a:p>
          <a:p>
            <a:pPr marL="914400" lvl="1" indent="-457200">
              <a:buFont typeface="Wingdings" panose="05000000000000000000" pitchFamily="2" charset="2"/>
              <a:buChar char="ü"/>
            </a:pPr>
            <a:r>
              <a:rPr lang="es-ES" altLang="es-PE" sz="2400" dirty="0">
                <a:solidFill>
                  <a:schemeClr val="tx1"/>
                </a:solidFill>
                <a:latin typeface="Chevin-Medium"/>
              </a:rPr>
              <a:t>Seguimiento del rendimiento</a:t>
            </a:r>
          </a:p>
          <a:p>
            <a:pPr marL="914400" lvl="1" indent="-457200">
              <a:buFont typeface="Wingdings" panose="05000000000000000000" pitchFamily="2" charset="2"/>
              <a:buChar char="ü"/>
            </a:pPr>
            <a:r>
              <a:rPr lang="es-ES" altLang="es-PE" sz="2400" dirty="0">
                <a:solidFill>
                  <a:schemeClr val="tx1"/>
                </a:solidFill>
                <a:latin typeface="Chevin-Medium"/>
              </a:rPr>
              <a:t>Reentrenamiento periódico</a:t>
            </a:r>
          </a:p>
          <a:p>
            <a:pPr marL="914400" lvl="1" indent="-457200">
              <a:buFont typeface="Wingdings" panose="05000000000000000000" pitchFamily="2" charset="2"/>
              <a:buChar char="ü"/>
            </a:pPr>
            <a:r>
              <a:rPr lang="es-ES" altLang="es-PE" sz="2400" dirty="0">
                <a:solidFill>
                  <a:schemeClr val="tx1"/>
                </a:solidFill>
                <a:latin typeface="Chevin-Medium"/>
              </a:rPr>
              <a:t>Adaptación a cambios en los datos</a:t>
            </a:r>
          </a:p>
        </p:txBody>
      </p:sp>
      <p:sp>
        <p:nvSpPr>
          <p:cNvPr id="5" name="Rectangle 2050">
            <a:extLst>
              <a:ext uri="{FF2B5EF4-FFF2-40B4-BE49-F238E27FC236}">
                <a16:creationId xmlns:a16="http://schemas.microsoft.com/office/drawing/2014/main" id="{F8EB58A0-4AEE-41A9-A2CA-3C41D5C7B536}"/>
              </a:ext>
            </a:extLst>
          </p:cNvPr>
          <p:cNvSpPr txBox="1">
            <a:spLocks noChangeArrowheads="1"/>
          </p:cNvSpPr>
          <p:nvPr/>
        </p:nvSpPr>
        <p:spPr>
          <a:xfrm>
            <a:off x="722798" y="907369"/>
            <a:ext cx="8789572"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altLang="es-PE" sz="2800" dirty="0">
                <a:latin typeface="Chevin-DemiBold" pitchFamily="34" charset="0"/>
              </a:rPr>
              <a:t>Mejores Prácticas y Consideraciones</a:t>
            </a:r>
            <a:endParaRPr lang="es-MX" altLang="es-PE" sz="2800" dirty="0">
              <a:latin typeface="Chevin-DemiBold" pitchFamily="34" charset="0"/>
            </a:endParaRPr>
          </a:p>
        </p:txBody>
      </p:sp>
    </p:spTree>
    <p:extLst>
      <p:ext uri="{BB962C8B-B14F-4D97-AF65-F5344CB8AC3E}">
        <p14:creationId xmlns:p14="http://schemas.microsoft.com/office/powerpoint/2010/main" val="11553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4839</TotalTime>
  <Words>2123</Words>
  <Application>Microsoft Office PowerPoint</Application>
  <PresentationFormat>Panorámica</PresentationFormat>
  <Paragraphs>223</Paragraphs>
  <Slides>27</Slides>
  <Notes>24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27</vt:i4>
      </vt:variant>
    </vt:vector>
  </HeadingPairs>
  <TitlesOfParts>
    <vt:vector size="36" baseType="lpstr">
      <vt:lpstr>Aptos</vt:lpstr>
      <vt:lpstr>Arial</vt:lpstr>
      <vt:lpstr>Calibri</vt:lpstr>
      <vt:lpstr>Chevin-DemiBold</vt:lpstr>
      <vt:lpstr>Chevin-Medium</vt:lpstr>
      <vt:lpstr>Outfit</vt:lpstr>
      <vt:lpstr>Prompt</vt:lpstr>
      <vt:lpstr>Wingdings</vt:lpstr>
      <vt:lpstr>Tema de Office</vt:lpstr>
      <vt:lpstr>Presentación de PowerPoint</vt:lpstr>
      <vt:lpstr>Presentación de PowerPoint</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Técnicas de Optimización de Modelos Predictivos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Breynner Oliver Chavez</cp:lastModifiedBy>
  <cp:revision>177</cp:revision>
  <dcterms:created xsi:type="dcterms:W3CDTF">2022-04-19T18:02:09Z</dcterms:created>
  <dcterms:modified xsi:type="dcterms:W3CDTF">2025-01-04T00:45:46Z</dcterms:modified>
</cp:coreProperties>
</file>