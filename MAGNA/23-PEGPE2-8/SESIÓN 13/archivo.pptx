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2" r:id="rId3"/>
    <p:sldId id="263" r:id="rId4"/>
    <p:sldId id="490" r:id="rId5"/>
    <p:sldId id="488" r:id="rId6"/>
    <p:sldId id="562" r:id="rId7"/>
    <p:sldId id="563" r:id="rId8"/>
    <p:sldId id="564" r:id="rId9"/>
    <p:sldId id="565" r:id="rId10"/>
    <p:sldId id="566" r:id="rId11"/>
    <p:sldId id="567" r:id="rId12"/>
    <p:sldId id="568" r:id="rId13"/>
    <p:sldId id="260" r:id="rId1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6CCFEB-18AA-4EE0-896B-70E1BBA070B1}" type="datetimeFigureOut">
              <a:rPr lang="es-PE" smtClean="0"/>
              <a:t>9/11/2023</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FAC0A-98B9-47C6-A828-BA2356E45C0B}" type="slidenum">
              <a:rPr lang="es-PE" smtClean="0"/>
              <a:t>‹Nº›</a:t>
            </a:fld>
            <a:endParaRPr lang="es-PE"/>
          </a:p>
        </p:txBody>
      </p:sp>
    </p:spTree>
    <p:extLst>
      <p:ext uri="{BB962C8B-B14F-4D97-AF65-F5344CB8AC3E}">
        <p14:creationId xmlns:p14="http://schemas.microsoft.com/office/powerpoint/2010/main" val="1688301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09/11/2023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09/11/2023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09/11/2023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09/11/2023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09/11/2023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09/11/2023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09/11/2023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09/11/2023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09/11/2023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09/11/2023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09/11/2023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09/11/2023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7" name="CuadroTexto 6"/>
          <p:cNvSpPr txBox="1"/>
          <p:nvPr/>
        </p:nvSpPr>
        <p:spPr>
          <a:xfrm>
            <a:off x="469177" y="541700"/>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Título 1"/>
          <p:cNvSpPr txBox="1">
            <a:spLocks/>
          </p:cNvSpPr>
          <p:nvPr/>
        </p:nvSpPr>
        <p:spPr>
          <a:xfrm>
            <a:off x="889950" y="2754228"/>
            <a:ext cx="10993549" cy="1475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rPr>
              <a:t>GESTIÓN DE PROYECTOS ELECTROMECÁNICOS</a:t>
            </a:r>
            <a:endParaRPr lang="en-US" b="1" dirty="0">
              <a:solidFill>
                <a:schemeClr val="bg1"/>
              </a:solidFill>
            </a:endParaRPr>
          </a:p>
        </p:txBody>
      </p:sp>
      <p:sp>
        <p:nvSpPr>
          <p:cNvPr id="5" name="Subtítulo 2"/>
          <p:cNvSpPr txBox="1">
            <a:spLocks/>
          </p:cNvSpPr>
          <p:nvPr/>
        </p:nvSpPr>
        <p:spPr>
          <a:xfrm>
            <a:off x="783075" y="3754230"/>
            <a:ext cx="10993546" cy="5903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dirty="0">
                <a:solidFill>
                  <a:schemeClr val="bg1"/>
                </a:solidFill>
              </a:rPr>
              <a:t>Según 7ma edición PMBOK® - PROJECT MANAGEMENT INSTITUTE</a:t>
            </a:r>
            <a:endParaRPr lang="en-US" dirty="0">
              <a:solidFill>
                <a:schemeClr val="bg1"/>
              </a:solidFill>
            </a:endParaRPr>
          </a:p>
        </p:txBody>
      </p:sp>
      <p:sp>
        <p:nvSpPr>
          <p:cNvPr id="8" name="CuadroTexto 7"/>
          <p:cNvSpPr txBox="1"/>
          <p:nvPr/>
        </p:nvSpPr>
        <p:spPr>
          <a:xfrm>
            <a:off x="8205311" y="4943265"/>
            <a:ext cx="3177152" cy="1138773"/>
          </a:xfrm>
          <a:prstGeom prst="rect">
            <a:avLst/>
          </a:prstGeom>
          <a:noFill/>
        </p:spPr>
        <p:txBody>
          <a:bodyPr wrap="square" rtlCol="0">
            <a:spAutoFit/>
          </a:bodyPr>
          <a:lstStyle/>
          <a:p>
            <a:pPr algn="r"/>
            <a:r>
              <a:rPr lang="es-ES" sz="2000" b="1" dirty="0">
                <a:solidFill>
                  <a:schemeClr val="bg1"/>
                </a:solidFill>
                <a:latin typeface="Arial Narrow" panose="020B0606020202030204" pitchFamily="34" charset="0"/>
              </a:rPr>
              <a:t>MAYOR ENFOQUE A </a:t>
            </a:r>
            <a:r>
              <a:rPr lang="es-ES" sz="2800" b="1" dirty="0">
                <a:solidFill>
                  <a:schemeClr val="bg1"/>
                </a:solidFill>
                <a:latin typeface="Arial Narrow" panose="020B0606020202030204" pitchFamily="34" charset="0"/>
              </a:rPr>
              <a:t>RESULTADOS</a:t>
            </a:r>
            <a:r>
              <a:rPr lang="es-ES" sz="2000" b="1" dirty="0">
                <a:solidFill>
                  <a:schemeClr val="bg1"/>
                </a:solidFill>
                <a:latin typeface="Arial Narrow" panose="020B0606020202030204" pitchFamily="34" charset="0"/>
              </a:rPr>
              <a:t>… QUE A ENTREGABLES</a:t>
            </a:r>
            <a:endParaRPr lang="en-US" sz="2000" b="1"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4FB8828-6999-4A9C-6074-68E59EA64819}"/>
              </a:ext>
            </a:extLst>
          </p:cNvPr>
          <p:cNvSpPr>
            <a:spLocks noGrp="1"/>
          </p:cNvSpPr>
          <p:nvPr>
            <p:ph type="title"/>
          </p:nvPr>
        </p:nvSpPr>
        <p:spPr>
          <a:xfrm>
            <a:off x="1117572" y="2757273"/>
            <a:ext cx="10407677" cy="1652802"/>
          </a:xfrm>
        </p:spPr>
        <p:txBody>
          <a:bodyPr>
            <a:normAutofit/>
          </a:bodyPr>
          <a:lstStyle/>
          <a:p>
            <a:r>
              <a:rPr lang="es-ES" b="1" dirty="0">
                <a:solidFill>
                  <a:srgbClr val="00F3B5"/>
                </a:solidFill>
                <a:latin typeface="Prompt" panose="00000800000000000000" pitchFamily="2" charset="-34"/>
                <a:cs typeface="Prompt" panose="00000800000000000000" pitchFamily="2" charset="-34"/>
              </a:rPr>
              <a:t>SESIÓN 13</a:t>
            </a:r>
            <a:br>
              <a:rPr lang="es-ES" b="1" dirty="0">
                <a:solidFill>
                  <a:srgbClr val="00F3B5"/>
                </a:solidFill>
                <a:latin typeface="Prompt" panose="00000800000000000000" pitchFamily="2" charset="-34"/>
                <a:cs typeface="Prompt" panose="00000800000000000000" pitchFamily="2" charset="-34"/>
              </a:rPr>
            </a:br>
            <a:r>
              <a:rPr lang="es-ES" sz="3600" b="1" dirty="0">
                <a:solidFill>
                  <a:srgbClr val="00F3B5"/>
                </a:solidFill>
                <a:latin typeface="Prompt" panose="00000800000000000000" pitchFamily="2" charset="-34"/>
                <a:cs typeface="Prompt" panose="00000800000000000000" pitchFamily="2" charset="-34"/>
              </a:rPr>
              <a:t>SIMULACRO DE EXAMEN</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624;p42"/>
          <p:cNvSpPr txBox="1"/>
          <p:nvPr/>
        </p:nvSpPr>
        <p:spPr>
          <a:xfrm>
            <a:off x="405371" y="1988010"/>
            <a:ext cx="11381258" cy="3361912"/>
          </a:xfrm>
          <a:prstGeom prst="rect">
            <a:avLst/>
          </a:prstGeom>
          <a:noFill/>
          <a:ln>
            <a:noFill/>
          </a:ln>
        </p:spPr>
        <p:txBody>
          <a:bodyPr spcFirstLastPara="1" wrap="square" lIns="91425" tIns="45700" rIns="91425" bIns="45700" anchor="t" anchorCtr="0">
            <a:noAutofit/>
          </a:bodyPr>
          <a:lstStyle/>
          <a:p>
            <a:pPr lvl="0"/>
            <a:r>
              <a:rPr lang="es-ES" sz="1600" b="1" kern="0" dirty="0">
                <a:latin typeface="Arial"/>
                <a:cs typeface="Arial"/>
                <a:sym typeface="Arial"/>
              </a:rPr>
              <a:t>1. </a:t>
            </a:r>
            <a:r>
              <a:rPr lang="es-ES" sz="1600" b="1" kern="0" dirty="0">
                <a:latin typeface="Arial"/>
                <a:cs typeface="Arial"/>
              </a:rPr>
              <a:t>Un gerente de proyecto está asignado a un proyecto en una empresa que está en transición a ágil. Durante la reunión retrospectiva del sprint, la reunión se vuelve un poco polémica con los primeros signos de conflicto entre varios miembros del equipo. ¿Cuál es el mejor curso de acción para el director del proyecto?</a:t>
            </a:r>
          </a:p>
          <a:p>
            <a:pPr lvl="0"/>
            <a:endParaRPr lang="es-PE" sz="1600" b="1" kern="0" dirty="0">
              <a:latin typeface="Arial"/>
              <a:cs typeface="Arial"/>
            </a:endParaRPr>
          </a:p>
          <a:p>
            <a:pPr marL="342900" lvl="0" indent="-342900">
              <a:buFont typeface="+mj-lt"/>
              <a:buAutoNum type="alphaLcParenR"/>
            </a:pPr>
            <a:r>
              <a:rPr lang="es-ES" sz="1600" kern="0" dirty="0">
                <a:latin typeface="Arial"/>
                <a:cs typeface="Arial"/>
              </a:rPr>
              <a:t>No intervenir independientemente de lo que suceda, ya que los equipos ágiles se autogestionan y pueden manejar cualquier cosa</a:t>
            </a:r>
            <a:r>
              <a:rPr lang="es-PE" sz="1600" kern="0" dirty="0">
                <a:latin typeface="Arial"/>
                <a:cs typeface="Arial"/>
              </a:rPr>
              <a:t>.</a:t>
            </a:r>
          </a:p>
          <a:p>
            <a:pPr marL="342900" lvl="0" indent="-342900">
              <a:buFont typeface="+mj-lt"/>
              <a:buAutoNum type="alphaLcParenR"/>
            </a:pPr>
            <a:r>
              <a:rPr lang="es-ES" sz="1600" kern="0" dirty="0">
                <a:latin typeface="Arial"/>
                <a:cs typeface="Arial"/>
              </a:rPr>
              <a:t>Intervenir de inmediato para evitar una mayor escalada y daños en las relaciones entre los miembros del equipo</a:t>
            </a:r>
            <a:r>
              <a:rPr lang="es-PE" sz="1600" kern="0" dirty="0">
                <a:latin typeface="Arial"/>
                <a:cs typeface="Arial"/>
              </a:rPr>
              <a:t>.</a:t>
            </a:r>
          </a:p>
          <a:p>
            <a:pPr marL="342900" lvl="0" indent="-342900">
              <a:buFont typeface="+mj-lt"/>
              <a:buAutoNum type="alphaLcParenR"/>
            </a:pPr>
            <a:r>
              <a:rPr lang="es-ES" sz="1600" kern="0" dirty="0">
                <a:latin typeface="Arial"/>
                <a:cs typeface="Arial"/>
              </a:rPr>
              <a:t>Abordar la situación durante la reunión para responsabilizar a las personas involucradas en el conflicto.</a:t>
            </a:r>
            <a:endParaRPr lang="es-PE" sz="1600" kern="0" dirty="0">
              <a:latin typeface="Arial"/>
              <a:cs typeface="Arial"/>
            </a:endParaRPr>
          </a:p>
          <a:p>
            <a:pPr marL="342900" lvl="0" indent="-342900">
              <a:buFont typeface="+mj-lt"/>
              <a:buAutoNum type="alphaLcParenR"/>
            </a:pPr>
            <a:r>
              <a:rPr lang="es-ES" sz="1600" kern="0" dirty="0">
                <a:latin typeface="Arial"/>
                <a:cs typeface="Arial"/>
              </a:rPr>
              <a:t>Intervenir solo si el conflicto se vuelve destructivo y tomar un descanso si es necesario para dirigirse a la persona en privado.</a:t>
            </a:r>
            <a:endParaRPr lang="es-PE" sz="1600" kern="0" dirty="0">
              <a:latin typeface="Arial"/>
              <a:cs typeface="Arial"/>
            </a:endParaRPr>
          </a:p>
          <a:p>
            <a:pPr>
              <a:lnSpc>
                <a:spcPct val="115000"/>
              </a:lnSpc>
              <a:spcBef>
                <a:spcPts val="320"/>
              </a:spcBef>
              <a:buClr>
                <a:srgbClr val="000000"/>
              </a:buClr>
              <a:buFont typeface="Arial"/>
              <a:buNone/>
            </a:pPr>
            <a:endParaRPr lang="en-US" sz="1600" b="1" kern="0" dirty="0">
              <a:latin typeface="Arial"/>
              <a:cs typeface="Arial"/>
              <a:sym typeface="Arial"/>
            </a:endParaRPr>
          </a:p>
        </p:txBody>
      </p:sp>
      <p:sp>
        <p:nvSpPr>
          <p:cNvPr id="12" name="Freeform 4"/>
          <p:cNvSpPr>
            <a:spLocks/>
          </p:cNvSpPr>
          <p:nvPr/>
        </p:nvSpPr>
        <p:spPr bwMode="auto">
          <a:xfrm>
            <a:off x="1662726" y="4264412"/>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7" name="Título 1"/>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289173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624;p42"/>
          <p:cNvSpPr txBox="1"/>
          <p:nvPr/>
        </p:nvSpPr>
        <p:spPr>
          <a:xfrm>
            <a:off x="405371" y="1988010"/>
            <a:ext cx="11381258" cy="4641150"/>
          </a:xfrm>
          <a:prstGeom prst="rect">
            <a:avLst/>
          </a:prstGeom>
          <a:noFill/>
          <a:ln>
            <a:noFill/>
          </a:ln>
        </p:spPr>
        <p:txBody>
          <a:bodyPr spcFirstLastPara="1" wrap="square" lIns="91425" tIns="45700" rIns="91425" bIns="45700" anchor="t" anchorCtr="0">
            <a:noAutofit/>
          </a:bodyPr>
          <a:lstStyle/>
          <a:p>
            <a:pPr>
              <a:lnSpc>
                <a:spcPct val="115000"/>
              </a:lnSpc>
              <a:buClr>
                <a:srgbClr val="000000"/>
              </a:buClr>
              <a:buSzPts val="1120"/>
            </a:pPr>
            <a:r>
              <a:rPr lang="es-ES" sz="1600" b="1" kern="0" dirty="0">
                <a:latin typeface="Arial"/>
                <a:cs typeface="Arial"/>
                <a:sym typeface="Arial"/>
              </a:rPr>
              <a:t>2. Reunirse con los posibles proveedores antes de que emitan una propuesta es</a:t>
            </a:r>
            <a:r>
              <a:rPr lang="es-ES" sz="1600" b="1" kern="0" dirty="0">
                <a:latin typeface="Arial"/>
                <a:ea typeface="Arial"/>
                <a:cs typeface="Arial"/>
                <a:sym typeface="Arial"/>
              </a:rPr>
              <a:t>:</a:t>
            </a:r>
          </a:p>
          <a:p>
            <a:pPr>
              <a:lnSpc>
                <a:spcPct val="115000"/>
              </a:lnSpc>
              <a:spcBef>
                <a:spcPts val="320"/>
              </a:spcBef>
              <a:buClr>
                <a:srgbClr val="000000"/>
              </a:buClr>
              <a:buFont typeface="Arial"/>
              <a:buNone/>
            </a:pPr>
            <a:r>
              <a:rPr lang="es-ES" sz="1600" kern="0" dirty="0">
                <a:latin typeface="Arial"/>
                <a:ea typeface="Arial"/>
                <a:cs typeface="Arial"/>
                <a:sym typeface="Arial"/>
              </a:rPr>
              <a:t>a) </a:t>
            </a:r>
            <a:r>
              <a:rPr lang="es-ES" sz="1600" kern="0" dirty="0">
                <a:latin typeface="Arial"/>
                <a:cs typeface="Arial"/>
                <a:sym typeface="Arial"/>
              </a:rPr>
              <a:t>Negociación de proveedores</a:t>
            </a:r>
            <a:endParaRPr lang="es-ES" sz="1600" kern="0" dirty="0">
              <a:latin typeface="Arial"/>
              <a:ea typeface="Arial"/>
              <a:cs typeface="Arial"/>
              <a:sym typeface="Arial"/>
            </a:endParaRPr>
          </a:p>
          <a:p>
            <a:pPr>
              <a:lnSpc>
                <a:spcPct val="115000"/>
              </a:lnSpc>
              <a:spcBef>
                <a:spcPts val="320"/>
              </a:spcBef>
              <a:buClr>
                <a:srgbClr val="000000"/>
              </a:buClr>
              <a:buFont typeface="Arial"/>
              <a:buNone/>
            </a:pPr>
            <a:r>
              <a:rPr lang="es-ES" sz="1600" kern="0" dirty="0">
                <a:latin typeface="Arial"/>
                <a:ea typeface="Arial"/>
                <a:cs typeface="Arial"/>
                <a:sym typeface="Arial"/>
              </a:rPr>
              <a:t>b) </a:t>
            </a:r>
            <a:r>
              <a:rPr lang="es-ES" sz="1600" kern="0" dirty="0">
                <a:latin typeface="Arial"/>
                <a:cs typeface="Arial"/>
                <a:sym typeface="Arial"/>
              </a:rPr>
              <a:t>Conferencia de proveedores</a:t>
            </a:r>
            <a:endParaRPr lang="es-ES" sz="1600" kern="0" dirty="0">
              <a:latin typeface="Arial"/>
              <a:ea typeface="Arial"/>
              <a:cs typeface="Arial"/>
              <a:sym typeface="Arial"/>
            </a:endParaRPr>
          </a:p>
          <a:p>
            <a:pPr>
              <a:lnSpc>
                <a:spcPct val="115000"/>
              </a:lnSpc>
              <a:spcBef>
                <a:spcPts val="320"/>
              </a:spcBef>
              <a:buClr>
                <a:srgbClr val="000000"/>
              </a:buClr>
              <a:buFont typeface="Arial"/>
              <a:buNone/>
            </a:pPr>
            <a:r>
              <a:rPr lang="es-ES" sz="1600" kern="0" dirty="0">
                <a:latin typeface="Arial"/>
                <a:ea typeface="Arial"/>
                <a:cs typeface="Arial"/>
                <a:sym typeface="Arial"/>
              </a:rPr>
              <a:t>c) </a:t>
            </a:r>
            <a:r>
              <a:rPr lang="es-ES" sz="1600" kern="0" dirty="0">
                <a:latin typeface="Arial"/>
                <a:cs typeface="Arial"/>
                <a:sym typeface="Arial"/>
              </a:rPr>
              <a:t>Selección del proveedor</a:t>
            </a:r>
            <a:endParaRPr lang="es-ES" sz="1600" kern="0" dirty="0">
              <a:latin typeface="Arial"/>
              <a:ea typeface="Arial"/>
              <a:cs typeface="Arial"/>
              <a:sym typeface="Arial"/>
            </a:endParaRPr>
          </a:p>
          <a:p>
            <a:pPr>
              <a:lnSpc>
                <a:spcPct val="115000"/>
              </a:lnSpc>
              <a:spcBef>
                <a:spcPts val="320"/>
              </a:spcBef>
              <a:buClr>
                <a:srgbClr val="000000"/>
              </a:buClr>
              <a:buFont typeface="Arial"/>
              <a:buNone/>
            </a:pPr>
            <a:r>
              <a:rPr lang="es-ES" sz="1600" kern="0" dirty="0">
                <a:latin typeface="Arial"/>
                <a:ea typeface="Arial"/>
                <a:cs typeface="Arial"/>
                <a:sym typeface="Arial"/>
              </a:rPr>
              <a:t>d) </a:t>
            </a:r>
            <a:r>
              <a:rPr lang="es-ES" sz="1600" kern="0" dirty="0">
                <a:latin typeface="Arial"/>
                <a:cs typeface="Arial"/>
                <a:sym typeface="Arial"/>
              </a:rPr>
              <a:t>Auditoría al proveedor</a:t>
            </a:r>
            <a:endParaRPr lang="es-ES" sz="1400" kern="0" dirty="0">
              <a:latin typeface="Arial"/>
              <a:cs typeface="Arial"/>
              <a:sym typeface="Arial"/>
            </a:endParaRPr>
          </a:p>
          <a:p>
            <a:pPr>
              <a:lnSpc>
                <a:spcPct val="115000"/>
              </a:lnSpc>
              <a:spcBef>
                <a:spcPts val="320"/>
              </a:spcBef>
              <a:buClr>
                <a:srgbClr val="000000"/>
              </a:buClr>
              <a:buFont typeface="Arial"/>
              <a:buNone/>
            </a:pPr>
            <a:endParaRPr sz="1600" b="1" kern="0" dirty="0">
              <a:latin typeface="Arial"/>
              <a:ea typeface="Arial"/>
              <a:cs typeface="Arial"/>
              <a:sym typeface="Arial"/>
            </a:endParaRPr>
          </a:p>
          <a:p>
            <a:pPr>
              <a:lnSpc>
                <a:spcPct val="115000"/>
              </a:lnSpc>
              <a:spcBef>
                <a:spcPts val="320"/>
              </a:spcBef>
              <a:buClr>
                <a:srgbClr val="000000"/>
              </a:buClr>
              <a:buFont typeface="Arial"/>
              <a:buNone/>
            </a:pPr>
            <a:r>
              <a:rPr lang="en-US" sz="1600" b="1" kern="0" dirty="0">
                <a:latin typeface="Arial"/>
                <a:cs typeface="Arial"/>
                <a:sym typeface="Arial"/>
              </a:rPr>
              <a:t>3. </a:t>
            </a:r>
            <a:r>
              <a:rPr lang="es-ES" sz="1600" b="1" kern="0" dirty="0">
                <a:latin typeface="Arial"/>
                <a:cs typeface="Arial"/>
                <a:sym typeface="Arial"/>
              </a:rPr>
              <a:t>Durante una reunión con las partes interesadas del proyecto, se le pide al gerente del proyecto que agregue trabajo al alcance del proyecto. El gerente del proyecto tenía acceso a los correos sobre el proyecto antes que se firmara el Project Charter, y recuerda que el Sponsor del proyecto negó específicamente la financiación para el alcance mencionado por estas partes interesadas. Lo MEJOR que debe hacer el gerente del proyecto es:</a:t>
            </a:r>
          </a:p>
          <a:p>
            <a:pPr>
              <a:lnSpc>
                <a:spcPct val="115000"/>
              </a:lnSpc>
              <a:spcBef>
                <a:spcPts val="320"/>
              </a:spcBef>
              <a:buClr>
                <a:srgbClr val="000000"/>
              </a:buClr>
              <a:buFont typeface="Arial"/>
              <a:buNone/>
            </a:pPr>
            <a:r>
              <a:rPr lang="es-ES" sz="1600" kern="0" dirty="0">
                <a:latin typeface="Arial"/>
                <a:cs typeface="Arial"/>
                <a:sym typeface="Arial"/>
              </a:rPr>
              <a:t>a) Informar al Sponsor de la solicitud de los interesados. </a:t>
            </a:r>
          </a:p>
          <a:p>
            <a:pPr>
              <a:lnSpc>
                <a:spcPct val="115000"/>
              </a:lnSpc>
              <a:spcBef>
                <a:spcPts val="320"/>
              </a:spcBef>
              <a:buClr>
                <a:srgbClr val="000000"/>
              </a:buClr>
              <a:buFont typeface="Arial"/>
              <a:buNone/>
            </a:pPr>
            <a:r>
              <a:rPr lang="es-ES" sz="1600" kern="0" dirty="0">
                <a:latin typeface="Arial"/>
                <a:cs typeface="Arial"/>
                <a:sym typeface="Arial"/>
              </a:rPr>
              <a:t>b) Evaluar el impacto de agregar el alcance.</a:t>
            </a:r>
          </a:p>
          <a:p>
            <a:pPr>
              <a:lnSpc>
                <a:spcPct val="115000"/>
              </a:lnSpc>
              <a:spcBef>
                <a:spcPts val="320"/>
              </a:spcBef>
              <a:buClr>
                <a:srgbClr val="000000"/>
              </a:buClr>
              <a:buFont typeface="Arial"/>
              <a:buNone/>
            </a:pPr>
            <a:r>
              <a:rPr lang="es-ES" sz="1600" kern="0" dirty="0">
                <a:latin typeface="Arial"/>
                <a:cs typeface="Arial"/>
                <a:sym typeface="Arial"/>
              </a:rPr>
              <a:t>c) Indicar a los interesados que no se puede agregar el alcance.</a:t>
            </a:r>
          </a:p>
          <a:p>
            <a:pPr>
              <a:lnSpc>
                <a:spcPct val="115000"/>
              </a:lnSpc>
              <a:spcBef>
                <a:spcPts val="320"/>
              </a:spcBef>
              <a:buClr>
                <a:srgbClr val="000000"/>
              </a:buClr>
              <a:buFont typeface="Arial"/>
              <a:buNone/>
            </a:pPr>
            <a:r>
              <a:rPr lang="es-ES" sz="1600" kern="0" dirty="0">
                <a:latin typeface="Arial"/>
                <a:cs typeface="Arial"/>
                <a:sym typeface="Arial"/>
              </a:rPr>
              <a:t>d) Agregar el alcance si hay tiempo disponible en el proyecto.</a:t>
            </a:r>
          </a:p>
        </p:txBody>
      </p:sp>
      <p:sp>
        <p:nvSpPr>
          <p:cNvPr id="12" name="Freeform 4"/>
          <p:cNvSpPr>
            <a:spLocks/>
          </p:cNvSpPr>
          <p:nvPr/>
        </p:nvSpPr>
        <p:spPr bwMode="auto">
          <a:xfrm>
            <a:off x="3607817" y="2676580"/>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3" name="Freeform 4"/>
          <p:cNvSpPr>
            <a:spLocks/>
          </p:cNvSpPr>
          <p:nvPr/>
        </p:nvSpPr>
        <p:spPr bwMode="auto">
          <a:xfrm>
            <a:off x="6390278" y="5793565"/>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4" name="Título 1">
            <a:extLst>
              <a:ext uri="{FF2B5EF4-FFF2-40B4-BE49-F238E27FC236}">
                <a16:creationId xmlns:a16="http://schemas.microsoft.com/office/drawing/2014/main" id="{C93A9FD5-45AA-04B2-317E-A0A7467156CF}"/>
              </a:ext>
            </a:extLst>
          </p:cNvPr>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55261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382137" y="2060812"/>
            <a:ext cx="11341290" cy="1200329"/>
          </a:xfrm>
          <a:prstGeom prst="rect">
            <a:avLst/>
          </a:prstGeom>
          <a:noFill/>
        </p:spPr>
        <p:txBody>
          <a:bodyPr wrap="square" rtlCol="0">
            <a:spAutoFit/>
          </a:bodyPr>
          <a:lstStyle/>
          <a:p>
            <a:pPr marL="342900" indent="-342900" algn="just">
              <a:buFont typeface="+mj-lt"/>
              <a:buAutoNum type="arabicPeriod" startAt="4"/>
            </a:pPr>
            <a:r>
              <a:rPr lang="es-ES" b="1" dirty="0"/>
              <a:t>Competidores disruptivos con nuevos modelos de negocios están causando que una compañía de paneles solares pierda presencia en el mercado. Con el fin de recomendar formas de recuperar mercado, se ha creado un equipo matricial. ¿Cuál de las siguientes alternativas nos dice cómo el equipo incrementará la posibilidad de llegar con propuestas exitosas?</a:t>
            </a:r>
          </a:p>
        </p:txBody>
      </p:sp>
      <p:sp>
        <p:nvSpPr>
          <p:cNvPr id="6" name="CuadroTexto 5"/>
          <p:cNvSpPr txBox="1"/>
          <p:nvPr/>
        </p:nvSpPr>
        <p:spPr>
          <a:xfrm>
            <a:off x="764275" y="3493827"/>
            <a:ext cx="10846533" cy="2031325"/>
          </a:xfrm>
          <a:prstGeom prst="rect">
            <a:avLst/>
          </a:prstGeom>
          <a:noFill/>
        </p:spPr>
        <p:txBody>
          <a:bodyPr wrap="square" rtlCol="0">
            <a:spAutoFit/>
          </a:bodyPr>
          <a:lstStyle/>
          <a:p>
            <a:pPr marL="342900" indent="-342900">
              <a:buFont typeface="+mj-lt"/>
              <a:buAutoNum type="alphaLcParenR"/>
            </a:pPr>
            <a:r>
              <a:rPr lang="es-ES" dirty="0"/>
              <a:t>Entender y enfocarse en el punto de vista de los consumidores y la oferta de los competidores.</a:t>
            </a:r>
          </a:p>
          <a:p>
            <a:pPr marL="342900" indent="-342900">
              <a:buFont typeface="+mj-lt"/>
              <a:buAutoNum type="alphaLcParenR"/>
            </a:pPr>
            <a:r>
              <a:rPr lang="es-ES" dirty="0"/>
              <a:t>Llegar con un entendimiento de cómo el modelo de negocio de los competidores podría llegar a más consumidores a un menor costo.</a:t>
            </a:r>
          </a:p>
          <a:p>
            <a:pPr marL="342900" indent="-342900">
              <a:buFont typeface="+mj-lt"/>
              <a:buAutoNum type="alphaLcParenR"/>
            </a:pPr>
            <a:r>
              <a:rPr lang="es-ES" dirty="0"/>
              <a:t>Facilitar una estrategia de entrega rentable de alta calidad, productos únicos e innovadores.</a:t>
            </a:r>
          </a:p>
          <a:p>
            <a:pPr marL="342900" indent="-342900">
              <a:buFont typeface="+mj-lt"/>
              <a:buAutoNum type="alphaLcParenR"/>
            </a:pPr>
            <a:r>
              <a:rPr lang="es-ES" dirty="0"/>
              <a:t>Llegar con un entendimiento profundo del porqué los consumidores se están decepcionando de los productos de la compañía.</a:t>
            </a:r>
          </a:p>
          <a:p>
            <a:endParaRPr lang="en-US" dirty="0"/>
          </a:p>
        </p:txBody>
      </p:sp>
      <p:sp>
        <p:nvSpPr>
          <p:cNvPr id="18" name="Freeform 4"/>
          <p:cNvSpPr>
            <a:spLocks/>
          </p:cNvSpPr>
          <p:nvPr/>
        </p:nvSpPr>
        <p:spPr bwMode="auto">
          <a:xfrm>
            <a:off x="10069685" y="3605997"/>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5" name="Título 1">
            <a:extLst>
              <a:ext uri="{FF2B5EF4-FFF2-40B4-BE49-F238E27FC236}">
                <a16:creationId xmlns:a16="http://schemas.microsoft.com/office/drawing/2014/main" id="{33F7FFCD-6F62-62D0-608C-F0E24EA5D423}"/>
              </a:ext>
            </a:extLst>
          </p:cNvPr>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2904423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330105" y="1890713"/>
            <a:ext cx="11341290" cy="2585323"/>
          </a:xfrm>
          <a:prstGeom prst="rect">
            <a:avLst/>
          </a:prstGeom>
          <a:noFill/>
        </p:spPr>
        <p:txBody>
          <a:bodyPr wrap="square" rtlCol="0">
            <a:spAutoFit/>
          </a:bodyPr>
          <a:lstStyle/>
          <a:p>
            <a:pPr marL="342900" indent="-342900" algn="just">
              <a:buFont typeface="+mj-lt"/>
              <a:buAutoNum type="arabicPeriod" startAt="5"/>
            </a:pPr>
            <a:r>
              <a:rPr lang="es-ES" b="1" dirty="0"/>
              <a:t>El Jefe del área usuaria te ha llamado para indicarte que necesitan implementar un nuevo proyecto. El proyecto implica hacer el tendido de una nueva línea de bombeo de agua tratada hacia un nuevo punto de vertimiento. Te indica que es prioritario cumplir los plazos indicados por la autoridad reguladora. Te indica que veas todos los detalles con el encargado operativo de manejo de agua. Te reúnes con la persona y te indica las bombas disponibles, el nuevo trazo, las líneas eléctricas existentes y caudales, para que lo ajustes en la ingeniería. Luego de aprobada la ingeniería y proceder con las órdenes de compra de los equipos, un usuario del área de mantenimiento eléctrico te indica que los tipos de cables que indica la ingeniería no cumplen con el nuevo estándar de la compañía y tampoco cumple con la nueva reglamentación para esos usos. ¿Qué es lo más probable que pudo haber sucedido en este caso?</a:t>
            </a:r>
          </a:p>
        </p:txBody>
      </p:sp>
      <p:sp>
        <p:nvSpPr>
          <p:cNvPr id="6" name="CuadroTexto 5"/>
          <p:cNvSpPr txBox="1"/>
          <p:nvPr/>
        </p:nvSpPr>
        <p:spPr>
          <a:xfrm>
            <a:off x="577483" y="4564364"/>
            <a:ext cx="10846533" cy="1477328"/>
          </a:xfrm>
          <a:prstGeom prst="rect">
            <a:avLst/>
          </a:prstGeom>
          <a:noFill/>
        </p:spPr>
        <p:txBody>
          <a:bodyPr wrap="square" rtlCol="0">
            <a:spAutoFit/>
          </a:bodyPr>
          <a:lstStyle/>
          <a:p>
            <a:pPr marL="342900" indent="-342900">
              <a:buFont typeface="+mj-lt"/>
              <a:buAutoNum type="alphaLcParenR"/>
            </a:pPr>
            <a:r>
              <a:rPr lang="es-ES" dirty="0"/>
              <a:t>No identificaste a todos los usuarios finales.</a:t>
            </a:r>
          </a:p>
          <a:p>
            <a:pPr marL="342900" indent="-342900">
              <a:buFont typeface="+mj-lt"/>
              <a:buAutoNum type="alphaLcParenR"/>
            </a:pPr>
            <a:r>
              <a:rPr lang="es-ES" dirty="0"/>
              <a:t>El usuario final no conocía el estándar de la compañía.</a:t>
            </a:r>
          </a:p>
          <a:p>
            <a:pPr marL="342900" indent="-342900">
              <a:buFont typeface="+mj-lt"/>
              <a:buAutoNum type="alphaLcParenR"/>
            </a:pPr>
            <a:r>
              <a:rPr lang="es-ES" dirty="0"/>
              <a:t>El usuario final no estuvo al tanto del proyecto.</a:t>
            </a:r>
          </a:p>
          <a:p>
            <a:pPr marL="342900" indent="-342900">
              <a:buFont typeface="+mj-lt"/>
              <a:buAutoNum type="alphaLcParenR"/>
            </a:pPr>
            <a:r>
              <a:rPr lang="es-ES" dirty="0"/>
              <a:t>El usuario no conocía el presupuesto del proyecto, por lo que quiso ampliar el requerimiento.</a:t>
            </a:r>
          </a:p>
          <a:p>
            <a:endParaRPr lang="en-US" dirty="0"/>
          </a:p>
        </p:txBody>
      </p:sp>
      <p:sp>
        <p:nvSpPr>
          <p:cNvPr id="18" name="Freeform 4"/>
          <p:cNvSpPr>
            <a:spLocks/>
          </p:cNvSpPr>
          <p:nvPr/>
        </p:nvSpPr>
        <p:spPr bwMode="auto">
          <a:xfrm>
            <a:off x="5159903" y="4645573"/>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5" name="Título 1">
            <a:extLst>
              <a:ext uri="{FF2B5EF4-FFF2-40B4-BE49-F238E27FC236}">
                <a16:creationId xmlns:a16="http://schemas.microsoft.com/office/drawing/2014/main" id="{58F76B54-923B-8439-C828-17438A6BC76F}"/>
              </a:ext>
            </a:extLst>
          </p:cNvPr>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371125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405371" y="3328712"/>
            <a:ext cx="10846533" cy="2862322"/>
          </a:xfrm>
          <a:prstGeom prst="rect">
            <a:avLst/>
          </a:prstGeom>
          <a:noFill/>
        </p:spPr>
        <p:txBody>
          <a:bodyPr wrap="square" rtlCol="0">
            <a:spAutoFit/>
          </a:bodyPr>
          <a:lstStyle/>
          <a:p>
            <a:pPr marL="342900" lvl="0" indent="-342900" algn="just">
              <a:buFont typeface="+mj-lt"/>
              <a:buAutoNum type="alphaLcParenR"/>
              <a:tabLst>
                <a:tab pos="457200" algn="l"/>
              </a:tabLst>
            </a:pPr>
            <a:r>
              <a:rPr lang="es-ES" sz="1800" spc="100" dirty="0">
                <a:effectLst/>
                <a:ea typeface="Times New Roman" panose="02020603050405020304" pitchFamily="18" charset="0"/>
              </a:rPr>
              <a:t>Reunirse con el nuevo patrocinador del proyecto para revisar el alcance actual del proyecto y los cambios solicitados.</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Replantear el proyecto ya que ahora hay un nuevo patrocinador del proyecto, lo que presenta una oportunidad para revisar y recalibrar los objetivos del proyecto.</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Invitar al patrocinador del proyecto a una reunión informativa con el equipo del proyecto para demostrar el progreso y buscar más apoyo para cumplir los resultados comprometidos del proyecto.</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Informar al nuevo patrocinador del proyecto de que los nuevos aspectos no se incluirán en este proyecto.</a:t>
            </a:r>
            <a:endParaRPr lang="es-PE" sz="1800" dirty="0">
              <a:effectLst/>
              <a:ea typeface="Times New Roman" panose="02020603050405020304" pitchFamily="18" charset="0"/>
            </a:endParaRPr>
          </a:p>
          <a:p>
            <a:endParaRPr lang="en-US" dirty="0"/>
          </a:p>
        </p:txBody>
      </p:sp>
      <p:sp>
        <p:nvSpPr>
          <p:cNvPr id="3" name="CuadroTexto 2"/>
          <p:cNvSpPr txBox="1"/>
          <p:nvPr/>
        </p:nvSpPr>
        <p:spPr>
          <a:xfrm>
            <a:off x="319918" y="1785938"/>
            <a:ext cx="11341290" cy="1264642"/>
          </a:xfrm>
          <a:prstGeom prst="rect">
            <a:avLst/>
          </a:prstGeom>
          <a:noFill/>
        </p:spPr>
        <p:txBody>
          <a:bodyPr wrap="square" rtlCol="0">
            <a:spAutoFit/>
          </a:bodyPr>
          <a:lstStyle/>
          <a:p>
            <a:pPr marL="342900" lvl="0" indent="-342900" algn="just">
              <a:lnSpc>
                <a:spcPct val="107000"/>
              </a:lnSpc>
              <a:spcAft>
                <a:spcPts val="800"/>
              </a:spcAft>
              <a:buFont typeface="+mj-lt"/>
              <a:buAutoNum type="arabicPeriod" startAt="6"/>
            </a:pPr>
            <a:r>
              <a:rPr lang="es-ES" b="1" dirty="0"/>
              <a:t>Un director de proyecto es asignado a un importante proyecto de construcción. El proyecto es crítico para la población de la ciudad, y especialmente para el funcionario del gobierno local que se comprometió a entregar el proyecto a tiempo como promesa electoral. Se ha asignado un nuevo patrocinador del proyecto que quiere incluir aspectos que el patrocinador anterior no apoyaba. ¿Qué debe hacer a continuación el director del proyecto?</a:t>
            </a:r>
            <a:endParaRPr lang="es-PE" b="1" dirty="0"/>
          </a:p>
        </p:txBody>
      </p:sp>
      <p:sp>
        <p:nvSpPr>
          <p:cNvPr id="18" name="Freeform 4"/>
          <p:cNvSpPr>
            <a:spLocks/>
          </p:cNvSpPr>
          <p:nvPr/>
        </p:nvSpPr>
        <p:spPr bwMode="auto">
          <a:xfrm>
            <a:off x="3054216" y="3605212"/>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5" name="Título 1">
            <a:extLst>
              <a:ext uri="{FF2B5EF4-FFF2-40B4-BE49-F238E27FC236}">
                <a16:creationId xmlns:a16="http://schemas.microsoft.com/office/drawing/2014/main" id="{78899F49-FF2A-DC8C-F717-35FF94CB0968}"/>
              </a:ext>
            </a:extLst>
          </p:cNvPr>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134737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490824" y="3429000"/>
            <a:ext cx="10846533" cy="1200329"/>
          </a:xfrm>
          <a:prstGeom prst="rect">
            <a:avLst/>
          </a:prstGeom>
          <a:noFill/>
        </p:spPr>
        <p:txBody>
          <a:bodyPr wrap="square" rtlCol="0">
            <a:spAutoFit/>
          </a:bodyPr>
          <a:lstStyle/>
          <a:p>
            <a:pPr marL="342900" lvl="0" indent="-342900" algn="just">
              <a:buFont typeface="+mj-lt"/>
              <a:buAutoNum type="alphaLcParenR"/>
              <a:tabLst>
                <a:tab pos="457200" algn="l"/>
              </a:tabLst>
            </a:pPr>
            <a:r>
              <a:rPr lang="es-ES" sz="1800" spc="100" dirty="0">
                <a:effectLst/>
                <a:ea typeface="Times New Roman" panose="02020603050405020304" pitchFamily="18" charset="0"/>
              </a:rPr>
              <a:t>El proyecto está obteniendo menos valor del previsto.</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El proyecto ha empezado a superar el costo previsto.</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El proyecto ha obtenido más valor del previsto.</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El proyecto está a punto de superar el coste previsto.</a:t>
            </a:r>
            <a:endParaRPr lang="en-US" dirty="0"/>
          </a:p>
        </p:txBody>
      </p:sp>
      <p:sp>
        <p:nvSpPr>
          <p:cNvPr id="3" name="CuadroTexto 2"/>
          <p:cNvSpPr txBox="1"/>
          <p:nvPr/>
        </p:nvSpPr>
        <p:spPr>
          <a:xfrm>
            <a:off x="405371" y="1886226"/>
            <a:ext cx="11341290" cy="1264642"/>
          </a:xfrm>
          <a:prstGeom prst="rect">
            <a:avLst/>
          </a:prstGeom>
          <a:noFill/>
        </p:spPr>
        <p:txBody>
          <a:bodyPr wrap="square" rtlCol="0">
            <a:spAutoFit/>
          </a:bodyPr>
          <a:lstStyle/>
          <a:p>
            <a:pPr marL="342900" lvl="0" indent="-342900" algn="just">
              <a:lnSpc>
                <a:spcPct val="107000"/>
              </a:lnSpc>
              <a:spcAft>
                <a:spcPts val="800"/>
              </a:spcAft>
              <a:buFont typeface="+mj-lt"/>
              <a:buAutoNum type="arabicPeriod" startAt="7"/>
            </a:pPr>
            <a:r>
              <a:rPr lang="es-ES" b="1" dirty="0"/>
              <a:t>Un director de proyecto está llevando a cabo la gestión del valor ganado (EVM) para un proyecto de oleoducto a través del país. El director del proyecto ha determinado la relación entre el valor ganado (EV) y el costo real (AC) para el proyecto y ha encontrado que el resultado calculado es de 0,9024. ¿Qué significa este valor para el proyecto?</a:t>
            </a:r>
            <a:endParaRPr lang="es-PE" b="1" dirty="0"/>
          </a:p>
        </p:txBody>
      </p:sp>
      <p:sp>
        <p:nvSpPr>
          <p:cNvPr id="18" name="Freeform 4"/>
          <p:cNvSpPr>
            <a:spLocks/>
          </p:cNvSpPr>
          <p:nvPr/>
        </p:nvSpPr>
        <p:spPr bwMode="auto">
          <a:xfrm>
            <a:off x="6625819" y="3452716"/>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5" name="Título 1">
            <a:extLst>
              <a:ext uri="{FF2B5EF4-FFF2-40B4-BE49-F238E27FC236}">
                <a16:creationId xmlns:a16="http://schemas.microsoft.com/office/drawing/2014/main" id="{2E05EB37-318A-AA63-5579-DEC317563D46}"/>
              </a:ext>
            </a:extLst>
          </p:cNvPr>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167030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434608" y="3042962"/>
            <a:ext cx="10846533" cy="2031325"/>
          </a:xfrm>
          <a:prstGeom prst="rect">
            <a:avLst/>
          </a:prstGeom>
          <a:noFill/>
        </p:spPr>
        <p:txBody>
          <a:bodyPr wrap="square" rtlCol="0">
            <a:spAutoFit/>
          </a:bodyPr>
          <a:lstStyle/>
          <a:p>
            <a:pPr marL="342900" lvl="0" indent="-342900" algn="just">
              <a:buFont typeface="+mj-lt"/>
              <a:buAutoNum type="alphaLcParenR"/>
              <a:tabLst>
                <a:tab pos="457200" algn="l"/>
              </a:tabLst>
            </a:pPr>
            <a:r>
              <a:rPr lang="es-ES" sz="1800" spc="100" dirty="0">
                <a:effectLst/>
                <a:ea typeface="Times New Roman" panose="02020603050405020304" pitchFamily="18" charset="0"/>
              </a:rPr>
              <a:t>Consultar la lista de proveedores seleccionados para la licitación y evaluar un posible cambio de proveedor.</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Revisar el proceso de control de adquisiciones para evitar cambios no deseados que puedan afectar al calendario.</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Evaluar la situación como una oportunidad de mejora y realizar un análisis de riesgos.</a:t>
            </a:r>
            <a:endParaRPr lang="es-PE" sz="1800" dirty="0">
              <a:effectLst/>
              <a:ea typeface="Times New Roman" panose="02020603050405020304" pitchFamily="18" charset="0"/>
            </a:endParaRPr>
          </a:p>
          <a:p>
            <a:pPr marL="342900" lvl="0" indent="-342900" algn="just">
              <a:buFont typeface="+mj-lt"/>
              <a:buAutoNum type="alphaLcParenR"/>
              <a:tabLst>
                <a:tab pos="457200" algn="l"/>
              </a:tabLst>
            </a:pPr>
            <a:r>
              <a:rPr lang="es-ES" sz="1800" spc="100" dirty="0">
                <a:effectLst/>
                <a:ea typeface="Times New Roman" panose="02020603050405020304" pitchFamily="18" charset="0"/>
              </a:rPr>
              <a:t>Realizar una auditoría del proceso de adquisición e informar al proveedor sobre las observaciones de la auditoría.</a:t>
            </a:r>
            <a:endParaRPr lang="es-PE" sz="1800" dirty="0">
              <a:effectLst/>
              <a:ea typeface="Times New Roman" panose="02020603050405020304" pitchFamily="18" charset="0"/>
            </a:endParaRPr>
          </a:p>
        </p:txBody>
      </p:sp>
      <p:sp>
        <p:nvSpPr>
          <p:cNvPr id="3" name="CuadroTexto 2"/>
          <p:cNvSpPr txBox="1"/>
          <p:nvPr/>
        </p:nvSpPr>
        <p:spPr>
          <a:xfrm>
            <a:off x="301530" y="1881482"/>
            <a:ext cx="11341290" cy="961161"/>
          </a:xfrm>
          <a:prstGeom prst="rect">
            <a:avLst/>
          </a:prstGeom>
          <a:noFill/>
        </p:spPr>
        <p:txBody>
          <a:bodyPr wrap="square" rtlCol="0">
            <a:spAutoFit/>
          </a:bodyPr>
          <a:lstStyle/>
          <a:p>
            <a:pPr marL="342900" lvl="0" indent="-342900" algn="just">
              <a:lnSpc>
                <a:spcPct val="107000"/>
              </a:lnSpc>
              <a:spcAft>
                <a:spcPts val="800"/>
              </a:spcAft>
              <a:buFont typeface="+mj-lt"/>
              <a:buAutoNum type="arabicPeriod" startAt="8"/>
            </a:pPr>
            <a:r>
              <a:rPr lang="es-ES" b="1" dirty="0"/>
              <a:t>Después de firmar un acuerdo con un proveedor, el director del proyecto se da cuenta de que el proveedor no para de pedir cambios en el pliego de condiciones (SOW). Estos cambios mejorarían el resultado del proyecto. ¿Qué debe hacer el director del proyecto?</a:t>
            </a:r>
            <a:endParaRPr lang="es-PE" b="1" dirty="0"/>
          </a:p>
        </p:txBody>
      </p:sp>
      <p:sp>
        <p:nvSpPr>
          <p:cNvPr id="18" name="Freeform 4"/>
          <p:cNvSpPr>
            <a:spLocks/>
          </p:cNvSpPr>
          <p:nvPr/>
        </p:nvSpPr>
        <p:spPr bwMode="auto">
          <a:xfrm>
            <a:off x="9989078" y="4171578"/>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5" name="Título 1">
            <a:extLst>
              <a:ext uri="{FF2B5EF4-FFF2-40B4-BE49-F238E27FC236}">
                <a16:creationId xmlns:a16="http://schemas.microsoft.com/office/drawing/2014/main" id="{81152A3D-A420-352E-8C83-CCC0DF642F25}"/>
              </a:ext>
            </a:extLst>
          </p:cNvPr>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206422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504411" y="3985937"/>
            <a:ext cx="11183178" cy="1200329"/>
          </a:xfrm>
          <a:prstGeom prst="rect">
            <a:avLst/>
          </a:prstGeom>
          <a:noFill/>
        </p:spPr>
        <p:txBody>
          <a:bodyPr wrap="square" rtlCol="0">
            <a:spAutoFit/>
          </a:bodyPr>
          <a:lstStyle/>
          <a:p>
            <a:pPr marL="342900" lvl="0" indent="-342900" algn="just">
              <a:buFont typeface="+mj-lt"/>
              <a:buAutoNum type="alphaLcParenR"/>
              <a:tabLst>
                <a:tab pos="457200" algn="l"/>
              </a:tabLst>
            </a:pPr>
            <a:r>
              <a:rPr lang="es-ES" spc="100" dirty="0"/>
              <a:t>Revisar el contrato del proveedor para entender las condiciones de venta.</a:t>
            </a:r>
            <a:endParaRPr lang="es-PE" spc="100" dirty="0"/>
          </a:p>
          <a:p>
            <a:pPr marL="342900" lvl="0" indent="-342900" algn="just">
              <a:buFont typeface="+mj-lt"/>
              <a:buAutoNum type="alphaLcParenR"/>
              <a:tabLst>
                <a:tab pos="457200" algn="l"/>
              </a:tabLst>
            </a:pPr>
            <a:r>
              <a:rPr lang="es-ES" spc="100" dirty="0"/>
              <a:t>Insistir en que el proveedor entregue la mercancía en la fecha acordada.</a:t>
            </a:r>
            <a:endParaRPr lang="es-PE" spc="100" dirty="0"/>
          </a:p>
          <a:p>
            <a:pPr marL="342900" lvl="0" indent="-342900" algn="just">
              <a:buFont typeface="+mj-lt"/>
              <a:buAutoNum type="alphaLcParenR"/>
              <a:tabLst>
                <a:tab pos="457200" algn="l"/>
              </a:tabLst>
            </a:pPr>
            <a:r>
              <a:rPr lang="es-ES" spc="100" dirty="0"/>
              <a:t>Actualizar el registro de riesgos y aprovechar la oportunidad.</a:t>
            </a:r>
            <a:endParaRPr lang="es-PE" spc="100" dirty="0"/>
          </a:p>
          <a:p>
            <a:pPr marL="342900" lvl="0" indent="-342900" algn="just">
              <a:buFont typeface="+mj-lt"/>
              <a:buAutoNum type="alphaLcParenR"/>
              <a:tabLst>
                <a:tab pos="457200" algn="l"/>
              </a:tabLst>
            </a:pPr>
            <a:r>
              <a:rPr lang="es-ES" spc="100" dirty="0"/>
              <a:t>Aceptar el riesgo y actualizar el registro de riesgos.</a:t>
            </a:r>
            <a:endParaRPr lang="es-PE" spc="100" dirty="0"/>
          </a:p>
        </p:txBody>
      </p:sp>
      <p:sp>
        <p:nvSpPr>
          <p:cNvPr id="3" name="CuadroTexto 2"/>
          <p:cNvSpPr txBox="1"/>
          <p:nvPr/>
        </p:nvSpPr>
        <p:spPr>
          <a:xfrm>
            <a:off x="346299" y="1862138"/>
            <a:ext cx="11341290" cy="1857368"/>
          </a:xfrm>
          <a:prstGeom prst="rect">
            <a:avLst/>
          </a:prstGeom>
          <a:noFill/>
        </p:spPr>
        <p:txBody>
          <a:bodyPr wrap="square" rtlCol="0">
            <a:spAutoFit/>
          </a:bodyPr>
          <a:lstStyle/>
          <a:p>
            <a:pPr marL="342900" lvl="0" indent="-342900" algn="just">
              <a:lnSpc>
                <a:spcPct val="107000"/>
              </a:lnSpc>
              <a:spcAft>
                <a:spcPts val="800"/>
              </a:spcAft>
              <a:buFont typeface="+mj-lt"/>
              <a:buAutoNum type="arabicPeriod" startAt="9"/>
            </a:pPr>
            <a:r>
              <a:rPr lang="es-ES" b="1" dirty="0"/>
              <a:t>Se ha asignado a un director de proyecto la construcción de un parque solar que suministrará energía limpia a un nuevo complejo de viviendas. El Gobierno ha decidido reducir el impuesto sobre los productos de energías renovables a partir del 1 de enero. El proveedor ha comunicado que el pedido de paneles solares que debía entregarse el 20 de diciembre podría retrasarse hasta principios de enero. Por otro lado, el proyecto se enfrentará a limitaciones similares debido a las vacaciones de diciembre. ¿Qué debe hacer el director del proyecto ante este riesgo?</a:t>
            </a:r>
            <a:endParaRPr lang="es-PE" b="1" dirty="0"/>
          </a:p>
        </p:txBody>
      </p:sp>
      <p:sp>
        <p:nvSpPr>
          <p:cNvPr id="18" name="Freeform 4"/>
          <p:cNvSpPr>
            <a:spLocks/>
          </p:cNvSpPr>
          <p:nvPr/>
        </p:nvSpPr>
        <p:spPr bwMode="auto">
          <a:xfrm>
            <a:off x="7471622" y="4635494"/>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5" name="Título 1">
            <a:extLst>
              <a:ext uri="{FF2B5EF4-FFF2-40B4-BE49-F238E27FC236}">
                <a16:creationId xmlns:a16="http://schemas.microsoft.com/office/drawing/2014/main" id="{58EFFB64-0BEE-72CE-5D10-F1BFFC755355}"/>
              </a:ext>
            </a:extLst>
          </p:cNvPr>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83708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504411" y="2828835"/>
            <a:ext cx="11183178" cy="1200329"/>
          </a:xfrm>
          <a:prstGeom prst="rect">
            <a:avLst/>
          </a:prstGeom>
          <a:noFill/>
        </p:spPr>
        <p:txBody>
          <a:bodyPr wrap="square" rtlCol="0">
            <a:spAutoFit/>
          </a:bodyPr>
          <a:lstStyle/>
          <a:p>
            <a:pPr marL="342900" indent="-342900" algn="just">
              <a:buFont typeface="+mj-lt"/>
              <a:buAutoNum type="alphaLcParenR"/>
              <a:tabLst>
                <a:tab pos="457200" algn="l"/>
              </a:tabLst>
            </a:pPr>
            <a:r>
              <a:rPr lang="es-ES" spc="100" dirty="0"/>
              <a:t>Rechazar la sugerencia y pedir al miembro del equipo que se centre en la ejecución del plan.</a:t>
            </a:r>
            <a:endParaRPr lang="es-PE" spc="100" dirty="0"/>
          </a:p>
          <a:p>
            <a:pPr marL="342900" indent="-342900" algn="just">
              <a:buFont typeface="+mj-lt"/>
              <a:buAutoNum type="alphaLcParenR"/>
              <a:tabLst>
                <a:tab pos="457200" algn="l"/>
              </a:tabLst>
            </a:pPr>
            <a:r>
              <a:rPr lang="es-ES" spc="100" dirty="0"/>
              <a:t>Pedir al miembro del equipo que presente una solicitud de cambio formal.</a:t>
            </a:r>
            <a:endParaRPr lang="es-PE" spc="100" dirty="0"/>
          </a:p>
          <a:p>
            <a:pPr marL="342900" indent="-342900" algn="just">
              <a:buFont typeface="+mj-lt"/>
              <a:buAutoNum type="alphaLcParenR"/>
              <a:tabLst>
                <a:tab pos="457200" algn="l"/>
              </a:tabLst>
            </a:pPr>
            <a:r>
              <a:rPr lang="es-ES" spc="100" dirty="0"/>
              <a:t>Aceptar la sugerencia ya que no tiene impacto en el proyecto.</a:t>
            </a:r>
            <a:endParaRPr lang="es-PE" spc="100" dirty="0"/>
          </a:p>
          <a:p>
            <a:pPr marL="342900" indent="-342900" algn="just">
              <a:buFont typeface="+mj-lt"/>
              <a:buAutoNum type="alphaLcParenR"/>
              <a:tabLst>
                <a:tab pos="457200" algn="l"/>
              </a:tabLst>
            </a:pPr>
            <a:r>
              <a:rPr lang="es-ES" spc="100" dirty="0"/>
              <a:t>Pedir a otro miembro del equipo que valide el impacto de la sugerencia.</a:t>
            </a:r>
            <a:endParaRPr lang="es-PE" spc="100" dirty="0"/>
          </a:p>
        </p:txBody>
      </p:sp>
      <p:sp>
        <p:nvSpPr>
          <p:cNvPr id="3" name="CuadroTexto 2"/>
          <p:cNvSpPr txBox="1"/>
          <p:nvPr/>
        </p:nvSpPr>
        <p:spPr>
          <a:xfrm>
            <a:off x="346299" y="1952811"/>
            <a:ext cx="11341290" cy="671915"/>
          </a:xfrm>
          <a:prstGeom prst="rect">
            <a:avLst/>
          </a:prstGeom>
          <a:noFill/>
        </p:spPr>
        <p:txBody>
          <a:bodyPr wrap="square" rtlCol="0">
            <a:spAutoFit/>
          </a:bodyPr>
          <a:lstStyle/>
          <a:p>
            <a:pPr marL="342900" lvl="0" indent="-342900" algn="just">
              <a:lnSpc>
                <a:spcPct val="107000"/>
              </a:lnSpc>
              <a:spcAft>
                <a:spcPts val="800"/>
              </a:spcAft>
              <a:buFont typeface="+mj-lt"/>
              <a:buAutoNum type="arabicPeriod" startAt="10"/>
            </a:pPr>
            <a:r>
              <a:rPr lang="es-ES" b="1" dirty="0"/>
              <a:t>Un jefe de proyecto recibe una sugerencia de un miembro del equipo para mejorar los atributos del producto sin afectar al calendario ni al costo. Esto añadirá valor al proyecto y al cliente. ¿Qué debe hacer el jefe de proyecto?</a:t>
            </a:r>
            <a:endParaRPr lang="es-PE" b="1" dirty="0"/>
          </a:p>
        </p:txBody>
      </p:sp>
      <p:sp>
        <p:nvSpPr>
          <p:cNvPr id="18" name="Freeform 4"/>
          <p:cNvSpPr>
            <a:spLocks/>
          </p:cNvSpPr>
          <p:nvPr/>
        </p:nvSpPr>
        <p:spPr bwMode="auto">
          <a:xfrm>
            <a:off x="8805122" y="3209924"/>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5" name="Título 1">
            <a:extLst>
              <a:ext uri="{FF2B5EF4-FFF2-40B4-BE49-F238E27FC236}">
                <a16:creationId xmlns:a16="http://schemas.microsoft.com/office/drawing/2014/main" id="{E79C2FC1-0230-7A3F-3A08-5636052A6DE5}"/>
              </a:ext>
            </a:extLst>
          </p:cNvPr>
          <p:cNvSpPr>
            <a:spLocks noGrp="1"/>
          </p:cNvSpPr>
          <p:nvPr>
            <p:ph type="title"/>
          </p:nvPr>
        </p:nvSpPr>
        <p:spPr>
          <a:xfrm>
            <a:off x="405371" y="355600"/>
            <a:ext cx="10515600" cy="1325563"/>
          </a:xfrm>
        </p:spPr>
        <p:txBody>
          <a:bodyPr/>
          <a:lstStyle/>
          <a:p>
            <a:r>
              <a:rPr lang="es-ES" dirty="0"/>
              <a:t>Simulacro de examen</a:t>
            </a:r>
            <a:endParaRPr lang="en-US" dirty="0"/>
          </a:p>
        </p:txBody>
      </p:sp>
    </p:spTree>
    <p:extLst>
      <p:ext uri="{BB962C8B-B14F-4D97-AF65-F5344CB8AC3E}">
        <p14:creationId xmlns:p14="http://schemas.microsoft.com/office/powerpoint/2010/main" val="1795786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5884</TotalTime>
  <Words>1348</Words>
  <Application>Microsoft Office PowerPoint</Application>
  <PresentationFormat>Panorámica</PresentationFormat>
  <Paragraphs>66</Paragraphs>
  <Slides>13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Arial</vt:lpstr>
      <vt:lpstr>Arial Narrow</vt:lpstr>
      <vt:lpstr>Calibri</vt:lpstr>
      <vt:lpstr>Calibri Light</vt:lpstr>
      <vt:lpstr>Prompt</vt:lpstr>
      <vt:lpstr>Tw Cen MT</vt:lpstr>
      <vt:lpstr>Tema de Office</vt:lpstr>
      <vt:lpstr>Presentación de PowerPoint</vt:lpstr>
      <vt:lpstr>Presentación de PowerPoint</vt:lpstr>
      <vt:lpstr>SESIÓN 13 SIMULACRO DE EXAMEN</vt:lpstr>
      <vt:lpstr>Simulacro de examen</vt:lpstr>
      <vt:lpstr>Simulacro de examen</vt:lpstr>
      <vt:lpstr>Simulacro de examen</vt:lpstr>
      <vt:lpstr>Simulacro de examen</vt:lpstr>
      <vt:lpstr>Simulacro de examen</vt:lpstr>
      <vt:lpstr>Simulacro de examen</vt:lpstr>
      <vt:lpstr>Simulacro de examen</vt:lpstr>
      <vt:lpstr>Simulacro de examen</vt:lpstr>
      <vt:lpstr>Simulacro de examen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Angel Omar Gonzales</cp:lastModifiedBy>
  <cp:revision>74</cp:revision>
  <dcterms:created xsi:type="dcterms:W3CDTF">2022-04-19T18:02:09Z</dcterms:created>
  <dcterms:modified xsi:type="dcterms:W3CDTF">2023-11-10T00:20:51Z</dcterms:modified>
</cp:coreProperties>
</file>