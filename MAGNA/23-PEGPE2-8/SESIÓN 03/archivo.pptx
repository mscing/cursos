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88" r:id="rId5"/>
    <p:sldId id="297" r:id="rId6"/>
    <p:sldId id="298" r:id="rId7"/>
    <p:sldId id="299" r:id="rId8"/>
    <p:sldId id="301" r:id="rId9"/>
    <p:sldId id="342" r:id="rId10"/>
    <p:sldId id="305" r:id="rId11"/>
    <p:sldId id="260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05/10/2023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inelin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inelinc/" TargetMode="External"/><Relationship Id="rId2" Type="http://schemas.openxmlformats.org/officeDocument/2006/relationships/hyperlink" Target="https://www.linkedin.com/company/inelin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inelinc" TargetMode="External"/><Relationship Id="rId4" Type="http://schemas.openxmlformats.org/officeDocument/2006/relationships/hyperlink" Target="https://www.instagram.com/inel.inc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469177" y="541700"/>
            <a:ext cx="381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CURSO DE FORMACIÓN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89950" y="2754228"/>
            <a:ext cx="10993549" cy="147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GESTIÓN DE PROYECTOS ELECTROMECÁNICOS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783075" y="3754230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Según 7ma edición PMBOK® - PROJECT MANAGEMENT INSTITUTE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205311" y="4943265"/>
            <a:ext cx="31771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MAYOR ENFOQUE A </a:t>
            </a:r>
            <a:r>
              <a:rPr 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  <a:r>
              <a:rPr lang="es-ES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… QUE A ENTREGABLES</a:t>
            </a: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0423" y="3176373"/>
            <a:ext cx="6667500" cy="844550"/>
          </a:xfrm>
        </p:spPr>
        <p:txBody>
          <a:bodyPr/>
          <a:lstStyle/>
          <a:p>
            <a:r>
              <a:rPr lang="es-ES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SESIÓN 03</a:t>
            </a:r>
          </a:p>
        </p:txBody>
      </p:sp>
    </p:spTree>
    <p:extLst>
      <p:ext uri="{BB962C8B-B14F-4D97-AF65-F5344CB8AC3E}">
        <p14:creationId xmlns:p14="http://schemas.microsoft.com/office/powerpoint/2010/main" val="107133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hlinkClick r:id="rId2"/>
            <a:extLst>
              <a:ext uri="{FF2B5EF4-FFF2-40B4-BE49-F238E27FC236}">
                <a16:creationId xmlns:a16="http://schemas.microsoft.com/office/drawing/2014/main" id="{B2CCC631-FFDD-4E26-9159-C5BB2FC4F05C}"/>
              </a:ext>
            </a:extLst>
          </p:cNvPr>
          <p:cNvSpPr/>
          <p:nvPr/>
        </p:nvSpPr>
        <p:spPr>
          <a:xfrm>
            <a:off x="1454284" y="5907881"/>
            <a:ext cx="345941" cy="304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0DC3D3-042A-4FBC-84AB-5E5F72824E1E}"/>
              </a:ext>
            </a:extLst>
          </p:cNvPr>
          <p:cNvSpPr txBox="1"/>
          <p:nvPr/>
        </p:nvSpPr>
        <p:spPr>
          <a:xfrm>
            <a:off x="480300" y="734293"/>
            <a:ext cx="7335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dirty="0">
                <a:latin typeface="Futura-Bold" pitchFamily="2" charset="0"/>
              </a:rPr>
              <a:t>Agenda</a:t>
            </a: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5AB2D3A9-6F4D-344C-9378-75484DCB9681}"/>
              </a:ext>
            </a:extLst>
          </p:cNvPr>
          <p:cNvSpPr/>
          <p:nvPr/>
        </p:nvSpPr>
        <p:spPr>
          <a:xfrm>
            <a:off x="2751688" y="1699354"/>
            <a:ext cx="891540" cy="891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0B9D3BC8-4C2E-D642-88E4-84578137B50B}"/>
              </a:ext>
            </a:extLst>
          </p:cNvPr>
          <p:cNvSpPr/>
          <p:nvPr/>
        </p:nvSpPr>
        <p:spPr>
          <a:xfrm>
            <a:off x="2751688" y="2773774"/>
            <a:ext cx="891540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F076D6E-3CB7-EA4F-ABFD-595DE2B0EE21}"/>
              </a:ext>
            </a:extLst>
          </p:cNvPr>
          <p:cNvSpPr/>
          <p:nvPr/>
        </p:nvSpPr>
        <p:spPr>
          <a:xfrm>
            <a:off x="2751688" y="3848194"/>
            <a:ext cx="891540" cy="8915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86E61A51-4080-D747-BEEC-36EB62F657E7}"/>
              </a:ext>
            </a:extLst>
          </p:cNvPr>
          <p:cNvSpPr txBox="1"/>
          <p:nvPr/>
        </p:nvSpPr>
        <p:spPr>
          <a:xfrm>
            <a:off x="2892727" y="167938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5E35E49-1469-C74E-9808-7442A8C2701B}"/>
              </a:ext>
            </a:extLst>
          </p:cNvPr>
          <p:cNvSpPr txBox="1"/>
          <p:nvPr/>
        </p:nvSpPr>
        <p:spPr>
          <a:xfrm>
            <a:off x="2892727" y="275380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3013026D-5AAE-5046-9336-9D0A775EEB0C}"/>
              </a:ext>
            </a:extLst>
          </p:cNvPr>
          <p:cNvSpPr txBox="1"/>
          <p:nvPr/>
        </p:nvSpPr>
        <p:spPr>
          <a:xfrm>
            <a:off x="2892726" y="382822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F1DA5C09-0AA0-3A46-98D0-C4584C233D3D}"/>
              </a:ext>
            </a:extLst>
          </p:cNvPr>
          <p:cNvSpPr/>
          <p:nvPr/>
        </p:nvSpPr>
        <p:spPr>
          <a:xfrm>
            <a:off x="3646834" y="169935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2" name="Rectangle 14">
            <a:extLst>
              <a:ext uri="{FF2B5EF4-FFF2-40B4-BE49-F238E27FC236}">
                <a16:creationId xmlns:a16="http://schemas.microsoft.com/office/drawing/2014/main" id="{9EC1C1FF-95F0-C749-8196-8724C6BAE2D6}"/>
              </a:ext>
            </a:extLst>
          </p:cNvPr>
          <p:cNvSpPr/>
          <p:nvPr/>
        </p:nvSpPr>
        <p:spPr>
          <a:xfrm>
            <a:off x="3646834" y="277377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2454F0E4-D6B4-AA48-8BA5-62A6EA619989}"/>
              </a:ext>
            </a:extLst>
          </p:cNvPr>
          <p:cNvSpPr/>
          <p:nvPr/>
        </p:nvSpPr>
        <p:spPr>
          <a:xfrm>
            <a:off x="3646834" y="384819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43A67BBC-AC66-0343-BD39-82BB808757E4}"/>
              </a:ext>
            </a:extLst>
          </p:cNvPr>
          <p:cNvSpPr txBox="1"/>
          <p:nvPr/>
        </p:nvSpPr>
        <p:spPr>
          <a:xfrm>
            <a:off x="3981188" y="1975847"/>
            <a:ext cx="528221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 PROJECT CHARTER: ¿EN QUÉ TE PUEDE APOYAR?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DDCD1AEF-006A-5D49-8BFB-CCAA6EEED0CA}"/>
              </a:ext>
            </a:extLst>
          </p:cNvPr>
          <p:cNvSpPr txBox="1"/>
          <p:nvPr/>
        </p:nvSpPr>
        <p:spPr>
          <a:xfrm>
            <a:off x="3981188" y="3050267"/>
            <a:ext cx="401424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 PLAN DE DIRECCIÓN DEL PROYECTO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68DC790B-F525-9E48-B131-CE273BCAC9B7}"/>
              </a:ext>
            </a:extLst>
          </p:cNvPr>
          <p:cNvSpPr txBox="1"/>
          <p:nvPr/>
        </p:nvSpPr>
        <p:spPr>
          <a:xfrm>
            <a:off x="3981188" y="3994044"/>
            <a:ext cx="586766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¿QUÉ TANTO CRECE TU EQUIPO?: EL MONITOREO DEL CONOCIMIENTO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1D0A8-E30C-E79A-E24C-A5DD8BC7B1A4}"/>
              </a:ext>
            </a:extLst>
          </p:cNvPr>
          <p:cNvSpPr/>
          <p:nvPr/>
        </p:nvSpPr>
        <p:spPr>
          <a:xfrm>
            <a:off x="2751688" y="4918063"/>
            <a:ext cx="891540" cy="891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80C49E3-84EB-A532-ADE6-296790F222E2}"/>
              </a:ext>
            </a:extLst>
          </p:cNvPr>
          <p:cNvSpPr txBox="1"/>
          <p:nvPr/>
        </p:nvSpPr>
        <p:spPr>
          <a:xfrm>
            <a:off x="2892727" y="4898098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4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1AA1877-F77E-174B-F50A-B72D3CD25C68}"/>
              </a:ext>
            </a:extLst>
          </p:cNvPr>
          <p:cNvSpPr/>
          <p:nvPr/>
        </p:nvSpPr>
        <p:spPr>
          <a:xfrm>
            <a:off x="3646834" y="4918063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C021090E-E2F1-DC1A-C1BC-12DFB1D483BE}"/>
              </a:ext>
            </a:extLst>
          </p:cNvPr>
          <p:cNvSpPr txBox="1"/>
          <p:nvPr/>
        </p:nvSpPr>
        <p:spPr>
          <a:xfrm>
            <a:off x="3981188" y="5194556"/>
            <a:ext cx="1383712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DINÁMICAS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398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6" grpId="0"/>
      <p:bldP spid="37" grpId="0"/>
      <p:bldP spid="38" grpId="0"/>
      <p:bldP spid="41" grpId="0" animBg="1"/>
      <p:bldP spid="42" grpId="0" animBg="1"/>
      <p:bldP spid="43" grpId="0" animBg="1"/>
      <p:bldP spid="46" grpId="0"/>
      <p:bldP spid="47" grpId="0"/>
      <p:bldP spid="48" grpId="0"/>
      <p:bldP spid="2" grpId="0" animBg="1"/>
      <p:bldP spid="3" grpId="0"/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455221" y="2179035"/>
            <a:ext cx="6271044" cy="3785652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s-PE" sz="2400" dirty="0">
                <a:solidFill>
                  <a:srgbClr val="0070C0"/>
                </a:solidFill>
                <a:latin typeface="Tw Cen MT" panose="020B0602020104020603"/>
              </a:rPr>
              <a:t>Es tu responsabilidad, Project Manager!</a:t>
            </a:r>
          </a:p>
          <a:p>
            <a:endParaRPr lang="es-PE" sz="2400" dirty="0">
              <a:solidFill>
                <a:srgbClr val="2E2B21"/>
              </a:solidFill>
              <a:latin typeface="Tw Cen MT" panose="020B0602020104020603"/>
            </a:endParaRPr>
          </a:p>
          <a:p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Comienza desde el inicio </a:t>
            </a:r>
            <a:r>
              <a:rPr lang="es-PE" sz="2400" b="1" dirty="0">
                <a:solidFill>
                  <a:srgbClr val="2E2B21"/>
                </a:solidFill>
                <a:latin typeface="Tahoma" pitchFamily="34" charset="0"/>
              </a:rPr>
              <a:t>FORMAL</a:t>
            </a:r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 del proyecto y va integrando todos entregables: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Ubicación de los recursos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Analizar alternativas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Definir los procesos que permitan cumplir los objetivos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PE" sz="2400" dirty="0">
                <a:solidFill>
                  <a:srgbClr val="2E2B21"/>
                </a:solidFill>
                <a:latin typeface="Tahoma" pitchFamily="34" charset="0"/>
              </a:rPr>
              <a:t>Manejar las relaciones entre las demás áreas del conocimiento.</a:t>
            </a:r>
            <a:endParaRPr lang="en-US" sz="2400" dirty="0">
              <a:solidFill>
                <a:srgbClr val="2E2B21"/>
              </a:solidFill>
              <a:latin typeface="Tw Cen MT" panose="020B0602020104020603"/>
            </a:endParaRPr>
          </a:p>
        </p:txBody>
      </p:sp>
      <p:pic>
        <p:nvPicPr>
          <p:cNvPr id="4" name="Picture 2" descr="Resultado de imagen para GESTION DE LA INTEGRACION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73" t="9350" r="473" b="259"/>
          <a:stretch/>
        </p:blipFill>
        <p:spPr bwMode="auto">
          <a:xfrm>
            <a:off x="6957558" y="2179035"/>
            <a:ext cx="4653250" cy="385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/>
          <a:lstStyle/>
          <a:p>
            <a:r>
              <a:rPr lang="es-ES" b="1" dirty="0"/>
              <a:t>LA GESTIÓN DE LA INTEGRACIÓN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50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1"/>
          <p:cNvSpPr>
            <a:spLocks noChangeArrowheads="1"/>
          </p:cNvSpPr>
          <p:nvPr/>
        </p:nvSpPr>
        <p:spPr bwMode="auto">
          <a:xfrm>
            <a:off x="448904" y="1537068"/>
            <a:ext cx="11298812" cy="1135414"/>
          </a:xfrm>
          <a:prstGeom prst="roundRect">
            <a:avLst>
              <a:gd name="adj" fmla="val 11398"/>
            </a:avLst>
          </a:prstGeom>
          <a:solidFill>
            <a:srgbClr val="FFFFCC"/>
          </a:solidFill>
          <a:ln w="1270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 algn="just" defTabSz="190500">
              <a:lnSpc>
                <a:spcPct val="130000"/>
              </a:lnSpc>
            </a:pP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acta de constitución del proyecto es un </a:t>
            </a: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documento formal 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</a:t>
            </a: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autoriza 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comienzo de tu </a:t>
            </a:r>
            <a:r>
              <a:rPr lang="es-PE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 o fase de tu proyecto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 debe ser </a:t>
            </a: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emitido por una gerencia de alto nivel de tu empresa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Otorga al Project Manager  la </a:t>
            </a: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autoridad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aplicar recursos de tu empresa a las actividades de tu proyecto. 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7271855" y="3024524"/>
            <a:ext cx="4338953" cy="3266739"/>
          </a:xfrm>
          <a:prstGeom prst="roundRect">
            <a:avLst>
              <a:gd name="adj" fmla="val 2176"/>
            </a:avLst>
          </a:prstGeom>
          <a:solidFill>
            <a:srgbClr val="F2F2F2"/>
          </a:solidFill>
          <a:ln w="1270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 marL="95250" defTabSz="190500">
              <a:lnSpc>
                <a:spcPct val="110000"/>
              </a:lnSpc>
              <a:spcBef>
                <a:spcPct val="50000"/>
              </a:spcBef>
              <a:defRPr/>
            </a:pPr>
            <a:r>
              <a:rPr lang="es-PE" sz="1400" dirty="0">
                <a:latin typeface="Arial" charset="0"/>
              </a:rPr>
              <a:t>Contiene, entre otros: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Necesidad del proyecto.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Objetivos medibles.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Descripción del proyecto a alto nivel.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Riesgos generales.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Resumen del cronograma de hitos.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Presupuesto a alto nivel.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Asignación del Gerente o Director del proyecto.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400" dirty="0">
                <a:latin typeface="Arial" charset="0"/>
              </a:rPr>
              <a:t>Nombre del Sponsor.</a:t>
            </a:r>
          </a:p>
          <a:p>
            <a:pPr marL="266700" indent="-171450" defTabSz="190500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s-PE" sz="1400" dirty="0">
              <a:solidFill>
                <a:srgbClr val="2E2B21"/>
              </a:solidFill>
              <a:latin typeface="Arial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1279071" y="3039727"/>
            <a:ext cx="2642315" cy="5224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Factibilidad, evaluación financiera</a:t>
            </a:r>
            <a:endParaRPr lang="en-US" sz="1400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728389" y="3951493"/>
            <a:ext cx="2642315" cy="5224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Contrato, Carta de intención</a:t>
            </a:r>
            <a:endParaRPr lang="en-US" sz="1400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728390" y="4935707"/>
            <a:ext cx="2642315" cy="5224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Estructura de tu empresa</a:t>
            </a:r>
            <a:endParaRPr lang="en-US" sz="1400" dirty="0"/>
          </a:p>
        </p:txBody>
      </p:sp>
      <p:sp>
        <p:nvSpPr>
          <p:cNvPr id="14" name="Rectángulo redondeado 13"/>
          <p:cNvSpPr/>
          <p:nvPr/>
        </p:nvSpPr>
        <p:spPr>
          <a:xfrm>
            <a:off x="1279071" y="5768808"/>
            <a:ext cx="2642315" cy="5224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Procedimientos, formatos</a:t>
            </a:r>
            <a:endParaRPr lang="en-US" sz="1400" dirty="0"/>
          </a:p>
        </p:txBody>
      </p:sp>
      <p:cxnSp>
        <p:nvCxnSpPr>
          <p:cNvPr id="15" name="Conector recto de flecha 14"/>
          <p:cNvCxnSpPr>
            <a:stCxn id="11" idx="3"/>
          </p:cNvCxnSpPr>
          <p:nvPr/>
        </p:nvCxnSpPr>
        <p:spPr>
          <a:xfrm>
            <a:off x="3921386" y="3300955"/>
            <a:ext cx="231500" cy="1379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>
            <a:stCxn id="12" idx="3"/>
          </p:cNvCxnSpPr>
          <p:nvPr/>
        </p:nvCxnSpPr>
        <p:spPr>
          <a:xfrm>
            <a:off x="3370704" y="4212721"/>
            <a:ext cx="782182" cy="467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13" idx="3"/>
          </p:cNvCxnSpPr>
          <p:nvPr/>
        </p:nvCxnSpPr>
        <p:spPr>
          <a:xfrm flipV="1">
            <a:off x="3370705" y="4680241"/>
            <a:ext cx="782181" cy="516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stCxn id="14" idx="3"/>
          </p:cNvCxnSpPr>
          <p:nvPr/>
        </p:nvCxnSpPr>
        <p:spPr>
          <a:xfrm flipV="1">
            <a:off x="3921386" y="4680241"/>
            <a:ext cx="231500" cy="134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Imagen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886" y="3189176"/>
            <a:ext cx="2410815" cy="31020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1. EL PROJECT CHARTER: ¿EN QUÉ TE PUEDE APOYAR?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3374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2"/>
          <p:cNvSpPr>
            <a:spLocks noChangeArrowheads="1"/>
          </p:cNvSpPr>
          <p:nvPr/>
        </p:nvSpPr>
        <p:spPr bwMode="auto">
          <a:xfrm>
            <a:off x="5575497" y="3122747"/>
            <a:ext cx="1766343" cy="1774825"/>
          </a:xfrm>
          <a:prstGeom prst="verticalScroll">
            <a:avLst>
              <a:gd name="adj" fmla="val 12500"/>
            </a:avLst>
          </a:prstGeom>
          <a:solidFill>
            <a:srgbClr val="E5F5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5000"/>
              </a:spcBef>
              <a:spcAft>
                <a:spcPct val="40000"/>
              </a:spcAft>
              <a:buClr>
                <a:srgbClr val="0033CC"/>
              </a:buClr>
              <a:buFont typeface="Wingdings" pitchFamily="2" charset="2"/>
              <a:buNone/>
            </a:pPr>
            <a:r>
              <a:rPr lang="es-ES_tradnl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para </a:t>
            </a:r>
          </a:p>
          <a:p>
            <a:pPr algn="ctr" eaLnBrk="0" hangingPunct="0">
              <a:lnSpc>
                <a:spcPct val="80000"/>
              </a:lnSpc>
              <a:spcBef>
                <a:spcPct val="5000"/>
              </a:spcBef>
              <a:spcAft>
                <a:spcPct val="40000"/>
              </a:spcAft>
              <a:buClr>
                <a:srgbClr val="0033CC"/>
              </a:buClr>
              <a:buFont typeface="Wingdings" pitchFamily="2" charset="2"/>
              <a:buNone/>
            </a:pPr>
            <a:r>
              <a:rPr lang="es-ES_tradnl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Dirección </a:t>
            </a:r>
          </a:p>
          <a:p>
            <a:pPr algn="ctr" eaLnBrk="0" hangingPunct="0">
              <a:lnSpc>
                <a:spcPct val="80000"/>
              </a:lnSpc>
              <a:spcBef>
                <a:spcPct val="5000"/>
              </a:spcBef>
              <a:spcAft>
                <a:spcPct val="40000"/>
              </a:spcAft>
              <a:buClr>
                <a:srgbClr val="0033CC"/>
              </a:buClr>
              <a:buFont typeface="Wingdings" pitchFamily="2" charset="2"/>
              <a:buNone/>
            </a:pPr>
            <a:r>
              <a:rPr lang="es-ES_tradnl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</a:p>
          <a:p>
            <a:pPr algn="ctr" eaLnBrk="0" hangingPunct="0">
              <a:lnSpc>
                <a:spcPct val="80000"/>
              </a:lnSpc>
              <a:spcBef>
                <a:spcPct val="5000"/>
              </a:spcBef>
              <a:spcAft>
                <a:spcPct val="40000"/>
              </a:spcAft>
              <a:buClr>
                <a:srgbClr val="0033CC"/>
              </a:buClr>
              <a:buFont typeface="Wingdings" pitchFamily="2" charset="2"/>
              <a:buNone/>
            </a:pPr>
            <a:r>
              <a:rPr lang="es-ES_tradnl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</a:p>
          <a:p>
            <a:pPr algn="ctr" eaLnBrk="0" hangingPunct="0">
              <a:lnSpc>
                <a:spcPct val="80000"/>
              </a:lnSpc>
              <a:spcBef>
                <a:spcPct val="5000"/>
              </a:spcBef>
              <a:spcAft>
                <a:spcPct val="40000"/>
              </a:spcAft>
              <a:buClr>
                <a:srgbClr val="0033CC"/>
              </a:buClr>
              <a:buFont typeface="Wingdings" pitchFamily="2" charset="2"/>
              <a:buNone/>
            </a:pPr>
            <a:r>
              <a:rPr lang="es-ES_tradnl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(PDP)</a:t>
            </a:r>
            <a:endParaRPr lang="es-ES" sz="1400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6"/>
          <p:cNvSpPr>
            <a:spLocks noChangeArrowheads="1"/>
          </p:cNvSpPr>
          <p:nvPr/>
        </p:nvSpPr>
        <p:spPr bwMode="auto">
          <a:xfrm>
            <a:off x="1496821" y="5633088"/>
            <a:ext cx="3066756" cy="430212"/>
          </a:xfrm>
          <a:prstGeom prst="flowChartDocument">
            <a:avLst/>
          </a:prstGeom>
          <a:solidFill>
            <a:srgbClr val="E2F6FA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Adquisiciones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9"/>
          <p:cNvSpPr>
            <a:spLocks noChangeArrowheads="1"/>
          </p:cNvSpPr>
          <p:nvPr/>
        </p:nvSpPr>
        <p:spPr bwMode="auto">
          <a:xfrm>
            <a:off x="442313" y="2706380"/>
            <a:ext cx="3066756" cy="340029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del Cronograma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10"/>
          <p:cNvSpPr>
            <a:spLocks noChangeArrowheads="1"/>
          </p:cNvSpPr>
          <p:nvPr/>
        </p:nvSpPr>
        <p:spPr bwMode="auto">
          <a:xfrm>
            <a:off x="442313" y="3159089"/>
            <a:ext cx="3066756" cy="369230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Costos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11"/>
          <p:cNvSpPr>
            <a:spLocks noChangeArrowheads="1"/>
          </p:cNvSpPr>
          <p:nvPr/>
        </p:nvSpPr>
        <p:spPr bwMode="auto">
          <a:xfrm>
            <a:off x="442313" y="3626075"/>
            <a:ext cx="3066756" cy="347015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 de Calidad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12"/>
          <p:cNvSpPr>
            <a:spLocks noChangeArrowheads="1"/>
          </p:cNvSpPr>
          <p:nvPr/>
        </p:nvSpPr>
        <p:spPr bwMode="auto">
          <a:xfrm>
            <a:off x="442313" y="4060930"/>
            <a:ext cx="3066756" cy="402803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los recursos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13"/>
          <p:cNvSpPr>
            <a:spLocks noChangeArrowheads="1"/>
          </p:cNvSpPr>
          <p:nvPr/>
        </p:nvSpPr>
        <p:spPr bwMode="auto">
          <a:xfrm>
            <a:off x="442313" y="4564986"/>
            <a:ext cx="3066756" cy="432048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lIns="0" rIns="0"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las </a:t>
            </a:r>
          </a:p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Comunicaciones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4"/>
          <p:cNvSpPr>
            <a:spLocks noChangeArrowheads="1"/>
          </p:cNvSpPr>
          <p:nvPr/>
        </p:nvSpPr>
        <p:spPr bwMode="auto">
          <a:xfrm>
            <a:off x="825204" y="5138797"/>
            <a:ext cx="3066756" cy="412180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Riesgos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1589003" y="6154553"/>
            <a:ext cx="3066756" cy="431800"/>
          </a:xfrm>
          <a:prstGeom prst="flowChartDocument">
            <a:avLst/>
          </a:prstGeom>
          <a:solidFill>
            <a:srgbClr val="E2F6FA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involucramiento de los Interesados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8"/>
          <p:cNvSpPr>
            <a:spLocks noChangeArrowheads="1"/>
          </p:cNvSpPr>
          <p:nvPr/>
        </p:nvSpPr>
        <p:spPr bwMode="auto">
          <a:xfrm>
            <a:off x="1819108" y="1970510"/>
            <a:ext cx="3066756" cy="504825"/>
          </a:xfrm>
          <a:prstGeom prst="flowChartDocument">
            <a:avLst/>
          </a:prstGeom>
          <a:solidFill>
            <a:srgbClr val="E2F6FA"/>
          </a:solidFill>
          <a:ln w="317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</a:t>
            </a:r>
          </a:p>
          <a:p>
            <a:pPr algn="ctr">
              <a:lnSpc>
                <a:spcPct val="80000"/>
              </a:lnSpc>
            </a:pPr>
            <a:r>
              <a:rPr lang="es-MX" sz="12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Alcance</a:t>
            </a:r>
            <a:endParaRPr lang="es-ES" sz="1200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8396031" y="2008586"/>
            <a:ext cx="2880320" cy="1708943"/>
          </a:xfrm>
          <a:prstGeom prst="rect">
            <a:avLst/>
          </a:prstGeom>
          <a:solidFill>
            <a:srgbClr val="F2F2F2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190500" eaLnBrk="0" hangingPunct="0">
              <a:lnSpc>
                <a:spcPct val="130000"/>
              </a:lnSpc>
            </a:pPr>
            <a:r>
              <a:rPr lang="es-ES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líneas bases del proyecto incluyen:</a:t>
            </a:r>
            <a:endParaRPr lang="es-ES_tradnl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Línea base de alcance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Línea base del cronograma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Línea base de costos</a:t>
            </a:r>
          </a:p>
          <a:p>
            <a:pPr defTabSz="190500" eaLnBrk="0" hangingPunct="0">
              <a:lnSpc>
                <a:spcPct val="130000"/>
              </a:lnSpc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8021303" y="4010159"/>
            <a:ext cx="3629776" cy="2449808"/>
          </a:xfrm>
          <a:prstGeom prst="rect">
            <a:avLst/>
          </a:prstGeom>
          <a:solidFill>
            <a:srgbClr val="F2F2F2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defTabSz="190500" eaLnBrk="0" hangingPunct="0">
              <a:lnSpc>
                <a:spcPct val="130000"/>
              </a:lnSpc>
            </a:pPr>
            <a:r>
              <a:rPr lang="es-ES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adicionales: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cambios.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de gestión de la configuración.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 base de medición de desempeño.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de vida del proyecto.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de desarrollo: predictivo, adaptativo.</a:t>
            </a:r>
          </a:p>
          <a:p>
            <a:pPr marL="285750" indent="-285750" defTabSz="190500" eaLnBrk="0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Revisiones de la gestión.</a:t>
            </a:r>
          </a:p>
          <a:p>
            <a:pPr defTabSz="190500" eaLnBrk="0" hangingPunct="0">
              <a:lnSpc>
                <a:spcPct val="130000"/>
              </a:lnSpc>
            </a:pPr>
            <a:r>
              <a:rPr lang="es-ES" sz="14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15" name="Conector recto de flecha 14"/>
          <p:cNvCxnSpPr>
            <a:stCxn id="12" idx="3"/>
            <a:endCxn id="3" idx="1"/>
          </p:cNvCxnSpPr>
          <p:nvPr/>
        </p:nvCxnSpPr>
        <p:spPr>
          <a:xfrm>
            <a:off x="4885864" y="2222923"/>
            <a:ext cx="910426" cy="1787237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16" name="Conector recto de flecha 15"/>
          <p:cNvCxnSpPr>
            <a:stCxn id="5" idx="3"/>
            <a:endCxn id="3" idx="1"/>
          </p:cNvCxnSpPr>
          <p:nvPr/>
        </p:nvCxnSpPr>
        <p:spPr>
          <a:xfrm>
            <a:off x="3509069" y="2876395"/>
            <a:ext cx="2287221" cy="1133765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17" name="Conector recto de flecha 16"/>
          <p:cNvCxnSpPr>
            <a:stCxn id="7" idx="3"/>
            <a:endCxn id="3" idx="1"/>
          </p:cNvCxnSpPr>
          <p:nvPr/>
        </p:nvCxnSpPr>
        <p:spPr>
          <a:xfrm>
            <a:off x="3509069" y="3799583"/>
            <a:ext cx="2287221" cy="210577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18" name="Conector recto de flecha 17"/>
          <p:cNvCxnSpPr>
            <a:stCxn id="8" idx="3"/>
            <a:endCxn id="3" idx="1"/>
          </p:cNvCxnSpPr>
          <p:nvPr/>
        </p:nvCxnSpPr>
        <p:spPr>
          <a:xfrm flipV="1">
            <a:off x="3509069" y="4010160"/>
            <a:ext cx="2287221" cy="252172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19" name="Conector recto de flecha 18"/>
          <p:cNvCxnSpPr>
            <a:stCxn id="9" idx="3"/>
            <a:endCxn id="3" idx="1"/>
          </p:cNvCxnSpPr>
          <p:nvPr/>
        </p:nvCxnSpPr>
        <p:spPr>
          <a:xfrm flipV="1">
            <a:off x="3509069" y="4010160"/>
            <a:ext cx="2287221" cy="770850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20" name="Conector recto de flecha 19"/>
          <p:cNvCxnSpPr/>
          <p:nvPr/>
        </p:nvCxnSpPr>
        <p:spPr>
          <a:xfrm flipV="1">
            <a:off x="3933699" y="3980575"/>
            <a:ext cx="1904330" cy="1334727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21" name="Conector recto de flecha 20"/>
          <p:cNvCxnSpPr>
            <a:stCxn id="4" idx="3"/>
            <a:endCxn id="3" idx="1"/>
          </p:cNvCxnSpPr>
          <p:nvPr/>
        </p:nvCxnSpPr>
        <p:spPr>
          <a:xfrm flipV="1">
            <a:off x="4563577" y="4010160"/>
            <a:ext cx="1232713" cy="1838034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22" name="Conector recto de flecha 21"/>
          <p:cNvCxnSpPr>
            <a:stCxn id="11" idx="3"/>
          </p:cNvCxnSpPr>
          <p:nvPr/>
        </p:nvCxnSpPr>
        <p:spPr>
          <a:xfrm flipV="1">
            <a:off x="4655759" y="3991933"/>
            <a:ext cx="1119866" cy="2378520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cxnSp>
        <p:nvCxnSpPr>
          <p:cNvPr id="23" name="Conector recto de flecha 22"/>
          <p:cNvCxnSpPr>
            <a:stCxn id="6" idx="3"/>
            <a:endCxn id="3" idx="1"/>
          </p:cNvCxnSpPr>
          <p:nvPr/>
        </p:nvCxnSpPr>
        <p:spPr>
          <a:xfrm>
            <a:off x="3509069" y="3343704"/>
            <a:ext cx="2287221" cy="666456"/>
          </a:xfrm>
          <a:prstGeom prst="straightConnector1">
            <a:avLst/>
          </a:prstGeom>
          <a:noFill/>
          <a:ln w="9525" cap="flat" cmpd="sng" algn="ctr">
            <a:solidFill>
              <a:srgbClr val="2E2B21"/>
            </a:solidFill>
            <a:prstDash val="solid"/>
            <a:tailEnd type="triangle"/>
          </a:ln>
          <a:effectLst/>
        </p:spPr>
      </p:cxnSp>
      <p:pic>
        <p:nvPicPr>
          <p:cNvPr id="24" name="Picture 2" descr="http://3.bp.blogspot.com/_vEcnr3x0s2s/Sln7SXyu19I/AAAAAAAAAHg/ed3nX9vSjIM/s400/gestion+de+proyectos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3784" y="5181193"/>
            <a:ext cx="1475834" cy="1199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2. EL PLAN DE DIRECCIÓN DEL PROYECTO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838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1"/>
          <p:cNvSpPr>
            <a:spLocks noChangeArrowheads="1"/>
          </p:cNvSpPr>
          <p:nvPr/>
        </p:nvSpPr>
        <p:spPr bwMode="auto">
          <a:xfrm>
            <a:off x="465115" y="1958398"/>
            <a:ext cx="11298099" cy="1066944"/>
          </a:xfrm>
          <a:prstGeom prst="roundRect">
            <a:avLst>
              <a:gd name="adj" fmla="val 11398"/>
            </a:avLst>
          </a:prstGeom>
          <a:solidFill>
            <a:srgbClr val="FFFFCC"/>
          </a:solidFill>
          <a:ln w="1270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 algn="just" defTabSz="190500">
              <a:lnSpc>
                <a:spcPct val="130000"/>
              </a:lnSpc>
            </a:pP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usa el conocimiento existente y se crea nuevo conocimiento 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alcanzar los objetivos del proyecto y se contribuye al aprendizaje de tu empresa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Este proceso se lleva a cabo durante todo el proyecto. Involucra el conocimiento </a:t>
            </a:r>
            <a:r>
              <a:rPr lang="es-PE" sz="1600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explícito e implícito</a:t>
            </a:r>
            <a:r>
              <a:rPr lang="es-PE" sz="1600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PE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SIGUE APRENDIENDO CONSTANTEMENTE!</a:t>
            </a:r>
            <a:endParaRPr lang="es-PE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 descr="Resultado de imagen para calculos de cortocircuito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4498" y="3835264"/>
            <a:ext cx="2265653" cy="169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581192" y="3240020"/>
            <a:ext cx="3265771" cy="34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None/>
            </a:pPr>
            <a:r>
              <a:rPr lang="es-ES_tradnl" sz="16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del conocimiento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581192" y="3652537"/>
            <a:ext cx="4254279" cy="1216987"/>
          </a:xfrm>
          <a:prstGeom prst="roundRect">
            <a:avLst>
              <a:gd name="adj" fmla="val 2176"/>
            </a:avLst>
          </a:prstGeom>
          <a:solidFill>
            <a:srgbClr val="F2F2F2"/>
          </a:solidFill>
          <a:ln w="1270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200" b="1" dirty="0" err="1">
                <a:solidFill>
                  <a:srgbClr val="2E2B21"/>
                </a:solidFill>
                <a:latin typeface="Arial" charset="0"/>
              </a:rPr>
              <a:t>Networking</a:t>
            </a:r>
            <a:r>
              <a:rPr lang="es-PE" sz="1200" b="1" dirty="0">
                <a:solidFill>
                  <a:srgbClr val="2E2B21"/>
                </a:solidFill>
                <a:latin typeface="Arial" charset="0"/>
              </a:rPr>
              <a:t>: </a:t>
            </a:r>
            <a:r>
              <a:rPr lang="es-PE" sz="1200" dirty="0">
                <a:solidFill>
                  <a:srgbClr val="2E2B21"/>
                </a:solidFill>
                <a:latin typeface="Arial" charset="0"/>
              </a:rPr>
              <a:t>Foros, seminarios, conferencias. (PMI, AACE, IEEE, CIP, CAPECO, AEP, </a:t>
            </a:r>
            <a:r>
              <a:rPr lang="es-PE" sz="1200" dirty="0" err="1">
                <a:solidFill>
                  <a:srgbClr val="2E2B21"/>
                </a:solidFill>
                <a:latin typeface="Arial" charset="0"/>
              </a:rPr>
              <a:t>etc</a:t>
            </a:r>
            <a:r>
              <a:rPr lang="es-PE" sz="1200" dirty="0">
                <a:solidFill>
                  <a:srgbClr val="2E2B21"/>
                </a:solidFill>
                <a:latin typeface="Arial" charset="0"/>
              </a:rPr>
              <a:t>)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200" dirty="0">
                <a:solidFill>
                  <a:srgbClr val="2E2B21"/>
                </a:solidFill>
                <a:latin typeface="Arial" charset="0"/>
              </a:rPr>
              <a:t>Comunidades prácticas, entrenamientos.</a:t>
            </a:r>
          </a:p>
          <a:p>
            <a:pPr marL="381000" indent="-285750" defTabSz="190500">
              <a:lnSpc>
                <a:spcPct val="110000"/>
              </a:lnSpc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es-PE" sz="1200" dirty="0">
                <a:solidFill>
                  <a:srgbClr val="2E2B21"/>
                </a:solidFill>
                <a:latin typeface="Arial" charset="0"/>
              </a:rPr>
              <a:t>Reuniones, incluyen las virtuales.</a:t>
            </a: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7969190" y="4723818"/>
            <a:ext cx="3360071" cy="29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6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la información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121112" y="5206241"/>
            <a:ext cx="3642102" cy="993081"/>
          </a:xfrm>
          <a:prstGeom prst="roundRect">
            <a:avLst>
              <a:gd name="adj" fmla="val 2176"/>
            </a:avLst>
          </a:prstGeom>
          <a:solidFill>
            <a:srgbClr val="F2F2F2"/>
          </a:solidFill>
          <a:ln w="1270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 marL="266700" indent="-171450" algn="l" defTabSz="190500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PE" sz="1200" b="0" dirty="0">
                <a:latin typeface="Arial" charset="0"/>
              </a:rPr>
              <a:t>Registro de lecciones aprendidas.</a:t>
            </a:r>
            <a:endParaRPr lang="es-PE" sz="1200" b="1" dirty="0">
              <a:latin typeface="Arial" charset="0"/>
            </a:endParaRPr>
          </a:p>
          <a:p>
            <a:pPr marL="266700" indent="-171450" algn="l" defTabSz="190500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PE" sz="1200" b="0" dirty="0">
                <a:latin typeface="Arial" charset="0"/>
              </a:rPr>
              <a:t>Servicios de biblioteca.</a:t>
            </a:r>
          </a:p>
          <a:p>
            <a:pPr marL="266700" indent="-171450" algn="l" defTabSz="190500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s-PE" sz="1200" b="0" dirty="0">
                <a:latin typeface="Arial" charset="0"/>
              </a:rPr>
              <a:t>Publicación de artículos, blogs.</a:t>
            </a:r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3. ¿QUÉ TANTO CRECE TU EQUIPO?: EL MONITOREO DEL CONOCIMIENTO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7245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hlinkClick r:id="rId2"/>
            <a:extLst>
              <a:ext uri="{FF2B5EF4-FFF2-40B4-BE49-F238E27FC236}">
                <a16:creationId xmlns:a16="http://schemas.microsoft.com/office/drawing/2014/main" id="{7B96E061-6B28-4B27-A40C-4AC919FA18F4}"/>
              </a:ext>
            </a:extLst>
          </p:cNvPr>
          <p:cNvSpPr/>
          <p:nvPr/>
        </p:nvSpPr>
        <p:spPr>
          <a:xfrm>
            <a:off x="576775" y="6296024"/>
            <a:ext cx="295422" cy="2547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 3">
            <a:hlinkClick r:id="rId3"/>
            <a:extLst>
              <a:ext uri="{FF2B5EF4-FFF2-40B4-BE49-F238E27FC236}">
                <a16:creationId xmlns:a16="http://schemas.microsoft.com/office/drawing/2014/main" id="{46BABD7D-8BAF-4EA4-A549-45A745C7D66C}"/>
              </a:ext>
            </a:extLst>
          </p:cNvPr>
          <p:cNvSpPr/>
          <p:nvPr/>
        </p:nvSpPr>
        <p:spPr>
          <a:xfrm>
            <a:off x="926306" y="6296025"/>
            <a:ext cx="271463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hlinkClick r:id="rId4"/>
            <a:extLst>
              <a:ext uri="{FF2B5EF4-FFF2-40B4-BE49-F238E27FC236}">
                <a16:creationId xmlns:a16="http://schemas.microsoft.com/office/drawing/2014/main" id="{E5B07E67-A089-4608-951D-824EA803B2C8}"/>
              </a:ext>
            </a:extLst>
          </p:cNvPr>
          <p:cNvSpPr/>
          <p:nvPr/>
        </p:nvSpPr>
        <p:spPr>
          <a:xfrm>
            <a:off x="1251878" y="6296025"/>
            <a:ext cx="300697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hlinkClick r:id="rId5"/>
            <a:extLst>
              <a:ext uri="{FF2B5EF4-FFF2-40B4-BE49-F238E27FC236}">
                <a16:creationId xmlns:a16="http://schemas.microsoft.com/office/drawing/2014/main" id="{B2CCC631-FFDD-4E26-9159-C5BB2FC4F05C}"/>
              </a:ext>
            </a:extLst>
          </p:cNvPr>
          <p:cNvSpPr/>
          <p:nvPr/>
        </p:nvSpPr>
        <p:spPr>
          <a:xfrm>
            <a:off x="1606684" y="6279356"/>
            <a:ext cx="345941" cy="304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auto">
          <a:xfrm>
            <a:off x="402956" y="1877633"/>
            <a:ext cx="11344759" cy="3151567"/>
          </a:xfrm>
          <a:prstGeom prst="roundRect">
            <a:avLst>
              <a:gd name="adj" fmla="val 11398"/>
            </a:avLst>
          </a:prstGeom>
          <a:solidFill>
            <a:srgbClr val="FFFFCC"/>
          </a:solidFill>
          <a:ln w="1270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 algn="just" defTabSz="190500">
              <a:lnSpc>
                <a:spcPct val="130000"/>
              </a:lnSpc>
            </a:pPr>
            <a:r>
              <a:rPr lang="es-PE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Instrucción general:</a:t>
            </a:r>
          </a:p>
          <a:p>
            <a:pPr algn="just" defTabSz="190500">
              <a:lnSpc>
                <a:spcPct val="130000"/>
              </a:lnSpc>
            </a:pPr>
            <a:endParaRPr lang="es-PE" b="1" dirty="0">
              <a:solidFill>
                <a:srgbClr val="2E2B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90500">
              <a:lnSpc>
                <a:spcPct val="130000"/>
              </a:lnSpc>
            </a:pP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s-PE" b="1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base al proyecto elegido, desarrollar El Project </a:t>
            </a:r>
            <a:r>
              <a:rPr lang="es-PE" dirty="0" err="1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Charter</a:t>
            </a: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proyecto, tomando en consideración:</a:t>
            </a:r>
          </a:p>
          <a:p>
            <a:pPr marL="800100" lvl="1" indent="-342900" algn="just" defTabSz="190500">
              <a:lnSpc>
                <a:spcPct val="130000"/>
              </a:lnSpc>
              <a:buAutoNum type="alphaLcPeriod"/>
            </a:pP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situación actual y la necesidad.</a:t>
            </a:r>
          </a:p>
          <a:p>
            <a:pPr marL="800100" lvl="1" indent="-342900" algn="just" defTabSz="190500">
              <a:lnSpc>
                <a:spcPct val="130000"/>
              </a:lnSpc>
              <a:buAutoNum type="alphaLcPeriod"/>
            </a:pP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alcance del proyecto</a:t>
            </a:r>
          </a:p>
          <a:p>
            <a:pPr marL="800100" lvl="1" indent="-342900" algn="just" defTabSz="190500">
              <a:lnSpc>
                <a:spcPct val="130000"/>
              </a:lnSpc>
              <a:buAutoNum type="alphaLcPeriod"/>
            </a:pP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plazo.</a:t>
            </a:r>
          </a:p>
          <a:p>
            <a:pPr marL="800100" lvl="1" indent="-342900" algn="just" defTabSz="190500">
              <a:lnSpc>
                <a:spcPct val="130000"/>
              </a:lnSpc>
              <a:buAutoNum type="alphaLcPeriod"/>
            </a:pP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presupuesto</a:t>
            </a:r>
          </a:p>
          <a:p>
            <a:pPr marL="800100" lvl="1" indent="-342900" algn="just" defTabSz="190500">
              <a:lnSpc>
                <a:spcPct val="130000"/>
              </a:lnSpc>
              <a:buAutoNum type="alphaLcPeriod"/>
            </a:pPr>
            <a:r>
              <a:rPr lang="es-PE" dirty="0">
                <a:solidFill>
                  <a:srgbClr val="2E2B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principales riesgos identificados</a:t>
            </a:r>
            <a:endParaRPr lang="es-PE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/>
          <a:lstStyle/>
          <a:p>
            <a:r>
              <a:rPr lang="es-ES" b="1" dirty="0"/>
              <a:t>DINÁMICA GRUPAL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394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00333" y="1961475"/>
            <a:ext cx="11323093" cy="199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1. En una reunión de sustentación de un proyecto ante el Directorio de la empresa, el CEO exige se le sustente porqué es necesario ejecutar el proyecto este año y a la vez desea conocer el impacto de ejecutar el proyecto el próximo año. Esta información la deberíamos encontrar en: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cs typeface="Times New Roman" pitchFamily="18" charset="0"/>
              </a:rPr>
              <a:t>a)</a:t>
            </a: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   El Project Charter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b)   El Caso de Negocio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c)  El Plan de Gestión de Beneficios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d)  </a:t>
            </a: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El Plan de Dirección del Proyecto</a:t>
            </a:r>
            <a:endParaRPr lang="es-ES_tradnl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4"/>
          <p:cNvSpPr>
            <a:spLocks/>
          </p:cNvSpPr>
          <p:nvPr/>
        </p:nvSpPr>
        <p:spPr bwMode="auto">
          <a:xfrm>
            <a:off x="2459555" y="2741904"/>
            <a:ext cx="161925" cy="219075"/>
          </a:xfrm>
          <a:custGeom>
            <a:avLst/>
            <a:gdLst>
              <a:gd name="T0" fmla="*/ 2147483647 w 1040"/>
              <a:gd name="T1" fmla="*/ 2147483647 h 1312"/>
              <a:gd name="T2" fmla="*/ 2147483647 w 1040"/>
              <a:gd name="T3" fmla="*/ 2147483647 h 1312"/>
              <a:gd name="T4" fmla="*/ 0 w 1040"/>
              <a:gd name="T5" fmla="*/ 2147483647 h 1312"/>
              <a:gd name="T6" fmla="*/ 2147483647 w 1040"/>
              <a:gd name="T7" fmla="*/ 2147483647 h 1312"/>
              <a:gd name="T8" fmla="*/ 2147483647 w 1040"/>
              <a:gd name="T9" fmla="*/ 2147483647 h 1312"/>
              <a:gd name="T10" fmla="*/ 2147483647 w 1040"/>
              <a:gd name="T11" fmla="*/ 2147483647 h 1312"/>
              <a:gd name="T12" fmla="*/ 2147483647 w 1040"/>
              <a:gd name="T13" fmla="*/ 2147483647 h 1312"/>
              <a:gd name="T14" fmla="*/ 2147483647 w 1040"/>
              <a:gd name="T15" fmla="*/ 2147483647 h 1312"/>
              <a:gd name="T16" fmla="*/ 2147483647 w 1040"/>
              <a:gd name="T17" fmla="*/ 2147483647 h 1312"/>
              <a:gd name="T18" fmla="*/ 2147483647 w 1040"/>
              <a:gd name="T19" fmla="*/ 2147483647 h 1312"/>
              <a:gd name="T20" fmla="*/ 2147483647 w 1040"/>
              <a:gd name="T21" fmla="*/ 2147483647 h 1312"/>
              <a:gd name="T22" fmla="*/ 2147483647 w 1040"/>
              <a:gd name="T23" fmla="*/ 0 h 1312"/>
              <a:gd name="T24" fmla="*/ 2147483647 w 1040"/>
              <a:gd name="T25" fmla="*/ 2147483647 h 1312"/>
              <a:gd name="T26" fmla="*/ 2147483647 w 1040"/>
              <a:gd name="T27" fmla="*/ 2147483647 h 1312"/>
              <a:gd name="T28" fmla="*/ 2147483647 w 1040"/>
              <a:gd name="T29" fmla="*/ 2147483647 h 1312"/>
              <a:gd name="T30" fmla="*/ 2147483647 w 1040"/>
              <a:gd name="T31" fmla="*/ 2147483647 h 1312"/>
              <a:gd name="T32" fmla="*/ 2147483647 w 1040"/>
              <a:gd name="T33" fmla="*/ 2147483647 h 131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040"/>
              <a:gd name="T52" fmla="*/ 0 h 1312"/>
              <a:gd name="T53" fmla="*/ 1040 w 1040"/>
              <a:gd name="T54" fmla="*/ 1312 h 1312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040" h="1312">
                <a:moveTo>
                  <a:pt x="285" y="736"/>
                </a:moveTo>
                <a:lnTo>
                  <a:pt x="104" y="619"/>
                </a:lnTo>
                <a:lnTo>
                  <a:pt x="0" y="665"/>
                </a:lnTo>
                <a:lnTo>
                  <a:pt x="14" y="818"/>
                </a:lnTo>
                <a:lnTo>
                  <a:pt x="163" y="1099"/>
                </a:lnTo>
                <a:lnTo>
                  <a:pt x="231" y="1312"/>
                </a:lnTo>
                <a:lnTo>
                  <a:pt x="366" y="1308"/>
                </a:lnTo>
                <a:lnTo>
                  <a:pt x="515" y="782"/>
                </a:lnTo>
                <a:lnTo>
                  <a:pt x="692" y="442"/>
                </a:lnTo>
                <a:lnTo>
                  <a:pt x="981" y="100"/>
                </a:lnTo>
                <a:lnTo>
                  <a:pt x="1040" y="4"/>
                </a:lnTo>
                <a:lnTo>
                  <a:pt x="941" y="0"/>
                </a:lnTo>
                <a:lnTo>
                  <a:pt x="710" y="181"/>
                </a:lnTo>
                <a:lnTo>
                  <a:pt x="470" y="479"/>
                </a:lnTo>
                <a:lnTo>
                  <a:pt x="298" y="900"/>
                </a:lnTo>
                <a:lnTo>
                  <a:pt x="285" y="73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  <a:latin typeface="Tw Cen MT" panose="020B0602020104020603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400333" y="3960484"/>
            <a:ext cx="11539470" cy="2042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90500">
              <a:lnSpc>
                <a:spcPct val="115000"/>
              </a:lnSpc>
              <a:spcBef>
                <a:spcPct val="20000"/>
              </a:spcBef>
              <a:buClr>
                <a:srgbClr val="FFFFFF"/>
              </a:buClr>
              <a:buSzPct val="70000"/>
            </a:pP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2. El director del proyecto descubre que uno de sus miembros del equipo ha creado su propio proceso para la instalación de un molino de barras 10 x 12. Bajo estas circunstancias, qué debería hacer el director del proyecto?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a)   Agradecer al miembro del equipo por haber creado un activo para la empresa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b)   Analizar si este proceso es conveniente para la empresa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c)   Investigar el plan de gestión para determinar si corresponde utilizar un proceso estándar</a:t>
            </a:r>
          </a:p>
          <a:p>
            <a:pPr indent="-342900" defTabSz="190500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</a:pPr>
            <a:r>
              <a:rPr lang="es-ES_tradnl" sz="1400" b="1" dirty="0">
                <a:latin typeface="Arial" panose="020B0604020202020204" pitchFamily="34" charset="0"/>
                <a:cs typeface="Arial" panose="020B0604020202020204" pitchFamily="34" charset="0"/>
              </a:rPr>
              <a:t>d)   </a:t>
            </a:r>
            <a:r>
              <a:rPr lang="es-PE" sz="1400" b="1" dirty="0">
                <a:latin typeface="Arial" panose="020B0604020202020204" pitchFamily="34" charset="0"/>
                <a:cs typeface="Arial" panose="020B0604020202020204" pitchFamily="34" charset="0"/>
              </a:rPr>
              <a:t>Evaluar la relación costo – beneficio del nuevo proceso</a:t>
            </a:r>
            <a:endParaRPr lang="es-E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4"/>
          <p:cNvSpPr>
            <a:spLocks/>
          </p:cNvSpPr>
          <p:nvPr/>
        </p:nvSpPr>
        <p:spPr bwMode="auto">
          <a:xfrm>
            <a:off x="8518552" y="5376305"/>
            <a:ext cx="161925" cy="219075"/>
          </a:xfrm>
          <a:custGeom>
            <a:avLst/>
            <a:gdLst>
              <a:gd name="T0" fmla="*/ 2147483647 w 1040"/>
              <a:gd name="T1" fmla="*/ 2147483647 h 1312"/>
              <a:gd name="T2" fmla="*/ 2147483647 w 1040"/>
              <a:gd name="T3" fmla="*/ 2147483647 h 1312"/>
              <a:gd name="T4" fmla="*/ 0 w 1040"/>
              <a:gd name="T5" fmla="*/ 2147483647 h 1312"/>
              <a:gd name="T6" fmla="*/ 2147483647 w 1040"/>
              <a:gd name="T7" fmla="*/ 2147483647 h 1312"/>
              <a:gd name="T8" fmla="*/ 2147483647 w 1040"/>
              <a:gd name="T9" fmla="*/ 2147483647 h 1312"/>
              <a:gd name="T10" fmla="*/ 2147483647 w 1040"/>
              <a:gd name="T11" fmla="*/ 2147483647 h 1312"/>
              <a:gd name="T12" fmla="*/ 2147483647 w 1040"/>
              <a:gd name="T13" fmla="*/ 2147483647 h 1312"/>
              <a:gd name="T14" fmla="*/ 2147483647 w 1040"/>
              <a:gd name="T15" fmla="*/ 2147483647 h 1312"/>
              <a:gd name="T16" fmla="*/ 2147483647 w 1040"/>
              <a:gd name="T17" fmla="*/ 2147483647 h 1312"/>
              <a:gd name="T18" fmla="*/ 2147483647 w 1040"/>
              <a:gd name="T19" fmla="*/ 2147483647 h 1312"/>
              <a:gd name="T20" fmla="*/ 2147483647 w 1040"/>
              <a:gd name="T21" fmla="*/ 2147483647 h 1312"/>
              <a:gd name="T22" fmla="*/ 2147483647 w 1040"/>
              <a:gd name="T23" fmla="*/ 0 h 1312"/>
              <a:gd name="T24" fmla="*/ 2147483647 w 1040"/>
              <a:gd name="T25" fmla="*/ 2147483647 h 1312"/>
              <a:gd name="T26" fmla="*/ 2147483647 w 1040"/>
              <a:gd name="T27" fmla="*/ 2147483647 h 1312"/>
              <a:gd name="T28" fmla="*/ 2147483647 w 1040"/>
              <a:gd name="T29" fmla="*/ 2147483647 h 1312"/>
              <a:gd name="T30" fmla="*/ 2147483647 w 1040"/>
              <a:gd name="T31" fmla="*/ 2147483647 h 1312"/>
              <a:gd name="T32" fmla="*/ 2147483647 w 1040"/>
              <a:gd name="T33" fmla="*/ 2147483647 h 1312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040"/>
              <a:gd name="T52" fmla="*/ 0 h 1312"/>
              <a:gd name="T53" fmla="*/ 1040 w 1040"/>
              <a:gd name="T54" fmla="*/ 1312 h 1312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040" h="1312">
                <a:moveTo>
                  <a:pt x="285" y="736"/>
                </a:moveTo>
                <a:lnTo>
                  <a:pt x="104" y="619"/>
                </a:lnTo>
                <a:lnTo>
                  <a:pt x="0" y="665"/>
                </a:lnTo>
                <a:lnTo>
                  <a:pt x="14" y="818"/>
                </a:lnTo>
                <a:lnTo>
                  <a:pt x="163" y="1099"/>
                </a:lnTo>
                <a:lnTo>
                  <a:pt x="231" y="1312"/>
                </a:lnTo>
                <a:lnTo>
                  <a:pt x="366" y="1308"/>
                </a:lnTo>
                <a:lnTo>
                  <a:pt x="515" y="782"/>
                </a:lnTo>
                <a:lnTo>
                  <a:pt x="692" y="442"/>
                </a:lnTo>
                <a:lnTo>
                  <a:pt x="981" y="100"/>
                </a:lnTo>
                <a:lnTo>
                  <a:pt x="1040" y="4"/>
                </a:lnTo>
                <a:lnTo>
                  <a:pt x="941" y="0"/>
                </a:lnTo>
                <a:lnTo>
                  <a:pt x="710" y="181"/>
                </a:lnTo>
                <a:lnTo>
                  <a:pt x="470" y="479"/>
                </a:lnTo>
                <a:lnTo>
                  <a:pt x="298" y="900"/>
                </a:lnTo>
                <a:lnTo>
                  <a:pt x="285" y="736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  <a:latin typeface="Tw Cen MT" panose="020B0602020104020603"/>
            </a:endParaRPr>
          </a:p>
        </p:txBody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Verifica cuánto has aprendido hoy: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05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713</Words>
  <Application>Microsoft Office PowerPoint</Application>
  <PresentationFormat>Panorámica</PresentationFormat>
  <Paragraphs>98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</vt:lpstr>
      <vt:lpstr>Arial Narrow</vt:lpstr>
      <vt:lpstr>Calibri</vt:lpstr>
      <vt:lpstr>Calibri Light</vt:lpstr>
      <vt:lpstr>Futura-Bold</vt:lpstr>
      <vt:lpstr>Lato Light</vt:lpstr>
      <vt:lpstr>Poppins</vt:lpstr>
      <vt:lpstr>Prompt</vt:lpstr>
      <vt:lpstr>Tahoma</vt:lpstr>
      <vt:lpstr>Tw Cen MT</vt:lpstr>
      <vt:lpstr>Wingdings</vt:lpstr>
      <vt:lpstr>Tema de Office</vt:lpstr>
      <vt:lpstr>Presentación de PowerPoint</vt:lpstr>
      <vt:lpstr>Presentación de PowerPoint</vt:lpstr>
      <vt:lpstr>SESIÓN 03</vt:lpstr>
      <vt:lpstr>Presentación de PowerPoint</vt:lpstr>
      <vt:lpstr>LA GESTIÓN DE LA INTEGRACIÓN</vt:lpstr>
      <vt:lpstr>1. EL PROJECT CHARTER: ¿EN QUÉ TE PUEDE APOYAR?</vt:lpstr>
      <vt:lpstr>2. EL PLAN DE DIRECCIÓN DEL PROYECTO</vt:lpstr>
      <vt:lpstr>3. ¿QUÉ TANTO CRECE TU EQUIPO?: EL MONITOREO DEL CONOCIMIENTO</vt:lpstr>
      <vt:lpstr>DINÁMICA GRUPAL</vt:lpstr>
      <vt:lpstr>Verifica cuánto has aprendido hoy: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Angel Omar Gonzales</cp:lastModifiedBy>
  <cp:revision>27</cp:revision>
  <dcterms:created xsi:type="dcterms:W3CDTF">2022-04-19T18:02:09Z</dcterms:created>
  <dcterms:modified xsi:type="dcterms:W3CDTF">2023-10-06T03:17:41Z</dcterms:modified>
</cp:coreProperties>
</file>