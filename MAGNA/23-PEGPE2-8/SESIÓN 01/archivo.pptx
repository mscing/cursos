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88" r:id="rId5"/>
    <p:sldId id="289" r:id="rId6"/>
    <p:sldId id="290" r:id="rId7"/>
    <p:sldId id="264" r:id="rId8"/>
    <p:sldId id="265" r:id="rId9"/>
    <p:sldId id="266" r:id="rId10"/>
    <p:sldId id="267" r:id="rId11"/>
    <p:sldId id="268" r:id="rId12"/>
    <p:sldId id="269" r:id="rId13"/>
    <p:sldId id="270" r:id="rId14"/>
    <p:sldId id="275" r:id="rId15"/>
    <p:sldId id="276" r:id="rId16"/>
    <p:sldId id="277" r:id="rId17"/>
    <p:sldId id="278" r:id="rId18"/>
    <p:sldId id="279" r:id="rId19"/>
    <p:sldId id="280" r:id="rId20"/>
    <p:sldId id="284" r:id="rId21"/>
    <p:sldId id="285" r:id="rId22"/>
    <p:sldId id="286" r:id="rId23"/>
    <p:sldId id="287" r:id="rId24"/>
    <p:sldId id="260"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28CDAB-26C0-45FA-B306-7D7B72BE4E2F}" type="doc">
      <dgm:prSet loTypeId="urn:microsoft.com/office/officeart/2005/8/layout/chevron1" loCatId="process" qsTypeId="urn:microsoft.com/office/officeart/2005/8/quickstyle/simple1" qsCatId="simple" csTypeId="urn:microsoft.com/office/officeart/2005/8/colors/accent1_2" csCatId="accent1" phldr="1"/>
      <dgm:spPr/>
    </dgm:pt>
    <dgm:pt modelId="{106902D4-A5A9-4FBB-B049-A0D88AE85E8A}">
      <dgm:prSet phldrT="[Texto]"/>
      <dgm:spPr>
        <a:xfrm>
          <a:off x="1679"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ln>
        <a:effectLst/>
      </dgm:spPr>
      <dgm:t>
        <a:bodyPr/>
        <a:lstStyle/>
        <a:p>
          <a:r>
            <a:rPr lang="es-PE" dirty="0">
              <a:solidFill>
                <a:srgbClr val="FFFFFF"/>
              </a:solidFill>
              <a:latin typeface="Tw Cen MT" panose="020B0602020104020603"/>
              <a:ea typeface="+mn-ea"/>
              <a:cs typeface="+mn-cs"/>
            </a:rPr>
            <a:t>F1</a:t>
          </a:r>
          <a:endParaRPr lang="en-US" dirty="0">
            <a:solidFill>
              <a:srgbClr val="FFFFFF"/>
            </a:solidFill>
            <a:latin typeface="Tw Cen MT" panose="020B0602020104020603"/>
            <a:ea typeface="+mn-ea"/>
            <a:cs typeface="+mn-cs"/>
          </a:endParaRPr>
        </a:p>
      </dgm:t>
    </dgm:pt>
    <dgm:pt modelId="{584D17C6-A4E3-4E0C-8A5E-3CFD523DFE8A}" type="parTrans" cxnId="{0434A2AE-2AA5-45FE-B87B-A08C97E8ECAE}">
      <dgm:prSet/>
      <dgm:spPr/>
      <dgm:t>
        <a:bodyPr/>
        <a:lstStyle/>
        <a:p>
          <a:endParaRPr lang="en-US"/>
        </a:p>
      </dgm:t>
    </dgm:pt>
    <dgm:pt modelId="{7AA2773A-A863-4A7C-A6C3-53179B2FD6DA}" type="sibTrans" cxnId="{0434A2AE-2AA5-45FE-B87B-A08C97E8ECAE}">
      <dgm:prSet/>
      <dgm:spPr/>
      <dgm:t>
        <a:bodyPr/>
        <a:lstStyle/>
        <a:p>
          <a:endParaRPr lang="en-US"/>
        </a:p>
      </dgm:t>
    </dgm:pt>
    <dgm:pt modelId="{9EFF7DAA-027F-4AFA-98B1-B114950B8F39}">
      <dgm:prSet phldrT="[Texto]"/>
      <dgm:spPr>
        <a:xfrm>
          <a:off x="1843658"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ln>
        <a:effectLst/>
      </dgm:spPr>
      <dgm:t>
        <a:bodyPr/>
        <a:lstStyle/>
        <a:p>
          <a:r>
            <a:rPr lang="es-PE" dirty="0">
              <a:solidFill>
                <a:srgbClr val="FFFFFF"/>
              </a:solidFill>
              <a:latin typeface="Tw Cen MT" panose="020B0602020104020603"/>
              <a:ea typeface="+mn-ea"/>
              <a:cs typeface="+mn-cs"/>
            </a:rPr>
            <a:t>F2</a:t>
          </a:r>
          <a:endParaRPr lang="en-US" dirty="0">
            <a:solidFill>
              <a:srgbClr val="FFFFFF"/>
            </a:solidFill>
            <a:latin typeface="Tw Cen MT" panose="020B0602020104020603"/>
            <a:ea typeface="+mn-ea"/>
            <a:cs typeface="+mn-cs"/>
          </a:endParaRPr>
        </a:p>
      </dgm:t>
    </dgm:pt>
    <dgm:pt modelId="{97AFF7AD-1322-41D1-8FFA-A30E2E131FC2}" type="parTrans" cxnId="{60111039-740E-4760-BE1E-B0871C027091}">
      <dgm:prSet/>
      <dgm:spPr/>
      <dgm:t>
        <a:bodyPr/>
        <a:lstStyle/>
        <a:p>
          <a:endParaRPr lang="en-US"/>
        </a:p>
      </dgm:t>
    </dgm:pt>
    <dgm:pt modelId="{2FD2E223-9F7F-480C-9F52-3678F8925937}" type="sibTrans" cxnId="{60111039-740E-4760-BE1E-B0871C027091}">
      <dgm:prSet/>
      <dgm:spPr/>
      <dgm:t>
        <a:bodyPr/>
        <a:lstStyle/>
        <a:p>
          <a:endParaRPr lang="en-US"/>
        </a:p>
      </dgm:t>
    </dgm:pt>
    <dgm:pt modelId="{ADC67590-EB6E-437A-B33A-CF86EE9F39D4}">
      <dgm:prSet phldrT="[Texto]"/>
      <dgm:spPr>
        <a:xfrm>
          <a:off x="3685637"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ln>
        <a:effectLst/>
      </dgm:spPr>
      <dgm:t>
        <a:bodyPr/>
        <a:lstStyle/>
        <a:p>
          <a:r>
            <a:rPr lang="es-PE" dirty="0">
              <a:solidFill>
                <a:srgbClr val="FFFFFF"/>
              </a:solidFill>
              <a:latin typeface="Tw Cen MT" panose="020B0602020104020603"/>
              <a:ea typeface="+mn-ea"/>
              <a:cs typeface="+mn-cs"/>
            </a:rPr>
            <a:t>F3</a:t>
          </a:r>
          <a:endParaRPr lang="en-US" dirty="0">
            <a:solidFill>
              <a:srgbClr val="FFFFFF"/>
            </a:solidFill>
            <a:latin typeface="Tw Cen MT" panose="020B0602020104020603"/>
            <a:ea typeface="+mn-ea"/>
            <a:cs typeface="+mn-cs"/>
          </a:endParaRPr>
        </a:p>
      </dgm:t>
    </dgm:pt>
    <dgm:pt modelId="{2DB01618-E101-4A31-84DB-DE1FB5DC979F}" type="parTrans" cxnId="{2AB6AEEB-B774-477A-B2EC-10E0AE917B4C}">
      <dgm:prSet/>
      <dgm:spPr/>
      <dgm:t>
        <a:bodyPr/>
        <a:lstStyle/>
        <a:p>
          <a:endParaRPr lang="en-US"/>
        </a:p>
      </dgm:t>
    </dgm:pt>
    <dgm:pt modelId="{F6EDAD51-F4A3-484A-8C21-5D77D8C0D207}" type="sibTrans" cxnId="{2AB6AEEB-B774-477A-B2EC-10E0AE917B4C}">
      <dgm:prSet/>
      <dgm:spPr/>
      <dgm:t>
        <a:bodyPr/>
        <a:lstStyle/>
        <a:p>
          <a:endParaRPr lang="en-US"/>
        </a:p>
      </dgm:t>
    </dgm:pt>
    <dgm:pt modelId="{ADA7EB35-9292-4E06-883D-30FDF872CFB5}" type="pres">
      <dgm:prSet presAssocID="{E328CDAB-26C0-45FA-B306-7D7B72BE4E2F}" presName="Name0" presStyleCnt="0">
        <dgm:presLayoutVars>
          <dgm:dir/>
          <dgm:animLvl val="lvl"/>
          <dgm:resizeHandles val="exact"/>
        </dgm:presLayoutVars>
      </dgm:prSet>
      <dgm:spPr/>
    </dgm:pt>
    <dgm:pt modelId="{1F371BC5-8D7C-437E-A079-B60D9AE1E88C}" type="pres">
      <dgm:prSet presAssocID="{106902D4-A5A9-4FBB-B049-A0D88AE85E8A}" presName="parTxOnly" presStyleLbl="node1" presStyleIdx="0" presStyleCnt="3">
        <dgm:presLayoutVars>
          <dgm:chMax val="0"/>
          <dgm:chPref val="0"/>
          <dgm:bulletEnabled val="1"/>
        </dgm:presLayoutVars>
      </dgm:prSet>
      <dgm:spPr/>
    </dgm:pt>
    <dgm:pt modelId="{021EDBE8-B343-4BFF-961F-8140F5105393}" type="pres">
      <dgm:prSet presAssocID="{7AA2773A-A863-4A7C-A6C3-53179B2FD6DA}" presName="parTxOnlySpace" presStyleCnt="0"/>
      <dgm:spPr/>
    </dgm:pt>
    <dgm:pt modelId="{75E7A121-A466-40DC-A850-490357797682}" type="pres">
      <dgm:prSet presAssocID="{9EFF7DAA-027F-4AFA-98B1-B114950B8F39}" presName="parTxOnly" presStyleLbl="node1" presStyleIdx="1" presStyleCnt="3">
        <dgm:presLayoutVars>
          <dgm:chMax val="0"/>
          <dgm:chPref val="0"/>
          <dgm:bulletEnabled val="1"/>
        </dgm:presLayoutVars>
      </dgm:prSet>
      <dgm:spPr/>
    </dgm:pt>
    <dgm:pt modelId="{B570444D-93AD-4979-BB45-6BA9D7D58629}" type="pres">
      <dgm:prSet presAssocID="{2FD2E223-9F7F-480C-9F52-3678F8925937}" presName="parTxOnlySpace" presStyleCnt="0"/>
      <dgm:spPr/>
    </dgm:pt>
    <dgm:pt modelId="{7E1D4C6E-E25E-42F1-951B-1813D485D739}" type="pres">
      <dgm:prSet presAssocID="{ADC67590-EB6E-437A-B33A-CF86EE9F39D4}" presName="parTxOnly" presStyleLbl="node1" presStyleIdx="2" presStyleCnt="3">
        <dgm:presLayoutVars>
          <dgm:chMax val="0"/>
          <dgm:chPref val="0"/>
          <dgm:bulletEnabled val="1"/>
        </dgm:presLayoutVars>
      </dgm:prSet>
      <dgm:spPr/>
    </dgm:pt>
  </dgm:ptLst>
  <dgm:cxnLst>
    <dgm:cxn modelId="{D4383037-FA20-4CD2-800E-0EC9405E8EAA}" type="presOf" srcId="{ADC67590-EB6E-437A-B33A-CF86EE9F39D4}" destId="{7E1D4C6E-E25E-42F1-951B-1813D485D739}" srcOrd="0" destOrd="0" presId="urn:microsoft.com/office/officeart/2005/8/layout/chevron1"/>
    <dgm:cxn modelId="{60111039-740E-4760-BE1E-B0871C027091}" srcId="{E328CDAB-26C0-45FA-B306-7D7B72BE4E2F}" destId="{9EFF7DAA-027F-4AFA-98B1-B114950B8F39}" srcOrd="1" destOrd="0" parTransId="{97AFF7AD-1322-41D1-8FFA-A30E2E131FC2}" sibTransId="{2FD2E223-9F7F-480C-9F52-3678F8925937}"/>
    <dgm:cxn modelId="{8B12075B-2033-4317-BA14-A1B212ECFC2C}" type="presOf" srcId="{106902D4-A5A9-4FBB-B049-A0D88AE85E8A}" destId="{1F371BC5-8D7C-437E-A079-B60D9AE1E88C}" srcOrd="0" destOrd="0" presId="urn:microsoft.com/office/officeart/2005/8/layout/chevron1"/>
    <dgm:cxn modelId="{5356F254-2D96-4C86-A2CF-D6A3E4800135}" type="presOf" srcId="{9EFF7DAA-027F-4AFA-98B1-B114950B8F39}" destId="{75E7A121-A466-40DC-A850-490357797682}" srcOrd="0" destOrd="0" presId="urn:microsoft.com/office/officeart/2005/8/layout/chevron1"/>
    <dgm:cxn modelId="{23C5639B-7F42-4362-BE5E-B88E6AD462D9}" type="presOf" srcId="{E328CDAB-26C0-45FA-B306-7D7B72BE4E2F}" destId="{ADA7EB35-9292-4E06-883D-30FDF872CFB5}" srcOrd="0" destOrd="0" presId="urn:microsoft.com/office/officeart/2005/8/layout/chevron1"/>
    <dgm:cxn modelId="{0434A2AE-2AA5-45FE-B87B-A08C97E8ECAE}" srcId="{E328CDAB-26C0-45FA-B306-7D7B72BE4E2F}" destId="{106902D4-A5A9-4FBB-B049-A0D88AE85E8A}" srcOrd="0" destOrd="0" parTransId="{584D17C6-A4E3-4E0C-8A5E-3CFD523DFE8A}" sibTransId="{7AA2773A-A863-4A7C-A6C3-53179B2FD6DA}"/>
    <dgm:cxn modelId="{2AB6AEEB-B774-477A-B2EC-10E0AE917B4C}" srcId="{E328CDAB-26C0-45FA-B306-7D7B72BE4E2F}" destId="{ADC67590-EB6E-437A-B33A-CF86EE9F39D4}" srcOrd="2" destOrd="0" parTransId="{2DB01618-E101-4A31-84DB-DE1FB5DC979F}" sibTransId="{F6EDAD51-F4A3-484A-8C21-5D77D8C0D207}"/>
    <dgm:cxn modelId="{C0E69DB1-491A-4E27-B1BE-2DFEA2BA2AD9}" type="presParOf" srcId="{ADA7EB35-9292-4E06-883D-30FDF872CFB5}" destId="{1F371BC5-8D7C-437E-A079-B60D9AE1E88C}" srcOrd="0" destOrd="0" presId="urn:microsoft.com/office/officeart/2005/8/layout/chevron1"/>
    <dgm:cxn modelId="{4A384CD3-EF63-4F18-A840-900A06CACC05}" type="presParOf" srcId="{ADA7EB35-9292-4E06-883D-30FDF872CFB5}" destId="{021EDBE8-B343-4BFF-961F-8140F5105393}" srcOrd="1" destOrd="0" presId="urn:microsoft.com/office/officeart/2005/8/layout/chevron1"/>
    <dgm:cxn modelId="{3C5BCD8E-C782-49B0-B33A-89BA5E780BB9}" type="presParOf" srcId="{ADA7EB35-9292-4E06-883D-30FDF872CFB5}" destId="{75E7A121-A466-40DC-A850-490357797682}" srcOrd="2" destOrd="0" presId="urn:microsoft.com/office/officeart/2005/8/layout/chevron1"/>
    <dgm:cxn modelId="{0CF0206D-A04A-4854-8066-771FEF986D3D}" type="presParOf" srcId="{ADA7EB35-9292-4E06-883D-30FDF872CFB5}" destId="{B570444D-93AD-4979-BB45-6BA9D7D58629}" srcOrd="3" destOrd="0" presId="urn:microsoft.com/office/officeart/2005/8/layout/chevron1"/>
    <dgm:cxn modelId="{19BF1669-983B-472F-B024-6D418FF1E701}" type="presParOf" srcId="{ADA7EB35-9292-4E06-883D-30FDF872CFB5}" destId="{7E1D4C6E-E25E-42F1-951B-1813D485D739}"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71BC5-8D7C-437E-A079-B60D9AE1E88C}">
      <dsp:nvSpPr>
        <dsp:cNvPr id="0" name=""/>
        <dsp:cNvSpPr/>
      </dsp:nvSpPr>
      <dsp:spPr>
        <a:xfrm>
          <a:off x="1679"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s-PE" sz="2100" kern="1200" dirty="0">
              <a:solidFill>
                <a:srgbClr val="FFFFFF"/>
              </a:solidFill>
              <a:latin typeface="Tw Cen MT" panose="020B0602020104020603"/>
              <a:ea typeface="+mn-ea"/>
              <a:cs typeface="+mn-cs"/>
            </a:rPr>
            <a:t>F1</a:t>
          </a:r>
          <a:endParaRPr lang="en-US" sz="2100" kern="1200" dirty="0">
            <a:solidFill>
              <a:srgbClr val="FFFFFF"/>
            </a:solidFill>
            <a:latin typeface="Tw Cen MT" panose="020B0602020104020603"/>
            <a:ea typeface="+mn-ea"/>
            <a:cs typeface="+mn-cs"/>
          </a:endParaRPr>
        </a:p>
      </dsp:txBody>
      <dsp:txXfrm>
        <a:off x="166660" y="0"/>
        <a:ext cx="1716682" cy="329961"/>
      </dsp:txXfrm>
    </dsp:sp>
    <dsp:sp modelId="{75E7A121-A466-40DC-A850-490357797682}">
      <dsp:nvSpPr>
        <dsp:cNvPr id="0" name=""/>
        <dsp:cNvSpPr/>
      </dsp:nvSpPr>
      <dsp:spPr>
        <a:xfrm>
          <a:off x="1843658"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s-PE" sz="2100" kern="1200" dirty="0">
              <a:solidFill>
                <a:srgbClr val="FFFFFF"/>
              </a:solidFill>
              <a:latin typeface="Tw Cen MT" panose="020B0602020104020603"/>
              <a:ea typeface="+mn-ea"/>
              <a:cs typeface="+mn-cs"/>
            </a:rPr>
            <a:t>F2</a:t>
          </a:r>
          <a:endParaRPr lang="en-US" sz="2100" kern="1200" dirty="0">
            <a:solidFill>
              <a:srgbClr val="FFFFFF"/>
            </a:solidFill>
            <a:latin typeface="Tw Cen MT" panose="020B0602020104020603"/>
            <a:ea typeface="+mn-ea"/>
            <a:cs typeface="+mn-cs"/>
          </a:endParaRPr>
        </a:p>
      </dsp:txBody>
      <dsp:txXfrm>
        <a:off x="2008639" y="0"/>
        <a:ext cx="1716682" cy="329961"/>
      </dsp:txXfrm>
    </dsp:sp>
    <dsp:sp modelId="{7E1D4C6E-E25E-42F1-951B-1813D485D739}">
      <dsp:nvSpPr>
        <dsp:cNvPr id="0" name=""/>
        <dsp:cNvSpPr/>
      </dsp:nvSpPr>
      <dsp:spPr>
        <a:xfrm>
          <a:off x="3685637" y="0"/>
          <a:ext cx="2046643" cy="329961"/>
        </a:xfrm>
        <a:prstGeom prst="chevron">
          <a:avLst/>
        </a:prstGeom>
        <a:solidFill>
          <a:srgbClr val="A9A57C">
            <a:hueOff val="0"/>
            <a:satOff val="0"/>
            <a:lumOff val="0"/>
            <a:alphaOff val="0"/>
          </a:srgbClr>
        </a:solidFill>
        <a:ln w="15875"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s-PE" sz="2100" kern="1200" dirty="0">
              <a:solidFill>
                <a:srgbClr val="FFFFFF"/>
              </a:solidFill>
              <a:latin typeface="Tw Cen MT" panose="020B0602020104020603"/>
              <a:ea typeface="+mn-ea"/>
              <a:cs typeface="+mn-cs"/>
            </a:rPr>
            <a:t>F3</a:t>
          </a:r>
          <a:endParaRPr lang="en-US" sz="2100" kern="1200" dirty="0">
            <a:solidFill>
              <a:srgbClr val="FFFFFF"/>
            </a:solidFill>
            <a:latin typeface="Tw Cen MT" panose="020B0602020104020603"/>
            <a:ea typeface="+mn-ea"/>
            <a:cs typeface="+mn-cs"/>
          </a:endParaRPr>
        </a:p>
      </dsp:txBody>
      <dsp:txXfrm>
        <a:off x="3850618" y="0"/>
        <a:ext cx="1716682" cy="32996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28/09/2023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28/09/2023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28/09/2023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28/09/2023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28/09/2023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28/09/2023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5.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6.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 /><Relationship Id="rId7" Type="http://schemas.openxmlformats.org/officeDocument/2006/relationships/image" Target="../media/image4.png"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6.emf"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2.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3.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7" Type="http://schemas.microsoft.com/office/2007/relationships/hdphoto" Target="../media/hdphoto1.wdp"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6" Type="http://schemas.openxmlformats.org/officeDocument/2006/relationships/image" Target="../media/image7.png"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4.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5.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6.xml.rels><?xml version="1.0" encoding="UTF-8" standalone="yes"?>
<Relationships xmlns="http://schemas.openxmlformats.org/package/2006/relationships"><Relationship Id="rId3" Type="http://schemas.openxmlformats.org/officeDocument/2006/relationships/hyperlink" Target="https://www.facebook.com/inelinc/" TargetMode="External" /><Relationship Id="rId2" Type="http://schemas.openxmlformats.org/officeDocument/2006/relationships/hyperlink" Target="https://www.linkedin.com/company/inelinc/" TargetMode="External" /><Relationship Id="rId1" Type="http://schemas.openxmlformats.org/officeDocument/2006/relationships/slideLayout" Target="../slideLayouts/slideLayout2.xml" /><Relationship Id="rId5" Type="http://schemas.openxmlformats.org/officeDocument/2006/relationships/hyperlink" Target="https://www.youtube.com/inelinc" TargetMode="External" /><Relationship Id="rId4" Type="http://schemas.openxmlformats.org/officeDocument/2006/relationships/hyperlink" Target="https://www.instagram.com/inel.inc/" TargetMode="Externa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uadroTexto 6"/>
          <p:cNvSpPr txBox="1"/>
          <p:nvPr/>
        </p:nvSpPr>
        <p:spPr>
          <a:xfrm>
            <a:off x="469177" y="541700"/>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Título 1"/>
          <p:cNvSpPr txBox="1">
            <a:spLocks/>
          </p:cNvSpPr>
          <p:nvPr/>
        </p:nvSpPr>
        <p:spPr>
          <a:xfrm>
            <a:off x="889950" y="2754228"/>
            <a:ext cx="10993549" cy="1475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rPr>
              <a:t>GESTIÓN DE PROYECTOS ELECTROMECÁNICOS</a:t>
            </a:r>
            <a:endParaRPr lang="en-US" b="1" dirty="0">
              <a:solidFill>
                <a:schemeClr val="bg1"/>
              </a:solidFill>
            </a:endParaRPr>
          </a:p>
        </p:txBody>
      </p:sp>
      <p:sp>
        <p:nvSpPr>
          <p:cNvPr id="5" name="Subtítulo 2"/>
          <p:cNvSpPr txBox="1">
            <a:spLocks/>
          </p:cNvSpPr>
          <p:nvPr/>
        </p:nvSpPr>
        <p:spPr>
          <a:xfrm>
            <a:off x="783075" y="3754230"/>
            <a:ext cx="10993546" cy="590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dirty="0">
                <a:solidFill>
                  <a:schemeClr val="bg1"/>
                </a:solidFill>
              </a:rPr>
              <a:t>Según 7ma edición PMBOK® - PROJECT MANAGEMENT INSTITUTE</a:t>
            </a:r>
            <a:endParaRPr lang="en-US" dirty="0">
              <a:solidFill>
                <a:schemeClr val="bg1"/>
              </a:solidFill>
            </a:endParaRPr>
          </a:p>
        </p:txBody>
      </p:sp>
      <p:sp>
        <p:nvSpPr>
          <p:cNvPr id="8" name="CuadroTexto 7"/>
          <p:cNvSpPr txBox="1"/>
          <p:nvPr/>
        </p:nvSpPr>
        <p:spPr>
          <a:xfrm>
            <a:off x="8205311" y="4943265"/>
            <a:ext cx="3177152" cy="1138773"/>
          </a:xfrm>
          <a:prstGeom prst="rect">
            <a:avLst/>
          </a:prstGeom>
          <a:noFill/>
        </p:spPr>
        <p:txBody>
          <a:bodyPr wrap="square" rtlCol="0">
            <a:spAutoFit/>
          </a:bodyPr>
          <a:lstStyle/>
          <a:p>
            <a:pPr algn="r"/>
            <a:r>
              <a:rPr lang="es-ES" sz="2000" b="1" dirty="0">
                <a:solidFill>
                  <a:schemeClr val="bg1"/>
                </a:solidFill>
                <a:latin typeface="Arial Narrow" panose="020B0606020202030204" pitchFamily="34" charset="0"/>
              </a:rPr>
              <a:t>MAYOR ENFOQUE A </a:t>
            </a:r>
            <a:r>
              <a:rPr lang="es-ES" sz="2800" b="1" dirty="0">
                <a:solidFill>
                  <a:schemeClr val="bg1"/>
                </a:solidFill>
                <a:latin typeface="Arial Narrow" panose="020B0606020202030204" pitchFamily="34" charset="0"/>
              </a:rPr>
              <a:t>RESULTADOS</a:t>
            </a:r>
            <a:r>
              <a:rPr lang="es-ES" sz="2000" b="1" dirty="0">
                <a:solidFill>
                  <a:schemeClr val="bg1"/>
                </a:solidFill>
                <a:latin typeface="Arial Narrow" panose="020B0606020202030204" pitchFamily="34" charset="0"/>
              </a:rPr>
              <a:t>… QUE A ENTREGABLES</a:t>
            </a:r>
            <a:endParaRPr lang="en-US" sz="20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60423" y="3176373"/>
            <a:ext cx="6667500" cy="844550"/>
          </a:xfrm>
        </p:spPr>
        <p:txBody>
          <a:bodyPr/>
          <a:lstStyle/>
          <a:p>
            <a:r>
              <a:rPr lang="es-ES" b="1" dirty="0">
                <a:solidFill>
                  <a:srgbClr val="00F3B5"/>
                </a:solidFill>
                <a:latin typeface="Prompt" panose="00000800000000000000" pitchFamily="2" charset="-34"/>
                <a:cs typeface="Prompt" panose="00000800000000000000" pitchFamily="2" charset="-34"/>
              </a:rPr>
              <a:t>SESIÓN 01</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904088" y="207082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904088" y="3145249"/>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904088" y="4219669"/>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3045127" y="205086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1</a:t>
            </a:r>
          </a:p>
        </p:txBody>
      </p:sp>
      <p:sp>
        <p:nvSpPr>
          <p:cNvPr id="37" name="TextBox 7">
            <a:extLst>
              <a:ext uri="{FF2B5EF4-FFF2-40B4-BE49-F238E27FC236}">
                <a16:creationId xmlns:a16="http://schemas.microsoft.com/office/drawing/2014/main" id="{B5E35E49-1469-C74E-9808-7442A8C2701B}"/>
              </a:ext>
            </a:extLst>
          </p:cNvPr>
          <p:cNvSpPr txBox="1"/>
          <p:nvPr/>
        </p:nvSpPr>
        <p:spPr>
          <a:xfrm>
            <a:off x="3045127" y="312528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2</a:t>
            </a:r>
          </a:p>
        </p:txBody>
      </p:sp>
      <p:sp>
        <p:nvSpPr>
          <p:cNvPr id="38" name="TextBox 8">
            <a:extLst>
              <a:ext uri="{FF2B5EF4-FFF2-40B4-BE49-F238E27FC236}">
                <a16:creationId xmlns:a16="http://schemas.microsoft.com/office/drawing/2014/main" id="{3013026D-5AAE-5046-9336-9D0A775EEB0C}"/>
              </a:ext>
            </a:extLst>
          </p:cNvPr>
          <p:cNvSpPr txBox="1"/>
          <p:nvPr/>
        </p:nvSpPr>
        <p:spPr>
          <a:xfrm>
            <a:off x="3045126" y="419970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3</a:t>
            </a:r>
          </a:p>
        </p:txBody>
      </p:sp>
      <p:sp>
        <p:nvSpPr>
          <p:cNvPr id="41" name="Rectangle 13">
            <a:extLst>
              <a:ext uri="{FF2B5EF4-FFF2-40B4-BE49-F238E27FC236}">
                <a16:creationId xmlns:a16="http://schemas.microsoft.com/office/drawing/2014/main" id="{F1DA5C09-0AA0-3A46-98D0-C4584C233D3D}"/>
              </a:ext>
            </a:extLst>
          </p:cNvPr>
          <p:cNvSpPr/>
          <p:nvPr/>
        </p:nvSpPr>
        <p:spPr>
          <a:xfrm>
            <a:off x="3799234" y="207082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99234" y="314524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99234" y="421966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133588" y="2347322"/>
            <a:ext cx="4437433" cy="338554"/>
          </a:xfrm>
          <a:prstGeom prst="rect">
            <a:avLst/>
          </a:prstGeom>
          <a:noFill/>
        </p:spPr>
        <p:txBody>
          <a:bodyPr wrap="none" rtlCol="0" anchor="ctr">
            <a:spAutoFit/>
          </a:bodyPr>
          <a:lstStyle/>
          <a:p>
            <a:r>
              <a:rPr lang="en-US" sz="1600" b="1" dirty="0">
                <a:solidFill>
                  <a:schemeClr val="accent1">
                    <a:lumMod val="50000"/>
                  </a:schemeClr>
                </a:solidFill>
                <a:latin typeface="Poppins" pitchFamily="2" charset="77"/>
                <a:cs typeface="Poppins" pitchFamily="2" charset="77"/>
              </a:rPr>
              <a:t>CONTEXTO DE LA GESTIÓN DE PROYECTOS</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133588" y="3421742"/>
            <a:ext cx="4794902" cy="338554"/>
          </a:xfrm>
          <a:prstGeom prst="rect">
            <a:avLst/>
          </a:prstGeom>
          <a:noFill/>
        </p:spPr>
        <p:txBody>
          <a:bodyPr wrap="none" rtlCol="0" anchor="ctr">
            <a:spAutoFit/>
          </a:bodyPr>
          <a:lstStyle/>
          <a:p>
            <a:r>
              <a:rPr lang="en-US" sz="1600" b="1" dirty="0">
                <a:solidFill>
                  <a:schemeClr val="accent2">
                    <a:lumMod val="50000"/>
                  </a:schemeClr>
                </a:solidFill>
                <a:latin typeface="Poppins" pitchFamily="2" charset="77"/>
                <a:cs typeface="Poppins" pitchFamily="2" charset="77"/>
              </a:rPr>
              <a:t>ENTORNO EN EL QUE OPERAN LOS PROYECTOS</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133588" y="4384569"/>
            <a:ext cx="5829562" cy="584775"/>
          </a:xfrm>
          <a:prstGeom prst="rect">
            <a:avLst/>
          </a:prstGeom>
          <a:noFill/>
        </p:spPr>
        <p:txBody>
          <a:bodyPr wrap="square" rtlCol="0" anchor="ctr">
            <a:spAutoFit/>
          </a:bodyPr>
          <a:lstStyle/>
          <a:p>
            <a:r>
              <a:rPr lang="en-US" sz="1600" b="1" dirty="0">
                <a:solidFill>
                  <a:schemeClr val="accent3">
                    <a:lumMod val="50000"/>
                  </a:schemeClr>
                </a:solidFill>
                <a:latin typeface="Poppins" pitchFamily="2" charset="77"/>
                <a:cs typeface="Poppins" pitchFamily="2" charset="77"/>
              </a:rPr>
              <a:t>CONCEPTOS INTEGRADORES: EL PROJECT CHARTER Y EL PLAN DE DIRRECIÓN DEL PROYECTO</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34398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6" grpId="0"/>
      <p:bldP spid="37" grpId="0"/>
      <p:bldP spid="38" grpId="0"/>
      <p:bldP spid="41" grpId="0" animBg="1"/>
      <p:bldP spid="42" grpId="0" animBg="1"/>
      <p:bldP spid="43" grpId="0" animBg="1"/>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904088" y="207082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904088" y="3145249"/>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904088" y="4219669"/>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4" name="Rectangle 4">
            <a:extLst>
              <a:ext uri="{FF2B5EF4-FFF2-40B4-BE49-F238E27FC236}">
                <a16:creationId xmlns:a16="http://schemas.microsoft.com/office/drawing/2014/main" id="{B35CD267-2D39-FE4D-BC18-DAEEB463CDD3}"/>
              </a:ext>
            </a:extLst>
          </p:cNvPr>
          <p:cNvSpPr/>
          <p:nvPr/>
        </p:nvSpPr>
        <p:spPr>
          <a:xfrm>
            <a:off x="2904088" y="5294089"/>
            <a:ext cx="891540" cy="8915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3045127" y="205086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4</a:t>
            </a:r>
          </a:p>
        </p:txBody>
      </p:sp>
      <p:sp>
        <p:nvSpPr>
          <p:cNvPr id="37" name="TextBox 7">
            <a:extLst>
              <a:ext uri="{FF2B5EF4-FFF2-40B4-BE49-F238E27FC236}">
                <a16:creationId xmlns:a16="http://schemas.microsoft.com/office/drawing/2014/main" id="{B5E35E49-1469-C74E-9808-7442A8C2701B}"/>
              </a:ext>
            </a:extLst>
          </p:cNvPr>
          <p:cNvSpPr txBox="1"/>
          <p:nvPr/>
        </p:nvSpPr>
        <p:spPr>
          <a:xfrm>
            <a:off x="3045127" y="312528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5</a:t>
            </a:r>
          </a:p>
        </p:txBody>
      </p:sp>
      <p:sp>
        <p:nvSpPr>
          <p:cNvPr id="38" name="TextBox 8">
            <a:extLst>
              <a:ext uri="{FF2B5EF4-FFF2-40B4-BE49-F238E27FC236}">
                <a16:creationId xmlns:a16="http://schemas.microsoft.com/office/drawing/2014/main" id="{3013026D-5AAE-5046-9336-9D0A775EEB0C}"/>
              </a:ext>
            </a:extLst>
          </p:cNvPr>
          <p:cNvSpPr txBox="1"/>
          <p:nvPr/>
        </p:nvSpPr>
        <p:spPr>
          <a:xfrm>
            <a:off x="3045126" y="419970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6</a:t>
            </a:r>
          </a:p>
        </p:txBody>
      </p:sp>
      <p:sp>
        <p:nvSpPr>
          <p:cNvPr id="39" name="TextBox 9">
            <a:extLst>
              <a:ext uri="{FF2B5EF4-FFF2-40B4-BE49-F238E27FC236}">
                <a16:creationId xmlns:a16="http://schemas.microsoft.com/office/drawing/2014/main" id="{FD24996C-FAA9-D848-AF93-ECBA07253BBE}"/>
              </a:ext>
            </a:extLst>
          </p:cNvPr>
          <p:cNvSpPr txBox="1"/>
          <p:nvPr/>
        </p:nvSpPr>
        <p:spPr>
          <a:xfrm>
            <a:off x="3045127" y="527412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7</a:t>
            </a:r>
          </a:p>
        </p:txBody>
      </p:sp>
      <p:sp>
        <p:nvSpPr>
          <p:cNvPr id="41" name="Rectangle 13">
            <a:extLst>
              <a:ext uri="{FF2B5EF4-FFF2-40B4-BE49-F238E27FC236}">
                <a16:creationId xmlns:a16="http://schemas.microsoft.com/office/drawing/2014/main" id="{F1DA5C09-0AA0-3A46-98D0-C4584C233D3D}"/>
              </a:ext>
            </a:extLst>
          </p:cNvPr>
          <p:cNvSpPr/>
          <p:nvPr/>
        </p:nvSpPr>
        <p:spPr>
          <a:xfrm>
            <a:off x="3799234" y="207082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99234" y="314524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99234" y="421966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4" name="Rectangle 16">
            <a:extLst>
              <a:ext uri="{FF2B5EF4-FFF2-40B4-BE49-F238E27FC236}">
                <a16:creationId xmlns:a16="http://schemas.microsoft.com/office/drawing/2014/main" id="{BF996F3A-4806-F64C-BBA0-6A90F0EBFDFC}"/>
              </a:ext>
            </a:extLst>
          </p:cNvPr>
          <p:cNvSpPr/>
          <p:nvPr/>
        </p:nvSpPr>
        <p:spPr>
          <a:xfrm>
            <a:off x="3799234" y="529408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133588" y="2347322"/>
            <a:ext cx="5565947" cy="338554"/>
          </a:xfrm>
          <a:prstGeom prst="rect">
            <a:avLst/>
          </a:prstGeom>
          <a:noFill/>
        </p:spPr>
        <p:txBody>
          <a:bodyPr wrap="none" rtlCol="0" anchor="ctr">
            <a:spAutoFit/>
          </a:bodyPr>
          <a:lstStyle/>
          <a:p>
            <a:r>
              <a:rPr lang="en-US" sz="1600" b="1" dirty="0">
                <a:solidFill>
                  <a:schemeClr val="accent1">
                    <a:lumMod val="50000"/>
                  </a:schemeClr>
                </a:solidFill>
                <a:latin typeface="Poppins" pitchFamily="2" charset="77"/>
                <a:cs typeface="Poppins" pitchFamily="2" charset="77"/>
              </a:rPr>
              <a:t>CONCEPTOS INTEGRADORES: ATERRIZAR EL ALCANCE</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133588" y="3421742"/>
            <a:ext cx="3304110" cy="338554"/>
          </a:xfrm>
          <a:prstGeom prst="rect">
            <a:avLst/>
          </a:prstGeom>
          <a:noFill/>
        </p:spPr>
        <p:txBody>
          <a:bodyPr wrap="none" rtlCol="0" anchor="ctr">
            <a:spAutoFit/>
          </a:bodyPr>
          <a:lstStyle/>
          <a:p>
            <a:r>
              <a:rPr lang="en-US" sz="1600" b="1" dirty="0">
                <a:solidFill>
                  <a:schemeClr val="accent2">
                    <a:lumMod val="50000"/>
                  </a:schemeClr>
                </a:solidFill>
                <a:latin typeface="Poppins" pitchFamily="2" charset="77"/>
                <a:cs typeface="Poppins" pitchFamily="2" charset="77"/>
              </a:rPr>
              <a:t>EL CONTROL DEL PRESUPUESTO</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133588" y="4496162"/>
            <a:ext cx="5134739" cy="338554"/>
          </a:xfrm>
          <a:prstGeom prst="rect">
            <a:avLst/>
          </a:prstGeom>
          <a:noFill/>
        </p:spPr>
        <p:txBody>
          <a:bodyPr wrap="none" rtlCol="0" anchor="ctr">
            <a:spAutoFit/>
          </a:bodyPr>
          <a:lstStyle/>
          <a:p>
            <a:r>
              <a:rPr lang="en-US" sz="1600" b="1" dirty="0">
                <a:solidFill>
                  <a:schemeClr val="accent3">
                    <a:lumMod val="50000"/>
                  </a:schemeClr>
                </a:solidFill>
                <a:latin typeface="Poppins" pitchFamily="2" charset="77"/>
                <a:cs typeface="Poppins" pitchFamily="2" charset="77"/>
              </a:rPr>
              <a:t>LA EXISTENCIA DE LOS RIESGOS EN UN PROYECTO</a:t>
            </a:r>
            <a:endParaRPr lang="en-US" sz="1600" b="1" dirty="0">
              <a:solidFill>
                <a:schemeClr val="tx2"/>
              </a:solidFill>
              <a:latin typeface="Poppins" pitchFamily="2" charset="77"/>
              <a:cs typeface="Poppins" pitchFamily="2" charset="77"/>
            </a:endParaRPr>
          </a:p>
        </p:txBody>
      </p:sp>
      <p:sp>
        <p:nvSpPr>
          <p:cNvPr id="49" name="TextBox 22">
            <a:extLst>
              <a:ext uri="{FF2B5EF4-FFF2-40B4-BE49-F238E27FC236}">
                <a16:creationId xmlns:a16="http://schemas.microsoft.com/office/drawing/2014/main" id="{32AE7AC6-CD21-DB44-AFE0-A74022203EF1}"/>
              </a:ext>
            </a:extLst>
          </p:cNvPr>
          <p:cNvSpPr txBox="1"/>
          <p:nvPr/>
        </p:nvSpPr>
        <p:spPr>
          <a:xfrm>
            <a:off x="4133588" y="5447472"/>
            <a:ext cx="5746003" cy="584775"/>
          </a:xfrm>
          <a:prstGeom prst="rect">
            <a:avLst/>
          </a:prstGeom>
          <a:noFill/>
        </p:spPr>
        <p:txBody>
          <a:bodyPr wrap="square" rtlCol="0" anchor="ctr">
            <a:spAutoFit/>
          </a:bodyPr>
          <a:lstStyle/>
          <a:p>
            <a:r>
              <a:rPr lang="es-ES" sz="1600" b="1" dirty="0">
                <a:solidFill>
                  <a:schemeClr val="accent4">
                    <a:lumMod val="50000"/>
                  </a:schemeClr>
                </a:solidFill>
                <a:latin typeface="Poppins" pitchFamily="2" charset="77"/>
                <a:cs typeface="Poppins" pitchFamily="2" charset="77"/>
              </a:rPr>
              <a:t>GESTIÓN DE LA CALIDAD Y ADQUISICIONES EN UN PROYECTO</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267968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additive="base">
                                        <p:cTn id="61" dur="500" fill="hold"/>
                                        <p:tgtEl>
                                          <p:spTgt spid="39"/>
                                        </p:tgtEl>
                                        <p:attrNameLst>
                                          <p:attrName>ppt_x</p:attrName>
                                        </p:attrNameLst>
                                      </p:cBhvr>
                                      <p:tavLst>
                                        <p:tav tm="0">
                                          <p:val>
                                            <p:strVal val="#ppt_x"/>
                                          </p:val>
                                        </p:tav>
                                        <p:tav tm="100000">
                                          <p:val>
                                            <p:strVal val="#ppt_x"/>
                                          </p:val>
                                        </p:tav>
                                      </p:tavLst>
                                    </p:anim>
                                    <p:anim calcmode="lin" valueType="num">
                                      <p:cBhvr additive="base">
                                        <p:cTn id="62" dur="500" fill="hold"/>
                                        <p:tgtEl>
                                          <p:spTgt spid="39"/>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anim calcmode="lin" valueType="num">
                                      <p:cBhvr additive="base">
                                        <p:cTn id="69" dur="500" fill="hold"/>
                                        <p:tgtEl>
                                          <p:spTgt spid="49"/>
                                        </p:tgtEl>
                                        <p:attrNameLst>
                                          <p:attrName>ppt_x</p:attrName>
                                        </p:attrNameLst>
                                      </p:cBhvr>
                                      <p:tavLst>
                                        <p:tav tm="0">
                                          <p:val>
                                            <p:strVal val="#ppt_x"/>
                                          </p:val>
                                        </p:tav>
                                        <p:tav tm="100000">
                                          <p:val>
                                            <p:strVal val="#ppt_x"/>
                                          </p:val>
                                        </p:tav>
                                      </p:tavLst>
                                    </p:anim>
                                    <p:anim calcmode="lin" valueType="num">
                                      <p:cBhvr additive="base">
                                        <p:cTn id="70" dur="500" fill="hold"/>
                                        <p:tgtEl>
                                          <p:spTgt spid="49"/>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4"/>
                                        </p:tgtEl>
                                        <p:attrNameLst>
                                          <p:attrName>style.visibility</p:attrName>
                                        </p:attrNameLst>
                                      </p:cBhvr>
                                      <p:to>
                                        <p:strVal val="visible"/>
                                      </p:to>
                                    </p:set>
                                    <p:anim calcmode="lin" valueType="num">
                                      <p:cBhvr additive="base">
                                        <p:cTn id="73" dur="500" fill="hold"/>
                                        <p:tgtEl>
                                          <p:spTgt spid="44"/>
                                        </p:tgtEl>
                                        <p:attrNameLst>
                                          <p:attrName>ppt_x</p:attrName>
                                        </p:attrNameLst>
                                      </p:cBhvr>
                                      <p:tavLst>
                                        <p:tav tm="0">
                                          <p:val>
                                            <p:strVal val="#ppt_x"/>
                                          </p:val>
                                        </p:tav>
                                        <p:tav tm="100000">
                                          <p:val>
                                            <p:strVal val="#ppt_x"/>
                                          </p:val>
                                        </p:tav>
                                      </p:tavLst>
                                    </p:anim>
                                    <p:anim calcmode="lin" valueType="num">
                                      <p:cBhvr additive="base">
                                        <p:cTn id="7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6" grpId="0"/>
      <p:bldP spid="37" grpId="0"/>
      <p:bldP spid="38" grpId="0"/>
      <p:bldP spid="39" grpId="0"/>
      <p:bldP spid="41" grpId="0" animBg="1"/>
      <p:bldP spid="42" grpId="0" animBg="1"/>
      <p:bldP spid="43" grpId="0" animBg="1"/>
      <p:bldP spid="44" grpId="0" animBg="1"/>
      <p:bldP spid="46" grpId="0"/>
      <p:bldP spid="47" grpId="0"/>
      <p:bldP spid="48" grpId="0"/>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904088" y="207082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904088" y="3145249"/>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904088" y="4219669"/>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3045127" y="205086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8</a:t>
            </a:r>
          </a:p>
        </p:txBody>
      </p:sp>
      <p:sp>
        <p:nvSpPr>
          <p:cNvPr id="37" name="TextBox 7">
            <a:extLst>
              <a:ext uri="{FF2B5EF4-FFF2-40B4-BE49-F238E27FC236}">
                <a16:creationId xmlns:a16="http://schemas.microsoft.com/office/drawing/2014/main" id="{B5E35E49-1469-C74E-9808-7442A8C2701B}"/>
              </a:ext>
            </a:extLst>
          </p:cNvPr>
          <p:cNvSpPr txBox="1"/>
          <p:nvPr/>
        </p:nvSpPr>
        <p:spPr>
          <a:xfrm>
            <a:off x="3045127" y="312528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9</a:t>
            </a:r>
          </a:p>
        </p:txBody>
      </p:sp>
      <p:sp>
        <p:nvSpPr>
          <p:cNvPr id="38" name="TextBox 8">
            <a:extLst>
              <a:ext uri="{FF2B5EF4-FFF2-40B4-BE49-F238E27FC236}">
                <a16:creationId xmlns:a16="http://schemas.microsoft.com/office/drawing/2014/main" id="{3013026D-5AAE-5046-9336-9D0A775EEB0C}"/>
              </a:ext>
            </a:extLst>
          </p:cNvPr>
          <p:cNvSpPr txBox="1"/>
          <p:nvPr/>
        </p:nvSpPr>
        <p:spPr>
          <a:xfrm>
            <a:off x="2832727" y="4199704"/>
            <a:ext cx="1034259"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10</a:t>
            </a:r>
          </a:p>
        </p:txBody>
      </p:sp>
      <p:sp>
        <p:nvSpPr>
          <p:cNvPr id="41" name="Rectangle 13">
            <a:extLst>
              <a:ext uri="{FF2B5EF4-FFF2-40B4-BE49-F238E27FC236}">
                <a16:creationId xmlns:a16="http://schemas.microsoft.com/office/drawing/2014/main" id="{F1DA5C09-0AA0-3A46-98D0-C4584C233D3D}"/>
              </a:ext>
            </a:extLst>
          </p:cNvPr>
          <p:cNvSpPr/>
          <p:nvPr/>
        </p:nvSpPr>
        <p:spPr>
          <a:xfrm>
            <a:off x="3799234" y="207082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99234" y="314524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99234" y="421966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133588" y="2257635"/>
            <a:ext cx="5820037" cy="584775"/>
          </a:xfrm>
          <a:prstGeom prst="rect">
            <a:avLst/>
          </a:prstGeom>
          <a:noFill/>
        </p:spPr>
        <p:txBody>
          <a:bodyPr wrap="square" rtlCol="0" anchor="ctr">
            <a:spAutoFit/>
          </a:bodyPr>
          <a:lstStyle/>
          <a:p>
            <a:r>
              <a:rPr lang="es-ES" sz="1600" b="1" dirty="0">
                <a:solidFill>
                  <a:schemeClr val="accent1">
                    <a:lumMod val="50000"/>
                  </a:schemeClr>
                </a:solidFill>
                <a:latin typeface="Poppins" pitchFamily="2" charset="77"/>
                <a:cs typeface="Poppins" pitchFamily="2" charset="77"/>
              </a:rPr>
              <a:t> EL SOPORTE CONTRACTUAL EN TODA GESTIÓN DE PROYECTOS</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133588" y="3421742"/>
            <a:ext cx="3788217" cy="338554"/>
          </a:xfrm>
          <a:prstGeom prst="rect">
            <a:avLst/>
          </a:prstGeom>
          <a:noFill/>
        </p:spPr>
        <p:txBody>
          <a:bodyPr wrap="none" rtlCol="0" anchor="ctr">
            <a:spAutoFit/>
          </a:bodyPr>
          <a:lstStyle/>
          <a:p>
            <a:r>
              <a:rPr lang="en-US" sz="1600" b="1" dirty="0">
                <a:solidFill>
                  <a:schemeClr val="accent2">
                    <a:lumMod val="50000"/>
                  </a:schemeClr>
                </a:solidFill>
                <a:latin typeface="Poppins" pitchFamily="2" charset="77"/>
                <a:cs typeface="Poppins" pitchFamily="2" charset="77"/>
              </a:rPr>
              <a:t>GESTIÓN DE LAS COMUNICACIONES</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133588" y="4496162"/>
            <a:ext cx="3571812" cy="338554"/>
          </a:xfrm>
          <a:prstGeom prst="rect">
            <a:avLst/>
          </a:prstGeom>
          <a:noFill/>
        </p:spPr>
        <p:txBody>
          <a:bodyPr wrap="none" rtlCol="0" anchor="ctr">
            <a:spAutoFit/>
          </a:bodyPr>
          <a:lstStyle/>
          <a:p>
            <a:r>
              <a:rPr lang="en-US" sz="1600" b="1" dirty="0">
                <a:solidFill>
                  <a:schemeClr val="accent3">
                    <a:lumMod val="50000"/>
                  </a:schemeClr>
                </a:solidFill>
                <a:latin typeface="Poppins" pitchFamily="2" charset="77"/>
                <a:cs typeface="Poppins" pitchFamily="2" charset="77"/>
              </a:rPr>
              <a:t>SUSTENTACIÓN DE CASO GRUPAL</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85090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6" grpId="0"/>
      <p:bldP spid="37" grpId="0"/>
      <p:bldP spid="38" grpId="0"/>
      <p:bldP spid="41" grpId="0" animBg="1"/>
      <p:bldP spid="42" grpId="0" animBg="1"/>
      <p:bldP spid="43" grpId="0" animBg="1"/>
      <p:bldP spid="46" grpId="0"/>
      <p:bldP spid="47" grpId="0"/>
      <p:bldP spid="4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92289" y="377263"/>
            <a:ext cx="10515600" cy="1325563"/>
          </a:xfrm>
        </p:spPr>
        <p:txBody>
          <a:bodyPr/>
          <a:lstStyle/>
          <a:p>
            <a:r>
              <a:rPr lang="es-ES" b="1" dirty="0"/>
              <a:t>01. PROYECTOS / OBRAS</a:t>
            </a:r>
            <a:endParaRPr lang="en-US" b="1" dirty="0"/>
          </a:p>
        </p:txBody>
      </p:sp>
      <p:sp>
        <p:nvSpPr>
          <p:cNvPr id="4" name="CuadroTexto 3"/>
          <p:cNvSpPr txBox="1"/>
          <p:nvPr/>
        </p:nvSpPr>
        <p:spPr>
          <a:xfrm>
            <a:off x="399165" y="2187346"/>
            <a:ext cx="2660968" cy="4093428"/>
          </a:xfrm>
          <a:prstGeom prst="rect">
            <a:avLst/>
          </a:prstGeom>
          <a:noFill/>
        </p:spPr>
        <p:txBody>
          <a:bodyPr wrap="square" rtlCol="0">
            <a:spAutoFit/>
          </a:bodyPr>
          <a:lstStyle/>
          <a:p>
            <a:r>
              <a:rPr lang="es-PE" sz="2000" b="1" dirty="0">
                <a:solidFill>
                  <a:srgbClr val="2E2B21"/>
                </a:solidFill>
                <a:latin typeface="Tw Cen MT" panose="020B0602020104020603"/>
              </a:rPr>
              <a:t>Proyecto:</a:t>
            </a:r>
          </a:p>
          <a:p>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Esfuerzo </a:t>
            </a:r>
            <a:r>
              <a:rPr lang="es-PE" sz="2000" b="1" dirty="0">
                <a:solidFill>
                  <a:srgbClr val="2E2B21"/>
                </a:solidFill>
                <a:latin typeface="Tw Cen MT" panose="020B0602020104020603"/>
              </a:rPr>
              <a:t>temporal.</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Producto, servicio o </a:t>
            </a:r>
          </a:p>
          <a:p>
            <a:r>
              <a:rPr lang="es-PE" sz="2000" dirty="0">
                <a:solidFill>
                  <a:srgbClr val="2E2B21"/>
                </a:solidFill>
                <a:latin typeface="Tw Cen MT" panose="020B0602020104020603"/>
              </a:rPr>
              <a:t>     resultado </a:t>
            </a:r>
            <a:r>
              <a:rPr lang="es-PE" sz="2000" b="1" dirty="0">
                <a:solidFill>
                  <a:srgbClr val="2E2B21"/>
                </a:solidFill>
                <a:latin typeface="Tw Cen MT" panose="020B0602020104020603"/>
              </a:rPr>
              <a:t>único.</a:t>
            </a:r>
          </a:p>
          <a:p>
            <a:endParaRPr lang="es-PE" sz="2000" b="1"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Conducen </a:t>
            </a:r>
            <a:r>
              <a:rPr lang="es-PE" sz="2000" b="1" dirty="0">
                <a:solidFill>
                  <a:srgbClr val="2E2B21"/>
                </a:solidFill>
                <a:latin typeface="Tw Cen MT" panose="020B0602020104020603"/>
              </a:rPr>
              <a:t>los cambios.</a:t>
            </a:r>
          </a:p>
          <a:p>
            <a:pPr marL="285750" indent="-285750">
              <a:buFont typeface="Wingdings" panose="05000000000000000000" pitchFamily="2" charset="2"/>
              <a:buChar char="ü"/>
            </a:pPr>
            <a:endParaRPr lang="es-PE" sz="2000" b="1"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Crea el </a:t>
            </a:r>
            <a:r>
              <a:rPr lang="es-PE" sz="2000" b="1" dirty="0">
                <a:solidFill>
                  <a:srgbClr val="2E2B21"/>
                </a:solidFill>
                <a:latin typeface="Tw Cen MT" panose="020B0602020104020603"/>
              </a:rPr>
              <a:t>valor del negocio.</a:t>
            </a:r>
          </a:p>
          <a:p>
            <a:endParaRPr lang="es-PE" sz="2000" b="1" dirty="0">
              <a:solidFill>
                <a:srgbClr val="2E2B21"/>
              </a:solidFill>
              <a:latin typeface="Tw Cen MT" panose="020B0602020104020603"/>
            </a:endParaRPr>
          </a:p>
        </p:txBody>
      </p:sp>
      <p:graphicFrame>
        <p:nvGraphicFramePr>
          <p:cNvPr id="5" name="Diagrama 4"/>
          <p:cNvGraphicFramePr/>
          <p:nvPr/>
        </p:nvGraphicFramePr>
        <p:xfrm>
          <a:off x="3245657" y="5751409"/>
          <a:ext cx="5733961" cy="3299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p:cNvSpPr txBox="1"/>
          <p:nvPr/>
        </p:nvSpPr>
        <p:spPr>
          <a:xfrm>
            <a:off x="9165143" y="2392137"/>
            <a:ext cx="2660968" cy="2862322"/>
          </a:xfrm>
          <a:prstGeom prst="rect">
            <a:avLst/>
          </a:prstGeom>
          <a:noFill/>
        </p:spPr>
        <p:txBody>
          <a:bodyPr wrap="square" rtlCol="0">
            <a:spAutoFit/>
          </a:bodyPr>
          <a:lstStyle/>
          <a:p>
            <a:r>
              <a:rPr lang="es-PE" sz="2000" b="1" dirty="0">
                <a:solidFill>
                  <a:srgbClr val="2E2B21"/>
                </a:solidFill>
                <a:latin typeface="Tw Cen MT" panose="020B0602020104020603"/>
              </a:rPr>
              <a:t>Fin del Proyecto:</a:t>
            </a:r>
          </a:p>
          <a:p>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Objetivos </a:t>
            </a:r>
            <a:r>
              <a:rPr lang="es-PE" sz="2000" b="1" dirty="0">
                <a:solidFill>
                  <a:srgbClr val="2E2B21"/>
                </a:solidFill>
                <a:latin typeface="Tw Cen MT" panose="020B0602020104020603"/>
              </a:rPr>
              <a:t>cumplidos</a:t>
            </a:r>
            <a:r>
              <a:rPr lang="es-PE" sz="2000" dirty="0">
                <a:solidFill>
                  <a:srgbClr val="2E2B21"/>
                </a:solidFill>
                <a:latin typeface="Tw Cen MT" panose="020B0602020104020603"/>
              </a:rPr>
              <a:t>.</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Objetivos </a:t>
            </a:r>
            <a:r>
              <a:rPr lang="es-PE" sz="2000" b="1" dirty="0">
                <a:solidFill>
                  <a:srgbClr val="2E2B21"/>
                </a:solidFill>
                <a:latin typeface="Tw Cen MT" panose="020B0602020104020603"/>
              </a:rPr>
              <a:t>ya no se pueden cumplir</a:t>
            </a:r>
            <a:r>
              <a:rPr lang="es-PE" sz="2000" dirty="0">
                <a:solidFill>
                  <a:srgbClr val="2E2B21"/>
                </a:solidFill>
                <a:latin typeface="Tw Cen MT" panose="020B0602020104020603"/>
              </a:rPr>
              <a:t>.</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Ya </a:t>
            </a:r>
            <a:r>
              <a:rPr lang="es-PE" sz="2000" b="1" dirty="0">
                <a:solidFill>
                  <a:srgbClr val="2E2B21"/>
                </a:solidFill>
                <a:latin typeface="Tw Cen MT" panose="020B0602020104020603"/>
              </a:rPr>
              <a:t>no existe la necesidad</a:t>
            </a:r>
            <a:r>
              <a:rPr lang="es-PE" sz="2000" dirty="0">
                <a:solidFill>
                  <a:srgbClr val="2E2B21"/>
                </a:solidFill>
                <a:latin typeface="Tw Cen MT" panose="020B0602020104020603"/>
              </a:rPr>
              <a:t>.</a:t>
            </a:r>
            <a:endParaRPr lang="en-US" sz="2000" dirty="0">
              <a:solidFill>
                <a:srgbClr val="2E2B21"/>
              </a:solidFill>
              <a:latin typeface="Tw Cen MT" panose="020B0602020104020603"/>
            </a:endParaRPr>
          </a:p>
        </p:txBody>
      </p:sp>
      <p:pic>
        <p:nvPicPr>
          <p:cNvPr id="3" name="Imagen 2"/>
          <p:cNvPicPr>
            <a:picLocks noChangeAspect="1"/>
          </p:cNvPicPr>
          <p:nvPr/>
        </p:nvPicPr>
        <p:blipFill>
          <a:blip r:embed="rId7"/>
          <a:stretch>
            <a:fillRect/>
          </a:stretch>
        </p:blipFill>
        <p:spPr>
          <a:xfrm>
            <a:off x="3635529" y="2187346"/>
            <a:ext cx="4784076" cy="3511003"/>
          </a:xfrm>
          <a:prstGeom prst="rect">
            <a:avLst/>
          </a:prstGeom>
        </p:spPr>
      </p:pic>
    </p:spTree>
    <p:extLst>
      <p:ext uri="{BB962C8B-B14F-4D97-AF65-F5344CB8AC3E}">
        <p14:creationId xmlns:p14="http://schemas.microsoft.com/office/powerpoint/2010/main" val="2457017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495886" y="2338107"/>
            <a:ext cx="2660968" cy="3631763"/>
          </a:xfrm>
          <a:prstGeom prst="rect">
            <a:avLst/>
          </a:prstGeom>
          <a:noFill/>
        </p:spPr>
        <p:txBody>
          <a:bodyPr wrap="square" rtlCol="0">
            <a:spAutoFit/>
          </a:bodyPr>
          <a:lstStyle/>
          <a:p>
            <a:r>
              <a:rPr lang="es-PE" sz="2400" b="1" dirty="0">
                <a:solidFill>
                  <a:srgbClr val="2E2B21"/>
                </a:solidFill>
                <a:latin typeface="Tw Cen MT" panose="020B0602020104020603"/>
              </a:rPr>
              <a:t>Gestión del Proyecto:</a:t>
            </a:r>
          </a:p>
          <a:p>
            <a:endParaRPr lang="es-PE"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Conocimientos.</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Habilidades</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Técnicas</a:t>
            </a:r>
          </a:p>
          <a:p>
            <a:pPr marL="285750" indent="-285750">
              <a:buFont typeface="Wingdings" panose="05000000000000000000" pitchFamily="2" charset="2"/>
              <a:buChar char="ü"/>
            </a:pPr>
            <a:endParaRPr lang="es-PE" sz="2000" dirty="0">
              <a:solidFill>
                <a:srgbClr val="2E2B21"/>
              </a:solidFill>
              <a:latin typeface="Tw Cen MT" panose="020B0602020104020603"/>
            </a:endParaRPr>
          </a:p>
          <a:p>
            <a:pPr marL="285750" indent="-285750">
              <a:buFont typeface="Wingdings" panose="05000000000000000000" pitchFamily="2" charset="2"/>
              <a:buChar char="ü"/>
            </a:pPr>
            <a:r>
              <a:rPr lang="es-PE" sz="2000" dirty="0">
                <a:solidFill>
                  <a:srgbClr val="2E2B21"/>
                </a:solidFill>
                <a:latin typeface="Tw Cen MT" panose="020B0602020104020603"/>
              </a:rPr>
              <a:t>Herramientas</a:t>
            </a:r>
          </a:p>
          <a:p>
            <a:pPr marL="285750" indent="-285750">
              <a:buFont typeface="Wingdings" panose="05000000000000000000" pitchFamily="2" charset="2"/>
              <a:buChar char="ü"/>
            </a:pPr>
            <a:endParaRPr lang="en-US" sz="2400" dirty="0">
              <a:solidFill>
                <a:srgbClr val="2E2B21"/>
              </a:solidFill>
              <a:latin typeface="Tw Cen MT" panose="020B0602020104020603"/>
            </a:endParaRPr>
          </a:p>
        </p:txBody>
      </p:sp>
      <p:sp>
        <p:nvSpPr>
          <p:cNvPr id="5" name="Llamada de flecha hacia abajo 4"/>
          <p:cNvSpPr/>
          <p:nvPr/>
        </p:nvSpPr>
        <p:spPr>
          <a:xfrm>
            <a:off x="5424105" y="1974398"/>
            <a:ext cx="1589649" cy="1196986"/>
          </a:xfrm>
          <a:prstGeom prst="down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Identificar requerimientos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6" name="Llamada de flecha hacia abajo 5"/>
          <p:cNvSpPr/>
          <p:nvPr/>
        </p:nvSpPr>
        <p:spPr>
          <a:xfrm>
            <a:off x="7129261" y="2005729"/>
            <a:ext cx="2847479" cy="1134325"/>
          </a:xfrm>
          <a:prstGeom prst="down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Direccionar atención de necesidades, expectativas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7" name="Llamada de flecha hacia arriba 6"/>
          <p:cNvSpPr/>
          <p:nvPr/>
        </p:nvSpPr>
        <p:spPr>
          <a:xfrm>
            <a:off x="5342602" y="5619972"/>
            <a:ext cx="1885070" cy="956603"/>
          </a:xfrm>
          <a:prstGeom prst="up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Establecer comunicaciones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8" name="Llamada de flecha hacia arriba 7"/>
          <p:cNvSpPr/>
          <p:nvPr/>
        </p:nvSpPr>
        <p:spPr>
          <a:xfrm>
            <a:off x="7740531" y="5619973"/>
            <a:ext cx="1885070" cy="956603"/>
          </a:xfrm>
          <a:prstGeom prst="up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Gestionar recursos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9" name="Llamada de flecha a la izquierda 8"/>
          <p:cNvSpPr/>
          <p:nvPr/>
        </p:nvSpPr>
        <p:spPr>
          <a:xfrm>
            <a:off x="9732888" y="3737960"/>
            <a:ext cx="1955410" cy="1167618"/>
          </a:xfrm>
          <a:prstGeom prst="left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Manejo de restricciones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0" name="Llamada de flecha a la derecha 9"/>
          <p:cNvSpPr/>
          <p:nvPr/>
        </p:nvSpPr>
        <p:spPr>
          <a:xfrm>
            <a:off x="3669713" y="3737960"/>
            <a:ext cx="1786597" cy="1167618"/>
          </a:xfrm>
          <a:prstGeom prst="rightArrowCallou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Emisión de reportes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pic>
        <p:nvPicPr>
          <p:cNvPr id="11" name="Imagen 10"/>
          <p:cNvPicPr>
            <a:picLocks noChangeAspect="1"/>
          </p:cNvPicPr>
          <p:nvPr/>
        </p:nvPicPr>
        <p:blipFill>
          <a:blip r:embed="rId2"/>
          <a:stretch>
            <a:fillRect/>
          </a:stretch>
        </p:blipFill>
        <p:spPr>
          <a:xfrm>
            <a:off x="5523669" y="3130231"/>
            <a:ext cx="4101932" cy="2468234"/>
          </a:xfrm>
          <a:prstGeom prst="rect">
            <a:avLst/>
          </a:prstGeom>
        </p:spPr>
      </p:pic>
      <p:sp>
        <p:nvSpPr>
          <p:cNvPr id="12" name="Título 1"/>
          <p:cNvSpPr>
            <a:spLocks noGrp="1"/>
          </p:cNvSpPr>
          <p:nvPr>
            <p:ph type="title"/>
          </p:nvPr>
        </p:nvSpPr>
        <p:spPr>
          <a:xfrm>
            <a:off x="292289" y="377263"/>
            <a:ext cx="8947245" cy="1325563"/>
          </a:xfrm>
        </p:spPr>
        <p:txBody>
          <a:bodyPr/>
          <a:lstStyle/>
          <a:p>
            <a:r>
              <a:rPr lang="es-ES" b="1" dirty="0"/>
              <a:t>02. GESTIÓN DE PROYECTOS</a:t>
            </a:r>
            <a:endParaRPr lang="en-US" b="1" dirty="0"/>
          </a:p>
        </p:txBody>
      </p:sp>
    </p:spTree>
    <p:extLst>
      <p:ext uri="{BB962C8B-B14F-4D97-AF65-F5344CB8AC3E}">
        <p14:creationId xmlns:p14="http://schemas.microsoft.com/office/powerpoint/2010/main" val="2867684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redondeado 11"/>
          <p:cNvSpPr/>
          <p:nvPr/>
        </p:nvSpPr>
        <p:spPr>
          <a:xfrm>
            <a:off x="1521580" y="1982621"/>
            <a:ext cx="9423007" cy="351692"/>
          </a:xfrm>
          <a:prstGeom prst="roundRect">
            <a:avLst/>
          </a:prstGeom>
          <a:solidFill>
            <a:srgbClr val="FFFF99"/>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PORTAFOLIO</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3" name="Rectángulo redondeado 12"/>
          <p:cNvSpPr/>
          <p:nvPr/>
        </p:nvSpPr>
        <p:spPr>
          <a:xfrm>
            <a:off x="1521579" y="6036461"/>
            <a:ext cx="9423007" cy="351692"/>
          </a:xfrm>
          <a:prstGeom prst="roundRect">
            <a:avLst/>
          </a:prstGeom>
          <a:solidFill>
            <a:srgbClr val="FFFFFF">
              <a:lumMod val="65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INTERESADOS Y RECURSOS COMPARTIDOS</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4" name="Rectángulo redondeado 13"/>
          <p:cNvSpPr/>
          <p:nvPr/>
        </p:nvSpPr>
        <p:spPr>
          <a:xfrm>
            <a:off x="1521580"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1</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5" name="Rectángulo redondeado 14"/>
          <p:cNvSpPr/>
          <p:nvPr/>
        </p:nvSpPr>
        <p:spPr>
          <a:xfrm>
            <a:off x="2714989"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2</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6" name="Rectángulo redondeado 15"/>
          <p:cNvSpPr/>
          <p:nvPr/>
        </p:nvSpPr>
        <p:spPr>
          <a:xfrm>
            <a:off x="3908398"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3</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7" name="Rectángulo redondeado 16"/>
          <p:cNvSpPr/>
          <p:nvPr/>
        </p:nvSpPr>
        <p:spPr>
          <a:xfrm>
            <a:off x="5101807"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4</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8" name="Rectángulo redondeado 17"/>
          <p:cNvSpPr/>
          <p:nvPr/>
        </p:nvSpPr>
        <p:spPr>
          <a:xfrm>
            <a:off x="6295216"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5</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9" name="Rectángulo redondeado 18"/>
          <p:cNvSpPr/>
          <p:nvPr/>
        </p:nvSpPr>
        <p:spPr>
          <a:xfrm>
            <a:off x="7488625" y="5119716"/>
            <a:ext cx="1069144" cy="492370"/>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Proyecto 6</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0" name="Rectángulo redondeado 19"/>
          <p:cNvSpPr/>
          <p:nvPr/>
        </p:nvSpPr>
        <p:spPr>
          <a:xfrm>
            <a:off x="8682034" y="5119716"/>
            <a:ext cx="2262553" cy="492370"/>
          </a:xfrm>
          <a:prstGeom prst="roundRect">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Operaciones</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1" name="Proceso alternativo 20"/>
          <p:cNvSpPr/>
          <p:nvPr/>
        </p:nvSpPr>
        <p:spPr>
          <a:xfrm>
            <a:off x="2590724" y="2784479"/>
            <a:ext cx="2386818" cy="703385"/>
          </a:xfrm>
          <a:prstGeom prst="flowChartAlternateProcess">
            <a:avLst/>
          </a:prstGeom>
          <a:solidFill>
            <a:srgbClr val="00B05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PROGRAMA A</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2" name="Proceso alternativo 21"/>
          <p:cNvSpPr/>
          <p:nvPr/>
        </p:nvSpPr>
        <p:spPr>
          <a:xfrm>
            <a:off x="5101807" y="3972027"/>
            <a:ext cx="2386818" cy="703385"/>
          </a:xfrm>
          <a:prstGeom prst="flowChartAlternateProcess">
            <a:avLst/>
          </a:prstGeom>
          <a:solidFill>
            <a:srgbClr val="00B05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PROGRAMA B.1</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3" name="Proceso alternativo 22"/>
          <p:cNvSpPr/>
          <p:nvPr/>
        </p:nvSpPr>
        <p:spPr>
          <a:xfrm>
            <a:off x="5101807" y="2777777"/>
            <a:ext cx="3455962" cy="703385"/>
          </a:xfrm>
          <a:prstGeom prst="flowChartAlternateProcess">
            <a:avLst/>
          </a:prstGeom>
          <a:solidFill>
            <a:srgbClr val="00B05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PROGRAMA B</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cxnSp>
        <p:nvCxnSpPr>
          <p:cNvPr id="24" name="Conector recto de flecha 23"/>
          <p:cNvCxnSpPr/>
          <p:nvPr/>
        </p:nvCxnSpPr>
        <p:spPr>
          <a:xfrm>
            <a:off x="2056152" y="2334313"/>
            <a:ext cx="0" cy="2785403"/>
          </a:xfrm>
          <a:prstGeom prst="straightConnector1">
            <a:avLst/>
          </a:prstGeom>
          <a:noFill/>
          <a:ln w="22225" cap="flat" cmpd="sng" algn="ctr">
            <a:solidFill>
              <a:srgbClr val="2E2B21"/>
            </a:solidFill>
            <a:prstDash val="solid"/>
            <a:headEnd type="triangle"/>
            <a:tailEnd type="triangle"/>
          </a:ln>
          <a:effectLst/>
        </p:spPr>
      </p:cxnSp>
      <p:cxnSp>
        <p:nvCxnSpPr>
          <p:cNvPr id="25" name="Conector recto de flecha 24"/>
          <p:cNvCxnSpPr>
            <a:endCxn id="15" idx="0"/>
          </p:cNvCxnSpPr>
          <p:nvPr/>
        </p:nvCxnSpPr>
        <p:spPr>
          <a:xfrm>
            <a:off x="3249561" y="3487864"/>
            <a:ext cx="0" cy="1631852"/>
          </a:xfrm>
          <a:prstGeom prst="straightConnector1">
            <a:avLst/>
          </a:prstGeom>
          <a:noFill/>
          <a:ln w="22225" cap="flat" cmpd="sng" algn="ctr">
            <a:solidFill>
              <a:srgbClr val="2E2B21"/>
            </a:solidFill>
            <a:prstDash val="solid"/>
            <a:headEnd type="triangle"/>
            <a:tailEnd type="triangle"/>
          </a:ln>
          <a:effectLst/>
        </p:spPr>
      </p:cxnSp>
      <p:cxnSp>
        <p:nvCxnSpPr>
          <p:cNvPr id="26" name="Conector recto de flecha 25"/>
          <p:cNvCxnSpPr/>
          <p:nvPr/>
        </p:nvCxnSpPr>
        <p:spPr>
          <a:xfrm>
            <a:off x="4452348" y="3507793"/>
            <a:ext cx="0" cy="1631852"/>
          </a:xfrm>
          <a:prstGeom prst="straightConnector1">
            <a:avLst/>
          </a:prstGeom>
          <a:noFill/>
          <a:ln w="22225" cap="flat" cmpd="sng" algn="ctr">
            <a:solidFill>
              <a:srgbClr val="2E2B21"/>
            </a:solidFill>
            <a:prstDash val="solid"/>
            <a:headEnd type="triangle"/>
            <a:tailEnd type="triangle"/>
          </a:ln>
          <a:effectLst/>
        </p:spPr>
      </p:cxnSp>
      <p:cxnSp>
        <p:nvCxnSpPr>
          <p:cNvPr id="27" name="Conector recto de flecha 26"/>
          <p:cNvCxnSpPr/>
          <p:nvPr/>
        </p:nvCxnSpPr>
        <p:spPr>
          <a:xfrm>
            <a:off x="7976305" y="3485520"/>
            <a:ext cx="0" cy="1631852"/>
          </a:xfrm>
          <a:prstGeom prst="straightConnector1">
            <a:avLst/>
          </a:prstGeom>
          <a:noFill/>
          <a:ln w="22225" cap="flat" cmpd="sng" algn="ctr">
            <a:solidFill>
              <a:srgbClr val="2E2B21"/>
            </a:solidFill>
            <a:prstDash val="solid"/>
            <a:headEnd type="triangle"/>
            <a:tailEnd type="triangle"/>
          </a:ln>
          <a:effectLst/>
        </p:spPr>
      </p:cxnSp>
      <p:cxnSp>
        <p:nvCxnSpPr>
          <p:cNvPr id="28" name="Conector recto de flecha 27"/>
          <p:cNvCxnSpPr/>
          <p:nvPr/>
        </p:nvCxnSpPr>
        <p:spPr>
          <a:xfrm>
            <a:off x="9782830" y="2354242"/>
            <a:ext cx="0" cy="2785403"/>
          </a:xfrm>
          <a:prstGeom prst="straightConnector1">
            <a:avLst/>
          </a:prstGeom>
          <a:noFill/>
          <a:ln w="22225" cap="flat" cmpd="sng" algn="ctr">
            <a:solidFill>
              <a:srgbClr val="2E2B21"/>
            </a:solidFill>
            <a:prstDash val="solid"/>
            <a:headEnd type="triangle"/>
            <a:tailEnd type="triangle"/>
          </a:ln>
          <a:effectLst/>
        </p:spPr>
      </p:cxnSp>
      <p:cxnSp>
        <p:nvCxnSpPr>
          <p:cNvPr id="29" name="Conector recto de flecha 28"/>
          <p:cNvCxnSpPr/>
          <p:nvPr/>
        </p:nvCxnSpPr>
        <p:spPr>
          <a:xfrm>
            <a:off x="6313972" y="3499168"/>
            <a:ext cx="0" cy="444304"/>
          </a:xfrm>
          <a:prstGeom prst="straightConnector1">
            <a:avLst/>
          </a:prstGeom>
          <a:noFill/>
          <a:ln w="22225" cap="flat" cmpd="sng" algn="ctr">
            <a:solidFill>
              <a:srgbClr val="2E2B21"/>
            </a:solidFill>
            <a:prstDash val="solid"/>
            <a:headEnd type="triangle"/>
            <a:tailEnd type="triangle"/>
          </a:ln>
          <a:effectLst/>
        </p:spPr>
      </p:cxnSp>
      <p:cxnSp>
        <p:nvCxnSpPr>
          <p:cNvPr id="30" name="Conector recto de flecha 29"/>
          <p:cNvCxnSpPr/>
          <p:nvPr/>
        </p:nvCxnSpPr>
        <p:spPr>
          <a:xfrm>
            <a:off x="2060841" y="5612086"/>
            <a:ext cx="0" cy="444304"/>
          </a:xfrm>
          <a:prstGeom prst="straightConnector1">
            <a:avLst/>
          </a:prstGeom>
          <a:noFill/>
          <a:ln w="22225" cap="flat" cmpd="sng" algn="ctr">
            <a:solidFill>
              <a:srgbClr val="2E2B21"/>
            </a:solidFill>
            <a:prstDash val="solid"/>
            <a:headEnd type="triangle"/>
            <a:tailEnd type="triangle"/>
          </a:ln>
          <a:effectLst/>
        </p:spPr>
      </p:cxnSp>
      <p:cxnSp>
        <p:nvCxnSpPr>
          <p:cNvPr id="31" name="Conector recto de flecha 30"/>
          <p:cNvCxnSpPr/>
          <p:nvPr/>
        </p:nvCxnSpPr>
        <p:spPr>
          <a:xfrm>
            <a:off x="3249561" y="5612086"/>
            <a:ext cx="0" cy="444304"/>
          </a:xfrm>
          <a:prstGeom prst="straightConnector1">
            <a:avLst/>
          </a:prstGeom>
          <a:noFill/>
          <a:ln w="22225" cap="flat" cmpd="sng" algn="ctr">
            <a:solidFill>
              <a:srgbClr val="2E2B21"/>
            </a:solidFill>
            <a:prstDash val="solid"/>
            <a:headEnd type="triangle"/>
            <a:tailEnd type="triangle"/>
          </a:ln>
          <a:effectLst/>
        </p:spPr>
      </p:cxnSp>
      <p:cxnSp>
        <p:nvCxnSpPr>
          <p:cNvPr id="32" name="Conector recto de flecha 31"/>
          <p:cNvCxnSpPr/>
          <p:nvPr/>
        </p:nvCxnSpPr>
        <p:spPr>
          <a:xfrm>
            <a:off x="4442970" y="5612086"/>
            <a:ext cx="0" cy="444304"/>
          </a:xfrm>
          <a:prstGeom prst="straightConnector1">
            <a:avLst/>
          </a:prstGeom>
          <a:noFill/>
          <a:ln w="22225" cap="flat" cmpd="sng" algn="ctr">
            <a:solidFill>
              <a:srgbClr val="2E2B21"/>
            </a:solidFill>
            <a:prstDash val="solid"/>
            <a:headEnd type="triangle"/>
            <a:tailEnd type="triangle"/>
          </a:ln>
          <a:effectLst/>
        </p:spPr>
      </p:cxnSp>
      <p:cxnSp>
        <p:nvCxnSpPr>
          <p:cNvPr id="33" name="Conector recto de flecha 32"/>
          <p:cNvCxnSpPr/>
          <p:nvPr/>
        </p:nvCxnSpPr>
        <p:spPr>
          <a:xfrm>
            <a:off x="5610588" y="5592157"/>
            <a:ext cx="0" cy="444304"/>
          </a:xfrm>
          <a:prstGeom prst="straightConnector1">
            <a:avLst/>
          </a:prstGeom>
          <a:noFill/>
          <a:ln w="22225" cap="flat" cmpd="sng" algn="ctr">
            <a:solidFill>
              <a:srgbClr val="2E2B21"/>
            </a:solidFill>
            <a:prstDash val="solid"/>
            <a:headEnd type="triangle"/>
            <a:tailEnd type="triangle"/>
          </a:ln>
          <a:effectLst/>
        </p:spPr>
      </p:cxnSp>
      <p:cxnSp>
        <p:nvCxnSpPr>
          <p:cNvPr id="34" name="Conector recto de flecha 33"/>
          <p:cNvCxnSpPr/>
          <p:nvPr/>
        </p:nvCxnSpPr>
        <p:spPr>
          <a:xfrm>
            <a:off x="6829788" y="5612086"/>
            <a:ext cx="0" cy="444304"/>
          </a:xfrm>
          <a:prstGeom prst="straightConnector1">
            <a:avLst/>
          </a:prstGeom>
          <a:noFill/>
          <a:ln w="22225" cap="flat" cmpd="sng" algn="ctr">
            <a:solidFill>
              <a:srgbClr val="2E2B21"/>
            </a:solidFill>
            <a:prstDash val="solid"/>
            <a:headEnd type="triangle"/>
            <a:tailEnd type="triangle"/>
          </a:ln>
          <a:effectLst/>
        </p:spPr>
      </p:cxnSp>
      <p:cxnSp>
        <p:nvCxnSpPr>
          <p:cNvPr id="35" name="Conector recto de flecha 34"/>
          <p:cNvCxnSpPr/>
          <p:nvPr/>
        </p:nvCxnSpPr>
        <p:spPr>
          <a:xfrm>
            <a:off x="7983338" y="5592157"/>
            <a:ext cx="0" cy="444304"/>
          </a:xfrm>
          <a:prstGeom prst="straightConnector1">
            <a:avLst/>
          </a:prstGeom>
          <a:noFill/>
          <a:ln w="22225" cap="flat" cmpd="sng" algn="ctr">
            <a:solidFill>
              <a:srgbClr val="2E2B21"/>
            </a:solidFill>
            <a:prstDash val="solid"/>
            <a:headEnd type="triangle"/>
            <a:tailEnd type="triangle"/>
          </a:ln>
          <a:effectLst/>
        </p:spPr>
      </p:cxnSp>
      <p:cxnSp>
        <p:nvCxnSpPr>
          <p:cNvPr id="36" name="Conector recto de flecha 35"/>
          <p:cNvCxnSpPr/>
          <p:nvPr/>
        </p:nvCxnSpPr>
        <p:spPr>
          <a:xfrm>
            <a:off x="9815654" y="5612086"/>
            <a:ext cx="0" cy="444304"/>
          </a:xfrm>
          <a:prstGeom prst="straightConnector1">
            <a:avLst/>
          </a:prstGeom>
          <a:noFill/>
          <a:ln w="22225" cap="flat" cmpd="sng" algn="ctr">
            <a:solidFill>
              <a:srgbClr val="2E2B21"/>
            </a:solidFill>
            <a:prstDash val="solid"/>
            <a:headEnd type="triangle"/>
            <a:tailEnd type="triangle"/>
          </a:ln>
          <a:effectLst/>
        </p:spPr>
      </p:cxnSp>
      <p:cxnSp>
        <p:nvCxnSpPr>
          <p:cNvPr id="37" name="Conector recto de flecha 36"/>
          <p:cNvCxnSpPr/>
          <p:nvPr/>
        </p:nvCxnSpPr>
        <p:spPr>
          <a:xfrm>
            <a:off x="5610588" y="4695341"/>
            <a:ext cx="0" cy="444304"/>
          </a:xfrm>
          <a:prstGeom prst="straightConnector1">
            <a:avLst/>
          </a:prstGeom>
          <a:noFill/>
          <a:ln w="22225" cap="flat" cmpd="sng" algn="ctr">
            <a:solidFill>
              <a:srgbClr val="2E2B21"/>
            </a:solidFill>
            <a:prstDash val="solid"/>
            <a:headEnd type="triangle"/>
            <a:tailEnd type="triangle"/>
          </a:ln>
          <a:effectLst/>
        </p:spPr>
      </p:cxnSp>
      <p:cxnSp>
        <p:nvCxnSpPr>
          <p:cNvPr id="38" name="Conector recto de flecha 37"/>
          <p:cNvCxnSpPr/>
          <p:nvPr/>
        </p:nvCxnSpPr>
        <p:spPr>
          <a:xfrm>
            <a:off x="6829788" y="4695341"/>
            <a:ext cx="0" cy="444304"/>
          </a:xfrm>
          <a:prstGeom prst="straightConnector1">
            <a:avLst/>
          </a:prstGeom>
          <a:noFill/>
          <a:ln w="22225" cap="flat" cmpd="sng" algn="ctr">
            <a:solidFill>
              <a:srgbClr val="2E2B21"/>
            </a:solidFill>
            <a:prstDash val="solid"/>
            <a:headEnd type="triangle"/>
            <a:tailEnd type="triangle"/>
          </a:ln>
          <a:effectLst/>
        </p:spPr>
      </p:cxnSp>
      <p:cxnSp>
        <p:nvCxnSpPr>
          <p:cNvPr id="39" name="Conector recto de flecha 38"/>
          <p:cNvCxnSpPr/>
          <p:nvPr/>
        </p:nvCxnSpPr>
        <p:spPr>
          <a:xfrm>
            <a:off x="3784133" y="2354242"/>
            <a:ext cx="0" cy="444304"/>
          </a:xfrm>
          <a:prstGeom prst="straightConnector1">
            <a:avLst/>
          </a:prstGeom>
          <a:noFill/>
          <a:ln w="22225" cap="flat" cmpd="sng" algn="ctr">
            <a:solidFill>
              <a:srgbClr val="2E2B21"/>
            </a:solidFill>
            <a:prstDash val="solid"/>
            <a:headEnd type="triangle"/>
            <a:tailEnd type="triangle"/>
          </a:ln>
          <a:effectLst/>
        </p:spPr>
      </p:cxnSp>
      <p:cxnSp>
        <p:nvCxnSpPr>
          <p:cNvPr id="40" name="Conector recto de flecha 39"/>
          <p:cNvCxnSpPr/>
          <p:nvPr/>
        </p:nvCxnSpPr>
        <p:spPr>
          <a:xfrm>
            <a:off x="6979683" y="2319825"/>
            <a:ext cx="0" cy="444304"/>
          </a:xfrm>
          <a:prstGeom prst="straightConnector1">
            <a:avLst/>
          </a:prstGeom>
          <a:noFill/>
          <a:ln w="22225" cap="flat" cmpd="sng" algn="ctr">
            <a:solidFill>
              <a:srgbClr val="2E2B21"/>
            </a:solidFill>
            <a:prstDash val="solid"/>
            <a:headEnd type="triangle"/>
            <a:tailEnd type="triangle"/>
          </a:ln>
          <a:effectLst/>
        </p:spPr>
      </p:cxnSp>
      <p:sp>
        <p:nvSpPr>
          <p:cNvPr id="41" name="Título 1"/>
          <p:cNvSpPr>
            <a:spLocks noGrp="1"/>
          </p:cNvSpPr>
          <p:nvPr>
            <p:ph type="title"/>
          </p:nvPr>
        </p:nvSpPr>
        <p:spPr>
          <a:xfrm>
            <a:off x="292289" y="377263"/>
            <a:ext cx="8947245" cy="1325563"/>
          </a:xfrm>
        </p:spPr>
        <p:txBody>
          <a:bodyPr/>
          <a:lstStyle/>
          <a:p>
            <a:r>
              <a:rPr lang="es-ES" b="1" dirty="0"/>
              <a:t>03. ESTRATEGIA DE LA ORGANIZACIÓN</a:t>
            </a:r>
            <a:endParaRPr lang="en-US" b="1" dirty="0"/>
          </a:p>
        </p:txBody>
      </p:sp>
    </p:spTree>
    <p:extLst>
      <p:ext uri="{BB962C8B-B14F-4D97-AF65-F5344CB8AC3E}">
        <p14:creationId xmlns:p14="http://schemas.microsoft.com/office/powerpoint/2010/main" val="3253531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810354" y="1901978"/>
            <a:ext cx="10800454" cy="4793290"/>
          </a:xfrm>
          <a:prstGeom prst="rect">
            <a:avLst/>
          </a:prstGeom>
        </p:spPr>
      </p:pic>
      <p:sp>
        <p:nvSpPr>
          <p:cNvPr id="5" name="Título 1"/>
          <p:cNvSpPr>
            <a:spLocks noGrp="1"/>
          </p:cNvSpPr>
          <p:nvPr>
            <p:ph type="title"/>
          </p:nvPr>
        </p:nvSpPr>
        <p:spPr>
          <a:xfrm>
            <a:off x="292289" y="377263"/>
            <a:ext cx="8947245" cy="1325563"/>
          </a:xfrm>
        </p:spPr>
        <p:txBody>
          <a:bodyPr/>
          <a:lstStyle/>
          <a:p>
            <a:r>
              <a:rPr lang="es-ES" b="1" dirty="0"/>
              <a:t>03. ESTRATEGIA DE LA ORGANIZACIÓN</a:t>
            </a:r>
            <a:endParaRPr lang="en-US" b="1" dirty="0"/>
          </a:p>
        </p:txBody>
      </p:sp>
    </p:spTree>
    <p:extLst>
      <p:ext uri="{BB962C8B-B14F-4D97-AF65-F5344CB8AC3E}">
        <p14:creationId xmlns:p14="http://schemas.microsoft.com/office/powerpoint/2010/main" val="1384882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72468" y="406929"/>
            <a:ext cx="8824415" cy="1325563"/>
          </a:xfrm>
        </p:spPr>
        <p:txBody>
          <a:bodyPr/>
          <a:lstStyle/>
          <a:p>
            <a:r>
              <a:rPr lang="es-ES" b="1" dirty="0"/>
              <a:t>04. MODELO DEL CICLO DE VIDA DE UN PROYECTO</a:t>
            </a:r>
            <a:endParaRPr lang="en-US" b="1" dirty="0"/>
          </a:p>
        </p:txBody>
      </p:sp>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Proceso 17"/>
          <p:cNvSpPr/>
          <p:nvPr/>
        </p:nvSpPr>
        <p:spPr>
          <a:xfrm>
            <a:off x="452789" y="1941120"/>
            <a:ext cx="1814733" cy="745587"/>
          </a:xfrm>
          <a:prstGeom prst="flowChartProcess">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INICIO</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9" name="Proceso 18"/>
          <p:cNvSpPr/>
          <p:nvPr/>
        </p:nvSpPr>
        <p:spPr>
          <a:xfrm>
            <a:off x="2267522" y="1941119"/>
            <a:ext cx="2096086" cy="745587"/>
          </a:xfrm>
          <a:prstGeom prst="flowChartProcess">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ORGANIZACIÓN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0" name="Proceso 19"/>
          <p:cNvSpPr/>
          <p:nvPr/>
        </p:nvSpPr>
        <p:spPr>
          <a:xfrm>
            <a:off x="4363608" y="1941118"/>
            <a:ext cx="5672223" cy="745587"/>
          </a:xfrm>
          <a:prstGeom prst="flowChartProcess">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EJECUCIÓN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1" name="Proceso 20"/>
          <p:cNvSpPr/>
          <p:nvPr/>
        </p:nvSpPr>
        <p:spPr>
          <a:xfrm>
            <a:off x="10035831" y="1941118"/>
            <a:ext cx="1689867" cy="745587"/>
          </a:xfrm>
          <a:prstGeom prst="flowChartProcess">
            <a:avLst/>
          </a:prstGeom>
          <a:solidFill>
            <a:srgbClr val="FF0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FINALIZACIÓN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2" name="Decisión 21"/>
          <p:cNvSpPr/>
          <p:nvPr/>
        </p:nvSpPr>
        <p:spPr>
          <a:xfrm>
            <a:off x="2162001" y="2373697"/>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3" name="Decisión 22"/>
          <p:cNvSpPr/>
          <p:nvPr/>
        </p:nvSpPr>
        <p:spPr>
          <a:xfrm>
            <a:off x="4263267" y="2399648"/>
            <a:ext cx="200682" cy="287714"/>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4" name="Decisión 23"/>
          <p:cNvSpPr/>
          <p:nvPr/>
        </p:nvSpPr>
        <p:spPr>
          <a:xfrm>
            <a:off x="9922581" y="2364822"/>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5" name="Decisión 24"/>
          <p:cNvSpPr/>
          <p:nvPr/>
        </p:nvSpPr>
        <p:spPr>
          <a:xfrm>
            <a:off x="11583299" y="2373697"/>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26" name="Conector recto de flecha 25"/>
          <p:cNvCxnSpPr/>
          <p:nvPr/>
        </p:nvCxnSpPr>
        <p:spPr>
          <a:xfrm flipH="1" flipV="1">
            <a:off x="1483979" y="2658302"/>
            <a:ext cx="4527437" cy="958795"/>
          </a:xfrm>
          <a:prstGeom prst="straightConnector1">
            <a:avLst/>
          </a:prstGeom>
          <a:noFill/>
          <a:ln w="25400" cap="flat" cmpd="sng" algn="ctr">
            <a:solidFill>
              <a:srgbClr val="002060"/>
            </a:solidFill>
            <a:prstDash val="solid"/>
            <a:tailEnd type="triangle"/>
          </a:ln>
          <a:effectLst/>
        </p:spPr>
      </p:cxnSp>
      <p:cxnSp>
        <p:nvCxnSpPr>
          <p:cNvPr id="27" name="Conector recto de flecha 26"/>
          <p:cNvCxnSpPr/>
          <p:nvPr/>
        </p:nvCxnSpPr>
        <p:spPr>
          <a:xfrm flipH="1" flipV="1">
            <a:off x="3397412" y="2720712"/>
            <a:ext cx="2614004" cy="896384"/>
          </a:xfrm>
          <a:prstGeom prst="straightConnector1">
            <a:avLst/>
          </a:prstGeom>
          <a:noFill/>
          <a:ln w="25400" cap="flat" cmpd="sng" algn="ctr">
            <a:solidFill>
              <a:srgbClr val="002060"/>
            </a:solidFill>
            <a:prstDash val="solid"/>
            <a:tailEnd type="triangle"/>
          </a:ln>
          <a:effectLst/>
        </p:spPr>
      </p:cxnSp>
      <p:cxnSp>
        <p:nvCxnSpPr>
          <p:cNvPr id="28" name="Conector recto de flecha 27"/>
          <p:cNvCxnSpPr/>
          <p:nvPr/>
        </p:nvCxnSpPr>
        <p:spPr>
          <a:xfrm flipV="1">
            <a:off x="6037699" y="2713907"/>
            <a:ext cx="1004907" cy="903190"/>
          </a:xfrm>
          <a:prstGeom prst="straightConnector1">
            <a:avLst/>
          </a:prstGeom>
          <a:noFill/>
          <a:ln w="25400" cap="flat" cmpd="sng" algn="ctr">
            <a:solidFill>
              <a:srgbClr val="002060"/>
            </a:solidFill>
            <a:prstDash val="solid"/>
            <a:tailEnd type="triangle"/>
          </a:ln>
          <a:effectLst/>
        </p:spPr>
      </p:cxnSp>
      <p:cxnSp>
        <p:nvCxnSpPr>
          <p:cNvPr id="29" name="Conector recto de flecha 28"/>
          <p:cNvCxnSpPr/>
          <p:nvPr/>
        </p:nvCxnSpPr>
        <p:spPr>
          <a:xfrm flipV="1">
            <a:off x="6037699" y="2739867"/>
            <a:ext cx="4670243" cy="877229"/>
          </a:xfrm>
          <a:prstGeom prst="straightConnector1">
            <a:avLst/>
          </a:prstGeom>
          <a:noFill/>
          <a:ln w="25400" cap="flat" cmpd="sng" algn="ctr">
            <a:solidFill>
              <a:srgbClr val="002060"/>
            </a:solidFill>
            <a:prstDash val="solid"/>
            <a:tailEnd type="triangle"/>
          </a:ln>
          <a:effectLst/>
        </p:spPr>
      </p:cxnSp>
      <p:sp>
        <p:nvSpPr>
          <p:cNvPr id="30" name="Rectángulo redondeado 29"/>
          <p:cNvSpPr/>
          <p:nvPr/>
        </p:nvSpPr>
        <p:spPr>
          <a:xfrm>
            <a:off x="1411296" y="3632899"/>
            <a:ext cx="9383150" cy="1552278"/>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31" name="Rectángulo redondeado 30"/>
          <p:cNvSpPr/>
          <p:nvPr/>
        </p:nvSpPr>
        <p:spPr>
          <a:xfrm>
            <a:off x="3896291" y="5585640"/>
            <a:ext cx="4533363" cy="807027"/>
          </a:xfrm>
          <a:prstGeom prst="roundRect">
            <a:avLst/>
          </a:prstGeom>
          <a:solidFill>
            <a:srgbClr val="605B4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10 ÁREAS DE CONOCIMIENTO</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32" name="Proceso alternativo 31"/>
          <p:cNvSpPr/>
          <p:nvPr/>
        </p:nvSpPr>
        <p:spPr>
          <a:xfrm>
            <a:off x="1770734" y="4206367"/>
            <a:ext cx="1396449"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INICIACIÓN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3" name="Proceso alternativo 32"/>
          <p:cNvSpPr/>
          <p:nvPr/>
        </p:nvSpPr>
        <p:spPr>
          <a:xfrm>
            <a:off x="3302458" y="4206367"/>
            <a:ext cx="1800170"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PLANIFICACIÓN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4" name="Proceso alternativo 33"/>
          <p:cNvSpPr/>
          <p:nvPr/>
        </p:nvSpPr>
        <p:spPr>
          <a:xfrm>
            <a:off x="5252685" y="4185640"/>
            <a:ext cx="1682965"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EJECUCIÓN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5" name="Proceso alternativo 34"/>
          <p:cNvSpPr/>
          <p:nvPr/>
        </p:nvSpPr>
        <p:spPr>
          <a:xfrm>
            <a:off x="7085707" y="4185641"/>
            <a:ext cx="1869594"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MONITOREO Y CONTROL</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6" name="Proceso alternativo 35"/>
          <p:cNvSpPr/>
          <p:nvPr/>
        </p:nvSpPr>
        <p:spPr>
          <a:xfrm>
            <a:off x="9106780" y="4206367"/>
            <a:ext cx="1396449"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CIERRE</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7" name="CuadroTexto 36"/>
          <p:cNvSpPr txBox="1"/>
          <p:nvPr/>
        </p:nvSpPr>
        <p:spPr>
          <a:xfrm>
            <a:off x="4839421" y="3721820"/>
            <a:ext cx="2883877" cy="369332"/>
          </a:xfrm>
          <a:prstGeom prst="rect">
            <a:avLst/>
          </a:prstGeom>
          <a:noFill/>
        </p:spPr>
        <p:txBody>
          <a:bodyPr wrap="square" rtlCol="0">
            <a:spAutoFit/>
          </a:bodyPr>
          <a:lstStyle/>
          <a:p>
            <a:r>
              <a:rPr lang="es-PE" b="1" dirty="0">
                <a:solidFill>
                  <a:srgbClr val="2E2B21"/>
                </a:solidFill>
                <a:latin typeface="Tw Cen MT" panose="020B0602020104020603"/>
              </a:rPr>
              <a:t>05 GRUPOS DE PROCESOS</a:t>
            </a:r>
            <a:endParaRPr lang="en-US" b="1" dirty="0">
              <a:solidFill>
                <a:srgbClr val="2E2B21"/>
              </a:solidFill>
              <a:latin typeface="Tw Cen MT" panose="020B0602020104020603"/>
            </a:endParaRPr>
          </a:p>
        </p:txBody>
      </p:sp>
      <p:cxnSp>
        <p:nvCxnSpPr>
          <p:cNvPr id="38" name="Conector recto de flecha 37"/>
          <p:cNvCxnSpPr>
            <a:stCxn id="31" idx="0"/>
          </p:cNvCxnSpPr>
          <p:nvPr/>
        </p:nvCxnSpPr>
        <p:spPr>
          <a:xfrm flipH="1" flipV="1">
            <a:off x="2394591" y="5071898"/>
            <a:ext cx="3768382" cy="513742"/>
          </a:xfrm>
          <a:prstGeom prst="straightConnector1">
            <a:avLst/>
          </a:prstGeom>
          <a:noFill/>
          <a:ln w="25400" cap="flat" cmpd="sng" algn="ctr">
            <a:solidFill>
              <a:srgbClr val="002060"/>
            </a:solidFill>
            <a:prstDash val="solid"/>
            <a:tailEnd type="triangle"/>
          </a:ln>
          <a:effectLst/>
        </p:spPr>
      </p:cxnSp>
      <p:cxnSp>
        <p:nvCxnSpPr>
          <p:cNvPr id="39" name="Conector recto de flecha 38"/>
          <p:cNvCxnSpPr>
            <a:endCxn id="33" idx="2"/>
          </p:cNvCxnSpPr>
          <p:nvPr/>
        </p:nvCxnSpPr>
        <p:spPr>
          <a:xfrm flipH="1" flipV="1">
            <a:off x="4202543" y="5018736"/>
            <a:ext cx="1973011" cy="552742"/>
          </a:xfrm>
          <a:prstGeom prst="straightConnector1">
            <a:avLst/>
          </a:prstGeom>
          <a:noFill/>
          <a:ln w="25400" cap="flat" cmpd="sng" algn="ctr">
            <a:solidFill>
              <a:srgbClr val="002060"/>
            </a:solidFill>
            <a:prstDash val="solid"/>
            <a:tailEnd type="triangle"/>
          </a:ln>
          <a:effectLst/>
        </p:spPr>
      </p:cxnSp>
      <p:cxnSp>
        <p:nvCxnSpPr>
          <p:cNvPr id="40" name="Conector recto de flecha 39"/>
          <p:cNvCxnSpPr/>
          <p:nvPr/>
        </p:nvCxnSpPr>
        <p:spPr>
          <a:xfrm flipV="1">
            <a:off x="6175554" y="5018736"/>
            <a:ext cx="0" cy="552742"/>
          </a:xfrm>
          <a:prstGeom prst="straightConnector1">
            <a:avLst/>
          </a:prstGeom>
          <a:noFill/>
          <a:ln w="25400" cap="flat" cmpd="sng" algn="ctr">
            <a:solidFill>
              <a:srgbClr val="002060"/>
            </a:solidFill>
            <a:prstDash val="solid"/>
            <a:tailEnd type="triangle"/>
          </a:ln>
          <a:effectLst/>
        </p:spPr>
      </p:cxnSp>
      <p:cxnSp>
        <p:nvCxnSpPr>
          <p:cNvPr id="41" name="Conector recto de flecha 40"/>
          <p:cNvCxnSpPr>
            <a:stCxn id="31" idx="0"/>
          </p:cNvCxnSpPr>
          <p:nvPr/>
        </p:nvCxnSpPr>
        <p:spPr>
          <a:xfrm flipV="1">
            <a:off x="6162973" y="5063322"/>
            <a:ext cx="1857531" cy="522318"/>
          </a:xfrm>
          <a:prstGeom prst="straightConnector1">
            <a:avLst/>
          </a:prstGeom>
          <a:noFill/>
          <a:ln w="25400" cap="flat" cmpd="sng" algn="ctr">
            <a:solidFill>
              <a:srgbClr val="002060"/>
            </a:solidFill>
            <a:prstDash val="solid"/>
            <a:tailEnd type="triangle"/>
          </a:ln>
          <a:effectLst/>
        </p:spPr>
      </p:cxnSp>
      <p:cxnSp>
        <p:nvCxnSpPr>
          <p:cNvPr id="42" name="Conector recto de flecha 41"/>
          <p:cNvCxnSpPr>
            <a:stCxn id="31" idx="0"/>
            <a:endCxn id="36" idx="2"/>
          </p:cNvCxnSpPr>
          <p:nvPr/>
        </p:nvCxnSpPr>
        <p:spPr>
          <a:xfrm flipV="1">
            <a:off x="6162973" y="5018736"/>
            <a:ext cx="3642032" cy="566904"/>
          </a:xfrm>
          <a:prstGeom prst="straightConnector1">
            <a:avLst/>
          </a:prstGeom>
          <a:noFill/>
          <a:ln w="25400" cap="flat" cmpd="sng" algn="ctr">
            <a:solidFill>
              <a:srgbClr val="002060"/>
            </a:solidFill>
            <a:prstDash val="solid"/>
            <a:tailEnd type="triangle"/>
          </a:ln>
          <a:effectLst/>
        </p:spPr>
      </p:cxnSp>
      <p:sp>
        <p:nvSpPr>
          <p:cNvPr id="3" name="Rectángulo redondeado 2"/>
          <p:cNvSpPr/>
          <p:nvPr/>
        </p:nvSpPr>
        <p:spPr>
          <a:xfrm>
            <a:off x="1073783" y="3360717"/>
            <a:ext cx="10089022" cy="3206338"/>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CuadroTexto 3"/>
          <p:cNvSpPr txBox="1"/>
          <p:nvPr/>
        </p:nvSpPr>
        <p:spPr>
          <a:xfrm>
            <a:off x="9096883" y="6259278"/>
            <a:ext cx="1877895" cy="307777"/>
          </a:xfrm>
          <a:prstGeom prst="rect">
            <a:avLst/>
          </a:prstGeom>
          <a:noFill/>
        </p:spPr>
        <p:txBody>
          <a:bodyPr wrap="square" rtlCol="0">
            <a:spAutoFit/>
          </a:bodyPr>
          <a:lstStyle/>
          <a:p>
            <a:r>
              <a:rPr lang="es-PE" sz="1400" dirty="0"/>
              <a:t>6ta Edición PMBOK ®</a:t>
            </a:r>
          </a:p>
        </p:txBody>
      </p:sp>
    </p:spTree>
    <p:extLst>
      <p:ext uri="{BB962C8B-B14F-4D97-AF65-F5344CB8AC3E}">
        <p14:creationId xmlns:p14="http://schemas.microsoft.com/office/powerpoint/2010/main" val="48591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3" name="Proceso 42"/>
          <p:cNvSpPr/>
          <p:nvPr/>
        </p:nvSpPr>
        <p:spPr>
          <a:xfrm>
            <a:off x="452789" y="2015089"/>
            <a:ext cx="1814733" cy="745587"/>
          </a:xfrm>
          <a:prstGeom prst="flowChartProcess">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ESTUDIOS E INGENIERÍA</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44" name="Proceso 43"/>
          <p:cNvSpPr/>
          <p:nvPr/>
        </p:nvSpPr>
        <p:spPr>
          <a:xfrm>
            <a:off x="2267522" y="2015088"/>
            <a:ext cx="2096086" cy="745587"/>
          </a:xfrm>
          <a:prstGeom prst="flowChartProcess">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PERMISOLOGÍA</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45" name="Proceso 44"/>
          <p:cNvSpPr/>
          <p:nvPr/>
        </p:nvSpPr>
        <p:spPr>
          <a:xfrm>
            <a:off x="4363608" y="2015087"/>
            <a:ext cx="5444197" cy="745587"/>
          </a:xfrm>
          <a:prstGeom prst="flowChartProcess">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noProof="0" dirty="0">
                <a:ln>
                  <a:noFill/>
                </a:ln>
                <a:solidFill>
                  <a:srgbClr val="2E2B21"/>
                </a:solidFill>
                <a:effectLst/>
                <a:uLnTx/>
                <a:uFillTx/>
                <a:latin typeface="Tw Cen MT" panose="020B0602020104020603"/>
                <a:ea typeface="+mn-ea"/>
                <a:cs typeface="+mn-cs"/>
              </a:rPr>
              <a:t>PROCURA – MONTAJE – PRUEBAS -PUESTA EN MARCHA</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46" name="Proceso 45"/>
          <p:cNvSpPr/>
          <p:nvPr/>
        </p:nvSpPr>
        <p:spPr>
          <a:xfrm>
            <a:off x="9807805" y="2015087"/>
            <a:ext cx="1920254" cy="745587"/>
          </a:xfrm>
          <a:prstGeom prst="flowChartProcess">
            <a:avLst/>
          </a:prstGeom>
          <a:solidFill>
            <a:srgbClr val="FF0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ENTREGA A OPERACIONES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47" name="Proceso 46"/>
          <p:cNvSpPr/>
          <p:nvPr/>
        </p:nvSpPr>
        <p:spPr>
          <a:xfrm>
            <a:off x="452789" y="2760675"/>
            <a:ext cx="11275270" cy="308316"/>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48" name="Proceso 47"/>
          <p:cNvSpPr/>
          <p:nvPr/>
        </p:nvSpPr>
        <p:spPr>
          <a:xfrm>
            <a:off x="452789" y="3098293"/>
            <a:ext cx="11275270" cy="576783"/>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49" name="CuadroTexto 48"/>
          <p:cNvSpPr txBox="1"/>
          <p:nvPr/>
        </p:nvSpPr>
        <p:spPr>
          <a:xfrm>
            <a:off x="1884183" y="4486466"/>
            <a:ext cx="8306959" cy="707886"/>
          </a:xfrm>
          <a:prstGeom prst="rect">
            <a:avLst/>
          </a:prstGeom>
          <a:noFill/>
        </p:spPr>
        <p:txBody>
          <a:bodyPr wrap="square" rtlCol="0">
            <a:spAutoFit/>
          </a:bodyPr>
          <a:lstStyle/>
          <a:p>
            <a:pPr algn="ctr"/>
            <a:r>
              <a:rPr lang="es-PE" sz="2000" b="1" dirty="0">
                <a:solidFill>
                  <a:srgbClr val="2E2B21"/>
                </a:solidFill>
                <a:latin typeface="Tw Cen MT" panose="020B0602020104020603"/>
              </a:rPr>
              <a:t>FASES GENÉRICAS: SECUENCIALES, ITERATIVAS O TRANSPUESTAS</a:t>
            </a:r>
          </a:p>
          <a:p>
            <a:pPr algn="ctr"/>
            <a:r>
              <a:rPr lang="es-PE" sz="2000" b="1" dirty="0">
                <a:solidFill>
                  <a:srgbClr val="2E2B21"/>
                </a:solidFill>
                <a:latin typeface="Tw Cen MT" panose="020B0602020104020603"/>
              </a:rPr>
              <a:t>TIPOS DE CICLOS DE VIDA DEL PROYECTO: PREDICTIVO Y… ADAPTATIVO</a:t>
            </a:r>
            <a:endParaRPr lang="en-US" sz="2000" b="1" dirty="0">
              <a:solidFill>
                <a:srgbClr val="2E2B21"/>
              </a:solidFill>
              <a:latin typeface="Tw Cen MT" panose="020B0602020104020603"/>
            </a:endParaRPr>
          </a:p>
        </p:txBody>
      </p:sp>
      <p:sp>
        <p:nvSpPr>
          <p:cNvPr id="50" name="Decisión 49"/>
          <p:cNvSpPr/>
          <p:nvPr/>
        </p:nvSpPr>
        <p:spPr>
          <a:xfrm>
            <a:off x="2149828" y="2770975"/>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1" name="Decisión 50"/>
          <p:cNvSpPr/>
          <p:nvPr/>
        </p:nvSpPr>
        <p:spPr>
          <a:xfrm>
            <a:off x="4263267" y="2781276"/>
            <a:ext cx="200682" cy="287714"/>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2" name="Decisión 51"/>
          <p:cNvSpPr/>
          <p:nvPr/>
        </p:nvSpPr>
        <p:spPr>
          <a:xfrm>
            <a:off x="9690111" y="2781276"/>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3" name="Decisión 52"/>
          <p:cNvSpPr/>
          <p:nvPr/>
        </p:nvSpPr>
        <p:spPr>
          <a:xfrm>
            <a:off x="11585659" y="2784786"/>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54" name="Conector recto 53"/>
          <p:cNvCxnSpPr/>
          <p:nvPr/>
        </p:nvCxnSpPr>
        <p:spPr>
          <a:xfrm>
            <a:off x="2267522" y="3098293"/>
            <a:ext cx="0" cy="576783"/>
          </a:xfrm>
          <a:prstGeom prst="line">
            <a:avLst/>
          </a:prstGeom>
          <a:noFill/>
          <a:ln w="9525" cap="flat" cmpd="sng" algn="ctr">
            <a:solidFill>
              <a:srgbClr val="A9A57C"/>
            </a:solidFill>
            <a:prstDash val="sysDash"/>
          </a:ln>
          <a:effectLst/>
        </p:spPr>
      </p:cxnSp>
      <p:cxnSp>
        <p:nvCxnSpPr>
          <p:cNvPr id="55" name="Conector recto 54"/>
          <p:cNvCxnSpPr/>
          <p:nvPr/>
        </p:nvCxnSpPr>
        <p:spPr>
          <a:xfrm>
            <a:off x="4379094" y="3068990"/>
            <a:ext cx="0" cy="576783"/>
          </a:xfrm>
          <a:prstGeom prst="line">
            <a:avLst/>
          </a:prstGeom>
          <a:noFill/>
          <a:ln w="9525" cap="flat" cmpd="sng" algn="ctr">
            <a:solidFill>
              <a:srgbClr val="A9A57C"/>
            </a:solidFill>
            <a:prstDash val="sysDash"/>
          </a:ln>
          <a:effectLst/>
        </p:spPr>
      </p:cxnSp>
      <p:cxnSp>
        <p:nvCxnSpPr>
          <p:cNvPr id="56" name="Conector recto 55"/>
          <p:cNvCxnSpPr/>
          <p:nvPr/>
        </p:nvCxnSpPr>
        <p:spPr>
          <a:xfrm>
            <a:off x="9807805" y="3102731"/>
            <a:ext cx="0" cy="576783"/>
          </a:xfrm>
          <a:prstGeom prst="line">
            <a:avLst/>
          </a:prstGeom>
          <a:noFill/>
          <a:ln w="9525" cap="flat" cmpd="sng" algn="ctr">
            <a:solidFill>
              <a:srgbClr val="A9A57C"/>
            </a:solidFill>
            <a:prstDash val="sysDash"/>
          </a:ln>
          <a:effectLst/>
        </p:spPr>
      </p:cxnSp>
      <p:cxnSp>
        <p:nvCxnSpPr>
          <p:cNvPr id="57" name="Conector recto de flecha 56"/>
          <p:cNvCxnSpPr/>
          <p:nvPr/>
        </p:nvCxnSpPr>
        <p:spPr>
          <a:xfrm flipH="1" flipV="1">
            <a:off x="1360156" y="3386684"/>
            <a:ext cx="4786630" cy="936812"/>
          </a:xfrm>
          <a:prstGeom prst="straightConnector1">
            <a:avLst/>
          </a:prstGeom>
          <a:noFill/>
          <a:ln w="25400" cap="flat" cmpd="sng" algn="ctr">
            <a:solidFill>
              <a:srgbClr val="002060"/>
            </a:solidFill>
            <a:prstDash val="solid"/>
            <a:tailEnd type="triangle"/>
          </a:ln>
          <a:effectLst/>
        </p:spPr>
      </p:cxnSp>
      <p:cxnSp>
        <p:nvCxnSpPr>
          <p:cNvPr id="58" name="Conector recto de flecha 57"/>
          <p:cNvCxnSpPr/>
          <p:nvPr/>
        </p:nvCxnSpPr>
        <p:spPr>
          <a:xfrm flipH="1" flipV="1">
            <a:off x="3315566" y="3450445"/>
            <a:ext cx="2831220" cy="873051"/>
          </a:xfrm>
          <a:prstGeom prst="straightConnector1">
            <a:avLst/>
          </a:prstGeom>
          <a:noFill/>
          <a:ln w="25400" cap="flat" cmpd="sng" algn="ctr">
            <a:solidFill>
              <a:srgbClr val="002060"/>
            </a:solidFill>
            <a:prstDash val="solid"/>
            <a:tailEnd type="triangle"/>
          </a:ln>
          <a:effectLst/>
        </p:spPr>
      </p:cxnSp>
      <p:cxnSp>
        <p:nvCxnSpPr>
          <p:cNvPr id="59" name="Conector recto de flecha 58"/>
          <p:cNvCxnSpPr/>
          <p:nvPr/>
        </p:nvCxnSpPr>
        <p:spPr>
          <a:xfrm flipV="1">
            <a:off x="6146786" y="3454819"/>
            <a:ext cx="785102" cy="868677"/>
          </a:xfrm>
          <a:prstGeom prst="straightConnector1">
            <a:avLst/>
          </a:prstGeom>
          <a:noFill/>
          <a:ln w="25400" cap="flat" cmpd="sng" algn="ctr">
            <a:solidFill>
              <a:srgbClr val="002060"/>
            </a:solidFill>
            <a:prstDash val="solid"/>
            <a:tailEnd type="triangle"/>
          </a:ln>
          <a:effectLst/>
        </p:spPr>
      </p:cxnSp>
      <p:cxnSp>
        <p:nvCxnSpPr>
          <p:cNvPr id="60" name="Conector recto de flecha 59"/>
          <p:cNvCxnSpPr/>
          <p:nvPr/>
        </p:nvCxnSpPr>
        <p:spPr>
          <a:xfrm flipV="1">
            <a:off x="6146786" y="3450445"/>
            <a:ext cx="4568385" cy="873051"/>
          </a:xfrm>
          <a:prstGeom prst="straightConnector1">
            <a:avLst/>
          </a:prstGeom>
          <a:noFill/>
          <a:ln w="25400" cap="flat" cmpd="sng" algn="ctr">
            <a:solidFill>
              <a:srgbClr val="002060"/>
            </a:solidFill>
            <a:prstDash val="solid"/>
            <a:tailEnd type="triangle"/>
          </a:ln>
          <a:effectLst/>
        </p:spPr>
      </p:cxnSp>
      <p:sp>
        <p:nvSpPr>
          <p:cNvPr id="61" name="Decisión 60"/>
          <p:cNvSpPr/>
          <p:nvPr/>
        </p:nvSpPr>
        <p:spPr>
          <a:xfrm>
            <a:off x="2714376" y="5320422"/>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2" name="CuadroTexto 61"/>
          <p:cNvSpPr txBox="1"/>
          <p:nvPr/>
        </p:nvSpPr>
        <p:spPr>
          <a:xfrm>
            <a:off x="3002419" y="5294265"/>
            <a:ext cx="6805386" cy="369332"/>
          </a:xfrm>
          <a:prstGeom prst="rect">
            <a:avLst/>
          </a:prstGeom>
          <a:noFill/>
        </p:spPr>
        <p:txBody>
          <a:bodyPr wrap="square" rtlCol="0">
            <a:spAutoFit/>
          </a:bodyPr>
          <a:lstStyle/>
          <a:p>
            <a:r>
              <a:rPr lang="es-PE" dirty="0">
                <a:solidFill>
                  <a:srgbClr val="2E2B21"/>
                </a:solidFill>
                <a:latin typeface="Tw Cen MT" panose="020B0602020104020603"/>
              </a:rPr>
              <a:t>: PUNTO DE CONTROL: REVISIÓN DE FASE, PUERTAS DE CONTROL.</a:t>
            </a:r>
            <a:endParaRPr lang="en-US" dirty="0">
              <a:solidFill>
                <a:srgbClr val="2E2B21"/>
              </a:solidFill>
              <a:latin typeface="Tw Cen MT" panose="020B0602020104020603"/>
            </a:endParaRPr>
          </a:p>
        </p:txBody>
      </p:sp>
      <p:sp>
        <p:nvSpPr>
          <p:cNvPr id="28" name="Título 1"/>
          <p:cNvSpPr>
            <a:spLocks noGrp="1"/>
          </p:cNvSpPr>
          <p:nvPr>
            <p:ph type="title"/>
          </p:nvPr>
        </p:nvSpPr>
        <p:spPr>
          <a:xfrm>
            <a:off x="272468" y="406929"/>
            <a:ext cx="8824415" cy="1325563"/>
          </a:xfrm>
        </p:spPr>
        <p:txBody>
          <a:bodyPr/>
          <a:lstStyle/>
          <a:p>
            <a:r>
              <a:rPr lang="es-ES" b="1" dirty="0"/>
              <a:t>04. MODELO DEL CICLO DE VIDA DE UN PROYECTO</a:t>
            </a:r>
            <a:endParaRPr lang="en-US" b="1" dirty="0"/>
          </a:p>
        </p:txBody>
      </p:sp>
    </p:spTree>
    <p:extLst>
      <p:ext uri="{BB962C8B-B14F-4D97-AF65-F5344CB8AC3E}">
        <p14:creationId xmlns:p14="http://schemas.microsoft.com/office/powerpoint/2010/main" val="475465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7" name="Imagen 26"/>
          <p:cNvPicPr>
            <a:picLocks noChangeAspect="1"/>
          </p:cNvPicPr>
          <p:nvPr/>
        </p:nvPicPr>
        <p:blipFill>
          <a:blip r:embed="rId6">
            <a:extLst>
              <a:ext uri="{BEBA8EAE-BF5A-486C-A8C5-ECC9F3942E4B}">
                <a14:imgProps xmlns:a14="http://schemas.microsoft.com/office/drawing/2010/main">
                  <a14:imgLayer r:embed="rId7">
                    <a14:imgEffect>
                      <a14:sharpenSoften amount="96000"/>
                    </a14:imgEffect>
                  </a14:imgLayer>
                </a14:imgProps>
              </a:ext>
            </a:extLst>
          </a:blip>
          <a:stretch>
            <a:fillRect/>
          </a:stretch>
        </p:blipFill>
        <p:spPr>
          <a:xfrm>
            <a:off x="4923239" y="2440067"/>
            <a:ext cx="6858000" cy="3238500"/>
          </a:xfrm>
          <a:prstGeom prst="rect">
            <a:avLst/>
          </a:prstGeom>
        </p:spPr>
      </p:pic>
      <p:sp>
        <p:nvSpPr>
          <p:cNvPr id="28" name="CuadroTexto 27"/>
          <p:cNvSpPr txBox="1"/>
          <p:nvPr/>
        </p:nvSpPr>
        <p:spPr>
          <a:xfrm>
            <a:off x="452789" y="2095394"/>
            <a:ext cx="4605679" cy="3508653"/>
          </a:xfrm>
          <a:prstGeom prst="rect">
            <a:avLst/>
          </a:prstGeom>
          <a:noFill/>
        </p:spPr>
        <p:txBody>
          <a:bodyPr wrap="square" rtlCol="0">
            <a:spAutoFit/>
          </a:bodyPr>
          <a:lstStyle/>
          <a:p>
            <a:r>
              <a:rPr lang="es-PE" sz="2400" b="1" dirty="0">
                <a:latin typeface="Tw Cen MT" panose="020B0602020104020603"/>
              </a:rPr>
              <a:t>Características:</a:t>
            </a:r>
          </a:p>
          <a:p>
            <a:endParaRPr lang="es-PE" dirty="0">
              <a:latin typeface="Tw Cen MT" panose="020B0602020104020603"/>
            </a:endParaRPr>
          </a:p>
          <a:p>
            <a:pPr marL="285750" indent="-285750">
              <a:buFont typeface="Wingdings" panose="05000000000000000000" pitchFamily="2" charset="2"/>
              <a:buChar char="ü"/>
            </a:pPr>
            <a:r>
              <a:rPr lang="es-PE" sz="2000" dirty="0">
                <a:latin typeface="Tw Cen MT" panose="020B0602020104020603"/>
              </a:rPr>
              <a:t>Costo bajo al inicio, se incrementa conforme avanza el proyecto y cae rápidamente conforme se acerca al final.</a:t>
            </a:r>
          </a:p>
          <a:p>
            <a:pPr marL="285750" indent="-285750">
              <a:buFont typeface="Wingdings" panose="05000000000000000000" pitchFamily="2" charset="2"/>
              <a:buChar char="ü"/>
            </a:pPr>
            <a:endParaRPr lang="es-PE" sz="2000" dirty="0">
              <a:latin typeface="Tw Cen MT" panose="020B0602020104020603"/>
            </a:endParaRPr>
          </a:p>
          <a:p>
            <a:pPr marL="285750" indent="-285750">
              <a:buFont typeface="Wingdings" panose="05000000000000000000" pitchFamily="2" charset="2"/>
              <a:buChar char="ü"/>
            </a:pPr>
            <a:r>
              <a:rPr lang="es-PE" sz="2000" dirty="0">
                <a:latin typeface="Tw Cen MT" panose="020B0602020104020603"/>
              </a:rPr>
              <a:t>Riesgos muy altos al inicio.</a:t>
            </a:r>
          </a:p>
          <a:p>
            <a:pPr marL="285750" indent="-285750">
              <a:buFont typeface="Wingdings" panose="05000000000000000000" pitchFamily="2" charset="2"/>
              <a:buChar char="ü"/>
            </a:pPr>
            <a:endParaRPr lang="es-PE" sz="2000" dirty="0">
              <a:latin typeface="Tw Cen MT" panose="020B0602020104020603"/>
            </a:endParaRPr>
          </a:p>
          <a:p>
            <a:pPr marL="285750" indent="-285750">
              <a:buFont typeface="Wingdings" panose="05000000000000000000" pitchFamily="2" charset="2"/>
              <a:buChar char="ü"/>
            </a:pPr>
            <a:r>
              <a:rPr lang="es-PE" sz="2000" dirty="0">
                <a:latin typeface="Tw Cen MT" panose="020B0602020104020603"/>
              </a:rPr>
              <a:t>Mucha influencia de los interesados al inicio con bajo impacto de costo</a:t>
            </a:r>
          </a:p>
        </p:txBody>
      </p:sp>
      <p:sp>
        <p:nvSpPr>
          <p:cNvPr id="29" name="CuadroTexto 28"/>
          <p:cNvSpPr txBox="1"/>
          <p:nvPr/>
        </p:nvSpPr>
        <p:spPr>
          <a:xfrm>
            <a:off x="4640004" y="5932371"/>
            <a:ext cx="7141235" cy="369332"/>
          </a:xfrm>
          <a:prstGeom prst="rect">
            <a:avLst/>
          </a:prstGeom>
          <a:noFill/>
        </p:spPr>
        <p:txBody>
          <a:bodyPr wrap="square" rtlCol="0">
            <a:spAutoFit/>
          </a:bodyPr>
          <a:lstStyle/>
          <a:p>
            <a:pPr algn="ctr"/>
            <a:r>
              <a:rPr lang="es-PE" b="1" dirty="0">
                <a:solidFill>
                  <a:srgbClr val="0070C0"/>
                </a:solidFill>
                <a:latin typeface="Tw Cen MT" panose="020B0602020104020603"/>
              </a:rPr>
              <a:t>CARACTERÍSTICAS DEL CICLO DE VIDA DEL PROYECTO</a:t>
            </a:r>
            <a:endParaRPr lang="en-US" b="1" dirty="0">
              <a:solidFill>
                <a:srgbClr val="0070C0"/>
              </a:solidFill>
              <a:latin typeface="Tw Cen MT" panose="020B0602020104020603"/>
            </a:endParaRPr>
          </a:p>
        </p:txBody>
      </p:sp>
      <p:sp>
        <p:nvSpPr>
          <p:cNvPr id="11" name="Título 1"/>
          <p:cNvSpPr>
            <a:spLocks noGrp="1"/>
          </p:cNvSpPr>
          <p:nvPr>
            <p:ph type="title"/>
          </p:nvPr>
        </p:nvSpPr>
        <p:spPr>
          <a:xfrm>
            <a:off x="272468" y="406929"/>
            <a:ext cx="8824415" cy="1325563"/>
          </a:xfrm>
        </p:spPr>
        <p:txBody>
          <a:bodyPr/>
          <a:lstStyle/>
          <a:p>
            <a:r>
              <a:rPr lang="es-ES" b="1" dirty="0"/>
              <a:t>04. MODELO DEL CICLO DE VIDA DE UN PROYECTO</a:t>
            </a:r>
            <a:endParaRPr lang="en-US" b="1" dirty="0"/>
          </a:p>
        </p:txBody>
      </p:sp>
    </p:spTree>
    <p:extLst>
      <p:ext uri="{BB962C8B-B14F-4D97-AF65-F5344CB8AC3E}">
        <p14:creationId xmlns:p14="http://schemas.microsoft.com/office/powerpoint/2010/main" val="2339147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Elipse 34"/>
          <p:cNvSpPr/>
          <p:nvPr/>
        </p:nvSpPr>
        <p:spPr>
          <a:xfrm>
            <a:off x="941135" y="2618358"/>
            <a:ext cx="1985068" cy="1505243"/>
          </a:xfrm>
          <a:prstGeom prst="ellipse">
            <a:avLst/>
          </a:prstGeom>
          <a:solidFill>
            <a:schemeClr val="tx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500" b="1" i="0" u="none" strike="noStrike" kern="0" cap="none" spc="0" normalizeH="0" baseline="0" noProof="0" dirty="0">
                <a:ln>
                  <a:noFill/>
                </a:ln>
                <a:solidFill>
                  <a:schemeClr val="bg1"/>
                </a:solidFill>
                <a:effectLst/>
                <a:uLnTx/>
                <a:uFillTx/>
                <a:latin typeface="Tw Cen MT" panose="020B0602020104020603"/>
              </a:rPr>
              <a:t>GERENCIAS</a:t>
            </a:r>
          </a:p>
          <a:p>
            <a:pPr marL="0" marR="0" lvl="0" indent="0" algn="ctr" defTabSz="914400" eaLnBrk="1" fontAlgn="auto" latinLnBrk="0" hangingPunct="1">
              <a:lnSpc>
                <a:spcPct val="100000"/>
              </a:lnSpc>
              <a:spcBef>
                <a:spcPts val="0"/>
              </a:spcBef>
              <a:spcAft>
                <a:spcPts val="0"/>
              </a:spcAft>
              <a:buClrTx/>
              <a:buSzTx/>
              <a:buFontTx/>
              <a:buNone/>
              <a:tabLst/>
              <a:defRPr/>
            </a:pPr>
            <a:r>
              <a:rPr lang="es-PE" sz="1500" b="1" kern="0" dirty="0">
                <a:solidFill>
                  <a:schemeClr val="bg1"/>
                </a:solidFill>
                <a:latin typeface="Tw Cen MT" panose="020B0602020104020603"/>
              </a:rPr>
              <a:t>JEFATURAS</a:t>
            </a:r>
            <a:endParaRPr kumimoji="0" lang="en-US" sz="1500" b="1" i="0" u="none" strike="noStrike" kern="0" cap="none" spc="0" normalizeH="0" baseline="0" noProof="0" dirty="0">
              <a:ln>
                <a:noFill/>
              </a:ln>
              <a:solidFill>
                <a:schemeClr val="bg1"/>
              </a:solidFill>
              <a:effectLst/>
              <a:uLnTx/>
              <a:uFillTx/>
              <a:latin typeface="Tw Cen MT" panose="020B0602020104020603"/>
            </a:endParaRPr>
          </a:p>
        </p:txBody>
      </p:sp>
      <p:sp>
        <p:nvSpPr>
          <p:cNvPr id="36" name="Elipse 35"/>
          <p:cNvSpPr/>
          <p:nvPr/>
        </p:nvSpPr>
        <p:spPr>
          <a:xfrm>
            <a:off x="3540492" y="2618358"/>
            <a:ext cx="1948024" cy="1505243"/>
          </a:xfrm>
          <a:prstGeom prst="ellipse">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500" b="1" i="0" u="none" strike="noStrike" kern="0" cap="none" spc="0" normalizeH="0" baseline="0" noProof="0" dirty="0">
                <a:ln>
                  <a:noFill/>
                </a:ln>
                <a:solidFill>
                  <a:srgbClr val="2E2B21"/>
                </a:solidFill>
                <a:effectLst/>
                <a:uLnTx/>
                <a:uFillTx/>
                <a:latin typeface="Tw Cen MT" panose="020B0602020104020603"/>
                <a:ea typeface="+mn-ea"/>
                <a:cs typeface="+mn-cs"/>
              </a:rPr>
              <a:t>PORTAFOLIOS</a:t>
            </a:r>
            <a:endParaRPr kumimoji="0" lang="en-US" sz="15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37" name="Elipse 36"/>
          <p:cNvSpPr/>
          <p:nvPr/>
        </p:nvSpPr>
        <p:spPr>
          <a:xfrm>
            <a:off x="6326717" y="2618358"/>
            <a:ext cx="1871003" cy="1505243"/>
          </a:xfrm>
          <a:prstGeom prst="ellipse">
            <a:avLst/>
          </a:prstGeom>
          <a:solidFill>
            <a:srgbClr val="FFC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1" i="0" u="none" strike="noStrike" kern="0" cap="none" spc="0" normalizeH="0" baseline="0" noProof="0" dirty="0">
                <a:ln>
                  <a:noFill/>
                </a:ln>
                <a:solidFill>
                  <a:srgbClr val="2E2B21"/>
                </a:solidFill>
                <a:effectLst/>
                <a:uLnTx/>
                <a:uFillTx/>
                <a:latin typeface="Tw Cen MT" panose="020B0602020104020603"/>
                <a:ea typeface="+mn-ea"/>
                <a:cs typeface="+mn-cs"/>
              </a:rPr>
              <a:t>PROGRAMAS Y PROYECTOS</a:t>
            </a:r>
            <a:endParaRPr kumimoji="0" lang="en-US" sz="14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49" name="Elipse 48"/>
          <p:cNvSpPr/>
          <p:nvPr/>
        </p:nvSpPr>
        <p:spPr>
          <a:xfrm>
            <a:off x="8926075" y="2618358"/>
            <a:ext cx="1980850" cy="1505243"/>
          </a:xfrm>
          <a:prstGeom prst="ellipse">
            <a:avLst/>
          </a:prstGeom>
          <a:solidFill>
            <a:srgbClr val="92D05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1" i="0" u="none" strike="noStrike" kern="0" cap="none" spc="0" normalizeH="0" baseline="0" noProof="0" dirty="0">
                <a:ln>
                  <a:noFill/>
                </a:ln>
                <a:solidFill>
                  <a:srgbClr val="2E2B21"/>
                </a:solidFill>
                <a:effectLst/>
                <a:uLnTx/>
                <a:uFillTx/>
                <a:latin typeface="Tw Cen MT" panose="020B0602020104020603"/>
                <a:ea typeface="+mn-ea"/>
                <a:cs typeface="+mn-cs"/>
              </a:rPr>
              <a:t>OPERACIONES</a:t>
            </a:r>
            <a:endParaRPr kumimoji="0" lang="en-US" sz="14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53" name="Flecha curvada hacia abajo 52"/>
          <p:cNvSpPr/>
          <p:nvPr/>
        </p:nvSpPr>
        <p:spPr>
          <a:xfrm>
            <a:off x="4588988" y="2126249"/>
            <a:ext cx="2607213" cy="503944"/>
          </a:xfrm>
          <a:prstGeom prst="curvedDownArrow">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4" name="Flecha curvada hacia abajo 53"/>
          <p:cNvSpPr/>
          <p:nvPr/>
        </p:nvSpPr>
        <p:spPr>
          <a:xfrm>
            <a:off x="4616888" y="4200866"/>
            <a:ext cx="2607213" cy="647114"/>
          </a:xfrm>
          <a:prstGeom prst="curvedDownArrow">
            <a:avLst/>
          </a:prstGeom>
          <a:solidFill>
            <a:srgbClr val="00B0F0"/>
          </a:solidFill>
          <a:ln w="15875" cap="flat" cmpd="sng" algn="ctr">
            <a:solidFill>
              <a:srgbClr val="A9A57C">
                <a:shade val="50000"/>
              </a:srgbClr>
            </a:solidFill>
            <a:prstDash val="solid"/>
          </a:ln>
          <a:effectLst/>
          <a:scene3d>
            <a:camera prst="orthographicFront">
              <a:rot lat="0" lon="0" rev="10800000"/>
            </a:camera>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5" name="Flecha curvada hacia abajo 54"/>
          <p:cNvSpPr/>
          <p:nvPr/>
        </p:nvSpPr>
        <p:spPr>
          <a:xfrm>
            <a:off x="1715903" y="4987692"/>
            <a:ext cx="8946931" cy="1519310"/>
          </a:xfrm>
          <a:prstGeom prst="curvedDownArrow">
            <a:avLst>
              <a:gd name="adj1" fmla="val 19993"/>
              <a:gd name="adj2" fmla="val 50000"/>
              <a:gd name="adj3" fmla="val 25000"/>
            </a:avLst>
          </a:prstGeom>
          <a:solidFill>
            <a:srgbClr val="2E2B21"/>
          </a:solidFill>
          <a:ln w="15875" cap="flat" cmpd="sng" algn="ctr">
            <a:solidFill>
              <a:srgbClr val="A9A57C">
                <a:shade val="50000"/>
              </a:srgbClr>
            </a:solidFill>
            <a:prstDash val="solid"/>
          </a:ln>
          <a:effectLst/>
          <a:scene3d>
            <a:camera prst="orthographicFront">
              <a:rot lat="0" lon="0" rev="10800000"/>
            </a:camera>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7" name="CuadroTexto 56"/>
          <p:cNvSpPr txBox="1"/>
          <p:nvPr/>
        </p:nvSpPr>
        <p:spPr>
          <a:xfrm>
            <a:off x="4168726" y="5629687"/>
            <a:ext cx="3854548" cy="461665"/>
          </a:xfrm>
          <a:prstGeom prst="rect">
            <a:avLst/>
          </a:prstGeom>
          <a:noFill/>
        </p:spPr>
        <p:txBody>
          <a:bodyPr wrap="square" rtlCol="0">
            <a:spAutoFit/>
          </a:bodyPr>
          <a:lstStyle/>
          <a:p>
            <a:pPr algn="ctr"/>
            <a:r>
              <a:rPr lang="es-PE" sz="1200" dirty="0">
                <a:solidFill>
                  <a:srgbClr val="2E2B21"/>
                </a:solidFill>
                <a:latin typeface="Tw Cen MT" panose="020B0602020104020603"/>
              </a:rPr>
              <a:t>ANÁLISIS DE LA PERFOMANCE </a:t>
            </a:r>
          </a:p>
          <a:p>
            <a:pPr algn="ctr"/>
            <a:r>
              <a:rPr lang="es-PE" sz="1200" dirty="0">
                <a:solidFill>
                  <a:srgbClr val="2E2B21"/>
                </a:solidFill>
                <a:latin typeface="Tw Cen MT" panose="020B0602020104020603"/>
              </a:rPr>
              <a:t>DE LOS RESULTADOS, BENEFICIOS</a:t>
            </a:r>
            <a:endParaRPr lang="en-US" sz="1200" dirty="0">
              <a:solidFill>
                <a:srgbClr val="2E2B21"/>
              </a:solidFill>
              <a:latin typeface="Tw Cen MT" panose="020B0602020104020603"/>
            </a:endParaRPr>
          </a:p>
        </p:txBody>
      </p:sp>
      <p:sp>
        <p:nvSpPr>
          <p:cNvPr id="58" name="CuadroTexto 57"/>
          <p:cNvSpPr txBox="1"/>
          <p:nvPr/>
        </p:nvSpPr>
        <p:spPr>
          <a:xfrm>
            <a:off x="5098942" y="4042924"/>
            <a:ext cx="1813302" cy="461665"/>
          </a:xfrm>
          <a:prstGeom prst="rect">
            <a:avLst/>
          </a:prstGeom>
          <a:noFill/>
        </p:spPr>
        <p:txBody>
          <a:bodyPr wrap="square" rtlCol="0">
            <a:spAutoFit/>
          </a:bodyPr>
          <a:lstStyle/>
          <a:p>
            <a:pPr algn="ctr"/>
            <a:r>
              <a:rPr lang="es-PE" sz="1200" dirty="0">
                <a:solidFill>
                  <a:srgbClr val="2E2B21"/>
                </a:solidFill>
                <a:latin typeface="Tw Cen MT" panose="020B0602020104020603"/>
              </a:rPr>
              <a:t>REPORTES DE AVANCE </a:t>
            </a:r>
          </a:p>
          <a:p>
            <a:pPr algn="ctr"/>
            <a:r>
              <a:rPr lang="es-PE" sz="1200" dirty="0">
                <a:solidFill>
                  <a:srgbClr val="2E2B21"/>
                </a:solidFill>
                <a:latin typeface="Tw Cen MT" panose="020B0602020104020603"/>
              </a:rPr>
              <a:t>Y RENDIMIENTOS</a:t>
            </a:r>
            <a:endParaRPr lang="en-US" sz="1200" dirty="0">
              <a:solidFill>
                <a:srgbClr val="2E2B21"/>
              </a:solidFill>
              <a:latin typeface="Tw Cen MT" panose="020B0602020104020603"/>
            </a:endParaRPr>
          </a:p>
        </p:txBody>
      </p:sp>
      <p:sp>
        <p:nvSpPr>
          <p:cNvPr id="59" name="CuadroTexto 58"/>
          <p:cNvSpPr txBox="1"/>
          <p:nvPr/>
        </p:nvSpPr>
        <p:spPr>
          <a:xfrm>
            <a:off x="2344289" y="2241581"/>
            <a:ext cx="1434906" cy="276999"/>
          </a:xfrm>
          <a:prstGeom prst="rect">
            <a:avLst/>
          </a:prstGeom>
          <a:noFill/>
        </p:spPr>
        <p:txBody>
          <a:bodyPr wrap="square" rtlCol="0">
            <a:spAutoFit/>
          </a:bodyPr>
          <a:lstStyle/>
          <a:p>
            <a:pPr algn="ctr"/>
            <a:r>
              <a:rPr lang="es-PE" sz="1200" dirty="0">
                <a:solidFill>
                  <a:srgbClr val="2E2B21"/>
                </a:solidFill>
                <a:latin typeface="Tw Cen MT" panose="020B0602020104020603"/>
              </a:rPr>
              <a:t>ESTRATEGIA</a:t>
            </a:r>
            <a:endParaRPr lang="en-US" sz="1200" dirty="0">
              <a:solidFill>
                <a:srgbClr val="2E2B21"/>
              </a:solidFill>
              <a:latin typeface="Tw Cen MT" panose="020B0602020104020603"/>
            </a:endParaRPr>
          </a:p>
        </p:txBody>
      </p:sp>
      <p:sp>
        <p:nvSpPr>
          <p:cNvPr id="60" name="Flecha curvada hacia abajo 59"/>
          <p:cNvSpPr/>
          <p:nvPr/>
        </p:nvSpPr>
        <p:spPr>
          <a:xfrm>
            <a:off x="1797095" y="2141803"/>
            <a:ext cx="2607213" cy="514548"/>
          </a:xfrm>
          <a:prstGeom prst="curvedDownArrow">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1" name="Flecha curvada hacia abajo 60"/>
          <p:cNvSpPr/>
          <p:nvPr/>
        </p:nvSpPr>
        <p:spPr>
          <a:xfrm>
            <a:off x="7336057" y="2096195"/>
            <a:ext cx="2607213" cy="503944"/>
          </a:xfrm>
          <a:prstGeom prst="curvedDownArrow">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3" name="CuadroTexto 62"/>
          <p:cNvSpPr txBox="1"/>
          <p:nvPr/>
        </p:nvSpPr>
        <p:spPr>
          <a:xfrm>
            <a:off x="5213238" y="2225328"/>
            <a:ext cx="1434906" cy="461665"/>
          </a:xfrm>
          <a:prstGeom prst="rect">
            <a:avLst/>
          </a:prstGeom>
          <a:noFill/>
        </p:spPr>
        <p:txBody>
          <a:bodyPr wrap="square" rtlCol="0">
            <a:spAutoFit/>
          </a:bodyPr>
          <a:lstStyle/>
          <a:p>
            <a:pPr algn="ctr"/>
            <a:r>
              <a:rPr lang="es-PE" sz="1200" dirty="0">
                <a:solidFill>
                  <a:srgbClr val="2E2B21"/>
                </a:solidFill>
                <a:latin typeface="Tw Cen MT" panose="020B0602020104020603"/>
              </a:rPr>
              <a:t>RESULTADOS, BENEFICIOS, VALOR</a:t>
            </a:r>
            <a:endParaRPr lang="en-US" sz="1200" dirty="0">
              <a:solidFill>
                <a:srgbClr val="2E2B21"/>
              </a:solidFill>
              <a:latin typeface="Tw Cen MT" panose="020B0602020104020603"/>
            </a:endParaRPr>
          </a:p>
        </p:txBody>
      </p:sp>
      <p:sp>
        <p:nvSpPr>
          <p:cNvPr id="64" name="CuadroTexto 63"/>
          <p:cNvSpPr txBox="1"/>
          <p:nvPr/>
        </p:nvSpPr>
        <p:spPr>
          <a:xfrm>
            <a:off x="7718971" y="2238726"/>
            <a:ext cx="1685854" cy="830997"/>
          </a:xfrm>
          <a:prstGeom prst="rect">
            <a:avLst/>
          </a:prstGeom>
          <a:noFill/>
        </p:spPr>
        <p:txBody>
          <a:bodyPr wrap="square" rtlCol="0">
            <a:spAutoFit/>
          </a:bodyPr>
          <a:lstStyle/>
          <a:p>
            <a:pPr algn="ctr"/>
            <a:r>
              <a:rPr lang="es-PE" sz="1200" dirty="0">
                <a:solidFill>
                  <a:srgbClr val="2E2B21"/>
                </a:solidFill>
                <a:latin typeface="Tw Cen MT" panose="020B0602020104020603"/>
              </a:rPr>
              <a:t>ENTREGABLES CON SOPORTE Y DISPONIBILIDAD DE INFORMACIÓN</a:t>
            </a:r>
            <a:endParaRPr lang="en-US" sz="1200" dirty="0">
              <a:solidFill>
                <a:srgbClr val="2E2B21"/>
              </a:solidFill>
              <a:latin typeface="Tw Cen MT" panose="020B0602020104020603"/>
            </a:endParaRPr>
          </a:p>
        </p:txBody>
      </p:sp>
      <p:sp>
        <p:nvSpPr>
          <p:cNvPr id="65" name="Flecha curvada hacia abajo 64"/>
          <p:cNvSpPr/>
          <p:nvPr/>
        </p:nvSpPr>
        <p:spPr>
          <a:xfrm>
            <a:off x="1715903" y="4232834"/>
            <a:ext cx="2607213" cy="647114"/>
          </a:xfrm>
          <a:prstGeom prst="curvedDownArrow">
            <a:avLst/>
          </a:prstGeom>
          <a:solidFill>
            <a:srgbClr val="00B0F0"/>
          </a:solidFill>
          <a:ln w="15875" cap="flat" cmpd="sng" algn="ctr">
            <a:solidFill>
              <a:srgbClr val="A9A57C">
                <a:shade val="50000"/>
              </a:srgbClr>
            </a:solidFill>
            <a:prstDash val="solid"/>
          </a:ln>
          <a:effectLst/>
          <a:scene3d>
            <a:camera prst="orthographicFront">
              <a:rot lat="0" lon="0" rev="10800000"/>
            </a:camera>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6" name="CuadroTexto 65"/>
          <p:cNvSpPr txBox="1"/>
          <p:nvPr/>
        </p:nvSpPr>
        <p:spPr>
          <a:xfrm>
            <a:off x="2197957" y="4074892"/>
            <a:ext cx="1813302" cy="461665"/>
          </a:xfrm>
          <a:prstGeom prst="rect">
            <a:avLst/>
          </a:prstGeom>
          <a:noFill/>
        </p:spPr>
        <p:txBody>
          <a:bodyPr wrap="square" rtlCol="0">
            <a:spAutoFit/>
          </a:bodyPr>
          <a:lstStyle/>
          <a:p>
            <a:pPr algn="ctr"/>
            <a:r>
              <a:rPr lang="es-PE" sz="1200" dirty="0">
                <a:solidFill>
                  <a:srgbClr val="2E2B21"/>
                </a:solidFill>
                <a:latin typeface="Tw Cen MT" panose="020B0602020104020603"/>
              </a:rPr>
              <a:t>CUMPLIMIENTO DE HITOS ESTRATÉGICOS</a:t>
            </a:r>
            <a:endParaRPr lang="en-US" sz="1200" dirty="0">
              <a:solidFill>
                <a:srgbClr val="2E2B21"/>
              </a:solidFill>
              <a:latin typeface="Tw Cen MT" panose="020B0602020104020603"/>
            </a:endParaRPr>
          </a:p>
        </p:txBody>
      </p:sp>
      <p:sp>
        <p:nvSpPr>
          <p:cNvPr id="67" name="Flecha curvada hacia abajo 66"/>
          <p:cNvSpPr/>
          <p:nvPr/>
        </p:nvSpPr>
        <p:spPr>
          <a:xfrm>
            <a:off x="7517873" y="4213171"/>
            <a:ext cx="2607213" cy="647114"/>
          </a:xfrm>
          <a:prstGeom prst="curvedDownArrow">
            <a:avLst/>
          </a:prstGeom>
          <a:solidFill>
            <a:srgbClr val="00B0F0"/>
          </a:solidFill>
          <a:ln w="15875" cap="flat" cmpd="sng" algn="ctr">
            <a:solidFill>
              <a:srgbClr val="A9A57C">
                <a:shade val="50000"/>
              </a:srgbClr>
            </a:solidFill>
            <a:prstDash val="solid"/>
          </a:ln>
          <a:effectLst/>
          <a:scene3d>
            <a:camera prst="orthographicFront">
              <a:rot lat="0" lon="0" rev="10800000"/>
            </a:camera>
            <a:lightRig rig="threePt" dir="t"/>
          </a:scene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8" name="CuadroTexto 67"/>
          <p:cNvSpPr txBox="1"/>
          <p:nvPr/>
        </p:nvSpPr>
        <p:spPr>
          <a:xfrm>
            <a:off x="7999927" y="4055229"/>
            <a:ext cx="1813302" cy="461665"/>
          </a:xfrm>
          <a:prstGeom prst="rect">
            <a:avLst/>
          </a:prstGeom>
          <a:noFill/>
        </p:spPr>
        <p:txBody>
          <a:bodyPr wrap="square" rtlCol="0">
            <a:spAutoFit/>
          </a:bodyPr>
          <a:lstStyle/>
          <a:p>
            <a:pPr algn="ctr"/>
            <a:r>
              <a:rPr lang="es-PE" sz="1200" dirty="0">
                <a:solidFill>
                  <a:srgbClr val="2E2B21"/>
                </a:solidFill>
                <a:latin typeface="Tw Cen MT" panose="020B0602020104020603"/>
              </a:rPr>
              <a:t>FEEDBACK PARA AJUSTES Y/O ACTUALIZACIONES</a:t>
            </a:r>
            <a:endParaRPr lang="en-US" sz="1200" dirty="0">
              <a:solidFill>
                <a:srgbClr val="2E2B21"/>
              </a:solidFill>
              <a:latin typeface="Tw Cen MT" panose="020B0602020104020603"/>
            </a:endParaRPr>
          </a:p>
        </p:txBody>
      </p:sp>
      <p:sp>
        <p:nvSpPr>
          <p:cNvPr id="26" name="Título 1"/>
          <p:cNvSpPr>
            <a:spLocks noGrp="1"/>
          </p:cNvSpPr>
          <p:nvPr>
            <p:ph type="title"/>
          </p:nvPr>
        </p:nvSpPr>
        <p:spPr>
          <a:xfrm>
            <a:off x="272468" y="406929"/>
            <a:ext cx="8824415" cy="1325563"/>
          </a:xfrm>
        </p:spPr>
        <p:txBody>
          <a:bodyPr/>
          <a:lstStyle/>
          <a:p>
            <a:r>
              <a:rPr lang="es-ES" b="1" dirty="0"/>
              <a:t>05. UN SISTEMA PARA ENTREGA DE VALOR</a:t>
            </a:r>
            <a:endParaRPr lang="en-US" b="1" dirty="0"/>
          </a:p>
        </p:txBody>
      </p:sp>
    </p:spTree>
    <p:extLst>
      <p:ext uri="{BB962C8B-B14F-4D97-AF65-F5344CB8AC3E}">
        <p14:creationId xmlns:p14="http://schemas.microsoft.com/office/powerpoint/2010/main" val="429076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Proceso 9"/>
          <p:cNvSpPr/>
          <p:nvPr/>
        </p:nvSpPr>
        <p:spPr>
          <a:xfrm>
            <a:off x="2989435" y="2217612"/>
            <a:ext cx="1844159" cy="745587"/>
          </a:xfrm>
          <a:prstGeom prst="flowChartProcess">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INICIO</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2" name="Proceso 11"/>
          <p:cNvSpPr/>
          <p:nvPr/>
        </p:nvSpPr>
        <p:spPr>
          <a:xfrm>
            <a:off x="4833596" y="2217611"/>
            <a:ext cx="2573292" cy="745587"/>
          </a:xfrm>
          <a:prstGeom prst="flowChartProcess">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ORGANIZACIÓN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3" name="Proceso 12"/>
          <p:cNvSpPr/>
          <p:nvPr/>
        </p:nvSpPr>
        <p:spPr>
          <a:xfrm>
            <a:off x="7406889" y="2217610"/>
            <a:ext cx="2542342" cy="745587"/>
          </a:xfrm>
          <a:prstGeom prst="flowChartProcess">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EJECUCIÓN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4" name="Proceso 13"/>
          <p:cNvSpPr/>
          <p:nvPr/>
        </p:nvSpPr>
        <p:spPr>
          <a:xfrm>
            <a:off x="9949231" y="2217610"/>
            <a:ext cx="1697039" cy="745587"/>
          </a:xfrm>
          <a:prstGeom prst="flowChartProcess">
            <a:avLst/>
          </a:prstGeom>
          <a:solidFill>
            <a:srgbClr val="FF0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FINALIZACIÓN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5" name="Proceso 14"/>
          <p:cNvSpPr/>
          <p:nvPr/>
        </p:nvSpPr>
        <p:spPr>
          <a:xfrm>
            <a:off x="476521" y="2963197"/>
            <a:ext cx="11169749" cy="317017"/>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6" name="Proceso 15"/>
          <p:cNvSpPr/>
          <p:nvPr/>
        </p:nvSpPr>
        <p:spPr>
          <a:xfrm>
            <a:off x="476521" y="3274449"/>
            <a:ext cx="11169749" cy="3079512"/>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7" name="Decisión 16"/>
          <p:cNvSpPr/>
          <p:nvPr/>
        </p:nvSpPr>
        <p:spPr>
          <a:xfrm>
            <a:off x="4728075" y="2958759"/>
            <a:ext cx="200682" cy="287714"/>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8" name="Decisión 17"/>
          <p:cNvSpPr/>
          <p:nvPr/>
        </p:nvSpPr>
        <p:spPr>
          <a:xfrm>
            <a:off x="9816530" y="2983798"/>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9" name="Decisión 18"/>
          <p:cNvSpPr/>
          <p:nvPr/>
        </p:nvSpPr>
        <p:spPr>
          <a:xfrm>
            <a:off x="11519878" y="2944518"/>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20" name="Conector recto 19"/>
          <p:cNvCxnSpPr/>
          <p:nvPr/>
        </p:nvCxnSpPr>
        <p:spPr>
          <a:xfrm>
            <a:off x="2989433" y="3012423"/>
            <a:ext cx="0" cy="3534192"/>
          </a:xfrm>
          <a:prstGeom prst="line">
            <a:avLst/>
          </a:prstGeom>
          <a:noFill/>
          <a:ln w="9525" cap="flat" cmpd="sng" algn="ctr">
            <a:solidFill>
              <a:srgbClr val="A9A57C"/>
            </a:solidFill>
            <a:prstDash val="sysDash"/>
          </a:ln>
          <a:effectLst/>
        </p:spPr>
      </p:cxnSp>
      <p:cxnSp>
        <p:nvCxnSpPr>
          <p:cNvPr id="21" name="Conector recto 20"/>
          <p:cNvCxnSpPr/>
          <p:nvPr/>
        </p:nvCxnSpPr>
        <p:spPr>
          <a:xfrm>
            <a:off x="4833594" y="3300815"/>
            <a:ext cx="0" cy="3245800"/>
          </a:xfrm>
          <a:prstGeom prst="line">
            <a:avLst/>
          </a:prstGeom>
          <a:noFill/>
          <a:ln w="9525" cap="flat" cmpd="sng" algn="ctr">
            <a:solidFill>
              <a:srgbClr val="A9A57C"/>
            </a:solidFill>
            <a:prstDash val="sysDash"/>
          </a:ln>
          <a:effectLst/>
        </p:spPr>
      </p:cxnSp>
      <p:cxnSp>
        <p:nvCxnSpPr>
          <p:cNvPr id="22" name="Conector recto 21"/>
          <p:cNvCxnSpPr/>
          <p:nvPr/>
        </p:nvCxnSpPr>
        <p:spPr>
          <a:xfrm>
            <a:off x="9949231" y="3300815"/>
            <a:ext cx="0" cy="3219432"/>
          </a:xfrm>
          <a:prstGeom prst="line">
            <a:avLst/>
          </a:prstGeom>
          <a:noFill/>
          <a:ln w="9525" cap="flat" cmpd="sng" algn="ctr">
            <a:solidFill>
              <a:srgbClr val="A9A57C"/>
            </a:solidFill>
            <a:prstDash val="sysDash"/>
          </a:ln>
          <a:effectLst/>
        </p:spPr>
      </p:cxnSp>
      <p:sp>
        <p:nvSpPr>
          <p:cNvPr id="23" name="Proceso 22"/>
          <p:cNvSpPr/>
          <p:nvPr/>
        </p:nvSpPr>
        <p:spPr>
          <a:xfrm>
            <a:off x="476519" y="2213175"/>
            <a:ext cx="2512914" cy="760324"/>
          </a:xfrm>
          <a:prstGeom prst="flowChartProcess">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TRABAJOS PREVIOS AL PROYECTO</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24" name="Conector recto 23"/>
          <p:cNvCxnSpPr/>
          <p:nvPr/>
        </p:nvCxnSpPr>
        <p:spPr>
          <a:xfrm>
            <a:off x="7406888" y="3305254"/>
            <a:ext cx="0" cy="3214993"/>
          </a:xfrm>
          <a:prstGeom prst="line">
            <a:avLst/>
          </a:prstGeom>
          <a:noFill/>
          <a:ln w="9525" cap="flat" cmpd="sng" algn="ctr">
            <a:solidFill>
              <a:srgbClr val="A9A57C"/>
            </a:solidFill>
            <a:prstDash val="sysDash"/>
          </a:ln>
          <a:effectLst/>
        </p:spPr>
      </p:cxnSp>
      <p:sp>
        <p:nvSpPr>
          <p:cNvPr id="25" name="Decisión 24"/>
          <p:cNvSpPr/>
          <p:nvPr/>
        </p:nvSpPr>
        <p:spPr>
          <a:xfrm>
            <a:off x="7278757" y="2967635"/>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6" name="Rectángulo redondeado 25"/>
          <p:cNvSpPr/>
          <p:nvPr/>
        </p:nvSpPr>
        <p:spPr>
          <a:xfrm>
            <a:off x="624779" y="3407386"/>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Evaluación de necesidades</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7" name="Rectángulo redondeado 26"/>
          <p:cNvSpPr/>
          <p:nvPr/>
        </p:nvSpPr>
        <p:spPr>
          <a:xfrm>
            <a:off x="1512795" y="4266308"/>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Caso de Negocio</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8" name="Rectángulo redondeado 27"/>
          <p:cNvSpPr/>
          <p:nvPr/>
        </p:nvSpPr>
        <p:spPr>
          <a:xfrm>
            <a:off x="1512794" y="5559972"/>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Plan de Gestión de </a:t>
            </a:r>
            <a:r>
              <a:rPr kumimoji="0" lang="es-PE" sz="1400" b="0" i="0" u="none" strike="noStrike" kern="0" cap="none" spc="0" normalizeH="0" baseline="0" noProof="0" dirty="0" err="1">
                <a:ln>
                  <a:noFill/>
                </a:ln>
                <a:solidFill>
                  <a:srgbClr val="FFFFFF"/>
                </a:solidFill>
                <a:effectLst/>
                <a:uLnTx/>
                <a:uFillTx/>
                <a:latin typeface="Tw Cen MT" panose="020B0602020104020603"/>
                <a:ea typeface="+mn-ea"/>
                <a:cs typeface="+mn-cs"/>
              </a:rPr>
              <a:t>Beeneficios</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9" name="Rectángulo redondeado 28"/>
          <p:cNvSpPr/>
          <p:nvPr/>
        </p:nvSpPr>
        <p:spPr>
          <a:xfrm>
            <a:off x="3343628" y="4779519"/>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Project </a:t>
            </a:r>
            <a:r>
              <a:rPr kumimoji="0" lang="es-PE" sz="1400" b="0" i="0" u="none" strike="noStrike" kern="0" cap="none" spc="0" normalizeH="0" baseline="0" noProof="0" dirty="0" err="1">
                <a:ln>
                  <a:noFill/>
                </a:ln>
                <a:solidFill>
                  <a:srgbClr val="FFFFFF"/>
                </a:solidFill>
                <a:effectLst/>
                <a:uLnTx/>
                <a:uFillTx/>
                <a:latin typeface="Tw Cen MT" panose="020B0602020104020603"/>
                <a:ea typeface="+mn-ea"/>
                <a:cs typeface="+mn-cs"/>
              </a:rPr>
              <a:t>Charter</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30" name="Rectángulo redondeado 29"/>
          <p:cNvSpPr/>
          <p:nvPr/>
        </p:nvSpPr>
        <p:spPr>
          <a:xfrm>
            <a:off x="5217307" y="5613551"/>
            <a:ext cx="1857902"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Plan de Gestión del Proyecto</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31" name="Conector angular 30"/>
          <p:cNvCxnSpPr>
            <a:endCxn id="27" idx="0"/>
          </p:cNvCxnSpPr>
          <p:nvPr/>
        </p:nvCxnSpPr>
        <p:spPr>
          <a:xfrm rot="16200000" flipH="1">
            <a:off x="1748223" y="3875723"/>
            <a:ext cx="519164" cy="262005"/>
          </a:xfrm>
          <a:prstGeom prst="bentConnector3">
            <a:avLst>
              <a:gd name="adj1" fmla="val -1484"/>
            </a:avLst>
          </a:prstGeom>
          <a:noFill/>
          <a:ln w="9525" cap="flat" cmpd="sng" algn="ctr">
            <a:solidFill>
              <a:srgbClr val="2E2B21"/>
            </a:solidFill>
            <a:prstDash val="solid"/>
            <a:tailEnd type="triangle"/>
          </a:ln>
          <a:effectLst/>
        </p:spPr>
      </p:cxnSp>
      <p:cxnSp>
        <p:nvCxnSpPr>
          <p:cNvPr id="32" name="Conector recto de flecha 31"/>
          <p:cNvCxnSpPr/>
          <p:nvPr/>
        </p:nvCxnSpPr>
        <p:spPr>
          <a:xfrm>
            <a:off x="2114745" y="4881449"/>
            <a:ext cx="0" cy="678523"/>
          </a:xfrm>
          <a:prstGeom prst="straightConnector1">
            <a:avLst/>
          </a:prstGeom>
          <a:noFill/>
          <a:ln w="9525" cap="flat" cmpd="sng" algn="ctr">
            <a:solidFill>
              <a:srgbClr val="2E2B21"/>
            </a:solidFill>
            <a:prstDash val="solid"/>
            <a:headEnd type="triangle"/>
            <a:tailEnd type="triangle"/>
          </a:ln>
          <a:effectLst/>
        </p:spPr>
      </p:cxnSp>
      <p:cxnSp>
        <p:nvCxnSpPr>
          <p:cNvPr id="33" name="Conector angular 32"/>
          <p:cNvCxnSpPr>
            <a:stCxn id="27" idx="3"/>
            <a:endCxn id="29" idx="0"/>
          </p:cNvCxnSpPr>
          <p:nvPr/>
        </p:nvCxnSpPr>
        <p:spPr>
          <a:xfrm>
            <a:off x="2764820" y="4573879"/>
            <a:ext cx="1204821" cy="205640"/>
          </a:xfrm>
          <a:prstGeom prst="bentConnector2">
            <a:avLst/>
          </a:prstGeom>
          <a:noFill/>
          <a:ln w="9525" cap="flat" cmpd="sng" algn="ctr">
            <a:solidFill>
              <a:srgbClr val="2E2B21"/>
            </a:solidFill>
            <a:prstDash val="solid"/>
            <a:tailEnd type="triangle"/>
          </a:ln>
          <a:effectLst/>
        </p:spPr>
      </p:cxnSp>
      <p:cxnSp>
        <p:nvCxnSpPr>
          <p:cNvPr id="34" name="Conector angular 33"/>
          <p:cNvCxnSpPr>
            <a:endCxn id="30" idx="0"/>
          </p:cNvCxnSpPr>
          <p:nvPr/>
        </p:nvCxnSpPr>
        <p:spPr>
          <a:xfrm>
            <a:off x="4608980" y="5069507"/>
            <a:ext cx="1537278" cy="544044"/>
          </a:xfrm>
          <a:prstGeom prst="bentConnector2">
            <a:avLst/>
          </a:prstGeom>
          <a:noFill/>
          <a:ln w="9525" cap="flat" cmpd="sng" algn="ctr">
            <a:solidFill>
              <a:srgbClr val="2E2B21"/>
            </a:solidFill>
            <a:prstDash val="solid"/>
            <a:tailEnd type="triangle"/>
          </a:ln>
          <a:effectLst/>
        </p:spPr>
      </p:cxnSp>
      <p:sp>
        <p:nvSpPr>
          <p:cNvPr id="35" name="CuadroTexto 34"/>
          <p:cNvSpPr txBox="1"/>
          <p:nvPr/>
        </p:nvSpPr>
        <p:spPr>
          <a:xfrm>
            <a:off x="4834629" y="3242680"/>
            <a:ext cx="953765" cy="461665"/>
          </a:xfrm>
          <a:prstGeom prst="rect">
            <a:avLst/>
          </a:prstGeom>
          <a:noFill/>
        </p:spPr>
        <p:txBody>
          <a:bodyPr wrap="square" rtlCol="0">
            <a:spAutoFit/>
          </a:bodyPr>
          <a:lstStyle/>
          <a:p>
            <a:r>
              <a:rPr lang="es-PE" sz="1200" dirty="0">
                <a:solidFill>
                  <a:srgbClr val="2E2B21"/>
                </a:solidFill>
                <a:latin typeface="Tw Cen MT" panose="020B0602020104020603"/>
              </a:rPr>
              <a:t>PUNTO DE CONTROL</a:t>
            </a:r>
            <a:endParaRPr lang="en-US" sz="1200" dirty="0">
              <a:solidFill>
                <a:srgbClr val="2E2B21"/>
              </a:solidFill>
              <a:latin typeface="Tw Cen MT" panose="020B0602020104020603"/>
            </a:endParaRPr>
          </a:p>
        </p:txBody>
      </p:sp>
      <p:sp>
        <p:nvSpPr>
          <p:cNvPr id="36" name="CuadroTexto 35"/>
          <p:cNvSpPr txBox="1"/>
          <p:nvPr/>
        </p:nvSpPr>
        <p:spPr>
          <a:xfrm>
            <a:off x="8052151" y="2984537"/>
            <a:ext cx="1414566" cy="276999"/>
          </a:xfrm>
          <a:prstGeom prst="rect">
            <a:avLst/>
          </a:prstGeom>
          <a:noFill/>
        </p:spPr>
        <p:txBody>
          <a:bodyPr wrap="square" rtlCol="0">
            <a:spAutoFit/>
          </a:bodyPr>
          <a:lstStyle/>
          <a:p>
            <a:r>
              <a:rPr lang="es-PE" sz="1200" dirty="0">
                <a:solidFill>
                  <a:srgbClr val="2E2B21"/>
                </a:solidFill>
                <a:latin typeface="Tw Cen MT" panose="020B0602020104020603"/>
              </a:rPr>
              <a:t>LINEA DE TIEMPO</a:t>
            </a:r>
            <a:endParaRPr lang="en-US" sz="1200" dirty="0">
              <a:solidFill>
                <a:srgbClr val="2E2B21"/>
              </a:solidFill>
              <a:latin typeface="Tw Cen MT" panose="020B0602020104020603"/>
            </a:endParaRPr>
          </a:p>
        </p:txBody>
      </p:sp>
      <p:sp>
        <p:nvSpPr>
          <p:cNvPr id="37" name="CuadroTexto 36"/>
          <p:cNvSpPr txBox="1"/>
          <p:nvPr/>
        </p:nvSpPr>
        <p:spPr>
          <a:xfrm>
            <a:off x="6377971" y="1934463"/>
            <a:ext cx="2332038" cy="276999"/>
          </a:xfrm>
          <a:prstGeom prst="rect">
            <a:avLst/>
          </a:prstGeom>
          <a:noFill/>
        </p:spPr>
        <p:txBody>
          <a:bodyPr wrap="square" rtlCol="0">
            <a:spAutoFit/>
          </a:bodyPr>
          <a:lstStyle/>
          <a:p>
            <a:pPr algn="ctr"/>
            <a:r>
              <a:rPr lang="es-PE" sz="1200" b="1" dirty="0">
                <a:solidFill>
                  <a:srgbClr val="2E2B21"/>
                </a:solidFill>
                <a:latin typeface="Tw Cen MT" panose="020B0602020104020603"/>
              </a:rPr>
              <a:t>CICLO DE VIDA DEL PROYECTO</a:t>
            </a:r>
            <a:endParaRPr lang="en-US" sz="1200" b="1" dirty="0">
              <a:solidFill>
                <a:srgbClr val="2E2B21"/>
              </a:solidFill>
              <a:latin typeface="Tw Cen MT" panose="020B0602020104020603"/>
            </a:endParaRPr>
          </a:p>
        </p:txBody>
      </p:sp>
      <p:cxnSp>
        <p:nvCxnSpPr>
          <p:cNvPr id="38" name="Conector recto de flecha 37"/>
          <p:cNvCxnSpPr/>
          <p:nvPr/>
        </p:nvCxnSpPr>
        <p:spPr>
          <a:xfrm flipH="1" flipV="1">
            <a:off x="2940009" y="2058033"/>
            <a:ext cx="3437962" cy="5278"/>
          </a:xfrm>
          <a:prstGeom prst="straightConnector1">
            <a:avLst/>
          </a:prstGeom>
          <a:noFill/>
          <a:ln w="9525" cap="flat" cmpd="sng" algn="ctr">
            <a:solidFill>
              <a:srgbClr val="2E2B21"/>
            </a:solidFill>
            <a:prstDash val="solid"/>
            <a:tailEnd type="triangle"/>
          </a:ln>
          <a:effectLst/>
        </p:spPr>
      </p:cxnSp>
      <p:cxnSp>
        <p:nvCxnSpPr>
          <p:cNvPr id="39" name="Conector recto de flecha 38"/>
          <p:cNvCxnSpPr/>
          <p:nvPr/>
        </p:nvCxnSpPr>
        <p:spPr>
          <a:xfrm flipV="1">
            <a:off x="8681369" y="2041924"/>
            <a:ext cx="2886836" cy="1561"/>
          </a:xfrm>
          <a:prstGeom prst="straightConnector1">
            <a:avLst/>
          </a:prstGeom>
          <a:noFill/>
          <a:ln w="9525" cap="flat" cmpd="sng" algn="ctr">
            <a:solidFill>
              <a:srgbClr val="2E2B21"/>
            </a:solidFill>
            <a:prstDash val="solid"/>
            <a:tailEnd type="triangle"/>
          </a:ln>
          <a:effectLst/>
        </p:spPr>
      </p:cxnSp>
      <p:sp>
        <p:nvSpPr>
          <p:cNvPr id="40" name="CuadroTexto 39"/>
          <p:cNvSpPr txBox="1"/>
          <p:nvPr/>
        </p:nvSpPr>
        <p:spPr>
          <a:xfrm>
            <a:off x="2138806" y="6412319"/>
            <a:ext cx="8072428" cy="276999"/>
          </a:xfrm>
          <a:prstGeom prst="rect">
            <a:avLst/>
          </a:prstGeom>
          <a:noFill/>
        </p:spPr>
        <p:txBody>
          <a:bodyPr wrap="square" rtlCol="0">
            <a:spAutoFit/>
          </a:bodyPr>
          <a:lstStyle/>
          <a:p>
            <a:pPr algn="ctr"/>
            <a:r>
              <a:rPr lang="es-PE" sz="1200" b="1" dirty="0">
                <a:solidFill>
                  <a:srgbClr val="2E2B21"/>
                </a:solidFill>
                <a:latin typeface="Tw Cen MT" panose="020B0602020104020603"/>
              </a:rPr>
              <a:t>INTERRELACIÓN ENTRE LA EVALUACIÓN DE LAS NECESIDADES Y LOS DOCUMENTOS CRÍTICOS DEL NEGOCIO/PROYECTO</a:t>
            </a:r>
            <a:endParaRPr lang="en-US" sz="1200" b="1" dirty="0">
              <a:solidFill>
                <a:srgbClr val="2E2B21"/>
              </a:solidFill>
              <a:latin typeface="Tw Cen MT" panose="020B0602020104020603"/>
            </a:endParaRPr>
          </a:p>
        </p:txBody>
      </p:sp>
      <p:sp>
        <p:nvSpPr>
          <p:cNvPr id="42" name="Título 1"/>
          <p:cNvSpPr>
            <a:spLocks noGrp="1"/>
          </p:cNvSpPr>
          <p:nvPr>
            <p:ph type="title"/>
          </p:nvPr>
        </p:nvSpPr>
        <p:spPr>
          <a:xfrm>
            <a:off x="272468" y="406929"/>
            <a:ext cx="8824415" cy="1325563"/>
          </a:xfrm>
        </p:spPr>
        <p:txBody>
          <a:bodyPr/>
          <a:lstStyle/>
          <a:p>
            <a:r>
              <a:rPr lang="es-ES" b="1" dirty="0"/>
              <a:t>05 UN SISTEMA PARA ENTREGA DE VALOR</a:t>
            </a:r>
            <a:endParaRPr lang="en-US" b="1" dirty="0"/>
          </a:p>
        </p:txBody>
      </p:sp>
    </p:spTree>
    <p:extLst>
      <p:ext uri="{BB962C8B-B14F-4D97-AF65-F5344CB8AC3E}">
        <p14:creationId xmlns:p14="http://schemas.microsoft.com/office/powerpoint/2010/main" val="245194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44" name="Grupo 43"/>
          <p:cNvGrpSpPr/>
          <p:nvPr/>
        </p:nvGrpSpPr>
        <p:grpSpPr>
          <a:xfrm>
            <a:off x="396579" y="2026501"/>
            <a:ext cx="5433808" cy="4205942"/>
            <a:chOff x="0" y="271227"/>
            <a:chExt cx="5433808" cy="4205942"/>
          </a:xfrm>
        </p:grpSpPr>
        <p:sp>
          <p:nvSpPr>
            <p:cNvPr id="72" name="Rectángulo redondeado 71"/>
            <p:cNvSpPr/>
            <p:nvPr/>
          </p:nvSpPr>
          <p:spPr>
            <a:xfrm>
              <a:off x="0" y="271227"/>
              <a:ext cx="5433808" cy="4205942"/>
            </a:xfrm>
            <a:prstGeom prst="roundRect">
              <a:avLst>
                <a:gd name="adj" fmla="val 10000"/>
              </a:avLst>
            </a:prstGeom>
            <a:solidFill>
              <a:srgbClr val="B1A089">
                <a:lumMod val="75000"/>
              </a:srgbClr>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a:lstStyle/>
            <a:p>
              <a:endParaRPr lang="es-PE"/>
            </a:p>
          </p:txBody>
        </p:sp>
        <p:sp>
          <p:nvSpPr>
            <p:cNvPr id="73" name="CuadroTexto 72"/>
            <p:cNvSpPr txBox="1"/>
            <p:nvPr/>
          </p:nvSpPr>
          <p:spPr>
            <a:xfrm>
              <a:off x="36956" y="308183"/>
              <a:ext cx="5359896" cy="1187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PE" sz="2800" kern="1200" dirty="0">
                  <a:solidFill>
                    <a:srgbClr val="FFFFFF"/>
                  </a:solidFill>
                  <a:latin typeface="Tw Cen MT" panose="020B0602020104020603"/>
                  <a:ea typeface="+mn-ea"/>
                  <a:cs typeface="+mn-cs"/>
                </a:rPr>
                <a:t>El Caso de Negocio</a:t>
              </a:r>
              <a:endParaRPr lang="en-US" sz="2800" kern="1200" dirty="0">
                <a:solidFill>
                  <a:srgbClr val="FFFFFF"/>
                </a:solidFill>
                <a:latin typeface="Tw Cen MT" panose="020B0602020104020603"/>
                <a:ea typeface="+mn-ea"/>
                <a:cs typeface="+mn-cs"/>
              </a:endParaRPr>
            </a:p>
          </p:txBody>
        </p:sp>
      </p:grpSp>
      <p:grpSp>
        <p:nvGrpSpPr>
          <p:cNvPr id="45" name="Grupo 44"/>
          <p:cNvGrpSpPr/>
          <p:nvPr/>
        </p:nvGrpSpPr>
        <p:grpSpPr>
          <a:xfrm>
            <a:off x="721897" y="2963413"/>
            <a:ext cx="4859924" cy="562746"/>
            <a:chOff x="325318" y="1208139"/>
            <a:chExt cx="4859924" cy="562746"/>
          </a:xfrm>
        </p:grpSpPr>
        <p:sp>
          <p:nvSpPr>
            <p:cNvPr id="70" name="Rectángulo redondeado 69"/>
            <p:cNvSpPr/>
            <p:nvPr/>
          </p:nvSpPr>
          <p:spPr>
            <a:xfrm>
              <a:off x="325318" y="1208139"/>
              <a:ext cx="4859924" cy="562746"/>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71" name="CuadroTexto 70"/>
            <p:cNvSpPr txBox="1"/>
            <p:nvPr/>
          </p:nvSpPr>
          <p:spPr>
            <a:xfrm>
              <a:off x="341800" y="1224621"/>
              <a:ext cx="4826960" cy="5297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Estudio de factibilidad económico sustentado.</a:t>
              </a:r>
              <a:endParaRPr lang="en-US" sz="1700" kern="1200" dirty="0">
                <a:solidFill>
                  <a:srgbClr val="2E2B21"/>
                </a:solidFill>
                <a:latin typeface="Tw Cen MT" panose="020B0602020104020603"/>
                <a:ea typeface="+mn-ea"/>
                <a:cs typeface="+mn-cs"/>
              </a:endParaRPr>
            </a:p>
          </p:txBody>
        </p:sp>
      </p:grpSp>
      <p:grpSp>
        <p:nvGrpSpPr>
          <p:cNvPr id="46" name="Grupo 45"/>
          <p:cNvGrpSpPr/>
          <p:nvPr/>
        </p:nvGrpSpPr>
        <p:grpSpPr>
          <a:xfrm>
            <a:off x="721897" y="3639903"/>
            <a:ext cx="4859924" cy="538295"/>
            <a:chOff x="325318" y="1884629"/>
            <a:chExt cx="4859924" cy="538295"/>
          </a:xfrm>
        </p:grpSpPr>
        <p:sp>
          <p:nvSpPr>
            <p:cNvPr id="68" name="Rectángulo redondeado 67"/>
            <p:cNvSpPr/>
            <p:nvPr/>
          </p:nvSpPr>
          <p:spPr>
            <a:xfrm>
              <a:off x="325318" y="1884629"/>
              <a:ext cx="4859924" cy="538295"/>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9" name="CuadroTexto 68"/>
            <p:cNvSpPr txBox="1"/>
            <p:nvPr/>
          </p:nvSpPr>
          <p:spPr>
            <a:xfrm>
              <a:off x="341084" y="1900395"/>
              <a:ext cx="4828392" cy="5067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Sirve como base para autorizar un futuro proyecto.</a:t>
              </a:r>
              <a:endParaRPr lang="en-US" sz="1700" kern="1200" dirty="0">
                <a:solidFill>
                  <a:srgbClr val="2E2B21"/>
                </a:solidFill>
                <a:latin typeface="Tw Cen MT" panose="020B0602020104020603"/>
                <a:ea typeface="+mn-ea"/>
                <a:cs typeface="+mn-cs"/>
              </a:endParaRPr>
            </a:p>
          </p:txBody>
        </p:sp>
      </p:grpSp>
      <p:grpSp>
        <p:nvGrpSpPr>
          <p:cNvPr id="47" name="Grupo 46"/>
          <p:cNvGrpSpPr/>
          <p:nvPr/>
        </p:nvGrpSpPr>
        <p:grpSpPr>
          <a:xfrm>
            <a:off x="721897" y="4304825"/>
            <a:ext cx="4859924" cy="670644"/>
            <a:chOff x="325318" y="2549551"/>
            <a:chExt cx="4859924" cy="670644"/>
          </a:xfrm>
        </p:grpSpPr>
        <p:sp>
          <p:nvSpPr>
            <p:cNvPr id="66" name="Rectángulo redondeado 65"/>
            <p:cNvSpPr/>
            <p:nvPr/>
          </p:nvSpPr>
          <p:spPr>
            <a:xfrm>
              <a:off x="325318" y="2549551"/>
              <a:ext cx="4859924" cy="670644"/>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7" name="CuadroTexto 66"/>
            <p:cNvSpPr txBox="1"/>
            <p:nvPr/>
          </p:nvSpPr>
          <p:spPr>
            <a:xfrm>
              <a:off x="344960" y="2569193"/>
              <a:ext cx="4820640" cy="6313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Lista las razones y objetivos para iniciar un proyecto.</a:t>
              </a:r>
              <a:endParaRPr lang="en-US" sz="1700" kern="1200" dirty="0">
                <a:solidFill>
                  <a:srgbClr val="2E2B21"/>
                </a:solidFill>
                <a:latin typeface="Tw Cen MT" panose="020B0602020104020603"/>
                <a:ea typeface="+mn-ea"/>
                <a:cs typeface="+mn-cs"/>
              </a:endParaRPr>
            </a:p>
          </p:txBody>
        </p:sp>
      </p:grpSp>
      <p:grpSp>
        <p:nvGrpSpPr>
          <p:cNvPr id="48" name="Grupo 47"/>
          <p:cNvGrpSpPr/>
          <p:nvPr/>
        </p:nvGrpSpPr>
        <p:grpSpPr>
          <a:xfrm>
            <a:off x="721897" y="5114978"/>
            <a:ext cx="4859924" cy="873975"/>
            <a:chOff x="325318" y="3359704"/>
            <a:chExt cx="4859924" cy="873975"/>
          </a:xfrm>
        </p:grpSpPr>
        <p:sp>
          <p:nvSpPr>
            <p:cNvPr id="64" name="Rectángulo redondeado 63"/>
            <p:cNvSpPr/>
            <p:nvPr/>
          </p:nvSpPr>
          <p:spPr>
            <a:xfrm>
              <a:off x="325318" y="3359704"/>
              <a:ext cx="4859924" cy="873975"/>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5" name="CuadroTexto 64"/>
            <p:cNvSpPr txBox="1"/>
            <p:nvPr/>
          </p:nvSpPr>
          <p:spPr>
            <a:xfrm>
              <a:off x="350916" y="3385302"/>
              <a:ext cx="4808728" cy="8227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Mayormente el Sponsor del proyecto es el responsable de su desarrollo y de su actualización.</a:t>
              </a:r>
              <a:endParaRPr lang="en-US" sz="1700" kern="1200" dirty="0">
                <a:solidFill>
                  <a:srgbClr val="2E2B21"/>
                </a:solidFill>
                <a:latin typeface="Tw Cen MT" panose="020B0602020104020603"/>
                <a:ea typeface="+mn-ea"/>
                <a:cs typeface="+mn-cs"/>
              </a:endParaRPr>
            </a:p>
          </p:txBody>
        </p:sp>
      </p:grpSp>
      <p:grpSp>
        <p:nvGrpSpPr>
          <p:cNvPr id="49" name="Grupo 48"/>
          <p:cNvGrpSpPr/>
          <p:nvPr/>
        </p:nvGrpSpPr>
        <p:grpSpPr>
          <a:xfrm>
            <a:off x="6199291" y="2039568"/>
            <a:ext cx="5596129" cy="4511251"/>
            <a:chOff x="5802712" y="284294"/>
            <a:chExt cx="5596129" cy="4511251"/>
          </a:xfrm>
        </p:grpSpPr>
        <p:sp>
          <p:nvSpPr>
            <p:cNvPr id="62" name="Rectángulo redondeado 61"/>
            <p:cNvSpPr/>
            <p:nvPr/>
          </p:nvSpPr>
          <p:spPr>
            <a:xfrm>
              <a:off x="5802712" y="284294"/>
              <a:ext cx="5596129" cy="4511251"/>
            </a:xfrm>
            <a:prstGeom prst="roundRect">
              <a:avLst>
                <a:gd name="adj" fmla="val 10000"/>
              </a:avLst>
            </a:prstGeom>
            <a:solidFill>
              <a:srgbClr val="B1A089">
                <a:lumMod val="75000"/>
              </a:srgbClr>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a:lstStyle/>
            <a:p>
              <a:endParaRPr lang="es-PE"/>
            </a:p>
          </p:txBody>
        </p:sp>
        <p:sp>
          <p:nvSpPr>
            <p:cNvPr id="63" name="CuadroTexto 62"/>
            <p:cNvSpPr txBox="1"/>
            <p:nvPr/>
          </p:nvSpPr>
          <p:spPr>
            <a:xfrm>
              <a:off x="5842351" y="323933"/>
              <a:ext cx="5516851" cy="127409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PE" sz="2800" kern="1200" dirty="0">
                  <a:solidFill>
                    <a:srgbClr val="FFFFFF"/>
                  </a:solidFill>
                  <a:latin typeface="Tw Cen MT" panose="020B0602020104020603"/>
                  <a:ea typeface="+mn-ea"/>
                  <a:cs typeface="+mn-cs"/>
                </a:rPr>
                <a:t>El Plan de Gestión de Beneficios</a:t>
              </a:r>
              <a:endParaRPr lang="en-US" sz="2800" kern="1200" dirty="0">
                <a:solidFill>
                  <a:srgbClr val="FFFFFF"/>
                </a:solidFill>
                <a:latin typeface="Tw Cen MT" panose="020B0602020104020603"/>
                <a:ea typeface="+mn-ea"/>
                <a:cs typeface="+mn-cs"/>
              </a:endParaRPr>
            </a:p>
          </p:txBody>
        </p:sp>
      </p:grpSp>
      <p:grpSp>
        <p:nvGrpSpPr>
          <p:cNvPr id="50" name="Grupo 49"/>
          <p:cNvGrpSpPr/>
          <p:nvPr/>
        </p:nvGrpSpPr>
        <p:grpSpPr>
          <a:xfrm>
            <a:off x="6604664" y="2997920"/>
            <a:ext cx="4859924" cy="748017"/>
            <a:chOff x="6208085" y="1242646"/>
            <a:chExt cx="4859924" cy="748017"/>
          </a:xfrm>
        </p:grpSpPr>
        <p:sp>
          <p:nvSpPr>
            <p:cNvPr id="60" name="Rectángulo redondeado 59"/>
            <p:cNvSpPr/>
            <p:nvPr/>
          </p:nvSpPr>
          <p:spPr>
            <a:xfrm>
              <a:off x="6208085" y="1242646"/>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1" name="CuadroTexto 60"/>
            <p:cNvSpPr txBox="1"/>
            <p:nvPr/>
          </p:nvSpPr>
          <p:spPr>
            <a:xfrm>
              <a:off x="6229994" y="1264555"/>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Explica con sustento como la estrategia para alcanzar y maximizar los beneficios que dará el proyecto.</a:t>
              </a:r>
              <a:endParaRPr lang="en-US" sz="1700" kern="1200" dirty="0">
                <a:solidFill>
                  <a:srgbClr val="2E2B21"/>
                </a:solidFill>
                <a:latin typeface="Tw Cen MT" panose="020B0602020104020603"/>
                <a:ea typeface="+mn-ea"/>
                <a:cs typeface="+mn-cs"/>
              </a:endParaRPr>
            </a:p>
          </p:txBody>
        </p:sp>
      </p:grpSp>
      <p:grpSp>
        <p:nvGrpSpPr>
          <p:cNvPr id="51" name="Grupo 50"/>
          <p:cNvGrpSpPr/>
          <p:nvPr/>
        </p:nvGrpSpPr>
        <p:grpSpPr>
          <a:xfrm>
            <a:off x="6604664" y="3861017"/>
            <a:ext cx="4859924" cy="748017"/>
            <a:chOff x="6208085" y="2105743"/>
            <a:chExt cx="4859924" cy="748017"/>
          </a:xfrm>
        </p:grpSpPr>
        <p:sp>
          <p:nvSpPr>
            <p:cNvPr id="58" name="Rectángulo redondeado 57"/>
            <p:cNvSpPr/>
            <p:nvPr/>
          </p:nvSpPr>
          <p:spPr>
            <a:xfrm>
              <a:off x="6208085" y="2105743"/>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9" name="CuadroTexto 58"/>
            <p:cNvSpPr txBox="1"/>
            <p:nvPr/>
          </p:nvSpPr>
          <p:spPr>
            <a:xfrm>
              <a:off x="6229994" y="2127652"/>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Usa la data de la Evaluación de Necesidades y del Caso de Negocio.</a:t>
              </a:r>
              <a:endParaRPr lang="en-US" sz="1700" kern="1200" dirty="0">
                <a:solidFill>
                  <a:srgbClr val="2E2B21"/>
                </a:solidFill>
                <a:latin typeface="Tw Cen MT" panose="020B0602020104020603"/>
                <a:ea typeface="+mn-ea"/>
                <a:cs typeface="+mn-cs"/>
              </a:endParaRPr>
            </a:p>
          </p:txBody>
        </p:sp>
      </p:grpSp>
      <p:grpSp>
        <p:nvGrpSpPr>
          <p:cNvPr id="52" name="Grupo 51"/>
          <p:cNvGrpSpPr/>
          <p:nvPr/>
        </p:nvGrpSpPr>
        <p:grpSpPr>
          <a:xfrm>
            <a:off x="6604664" y="4724114"/>
            <a:ext cx="4859924" cy="748017"/>
            <a:chOff x="6208085" y="2968840"/>
            <a:chExt cx="4859924" cy="748017"/>
          </a:xfrm>
        </p:grpSpPr>
        <p:sp>
          <p:nvSpPr>
            <p:cNvPr id="56" name="Rectángulo redondeado 55"/>
            <p:cNvSpPr/>
            <p:nvPr/>
          </p:nvSpPr>
          <p:spPr>
            <a:xfrm>
              <a:off x="6208085" y="2968840"/>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7" name="CuadroTexto 56"/>
            <p:cNvSpPr txBox="1"/>
            <p:nvPr/>
          </p:nvSpPr>
          <p:spPr>
            <a:xfrm>
              <a:off x="6229994" y="2990749"/>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Su desarrollo y actualización es un proceso iterativo. Complementa al Caso de Negocio, Project </a:t>
              </a:r>
              <a:r>
                <a:rPr lang="es-PE" sz="1700" kern="1200" dirty="0" err="1">
                  <a:solidFill>
                    <a:srgbClr val="2E2B21"/>
                  </a:solidFill>
                  <a:latin typeface="Tw Cen MT" panose="020B0602020104020603"/>
                  <a:ea typeface="+mn-ea"/>
                  <a:cs typeface="+mn-cs"/>
                </a:rPr>
                <a:t>Charter</a:t>
              </a:r>
              <a:r>
                <a:rPr lang="es-PE" sz="1700" kern="1200" dirty="0">
                  <a:solidFill>
                    <a:srgbClr val="2E2B21"/>
                  </a:solidFill>
                  <a:latin typeface="Tw Cen MT" panose="020B0602020104020603"/>
                  <a:ea typeface="+mn-ea"/>
                  <a:cs typeface="+mn-cs"/>
                </a:rPr>
                <a:t>, y Plan de Gestión del Proyecto.</a:t>
              </a:r>
              <a:endParaRPr lang="en-US" sz="1700" kern="1200" dirty="0">
                <a:solidFill>
                  <a:srgbClr val="2E2B21"/>
                </a:solidFill>
                <a:latin typeface="Tw Cen MT" panose="020B0602020104020603"/>
                <a:ea typeface="+mn-ea"/>
                <a:cs typeface="+mn-cs"/>
              </a:endParaRPr>
            </a:p>
          </p:txBody>
        </p:sp>
      </p:grpSp>
      <p:grpSp>
        <p:nvGrpSpPr>
          <p:cNvPr id="53" name="Grupo 52"/>
          <p:cNvGrpSpPr/>
          <p:nvPr/>
        </p:nvGrpSpPr>
        <p:grpSpPr>
          <a:xfrm>
            <a:off x="6604664" y="5587212"/>
            <a:ext cx="4859924" cy="748017"/>
            <a:chOff x="6208085" y="3831938"/>
            <a:chExt cx="4859924" cy="748017"/>
          </a:xfrm>
        </p:grpSpPr>
        <p:sp>
          <p:nvSpPr>
            <p:cNvPr id="54" name="Rectángulo redondeado 53"/>
            <p:cNvSpPr/>
            <p:nvPr/>
          </p:nvSpPr>
          <p:spPr>
            <a:xfrm>
              <a:off x="6208085" y="3831938"/>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5" name="CuadroTexto 54"/>
            <p:cNvSpPr txBox="1"/>
            <p:nvPr/>
          </p:nvSpPr>
          <p:spPr>
            <a:xfrm>
              <a:off x="6229994" y="3853847"/>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Incluye la medición de los beneficios financieros del proyecto: VAN, TIR, Ratio C/B, RSI, Periodo de Retorno.</a:t>
              </a:r>
              <a:endParaRPr lang="en-US" sz="1700" kern="1200" dirty="0">
                <a:solidFill>
                  <a:srgbClr val="2E2B21"/>
                </a:solidFill>
                <a:latin typeface="Tw Cen MT" panose="020B0602020104020603"/>
                <a:ea typeface="+mn-ea"/>
                <a:cs typeface="+mn-cs"/>
              </a:endParaRPr>
            </a:p>
          </p:txBody>
        </p:sp>
      </p:grpSp>
      <p:sp>
        <p:nvSpPr>
          <p:cNvPr id="37" name="Título 1"/>
          <p:cNvSpPr>
            <a:spLocks noGrp="1"/>
          </p:cNvSpPr>
          <p:nvPr>
            <p:ph type="title"/>
          </p:nvPr>
        </p:nvSpPr>
        <p:spPr>
          <a:xfrm>
            <a:off x="581192" y="702156"/>
            <a:ext cx="8535512" cy="1013800"/>
          </a:xfrm>
        </p:spPr>
        <p:txBody>
          <a:bodyPr>
            <a:normAutofit fontScale="90000"/>
          </a:bodyPr>
          <a:lstStyle/>
          <a:p>
            <a:r>
              <a:rPr lang="es-ES" dirty="0"/>
              <a:t>05. UN SISTEMA PARA ENTREGA DE VALOR</a:t>
            </a:r>
            <a:endParaRPr lang="en-US" dirty="0"/>
          </a:p>
        </p:txBody>
      </p:sp>
    </p:spTree>
    <p:extLst>
      <p:ext uri="{BB962C8B-B14F-4D97-AF65-F5344CB8AC3E}">
        <p14:creationId xmlns:p14="http://schemas.microsoft.com/office/powerpoint/2010/main" val="4092218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p:cNvSpPr/>
          <p:nvPr/>
        </p:nvSpPr>
        <p:spPr>
          <a:xfrm>
            <a:off x="1167637" y="1887480"/>
            <a:ext cx="4349760" cy="4458269"/>
          </a:xfrm>
          <a:prstGeom prst="ellipse">
            <a:avLst/>
          </a:prstGeom>
          <a:solidFill>
            <a:schemeClr val="accent6">
              <a:lumMod val="20000"/>
              <a:lumOff val="80000"/>
            </a:scheme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 name="Elipse 4"/>
          <p:cNvSpPr/>
          <p:nvPr/>
        </p:nvSpPr>
        <p:spPr>
          <a:xfrm>
            <a:off x="2719264" y="2006897"/>
            <a:ext cx="2143421" cy="2071644"/>
          </a:xfrm>
          <a:prstGeom prst="ellipse">
            <a:avLst/>
          </a:prstGeom>
          <a:solidFill>
            <a:srgbClr val="34E0F2"/>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 name="CuadroTexto 5"/>
          <p:cNvSpPr txBox="1"/>
          <p:nvPr/>
        </p:nvSpPr>
        <p:spPr>
          <a:xfrm>
            <a:off x="1230081" y="3644822"/>
            <a:ext cx="1842867" cy="646331"/>
          </a:xfrm>
          <a:prstGeom prst="rect">
            <a:avLst/>
          </a:prstGeom>
          <a:noFill/>
        </p:spPr>
        <p:txBody>
          <a:bodyPr wrap="square" rtlCol="0">
            <a:spAutoFit/>
          </a:bodyPr>
          <a:lstStyle/>
          <a:p>
            <a:r>
              <a:rPr lang="es-PE" dirty="0">
                <a:solidFill>
                  <a:srgbClr val="2E2B21"/>
                </a:solidFill>
                <a:latin typeface="Tw Cen MT" panose="020B0602020104020603"/>
              </a:rPr>
              <a:t>LA</a:t>
            </a:r>
          </a:p>
          <a:p>
            <a:r>
              <a:rPr lang="es-PE" dirty="0">
                <a:solidFill>
                  <a:srgbClr val="2E2B21"/>
                </a:solidFill>
                <a:latin typeface="Tw Cen MT" panose="020B0602020104020603"/>
              </a:rPr>
              <a:t>ORGANIZACIÓN</a:t>
            </a:r>
            <a:endParaRPr lang="en-US" dirty="0">
              <a:solidFill>
                <a:srgbClr val="2E2B21"/>
              </a:solidFill>
              <a:latin typeface="Tw Cen MT" panose="020B0602020104020603"/>
            </a:endParaRPr>
          </a:p>
        </p:txBody>
      </p:sp>
      <p:sp>
        <p:nvSpPr>
          <p:cNvPr id="7" name="CuadroTexto 6"/>
          <p:cNvSpPr txBox="1"/>
          <p:nvPr/>
        </p:nvSpPr>
        <p:spPr>
          <a:xfrm>
            <a:off x="3134261" y="4503766"/>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GESTIÓN DE</a:t>
            </a:r>
          </a:p>
          <a:p>
            <a:pPr algn="ctr"/>
            <a:r>
              <a:rPr lang="es-PE" dirty="0">
                <a:solidFill>
                  <a:srgbClr val="2E2B21"/>
                </a:solidFill>
                <a:latin typeface="Tw Cen MT" panose="020B0602020104020603"/>
              </a:rPr>
              <a:t>PROYECTOS</a:t>
            </a:r>
            <a:endParaRPr lang="en-US" dirty="0">
              <a:solidFill>
                <a:srgbClr val="2E2B21"/>
              </a:solidFill>
              <a:latin typeface="Tw Cen MT" panose="020B0602020104020603"/>
            </a:endParaRPr>
          </a:p>
        </p:txBody>
      </p:sp>
      <p:sp>
        <p:nvSpPr>
          <p:cNvPr id="9" name="CuadroTexto 8"/>
          <p:cNvSpPr txBox="1"/>
          <p:nvPr/>
        </p:nvSpPr>
        <p:spPr>
          <a:xfrm>
            <a:off x="6379241" y="2375431"/>
            <a:ext cx="5256562" cy="4247317"/>
          </a:xfrm>
          <a:prstGeom prst="rect">
            <a:avLst/>
          </a:prstGeom>
          <a:noFill/>
        </p:spPr>
        <p:txBody>
          <a:bodyPr wrap="square" rtlCol="0">
            <a:spAutoFit/>
          </a:bodyPr>
          <a:lstStyle/>
          <a:p>
            <a:pPr algn="just"/>
            <a:r>
              <a:rPr lang="es-PE" dirty="0">
                <a:solidFill>
                  <a:srgbClr val="2E2B21"/>
                </a:solidFill>
                <a:latin typeface="Tw Cen MT" panose="020B0602020104020603"/>
              </a:rPr>
              <a:t>Representa el control corporativo de la organización.</a:t>
            </a:r>
          </a:p>
          <a:p>
            <a:pPr algn="just"/>
            <a:endParaRPr lang="es-PE" dirty="0">
              <a:solidFill>
                <a:srgbClr val="2E2B21"/>
              </a:solidFill>
              <a:latin typeface="Tw Cen MT" panose="020B0602020104020603"/>
            </a:endParaRPr>
          </a:p>
          <a:p>
            <a:pPr marL="285750" indent="-285750" algn="just">
              <a:buFont typeface="Wingdings" panose="05000000000000000000" pitchFamily="2" charset="2"/>
              <a:buChar char="ü"/>
            </a:pPr>
            <a:r>
              <a:rPr lang="es-PE" dirty="0">
                <a:solidFill>
                  <a:srgbClr val="2E2B21"/>
                </a:solidFill>
                <a:latin typeface="Tw Cen MT" panose="020B0602020104020603"/>
              </a:rPr>
              <a:t>Apoya al flujo de la información, gestiona problemas y da soporte en la toma de decisiones.</a:t>
            </a:r>
          </a:p>
          <a:p>
            <a:pPr marL="285750" indent="-285750" algn="just">
              <a:buFont typeface="Wingdings" panose="05000000000000000000" pitchFamily="2" charset="2"/>
              <a:buChar char="ü"/>
            </a:pPr>
            <a:r>
              <a:rPr lang="es-PE" dirty="0">
                <a:solidFill>
                  <a:srgbClr val="2E2B21"/>
                </a:solidFill>
                <a:latin typeface="Tw Cen MT" panose="020B0602020104020603"/>
              </a:rPr>
              <a:t>Provee la estructura del enfoque de gestión de las inversiones, así como su gestión financiera.</a:t>
            </a:r>
          </a:p>
          <a:p>
            <a:pPr marL="285750" indent="-285750" algn="just">
              <a:buFont typeface="Wingdings" panose="05000000000000000000" pitchFamily="2" charset="2"/>
              <a:buChar char="ü"/>
            </a:pPr>
            <a:r>
              <a:rPr lang="es-PE" dirty="0">
                <a:solidFill>
                  <a:srgbClr val="2E2B21"/>
                </a:solidFill>
                <a:latin typeface="Tw Cen MT" panose="020B0602020104020603"/>
              </a:rPr>
              <a:t>Provee una estructura para el control de los cambios del portafolio general.</a:t>
            </a:r>
          </a:p>
          <a:p>
            <a:pPr marL="285750" indent="-285750" algn="just">
              <a:buFont typeface="Wingdings" panose="05000000000000000000" pitchFamily="2" charset="2"/>
              <a:buChar char="ü"/>
            </a:pPr>
            <a:r>
              <a:rPr lang="es-PE" dirty="0">
                <a:solidFill>
                  <a:srgbClr val="2E2B21"/>
                </a:solidFill>
                <a:latin typeface="Tw Cen MT" panose="020B0602020104020603"/>
              </a:rPr>
              <a:t>Se centra en los objetivos del portafolio y/o programa</a:t>
            </a:r>
          </a:p>
          <a:p>
            <a:pPr marL="285750" indent="-285750" algn="just">
              <a:buFont typeface="Wingdings" panose="05000000000000000000" pitchFamily="2" charset="2"/>
              <a:buChar char="ü"/>
            </a:pPr>
            <a:r>
              <a:rPr lang="es-PE" dirty="0">
                <a:solidFill>
                  <a:srgbClr val="2E2B21"/>
                </a:solidFill>
                <a:latin typeface="Tw Cen MT" panose="020B0602020104020603"/>
              </a:rPr>
              <a:t>Ayuda a filtrar los proyectos que se necesitan ejecutar en la organización: Comités de decisión (beneficios y por qué ahora).</a:t>
            </a:r>
          </a:p>
          <a:p>
            <a:pPr marL="285750" indent="-285750" algn="just">
              <a:buFont typeface="Wingdings" panose="05000000000000000000" pitchFamily="2" charset="2"/>
              <a:buChar char="ü"/>
            </a:pPr>
            <a:r>
              <a:rPr lang="es-PE" dirty="0">
                <a:solidFill>
                  <a:srgbClr val="2E2B21"/>
                </a:solidFill>
                <a:latin typeface="Tw Cen MT" panose="020B0602020104020603"/>
              </a:rPr>
              <a:t>Su función puede ser centralizada o descentralizada.</a:t>
            </a:r>
            <a:endParaRPr lang="en-US" dirty="0">
              <a:solidFill>
                <a:srgbClr val="2E2B21"/>
              </a:solidFill>
              <a:latin typeface="Tw Cen MT" panose="020B0602020104020603"/>
            </a:endParaRPr>
          </a:p>
        </p:txBody>
      </p:sp>
      <p:sp>
        <p:nvSpPr>
          <p:cNvPr id="10" name="Flecha derecha 9"/>
          <p:cNvSpPr/>
          <p:nvPr/>
        </p:nvSpPr>
        <p:spPr>
          <a:xfrm>
            <a:off x="4450730" y="2826349"/>
            <a:ext cx="1747876" cy="267465"/>
          </a:xfrm>
          <a:prstGeom prst="rightArrow">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11" name="Conector recto 10"/>
          <p:cNvCxnSpPr/>
          <p:nvPr/>
        </p:nvCxnSpPr>
        <p:spPr>
          <a:xfrm>
            <a:off x="6161955" y="1852651"/>
            <a:ext cx="0" cy="4388888"/>
          </a:xfrm>
          <a:prstGeom prst="line">
            <a:avLst/>
          </a:prstGeom>
          <a:noFill/>
          <a:ln w="9525" cap="flat" cmpd="sng" algn="ctr">
            <a:solidFill>
              <a:srgbClr val="002060"/>
            </a:solidFill>
            <a:prstDash val="solid"/>
          </a:ln>
          <a:effectLst/>
        </p:spPr>
      </p:cxnSp>
      <p:sp>
        <p:nvSpPr>
          <p:cNvPr id="12" name="CuadroTexto 11"/>
          <p:cNvSpPr txBox="1"/>
          <p:nvPr/>
        </p:nvSpPr>
        <p:spPr>
          <a:xfrm>
            <a:off x="2976230" y="2696080"/>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GOBIERNO </a:t>
            </a:r>
          </a:p>
          <a:p>
            <a:pPr algn="ctr"/>
            <a:r>
              <a:rPr lang="es-PE" dirty="0">
                <a:solidFill>
                  <a:srgbClr val="2E2B21"/>
                </a:solidFill>
                <a:latin typeface="Tw Cen MT" panose="020B0602020104020603"/>
              </a:rPr>
              <a:t>CORPORATIVO</a:t>
            </a:r>
            <a:endParaRPr lang="en-US" dirty="0">
              <a:solidFill>
                <a:srgbClr val="2E2B21"/>
              </a:solidFill>
              <a:latin typeface="Tw Cen MT" panose="020B0602020104020603"/>
            </a:endParaRPr>
          </a:p>
        </p:txBody>
      </p:sp>
      <p:sp>
        <p:nvSpPr>
          <p:cNvPr id="13" name="Elipse 12"/>
          <p:cNvSpPr/>
          <p:nvPr/>
        </p:nvSpPr>
        <p:spPr>
          <a:xfrm>
            <a:off x="2844546" y="3702298"/>
            <a:ext cx="2180492" cy="2130851"/>
          </a:xfrm>
          <a:prstGeom prst="ellipse">
            <a:avLst/>
          </a:prstGeom>
          <a:solidFill>
            <a:srgbClr val="A9A57C">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4" name="CuadroTexto 13"/>
          <p:cNvSpPr txBox="1"/>
          <p:nvPr/>
        </p:nvSpPr>
        <p:spPr>
          <a:xfrm>
            <a:off x="6379241" y="1887480"/>
            <a:ext cx="4614204" cy="369332"/>
          </a:xfrm>
          <a:prstGeom prst="rect">
            <a:avLst/>
          </a:prstGeom>
          <a:noFill/>
        </p:spPr>
        <p:txBody>
          <a:bodyPr wrap="square" rtlCol="0">
            <a:spAutoFit/>
          </a:bodyPr>
          <a:lstStyle/>
          <a:p>
            <a:r>
              <a:rPr lang="es-PE" b="1" dirty="0">
                <a:solidFill>
                  <a:srgbClr val="2E2B21"/>
                </a:solidFill>
                <a:latin typeface="Tw Cen MT" panose="020B0602020104020603"/>
              </a:rPr>
              <a:t>GOBIERNO CORPORATIVO</a:t>
            </a:r>
            <a:endParaRPr lang="en-US" b="1" dirty="0">
              <a:solidFill>
                <a:srgbClr val="2E2B21"/>
              </a:solidFill>
              <a:latin typeface="Tw Cen MT" panose="020B0602020104020603"/>
            </a:endParaRPr>
          </a:p>
        </p:txBody>
      </p:sp>
      <p:sp>
        <p:nvSpPr>
          <p:cNvPr id="15" name="Título 1"/>
          <p:cNvSpPr>
            <a:spLocks noGrp="1"/>
          </p:cNvSpPr>
          <p:nvPr>
            <p:ph type="title"/>
          </p:nvPr>
        </p:nvSpPr>
        <p:spPr>
          <a:xfrm>
            <a:off x="272468" y="406929"/>
            <a:ext cx="8824415" cy="1325563"/>
          </a:xfrm>
        </p:spPr>
        <p:txBody>
          <a:bodyPr/>
          <a:lstStyle/>
          <a:p>
            <a:r>
              <a:rPr lang="es-ES" b="1" dirty="0"/>
              <a:t>05. UN SISTEMA PARA ENTREGA DE VALOR</a:t>
            </a:r>
            <a:endParaRPr lang="en-US" b="1" dirty="0"/>
          </a:p>
        </p:txBody>
      </p:sp>
    </p:spTree>
    <p:extLst>
      <p:ext uri="{BB962C8B-B14F-4D97-AF65-F5344CB8AC3E}">
        <p14:creationId xmlns:p14="http://schemas.microsoft.com/office/powerpoint/2010/main" val="2030592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p:cNvSpPr/>
          <p:nvPr/>
        </p:nvSpPr>
        <p:spPr>
          <a:xfrm>
            <a:off x="1167637" y="1887480"/>
            <a:ext cx="4349760" cy="4458269"/>
          </a:xfrm>
          <a:prstGeom prst="ellipse">
            <a:avLst/>
          </a:prstGeom>
          <a:solidFill>
            <a:schemeClr val="accent6">
              <a:lumMod val="20000"/>
              <a:lumOff val="80000"/>
            </a:scheme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 name="Elipse 4"/>
          <p:cNvSpPr/>
          <p:nvPr/>
        </p:nvSpPr>
        <p:spPr>
          <a:xfrm>
            <a:off x="2719264" y="2006897"/>
            <a:ext cx="2143421" cy="2071644"/>
          </a:xfrm>
          <a:prstGeom prst="ellipse">
            <a:avLst/>
          </a:prstGeom>
          <a:solidFill>
            <a:srgbClr val="34E0F2"/>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 name="CuadroTexto 5"/>
          <p:cNvSpPr txBox="1"/>
          <p:nvPr/>
        </p:nvSpPr>
        <p:spPr>
          <a:xfrm>
            <a:off x="1230081" y="3644822"/>
            <a:ext cx="1842867" cy="646331"/>
          </a:xfrm>
          <a:prstGeom prst="rect">
            <a:avLst/>
          </a:prstGeom>
          <a:noFill/>
        </p:spPr>
        <p:txBody>
          <a:bodyPr wrap="square" rtlCol="0">
            <a:spAutoFit/>
          </a:bodyPr>
          <a:lstStyle/>
          <a:p>
            <a:r>
              <a:rPr lang="es-PE" dirty="0">
                <a:solidFill>
                  <a:srgbClr val="2E2B21"/>
                </a:solidFill>
                <a:latin typeface="Tw Cen MT" panose="020B0602020104020603"/>
              </a:rPr>
              <a:t>LA</a:t>
            </a:r>
          </a:p>
          <a:p>
            <a:r>
              <a:rPr lang="es-PE" dirty="0">
                <a:solidFill>
                  <a:srgbClr val="2E2B21"/>
                </a:solidFill>
                <a:latin typeface="Tw Cen MT" panose="020B0602020104020603"/>
              </a:rPr>
              <a:t>ORGANIZACIÓN</a:t>
            </a:r>
            <a:endParaRPr lang="en-US" dirty="0">
              <a:solidFill>
                <a:srgbClr val="2E2B21"/>
              </a:solidFill>
              <a:latin typeface="Tw Cen MT" panose="020B0602020104020603"/>
            </a:endParaRPr>
          </a:p>
        </p:txBody>
      </p:sp>
      <p:sp>
        <p:nvSpPr>
          <p:cNvPr id="7" name="CuadroTexto 6"/>
          <p:cNvSpPr txBox="1"/>
          <p:nvPr/>
        </p:nvSpPr>
        <p:spPr>
          <a:xfrm>
            <a:off x="3134261" y="4503766"/>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GESTIÓN DE</a:t>
            </a:r>
          </a:p>
          <a:p>
            <a:pPr algn="ctr"/>
            <a:r>
              <a:rPr lang="es-PE" dirty="0">
                <a:solidFill>
                  <a:srgbClr val="2E2B21"/>
                </a:solidFill>
                <a:latin typeface="Tw Cen MT" panose="020B0602020104020603"/>
              </a:rPr>
              <a:t>PROYECTOS</a:t>
            </a:r>
            <a:endParaRPr lang="en-US" dirty="0">
              <a:solidFill>
                <a:srgbClr val="2E2B21"/>
              </a:solidFill>
              <a:latin typeface="Tw Cen MT" panose="020B0602020104020603"/>
            </a:endParaRPr>
          </a:p>
        </p:txBody>
      </p:sp>
      <p:sp>
        <p:nvSpPr>
          <p:cNvPr id="8" name="CuadroTexto 7"/>
          <p:cNvSpPr txBox="1"/>
          <p:nvPr/>
        </p:nvSpPr>
        <p:spPr>
          <a:xfrm>
            <a:off x="6379241" y="1887480"/>
            <a:ext cx="4614204" cy="369332"/>
          </a:xfrm>
          <a:prstGeom prst="rect">
            <a:avLst/>
          </a:prstGeom>
          <a:noFill/>
        </p:spPr>
        <p:txBody>
          <a:bodyPr wrap="square" rtlCol="0">
            <a:spAutoFit/>
          </a:bodyPr>
          <a:lstStyle/>
          <a:p>
            <a:r>
              <a:rPr lang="es-PE" b="1" dirty="0">
                <a:solidFill>
                  <a:srgbClr val="2E2B21"/>
                </a:solidFill>
                <a:latin typeface="Tw Cen MT" panose="020B0602020104020603"/>
              </a:rPr>
              <a:t>P3 MANAGEMENT OFFICE</a:t>
            </a:r>
            <a:endParaRPr lang="en-US" b="1" dirty="0">
              <a:solidFill>
                <a:srgbClr val="2E2B21"/>
              </a:solidFill>
              <a:latin typeface="Tw Cen MT" panose="020B0602020104020603"/>
            </a:endParaRPr>
          </a:p>
        </p:txBody>
      </p:sp>
      <p:sp>
        <p:nvSpPr>
          <p:cNvPr id="9" name="CuadroTexto 8"/>
          <p:cNvSpPr txBox="1"/>
          <p:nvPr/>
        </p:nvSpPr>
        <p:spPr>
          <a:xfrm>
            <a:off x="6379241" y="2375431"/>
            <a:ext cx="5256562" cy="3970318"/>
          </a:xfrm>
          <a:prstGeom prst="rect">
            <a:avLst/>
          </a:prstGeom>
          <a:noFill/>
        </p:spPr>
        <p:txBody>
          <a:bodyPr wrap="square" rtlCol="0">
            <a:spAutoFit/>
          </a:bodyPr>
          <a:lstStyle/>
          <a:p>
            <a:pPr algn="just"/>
            <a:r>
              <a:rPr lang="es-PE" dirty="0">
                <a:solidFill>
                  <a:srgbClr val="2E2B21"/>
                </a:solidFill>
                <a:latin typeface="Tw Cen MT" panose="020B0602020104020603"/>
              </a:rPr>
              <a:t>Parte de las estrategias de la organización como son las Políticas, Procedimientos e Instructivos dan las pautas de cómo deberá ser la gestión de los proyectos de la misma organización, estableciendo sus propios </a:t>
            </a:r>
            <a:r>
              <a:rPr lang="es-PE" dirty="0" err="1">
                <a:solidFill>
                  <a:srgbClr val="2E2B21"/>
                </a:solidFill>
                <a:latin typeface="Tw Cen MT" panose="020B0602020104020603"/>
              </a:rPr>
              <a:t>KPIs</a:t>
            </a:r>
            <a:r>
              <a:rPr lang="es-PE" dirty="0">
                <a:solidFill>
                  <a:srgbClr val="2E2B21"/>
                </a:solidFill>
                <a:latin typeface="Tw Cen MT" panose="020B0602020104020603"/>
              </a:rPr>
              <a:t>.</a:t>
            </a:r>
          </a:p>
          <a:p>
            <a:pPr algn="just"/>
            <a:endParaRPr lang="es-PE" dirty="0">
              <a:solidFill>
                <a:srgbClr val="2E2B21"/>
              </a:solidFill>
              <a:latin typeface="Tw Cen MT" panose="020B0602020104020603"/>
            </a:endParaRPr>
          </a:p>
          <a:p>
            <a:pPr marL="285750" indent="-285750" algn="just">
              <a:buFont typeface="Wingdings" panose="05000000000000000000" pitchFamily="2" charset="2"/>
              <a:buChar char="ü"/>
            </a:pPr>
            <a:r>
              <a:rPr lang="es-PE" dirty="0">
                <a:solidFill>
                  <a:srgbClr val="2E2B21"/>
                </a:solidFill>
                <a:latin typeface="Tw Cen MT" panose="020B0602020104020603"/>
              </a:rPr>
              <a:t>Estructura del WBS para tipos de proyectos.</a:t>
            </a:r>
          </a:p>
          <a:p>
            <a:pPr marL="285750" indent="-285750" algn="just">
              <a:buFont typeface="Wingdings" panose="05000000000000000000" pitchFamily="2" charset="2"/>
              <a:buChar char="ü"/>
            </a:pPr>
            <a:r>
              <a:rPr lang="es-PE" dirty="0">
                <a:solidFill>
                  <a:srgbClr val="2E2B21"/>
                </a:solidFill>
                <a:latin typeface="Tw Cen MT" panose="020B0602020104020603"/>
              </a:rPr>
              <a:t>Tipos de proyectos: sostenibilidad, de mejora, exploratorios, regulatorios, etc.</a:t>
            </a:r>
          </a:p>
          <a:p>
            <a:pPr marL="285750" indent="-285750" algn="just">
              <a:buFont typeface="Wingdings" panose="05000000000000000000" pitchFamily="2" charset="2"/>
              <a:buChar char="ü"/>
            </a:pPr>
            <a:r>
              <a:rPr lang="es-PE" dirty="0">
                <a:solidFill>
                  <a:srgbClr val="2E2B21"/>
                </a:solidFill>
                <a:latin typeface="Tw Cen MT" panose="020B0602020104020603"/>
              </a:rPr>
              <a:t>Enfoque financiero: </a:t>
            </a:r>
            <a:r>
              <a:rPr lang="es-PE" dirty="0" err="1">
                <a:solidFill>
                  <a:srgbClr val="2E2B21"/>
                </a:solidFill>
                <a:latin typeface="Tw Cen MT" panose="020B0602020104020603"/>
              </a:rPr>
              <a:t>Capex</a:t>
            </a:r>
            <a:r>
              <a:rPr lang="es-PE" dirty="0">
                <a:solidFill>
                  <a:srgbClr val="2E2B21"/>
                </a:solidFill>
                <a:latin typeface="Tw Cen MT" panose="020B0602020104020603"/>
              </a:rPr>
              <a:t>, </a:t>
            </a:r>
            <a:r>
              <a:rPr lang="es-PE" dirty="0" err="1">
                <a:solidFill>
                  <a:srgbClr val="2E2B21"/>
                </a:solidFill>
                <a:latin typeface="Tw Cen MT" panose="020B0602020104020603"/>
              </a:rPr>
              <a:t>Opex</a:t>
            </a:r>
            <a:r>
              <a:rPr lang="es-PE" dirty="0">
                <a:solidFill>
                  <a:srgbClr val="2E2B21"/>
                </a:solidFill>
                <a:latin typeface="Tw Cen MT" panose="020B0602020104020603"/>
              </a:rPr>
              <a:t>, etc.</a:t>
            </a:r>
          </a:p>
          <a:p>
            <a:pPr marL="285750" indent="-285750" algn="just">
              <a:buFont typeface="Wingdings" panose="05000000000000000000" pitchFamily="2" charset="2"/>
              <a:buChar char="ü"/>
            </a:pPr>
            <a:r>
              <a:rPr lang="es-PE" dirty="0">
                <a:solidFill>
                  <a:srgbClr val="2E2B21"/>
                </a:solidFill>
                <a:latin typeface="Tw Cen MT" panose="020B0602020104020603"/>
              </a:rPr>
              <a:t>Enfoque de Gestión: sostenibilidad, exploraciones, cierres, etc.</a:t>
            </a:r>
          </a:p>
          <a:p>
            <a:pPr marL="285750" indent="-285750" algn="just">
              <a:buFont typeface="Wingdings" panose="05000000000000000000" pitchFamily="2" charset="2"/>
              <a:buChar char="ü"/>
            </a:pPr>
            <a:r>
              <a:rPr lang="es-PE" dirty="0">
                <a:solidFill>
                  <a:srgbClr val="2E2B21"/>
                </a:solidFill>
                <a:latin typeface="Tw Cen MT" panose="020B0602020104020603"/>
              </a:rPr>
              <a:t>Rangos para los indicadores o </a:t>
            </a:r>
            <a:r>
              <a:rPr lang="es-PE" dirty="0" err="1">
                <a:solidFill>
                  <a:srgbClr val="2E2B21"/>
                </a:solidFill>
                <a:latin typeface="Tw Cen MT" panose="020B0602020104020603"/>
              </a:rPr>
              <a:t>KPIs</a:t>
            </a:r>
            <a:r>
              <a:rPr lang="es-PE" dirty="0">
                <a:solidFill>
                  <a:srgbClr val="2E2B21"/>
                </a:solidFill>
                <a:latin typeface="Tw Cen MT" panose="020B0602020104020603"/>
              </a:rPr>
              <a:t>: CPI, SPI, </a:t>
            </a:r>
            <a:r>
              <a:rPr lang="es-PE" dirty="0" err="1">
                <a:solidFill>
                  <a:srgbClr val="2E2B21"/>
                </a:solidFill>
                <a:latin typeface="Tw Cen MT" panose="020B0602020104020603"/>
              </a:rPr>
              <a:t>Forecast</a:t>
            </a:r>
            <a:r>
              <a:rPr lang="es-PE" dirty="0">
                <a:solidFill>
                  <a:srgbClr val="2E2B21"/>
                </a:solidFill>
                <a:latin typeface="Tw Cen MT" panose="020B0602020104020603"/>
              </a:rPr>
              <a:t>, Outlook, etc.</a:t>
            </a:r>
            <a:endParaRPr lang="en-US" dirty="0">
              <a:solidFill>
                <a:srgbClr val="2E2B21"/>
              </a:solidFill>
              <a:latin typeface="Tw Cen MT" panose="020B0602020104020603"/>
            </a:endParaRPr>
          </a:p>
        </p:txBody>
      </p:sp>
      <p:sp>
        <p:nvSpPr>
          <p:cNvPr id="10" name="Flecha derecha 9"/>
          <p:cNvSpPr/>
          <p:nvPr/>
        </p:nvSpPr>
        <p:spPr>
          <a:xfrm>
            <a:off x="3921720" y="3776704"/>
            <a:ext cx="2206636" cy="254890"/>
          </a:xfrm>
          <a:prstGeom prst="rightArrow">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11" name="Conector recto 10"/>
          <p:cNvCxnSpPr/>
          <p:nvPr/>
        </p:nvCxnSpPr>
        <p:spPr>
          <a:xfrm>
            <a:off x="6161955" y="1852651"/>
            <a:ext cx="0" cy="4388888"/>
          </a:xfrm>
          <a:prstGeom prst="line">
            <a:avLst/>
          </a:prstGeom>
          <a:noFill/>
          <a:ln w="9525" cap="flat" cmpd="sng" algn="ctr">
            <a:solidFill>
              <a:srgbClr val="002060"/>
            </a:solidFill>
            <a:prstDash val="solid"/>
          </a:ln>
          <a:effectLst/>
        </p:spPr>
      </p:cxnSp>
      <p:sp>
        <p:nvSpPr>
          <p:cNvPr id="12" name="CuadroTexto 11"/>
          <p:cNvSpPr txBox="1"/>
          <p:nvPr/>
        </p:nvSpPr>
        <p:spPr>
          <a:xfrm>
            <a:off x="2976230" y="2696080"/>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GOBIERNO </a:t>
            </a:r>
          </a:p>
          <a:p>
            <a:pPr algn="ctr"/>
            <a:r>
              <a:rPr lang="es-PE" dirty="0">
                <a:solidFill>
                  <a:srgbClr val="2E2B21"/>
                </a:solidFill>
                <a:latin typeface="Tw Cen MT" panose="020B0602020104020603"/>
              </a:rPr>
              <a:t>CORPORATIVO</a:t>
            </a:r>
            <a:endParaRPr lang="en-US" dirty="0">
              <a:solidFill>
                <a:srgbClr val="2E2B21"/>
              </a:solidFill>
              <a:latin typeface="Tw Cen MT" panose="020B0602020104020603"/>
            </a:endParaRPr>
          </a:p>
        </p:txBody>
      </p:sp>
      <p:sp>
        <p:nvSpPr>
          <p:cNvPr id="13" name="Elipse 12"/>
          <p:cNvSpPr/>
          <p:nvPr/>
        </p:nvSpPr>
        <p:spPr>
          <a:xfrm>
            <a:off x="2844546" y="3702298"/>
            <a:ext cx="2180492" cy="2130851"/>
          </a:xfrm>
          <a:prstGeom prst="ellipse">
            <a:avLst/>
          </a:prstGeom>
          <a:solidFill>
            <a:srgbClr val="A9A57C">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4" name="Título 1"/>
          <p:cNvSpPr>
            <a:spLocks noGrp="1"/>
          </p:cNvSpPr>
          <p:nvPr>
            <p:ph type="title"/>
          </p:nvPr>
        </p:nvSpPr>
        <p:spPr>
          <a:xfrm>
            <a:off x="272468" y="406929"/>
            <a:ext cx="8824415" cy="1325563"/>
          </a:xfrm>
        </p:spPr>
        <p:txBody>
          <a:bodyPr/>
          <a:lstStyle/>
          <a:p>
            <a:r>
              <a:rPr lang="es-ES" b="1" dirty="0"/>
              <a:t>05. UN SISTEMA PARA ENTREGA DE VALOR</a:t>
            </a:r>
            <a:endParaRPr lang="en-US" b="1" dirty="0"/>
          </a:p>
        </p:txBody>
      </p:sp>
    </p:spTree>
    <p:extLst>
      <p:ext uri="{BB962C8B-B14F-4D97-AF65-F5344CB8AC3E}">
        <p14:creationId xmlns:p14="http://schemas.microsoft.com/office/powerpoint/2010/main" val="222594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p:cNvSpPr/>
          <p:nvPr/>
        </p:nvSpPr>
        <p:spPr>
          <a:xfrm>
            <a:off x="1167637" y="1887480"/>
            <a:ext cx="4349760" cy="4458269"/>
          </a:xfrm>
          <a:prstGeom prst="ellipse">
            <a:avLst/>
          </a:prstGeom>
          <a:solidFill>
            <a:schemeClr val="accent6">
              <a:lumMod val="20000"/>
              <a:lumOff val="80000"/>
            </a:scheme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5" name="Elipse 4"/>
          <p:cNvSpPr/>
          <p:nvPr/>
        </p:nvSpPr>
        <p:spPr>
          <a:xfrm>
            <a:off x="2719264" y="2006897"/>
            <a:ext cx="2143421" cy="2071644"/>
          </a:xfrm>
          <a:prstGeom prst="ellipse">
            <a:avLst/>
          </a:prstGeom>
          <a:solidFill>
            <a:srgbClr val="34E0F2"/>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6" name="CuadroTexto 5"/>
          <p:cNvSpPr txBox="1"/>
          <p:nvPr/>
        </p:nvSpPr>
        <p:spPr>
          <a:xfrm>
            <a:off x="1230081" y="3644822"/>
            <a:ext cx="1842867" cy="646331"/>
          </a:xfrm>
          <a:prstGeom prst="rect">
            <a:avLst/>
          </a:prstGeom>
          <a:noFill/>
        </p:spPr>
        <p:txBody>
          <a:bodyPr wrap="square" rtlCol="0">
            <a:spAutoFit/>
          </a:bodyPr>
          <a:lstStyle/>
          <a:p>
            <a:r>
              <a:rPr lang="es-PE" dirty="0">
                <a:solidFill>
                  <a:srgbClr val="2E2B21"/>
                </a:solidFill>
                <a:latin typeface="Tw Cen MT" panose="020B0602020104020603"/>
              </a:rPr>
              <a:t>LA</a:t>
            </a:r>
          </a:p>
          <a:p>
            <a:r>
              <a:rPr lang="es-PE" dirty="0">
                <a:solidFill>
                  <a:srgbClr val="2E2B21"/>
                </a:solidFill>
                <a:latin typeface="Tw Cen MT" panose="020B0602020104020603"/>
              </a:rPr>
              <a:t>ORGANIZACIÓN</a:t>
            </a:r>
            <a:endParaRPr lang="en-US" dirty="0">
              <a:solidFill>
                <a:srgbClr val="2E2B21"/>
              </a:solidFill>
              <a:latin typeface="Tw Cen MT" panose="020B0602020104020603"/>
            </a:endParaRPr>
          </a:p>
        </p:txBody>
      </p:sp>
      <p:sp>
        <p:nvSpPr>
          <p:cNvPr id="7" name="CuadroTexto 6"/>
          <p:cNvSpPr txBox="1"/>
          <p:nvPr/>
        </p:nvSpPr>
        <p:spPr>
          <a:xfrm>
            <a:off x="3134261" y="4503766"/>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GESTIÓN DE</a:t>
            </a:r>
          </a:p>
          <a:p>
            <a:pPr algn="ctr"/>
            <a:r>
              <a:rPr lang="es-PE" dirty="0">
                <a:solidFill>
                  <a:srgbClr val="2E2B21"/>
                </a:solidFill>
                <a:latin typeface="Tw Cen MT" panose="020B0602020104020603"/>
              </a:rPr>
              <a:t>PROYECTOS</a:t>
            </a:r>
            <a:endParaRPr lang="en-US" dirty="0">
              <a:solidFill>
                <a:srgbClr val="2E2B21"/>
              </a:solidFill>
              <a:latin typeface="Tw Cen MT" panose="020B0602020104020603"/>
            </a:endParaRPr>
          </a:p>
        </p:txBody>
      </p:sp>
      <p:sp>
        <p:nvSpPr>
          <p:cNvPr id="8" name="CuadroTexto 7"/>
          <p:cNvSpPr txBox="1"/>
          <p:nvPr/>
        </p:nvSpPr>
        <p:spPr>
          <a:xfrm>
            <a:off x="6379241" y="1887480"/>
            <a:ext cx="4614204" cy="369332"/>
          </a:xfrm>
          <a:prstGeom prst="rect">
            <a:avLst/>
          </a:prstGeom>
          <a:noFill/>
        </p:spPr>
        <p:txBody>
          <a:bodyPr wrap="square" rtlCol="0">
            <a:spAutoFit/>
          </a:bodyPr>
          <a:lstStyle/>
          <a:p>
            <a:r>
              <a:rPr lang="es-PE" b="1" dirty="0">
                <a:solidFill>
                  <a:srgbClr val="2E2B21"/>
                </a:solidFill>
                <a:latin typeface="Tw Cen MT" panose="020B0602020104020603"/>
              </a:rPr>
              <a:t>EL CLIENTE Y EL USUARIO FINAL</a:t>
            </a:r>
            <a:endParaRPr lang="en-US" b="1" dirty="0">
              <a:solidFill>
                <a:srgbClr val="2E2B21"/>
              </a:solidFill>
              <a:latin typeface="Tw Cen MT" panose="020B0602020104020603"/>
            </a:endParaRPr>
          </a:p>
        </p:txBody>
      </p:sp>
      <p:sp>
        <p:nvSpPr>
          <p:cNvPr id="9" name="CuadroTexto 8"/>
          <p:cNvSpPr txBox="1"/>
          <p:nvPr/>
        </p:nvSpPr>
        <p:spPr>
          <a:xfrm>
            <a:off x="6379241" y="2375431"/>
            <a:ext cx="5256562" cy="2031325"/>
          </a:xfrm>
          <a:prstGeom prst="rect">
            <a:avLst/>
          </a:prstGeom>
          <a:noFill/>
        </p:spPr>
        <p:txBody>
          <a:bodyPr wrap="square" rtlCol="0">
            <a:spAutoFit/>
          </a:bodyPr>
          <a:lstStyle/>
          <a:p>
            <a:pPr algn="just"/>
            <a:r>
              <a:rPr lang="es-PE" dirty="0">
                <a:solidFill>
                  <a:srgbClr val="2E2B21"/>
                </a:solidFill>
                <a:latin typeface="Tw Cen MT" panose="020B0602020104020603"/>
              </a:rPr>
              <a:t>¡Ojo! No siempre son sinónimos.</a:t>
            </a:r>
          </a:p>
          <a:p>
            <a:pPr algn="just"/>
            <a:endParaRPr lang="es-PE" dirty="0">
              <a:solidFill>
                <a:srgbClr val="2E2B21"/>
              </a:solidFill>
              <a:latin typeface="Tw Cen MT" panose="020B0602020104020603"/>
            </a:endParaRPr>
          </a:p>
          <a:p>
            <a:pPr marL="285750" indent="-285750" algn="just">
              <a:buFont typeface="Wingdings" panose="05000000000000000000" pitchFamily="2" charset="2"/>
              <a:buChar char="ü"/>
            </a:pPr>
            <a:r>
              <a:rPr lang="es-PE" dirty="0">
                <a:solidFill>
                  <a:srgbClr val="2E2B21"/>
                </a:solidFill>
                <a:latin typeface="Tw Cen MT" panose="020B0602020104020603"/>
              </a:rPr>
              <a:t>Cliente: Individuo o grupo que gestiona los fondos para un proyecto.</a:t>
            </a:r>
          </a:p>
          <a:p>
            <a:pPr marL="285750" indent="-285750" algn="just">
              <a:buFont typeface="Wingdings" panose="05000000000000000000" pitchFamily="2" charset="2"/>
              <a:buChar char="ü"/>
            </a:pPr>
            <a:r>
              <a:rPr lang="es-PE" dirty="0">
                <a:solidFill>
                  <a:srgbClr val="2E2B21"/>
                </a:solidFill>
                <a:latin typeface="Tw Cen MT" panose="020B0602020104020603"/>
              </a:rPr>
              <a:t>Usuario final: Individuo o grupo que usará directamente el resultado del proyecto y sus entregables.</a:t>
            </a:r>
            <a:endParaRPr lang="en-US" dirty="0">
              <a:solidFill>
                <a:srgbClr val="2E2B21"/>
              </a:solidFill>
              <a:latin typeface="Tw Cen MT" panose="020B0602020104020603"/>
            </a:endParaRPr>
          </a:p>
        </p:txBody>
      </p:sp>
      <p:sp>
        <p:nvSpPr>
          <p:cNvPr id="10" name="Flecha derecha 9"/>
          <p:cNvSpPr/>
          <p:nvPr/>
        </p:nvSpPr>
        <p:spPr>
          <a:xfrm>
            <a:off x="4987966" y="3776703"/>
            <a:ext cx="1140389" cy="301837"/>
          </a:xfrm>
          <a:prstGeom prst="rightArrow">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11" name="Conector recto 10"/>
          <p:cNvCxnSpPr/>
          <p:nvPr/>
        </p:nvCxnSpPr>
        <p:spPr>
          <a:xfrm>
            <a:off x="6161955" y="1852651"/>
            <a:ext cx="0" cy="4388888"/>
          </a:xfrm>
          <a:prstGeom prst="line">
            <a:avLst/>
          </a:prstGeom>
          <a:noFill/>
          <a:ln w="9525" cap="flat" cmpd="sng" algn="ctr">
            <a:solidFill>
              <a:srgbClr val="002060"/>
            </a:solidFill>
            <a:prstDash val="solid"/>
          </a:ln>
          <a:effectLst/>
        </p:spPr>
      </p:cxnSp>
      <p:sp>
        <p:nvSpPr>
          <p:cNvPr id="12" name="CuadroTexto 11"/>
          <p:cNvSpPr txBox="1"/>
          <p:nvPr/>
        </p:nvSpPr>
        <p:spPr>
          <a:xfrm>
            <a:off x="2976230" y="2696080"/>
            <a:ext cx="1730326" cy="646331"/>
          </a:xfrm>
          <a:prstGeom prst="rect">
            <a:avLst/>
          </a:prstGeom>
          <a:noFill/>
        </p:spPr>
        <p:txBody>
          <a:bodyPr wrap="square" rtlCol="0">
            <a:spAutoFit/>
          </a:bodyPr>
          <a:lstStyle/>
          <a:p>
            <a:pPr algn="ctr"/>
            <a:r>
              <a:rPr lang="es-PE" dirty="0">
                <a:solidFill>
                  <a:srgbClr val="2E2B21"/>
                </a:solidFill>
                <a:latin typeface="Tw Cen MT" panose="020B0602020104020603"/>
              </a:rPr>
              <a:t>GOBIERNO </a:t>
            </a:r>
          </a:p>
          <a:p>
            <a:pPr algn="ctr"/>
            <a:r>
              <a:rPr lang="es-PE" dirty="0">
                <a:solidFill>
                  <a:srgbClr val="2E2B21"/>
                </a:solidFill>
                <a:latin typeface="Tw Cen MT" panose="020B0602020104020603"/>
              </a:rPr>
              <a:t>CORPORATIVO</a:t>
            </a:r>
            <a:endParaRPr lang="en-US" dirty="0">
              <a:solidFill>
                <a:srgbClr val="2E2B21"/>
              </a:solidFill>
              <a:latin typeface="Tw Cen MT" panose="020B0602020104020603"/>
            </a:endParaRPr>
          </a:p>
        </p:txBody>
      </p:sp>
      <p:sp>
        <p:nvSpPr>
          <p:cNvPr id="13" name="Elipse 12"/>
          <p:cNvSpPr/>
          <p:nvPr/>
        </p:nvSpPr>
        <p:spPr>
          <a:xfrm>
            <a:off x="2844546" y="3702298"/>
            <a:ext cx="2180492" cy="2130851"/>
          </a:xfrm>
          <a:prstGeom prst="ellipse">
            <a:avLst/>
          </a:prstGeom>
          <a:solidFill>
            <a:srgbClr val="A9A57C">
              <a:alpha val="36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3" name="Rectángulo redondeado 2"/>
          <p:cNvSpPr/>
          <p:nvPr/>
        </p:nvSpPr>
        <p:spPr>
          <a:xfrm>
            <a:off x="6806514" y="4943958"/>
            <a:ext cx="1952787" cy="7594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Jefatura de Proyectos</a:t>
            </a:r>
            <a:endParaRPr lang="en-US" dirty="0"/>
          </a:p>
        </p:txBody>
      </p:sp>
      <p:sp>
        <p:nvSpPr>
          <p:cNvPr id="14" name="Rectángulo redondeado 13"/>
          <p:cNvSpPr/>
          <p:nvPr/>
        </p:nvSpPr>
        <p:spPr>
          <a:xfrm>
            <a:off x="9513375" y="4943958"/>
            <a:ext cx="1952787" cy="759417"/>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Jefatura de Mantenimiento Mecánico</a:t>
            </a:r>
            <a:endParaRPr lang="en-US" dirty="0"/>
          </a:p>
        </p:txBody>
      </p:sp>
      <p:sp>
        <p:nvSpPr>
          <p:cNvPr id="15" name="Flecha derecha 14"/>
          <p:cNvSpPr/>
          <p:nvPr/>
        </p:nvSpPr>
        <p:spPr>
          <a:xfrm>
            <a:off x="8794220" y="5155515"/>
            <a:ext cx="719155" cy="336302"/>
          </a:xfrm>
          <a:prstGeom prst="rightArrow">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7" name="Título 1"/>
          <p:cNvSpPr>
            <a:spLocks noGrp="1"/>
          </p:cNvSpPr>
          <p:nvPr>
            <p:ph type="title"/>
          </p:nvPr>
        </p:nvSpPr>
        <p:spPr>
          <a:xfrm>
            <a:off x="272468" y="406929"/>
            <a:ext cx="8824415" cy="1325563"/>
          </a:xfrm>
        </p:spPr>
        <p:txBody>
          <a:bodyPr/>
          <a:lstStyle/>
          <a:p>
            <a:r>
              <a:rPr lang="es-ES" b="1" dirty="0"/>
              <a:t>05. UN SISTEMA PARA ENTREGA DE VALOR</a:t>
            </a:r>
            <a:endParaRPr lang="en-US" b="1" dirty="0"/>
          </a:p>
        </p:txBody>
      </p:sp>
    </p:spTree>
    <p:extLst>
      <p:ext uri="{BB962C8B-B14F-4D97-AF65-F5344CB8AC3E}">
        <p14:creationId xmlns:p14="http://schemas.microsoft.com/office/powerpoint/2010/main" val="3186496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Verifica cuánto has aprendido hoy:</a:t>
            </a:r>
            <a:endParaRPr lang="en-US" dirty="0"/>
          </a:p>
        </p:txBody>
      </p:sp>
      <p:sp>
        <p:nvSpPr>
          <p:cNvPr id="9" name="CuadroTexto 8"/>
          <p:cNvSpPr txBox="1"/>
          <p:nvPr/>
        </p:nvSpPr>
        <p:spPr>
          <a:xfrm>
            <a:off x="700634" y="2155899"/>
            <a:ext cx="10328851" cy="4013406"/>
          </a:xfrm>
          <a:prstGeom prst="rect">
            <a:avLst/>
          </a:prstGeom>
          <a:noFill/>
        </p:spPr>
        <p:txBody>
          <a:bodyPr wrap="square" rtlCol="0">
            <a:spAutoFit/>
          </a:bodyPr>
          <a:lstStyle/>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1. El inicio y el fin de un proyecto de interconexión eléctrica  en 500 kV está definido por:</a:t>
            </a: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a) Su plan para la dirección del proyecto</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b) Su caso de negocio</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c) El acta de constitución del proyecto</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d) Su ciclo de vida</a:t>
            </a:r>
          </a:p>
          <a:p>
            <a:pPr marL="342900" indent="-342900">
              <a:buFont typeface="+mj-lt"/>
              <a:buAutoNum type="arabicParenR"/>
            </a:pPr>
            <a:endParaRPr lang="es-ES" sz="1400" dirty="0">
              <a:latin typeface="Tw Cen MT" panose="020B0602020104020603"/>
            </a:endParaRPr>
          </a:p>
          <a:p>
            <a:pPr marL="342900" indent="-342900">
              <a:buFont typeface="+mj-lt"/>
              <a:buAutoNum type="arabicParenR"/>
            </a:pPr>
            <a:endParaRPr lang="es-ES" sz="1400" dirty="0">
              <a:latin typeface="Tw Cen MT" panose="020B0602020104020603"/>
            </a:endParaRP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2</a:t>
            </a:r>
            <a:r>
              <a:rPr lang="es-ES_tradnl" sz="1400" b="1" dirty="0">
                <a:latin typeface="Arial" panose="020B0604020202020204" pitchFamily="34" charset="0"/>
                <a:cs typeface="Arial" panose="020B0604020202020204" pitchFamily="34" charset="0"/>
              </a:rPr>
              <a:t>. </a:t>
            </a:r>
            <a:r>
              <a:rPr lang="es-ES_tradnl" sz="1600" b="1" dirty="0">
                <a:latin typeface="Arial" panose="020B0604020202020204" pitchFamily="34" charset="0"/>
                <a:cs typeface="Arial" panose="020B0604020202020204" pitchFamily="34" charset="0"/>
              </a:rPr>
              <a:t>En un PROGRAMA se puede:</a:t>
            </a: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a) Efectuar un solo plan de gestión de las necesidades de los interesados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b) Controlar dos o más portafolios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c) Crear una PMO proyectizada</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d) Balancear los recursos entre varios proyectos</a:t>
            </a:r>
          </a:p>
          <a:p>
            <a:pPr marL="342900" indent="-342900">
              <a:buFont typeface="+mj-lt"/>
              <a:buAutoNum type="arabicParenR"/>
            </a:pPr>
            <a:endParaRPr lang="en-US" sz="1400" dirty="0">
              <a:latin typeface="Tw Cen MT" panose="020B0602020104020603"/>
            </a:endParaRPr>
          </a:p>
        </p:txBody>
      </p:sp>
      <p:sp>
        <p:nvSpPr>
          <p:cNvPr id="12" name="Freeform 4"/>
          <p:cNvSpPr>
            <a:spLocks/>
          </p:cNvSpPr>
          <p:nvPr/>
        </p:nvSpPr>
        <p:spPr bwMode="auto">
          <a:xfrm>
            <a:off x="2693649" y="3576870"/>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Freeform 4"/>
          <p:cNvSpPr>
            <a:spLocks/>
          </p:cNvSpPr>
          <p:nvPr/>
        </p:nvSpPr>
        <p:spPr bwMode="auto">
          <a:xfrm>
            <a:off x="5703134" y="5589343"/>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15984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700633" y="2201213"/>
            <a:ext cx="10328851" cy="4247317"/>
          </a:xfrm>
          <a:prstGeom prst="rect">
            <a:avLst/>
          </a:prstGeom>
          <a:noFill/>
        </p:spPr>
        <p:txBody>
          <a:bodyPr wrap="square" rtlCol="0">
            <a:spAutoFit/>
          </a:bodyPr>
          <a:lstStyle/>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3. Se dice que participas en la gestión de un proyecto, si y solo si: </a:t>
            </a: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a) Participas como Jefe del mismo</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b) Estás como Control de Proyectos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c) Gerencias el contrato del proyecto</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d) Cualquiera de las anteriores.</a:t>
            </a:r>
          </a:p>
          <a:p>
            <a:pPr defTabSz="190500">
              <a:lnSpc>
                <a:spcPct val="115000"/>
              </a:lnSpc>
              <a:spcBef>
                <a:spcPct val="20000"/>
              </a:spcBef>
              <a:buClr>
                <a:srgbClr val="FFFFFF"/>
              </a:buClr>
              <a:buSzPct val="70000"/>
            </a:pPr>
            <a:endParaRPr lang="es-ES" sz="1600" b="1"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endParaRPr lang="es-ES" sz="1600" b="1"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4. Es una habilidad que se le exige al Project Manager que desarrolle:</a:t>
            </a:r>
          </a:p>
          <a:p>
            <a:pPr defTabSz="190500">
              <a:lnSpc>
                <a:spcPct val="115000"/>
              </a:lnSpc>
              <a:spcBef>
                <a:spcPct val="20000"/>
              </a:spcBef>
              <a:buClr>
                <a:srgbClr val="FFFFFF"/>
              </a:buClr>
              <a:buSzPct val="70000"/>
            </a:pPr>
            <a:r>
              <a:rPr lang="es-ES_tradnl" sz="1600" b="1" dirty="0">
                <a:latin typeface="Arial" panose="020B0604020202020204" pitchFamily="34" charset="0"/>
                <a:cs typeface="Arial" panose="020B0604020202020204" pitchFamily="34" charset="0"/>
              </a:rPr>
              <a:t>a) Modelos de negocios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b) Gestión de Programas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c) Gestión de Portafolios</a:t>
            </a:r>
          </a:p>
          <a:p>
            <a:pPr defTabSz="190500">
              <a:lnSpc>
                <a:spcPct val="115000"/>
              </a:lnSpc>
              <a:spcBef>
                <a:spcPct val="20000"/>
              </a:spcBef>
              <a:buClr>
                <a:srgbClr val="FFFFFF"/>
              </a:buClr>
              <a:buSzPct val="70000"/>
            </a:pPr>
            <a:r>
              <a:rPr lang="es-ES" sz="1600" b="1" dirty="0">
                <a:latin typeface="Arial" panose="020B0604020202020204" pitchFamily="34" charset="0"/>
                <a:cs typeface="Arial" panose="020B0604020202020204" pitchFamily="34" charset="0"/>
              </a:rPr>
              <a:t>d) Todas las anteriores.</a:t>
            </a:r>
          </a:p>
          <a:p>
            <a:pPr marL="342900" indent="-342900">
              <a:buFont typeface="+mj-lt"/>
              <a:buAutoNum type="arabicParenR"/>
            </a:pPr>
            <a:endParaRPr lang="en-US" sz="1400" dirty="0">
              <a:latin typeface="Tw Cen MT" panose="020B0602020104020603"/>
            </a:endParaRPr>
          </a:p>
        </p:txBody>
      </p:sp>
      <p:sp>
        <p:nvSpPr>
          <p:cNvPr id="2" name="Título 1"/>
          <p:cNvSpPr>
            <a:spLocks noGrp="1"/>
          </p:cNvSpPr>
          <p:nvPr>
            <p:ph type="title"/>
          </p:nvPr>
        </p:nvSpPr>
        <p:spPr/>
        <p:txBody>
          <a:bodyPr/>
          <a:lstStyle/>
          <a:p>
            <a:r>
              <a:rPr lang="es-ES" dirty="0"/>
              <a:t>Verifica cuánto has aprendido hoy:</a:t>
            </a:r>
            <a:endParaRPr lang="en-US" dirty="0"/>
          </a:p>
        </p:txBody>
      </p:sp>
      <p:sp>
        <p:nvSpPr>
          <p:cNvPr id="12" name="Freeform 4"/>
          <p:cNvSpPr>
            <a:spLocks/>
          </p:cNvSpPr>
          <p:nvPr/>
        </p:nvSpPr>
        <p:spPr bwMode="auto">
          <a:xfrm>
            <a:off x="3871520" y="3576870"/>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Freeform 4"/>
          <p:cNvSpPr>
            <a:spLocks/>
          </p:cNvSpPr>
          <p:nvPr/>
        </p:nvSpPr>
        <p:spPr bwMode="auto">
          <a:xfrm>
            <a:off x="3207907" y="4876421"/>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162211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632346" y="2211076"/>
            <a:ext cx="11099871" cy="2289858"/>
          </a:xfrm>
          <a:prstGeom prst="rect">
            <a:avLst/>
          </a:prstGeom>
          <a:noFill/>
        </p:spPr>
        <p:txBody>
          <a:bodyPr wrap="square" rtlCol="0">
            <a:spAutoFit/>
          </a:bodyPr>
          <a:lstStyle/>
          <a:p>
            <a:pPr defTabSz="190500">
              <a:lnSpc>
                <a:spcPct val="115000"/>
              </a:lnSpc>
              <a:spcBef>
                <a:spcPct val="20000"/>
              </a:spcBef>
              <a:buClr>
                <a:srgbClr val="FFFFFF"/>
              </a:buClr>
              <a:buSzPct val="70000"/>
            </a:pPr>
            <a:r>
              <a:rPr lang="es-ES_tradnl" sz="1400" b="1" dirty="0">
                <a:latin typeface="Arial" panose="020B0604020202020204" pitchFamily="34" charset="0"/>
                <a:cs typeface="Arial" panose="020B0604020202020204" pitchFamily="34" charset="0"/>
              </a:rPr>
              <a:t>5. Estas dirigiendo el montaje de un campamento minero y estando al 80% de avance físico completado, tu cliente indica que las características de los tableros eléctricos entregados, no cumplen con la nueva normativa de la Autoridad competente. En tal sentido, te solicitan una propuesta por la estandarización de dichos tableros eléctricos. El impacto a evaluar sería: </a:t>
            </a:r>
          </a:p>
          <a:p>
            <a:pPr defTabSz="190500">
              <a:lnSpc>
                <a:spcPct val="115000"/>
              </a:lnSpc>
              <a:spcBef>
                <a:spcPct val="20000"/>
              </a:spcBef>
              <a:buClr>
                <a:srgbClr val="FFFFFF"/>
              </a:buClr>
              <a:buSzPct val="70000"/>
            </a:pPr>
            <a:r>
              <a:rPr lang="es-ES_tradnl" sz="1400" b="1" dirty="0">
                <a:latin typeface="Arial" panose="020B0604020202020204" pitchFamily="34" charset="0"/>
                <a:cs typeface="Arial" panose="020B0604020202020204" pitchFamily="34" charset="0"/>
              </a:rPr>
              <a:t>a) Los riesgos en forma cuantitativa</a:t>
            </a:r>
          </a:p>
          <a:p>
            <a:pPr defTabSz="190500">
              <a:lnSpc>
                <a:spcPct val="115000"/>
              </a:lnSpc>
              <a:spcBef>
                <a:spcPct val="20000"/>
              </a:spcBef>
              <a:buClr>
                <a:srgbClr val="FFFFFF"/>
              </a:buClr>
              <a:buSzPct val="70000"/>
            </a:pPr>
            <a:r>
              <a:rPr lang="es-ES" sz="1400" b="1" dirty="0">
                <a:latin typeface="Arial" panose="020B0604020202020204" pitchFamily="34" charset="0"/>
                <a:cs typeface="Arial" panose="020B0604020202020204" pitchFamily="34" charset="0"/>
              </a:rPr>
              <a:t>b) Solo el costo directo, los gastos generales no influyen.</a:t>
            </a:r>
          </a:p>
          <a:p>
            <a:pPr defTabSz="190500">
              <a:lnSpc>
                <a:spcPct val="115000"/>
              </a:lnSpc>
              <a:spcBef>
                <a:spcPct val="20000"/>
              </a:spcBef>
              <a:buClr>
                <a:srgbClr val="FFFFFF"/>
              </a:buClr>
              <a:buSzPct val="70000"/>
            </a:pPr>
            <a:r>
              <a:rPr lang="es-ES" sz="1400" b="1" dirty="0">
                <a:latin typeface="Arial" panose="020B0604020202020204" pitchFamily="34" charset="0"/>
                <a:cs typeface="Arial" panose="020B0604020202020204" pitchFamily="34" charset="0"/>
              </a:rPr>
              <a:t>c) Retraso en la entrega de la habitabilidad para las operaciones</a:t>
            </a:r>
          </a:p>
          <a:p>
            <a:pPr defTabSz="190500">
              <a:lnSpc>
                <a:spcPct val="115000"/>
              </a:lnSpc>
              <a:spcBef>
                <a:spcPct val="20000"/>
              </a:spcBef>
              <a:buClr>
                <a:srgbClr val="FFFFFF"/>
              </a:buClr>
              <a:buSzPct val="70000"/>
            </a:pPr>
            <a:r>
              <a:rPr lang="es-ES" sz="1400" b="1" dirty="0">
                <a:latin typeface="Arial" panose="020B0604020202020204" pitchFamily="34" charset="0"/>
                <a:cs typeface="Arial" panose="020B0604020202020204" pitchFamily="34" charset="0"/>
              </a:rPr>
              <a:t>d) Ninguna de las anteriores. Solo importa las especificaciones requeridas ante una posible inspección.</a:t>
            </a:r>
          </a:p>
          <a:p>
            <a:pPr defTabSz="190500">
              <a:lnSpc>
                <a:spcPct val="115000"/>
              </a:lnSpc>
              <a:spcBef>
                <a:spcPct val="20000"/>
              </a:spcBef>
              <a:buClr>
                <a:srgbClr val="FFFFFF"/>
              </a:buClr>
              <a:buSzPct val="70000"/>
            </a:pPr>
            <a:endParaRPr lang="es-ES" sz="1400" b="1" dirty="0">
              <a:latin typeface="Arial" panose="020B0604020202020204" pitchFamily="34" charset="0"/>
              <a:cs typeface="Arial" panose="020B0604020202020204" pitchFamily="34" charset="0"/>
            </a:endParaRPr>
          </a:p>
        </p:txBody>
      </p:sp>
      <p:sp>
        <p:nvSpPr>
          <p:cNvPr id="2" name="Título 1"/>
          <p:cNvSpPr>
            <a:spLocks noGrp="1"/>
          </p:cNvSpPr>
          <p:nvPr>
            <p:ph type="title"/>
          </p:nvPr>
        </p:nvSpPr>
        <p:spPr/>
        <p:txBody>
          <a:bodyPr/>
          <a:lstStyle/>
          <a:p>
            <a:r>
              <a:rPr lang="es-ES" dirty="0"/>
              <a:t>Verifica cuánto has aprendido hoy:</a:t>
            </a:r>
            <a:endParaRPr lang="en-US" dirty="0"/>
          </a:p>
        </p:txBody>
      </p:sp>
      <p:sp>
        <p:nvSpPr>
          <p:cNvPr id="12" name="Freeform 4"/>
          <p:cNvSpPr>
            <a:spLocks/>
          </p:cNvSpPr>
          <p:nvPr/>
        </p:nvSpPr>
        <p:spPr bwMode="auto">
          <a:xfrm>
            <a:off x="6227262" y="3607867"/>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Tree>
    <p:extLst>
      <p:ext uri="{BB962C8B-B14F-4D97-AF65-F5344CB8AC3E}">
        <p14:creationId xmlns:p14="http://schemas.microsoft.com/office/powerpoint/2010/main" val="395771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1884" y="2688609"/>
            <a:ext cx="11029616" cy="2198328"/>
          </a:xfrm>
        </p:spPr>
        <p:txBody>
          <a:bodyPr>
            <a:normAutofit fontScale="90000"/>
          </a:bodyPr>
          <a:lstStyle/>
          <a:p>
            <a:pPr algn="r"/>
            <a:r>
              <a:rPr lang="es-ES" dirty="0">
                <a:solidFill>
                  <a:schemeClr val="tx1"/>
                </a:solidFill>
              </a:rPr>
              <a:t>La acción, y solo la acción produce resultados. El conocimiento no es más que poder en potencia.</a:t>
            </a:r>
            <a:br>
              <a:rPr lang="es-ES" dirty="0">
                <a:solidFill>
                  <a:schemeClr val="tx1"/>
                </a:solidFill>
              </a:rPr>
            </a:br>
            <a:br>
              <a:rPr lang="es-ES" dirty="0">
                <a:solidFill>
                  <a:schemeClr val="tx1"/>
                </a:solidFill>
              </a:rPr>
            </a:br>
            <a:r>
              <a:rPr lang="es-ES" dirty="0"/>
              <a:t>A. Robbins</a:t>
            </a:r>
            <a:endParaRPr lang="en-US" sz="1600" dirty="0">
              <a:solidFill>
                <a:schemeClr val="tx1"/>
              </a:solidFill>
            </a:endParaRPr>
          </a:p>
        </p:txBody>
      </p:sp>
    </p:spTree>
    <p:extLst>
      <p:ext uri="{BB962C8B-B14F-4D97-AF65-F5344CB8AC3E}">
        <p14:creationId xmlns:p14="http://schemas.microsoft.com/office/powerpoint/2010/main" val="920918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1269</Words>
  <Application>Microsoft Office PowerPoint</Application>
  <PresentationFormat>Panorámica</PresentationFormat>
  <Paragraphs>228</Paragraphs>
  <Slides>24</Slides>
  <Notes>0</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Tema de Office</vt:lpstr>
      <vt:lpstr>Presentación de PowerPoint</vt:lpstr>
      <vt:lpstr>Presentación de PowerPoint</vt:lpstr>
      <vt:lpstr>SESIÓN 01</vt:lpstr>
      <vt:lpstr>Presentación de PowerPoint</vt:lpstr>
      <vt:lpstr>Presentación de PowerPoint</vt:lpstr>
      <vt:lpstr>Presentación de PowerPoint</vt:lpstr>
      <vt:lpstr>01. PROYECTOS / OBRAS</vt:lpstr>
      <vt:lpstr>02. GESTIÓN DE PROYECTOS</vt:lpstr>
      <vt:lpstr>03. ESTRATEGIA DE LA ORGANIZACIÓN</vt:lpstr>
      <vt:lpstr>03. ESTRATEGIA DE LA ORGANIZACIÓN</vt:lpstr>
      <vt:lpstr>04. MODELO DEL CICLO DE VIDA DE UN PROYECTO</vt:lpstr>
      <vt:lpstr>04. MODELO DEL CICLO DE VIDA DE UN PROYECTO</vt:lpstr>
      <vt:lpstr>04. MODELO DEL CICLO DE VIDA DE UN PROYECTO</vt:lpstr>
      <vt:lpstr>05. UN SISTEMA PARA ENTREGA DE VALOR</vt:lpstr>
      <vt:lpstr>05 UN SISTEMA PARA ENTREGA DE VALOR</vt:lpstr>
      <vt:lpstr>05. UN SISTEMA PARA ENTREGA DE VALOR</vt:lpstr>
      <vt:lpstr>05. UN SISTEMA PARA ENTREGA DE VALOR</vt:lpstr>
      <vt:lpstr>05. UN SISTEMA PARA ENTREGA DE VALOR</vt:lpstr>
      <vt:lpstr>05. UN SISTEMA PARA ENTREGA DE VALOR</vt:lpstr>
      <vt:lpstr>Verifica cuánto has aprendido hoy:</vt:lpstr>
      <vt:lpstr>Verifica cuánto has aprendido hoy:</vt:lpstr>
      <vt:lpstr>Verifica cuánto has aprendido hoy:</vt:lpstr>
      <vt:lpstr>La acción, y solo la acción produce resultados. El conocimiento no es más que poder en potencia.  A. Robbins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Angel Omar Gonzales Vera</cp:lastModifiedBy>
  <cp:revision>11</cp:revision>
  <dcterms:created xsi:type="dcterms:W3CDTF">2022-04-19T18:02:09Z</dcterms:created>
  <dcterms:modified xsi:type="dcterms:W3CDTF">2023-09-29T03:25:46Z</dcterms:modified>
</cp:coreProperties>
</file>