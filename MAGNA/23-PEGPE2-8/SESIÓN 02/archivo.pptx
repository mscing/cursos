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88" r:id="rId5"/>
    <p:sldId id="289" r:id="rId6"/>
    <p:sldId id="293" r:id="rId7"/>
    <p:sldId id="294" r:id="rId8"/>
    <p:sldId id="295" r:id="rId9"/>
    <p:sldId id="292" r:id="rId10"/>
    <p:sldId id="271" r:id="rId11"/>
    <p:sldId id="272" r:id="rId12"/>
    <p:sldId id="273" r:id="rId13"/>
    <p:sldId id="276" r:id="rId14"/>
    <p:sldId id="277" r:id="rId15"/>
    <p:sldId id="281" r:id="rId16"/>
    <p:sldId id="282" r:id="rId17"/>
    <p:sldId id="283" r:id="rId18"/>
    <p:sldId id="306" r:id="rId19"/>
    <p:sldId id="307" r:id="rId20"/>
    <p:sldId id="308" r:id="rId21"/>
    <p:sldId id="260" r:id="rId2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7" d="100"/>
          <a:sy n="67" d="100"/>
        </p:scale>
        <p:origin x="6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02/10/2023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02/10/2023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02/10/2023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02/10/2023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02/10/2023</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02/10/2023</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02/10/2023</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02/10/2023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02/10/2023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02/10/2023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02/10/2023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02/10/2023</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facebook.com/inelinc/" TargetMode="External"/><Relationship Id="rId2" Type="http://schemas.openxmlformats.org/officeDocument/2006/relationships/hyperlink" Target="https://www.linkedin.com/company/inelinc/" TargetMode="External"/><Relationship Id="rId1" Type="http://schemas.openxmlformats.org/officeDocument/2006/relationships/slideLayout" Target="../slideLayouts/slideLayout2.xml"/><Relationship Id="rId5" Type="http://schemas.openxmlformats.org/officeDocument/2006/relationships/hyperlink" Target="https://www.youtube.com/inelinc" TargetMode="External"/><Relationship Id="rId4" Type="http://schemas.openxmlformats.org/officeDocument/2006/relationships/hyperlink" Target="https://www.instagram.com/inel.inc/"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uadroTexto 6"/>
          <p:cNvSpPr txBox="1"/>
          <p:nvPr/>
        </p:nvSpPr>
        <p:spPr>
          <a:xfrm>
            <a:off x="469177" y="541700"/>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
        <p:nvSpPr>
          <p:cNvPr id="4" name="Título 1"/>
          <p:cNvSpPr txBox="1">
            <a:spLocks/>
          </p:cNvSpPr>
          <p:nvPr/>
        </p:nvSpPr>
        <p:spPr>
          <a:xfrm>
            <a:off x="889950" y="2754228"/>
            <a:ext cx="10993549" cy="14750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b="1" dirty="0">
                <a:solidFill>
                  <a:schemeClr val="bg1"/>
                </a:solidFill>
              </a:rPr>
              <a:t>GESTIÓN DE PROYECTOS ELECTROMECÁNICOS</a:t>
            </a:r>
            <a:endParaRPr lang="en-US" b="1" dirty="0">
              <a:solidFill>
                <a:schemeClr val="bg1"/>
              </a:solidFill>
            </a:endParaRPr>
          </a:p>
        </p:txBody>
      </p:sp>
      <p:sp>
        <p:nvSpPr>
          <p:cNvPr id="5" name="Subtítulo 2"/>
          <p:cNvSpPr txBox="1">
            <a:spLocks/>
          </p:cNvSpPr>
          <p:nvPr/>
        </p:nvSpPr>
        <p:spPr>
          <a:xfrm>
            <a:off x="783075" y="3754230"/>
            <a:ext cx="10993546" cy="5903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dirty="0">
                <a:solidFill>
                  <a:schemeClr val="bg1"/>
                </a:solidFill>
              </a:rPr>
              <a:t>Según 7ma edición PMBOK® - PROJECT MANAGEMENT INSTITUTE</a:t>
            </a:r>
            <a:endParaRPr lang="en-US" dirty="0">
              <a:solidFill>
                <a:schemeClr val="bg1"/>
              </a:solidFill>
            </a:endParaRPr>
          </a:p>
        </p:txBody>
      </p:sp>
      <p:sp>
        <p:nvSpPr>
          <p:cNvPr id="8" name="CuadroTexto 7"/>
          <p:cNvSpPr txBox="1"/>
          <p:nvPr/>
        </p:nvSpPr>
        <p:spPr>
          <a:xfrm>
            <a:off x="8205311" y="4943265"/>
            <a:ext cx="3177152" cy="1138773"/>
          </a:xfrm>
          <a:prstGeom prst="rect">
            <a:avLst/>
          </a:prstGeom>
          <a:noFill/>
        </p:spPr>
        <p:txBody>
          <a:bodyPr wrap="square" rtlCol="0">
            <a:spAutoFit/>
          </a:bodyPr>
          <a:lstStyle/>
          <a:p>
            <a:pPr algn="r"/>
            <a:r>
              <a:rPr lang="es-ES" sz="2000" b="1" dirty="0">
                <a:solidFill>
                  <a:schemeClr val="bg1"/>
                </a:solidFill>
                <a:latin typeface="Arial Narrow" panose="020B0606020202030204" pitchFamily="34" charset="0"/>
              </a:rPr>
              <a:t>MAYOR ENFOQUE A </a:t>
            </a:r>
            <a:r>
              <a:rPr lang="es-ES" sz="2800" b="1" dirty="0">
                <a:solidFill>
                  <a:schemeClr val="bg1"/>
                </a:solidFill>
                <a:latin typeface="Arial Narrow" panose="020B0606020202030204" pitchFamily="34" charset="0"/>
              </a:rPr>
              <a:t>RESULTADOS</a:t>
            </a:r>
            <a:r>
              <a:rPr lang="es-ES" sz="2000" b="1" dirty="0">
                <a:solidFill>
                  <a:schemeClr val="bg1"/>
                </a:solidFill>
                <a:latin typeface="Arial Narrow" panose="020B0606020202030204" pitchFamily="34" charset="0"/>
              </a:rPr>
              <a:t>… QUE A ENTREGABLES</a:t>
            </a:r>
            <a:endParaRPr lang="en-US" sz="2000" b="1"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60423" y="3176373"/>
            <a:ext cx="6667500" cy="844550"/>
          </a:xfrm>
        </p:spPr>
        <p:txBody>
          <a:bodyPr/>
          <a:lstStyle/>
          <a:p>
            <a:r>
              <a:rPr lang="es-ES" b="1" dirty="0">
                <a:solidFill>
                  <a:srgbClr val="00F3B5"/>
                </a:solidFill>
                <a:latin typeface="Prompt" panose="00000800000000000000" pitchFamily="2" charset="-34"/>
                <a:cs typeface="Prompt" panose="00000800000000000000" pitchFamily="2" charset="-34"/>
              </a:rPr>
              <a:t>SESIÓN 02</a:t>
            </a:r>
          </a:p>
        </p:txBody>
      </p:sp>
    </p:spTree>
    <p:extLst>
      <p:ext uri="{BB962C8B-B14F-4D97-AF65-F5344CB8AC3E}">
        <p14:creationId xmlns:p14="http://schemas.microsoft.com/office/powerpoint/2010/main" val="1071336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CuadroTexto 10">
            <a:extLst>
              <a:ext uri="{FF2B5EF4-FFF2-40B4-BE49-F238E27FC236}">
                <a16:creationId xmlns:a16="http://schemas.microsoft.com/office/drawing/2014/main" id="{280DC3D3-042A-4FBC-84AB-5E5F72824E1E}"/>
              </a:ext>
            </a:extLst>
          </p:cNvPr>
          <p:cNvSpPr txBox="1"/>
          <p:nvPr/>
        </p:nvSpPr>
        <p:spPr>
          <a:xfrm>
            <a:off x="480300" y="734293"/>
            <a:ext cx="7335325" cy="707886"/>
          </a:xfrm>
          <a:prstGeom prst="rect">
            <a:avLst/>
          </a:prstGeom>
          <a:noFill/>
        </p:spPr>
        <p:txBody>
          <a:bodyPr wrap="square" rtlCol="0">
            <a:spAutoFit/>
          </a:bodyPr>
          <a:lstStyle/>
          <a:p>
            <a:r>
              <a:rPr lang="es-PE" sz="4000" dirty="0">
                <a:latin typeface="Futura-Bold" pitchFamily="2" charset="0"/>
              </a:rPr>
              <a:t>Agenda</a:t>
            </a:r>
          </a:p>
        </p:txBody>
      </p:sp>
      <p:sp>
        <p:nvSpPr>
          <p:cNvPr id="31" name="Rectangle 1">
            <a:extLst>
              <a:ext uri="{FF2B5EF4-FFF2-40B4-BE49-F238E27FC236}">
                <a16:creationId xmlns:a16="http://schemas.microsoft.com/office/drawing/2014/main" id="{5AB2D3A9-6F4D-344C-9378-75484DCB9681}"/>
              </a:ext>
            </a:extLst>
          </p:cNvPr>
          <p:cNvSpPr/>
          <p:nvPr/>
        </p:nvSpPr>
        <p:spPr>
          <a:xfrm>
            <a:off x="2904088" y="2070829"/>
            <a:ext cx="891540" cy="891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2" name="Rectangle 2">
            <a:extLst>
              <a:ext uri="{FF2B5EF4-FFF2-40B4-BE49-F238E27FC236}">
                <a16:creationId xmlns:a16="http://schemas.microsoft.com/office/drawing/2014/main" id="{0B9D3BC8-4C2E-D642-88E4-84578137B50B}"/>
              </a:ext>
            </a:extLst>
          </p:cNvPr>
          <p:cNvSpPr/>
          <p:nvPr/>
        </p:nvSpPr>
        <p:spPr>
          <a:xfrm>
            <a:off x="2904088" y="3145249"/>
            <a:ext cx="891540" cy="89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3" name="Rectangle 3">
            <a:extLst>
              <a:ext uri="{FF2B5EF4-FFF2-40B4-BE49-F238E27FC236}">
                <a16:creationId xmlns:a16="http://schemas.microsoft.com/office/drawing/2014/main" id="{1F076D6E-3CB7-EA4F-ABFD-595DE2B0EE21}"/>
              </a:ext>
            </a:extLst>
          </p:cNvPr>
          <p:cNvSpPr/>
          <p:nvPr/>
        </p:nvSpPr>
        <p:spPr>
          <a:xfrm>
            <a:off x="2904088" y="4219669"/>
            <a:ext cx="891540" cy="8915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6" name="TextBox 6">
            <a:extLst>
              <a:ext uri="{FF2B5EF4-FFF2-40B4-BE49-F238E27FC236}">
                <a16:creationId xmlns:a16="http://schemas.microsoft.com/office/drawing/2014/main" id="{86E61A51-4080-D747-BEEC-36EB62F657E7}"/>
              </a:ext>
            </a:extLst>
          </p:cNvPr>
          <p:cNvSpPr txBox="1"/>
          <p:nvPr/>
        </p:nvSpPr>
        <p:spPr>
          <a:xfrm>
            <a:off x="3045127" y="2050864"/>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1</a:t>
            </a:r>
          </a:p>
        </p:txBody>
      </p:sp>
      <p:sp>
        <p:nvSpPr>
          <p:cNvPr id="37" name="TextBox 7">
            <a:extLst>
              <a:ext uri="{FF2B5EF4-FFF2-40B4-BE49-F238E27FC236}">
                <a16:creationId xmlns:a16="http://schemas.microsoft.com/office/drawing/2014/main" id="{B5E35E49-1469-C74E-9808-7442A8C2701B}"/>
              </a:ext>
            </a:extLst>
          </p:cNvPr>
          <p:cNvSpPr txBox="1"/>
          <p:nvPr/>
        </p:nvSpPr>
        <p:spPr>
          <a:xfrm>
            <a:off x="3045127" y="3125284"/>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2</a:t>
            </a:r>
          </a:p>
        </p:txBody>
      </p:sp>
      <p:sp>
        <p:nvSpPr>
          <p:cNvPr id="38" name="TextBox 8">
            <a:extLst>
              <a:ext uri="{FF2B5EF4-FFF2-40B4-BE49-F238E27FC236}">
                <a16:creationId xmlns:a16="http://schemas.microsoft.com/office/drawing/2014/main" id="{3013026D-5AAE-5046-9336-9D0A775EEB0C}"/>
              </a:ext>
            </a:extLst>
          </p:cNvPr>
          <p:cNvSpPr txBox="1"/>
          <p:nvPr/>
        </p:nvSpPr>
        <p:spPr>
          <a:xfrm>
            <a:off x="3045126" y="4199704"/>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3</a:t>
            </a:r>
          </a:p>
        </p:txBody>
      </p:sp>
      <p:sp>
        <p:nvSpPr>
          <p:cNvPr id="41" name="Rectangle 13">
            <a:extLst>
              <a:ext uri="{FF2B5EF4-FFF2-40B4-BE49-F238E27FC236}">
                <a16:creationId xmlns:a16="http://schemas.microsoft.com/office/drawing/2014/main" id="{F1DA5C09-0AA0-3A46-98D0-C4584C233D3D}"/>
              </a:ext>
            </a:extLst>
          </p:cNvPr>
          <p:cNvSpPr/>
          <p:nvPr/>
        </p:nvSpPr>
        <p:spPr>
          <a:xfrm>
            <a:off x="3799234" y="2070829"/>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2" name="Rectangle 14">
            <a:extLst>
              <a:ext uri="{FF2B5EF4-FFF2-40B4-BE49-F238E27FC236}">
                <a16:creationId xmlns:a16="http://schemas.microsoft.com/office/drawing/2014/main" id="{9EC1C1FF-95F0-C749-8196-8724C6BAE2D6}"/>
              </a:ext>
            </a:extLst>
          </p:cNvPr>
          <p:cNvSpPr/>
          <p:nvPr/>
        </p:nvSpPr>
        <p:spPr>
          <a:xfrm>
            <a:off x="3799234" y="3145249"/>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3" name="Rectangle 15">
            <a:extLst>
              <a:ext uri="{FF2B5EF4-FFF2-40B4-BE49-F238E27FC236}">
                <a16:creationId xmlns:a16="http://schemas.microsoft.com/office/drawing/2014/main" id="{2454F0E4-D6B4-AA48-8BA5-62A6EA619989}"/>
              </a:ext>
            </a:extLst>
          </p:cNvPr>
          <p:cNvSpPr/>
          <p:nvPr/>
        </p:nvSpPr>
        <p:spPr>
          <a:xfrm>
            <a:off x="3799234" y="4219669"/>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6" name="TextBox 18">
            <a:extLst>
              <a:ext uri="{FF2B5EF4-FFF2-40B4-BE49-F238E27FC236}">
                <a16:creationId xmlns:a16="http://schemas.microsoft.com/office/drawing/2014/main" id="{43A67BBC-AC66-0343-BD39-82BB808757E4}"/>
              </a:ext>
            </a:extLst>
          </p:cNvPr>
          <p:cNvSpPr txBox="1"/>
          <p:nvPr/>
        </p:nvSpPr>
        <p:spPr>
          <a:xfrm>
            <a:off x="4133588" y="2248110"/>
            <a:ext cx="5867662" cy="584775"/>
          </a:xfrm>
          <a:prstGeom prst="rect">
            <a:avLst/>
          </a:prstGeom>
          <a:noFill/>
        </p:spPr>
        <p:txBody>
          <a:bodyPr wrap="square" rtlCol="0" anchor="ctr">
            <a:spAutoFit/>
          </a:bodyPr>
          <a:lstStyle/>
          <a:p>
            <a:r>
              <a:rPr lang="en-US" sz="1600" b="1" dirty="0">
                <a:solidFill>
                  <a:schemeClr val="accent1">
                    <a:lumMod val="50000"/>
                  </a:schemeClr>
                </a:solidFill>
                <a:latin typeface="Poppins" pitchFamily="2" charset="77"/>
                <a:cs typeface="Poppins" pitchFamily="2" charset="77"/>
              </a:rPr>
              <a:t>LOS PROCESOS MACRO DE LA GESTIÓN DE PROYECTOS Y LA PMO</a:t>
            </a:r>
            <a:endParaRPr lang="en-US" sz="1600" b="1" dirty="0">
              <a:solidFill>
                <a:schemeClr val="tx2"/>
              </a:solidFill>
              <a:latin typeface="Poppins" pitchFamily="2" charset="77"/>
              <a:cs typeface="Poppins" pitchFamily="2" charset="77"/>
            </a:endParaRPr>
          </a:p>
        </p:txBody>
      </p:sp>
      <p:sp>
        <p:nvSpPr>
          <p:cNvPr id="47" name="TextBox 20">
            <a:extLst>
              <a:ext uri="{FF2B5EF4-FFF2-40B4-BE49-F238E27FC236}">
                <a16:creationId xmlns:a16="http://schemas.microsoft.com/office/drawing/2014/main" id="{DDCD1AEF-006A-5D49-8BFB-CCAA6EEED0CA}"/>
              </a:ext>
            </a:extLst>
          </p:cNvPr>
          <p:cNvSpPr txBox="1"/>
          <p:nvPr/>
        </p:nvSpPr>
        <p:spPr>
          <a:xfrm>
            <a:off x="4133589" y="3309195"/>
            <a:ext cx="5867662" cy="584775"/>
          </a:xfrm>
          <a:prstGeom prst="rect">
            <a:avLst/>
          </a:prstGeom>
          <a:noFill/>
        </p:spPr>
        <p:txBody>
          <a:bodyPr wrap="square" rtlCol="0" anchor="ctr">
            <a:spAutoFit/>
          </a:bodyPr>
          <a:lstStyle/>
          <a:p>
            <a:r>
              <a:rPr lang="en-US" sz="1600" b="1" dirty="0">
                <a:solidFill>
                  <a:schemeClr val="accent2">
                    <a:lumMod val="50000"/>
                  </a:schemeClr>
                </a:solidFill>
                <a:latin typeface="Poppins" pitchFamily="2" charset="77"/>
                <a:cs typeface="Poppins" pitchFamily="2" charset="77"/>
              </a:rPr>
              <a:t>ESTRUCTURAS EN UNA ORGANIZACIÓN: ¿SABES DÓNDE ESTÁS?</a:t>
            </a:r>
            <a:endParaRPr lang="en-US" sz="1600" b="1" dirty="0">
              <a:solidFill>
                <a:schemeClr val="tx2"/>
              </a:solidFill>
              <a:latin typeface="Poppins" pitchFamily="2" charset="77"/>
              <a:cs typeface="Poppins" pitchFamily="2" charset="77"/>
            </a:endParaRPr>
          </a:p>
        </p:txBody>
      </p:sp>
      <p:sp>
        <p:nvSpPr>
          <p:cNvPr id="48" name="TextBox 21">
            <a:extLst>
              <a:ext uri="{FF2B5EF4-FFF2-40B4-BE49-F238E27FC236}">
                <a16:creationId xmlns:a16="http://schemas.microsoft.com/office/drawing/2014/main" id="{68DC790B-F525-9E48-B131-CE273BCAC9B7}"/>
              </a:ext>
            </a:extLst>
          </p:cNvPr>
          <p:cNvSpPr txBox="1"/>
          <p:nvPr/>
        </p:nvSpPr>
        <p:spPr>
          <a:xfrm>
            <a:off x="4133588" y="4370281"/>
            <a:ext cx="5781937" cy="584775"/>
          </a:xfrm>
          <a:prstGeom prst="rect">
            <a:avLst/>
          </a:prstGeom>
          <a:noFill/>
        </p:spPr>
        <p:txBody>
          <a:bodyPr wrap="square" rtlCol="0" anchor="ctr">
            <a:spAutoFit/>
          </a:bodyPr>
          <a:lstStyle/>
          <a:p>
            <a:r>
              <a:rPr lang="en-US" sz="1600" b="1" dirty="0">
                <a:solidFill>
                  <a:schemeClr val="accent3">
                    <a:lumMod val="50000"/>
                  </a:schemeClr>
                </a:solidFill>
                <a:latin typeface="Poppins" pitchFamily="2" charset="77"/>
                <a:cs typeface="Poppins" pitchFamily="2" charset="77"/>
              </a:rPr>
              <a:t>LOS DOCUMENTOS BÁSICOS PARA UNA BUENA GESTIÓN DE PROYECTOS</a:t>
            </a:r>
            <a:endParaRPr lang="en-US" sz="1600" b="1" dirty="0">
              <a:solidFill>
                <a:schemeClr val="tx2"/>
              </a:solidFill>
              <a:latin typeface="Poppins" pitchFamily="2" charset="77"/>
              <a:cs typeface="Poppins" pitchFamily="2" charset="77"/>
            </a:endParaRPr>
          </a:p>
        </p:txBody>
      </p:sp>
    </p:spTree>
    <p:extLst>
      <p:ext uri="{BB962C8B-B14F-4D97-AF65-F5344CB8AC3E}">
        <p14:creationId xmlns:p14="http://schemas.microsoft.com/office/powerpoint/2010/main" val="343982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ppt_x"/>
                                          </p:val>
                                        </p:tav>
                                        <p:tav tm="100000">
                                          <p:val>
                                            <p:strVal val="#ppt_x"/>
                                          </p:val>
                                        </p:tav>
                                      </p:tavLst>
                                    </p:anim>
                                    <p:anim calcmode="lin" valueType="num">
                                      <p:cBhvr additive="base">
                                        <p:cTn id="12" dur="500" fill="hold"/>
                                        <p:tgtEl>
                                          <p:spTgt spid="3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500" fill="hold"/>
                                        <p:tgtEl>
                                          <p:spTgt spid="46"/>
                                        </p:tgtEl>
                                        <p:attrNameLst>
                                          <p:attrName>ppt_x</p:attrName>
                                        </p:attrNameLst>
                                      </p:cBhvr>
                                      <p:tavLst>
                                        <p:tav tm="0">
                                          <p:val>
                                            <p:strVal val="#ppt_x"/>
                                          </p:val>
                                        </p:tav>
                                        <p:tav tm="100000">
                                          <p:val>
                                            <p:strVal val="#ppt_x"/>
                                          </p:val>
                                        </p:tav>
                                      </p:tavLst>
                                    </p:anim>
                                    <p:anim calcmode="lin" valueType="num">
                                      <p:cBhvr additive="base">
                                        <p:cTn id="16" dur="500" fill="hold"/>
                                        <p:tgtEl>
                                          <p:spTgt spid="4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500" fill="hold"/>
                                        <p:tgtEl>
                                          <p:spTgt spid="41"/>
                                        </p:tgtEl>
                                        <p:attrNameLst>
                                          <p:attrName>ppt_x</p:attrName>
                                        </p:attrNameLst>
                                      </p:cBhvr>
                                      <p:tavLst>
                                        <p:tav tm="0">
                                          <p:val>
                                            <p:strVal val="#ppt_x"/>
                                          </p:val>
                                        </p:tav>
                                        <p:tav tm="100000">
                                          <p:val>
                                            <p:strVal val="#ppt_x"/>
                                          </p:val>
                                        </p:tav>
                                      </p:tavLst>
                                    </p:anim>
                                    <p:anim calcmode="lin" valueType="num">
                                      <p:cBhvr additive="base">
                                        <p:cTn id="20"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anim calcmode="lin" valueType="num">
                                      <p:cBhvr additive="base">
                                        <p:cTn id="25" dur="500" fill="hold"/>
                                        <p:tgtEl>
                                          <p:spTgt spid="37"/>
                                        </p:tgtEl>
                                        <p:attrNameLst>
                                          <p:attrName>ppt_x</p:attrName>
                                        </p:attrNameLst>
                                      </p:cBhvr>
                                      <p:tavLst>
                                        <p:tav tm="0">
                                          <p:val>
                                            <p:strVal val="#ppt_x"/>
                                          </p:val>
                                        </p:tav>
                                        <p:tav tm="100000">
                                          <p:val>
                                            <p:strVal val="#ppt_x"/>
                                          </p:val>
                                        </p:tav>
                                      </p:tavLst>
                                    </p:anim>
                                    <p:anim calcmode="lin" valueType="num">
                                      <p:cBhvr additive="base">
                                        <p:cTn id="26" dur="500" fill="hold"/>
                                        <p:tgtEl>
                                          <p:spTgt spid="3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anim calcmode="lin" valueType="num">
                                      <p:cBhvr additive="base">
                                        <p:cTn id="29" dur="500" fill="hold"/>
                                        <p:tgtEl>
                                          <p:spTgt spid="32"/>
                                        </p:tgtEl>
                                        <p:attrNameLst>
                                          <p:attrName>ppt_x</p:attrName>
                                        </p:attrNameLst>
                                      </p:cBhvr>
                                      <p:tavLst>
                                        <p:tav tm="0">
                                          <p:val>
                                            <p:strVal val="#ppt_x"/>
                                          </p:val>
                                        </p:tav>
                                        <p:tav tm="100000">
                                          <p:val>
                                            <p:strVal val="#ppt_x"/>
                                          </p:val>
                                        </p:tav>
                                      </p:tavLst>
                                    </p:anim>
                                    <p:anim calcmode="lin" valueType="num">
                                      <p:cBhvr additive="base">
                                        <p:cTn id="30" dur="500" fill="hold"/>
                                        <p:tgtEl>
                                          <p:spTgt spid="32"/>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anim calcmode="lin" valueType="num">
                                      <p:cBhvr additive="base">
                                        <p:cTn id="33" dur="500" fill="hold"/>
                                        <p:tgtEl>
                                          <p:spTgt spid="47"/>
                                        </p:tgtEl>
                                        <p:attrNameLst>
                                          <p:attrName>ppt_x</p:attrName>
                                        </p:attrNameLst>
                                      </p:cBhvr>
                                      <p:tavLst>
                                        <p:tav tm="0">
                                          <p:val>
                                            <p:strVal val="#ppt_x"/>
                                          </p:val>
                                        </p:tav>
                                        <p:tav tm="100000">
                                          <p:val>
                                            <p:strVal val="#ppt_x"/>
                                          </p:val>
                                        </p:tav>
                                      </p:tavLst>
                                    </p:anim>
                                    <p:anim calcmode="lin" valueType="num">
                                      <p:cBhvr additive="base">
                                        <p:cTn id="34" dur="500" fill="hold"/>
                                        <p:tgtEl>
                                          <p:spTgt spid="4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 calcmode="lin" valueType="num">
                                      <p:cBhvr additive="base">
                                        <p:cTn id="37" dur="500" fill="hold"/>
                                        <p:tgtEl>
                                          <p:spTgt spid="42"/>
                                        </p:tgtEl>
                                        <p:attrNameLst>
                                          <p:attrName>ppt_x</p:attrName>
                                        </p:attrNameLst>
                                      </p:cBhvr>
                                      <p:tavLst>
                                        <p:tav tm="0">
                                          <p:val>
                                            <p:strVal val="#ppt_x"/>
                                          </p:val>
                                        </p:tav>
                                        <p:tav tm="100000">
                                          <p:val>
                                            <p:strVal val="#ppt_x"/>
                                          </p:val>
                                        </p:tav>
                                      </p:tavLst>
                                    </p:anim>
                                    <p:anim calcmode="lin" valueType="num">
                                      <p:cBhvr additive="base">
                                        <p:cTn id="3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additive="base">
                                        <p:cTn id="47" dur="500" fill="hold"/>
                                        <p:tgtEl>
                                          <p:spTgt spid="33"/>
                                        </p:tgtEl>
                                        <p:attrNameLst>
                                          <p:attrName>ppt_x</p:attrName>
                                        </p:attrNameLst>
                                      </p:cBhvr>
                                      <p:tavLst>
                                        <p:tav tm="0">
                                          <p:val>
                                            <p:strVal val="#ppt_x"/>
                                          </p:val>
                                        </p:tav>
                                        <p:tav tm="100000">
                                          <p:val>
                                            <p:strVal val="#ppt_x"/>
                                          </p:val>
                                        </p:tav>
                                      </p:tavLst>
                                    </p:anim>
                                    <p:anim calcmode="lin" valueType="num">
                                      <p:cBhvr additive="base">
                                        <p:cTn id="48" dur="500" fill="hold"/>
                                        <p:tgtEl>
                                          <p:spTgt spid="3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anim calcmode="lin" valueType="num">
                                      <p:cBhvr additive="base">
                                        <p:cTn id="51" dur="500" fill="hold"/>
                                        <p:tgtEl>
                                          <p:spTgt spid="48"/>
                                        </p:tgtEl>
                                        <p:attrNameLst>
                                          <p:attrName>ppt_x</p:attrName>
                                        </p:attrNameLst>
                                      </p:cBhvr>
                                      <p:tavLst>
                                        <p:tav tm="0">
                                          <p:val>
                                            <p:strVal val="#ppt_x"/>
                                          </p:val>
                                        </p:tav>
                                        <p:tav tm="100000">
                                          <p:val>
                                            <p:strVal val="#ppt_x"/>
                                          </p:val>
                                        </p:tav>
                                      </p:tavLst>
                                    </p:anim>
                                    <p:anim calcmode="lin" valueType="num">
                                      <p:cBhvr additive="base">
                                        <p:cTn id="52" dur="500" fill="hold"/>
                                        <p:tgtEl>
                                          <p:spTgt spid="48"/>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anim calcmode="lin" valueType="num">
                                      <p:cBhvr additive="base">
                                        <p:cTn id="55" dur="500" fill="hold"/>
                                        <p:tgtEl>
                                          <p:spTgt spid="43"/>
                                        </p:tgtEl>
                                        <p:attrNameLst>
                                          <p:attrName>ppt_x</p:attrName>
                                        </p:attrNameLst>
                                      </p:cBhvr>
                                      <p:tavLst>
                                        <p:tav tm="0">
                                          <p:val>
                                            <p:strVal val="#ppt_x"/>
                                          </p:val>
                                        </p:tav>
                                        <p:tav tm="100000">
                                          <p:val>
                                            <p:strVal val="#ppt_x"/>
                                          </p:val>
                                        </p:tav>
                                      </p:tavLst>
                                    </p:anim>
                                    <p:anim calcmode="lin" valueType="num">
                                      <p:cBhvr additive="base">
                                        <p:cTn id="5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6" grpId="0"/>
      <p:bldP spid="37" grpId="0"/>
      <p:bldP spid="38" grpId="0"/>
      <p:bldP spid="41" grpId="0" animBg="1"/>
      <p:bldP spid="42" grpId="0" animBg="1"/>
      <p:bldP spid="43" grpId="0" animBg="1"/>
      <p:bldP spid="46" grpId="0"/>
      <p:bldP spid="47" grpId="0"/>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CuadroTexto 10">
            <a:extLst>
              <a:ext uri="{FF2B5EF4-FFF2-40B4-BE49-F238E27FC236}">
                <a16:creationId xmlns:a16="http://schemas.microsoft.com/office/drawing/2014/main" id="{280DC3D3-042A-4FBC-84AB-5E5F72824E1E}"/>
              </a:ext>
            </a:extLst>
          </p:cNvPr>
          <p:cNvSpPr txBox="1"/>
          <p:nvPr/>
        </p:nvSpPr>
        <p:spPr>
          <a:xfrm>
            <a:off x="480300" y="734293"/>
            <a:ext cx="7335325" cy="707886"/>
          </a:xfrm>
          <a:prstGeom prst="rect">
            <a:avLst/>
          </a:prstGeom>
          <a:noFill/>
        </p:spPr>
        <p:txBody>
          <a:bodyPr wrap="square" rtlCol="0">
            <a:spAutoFit/>
          </a:bodyPr>
          <a:lstStyle/>
          <a:p>
            <a:r>
              <a:rPr lang="es-PE" sz="4000" dirty="0">
                <a:latin typeface="Futura-Bold" pitchFamily="2" charset="0"/>
              </a:rPr>
              <a:t>Agenda</a:t>
            </a:r>
          </a:p>
        </p:txBody>
      </p:sp>
      <p:sp>
        <p:nvSpPr>
          <p:cNvPr id="31" name="Rectangle 1">
            <a:extLst>
              <a:ext uri="{FF2B5EF4-FFF2-40B4-BE49-F238E27FC236}">
                <a16:creationId xmlns:a16="http://schemas.microsoft.com/office/drawing/2014/main" id="{5AB2D3A9-6F4D-344C-9378-75484DCB9681}"/>
              </a:ext>
            </a:extLst>
          </p:cNvPr>
          <p:cNvSpPr/>
          <p:nvPr/>
        </p:nvSpPr>
        <p:spPr>
          <a:xfrm>
            <a:off x="2904088" y="2070829"/>
            <a:ext cx="891540" cy="8915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Lato Light" panose="020F0502020204030203" pitchFamily="34" charset="0"/>
            </a:endParaRPr>
          </a:p>
        </p:txBody>
      </p:sp>
      <p:sp>
        <p:nvSpPr>
          <p:cNvPr id="36" name="TextBox 6">
            <a:extLst>
              <a:ext uri="{FF2B5EF4-FFF2-40B4-BE49-F238E27FC236}">
                <a16:creationId xmlns:a16="http://schemas.microsoft.com/office/drawing/2014/main" id="{86E61A51-4080-D747-BEEC-36EB62F657E7}"/>
              </a:ext>
            </a:extLst>
          </p:cNvPr>
          <p:cNvSpPr txBox="1"/>
          <p:nvPr/>
        </p:nvSpPr>
        <p:spPr>
          <a:xfrm>
            <a:off x="3045127" y="2050864"/>
            <a:ext cx="609461" cy="977191"/>
          </a:xfrm>
          <a:prstGeom prst="rect">
            <a:avLst/>
          </a:prstGeom>
          <a:noFill/>
        </p:spPr>
        <p:txBody>
          <a:bodyPr wrap="none" rtlCol="0" anchor="ctr">
            <a:spAutoFit/>
          </a:bodyPr>
          <a:lstStyle/>
          <a:p>
            <a:pPr algn="ctr"/>
            <a:r>
              <a:rPr lang="en-US" sz="5750" b="1" dirty="0">
                <a:solidFill>
                  <a:schemeClr val="bg1"/>
                </a:solidFill>
                <a:latin typeface="Poppins" pitchFamily="2" charset="77"/>
                <a:cs typeface="Poppins" pitchFamily="2" charset="77"/>
              </a:rPr>
              <a:t>4</a:t>
            </a:r>
          </a:p>
        </p:txBody>
      </p:sp>
      <p:sp>
        <p:nvSpPr>
          <p:cNvPr id="41" name="Rectangle 13">
            <a:extLst>
              <a:ext uri="{FF2B5EF4-FFF2-40B4-BE49-F238E27FC236}">
                <a16:creationId xmlns:a16="http://schemas.microsoft.com/office/drawing/2014/main" id="{F1DA5C09-0AA0-3A46-98D0-C4584C233D3D}"/>
              </a:ext>
            </a:extLst>
          </p:cNvPr>
          <p:cNvSpPr/>
          <p:nvPr/>
        </p:nvSpPr>
        <p:spPr>
          <a:xfrm>
            <a:off x="3799234" y="2070829"/>
            <a:ext cx="6351474" cy="89154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2">
                  <a:lumMod val="20000"/>
                  <a:lumOff val="80000"/>
                </a:schemeClr>
              </a:solidFill>
              <a:latin typeface="Lato Light" panose="020F0502020204030203" pitchFamily="34" charset="0"/>
            </a:endParaRPr>
          </a:p>
        </p:txBody>
      </p:sp>
      <p:sp>
        <p:nvSpPr>
          <p:cNvPr id="46" name="TextBox 18">
            <a:extLst>
              <a:ext uri="{FF2B5EF4-FFF2-40B4-BE49-F238E27FC236}">
                <a16:creationId xmlns:a16="http://schemas.microsoft.com/office/drawing/2014/main" id="{43A67BBC-AC66-0343-BD39-82BB808757E4}"/>
              </a:ext>
            </a:extLst>
          </p:cNvPr>
          <p:cNvSpPr txBox="1"/>
          <p:nvPr/>
        </p:nvSpPr>
        <p:spPr>
          <a:xfrm>
            <a:off x="4133588" y="2238585"/>
            <a:ext cx="5848612" cy="584775"/>
          </a:xfrm>
          <a:prstGeom prst="rect">
            <a:avLst/>
          </a:prstGeom>
          <a:noFill/>
        </p:spPr>
        <p:txBody>
          <a:bodyPr wrap="square" rtlCol="0" anchor="ctr">
            <a:spAutoFit/>
          </a:bodyPr>
          <a:lstStyle/>
          <a:p>
            <a:r>
              <a:rPr lang="en-US" sz="1600" b="1" dirty="0">
                <a:solidFill>
                  <a:schemeClr val="accent1">
                    <a:lumMod val="50000"/>
                  </a:schemeClr>
                </a:solidFill>
                <a:latin typeface="Poppins" pitchFamily="2" charset="77"/>
                <a:cs typeface="Poppins" pitchFamily="2" charset="77"/>
              </a:rPr>
              <a:t>MI ROL COMO GESTOR DE PROYECTOS: ¿DESDE DÓNDE APORTO AL PROYECTO?</a:t>
            </a:r>
            <a:endParaRPr lang="en-US" sz="1600" b="1" dirty="0">
              <a:solidFill>
                <a:schemeClr val="tx2"/>
              </a:solidFill>
              <a:latin typeface="Poppins" pitchFamily="2" charset="77"/>
              <a:cs typeface="Poppins" pitchFamily="2" charset="77"/>
            </a:endParaRPr>
          </a:p>
        </p:txBody>
      </p:sp>
    </p:spTree>
    <p:extLst>
      <p:ext uri="{BB962C8B-B14F-4D97-AF65-F5344CB8AC3E}">
        <p14:creationId xmlns:p14="http://schemas.microsoft.com/office/powerpoint/2010/main" val="2679682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ppt_x"/>
                                          </p:val>
                                        </p:tav>
                                        <p:tav tm="100000">
                                          <p:val>
                                            <p:strVal val="#ppt_x"/>
                                          </p:val>
                                        </p:tav>
                                      </p:tavLst>
                                    </p:anim>
                                    <p:anim calcmode="lin" valueType="num">
                                      <p:cBhvr additive="base">
                                        <p:cTn id="12" dur="500" fill="hold"/>
                                        <p:tgtEl>
                                          <p:spTgt spid="3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500" fill="hold"/>
                                        <p:tgtEl>
                                          <p:spTgt spid="46"/>
                                        </p:tgtEl>
                                        <p:attrNameLst>
                                          <p:attrName>ppt_x</p:attrName>
                                        </p:attrNameLst>
                                      </p:cBhvr>
                                      <p:tavLst>
                                        <p:tav tm="0">
                                          <p:val>
                                            <p:strVal val="#ppt_x"/>
                                          </p:val>
                                        </p:tav>
                                        <p:tav tm="100000">
                                          <p:val>
                                            <p:strVal val="#ppt_x"/>
                                          </p:val>
                                        </p:tav>
                                      </p:tavLst>
                                    </p:anim>
                                    <p:anim calcmode="lin" valueType="num">
                                      <p:cBhvr additive="base">
                                        <p:cTn id="16" dur="500" fill="hold"/>
                                        <p:tgtEl>
                                          <p:spTgt spid="4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500" fill="hold"/>
                                        <p:tgtEl>
                                          <p:spTgt spid="41"/>
                                        </p:tgtEl>
                                        <p:attrNameLst>
                                          <p:attrName>ppt_x</p:attrName>
                                        </p:attrNameLst>
                                      </p:cBhvr>
                                      <p:tavLst>
                                        <p:tav tm="0">
                                          <p:val>
                                            <p:strVal val="#ppt_x"/>
                                          </p:val>
                                        </p:tav>
                                        <p:tav tm="100000">
                                          <p:val>
                                            <p:strVal val="#ppt_x"/>
                                          </p:val>
                                        </p:tav>
                                      </p:tavLst>
                                    </p:anim>
                                    <p:anim calcmode="lin" valueType="num">
                                      <p:cBhvr additive="base">
                                        <p:cTn id="20"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6" grpId="0"/>
      <p:bldP spid="41" grpId="0" animBg="1"/>
      <p:bldP spid="4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roceso 5"/>
          <p:cNvSpPr/>
          <p:nvPr/>
        </p:nvSpPr>
        <p:spPr>
          <a:xfrm>
            <a:off x="499069" y="1904803"/>
            <a:ext cx="1814733" cy="745587"/>
          </a:xfrm>
          <a:prstGeom prst="flowChartProcess">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s-PE" kern="0" dirty="0">
                <a:solidFill>
                  <a:srgbClr val="2E2B21"/>
                </a:solidFill>
                <a:latin typeface="Tw Cen MT" panose="020B0602020104020603"/>
              </a:rPr>
              <a:t>INGENIERÍA</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7" name="Proceso 6"/>
          <p:cNvSpPr/>
          <p:nvPr/>
        </p:nvSpPr>
        <p:spPr>
          <a:xfrm>
            <a:off x="2313802" y="1904802"/>
            <a:ext cx="2096086" cy="745587"/>
          </a:xfrm>
          <a:prstGeom prst="flowChartProcess">
            <a:avLst/>
          </a:prstGeom>
          <a:solidFill>
            <a:srgbClr val="00B0F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PERMISOS</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8" name="Proceso 7"/>
          <p:cNvSpPr/>
          <p:nvPr/>
        </p:nvSpPr>
        <p:spPr>
          <a:xfrm>
            <a:off x="4409888" y="1904801"/>
            <a:ext cx="5444197" cy="745587"/>
          </a:xfrm>
          <a:prstGeom prst="flowChartProcess">
            <a:avLst/>
          </a:prstGeom>
          <a:solidFill>
            <a:srgbClr val="FFFF0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PROCURA Y CONSTRUCCIÓN</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10" name="Proceso 9"/>
          <p:cNvSpPr/>
          <p:nvPr/>
        </p:nvSpPr>
        <p:spPr>
          <a:xfrm>
            <a:off x="9854085" y="1904801"/>
            <a:ext cx="1814733" cy="745587"/>
          </a:xfrm>
          <a:prstGeom prst="flowChartProcess">
            <a:avLst/>
          </a:prstGeom>
          <a:solidFill>
            <a:srgbClr val="FF000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PUESTA EN MARCHA</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11" name="Decisión 10"/>
          <p:cNvSpPr/>
          <p:nvPr/>
        </p:nvSpPr>
        <p:spPr>
          <a:xfrm>
            <a:off x="2208281" y="2337380"/>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12" name="Decisión 11"/>
          <p:cNvSpPr/>
          <p:nvPr/>
        </p:nvSpPr>
        <p:spPr>
          <a:xfrm>
            <a:off x="4309547" y="2363331"/>
            <a:ext cx="200682" cy="287714"/>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13" name="Decisión 12"/>
          <p:cNvSpPr/>
          <p:nvPr/>
        </p:nvSpPr>
        <p:spPr>
          <a:xfrm>
            <a:off x="9736391" y="2328505"/>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14" name="Decisión 13"/>
          <p:cNvSpPr/>
          <p:nvPr/>
        </p:nvSpPr>
        <p:spPr>
          <a:xfrm>
            <a:off x="11536591" y="2337380"/>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cxnSp>
        <p:nvCxnSpPr>
          <p:cNvPr id="15" name="Conector recto de flecha 14"/>
          <p:cNvCxnSpPr/>
          <p:nvPr/>
        </p:nvCxnSpPr>
        <p:spPr>
          <a:xfrm flipH="1" flipV="1">
            <a:off x="1530259" y="2621985"/>
            <a:ext cx="4527437" cy="958795"/>
          </a:xfrm>
          <a:prstGeom prst="straightConnector1">
            <a:avLst/>
          </a:prstGeom>
          <a:noFill/>
          <a:ln w="25400" cap="flat" cmpd="sng" algn="ctr">
            <a:solidFill>
              <a:srgbClr val="002060"/>
            </a:solidFill>
            <a:prstDash val="solid"/>
            <a:tailEnd type="triangle"/>
          </a:ln>
          <a:effectLst/>
        </p:spPr>
      </p:cxnSp>
      <p:cxnSp>
        <p:nvCxnSpPr>
          <p:cNvPr id="16" name="Conector recto de flecha 15"/>
          <p:cNvCxnSpPr/>
          <p:nvPr/>
        </p:nvCxnSpPr>
        <p:spPr>
          <a:xfrm flipH="1" flipV="1">
            <a:off x="3443692" y="2684395"/>
            <a:ext cx="2614004" cy="896384"/>
          </a:xfrm>
          <a:prstGeom prst="straightConnector1">
            <a:avLst/>
          </a:prstGeom>
          <a:noFill/>
          <a:ln w="25400" cap="flat" cmpd="sng" algn="ctr">
            <a:solidFill>
              <a:srgbClr val="002060"/>
            </a:solidFill>
            <a:prstDash val="solid"/>
            <a:tailEnd type="triangle"/>
          </a:ln>
          <a:effectLst/>
        </p:spPr>
      </p:cxnSp>
      <p:cxnSp>
        <p:nvCxnSpPr>
          <p:cNvPr id="17" name="Conector recto de flecha 16"/>
          <p:cNvCxnSpPr/>
          <p:nvPr/>
        </p:nvCxnSpPr>
        <p:spPr>
          <a:xfrm flipV="1">
            <a:off x="6083979" y="2677590"/>
            <a:ext cx="1004907" cy="903190"/>
          </a:xfrm>
          <a:prstGeom prst="straightConnector1">
            <a:avLst/>
          </a:prstGeom>
          <a:noFill/>
          <a:ln w="25400" cap="flat" cmpd="sng" algn="ctr">
            <a:solidFill>
              <a:srgbClr val="002060"/>
            </a:solidFill>
            <a:prstDash val="solid"/>
            <a:tailEnd type="triangle"/>
          </a:ln>
          <a:effectLst/>
        </p:spPr>
      </p:cxnSp>
      <p:cxnSp>
        <p:nvCxnSpPr>
          <p:cNvPr id="18" name="Conector recto de flecha 17"/>
          <p:cNvCxnSpPr/>
          <p:nvPr/>
        </p:nvCxnSpPr>
        <p:spPr>
          <a:xfrm flipV="1">
            <a:off x="6083979" y="2703550"/>
            <a:ext cx="4670243" cy="877229"/>
          </a:xfrm>
          <a:prstGeom prst="straightConnector1">
            <a:avLst/>
          </a:prstGeom>
          <a:noFill/>
          <a:ln w="25400" cap="flat" cmpd="sng" algn="ctr">
            <a:solidFill>
              <a:srgbClr val="002060"/>
            </a:solidFill>
            <a:prstDash val="solid"/>
            <a:tailEnd type="triangle"/>
          </a:ln>
          <a:effectLst/>
        </p:spPr>
      </p:cxnSp>
      <p:sp>
        <p:nvSpPr>
          <p:cNvPr id="19" name="Rectángulo redondeado 18"/>
          <p:cNvSpPr/>
          <p:nvPr/>
        </p:nvSpPr>
        <p:spPr>
          <a:xfrm>
            <a:off x="1457576" y="3596582"/>
            <a:ext cx="9383150" cy="1552278"/>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20" name="Rectángulo redondeado 19"/>
          <p:cNvSpPr/>
          <p:nvPr/>
        </p:nvSpPr>
        <p:spPr>
          <a:xfrm>
            <a:off x="3942571" y="5549323"/>
            <a:ext cx="4533363" cy="807027"/>
          </a:xfrm>
          <a:prstGeom prst="roundRect">
            <a:avLst/>
          </a:prstGeom>
          <a:solidFill>
            <a:srgbClr val="605B4F"/>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10 ÁREAS DE CONOCIMIENTO</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21" name="Proceso alternativo 20"/>
          <p:cNvSpPr/>
          <p:nvPr/>
        </p:nvSpPr>
        <p:spPr>
          <a:xfrm>
            <a:off x="1817014" y="4170050"/>
            <a:ext cx="1396449" cy="812369"/>
          </a:xfrm>
          <a:prstGeom prst="flowChartAlternateProcess">
            <a:avLst/>
          </a:prstGeom>
          <a:solidFill>
            <a:srgbClr val="FFFFFF"/>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PROCESOS DE INICIACIÓN</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22" name="Proceso alternativo 21"/>
          <p:cNvSpPr/>
          <p:nvPr/>
        </p:nvSpPr>
        <p:spPr>
          <a:xfrm>
            <a:off x="3348738" y="4170050"/>
            <a:ext cx="1800170" cy="812369"/>
          </a:xfrm>
          <a:prstGeom prst="flowChartAlternateProcess">
            <a:avLst/>
          </a:prstGeom>
          <a:solidFill>
            <a:srgbClr val="FFFFFF"/>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PROCESOS DE PLANIFICACIÓN</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23" name="Proceso alternativo 22"/>
          <p:cNvSpPr/>
          <p:nvPr/>
        </p:nvSpPr>
        <p:spPr>
          <a:xfrm>
            <a:off x="5298965" y="4149323"/>
            <a:ext cx="1682965" cy="812369"/>
          </a:xfrm>
          <a:prstGeom prst="flowChartAlternateProcess">
            <a:avLst/>
          </a:prstGeom>
          <a:solidFill>
            <a:srgbClr val="FFFFFF"/>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PROCESOS DE EJECUCIÓN</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24" name="Proceso alternativo 23"/>
          <p:cNvSpPr/>
          <p:nvPr/>
        </p:nvSpPr>
        <p:spPr>
          <a:xfrm>
            <a:off x="7131987" y="4149324"/>
            <a:ext cx="1869594" cy="812369"/>
          </a:xfrm>
          <a:prstGeom prst="flowChartAlternateProcess">
            <a:avLst/>
          </a:prstGeom>
          <a:solidFill>
            <a:srgbClr val="FFFFFF"/>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PROCESOS DE MONITOREO Y CONTROL</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25" name="Proceso alternativo 24"/>
          <p:cNvSpPr/>
          <p:nvPr/>
        </p:nvSpPr>
        <p:spPr>
          <a:xfrm>
            <a:off x="9153060" y="4170050"/>
            <a:ext cx="1396449" cy="812369"/>
          </a:xfrm>
          <a:prstGeom prst="flowChartAlternateProcess">
            <a:avLst/>
          </a:prstGeom>
          <a:solidFill>
            <a:srgbClr val="FFFFFF"/>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PROCESOS DE CIERRE</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26" name="CuadroTexto 25"/>
          <p:cNvSpPr txBox="1"/>
          <p:nvPr/>
        </p:nvSpPr>
        <p:spPr>
          <a:xfrm>
            <a:off x="4885701" y="3685503"/>
            <a:ext cx="2883877" cy="369332"/>
          </a:xfrm>
          <a:prstGeom prst="rect">
            <a:avLst/>
          </a:prstGeom>
          <a:noFill/>
        </p:spPr>
        <p:txBody>
          <a:bodyPr wrap="square" rtlCol="0">
            <a:spAutoFit/>
          </a:bodyPr>
          <a:lstStyle/>
          <a:p>
            <a:r>
              <a:rPr lang="es-PE" dirty="0">
                <a:solidFill>
                  <a:srgbClr val="2E2B21"/>
                </a:solidFill>
                <a:latin typeface="Tw Cen MT" panose="020B0602020104020603"/>
              </a:rPr>
              <a:t>05 GRUPOS DE PROCESOS</a:t>
            </a:r>
            <a:endParaRPr lang="en-US" dirty="0">
              <a:solidFill>
                <a:srgbClr val="2E2B21"/>
              </a:solidFill>
              <a:latin typeface="Tw Cen MT" panose="020B0602020104020603"/>
            </a:endParaRPr>
          </a:p>
        </p:txBody>
      </p:sp>
      <p:cxnSp>
        <p:nvCxnSpPr>
          <p:cNvPr id="27" name="Conector recto de flecha 26"/>
          <p:cNvCxnSpPr>
            <a:stCxn id="20" idx="0"/>
          </p:cNvCxnSpPr>
          <p:nvPr/>
        </p:nvCxnSpPr>
        <p:spPr>
          <a:xfrm flipH="1" flipV="1">
            <a:off x="2440871" y="5035581"/>
            <a:ext cx="3768382" cy="513742"/>
          </a:xfrm>
          <a:prstGeom prst="straightConnector1">
            <a:avLst/>
          </a:prstGeom>
          <a:noFill/>
          <a:ln w="25400" cap="flat" cmpd="sng" algn="ctr">
            <a:solidFill>
              <a:srgbClr val="002060"/>
            </a:solidFill>
            <a:prstDash val="solid"/>
            <a:tailEnd type="triangle"/>
          </a:ln>
          <a:effectLst/>
        </p:spPr>
      </p:cxnSp>
      <p:cxnSp>
        <p:nvCxnSpPr>
          <p:cNvPr id="28" name="Conector recto de flecha 27"/>
          <p:cNvCxnSpPr>
            <a:endCxn id="22" idx="2"/>
          </p:cNvCxnSpPr>
          <p:nvPr/>
        </p:nvCxnSpPr>
        <p:spPr>
          <a:xfrm flipH="1" flipV="1">
            <a:off x="4248823" y="4982419"/>
            <a:ext cx="1973011" cy="552742"/>
          </a:xfrm>
          <a:prstGeom prst="straightConnector1">
            <a:avLst/>
          </a:prstGeom>
          <a:noFill/>
          <a:ln w="25400" cap="flat" cmpd="sng" algn="ctr">
            <a:solidFill>
              <a:srgbClr val="002060"/>
            </a:solidFill>
            <a:prstDash val="solid"/>
            <a:tailEnd type="triangle"/>
          </a:ln>
          <a:effectLst/>
        </p:spPr>
      </p:cxnSp>
      <p:cxnSp>
        <p:nvCxnSpPr>
          <p:cNvPr id="29" name="Conector recto de flecha 28"/>
          <p:cNvCxnSpPr/>
          <p:nvPr/>
        </p:nvCxnSpPr>
        <p:spPr>
          <a:xfrm flipV="1">
            <a:off x="6221834" y="4982419"/>
            <a:ext cx="0" cy="552742"/>
          </a:xfrm>
          <a:prstGeom prst="straightConnector1">
            <a:avLst/>
          </a:prstGeom>
          <a:noFill/>
          <a:ln w="25400" cap="flat" cmpd="sng" algn="ctr">
            <a:solidFill>
              <a:srgbClr val="002060"/>
            </a:solidFill>
            <a:prstDash val="solid"/>
            <a:tailEnd type="triangle"/>
          </a:ln>
          <a:effectLst/>
        </p:spPr>
      </p:cxnSp>
      <p:cxnSp>
        <p:nvCxnSpPr>
          <p:cNvPr id="30" name="Conector recto de flecha 29"/>
          <p:cNvCxnSpPr>
            <a:stCxn id="20" idx="0"/>
          </p:cNvCxnSpPr>
          <p:nvPr/>
        </p:nvCxnSpPr>
        <p:spPr>
          <a:xfrm flipV="1">
            <a:off x="6209253" y="5027005"/>
            <a:ext cx="1857531" cy="522318"/>
          </a:xfrm>
          <a:prstGeom prst="straightConnector1">
            <a:avLst/>
          </a:prstGeom>
          <a:noFill/>
          <a:ln w="25400" cap="flat" cmpd="sng" algn="ctr">
            <a:solidFill>
              <a:srgbClr val="002060"/>
            </a:solidFill>
            <a:prstDash val="solid"/>
            <a:tailEnd type="triangle"/>
          </a:ln>
          <a:effectLst/>
        </p:spPr>
      </p:cxnSp>
      <p:cxnSp>
        <p:nvCxnSpPr>
          <p:cNvPr id="31" name="Conector recto de flecha 30"/>
          <p:cNvCxnSpPr>
            <a:stCxn id="20" idx="0"/>
            <a:endCxn id="25" idx="2"/>
          </p:cNvCxnSpPr>
          <p:nvPr/>
        </p:nvCxnSpPr>
        <p:spPr>
          <a:xfrm flipV="1">
            <a:off x="6209253" y="4982419"/>
            <a:ext cx="3642032" cy="566904"/>
          </a:xfrm>
          <a:prstGeom prst="straightConnector1">
            <a:avLst/>
          </a:prstGeom>
          <a:noFill/>
          <a:ln w="25400" cap="flat" cmpd="sng" algn="ctr">
            <a:solidFill>
              <a:srgbClr val="002060"/>
            </a:solidFill>
            <a:prstDash val="solid"/>
            <a:tailEnd type="triangle"/>
          </a:ln>
          <a:effectLst/>
        </p:spPr>
      </p:cxnSp>
      <p:sp>
        <p:nvSpPr>
          <p:cNvPr id="32" name="Título 1"/>
          <p:cNvSpPr>
            <a:spLocks noGrp="1"/>
          </p:cNvSpPr>
          <p:nvPr>
            <p:ph type="title"/>
          </p:nvPr>
        </p:nvSpPr>
        <p:spPr>
          <a:xfrm>
            <a:off x="292289" y="377263"/>
            <a:ext cx="8360392" cy="1325563"/>
          </a:xfrm>
        </p:spPr>
        <p:txBody>
          <a:bodyPr>
            <a:normAutofit fontScale="90000"/>
          </a:bodyPr>
          <a:lstStyle/>
          <a:p>
            <a:r>
              <a:rPr lang="es-ES" b="1" dirty="0"/>
              <a:t>01. LOS PROCESOS MACRO DE LA GESTIÓN DE PROYECTOS – 6ta EDICIÓN</a:t>
            </a:r>
            <a:endParaRPr lang="en-US" b="1" dirty="0"/>
          </a:p>
        </p:txBody>
      </p:sp>
    </p:spTree>
    <p:extLst>
      <p:ext uri="{BB962C8B-B14F-4D97-AF65-F5344CB8AC3E}">
        <p14:creationId xmlns:p14="http://schemas.microsoft.com/office/powerpoint/2010/main" val="3693339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49451" y="1862403"/>
            <a:ext cx="9144116" cy="4840617"/>
          </a:xfrm>
          <a:prstGeom prst="rect">
            <a:avLst/>
          </a:prstGeom>
        </p:spPr>
      </p:pic>
      <p:sp>
        <p:nvSpPr>
          <p:cNvPr id="6" name="Flecha izquierda 5"/>
          <p:cNvSpPr/>
          <p:nvPr/>
        </p:nvSpPr>
        <p:spPr>
          <a:xfrm>
            <a:off x="9601314" y="2545933"/>
            <a:ext cx="2146401" cy="3319975"/>
          </a:xfrm>
          <a:prstGeom prst="leftArrow">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400" b="1" i="0" u="none" strike="noStrike" kern="0" cap="none" spc="0" normalizeH="0" baseline="0" noProof="0" dirty="0">
                <a:ln>
                  <a:noFill/>
                </a:ln>
                <a:solidFill>
                  <a:srgbClr val="FFFFFF"/>
                </a:solidFill>
                <a:effectLst/>
                <a:uLnTx/>
                <a:uFillTx/>
                <a:latin typeface="Tw Cen MT" panose="020B0602020104020603"/>
                <a:ea typeface="+mn-ea"/>
                <a:cs typeface="+mn-cs"/>
              </a:rPr>
              <a:t>ÁREAS DE CONOCIMIENTO</a:t>
            </a:r>
            <a:endParaRPr kumimoji="0" lang="en-US" sz="1400" b="1"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4" name="Título 1">
            <a:extLst>
              <a:ext uri="{FF2B5EF4-FFF2-40B4-BE49-F238E27FC236}">
                <a16:creationId xmlns:a16="http://schemas.microsoft.com/office/drawing/2014/main" id="{9DA36D43-2537-346C-8C26-DD2F509DA3ED}"/>
              </a:ext>
            </a:extLst>
          </p:cNvPr>
          <p:cNvSpPr>
            <a:spLocks noGrp="1"/>
          </p:cNvSpPr>
          <p:nvPr>
            <p:ph type="title"/>
          </p:nvPr>
        </p:nvSpPr>
        <p:spPr>
          <a:xfrm>
            <a:off x="292289" y="377263"/>
            <a:ext cx="8360392" cy="1325563"/>
          </a:xfrm>
        </p:spPr>
        <p:txBody>
          <a:bodyPr>
            <a:normAutofit fontScale="90000"/>
          </a:bodyPr>
          <a:lstStyle/>
          <a:p>
            <a:r>
              <a:rPr lang="es-ES" b="1" dirty="0"/>
              <a:t>01. LOS PROCESOS MACRO DE LA GESTIÓN DE PROYECTOS – 6ta EDICIÓN</a:t>
            </a:r>
            <a:endParaRPr lang="en-US" b="1" dirty="0"/>
          </a:p>
        </p:txBody>
      </p:sp>
    </p:spTree>
    <p:extLst>
      <p:ext uri="{BB962C8B-B14F-4D97-AF65-F5344CB8AC3E}">
        <p14:creationId xmlns:p14="http://schemas.microsoft.com/office/powerpoint/2010/main" val="3198693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Imagen 31"/>
          <p:cNvPicPr>
            <a:picLocks noChangeAspect="1"/>
          </p:cNvPicPr>
          <p:nvPr/>
        </p:nvPicPr>
        <p:blipFill>
          <a:blip r:embed="rId2"/>
          <a:stretch>
            <a:fillRect/>
          </a:stretch>
        </p:blipFill>
        <p:spPr>
          <a:xfrm>
            <a:off x="1885344" y="2412438"/>
            <a:ext cx="8300322" cy="2736536"/>
          </a:xfrm>
          <a:prstGeom prst="rect">
            <a:avLst/>
          </a:prstGeom>
        </p:spPr>
      </p:pic>
      <p:sp>
        <p:nvSpPr>
          <p:cNvPr id="33" name="CuadroTexto 32"/>
          <p:cNvSpPr txBox="1"/>
          <p:nvPr/>
        </p:nvSpPr>
        <p:spPr>
          <a:xfrm>
            <a:off x="4087205" y="5381449"/>
            <a:ext cx="4552780" cy="646331"/>
          </a:xfrm>
          <a:prstGeom prst="rect">
            <a:avLst/>
          </a:prstGeom>
          <a:noFill/>
        </p:spPr>
        <p:txBody>
          <a:bodyPr wrap="square" rtlCol="0">
            <a:spAutoFit/>
          </a:bodyPr>
          <a:lstStyle/>
          <a:p>
            <a:pPr algn="ctr"/>
            <a:r>
              <a:rPr lang="es-PE" dirty="0">
                <a:latin typeface="Tw Cen MT" panose="020B0602020104020603"/>
              </a:rPr>
              <a:t>ITERACIÓN DE LOS GRUPOS DE PROCESOS DENTRO DE UN PROYECTO O FASE</a:t>
            </a:r>
            <a:endParaRPr lang="en-US" dirty="0">
              <a:latin typeface="Tw Cen MT" panose="020B0602020104020603"/>
            </a:endParaRPr>
          </a:p>
        </p:txBody>
      </p:sp>
      <p:sp>
        <p:nvSpPr>
          <p:cNvPr id="4" name="Título 1">
            <a:extLst>
              <a:ext uri="{FF2B5EF4-FFF2-40B4-BE49-F238E27FC236}">
                <a16:creationId xmlns:a16="http://schemas.microsoft.com/office/drawing/2014/main" id="{074E7769-D809-2524-3F27-3FB0816E121E}"/>
              </a:ext>
            </a:extLst>
          </p:cNvPr>
          <p:cNvSpPr>
            <a:spLocks noGrp="1"/>
          </p:cNvSpPr>
          <p:nvPr>
            <p:ph type="title"/>
          </p:nvPr>
        </p:nvSpPr>
        <p:spPr>
          <a:xfrm>
            <a:off x="292289" y="377263"/>
            <a:ext cx="8360392" cy="1325563"/>
          </a:xfrm>
        </p:spPr>
        <p:txBody>
          <a:bodyPr>
            <a:normAutofit fontScale="90000"/>
          </a:bodyPr>
          <a:lstStyle/>
          <a:p>
            <a:r>
              <a:rPr lang="es-ES" b="1" dirty="0"/>
              <a:t>01. LOS PROCESOS MACRO DE LA GESTIÓN DE PROYECTOS – 6ta EDICIÓN</a:t>
            </a:r>
            <a:endParaRPr lang="en-US" b="1" dirty="0"/>
          </a:p>
        </p:txBody>
      </p:sp>
    </p:spTree>
    <p:extLst>
      <p:ext uri="{BB962C8B-B14F-4D97-AF65-F5344CB8AC3E}">
        <p14:creationId xmlns:p14="http://schemas.microsoft.com/office/powerpoint/2010/main" val="283170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a:picLocks noChangeAspect="1"/>
          </p:cNvPicPr>
          <p:nvPr/>
        </p:nvPicPr>
        <p:blipFill rotWithShape="1">
          <a:blip r:embed="rId2"/>
          <a:srcRect l="6788" t="14041" r="10623" b="17099"/>
          <a:stretch/>
        </p:blipFill>
        <p:spPr>
          <a:xfrm>
            <a:off x="2203437" y="1448514"/>
            <a:ext cx="7757829" cy="4998203"/>
          </a:xfrm>
          <a:prstGeom prst="rect">
            <a:avLst/>
          </a:prstGeom>
        </p:spPr>
      </p:pic>
      <p:sp>
        <p:nvSpPr>
          <p:cNvPr id="5" name="Título 1"/>
          <p:cNvSpPr>
            <a:spLocks noGrp="1"/>
          </p:cNvSpPr>
          <p:nvPr>
            <p:ph type="title"/>
          </p:nvPr>
        </p:nvSpPr>
        <p:spPr>
          <a:xfrm>
            <a:off x="292289" y="377263"/>
            <a:ext cx="10515600" cy="1325563"/>
          </a:xfrm>
        </p:spPr>
        <p:txBody>
          <a:bodyPr/>
          <a:lstStyle/>
          <a:p>
            <a:r>
              <a:rPr lang="es-ES" b="1" dirty="0"/>
              <a:t>DE LA 6ta A LA 7ma EDICIÓN</a:t>
            </a:r>
            <a:endParaRPr lang="en-US" b="1" dirty="0"/>
          </a:p>
        </p:txBody>
      </p:sp>
    </p:spTree>
    <p:extLst>
      <p:ext uri="{BB962C8B-B14F-4D97-AF65-F5344CB8AC3E}">
        <p14:creationId xmlns:p14="http://schemas.microsoft.com/office/powerpoint/2010/main" val="2124375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ángulo 13">
            <a:hlinkClick r:id="rId2"/>
            <a:extLst>
              <a:ext uri="{FF2B5EF4-FFF2-40B4-BE49-F238E27FC236}">
                <a16:creationId xmlns:a16="http://schemas.microsoft.com/office/drawing/2014/main" id="{7B96E061-6B28-4B27-A40C-4AC919FA18F4}"/>
              </a:ext>
            </a:extLst>
          </p:cNvPr>
          <p:cNvSpPr/>
          <p:nvPr/>
        </p:nvSpPr>
        <p:spPr>
          <a:xfrm>
            <a:off x="452789" y="6714478"/>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Rectángulo 14">
            <a:hlinkClick r:id="rId3"/>
            <a:extLst>
              <a:ext uri="{FF2B5EF4-FFF2-40B4-BE49-F238E27FC236}">
                <a16:creationId xmlns:a16="http://schemas.microsoft.com/office/drawing/2014/main" id="{46BABD7D-8BAF-4EA4-A549-45A745C7D66C}"/>
              </a:ext>
            </a:extLst>
          </p:cNvPr>
          <p:cNvSpPr/>
          <p:nvPr/>
        </p:nvSpPr>
        <p:spPr>
          <a:xfrm>
            <a:off x="802320" y="6714479"/>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Rectángulo 15">
            <a:hlinkClick r:id="rId4"/>
            <a:extLst>
              <a:ext uri="{FF2B5EF4-FFF2-40B4-BE49-F238E27FC236}">
                <a16:creationId xmlns:a16="http://schemas.microsoft.com/office/drawing/2014/main" id="{E5B07E67-A089-4608-951D-824EA803B2C8}"/>
              </a:ext>
            </a:extLst>
          </p:cNvPr>
          <p:cNvSpPr/>
          <p:nvPr/>
        </p:nvSpPr>
        <p:spPr>
          <a:xfrm>
            <a:off x="1127892" y="6714479"/>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Rectángulo 16">
            <a:hlinkClick r:id="rId5"/>
            <a:extLst>
              <a:ext uri="{FF2B5EF4-FFF2-40B4-BE49-F238E27FC236}">
                <a16:creationId xmlns:a16="http://schemas.microsoft.com/office/drawing/2014/main" id="{B2CCC631-FFDD-4E26-9159-C5BB2FC4F05C}"/>
              </a:ext>
            </a:extLst>
          </p:cNvPr>
          <p:cNvSpPr/>
          <p:nvPr/>
        </p:nvSpPr>
        <p:spPr>
          <a:xfrm>
            <a:off x="1482698" y="6697810"/>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aphicFrame>
        <p:nvGraphicFramePr>
          <p:cNvPr id="10" name="Tabla 9"/>
          <p:cNvGraphicFramePr>
            <a:graphicFrameLocks noGrp="1"/>
          </p:cNvGraphicFramePr>
          <p:nvPr/>
        </p:nvGraphicFramePr>
        <p:xfrm>
          <a:off x="452789" y="1942572"/>
          <a:ext cx="11294927" cy="3041099"/>
        </p:xfrm>
        <a:graphic>
          <a:graphicData uri="http://schemas.openxmlformats.org/drawingml/2006/table">
            <a:tbl>
              <a:tblPr firstRow="1" bandRow="1"/>
              <a:tblGrid>
                <a:gridCol w="1613561">
                  <a:extLst>
                    <a:ext uri="{9D8B030D-6E8A-4147-A177-3AD203B41FA5}">
                      <a16:colId xmlns:a16="http://schemas.microsoft.com/office/drawing/2014/main" val="20000"/>
                    </a:ext>
                  </a:extLst>
                </a:gridCol>
                <a:gridCol w="1613561">
                  <a:extLst>
                    <a:ext uri="{9D8B030D-6E8A-4147-A177-3AD203B41FA5}">
                      <a16:colId xmlns:a16="http://schemas.microsoft.com/office/drawing/2014/main" val="20001"/>
                    </a:ext>
                  </a:extLst>
                </a:gridCol>
                <a:gridCol w="1613561">
                  <a:extLst>
                    <a:ext uri="{9D8B030D-6E8A-4147-A177-3AD203B41FA5}">
                      <a16:colId xmlns:a16="http://schemas.microsoft.com/office/drawing/2014/main" val="20002"/>
                    </a:ext>
                  </a:extLst>
                </a:gridCol>
                <a:gridCol w="1613561">
                  <a:extLst>
                    <a:ext uri="{9D8B030D-6E8A-4147-A177-3AD203B41FA5}">
                      <a16:colId xmlns:a16="http://schemas.microsoft.com/office/drawing/2014/main" val="20003"/>
                    </a:ext>
                  </a:extLst>
                </a:gridCol>
                <a:gridCol w="1613561">
                  <a:extLst>
                    <a:ext uri="{9D8B030D-6E8A-4147-A177-3AD203B41FA5}">
                      <a16:colId xmlns:a16="http://schemas.microsoft.com/office/drawing/2014/main" val="20004"/>
                    </a:ext>
                  </a:extLst>
                </a:gridCol>
                <a:gridCol w="1613561">
                  <a:extLst>
                    <a:ext uri="{9D8B030D-6E8A-4147-A177-3AD203B41FA5}">
                      <a16:colId xmlns:a16="http://schemas.microsoft.com/office/drawing/2014/main" val="20005"/>
                    </a:ext>
                  </a:extLst>
                </a:gridCol>
                <a:gridCol w="1613561">
                  <a:extLst>
                    <a:ext uri="{9D8B030D-6E8A-4147-A177-3AD203B41FA5}">
                      <a16:colId xmlns:a16="http://schemas.microsoft.com/office/drawing/2014/main" val="20006"/>
                    </a:ext>
                  </a:extLst>
                </a:gridCol>
              </a:tblGrid>
              <a:tr h="693341">
                <a:tc rowSpan="2">
                  <a:txBody>
                    <a:bodyPr/>
                    <a:lstStyle>
                      <a:lvl1pPr marL="0" algn="l" defTabSz="914400" rtl="0" eaLnBrk="1" latinLnBrk="0" hangingPunct="1">
                        <a:defRPr sz="1800" b="1" kern="1200">
                          <a:solidFill>
                            <a:schemeClr val="lt1"/>
                          </a:solidFill>
                          <a:latin typeface="Tw Cen MT" panose="020B0602020104020603"/>
                        </a:defRPr>
                      </a:lvl1pPr>
                      <a:lvl2pPr marL="457200" algn="l" defTabSz="914400" rtl="0" eaLnBrk="1" latinLnBrk="0" hangingPunct="1">
                        <a:defRPr sz="1800" b="1" kern="1200">
                          <a:solidFill>
                            <a:schemeClr val="lt1"/>
                          </a:solidFill>
                          <a:latin typeface="Tw Cen MT" panose="020B0602020104020603"/>
                        </a:defRPr>
                      </a:lvl2pPr>
                      <a:lvl3pPr marL="914400" algn="l" defTabSz="914400" rtl="0" eaLnBrk="1" latinLnBrk="0" hangingPunct="1">
                        <a:defRPr sz="1800" b="1" kern="1200">
                          <a:solidFill>
                            <a:schemeClr val="lt1"/>
                          </a:solidFill>
                          <a:latin typeface="Tw Cen MT" panose="020B0602020104020603"/>
                        </a:defRPr>
                      </a:lvl3pPr>
                      <a:lvl4pPr marL="1371600" algn="l" defTabSz="914400" rtl="0" eaLnBrk="1" latinLnBrk="0" hangingPunct="1">
                        <a:defRPr sz="1800" b="1" kern="1200">
                          <a:solidFill>
                            <a:schemeClr val="lt1"/>
                          </a:solidFill>
                          <a:latin typeface="Tw Cen MT" panose="020B0602020104020603"/>
                        </a:defRPr>
                      </a:lvl4pPr>
                      <a:lvl5pPr marL="1828800" algn="l" defTabSz="914400" rtl="0" eaLnBrk="1" latinLnBrk="0" hangingPunct="1">
                        <a:defRPr sz="1800" b="1" kern="1200">
                          <a:solidFill>
                            <a:schemeClr val="lt1"/>
                          </a:solidFill>
                          <a:latin typeface="Tw Cen MT" panose="020B0602020104020603"/>
                        </a:defRPr>
                      </a:lvl5pPr>
                      <a:lvl6pPr marL="2286000" algn="l" defTabSz="914400" rtl="0" eaLnBrk="1" latinLnBrk="0" hangingPunct="1">
                        <a:defRPr sz="1800" b="1" kern="1200">
                          <a:solidFill>
                            <a:schemeClr val="lt1"/>
                          </a:solidFill>
                          <a:latin typeface="Tw Cen MT" panose="020B0602020104020603"/>
                        </a:defRPr>
                      </a:lvl6pPr>
                      <a:lvl7pPr marL="2743200" algn="l" defTabSz="914400" rtl="0" eaLnBrk="1" latinLnBrk="0" hangingPunct="1">
                        <a:defRPr sz="1800" b="1" kern="1200">
                          <a:solidFill>
                            <a:schemeClr val="lt1"/>
                          </a:solidFill>
                          <a:latin typeface="Tw Cen MT" panose="020B0602020104020603"/>
                        </a:defRPr>
                      </a:lvl7pPr>
                      <a:lvl8pPr marL="3200400" algn="l" defTabSz="914400" rtl="0" eaLnBrk="1" latinLnBrk="0" hangingPunct="1">
                        <a:defRPr sz="1800" b="1" kern="1200">
                          <a:solidFill>
                            <a:schemeClr val="lt1"/>
                          </a:solidFill>
                          <a:latin typeface="Tw Cen MT" panose="020B0602020104020603"/>
                        </a:defRPr>
                      </a:lvl8pPr>
                      <a:lvl9pPr marL="3657600" algn="l" defTabSz="914400" rtl="0" eaLnBrk="1" latinLnBrk="0" hangingPunct="1">
                        <a:defRPr sz="1800" b="1" kern="1200">
                          <a:solidFill>
                            <a:schemeClr val="lt1"/>
                          </a:solidFill>
                          <a:latin typeface="Tw Cen MT" panose="020B0602020104020603"/>
                        </a:defRPr>
                      </a:lvl9pPr>
                    </a:lstStyle>
                    <a:p>
                      <a:pPr algn="ctr"/>
                      <a:r>
                        <a:rPr lang="es-PE" dirty="0"/>
                        <a:t>Tipo de estructura de la organización</a:t>
                      </a:r>
                      <a:endParaRPr lang="en-US" dirty="0"/>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2E2B21"/>
                    </a:solidFill>
                  </a:tcPr>
                </a:tc>
                <a:tc gridSpan="6">
                  <a:txBody>
                    <a:bodyPr/>
                    <a:lstStyle>
                      <a:lvl1pPr marL="0" algn="l" defTabSz="914400" rtl="0" eaLnBrk="1" latinLnBrk="0" hangingPunct="1">
                        <a:defRPr sz="1800" b="1" kern="1200">
                          <a:solidFill>
                            <a:schemeClr val="lt1"/>
                          </a:solidFill>
                          <a:latin typeface="Tw Cen MT" panose="020B0602020104020603"/>
                        </a:defRPr>
                      </a:lvl1pPr>
                      <a:lvl2pPr marL="457200" algn="l" defTabSz="914400" rtl="0" eaLnBrk="1" latinLnBrk="0" hangingPunct="1">
                        <a:defRPr sz="1800" b="1" kern="1200">
                          <a:solidFill>
                            <a:schemeClr val="lt1"/>
                          </a:solidFill>
                          <a:latin typeface="Tw Cen MT" panose="020B0602020104020603"/>
                        </a:defRPr>
                      </a:lvl2pPr>
                      <a:lvl3pPr marL="914400" algn="l" defTabSz="914400" rtl="0" eaLnBrk="1" latinLnBrk="0" hangingPunct="1">
                        <a:defRPr sz="1800" b="1" kern="1200">
                          <a:solidFill>
                            <a:schemeClr val="lt1"/>
                          </a:solidFill>
                          <a:latin typeface="Tw Cen MT" panose="020B0602020104020603"/>
                        </a:defRPr>
                      </a:lvl3pPr>
                      <a:lvl4pPr marL="1371600" algn="l" defTabSz="914400" rtl="0" eaLnBrk="1" latinLnBrk="0" hangingPunct="1">
                        <a:defRPr sz="1800" b="1" kern="1200">
                          <a:solidFill>
                            <a:schemeClr val="lt1"/>
                          </a:solidFill>
                          <a:latin typeface="Tw Cen MT" panose="020B0602020104020603"/>
                        </a:defRPr>
                      </a:lvl4pPr>
                      <a:lvl5pPr marL="1828800" algn="l" defTabSz="914400" rtl="0" eaLnBrk="1" latinLnBrk="0" hangingPunct="1">
                        <a:defRPr sz="1800" b="1" kern="1200">
                          <a:solidFill>
                            <a:schemeClr val="lt1"/>
                          </a:solidFill>
                          <a:latin typeface="Tw Cen MT" panose="020B0602020104020603"/>
                        </a:defRPr>
                      </a:lvl5pPr>
                      <a:lvl6pPr marL="2286000" algn="l" defTabSz="914400" rtl="0" eaLnBrk="1" latinLnBrk="0" hangingPunct="1">
                        <a:defRPr sz="1800" b="1" kern="1200">
                          <a:solidFill>
                            <a:schemeClr val="lt1"/>
                          </a:solidFill>
                          <a:latin typeface="Tw Cen MT" panose="020B0602020104020603"/>
                        </a:defRPr>
                      </a:lvl6pPr>
                      <a:lvl7pPr marL="2743200" algn="l" defTabSz="914400" rtl="0" eaLnBrk="1" latinLnBrk="0" hangingPunct="1">
                        <a:defRPr sz="1800" b="1" kern="1200">
                          <a:solidFill>
                            <a:schemeClr val="lt1"/>
                          </a:solidFill>
                          <a:latin typeface="Tw Cen MT" panose="020B0602020104020603"/>
                        </a:defRPr>
                      </a:lvl7pPr>
                      <a:lvl8pPr marL="3200400" algn="l" defTabSz="914400" rtl="0" eaLnBrk="1" latinLnBrk="0" hangingPunct="1">
                        <a:defRPr sz="1800" b="1" kern="1200">
                          <a:solidFill>
                            <a:schemeClr val="lt1"/>
                          </a:solidFill>
                          <a:latin typeface="Tw Cen MT" panose="020B0602020104020603"/>
                        </a:defRPr>
                      </a:lvl8pPr>
                      <a:lvl9pPr marL="3657600" algn="l" defTabSz="914400" rtl="0" eaLnBrk="1" latinLnBrk="0" hangingPunct="1">
                        <a:defRPr sz="1800" b="1" kern="1200">
                          <a:solidFill>
                            <a:schemeClr val="lt1"/>
                          </a:solidFill>
                          <a:latin typeface="Tw Cen MT" panose="020B0602020104020603"/>
                        </a:defRPr>
                      </a:lvl9pPr>
                    </a:lstStyle>
                    <a:p>
                      <a:pPr algn="ctr"/>
                      <a:r>
                        <a:rPr lang="es-PE" dirty="0"/>
                        <a:t>Características del proyecto</a:t>
                      </a:r>
                      <a:endParaRPr lang="en-US" dirty="0"/>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2E2B21"/>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1217402">
                <a:tc vMerge="1">
                  <a:txBody>
                    <a:bodyPr/>
                    <a:lstStyle/>
                    <a:p>
                      <a:endParaRPr lang="en-US" dirty="0"/>
                    </a:p>
                  </a:txBody>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dirty="0"/>
                        <a:t>Distribución</a:t>
                      </a:r>
                      <a:r>
                        <a:rPr lang="es-PE" baseline="0" dirty="0"/>
                        <a:t> de equipos de trabajo</a:t>
                      </a:r>
                      <a:endParaRPr lang="en-US" dirty="0"/>
                    </a:p>
                  </a:txBody>
                  <a:tcPr anchor="ctr">
                    <a:lnL w="381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dirty="0"/>
                        <a:t>Autoridad del Gerente de Proyecto</a:t>
                      </a:r>
                      <a:endParaRPr lang="en-US" dirty="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dirty="0"/>
                        <a:t>Rol del Gerente de Proyecto</a:t>
                      </a:r>
                      <a:endParaRPr lang="en-US" dirty="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dirty="0"/>
                        <a:t>Disponibilidad de recursos</a:t>
                      </a:r>
                      <a:endParaRPr lang="en-US" dirty="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baseline="0" dirty="0"/>
                        <a:t>El presupuesto del proyecto es gestionado por:</a:t>
                      </a:r>
                      <a:endParaRPr lang="en-US" dirty="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dirty="0"/>
                        <a:t>Staff</a:t>
                      </a:r>
                      <a:r>
                        <a:rPr lang="es-PE" baseline="0" dirty="0"/>
                        <a:t> del equipo de gestión del proyecto</a:t>
                      </a:r>
                      <a:endParaRPr lang="en-US" dirty="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extLst>
                  <a:ext uri="{0D108BD9-81ED-4DB2-BD59-A6C34878D82A}">
                    <a16:rowId xmlns:a16="http://schemas.microsoft.com/office/drawing/2014/main" val="10001"/>
                  </a:ext>
                </a:extLst>
              </a:tr>
              <a:tr h="1130356">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800" dirty="0">
                          <a:solidFill>
                            <a:schemeClr val="tx1"/>
                          </a:solidFill>
                        </a:rPr>
                        <a:t>Funcional (centralizado)</a:t>
                      </a:r>
                      <a:endParaRPr lang="en-US" sz="1800" dirty="0">
                        <a:solidFill>
                          <a:schemeClr val="tx1"/>
                        </a:solidFill>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2E2B21">
                        <a:lumMod val="50000"/>
                        <a:lumOff val="5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El trabajo comienza a realizarse</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400" dirty="0"/>
                        <a:t>Poca o nula</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400" dirty="0"/>
                        <a:t>Tiempo parcial,</a:t>
                      </a:r>
                      <a:r>
                        <a:rPr lang="es-PE" sz="1400" baseline="0" dirty="0"/>
                        <a:t> podría ser designado como coordinador</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400" dirty="0"/>
                        <a:t>Poca o nula</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Gerente funcional</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Tiempo parcial</a:t>
                      </a:r>
                      <a:endParaRPr lang="en-US" sz="1400" dirty="0"/>
                    </a:p>
                  </a:txBody>
                  <a:tcPr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2E2B21">
                        <a:tint val="40000"/>
                      </a:srgbClr>
                    </a:solidFill>
                  </a:tcPr>
                </a:tc>
                <a:extLst>
                  <a:ext uri="{0D108BD9-81ED-4DB2-BD59-A6C34878D82A}">
                    <a16:rowId xmlns:a16="http://schemas.microsoft.com/office/drawing/2014/main" val="10003"/>
                  </a:ext>
                </a:extLst>
              </a:tr>
            </a:tbl>
          </a:graphicData>
        </a:graphic>
      </p:graphicFrame>
      <p:sp>
        <p:nvSpPr>
          <p:cNvPr id="9" name="Título 1"/>
          <p:cNvSpPr>
            <a:spLocks noGrp="1"/>
          </p:cNvSpPr>
          <p:nvPr>
            <p:ph type="title"/>
          </p:nvPr>
        </p:nvSpPr>
        <p:spPr>
          <a:xfrm>
            <a:off x="272468" y="406929"/>
            <a:ext cx="8824415" cy="1325563"/>
          </a:xfrm>
        </p:spPr>
        <p:txBody>
          <a:bodyPr/>
          <a:lstStyle/>
          <a:p>
            <a:r>
              <a:rPr lang="es-ES" b="1" dirty="0"/>
              <a:t>02. ESTRUCTURAS EN UNA ORGANIZACIÓN</a:t>
            </a:r>
            <a:endParaRPr lang="en-US" b="1" dirty="0"/>
          </a:p>
        </p:txBody>
      </p:sp>
    </p:spTree>
    <p:extLst>
      <p:ext uri="{BB962C8B-B14F-4D97-AF65-F5344CB8AC3E}">
        <p14:creationId xmlns:p14="http://schemas.microsoft.com/office/powerpoint/2010/main" val="992133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ángulo 13">
            <a:hlinkClick r:id="rId2"/>
            <a:extLst>
              <a:ext uri="{FF2B5EF4-FFF2-40B4-BE49-F238E27FC236}">
                <a16:creationId xmlns:a16="http://schemas.microsoft.com/office/drawing/2014/main" id="{7B96E061-6B28-4B27-A40C-4AC919FA18F4}"/>
              </a:ext>
            </a:extLst>
          </p:cNvPr>
          <p:cNvSpPr/>
          <p:nvPr/>
        </p:nvSpPr>
        <p:spPr>
          <a:xfrm>
            <a:off x="452789" y="6714478"/>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Rectángulo 14">
            <a:hlinkClick r:id="rId3"/>
            <a:extLst>
              <a:ext uri="{FF2B5EF4-FFF2-40B4-BE49-F238E27FC236}">
                <a16:creationId xmlns:a16="http://schemas.microsoft.com/office/drawing/2014/main" id="{46BABD7D-8BAF-4EA4-A549-45A745C7D66C}"/>
              </a:ext>
            </a:extLst>
          </p:cNvPr>
          <p:cNvSpPr/>
          <p:nvPr/>
        </p:nvSpPr>
        <p:spPr>
          <a:xfrm>
            <a:off x="802320" y="6714479"/>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Rectángulo 15">
            <a:hlinkClick r:id="rId4"/>
            <a:extLst>
              <a:ext uri="{FF2B5EF4-FFF2-40B4-BE49-F238E27FC236}">
                <a16:creationId xmlns:a16="http://schemas.microsoft.com/office/drawing/2014/main" id="{E5B07E67-A089-4608-951D-824EA803B2C8}"/>
              </a:ext>
            </a:extLst>
          </p:cNvPr>
          <p:cNvSpPr/>
          <p:nvPr/>
        </p:nvSpPr>
        <p:spPr>
          <a:xfrm>
            <a:off x="1127892" y="6714479"/>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Rectángulo 16">
            <a:hlinkClick r:id="rId5"/>
            <a:extLst>
              <a:ext uri="{FF2B5EF4-FFF2-40B4-BE49-F238E27FC236}">
                <a16:creationId xmlns:a16="http://schemas.microsoft.com/office/drawing/2014/main" id="{B2CCC631-FFDD-4E26-9159-C5BB2FC4F05C}"/>
              </a:ext>
            </a:extLst>
          </p:cNvPr>
          <p:cNvSpPr/>
          <p:nvPr/>
        </p:nvSpPr>
        <p:spPr>
          <a:xfrm>
            <a:off x="1482698" y="6697810"/>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aphicFrame>
        <p:nvGraphicFramePr>
          <p:cNvPr id="8" name="Tabla 7"/>
          <p:cNvGraphicFramePr>
            <a:graphicFrameLocks noGrp="1"/>
          </p:cNvGraphicFramePr>
          <p:nvPr/>
        </p:nvGraphicFramePr>
        <p:xfrm>
          <a:off x="452789" y="1836403"/>
          <a:ext cx="11294927" cy="4608528"/>
        </p:xfrm>
        <a:graphic>
          <a:graphicData uri="http://schemas.openxmlformats.org/drawingml/2006/table">
            <a:tbl>
              <a:tblPr firstRow="1" bandRow="1"/>
              <a:tblGrid>
                <a:gridCol w="1613561">
                  <a:extLst>
                    <a:ext uri="{9D8B030D-6E8A-4147-A177-3AD203B41FA5}">
                      <a16:colId xmlns:a16="http://schemas.microsoft.com/office/drawing/2014/main" val="20000"/>
                    </a:ext>
                  </a:extLst>
                </a:gridCol>
                <a:gridCol w="1613561">
                  <a:extLst>
                    <a:ext uri="{9D8B030D-6E8A-4147-A177-3AD203B41FA5}">
                      <a16:colId xmlns:a16="http://schemas.microsoft.com/office/drawing/2014/main" val="20001"/>
                    </a:ext>
                  </a:extLst>
                </a:gridCol>
                <a:gridCol w="1613561">
                  <a:extLst>
                    <a:ext uri="{9D8B030D-6E8A-4147-A177-3AD203B41FA5}">
                      <a16:colId xmlns:a16="http://schemas.microsoft.com/office/drawing/2014/main" val="20002"/>
                    </a:ext>
                  </a:extLst>
                </a:gridCol>
                <a:gridCol w="1613561">
                  <a:extLst>
                    <a:ext uri="{9D8B030D-6E8A-4147-A177-3AD203B41FA5}">
                      <a16:colId xmlns:a16="http://schemas.microsoft.com/office/drawing/2014/main" val="20003"/>
                    </a:ext>
                  </a:extLst>
                </a:gridCol>
                <a:gridCol w="1613561">
                  <a:extLst>
                    <a:ext uri="{9D8B030D-6E8A-4147-A177-3AD203B41FA5}">
                      <a16:colId xmlns:a16="http://schemas.microsoft.com/office/drawing/2014/main" val="20004"/>
                    </a:ext>
                  </a:extLst>
                </a:gridCol>
                <a:gridCol w="1613561">
                  <a:extLst>
                    <a:ext uri="{9D8B030D-6E8A-4147-A177-3AD203B41FA5}">
                      <a16:colId xmlns:a16="http://schemas.microsoft.com/office/drawing/2014/main" val="20005"/>
                    </a:ext>
                  </a:extLst>
                </a:gridCol>
                <a:gridCol w="1613561">
                  <a:extLst>
                    <a:ext uri="{9D8B030D-6E8A-4147-A177-3AD203B41FA5}">
                      <a16:colId xmlns:a16="http://schemas.microsoft.com/office/drawing/2014/main" val="20006"/>
                    </a:ext>
                  </a:extLst>
                </a:gridCol>
              </a:tblGrid>
              <a:tr h="681345">
                <a:tc rowSpan="2">
                  <a:txBody>
                    <a:bodyPr/>
                    <a:lstStyle>
                      <a:lvl1pPr marL="0" algn="l" defTabSz="914400" rtl="0" eaLnBrk="1" latinLnBrk="0" hangingPunct="1">
                        <a:defRPr sz="1800" b="1" kern="1200">
                          <a:solidFill>
                            <a:schemeClr val="lt1"/>
                          </a:solidFill>
                          <a:latin typeface="Tw Cen MT" panose="020B0602020104020603"/>
                        </a:defRPr>
                      </a:lvl1pPr>
                      <a:lvl2pPr marL="457200" algn="l" defTabSz="914400" rtl="0" eaLnBrk="1" latinLnBrk="0" hangingPunct="1">
                        <a:defRPr sz="1800" b="1" kern="1200">
                          <a:solidFill>
                            <a:schemeClr val="lt1"/>
                          </a:solidFill>
                          <a:latin typeface="Tw Cen MT" panose="020B0602020104020603"/>
                        </a:defRPr>
                      </a:lvl2pPr>
                      <a:lvl3pPr marL="914400" algn="l" defTabSz="914400" rtl="0" eaLnBrk="1" latinLnBrk="0" hangingPunct="1">
                        <a:defRPr sz="1800" b="1" kern="1200">
                          <a:solidFill>
                            <a:schemeClr val="lt1"/>
                          </a:solidFill>
                          <a:latin typeface="Tw Cen MT" panose="020B0602020104020603"/>
                        </a:defRPr>
                      </a:lvl3pPr>
                      <a:lvl4pPr marL="1371600" algn="l" defTabSz="914400" rtl="0" eaLnBrk="1" latinLnBrk="0" hangingPunct="1">
                        <a:defRPr sz="1800" b="1" kern="1200">
                          <a:solidFill>
                            <a:schemeClr val="lt1"/>
                          </a:solidFill>
                          <a:latin typeface="Tw Cen MT" panose="020B0602020104020603"/>
                        </a:defRPr>
                      </a:lvl4pPr>
                      <a:lvl5pPr marL="1828800" algn="l" defTabSz="914400" rtl="0" eaLnBrk="1" latinLnBrk="0" hangingPunct="1">
                        <a:defRPr sz="1800" b="1" kern="1200">
                          <a:solidFill>
                            <a:schemeClr val="lt1"/>
                          </a:solidFill>
                          <a:latin typeface="Tw Cen MT" panose="020B0602020104020603"/>
                        </a:defRPr>
                      </a:lvl5pPr>
                      <a:lvl6pPr marL="2286000" algn="l" defTabSz="914400" rtl="0" eaLnBrk="1" latinLnBrk="0" hangingPunct="1">
                        <a:defRPr sz="1800" b="1" kern="1200">
                          <a:solidFill>
                            <a:schemeClr val="lt1"/>
                          </a:solidFill>
                          <a:latin typeface="Tw Cen MT" panose="020B0602020104020603"/>
                        </a:defRPr>
                      </a:lvl6pPr>
                      <a:lvl7pPr marL="2743200" algn="l" defTabSz="914400" rtl="0" eaLnBrk="1" latinLnBrk="0" hangingPunct="1">
                        <a:defRPr sz="1800" b="1" kern="1200">
                          <a:solidFill>
                            <a:schemeClr val="lt1"/>
                          </a:solidFill>
                          <a:latin typeface="Tw Cen MT" panose="020B0602020104020603"/>
                        </a:defRPr>
                      </a:lvl7pPr>
                      <a:lvl8pPr marL="3200400" algn="l" defTabSz="914400" rtl="0" eaLnBrk="1" latinLnBrk="0" hangingPunct="1">
                        <a:defRPr sz="1800" b="1" kern="1200">
                          <a:solidFill>
                            <a:schemeClr val="lt1"/>
                          </a:solidFill>
                          <a:latin typeface="Tw Cen MT" panose="020B0602020104020603"/>
                        </a:defRPr>
                      </a:lvl8pPr>
                      <a:lvl9pPr marL="3657600" algn="l" defTabSz="914400" rtl="0" eaLnBrk="1" latinLnBrk="0" hangingPunct="1">
                        <a:defRPr sz="1800" b="1" kern="1200">
                          <a:solidFill>
                            <a:schemeClr val="lt1"/>
                          </a:solidFill>
                          <a:latin typeface="Tw Cen MT" panose="020B0602020104020603"/>
                        </a:defRPr>
                      </a:lvl9pPr>
                    </a:lstStyle>
                    <a:p>
                      <a:pPr algn="ctr"/>
                      <a:r>
                        <a:rPr lang="es-PE" dirty="0"/>
                        <a:t>Tipo de estructura de la organización</a:t>
                      </a:r>
                      <a:endParaRPr lang="en-US" dirty="0"/>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2E2B21"/>
                    </a:solidFill>
                  </a:tcPr>
                </a:tc>
                <a:tc gridSpan="6">
                  <a:txBody>
                    <a:bodyPr/>
                    <a:lstStyle>
                      <a:lvl1pPr marL="0" algn="l" defTabSz="914400" rtl="0" eaLnBrk="1" latinLnBrk="0" hangingPunct="1">
                        <a:defRPr sz="1800" b="1" kern="1200">
                          <a:solidFill>
                            <a:schemeClr val="lt1"/>
                          </a:solidFill>
                          <a:latin typeface="Tw Cen MT" panose="020B0602020104020603"/>
                        </a:defRPr>
                      </a:lvl1pPr>
                      <a:lvl2pPr marL="457200" algn="l" defTabSz="914400" rtl="0" eaLnBrk="1" latinLnBrk="0" hangingPunct="1">
                        <a:defRPr sz="1800" b="1" kern="1200">
                          <a:solidFill>
                            <a:schemeClr val="lt1"/>
                          </a:solidFill>
                          <a:latin typeface="Tw Cen MT" panose="020B0602020104020603"/>
                        </a:defRPr>
                      </a:lvl2pPr>
                      <a:lvl3pPr marL="914400" algn="l" defTabSz="914400" rtl="0" eaLnBrk="1" latinLnBrk="0" hangingPunct="1">
                        <a:defRPr sz="1800" b="1" kern="1200">
                          <a:solidFill>
                            <a:schemeClr val="lt1"/>
                          </a:solidFill>
                          <a:latin typeface="Tw Cen MT" panose="020B0602020104020603"/>
                        </a:defRPr>
                      </a:lvl3pPr>
                      <a:lvl4pPr marL="1371600" algn="l" defTabSz="914400" rtl="0" eaLnBrk="1" latinLnBrk="0" hangingPunct="1">
                        <a:defRPr sz="1800" b="1" kern="1200">
                          <a:solidFill>
                            <a:schemeClr val="lt1"/>
                          </a:solidFill>
                          <a:latin typeface="Tw Cen MT" panose="020B0602020104020603"/>
                        </a:defRPr>
                      </a:lvl4pPr>
                      <a:lvl5pPr marL="1828800" algn="l" defTabSz="914400" rtl="0" eaLnBrk="1" latinLnBrk="0" hangingPunct="1">
                        <a:defRPr sz="1800" b="1" kern="1200">
                          <a:solidFill>
                            <a:schemeClr val="lt1"/>
                          </a:solidFill>
                          <a:latin typeface="Tw Cen MT" panose="020B0602020104020603"/>
                        </a:defRPr>
                      </a:lvl5pPr>
                      <a:lvl6pPr marL="2286000" algn="l" defTabSz="914400" rtl="0" eaLnBrk="1" latinLnBrk="0" hangingPunct="1">
                        <a:defRPr sz="1800" b="1" kern="1200">
                          <a:solidFill>
                            <a:schemeClr val="lt1"/>
                          </a:solidFill>
                          <a:latin typeface="Tw Cen MT" panose="020B0602020104020603"/>
                        </a:defRPr>
                      </a:lvl6pPr>
                      <a:lvl7pPr marL="2743200" algn="l" defTabSz="914400" rtl="0" eaLnBrk="1" latinLnBrk="0" hangingPunct="1">
                        <a:defRPr sz="1800" b="1" kern="1200">
                          <a:solidFill>
                            <a:schemeClr val="lt1"/>
                          </a:solidFill>
                          <a:latin typeface="Tw Cen MT" panose="020B0602020104020603"/>
                        </a:defRPr>
                      </a:lvl7pPr>
                      <a:lvl8pPr marL="3200400" algn="l" defTabSz="914400" rtl="0" eaLnBrk="1" latinLnBrk="0" hangingPunct="1">
                        <a:defRPr sz="1800" b="1" kern="1200">
                          <a:solidFill>
                            <a:schemeClr val="lt1"/>
                          </a:solidFill>
                          <a:latin typeface="Tw Cen MT" panose="020B0602020104020603"/>
                        </a:defRPr>
                      </a:lvl8pPr>
                      <a:lvl9pPr marL="3657600" algn="l" defTabSz="914400" rtl="0" eaLnBrk="1" latinLnBrk="0" hangingPunct="1">
                        <a:defRPr sz="1800" b="1" kern="1200">
                          <a:solidFill>
                            <a:schemeClr val="lt1"/>
                          </a:solidFill>
                          <a:latin typeface="Tw Cen MT" panose="020B0602020104020603"/>
                        </a:defRPr>
                      </a:lvl9pPr>
                    </a:lstStyle>
                    <a:p>
                      <a:pPr algn="ctr"/>
                      <a:r>
                        <a:rPr lang="es-PE" dirty="0"/>
                        <a:t>Características del proyecto</a:t>
                      </a:r>
                      <a:endParaRPr lang="en-US" dirty="0"/>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2E2B21"/>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952114">
                <a:tc vMerge="1">
                  <a:txBody>
                    <a:bodyPr/>
                    <a:lstStyle/>
                    <a:p>
                      <a:endParaRPr lang="en-US" dirty="0"/>
                    </a:p>
                  </a:txBody>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dirty="0"/>
                        <a:t>Distribución</a:t>
                      </a:r>
                      <a:r>
                        <a:rPr lang="es-PE" baseline="0" dirty="0"/>
                        <a:t> de equipos de trabajo</a:t>
                      </a:r>
                      <a:endParaRPr lang="en-US" dirty="0"/>
                    </a:p>
                  </a:txBody>
                  <a:tcPr anchor="ctr">
                    <a:lnL w="381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dirty="0"/>
                        <a:t>Autoridad del Gerente de Proyecto</a:t>
                      </a:r>
                      <a:endParaRPr lang="en-US" dirty="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dirty="0"/>
                        <a:t>Rol del Gerente de Proyecto</a:t>
                      </a:r>
                      <a:endParaRPr lang="en-US" dirty="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dirty="0"/>
                        <a:t>Disponibilidad de recursos</a:t>
                      </a:r>
                      <a:endParaRPr lang="en-US" dirty="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baseline="0" dirty="0"/>
                        <a:t>El presupuesto del proyecto es gestionado por:</a:t>
                      </a:r>
                      <a:endParaRPr lang="en-US" dirty="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dirty="0"/>
                        <a:t>Staff</a:t>
                      </a:r>
                      <a:r>
                        <a:rPr lang="es-PE" baseline="0" dirty="0"/>
                        <a:t> del equipo de gestión del proyecto</a:t>
                      </a:r>
                      <a:endParaRPr lang="en-US" dirty="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extLst>
                  <a:ext uri="{0D108BD9-81ED-4DB2-BD59-A6C34878D82A}">
                    <a16:rowId xmlns:a16="http://schemas.microsoft.com/office/drawing/2014/main" val="10001"/>
                  </a:ext>
                </a:extLst>
              </a:tr>
              <a:tr h="965583">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800" dirty="0">
                          <a:solidFill>
                            <a:schemeClr val="tx1"/>
                          </a:solidFill>
                        </a:rPr>
                        <a:t>Matricial fuerte</a:t>
                      </a:r>
                      <a:endParaRPr lang="en-US" sz="1800" dirty="0">
                        <a:solidFill>
                          <a:schemeClr val="tx1"/>
                        </a:solidFill>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lumMod val="50000"/>
                        <a:lumOff val="5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Por cada función, el gerente de proyecto es una función</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Moderada a alta</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Tiempo completo por rol</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Moderada a alta</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Gerente de Proyecto</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Tiempo completo</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extLst>
                  <a:ext uri="{0D108BD9-81ED-4DB2-BD59-A6C34878D82A}">
                    <a16:rowId xmlns:a16="http://schemas.microsoft.com/office/drawing/2014/main" val="10002"/>
                  </a:ext>
                </a:extLst>
              </a:tr>
              <a:tr h="932047">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800" dirty="0">
                          <a:solidFill>
                            <a:schemeClr val="tx1"/>
                          </a:solidFill>
                        </a:rPr>
                        <a:t>Matricial débil</a:t>
                      </a:r>
                      <a:endParaRPr lang="en-US" sz="1800" dirty="0">
                        <a:solidFill>
                          <a:schemeClr val="tx1"/>
                        </a:solidFill>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lumMod val="50000"/>
                        <a:lumOff val="5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Por cada función</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400" dirty="0"/>
                        <a:t>Baja</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400" dirty="0"/>
                        <a:t>Tiempo parcial,</a:t>
                      </a:r>
                      <a:r>
                        <a:rPr lang="es-PE" sz="1400" baseline="0" dirty="0"/>
                        <a:t> podría ser designado como coordinador</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400" dirty="0"/>
                        <a:t>Baja</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Gerente funcional</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Tiempo parcial</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extLst>
                  <a:ext uri="{0D108BD9-81ED-4DB2-BD59-A6C34878D82A}">
                    <a16:rowId xmlns:a16="http://schemas.microsoft.com/office/drawing/2014/main" val="10003"/>
                  </a:ext>
                </a:extLst>
              </a:tr>
              <a:tr h="828000">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800" dirty="0">
                          <a:solidFill>
                            <a:schemeClr val="tx1"/>
                          </a:solidFill>
                        </a:rPr>
                        <a:t>Matricial balanceada</a:t>
                      </a:r>
                      <a:endParaRPr lang="en-US" sz="1800" dirty="0">
                        <a:solidFill>
                          <a:schemeClr val="tx1"/>
                        </a:solidFill>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lumMod val="50000"/>
                        <a:lumOff val="5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Por cada función</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Baja a moderada</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400" dirty="0"/>
                        <a:t>Tiempo parcial,</a:t>
                      </a:r>
                      <a:r>
                        <a:rPr lang="es-PE" sz="1400" baseline="0" dirty="0"/>
                        <a:t> no se designa coordinador</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Baja a moderada</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Se comparte</a:t>
                      </a:r>
                      <a:r>
                        <a:rPr lang="es-PE" sz="1400" baseline="0" dirty="0"/>
                        <a:t> entre gerencias</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Tiempo parcial</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extLst>
                  <a:ext uri="{0D108BD9-81ED-4DB2-BD59-A6C34878D82A}">
                    <a16:rowId xmlns:a16="http://schemas.microsoft.com/office/drawing/2014/main" val="10004"/>
                  </a:ext>
                </a:extLst>
              </a:tr>
            </a:tbl>
          </a:graphicData>
        </a:graphic>
      </p:graphicFrame>
      <p:sp>
        <p:nvSpPr>
          <p:cNvPr id="4" name="Título 1">
            <a:extLst>
              <a:ext uri="{FF2B5EF4-FFF2-40B4-BE49-F238E27FC236}">
                <a16:creationId xmlns:a16="http://schemas.microsoft.com/office/drawing/2014/main" id="{ACAB7911-520B-569A-21AF-E9A412AC87ED}"/>
              </a:ext>
            </a:extLst>
          </p:cNvPr>
          <p:cNvSpPr>
            <a:spLocks noGrp="1"/>
          </p:cNvSpPr>
          <p:nvPr>
            <p:ph type="title"/>
          </p:nvPr>
        </p:nvSpPr>
        <p:spPr>
          <a:xfrm>
            <a:off x="272468" y="406929"/>
            <a:ext cx="8824415" cy="1325563"/>
          </a:xfrm>
        </p:spPr>
        <p:txBody>
          <a:bodyPr/>
          <a:lstStyle/>
          <a:p>
            <a:r>
              <a:rPr lang="es-ES" b="1" dirty="0"/>
              <a:t>02. ESTRUCTURAS EN UNA ORGANIZACIÓN</a:t>
            </a:r>
            <a:endParaRPr lang="en-US" b="1" dirty="0"/>
          </a:p>
        </p:txBody>
      </p:sp>
    </p:spTree>
    <p:extLst>
      <p:ext uri="{BB962C8B-B14F-4D97-AF65-F5344CB8AC3E}">
        <p14:creationId xmlns:p14="http://schemas.microsoft.com/office/powerpoint/2010/main" val="2394718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ángulo 13">
            <a:hlinkClick r:id="rId2"/>
            <a:extLst>
              <a:ext uri="{FF2B5EF4-FFF2-40B4-BE49-F238E27FC236}">
                <a16:creationId xmlns:a16="http://schemas.microsoft.com/office/drawing/2014/main" id="{7B96E061-6B28-4B27-A40C-4AC919FA18F4}"/>
              </a:ext>
            </a:extLst>
          </p:cNvPr>
          <p:cNvSpPr/>
          <p:nvPr/>
        </p:nvSpPr>
        <p:spPr>
          <a:xfrm>
            <a:off x="452789" y="6714478"/>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Rectángulo 14">
            <a:hlinkClick r:id="rId3"/>
            <a:extLst>
              <a:ext uri="{FF2B5EF4-FFF2-40B4-BE49-F238E27FC236}">
                <a16:creationId xmlns:a16="http://schemas.microsoft.com/office/drawing/2014/main" id="{46BABD7D-8BAF-4EA4-A549-45A745C7D66C}"/>
              </a:ext>
            </a:extLst>
          </p:cNvPr>
          <p:cNvSpPr/>
          <p:nvPr/>
        </p:nvSpPr>
        <p:spPr>
          <a:xfrm>
            <a:off x="802320" y="6714479"/>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Rectángulo 15">
            <a:hlinkClick r:id="rId4"/>
            <a:extLst>
              <a:ext uri="{FF2B5EF4-FFF2-40B4-BE49-F238E27FC236}">
                <a16:creationId xmlns:a16="http://schemas.microsoft.com/office/drawing/2014/main" id="{E5B07E67-A089-4608-951D-824EA803B2C8}"/>
              </a:ext>
            </a:extLst>
          </p:cNvPr>
          <p:cNvSpPr/>
          <p:nvPr/>
        </p:nvSpPr>
        <p:spPr>
          <a:xfrm>
            <a:off x="1127892" y="6714479"/>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Rectángulo 16">
            <a:hlinkClick r:id="rId5"/>
            <a:extLst>
              <a:ext uri="{FF2B5EF4-FFF2-40B4-BE49-F238E27FC236}">
                <a16:creationId xmlns:a16="http://schemas.microsoft.com/office/drawing/2014/main" id="{B2CCC631-FFDD-4E26-9159-C5BB2FC4F05C}"/>
              </a:ext>
            </a:extLst>
          </p:cNvPr>
          <p:cNvSpPr/>
          <p:nvPr/>
        </p:nvSpPr>
        <p:spPr>
          <a:xfrm>
            <a:off x="1482698" y="6697810"/>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aphicFrame>
        <p:nvGraphicFramePr>
          <p:cNvPr id="9" name="Tabla 8"/>
          <p:cNvGraphicFramePr>
            <a:graphicFrameLocks noGrp="1"/>
          </p:cNvGraphicFramePr>
          <p:nvPr/>
        </p:nvGraphicFramePr>
        <p:xfrm>
          <a:off x="452789" y="1881091"/>
          <a:ext cx="11294927" cy="3205363"/>
        </p:xfrm>
        <a:graphic>
          <a:graphicData uri="http://schemas.openxmlformats.org/drawingml/2006/table">
            <a:tbl>
              <a:tblPr firstRow="1" bandRow="1"/>
              <a:tblGrid>
                <a:gridCol w="1613561">
                  <a:extLst>
                    <a:ext uri="{9D8B030D-6E8A-4147-A177-3AD203B41FA5}">
                      <a16:colId xmlns:a16="http://schemas.microsoft.com/office/drawing/2014/main" val="20000"/>
                    </a:ext>
                  </a:extLst>
                </a:gridCol>
                <a:gridCol w="1613561">
                  <a:extLst>
                    <a:ext uri="{9D8B030D-6E8A-4147-A177-3AD203B41FA5}">
                      <a16:colId xmlns:a16="http://schemas.microsoft.com/office/drawing/2014/main" val="20001"/>
                    </a:ext>
                  </a:extLst>
                </a:gridCol>
                <a:gridCol w="1613561">
                  <a:extLst>
                    <a:ext uri="{9D8B030D-6E8A-4147-A177-3AD203B41FA5}">
                      <a16:colId xmlns:a16="http://schemas.microsoft.com/office/drawing/2014/main" val="20002"/>
                    </a:ext>
                  </a:extLst>
                </a:gridCol>
                <a:gridCol w="1613561">
                  <a:extLst>
                    <a:ext uri="{9D8B030D-6E8A-4147-A177-3AD203B41FA5}">
                      <a16:colId xmlns:a16="http://schemas.microsoft.com/office/drawing/2014/main" val="20003"/>
                    </a:ext>
                  </a:extLst>
                </a:gridCol>
                <a:gridCol w="1613561">
                  <a:extLst>
                    <a:ext uri="{9D8B030D-6E8A-4147-A177-3AD203B41FA5}">
                      <a16:colId xmlns:a16="http://schemas.microsoft.com/office/drawing/2014/main" val="20004"/>
                    </a:ext>
                  </a:extLst>
                </a:gridCol>
                <a:gridCol w="1613561">
                  <a:extLst>
                    <a:ext uri="{9D8B030D-6E8A-4147-A177-3AD203B41FA5}">
                      <a16:colId xmlns:a16="http://schemas.microsoft.com/office/drawing/2014/main" val="20005"/>
                    </a:ext>
                  </a:extLst>
                </a:gridCol>
                <a:gridCol w="1613561">
                  <a:extLst>
                    <a:ext uri="{9D8B030D-6E8A-4147-A177-3AD203B41FA5}">
                      <a16:colId xmlns:a16="http://schemas.microsoft.com/office/drawing/2014/main" val="20006"/>
                    </a:ext>
                  </a:extLst>
                </a:gridCol>
              </a:tblGrid>
              <a:tr h="717433">
                <a:tc rowSpan="2">
                  <a:txBody>
                    <a:bodyPr/>
                    <a:lstStyle>
                      <a:lvl1pPr marL="0" algn="l" defTabSz="914400" rtl="0" eaLnBrk="1" latinLnBrk="0" hangingPunct="1">
                        <a:defRPr sz="1800" b="1" kern="1200">
                          <a:solidFill>
                            <a:schemeClr val="lt1"/>
                          </a:solidFill>
                          <a:latin typeface="Tw Cen MT" panose="020B0602020104020603"/>
                        </a:defRPr>
                      </a:lvl1pPr>
                      <a:lvl2pPr marL="457200" algn="l" defTabSz="914400" rtl="0" eaLnBrk="1" latinLnBrk="0" hangingPunct="1">
                        <a:defRPr sz="1800" b="1" kern="1200">
                          <a:solidFill>
                            <a:schemeClr val="lt1"/>
                          </a:solidFill>
                          <a:latin typeface="Tw Cen MT" panose="020B0602020104020603"/>
                        </a:defRPr>
                      </a:lvl2pPr>
                      <a:lvl3pPr marL="914400" algn="l" defTabSz="914400" rtl="0" eaLnBrk="1" latinLnBrk="0" hangingPunct="1">
                        <a:defRPr sz="1800" b="1" kern="1200">
                          <a:solidFill>
                            <a:schemeClr val="lt1"/>
                          </a:solidFill>
                          <a:latin typeface="Tw Cen MT" panose="020B0602020104020603"/>
                        </a:defRPr>
                      </a:lvl3pPr>
                      <a:lvl4pPr marL="1371600" algn="l" defTabSz="914400" rtl="0" eaLnBrk="1" latinLnBrk="0" hangingPunct="1">
                        <a:defRPr sz="1800" b="1" kern="1200">
                          <a:solidFill>
                            <a:schemeClr val="lt1"/>
                          </a:solidFill>
                          <a:latin typeface="Tw Cen MT" panose="020B0602020104020603"/>
                        </a:defRPr>
                      </a:lvl4pPr>
                      <a:lvl5pPr marL="1828800" algn="l" defTabSz="914400" rtl="0" eaLnBrk="1" latinLnBrk="0" hangingPunct="1">
                        <a:defRPr sz="1800" b="1" kern="1200">
                          <a:solidFill>
                            <a:schemeClr val="lt1"/>
                          </a:solidFill>
                          <a:latin typeface="Tw Cen MT" panose="020B0602020104020603"/>
                        </a:defRPr>
                      </a:lvl5pPr>
                      <a:lvl6pPr marL="2286000" algn="l" defTabSz="914400" rtl="0" eaLnBrk="1" latinLnBrk="0" hangingPunct="1">
                        <a:defRPr sz="1800" b="1" kern="1200">
                          <a:solidFill>
                            <a:schemeClr val="lt1"/>
                          </a:solidFill>
                          <a:latin typeface="Tw Cen MT" panose="020B0602020104020603"/>
                        </a:defRPr>
                      </a:lvl6pPr>
                      <a:lvl7pPr marL="2743200" algn="l" defTabSz="914400" rtl="0" eaLnBrk="1" latinLnBrk="0" hangingPunct="1">
                        <a:defRPr sz="1800" b="1" kern="1200">
                          <a:solidFill>
                            <a:schemeClr val="lt1"/>
                          </a:solidFill>
                          <a:latin typeface="Tw Cen MT" panose="020B0602020104020603"/>
                        </a:defRPr>
                      </a:lvl7pPr>
                      <a:lvl8pPr marL="3200400" algn="l" defTabSz="914400" rtl="0" eaLnBrk="1" latinLnBrk="0" hangingPunct="1">
                        <a:defRPr sz="1800" b="1" kern="1200">
                          <a:solidFill>
                            <a:schemeClr val="lt1"/>
                          </a:solidFill>
                          <a:latin typeface="Tw Cen MT" panose="020B0602020104020603"/>
                        </a:defRPr>
                      </a:lvl8pPr>
                      <a:lvl9pPr marL="3657600" algn="l" defTabSz="914400" rtl="0" eaLnBrk="1" latinLnBrk="0" hangingPunct="1">
                        <a:defRPr sz="1800" b="1" kern="1200">
                          <a:solidFill>
                            <a:schemeClr val="lt1"/>
                          </a:solidFill>
                          <a:latin typeface="Tw Cen MT" panose="020B0602020104020603"/>
                        </a:defRPr>
                      </a:lvl9pPr>
                    </a:lstStyle>
                    <a:p>
                      <a:pPr algn="ctr"/>
                      <a:r>
                        <a:rPr lang="es-PE" dirty="0"/>
                        <a:t>Tipo de estructura de la organización</a:t>
                      </a:r>
                      <a:endParaRPr lang="en-US" dirty="0"/>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2E2B21"/>
                    </a:solidFill>
                  </a:tcPr>
                </a:tc>
                <a:tc gridSpan="6">
                  <a:txBody>
                    <a:bodyPr/>
                    <a:lstStyle>
                      <a:lvl1pPr marL="0" algn="l" defTabSz="914400" rtl="0" eaLnBrk="1" latinLnBrk="0" hangingPunct="1">
                        <a:defRPr sz="1800" b="1" kern="1200">
                          <a:solidFill>
                            <a:schemeClr val="lt1"/>
                          </a:solidFill>
                          <a:latin typeface="Tw Cen MT" panose="020B0602020104020603"/>
                        </a:defRPr>
                      </a:lvl1pPr>
                      <a:lvl2pPr marL="457200" algn="l" defTabSz="914400" rtl="0" eaLnBrk="1" latinLnBrk="0" hangingPunct="1">
                        <a:defRPr sz="1800" b="1" kern="1200">
                          <a:solidFill>
                            <a:schemeClr val="lt1"/>
                          </a:solidFill>
                          <a:latin typeface="Tw Cen MT" panose="020B0602020104020603"/>
                        </a:defRPr>
                      </a:lvl2pPr>
                      <a:lvl3pPr marL="914400" algn="l" defTabSz="914400" rtl="0" eaLnBrk="1" latinLnBrk="0" hangingPunct="1">
                        <a:defRPr sz="1800" b="1" kern="1200">
                          <a:solidFill>
                            <a:schemeClr val="lt1"/>
                          </a:solidFill>
                          <a:latin typeface="Tw Cen MT" panose="020B0602020104020603"/>
                        </a:defRPr>
                      </a:lvl3pPr>
                      <a:lvl4pPr marL="1371600" algn="l" defTabSz="914400" rtl="0" eaLnBrk="1" latinLnBrk="0" hangingPunct="1">
                        <a:defRPr sz="1800" b="1" kern="1200">
                          <a:solidFill>
                            <a:schemeClr val="lt1"/>
                          </a:solidFill>
                          <a:latin typeface="Tw Cen MT" panose="020B0602020104020603"/>
                        </a:defRPr>
                      </a:lvl4pPr>
                      <a:lvl5pPr marL="1828800" algn="l" defTabSz="914400" rtl="0" eaLnBrk="1" latinLnBrk="0" hangingPunct="1">
                        <a:defRPr sz="1800" b="1" kern="1200">
                          <a:solidFill>
                            <a:schemeClr val="lt1"/>
                          </a:solidFill>
                          <a:latin typeface="Tw Cen MT" panose="020B0602020104020603"/>
                        </a:defRPr>
                      </a:lvl5pPr>
                      <a:lvl6pPr marL="2286000" algn="l" defTabSz="914400" rtl="0" eaLnBrk="1" latinLnBrk="0" hangingPunct="1">
                        <a:defRPr sz="1800" b="1" kern="1200">
                          <a:solidFill>
                            <a:schemeClr val="lt1"/>
                          </a:solidFill>
                          <a:latin typeface="Tw Cen MT" panose="020B0602020104020603"/>
                        </a:defRPr>
                      </a:lvl6pPr>
                      <a:lvl7pPr marL="2743200" algn="l" defTabSz="914400" rtl="0" eaLnBrk="1" latinLnBrk="0" hangingPunct="1">
                        <a:defRPr sz="1800" b="1" kern="1200">
                          <a:solidFill>
                            <a:schemeClr val="lt1"/>
                          </a:solidFill>
                          <a:latin typeface="Tw Cen MT" panose="020B0602020104020603"/>
                        </a:defRPr>
                      </a:lvl7pPr>
                      <a:lvl8pPr marL="3200400" algn="l" defTabSz="914400" rtl="0" eaLnBrk="1" latinLnBrk="0" hangingPunct="1">
                        <a:defRPr sz="1800" b="1" kern="1200">
                          <a:solidFill>
                            <a:schemeClr val="lt1"/>
                          </a:solidFill>
                          <a:latin typeface="Tw Cen MT" panose="020B0602020104020603"/>
                        </a:defRPr>
                      </a:lvl8pPr>
                      <a:lvl9pPr marL="3657600" algn="l" defTabSz="914400" rtl="0" eaLnBrk="1" latinLnBrk="0" hangingPunct="1">
                        <a:defRPr sz="1800" b="1" kern="1200">
                          <a:solidFill>
                            <a:schemeClr val="lt1"/>
                          </a:solidFill>
                          <a:latin typeface="Tw Cen MT" panose="020B0602020104020603"/>
                        </a:defRPr>
                      </a:lvl9pPr>
                    </a:lstStyle>
                    <a:p>
                      <a:pPr algn="ctr"/>
                      <a:r>
                        <a:rPr lang="es-PE" dirty="0"/>
                        <a:t>Características del proyecto</a:t>
                      </a:r>
                      <a:endParaRPr lang="en-US" dirty="0"/>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2E2B21"/>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1002542">
                <a:tc vMerge="1">
                  <a:txBody>
                    <a:bodyPr/>
                    <a:lstStyle/>
                    <a:p>
                      <a:endParaRPr lang="en-US" dirty="0"/>
                    </a:p>
                  </a:txBody>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dirty="0"/>
                        <a:t>Distribución</a:t>
                      </a:r>
                      <a:r>
                        <a:rPr lang="es-PE" baseline="0" dirty="0"/>
                        <a:t> de equipos de trabajo</a:t>
                      </a:r>
                      <a:endParaRPr lang="en-US" dirty="0"/>
                    </a:p>
                  </a:txBody>
                  <a:tcPr anchor="ctr">
                    <a:lnL w="381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dirty="0"/>
                        <a:t>Autoridad del Gerente de Proyecto</a:t>
                      </a:r>
                      <a:endParaRPr lang="en-US" dirty="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dirty="0"/>
                        <a:t>Rol del Gerente de Proyecto</a:t>
                      </a:r>
                      <a:endParaRPr lang="en-US" dirty="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dirty="0"/>
                        <a:t>Disponibilidad de recursos</a:t>
                      </a:r>
                      <a:endParaRPr lang="en-US" dirty="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baseline="0" dirty="0"/>
                        <a:t>El presupuesto del proyecto es gestionado por:</a:t>
                      </a:r>
                      <a:endParaRPr lang="en-US" dirty="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dirty="0"/>
                        <a:t>Staff</a:t>
                      </a:r>
                      <a:r>
                        <a:rPr lang="es-PE" baseline="0" dirty="0"/>
                        <a:t> del equipo de gestión del proyecto</a:t>
                      </a:r>
                      <a:endParaRPr lang="en-US" dirty="0"/>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40000"/>
                      </a:srgbClr>
                    </a:solidFill>
                  </a:tcPr>
                </a:tc>
                <a:extLst>
                  <a:ext uri="{0D108BD9-81ED-4DB2-BD59-A6C34878D82A}">
                    <a16:rowId xmlns:a16="http://schemas.microsoft.com/office/drawing/2014/main" val="10001"/>
                  </a:ext>
                </a:extLst>
              </a:tr>
              <a:tr h="610516">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800" dirty="0">
                          <a:solidFill>
                            <a:schemeClr val="tx1"/>
                          </a:solidFill>
                        </a:rPr>
                        <a:t>Orientada a proyectos</a:t>
                      </a:r>
                      <a:endParaRPr lang="en-US" sz="1800" dirty="0">
                        <a:solidFill>
                          <a:schemeClr val="tx1"/>
                        </a:solidFill>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2E2B21">
                        <a:lumMod val="50000"/>
                        <a:lumOff val="5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Por proyecto</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Alta a casi total</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Tiempo completo por rol</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Alta a casi total</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Gerente de Proyecto</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Tiempo completo</a:t>
                      </a:r>
                      <a:endParaRPr lang="en-US" sz="1400" dirty="0"/>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E2B21">
                        <a:tint val="20000"/>
                      </a:srgbClr>
                    </a:solidFill>
                  </a:tcPr>
                </a:tc>
                <a:extLst>
                  <a:ext uri="{0D108BD9-81ED-4DB2-BD59-A6C34878D82A}">
                    <a16:rowId xmlns:a16="http://schemas.microsoft.com/office/drawing/2014/main" val="10002"/>
                  </a:ext>
                </a:extLst>
              </a:tr>
              <a:tr h="659130">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800" dirty="0">
                          <a:solidFill>
                            <a:schemeClr val="tx1"/>
                          </a:solidFill>
                        </a:rPr>
                        <a:t>Híbrida</a:t>
                      </a:r>
                      <a:endParaRPr lang="en-US" sz="1800" dirty="0">
                        <a:solidFill>
                          <a:schemeClr val="tx1"/>
                        </a:solidFill>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2E2B21">
                        <a:lumMod val="50000"/>
                        <a:lumOff val="5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Combinación de otros tipos</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Combinado</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400" dirty="0"/>
                        <a:t>Combinado</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Combinado</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Combinado</a:t>
                      </a:r>
                      <a:endParaRPr lang="en-US" sz="14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2E2B21">
                        <a:tint val="20000"/>
                      </a:srgbClr>
                    </a:solidFill>
                  </a:tcPr>
                </a:tc>
                <a:tc>
                  <a:txBody>
                    <a:bodyPr/>
                    <a:lstStyle>
                      <a:lvl1pPr marL="0" algn="l" defTabSz="914400" rtl="0" eaLnBrk="1" latinLnBrk="0" hangingPunct="1">
                        <a:defRPr sz="1800" kern="1200">
                          <a:solidFill>
                            <a:schemeClr val="dk1"/>
                          </a:solidFill>
                          <a:latin typeface="Tw Cen MT" panose="020B0602020104020603"/>
                        </a:defRPr>
                      </a:lvl1pPr>
                      <a:lvl2pPr marL="457200" algn="l" defTabSz="914400" rtl="0" eaLnBrk="1" latinLnBrk="0" hangingPunct="1">
                        <a:defRPr sz="1800" kern="1200">
                          <a:solidFill>
                            <a:schemeClr val="dk1"/>
                          </a:solidFill>
                          <a:latin typeface="Tw Cen MT" panose="020B0602020104020603"/>
                        </a:defRPr>
                      </a:lvl2pPr>
                      <a:lvl3pPr marL="914400" algn="l" defTabSz="914400" rtl="0" eaLnBrk="1" latinLnBrk="0" hangingPunct="1">
                        <a:defRPr sz="1800" kern="1200">
                          <a:solidFill>
                            <a:schemeClr val="dk1"/>
                          </a:solidFill>
                          <a:latin typeface="Tw Cen MT" panose="020B0602020104020603"/>
                        </a:defRPr>
                      </a:lvl3pPr>
                      <a:lvl4pPr marL="1371600" algn="l" defTabSz="914400" rtl="0" eaLnBrk="1" latinLnBrk="0" hangingPunct="1">
                        <a:defRPr sz="1800" kern="1200">
                          <a:solidFill>
                            <a:schemeClr val="dk1"/>
                          </a:solidFill>
                          <a:latin typeface="Tw Cen MT" panose="020B0602020104020603"/>
                        </a:defRPr>
                      </a:lvl4pPr>
                      <a:lvl5pPr marL="1828800" algn="l" defTabSz="914400" rtl="0" eaLnBrk="1" latinLnBrk="0" hangingPunct="1">
                        <a:defRPr sz="1800" kern="1200">
                          <a:solidFill>
                            <a:schemeClr val="dk1"/>
                          </a:solidFill>
                          <a:latin typeface="Tw Cen MT" panose="020B0602020104020603"/>
                        </a:defRPr>
                      </a:lvl5pPr>
                      <a:lvl6pPr marL="2286000" algn="l" defTabSz="914400" rtl="0" eaLnBrk="1" latinLnBrk="0" hangingPunct="1">
                        <a:defRPr sz="1800" kern="1200">
                          <a:solidFill>
                            <a:schemeClr val="dk1"/>
                          </a:solidFill>
                          <a:latin typeface="Tw Cen MT" panose="020B0602020104020603"/>
                        </a:defRPr>
                      </a:lvl6pPr>
                      <a:lvl7pPr marL="2743200" algn="l" defTabSz="914400" rtl="0" eaLnBrk="1" latinLnBrk="0" hangingPunct="1">
                        <a:defRPr sz="1800" kern="1200">
                          <a:solidFill>
                            <a:schemeClr val="dk1"/>
                          </a:solidFill>
                          <a:latin typeface="Tw Cen MT" panose="020B0602020104020603"/>
                        </a:defRPr>
                      </a:lvl7pPr>
                      <a:lvl8pPr marL="3200400" algn="l" defTabSz="914400" rtl="0" eaLnBrk="1" latinLnBrk="0" hangingPunct="1">
                        <a:defRPr sz="1800" kern="1200">
                          <a:solidFill>
                            <a:schemeClr val="dk1"/>
                          </a:solidFill>
                          <a:latin typeface="Tw Cen MT" panose="020B0602020104020603"/>
                        </a:defRPr>
                      </a:lvl8pPr>
                      <a:lvl9pPr marL="3657600" algn="l" defTabSz="914400" rtl="0" eaLnBrk="1" latinLnBrk="0" hangingPunct="1">
                        <a:defRPr sz="1800" kern="1200">
                          <a:solidFill>
                            <a:schemeClr val="dk1"/>
                          </a:solidFill>
                          <a:latin typeface="Tw Cen MT" panose="020B0602020104020603"/>
                        </a:defRPr>
                      </a:lvl9pPr>
                    </a:lstStyle>
                    <a:p>
                      <a:pPr algn="ctr"/>
                      <a:r>
                        <a:rPr lang="es-PE" sz="1400" dirty="0"/>
                        <a:t>Combinado</a:t>
                      </a:r>
                      <a:endParaRPr lang="en-US" sz="1400" dirty="0"/>
                    </a:p>
                  </a:txBody>
                  <a:tcPr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2E2B21">
                        <a:tint val="20000"/>
                      </a:srgbClr>
                    </a:solidFill>
                  </a:tcPr>
                </a:tc>
                <a:extLst>
                  <a:ext uri="{0D108BD9-81ED-4DB2-BD59-A6C34878D82A}">
                    <a16:rowId xmlns:a16="http://schemas.microsoft.com/office/drawing/2014/main" val="10004"/>
                  </a:ext>
                </a:extLst>
              </a:tr>
            </a:tbl>
          </a:graphicData>
        </a:graphic>
      </p:graphicFrame>
      <p:sp>
        <p:nvSpPr>
          <p:cNvPr id="4" name="Título 1">
            <a:extLst>
              <a:ext uri="{FF2B5EF4-FFF2-40B4-BE49-F238E27FC236}">
                <a16:creationId xmlns:a16="http://schemas.microsoft.com/office/drawing/2014/main" id="{F96D1979-26A1-56AB-2EE1-134677B2A4B0}"/>
              </a:ext>
            </a:extLst>
          </p:cNvPr>
          <p:cNvSpPr>
            <a:spLocks noGrp="1"/>
          </p:cNvSpPr>
          <p:nvPr>
            <p:ph type="title"/>
          </p:nvPr>
        </p:nvSpPr>
        <p:spPr>
          <a:xfrm>
            <a:off x="272468" y="406929"/>
            <a:ext cx="8824415" cy="1325563"/>
          </a:xfrm>
        </p:spPr>
        <p:txBody>
          <a:bodyPr/>
          <a:lstStyle/>
          <a:p>
            <a:r>
              <a:rPr lang="es-ES" b="1" dirty="0"/>
              <a:t>02. ESTRUCTURAS EN UNA ORGANIZACIÓN</a:t>
            </a:r>
            <a:endParaRPr lang="en-US" b="1" dirty="0"/>
          </a:p>
        </p:txBody>
      </p:sp>
    </p:spTree>
    <p:extLst>
      <p:ext uri="{BB962C8B-B14F-4D97-AF65-F5344CB8AC3E}">
        <p14:creationId xmlns:p14="http://schemas.microsoft.com/office/powerpoint/2010/main" val="2462206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Proceso 9"/>
          <p:cNvSpPr/>
          <p:nvPr/>
        </p:nvSpPr>
        <p:spPr>
          <a:xfrm>
            <a:off x="2989435" y="2217612"/>
            <a:ext cx="1844159" cy="745587"/>
          </a:xfrm>
          <a:prstGeom prst="flowChartProcess">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INICIO</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12" name="Proceso 11"/>
          <p:cNvSpPr/>
          <p:nvPr/>
        </p:nvSpPr>
        <p:spPr>
          <a:xfrm>
            <a:off x="4833596" y="2217611"/>
            <a:ext cx="2573292" cy="745587"/>
          </a:xfrm>
          <a:prstGeom prst="flowChartProcess">
            <a:avLst/>
          </a:prstGeom>
          <a:solidFill>
            <a:srgbClr val="00B0F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ORGANIZACIÓN</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13" name="Proceso 12"/>
          <p:cNvSpPr/>
          <p:nvPr/>
        </p:nvSpPr>
        <p:spPr>
          <a:xfrm>
            <a:off x="7406889" y="2217610"/>
            <a:ext cx="2542342" cy="745587"/>
          </a:xfrm>
          <a:prstGeom prst="flowChartProcess">
            <a:avLst/>
          </a:prstGeom>
          <a:solidFill>
            <a:srgbClr val="FFFF0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2E2B21"/>
                </a:solidFill>
                <a:effectLst/>
                <a:uLnTx/>
                <a:uFillTx/>
                <a:latin typeface="Tw Cen MT" panose="020B0602020104020603"/>
                <a:ea typeface="+mn-ea"/>
                <a:cs typeface="+mn-cs"/>
              </a:rPr>
              <a:t>EJECUCIÓN</a:t>
            </a:r>
            <a:endParaRPr kumimoji="0" lang="en-US" sz="1800" b="0" i="0" u="none" strike="noStrike" kern="0" cap="none" spc="0" normalizeH="0" baseline="0" noProof="0" dirty="0">
              <a:ln>
                <a:noFill/>
              </a:ln>
              <a:solidFill>
                <a:srgbClr val="2E2B21"/>
              </a:solidFill>
              <a:effectLst/>
              <a:uLnTx/>
              <a:uFillTx/>
              <a:latin typeface="Tw Cen MT" panose="020B0602020104020603"/>
              <a:ea typeface="+mn-ea"/>
              <a:cs typeface="+mn-cs"/>
            </a:endParaRPr>
          </a:p>
        </p:txBody>
      </p:sp>
      <p:sp>
        <p:nvSpPr>
          <p:cNvPr id="14" name="Proceso 13"/>
          <p:cNvSpPr/>
          <p:nvPr/>
        </p:nvSpPr>
        <p:spPr>
          <a:xfrm>
            <a:off x="9949231" y="2217610"/>
            <a:ext cx="1697039" cy="745587"/>
          </a:xfrm>
          <a:prstGeom prst="flowChartProcess">
            <a:avLst/>
          </a:prstGeom>
          <a:solidFill>
            <a:srgbClr val="FF0000"/>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FINALIZACIÓN</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15" name="Proceso 14"/>
          <p:cNvSpPr/>
          <p:nvPr/>
        </p:nvSpPr>
        <p:spPr>
          <a:xfrm>
            <a:off x="476521" y="2963197"/>
            <a:ext cx="11169749" cy="317017"/>
          </a:xfrm>
          <a:prstGeom prst="flowChartProcess">
            <a:avLst/>
          </a:prstGeom>
          <a:solidFill>
            <a:srgbClr val="D8D6BE">
              <a:lumMod val="20000"/>
              <a:lumOff val="80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16" name="Proceso 15"/>
          <p:cNvSpPr/>
          <p:nvPr/>
        </p:nvSpPr>
        <p:spPr>
          <a:xfrm>
            <a:off x="476521" y="3274449"/>
            <a:ext cx="11169749" cy="3079512"/>
          </a:xfrm>
          <a:prstGeom prst="flowChartProcess">
            <a:avLst/>
          </a:prstGeom>
          <a:solidFill>
            <a:srgbClr val="D8D6BE">
              <a:lumMod val="20000"/>
              <a:lumOff val="80000"/>
            </a:srgbClr>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17" name="Decisión 16"/>
          <p:cNvSpPr/>
          <p:nvPr/>
        </p:nvSpPr>
        <p:spPr>
          <a:xfrm>
            <a:off x="4728075" y="2958759"/>
            <a:ext cx="200682" cy="287714"/>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18" name="Decisión 17"/>
          <p:cNvSpPr/>
          <p:nvPr/>
        </p:nvSpPr>
        <p:spPr>
          <a:xfrm>
            <a:off x="9816530" y="2983798"/>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19" name="Decisión 18"/>
          <p:cNvSpPr/>
          <p:nvPr/>
        </p:nvSpPr>
        <p:spPr>
          <a:xfrm>
            <a:off x="11519878" y="2944518"/>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cxnSp>
        <p:nvCxnSpPr>
          <p:cNvPr id="20" name="Conector recto 19"/>
          <p:cNvCxnSpPr/>
          <p:nvPr/>
        </p:nvCxnSpPr>
        <p:spPr>
          <a:xfrm>
            <a:off x="2989433" y="3012423"/>
            <a:ext cx="0" cy="3534192"/>
          </a:xfrm>
          <a:prstGeom prst="line">
            <a:avLst/>
          </a:prstGeom>
          <a:noFill/>
          <a:ln w="9525" cap="flat" cmpd="sng" algn="ctr">
            <a:solidFill>
              <a:srgbClr val="A9A57C"/>
            </a:solidFill>
            <a:prstDash val="sysDash"/>
          </a:ln>
          <a:effectLst/>
        </p:spPr>
      </p:cxnSp>
      <p:cxnSp>
        <p:nvCxnSpPr>
          <p:cNvPr id="21" name="Conector recto 20"/>
          <p:cNvCxnSpPr/>
          <p:nvPr/>
        </p:nvCxnSpPr>
        <p:spPr>
          <a:xfrm>
            <a:off x="4833594" y="3300815"/>
            <a:ext cx="0" cy="3245800"/>
          </a:xfrm>
          <a:prstGeom prst="line">
            <a:avLst/>
          </a:prstGeom>
          <a:noFill/>
          <a:ln w="9525" cap="flat" cmpd="sng" algn="ctr">
            <a:solidFill>
              <a:srgbClr val="A9A57C"/>
            </a:solidFill>
            <a:prstDash val="sysDash"/>
          </a:ln>
          <a:effectLst/>
        </p:spPr>
      </p:cxnSp>
      <p:cxnSp>
        <p:nvCxnSpPr>
          <p:cNvPr id="22" name="Conector recto 21"/>
          <p:cNvCxnSpPr/>
          <p:nvPr/>
        </p:nvCxnSpPr>
        <p:spPr>
          <a:xfrm>
            <a:off x="9949231" y="3300815"/>
            <a:ext cx="0" cy="3219432"/>
          </a:xfrm>
          <a:prstGeom prst="line">
            <a:avLst/>
          </a:prstGeom>
          <a:noFill/>
          <a:ln w="9525" cap="flat" cmpd="sng" algn="ctr">
            <a:solidFill>
              <a:srgbClr val="A9A57C"/>
            </a:solidFill>
            <a:prstDash val="sysDash"/>
          </a:ln>
          <a:effectLst/>
        </p:spPr>
      </p:cxnSp>
      <p:sp>
        <p:nvSpPr>
          <p:cNvPr id="23" name="Proceso 22"/>
          <p:cNvSpPr/>
          <p:nvPr/>
        </p:nvSpPr>
        <p:spPr>
          <a:xfrm>
            <a:off x="476519" y="2213175"/>
            <a:ext cx="2512914" cy="760324"/>
          </a:xfrm>
          <a:prstGeom prst="flowChartProcess">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800" b="0" i="0" u="none" strike="noStrike" kern="0" cap="none" spc="0" normalizeH="0" baseline="0" noProof="0" dirty="0">
                <a:ln>
                  <a:noFill/>
                </a:ln>
                <a:solidFill>
                  <a:srgbClr val="FFFFFF"/>
                </a:solidFill>
                <a:effectLst/>
                <a:uLnTx/>
                <a:uFillTx/>
                <a:latin typeface="Tw Cen MT" panose="020B0602020104020603"/>
                <a:ea typeface="+mn-ea"/>
                <a:cs typeface="+mn-cs"/>
              </a:rPr>
              <a:t>TRABAJOS PREVIOS AL PROYECTO</a:t>
            </a:r>
            <a:endParaRPr kumimoji="0" lang="en-US" sz="18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cxnSp>
        <p:nvCxnSpPr>
          <p:cNvPr id="24" name="Conector recto 23"/>
          <p:cNvCxnSpPr/>
          <p:nvPr/>
        </p:nvCxnSpPr>
        <p:spPr>
          <a:xfrm>
            <a:off x="7406888" y="3305254"/>
            <a:ext cx="0" cy="3214993"/>
          </a:xfrm>
          <a:prstGeom prst="line">
            <a:avLst/>
          </a:prstGeom>
          <a:noFill/>
          <a:ln w="9525" cap="flat" cmpd="sng" algn="ctr">
            <a:solidFill>
              <a:srgbClr val="A9A57C"/>
            </a:solidFill>
            <a:prstDash val="sysDash"/>
          </a:ln>
          <a:effectLst/>
        </p:spPr>
      </p:cxnSp>
      <p:sp>
        <p:nvSpPr>
          <p:cNvPr id="25" name="Decisión 24"/>
          <p:cNvSpPr/>
          <p:nvPr/>
        </p:nvSpPr>
        <p:spPr>
          <a:xfrm>
            <a:off x="7278757" y="2967635"/>
            <a:ext cx="235388" cy="317017"/>
          </a:xfrm>
          <a:prstGeom prst="flowChartDecision">
            <a:avLst/>
          </a:prstGeom>
          <a:solidFill>
            <a:srgbClr val="2E2B21"/>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w Cen MT" panose="020B0602020104020603"/>
              <a:ea typeface="+mn-ea"/>
              <a:cs typeface="+mn-cs"/>
            </a:endParaRPr>
          </a:p>
        </p:txBody>
      </p:sp>
      <p:sp>
        <p:nvSpPr>
          <p:cNvPr id="26" name="Rectángulo redondeado 25"/>
          <p:cNvSpPr/>
          <p:nvPr/>
        </p:nvSpPr>
        <p:spPr>
          <a:xfrm>
            <a:off x="624779" y="3407386"/>
            <a:ext cx="1252025" cy="615141"/>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400" b="0" i="0" u="none" strike="noStrike" kern="0" cap="none" spc="0" normalizeH="0" baseline="0" noProof="0" dirty="0">
                <a:ln>
                  <a:noFill/>
                </a:ln>
                <a:solidFill>
                  <a:srgbClr val="FFFFFF"/>
                </a:solidFill>
                <a:effectLst/>
                <a:uLnTx/>
                <a:uFillTx/>
                <a:latin typeface="Tw Cen MT" panose="020B0602020104020603"/>
                <a:ea typeface="+mn-ea"/>
                <a:cs typeface="+mn-cs"/>
              </a:rPr>
              <a:t>Evaluación de necesidades</a:t>
            </a:r>
            <a:endParaRPr kumimoji="0" lang="en-US" sz="14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27" name="Rectángulo redondeado 26"/>
          <p:cNvSpPr/>
          <p:nvPr/>
        </p:nvSpPr>
        <p:spPr>
          <a:xfrm>
            <a:off x="1512795" y="4266308"/>
            <a:ext cx="1252025" cy="615141"/>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400" b="0" i="0" u="none" strike="noStrike" kern="0" cap="none" spc="0" normalizeH="0" baseline="0" noProof="0" dirty="0">
                <a:ln>
                  <a:noFill/>
                </a:ln>
                <a:solidFill>
                  <a:srgbClr val="FFFFFF"/>
                </a:solidFill>
                <a:effectLst/>
                <a:uLnTx/>
                <a:uFillTx/>
                <a:latin typeface="Tw Cen MT" panose="020B0602020104020603"/>
                <a:ea typeface="+mn-ea"/>
                <a:cs typeface="+mn-cs"/>
              </a:rPr>
              <a:t>Caso de Negocio</a:t>
            </a:r>
            <a:endParaRPr kumimoji="0" lang="en-US" sz="14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28" name="Rectángulo redondeado 27"/>
          <p:cNvSpPr/>
          <p:nvPr/>
        </p:nvSpPr>
        <p:spPr>
          <a:xfrm>
            <a:off x="1512794" y="5559972"/>
            <a:ext cx="1252025" cy="615141"/>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400" b="0" i="0" u="none" strike="noStrike" kern="0" cap="none" spc="0" normalizeH="0" baseline="0" noProof="0" dirty="0">
                <a:ln>
                  <a:noFill/>
                </a:ln>
                <a:solidFill>
                  <a:srgbClr val="FFFFFF"/>
                </a:solidFill>
                <a:effectLst/>
                <a:uLnTx/>
                <a:uFillTx/>
                <a:latin typeface="Tw Cen MT" panose="020B0602020104020603"/>
                <a:ea typeface="+mn-ea"/>
                <a:cs typeface="+mn-cs"/>
              </a:rPr>
              <a:t>Plan de Gestión de </a:t>
            </a:r>
            <a:r>
              <a:rPr kumimoji="0" lang="es-PE" sz="1400" b="0" i="0" u="none" strike="noStrike" kern="0" cap="none" spc="0" normalizeH="0" baseline="0" noProof="0" dirty="0" err="1">
                <a:ln>
                  <a:noFill/>
                </a:ln>
                <a:solidFill>
                  <a:srgbClr val="FFFFFF"/>
                </a:solidFill>
                <a:effectLst/>
                <a:uLnTx/>
                <a:uFillTx/>
                <a:latin typeface="Tw Cen MT" panose="020B0602020104020603"/>
                <a:ea typeface="+mn-ea"/>
                <a:cs typeface="+mn-cs"/>
              </a:rPr>
              <a:t>Beeneficios</a:t>
            </a:r>
            <a:endParaRPr kumimoji="0" lang="en-US" sz="14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29" name="Rectángulo redondeado 28"/>
          <p:cNvSpPr/>
          <p:nvPr/>
        </p:nvSpPr>
        <p:spPr>
          <a:xfrm>
            <a:off x="3343628" y="4779519"/>
            <a:ext cx="1252025" cy="615141"/>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400" b="0" i="0" u="none" strike="noStrike" kern="0" cap="none" spc="0" normalizeH="0" baseline="0" noProof="0" dirty="0">
                <a:ln>
                  <a:noFill/>
                </a:ln>
                <a:solidFill>
                  <a:srgbClr val="FFFFFF"/>
                </a:solidFill>
                <a:effectLst/>
                <a:uLnTx/>
                <a:uFillTx/>
                <a:latin typeface="Tw Cen MT" panose="020B0602020104020603"/>
                <a:ea typeface="+mn-ea"/>
                <a:cs typeface="+mn-cs"/>
              </a:rPr>
              <a:t>Project </a:t>
            </a:r>
            <a:r>
              <a:rPr kumimoji="0" lang="es-PE" sz="1400" b="0" i="0" u="none" strike="noStrike" kern="0" cap="none" spc="0" normalizeH="0" baseline="0" noProof="0" dirty="0" err="1">
                <a:ln>
                  <a:noFill/>
                </a:ln>
                <a:solidFill>
                  <a:srgbClr val="FFFFFF"/>
                </a:solidFill>
                <a:effectLst/>
                <a:uLnTx/>
                <a:uFillTx/>
                <a:latin typeface="Tw Cen MT" panose="020B0602020104020603"/>
                <a:ea typeface="+mn-ea"/>
                <a:cs typeface="+mn-cs"/>
              </a:rPr>
              <a:t>Charter</a:t>
            </a:r>
            <a:endParaRPr kumimoji="0" lang="en-US" sz="14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sp>
        <p:nvSpPr>
          <p:cNvPr id="30" name="Rectángulo redondeado 29"/>
          <p:cNvSpPr/>
          <p:nvPr/>
        </p:nvSpPr>
        <p:spPr>
          <a:xfrm>
            <a:off x="5217307" y="5613551"/>
            <a:ext cx="1857902" cy="615141"/>
          </a:xfrm>
          <a:prstGeom prst="roundRect">
            <a:avLst/>
          </a:prstGeom>
          <a:solidFill>
            <a:srgbClr val="A9A57C"/>
          </a:solidFill>
          <a:ln w="15875" cap="flat" cmpd="sng" algn="ctr">
            <a:solidFill>
              <a:srgbClr val="A9A57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PE" sz="1400" b="0" i="0" u="none" strike="noStrike" kern="0" cap="none" spc="0" normalizeH="0" baseline="0" noProof="0" dirty="0">
                <a:ln>
                  <a:noFill/>
                </a:ln>
                <a:solidFill>
                  <a:srgbClr val="FFFFFF"/>
                </a:solidFill>
                <a:effectLst/>
                <a:uLnTx/>
                <a:uFillTx/>
                <a:latin typeface="Tw Cen MT" panose="020B0602020104020603"/>
                <a:ea typeface="+mn-ea"/>
                <a:cs typeface="+mn-cs"/>
              </a:rPr>
              <a:t>Plan de Gestión del Proyecto</a:t>
            </a:r>
            <a:endParaRPr kumimoji="0" lang="en-US" sz="1400" b="0" i="0" u="none" strike="noStrike" kern="0" cap="none" spc="0" normalizeH="0" baseline="0" noProof="0" dirty="0">
              <a:ln>
                <a:noFill/>
              </a:ln>
              <a:solidFill>
                <a:srgbClr val="FFFFFF"/>
              </a:solidFill>
              <a:effectLst/>
              <a:uLnTx/>
              <a:uFillTx/>
              <a:latin typeface="Tw Cen MT" panose="020B0602020104020603"/>
              <a:ea typeface="+mn-ea"/>
              <a:cs typeface="+mn-cs"/>
            </a:endParaRPr>
          </a:p>
        </p:txBody>
      </p:sp>
      <p:cxnSp>
        <p:nvCxnSpPr>
          <p:cNvPr id="31" name="Conector angular 30"/>
          <p:cNvCxnSpPr>
            <a:endCxn id="27" idx="0"/>
          </p:cNvCxnSpPr>
          <p:nvPr/>
        </p:nvCxnSpPr>
        <p:spPr>
          <a:xfrm rot="16200000" flipH="1">
            <a:off x="1748223" y="3875723"/>
            <a:ext cx="519164" cy="262005"/>
          </a:xfrm>
          <a:prstGeom prst="bentConnector3">
            <a:avLst>
              <a:gd name="adj1" fmla="val -1484"/>
            </a:avLst>
          </a:prstGeom>
          <a:noFill/>
          <a:ln w="9525" cap="flat" cmpd="sng" algn="ctr">
            <a:solidFill>
              <a:srgbClr val="2E2B21"/>
            </a:solidFill>
            <a:prstDash val="solid"/>
            <a:tailEnd type="triangle"/>
          </a:ln>
          <a:effectLst/>
        </p:spPr>
      </p:cxnSp>
      <p:cxnSp>
        <p:nvCxnSpPr>
          <p:cNvPr id="32" name="Conector recto de flecha 31"/>
          <p:cNvCxnSpPr/>
          <p:nvPr/>
        </p:nvCxnSpPr>
        <p:spPr>
          <a:xfrm>
            <a:off x="2114745" y="4881449"/>
            <a:ext cx="0" cy="678523"/>
          </a:xfrm>
          <a:prstGeom prst="straightConnector1">
            <a:avLst/>
          </a:prstGeom>
          <a:noFill/>
          <a:ln w="9525" cap="flat" cmpd="sng" algn="ctr">
            <a:solidFill>
              <a:srgbClr val="2E2B21"/>
            </a:solidFill>
            <a:prstDash val="solid"/>
            <a:headEnd type="triangle"/>
            <a:tailEnd type="triangle"/>
          </a:ln>
          <a:effectLst/>
        </p:spPr>
      </p:cxnSp>
      <p:cxnSp>
        <p:nvCxnSpPr>
          <p:cNvPr id="33" name="Conector angular 32"/>
          <p:cNvCxnSpPr>
            <a:stCxn id="27" idx="3"/>
            <a:endCxn id="29" idx="0"/>
          </p:cNvCxnSpPr>
          <p:nvPr/>
        </p:nvCxnSpPr>
        <p:spPr>
          <a:xfrm>
            <a:off x="2764820" y="4573879"/>
            <a:ext cx="1204821" cy="205640"/>
          </a:xfrm>
          <a:prstGeom prst="bentConnector2">
            <a:avLst/>
          </a:prstGeom>
          <a:noFill/>
          <a:ln w="9525" cap="flat" cmpd="sng" algn="ctr">
            <a:solidFill>
              <a:srgbClr val="2E2B21"/>
            </a:solidFill>
            <a:prstDash val="solid"/>
            <a:tailEnd type="triangle"/>
          </a:ln>
          <a:effectLst/>
        </p:spPr>
      </p:cxnSp>
      <p:cxnSp>
        <p:nvCxnSpPr>
          <p:cNvPr id="34" name="Conector angular 33"/>
          <p:cNvCxnSpPr>
            <a:endCxn id="30" idx="0"/>
          </p:cNvCxnSpPr>
          <p:nvPr/>
        </p:nvCxnSpPr>
        <p:spPr>
          <a:xfrm>
            <a:off x="4608980" y="5069507"/>
            <a:ext cx="1537278" cy="544044"/>
          </a:xfrm>
          <a:prstGeom prst="bentConnector2">
            <a:avLst/>
          </a:prstGeom>
          <a:noFill/>
          <a:ln w="9525" cap="flat" cmpd="sng" algn="ctr">
            <a:solidFill>
              <a:srgbClr val="2E2B21"/>
            </a:solidFill>
            <a:prstDash val="solid"/>
            <a:tailEnd type="triangle"/>
          </a:ln>
          <a:effectLst/>
        </p:spPr>
      </p:cxnSp>
      <p:sp>
        <p:nvSpPr>
          <p:cNvPr id="35" name="CuadroTexto 34"/>
          <p:cNvSpPr txBox="1"/>
          <p:nvPr/>
        </p:nvSpPr>
        <p:spPr>
          <a:xfrm>
            <a:off x="4834629" y="3242680"/>
            <a:ext cx="953765" cy="461665"/>
          </a:xfrm>
          <a:prstGeom prst="rect">
            <a:avLst/>
          </a:prstGeom>
          <a:noFill/>
        </p:spPr>
        <p:txBody>
          <a:bodyPr wrap="square" rtlCol="0">
            <a:spAutoFit/>
          </a:bodyPr>
          <a:lstStyle/>
          <a:p>
            <a:r>
              <a:rPr lang="es-PE" sz="1200" dirty="0">
                <a:solidFill>
                  <a:srgbClr val="2E2B21"/>
                </a:solidFill>
                <a:latin typeface="Tw Cen MT" panose="020B0602020104020603"/>
              </a:rPr>
              <a:t>PUNTO DE CONTROL</a:t>
            </a:r>
            <a:endParaRPr lang="en-US" sz="1200" dirty="0">
              <a:solidFill>
                <a:srgbClr val="2E2B21"/>
              </a:solidFill>
              <a:latin typeface="Tw Cen MT" panose="020B0602020104020603"/>
            </a:endParaRPr>
          </a:p>
        </p:txBody>
      </p:sp>
      <p:sp>
        <p:nvSpPr>
          <p:cNvPr id="36" name="CuadroTexto 35"/>
          <p:cNvSpPr txBox="1"/>
          <p:nvPr/>
        </p:nvSpPr>
        <p:spPr>
          <a:xfrm>
            <a:off x="8052151" y="2984537"/>
            <a:ext cx="1414566" cy="276999"/>
          </a:xfrm>
          <a:prstGeom prst="rect">
            <a:avLst/>
          </a:prstGeom>
          <a:noFill/>
        </p:spPr>
        <p:txBody>
          <a:bodyPr wrap="square" rtlCol="0">
            <a:spAutoFit/>
          </a:bodyPr>
          <a:lstStyle/>
          <a:p>
            <a:r>
              <a:rPr lang="es-PE" sz="1200" dirty="0">
                <a:solidFill>
                  <a:srgbClr val="2E2B21"/>
                </a:solidFill>
                <a:latin typeface="Tw Cen MT" panose="020B0602020104020603"/>
              </a:rPr>
              <a:t>LINEA DE TIEMPO</a:t>
            </a:r>
            <a:endParaRPr lang="en-US" sz="1200" dirty="0">
              <a:solidFill>
                <a:srgbClr val="2E2B21"/>
              </a:solidFill>
              <a:latin typeface="Tw Cen MT" panose="020B0602020104020603"/>
            </a:endParaRPr>
          </a:p>
        </p:txBody>
      </p:sp>
      <p:sp>
        <p:nvSpPr>
          <p:cNvPr id="37" name="CuadroTexto 36"/>
          <p:cNvSpPr txBox="1"/>
          <p:nvPr/>
        </p:nvSpPr>
        <p:spPr>
          <a:xfrm>
            <a:off x="6377971" y="1934463"/>
            <a:ext cx="2332038" cy="276999"/>
          </a:xfrm>
          <a:prstGeom prst="rect">
            <a:avLst/>
          </a:prstGeom>
          <a:noFill/>
        </p:spPr>
        <p:txBody>
          <a:bodyPr wrap="square" rtlCol="0">
            <a:spAutoFit/>
          </a:bodyPr>
          <a:lstStyle/>
          <a:p>
            <a:pPr algn="ctr"/>
            <a:r>
              <a:rPr lang="es-PE" sz="1200" b="1" dirty="0">
                <a:solidFill>
                  <a:srgbClr val="2E2B21"/>
                </a:solidFill>
                <a:latin typeface="Tw Cen MT" panose="020B0602020104020603"/>
              </a:rPr>
              <a:t>CICLO DE VIDA DEL PROYECTO</a:t>
            </a:r>
            <a:endParaRPr lang="en-US" sz="1200" b="1" dirty="0">
              <a:solidFill>
                <a:srgbClr val="2E2B21"/>
              </a:solidFill>
              <a:latin typeface="Tw Cen MT" panose="020B0602020104020603"/>
            </a:endParaRPr>
          </a:p>
        </p:txBody>
      </p:sp>
      <p:cxnSp>
        <p:nvCxnSpPr>
          <p:cNvPr id="38" name="Conector recto de flecha 37"/>
          <p:cNvCxnSpPr/>
          <p:nvPr/>
        </p:nvCxnSpPr>
        <p:spPr>
          <a:xfrm flipH="1" flipV="1">
            <a:off x="2940009" y="2058033"/>
            <a:ext cx="3437962" cy="5278"/>
          </a:xfrm>
          <a:prstGeom prst="straightConnector1">
            <a:avLst/>
          </a:prstGeom>
          <a:noFill/>
          <a:ln w="9525" cap="flat" cmpd="sng" algn="ctr">
            <a:solidFill>
              <a:srgbClr val="2E2B21"/>
            </a:solidFill>
            <a:prstDash val="solid"/>
            <a:tailEnd type="triangle"/>
          </a:ln>
          <a:effectLst/>
        </p:spPr>
      </p:cxnSp>
      <p:cxnSp>
        <p:nvCxnSpPr>
          <p:cNvPr id="39" name="Conector recto de flecha 38"/>
          <p:cNvCxnSpPr/>
          <p:nvPr/>
        </p:nvCxnSpPr>
        <p:spPr>
          <a:xfrm flipV="1">
            <a:off x="8681369" y="2041924"/>
            <a:ext cx="2886836" cy="1561"/>
          </a:xfrm>
          <a:prstGeom prst="straightConnector1">
            <a:avLst/>
          </a:prstGeom>
          <a:noFill/>
          <a:ln w="9525" cap="flat" cmpd="sng" algn="ctr">
            <a:solidFill>
              <a:srgbClr val="2E2B21"/>
            </a:solidFill>
            <a:prstDash val="solid"/>
            <a:tailEnd type="triangle"/>
          </a:ln>
          <a:effectLst/>
        </p:spPr>
      </p:cxnSp>
      <p:sp>
        <p:nvSpPr>
          <p:cNvPr id="40" name="CuadroTexto 39"/>
          <p:cNvSpPr txBox="1"/>
          <p:nvPr/>
        </p:nvSpPr>
        <p:spPr>
          <a:xfrm>
            <a:off x="2138806" y="6412319"/>
            <a:ext cx="8072428" cy="276999"/>
          </a:xfrm>
          <a:prstGeom prst="rect">
            <a:avLst/>
          </a:prstGeom>
          <a:noFill/>
        </p:spPr>
        <p:txBody>
          <a:bodyPr wrap="square" rtlCol="0">
            <a:spAutoFit/>
          </a:bodyPr>
          <a:lstStyle/>
          <a:p>
            <a:pPr algn="ctr"/>
            <a:r>
              <a:rPr lang="es-PE" sz="1200" b="1" dirty="0">
                <a:solidFill>
                  <a:srgbClr val="2E2B21"/>
                </a:solidFill>
                <a:latin typeface="Tw Cen MT" panose="020B0602020104020603"/>
              </a:rPr>
              <a:t>INTERRELACIÓN ENTRE LA EVALUACIÓN DE LAS NECESIDADES Y LOS DOCUMENTOS CRÍTICOS DEL NEGOCIO/PROYECTO</a:t>
            </a:r>
            <a:endParaRPr lang="en-US" sz="1200" b="1" dirty="0">
              <a:solidFill>
                <a:srgbClr val="2E2B21"/>
              </a:solidFill>
              <a:latin typeface="Tw Cen MT" panose="020B0602020104020603"/>
            </a:endParaRPr>
          </a:p>
        </p:txBody>
      </p:sp>
      <p:sp>
        <p:nvSpPr>
          <p:cNvPr id="42" name="Título 1"/>
          <p:cNvSpPr>
            <a:spLocks noGrp="1"/>
          </p:cNvSpPr>
          <p:nvPr>
            <p:ph type="title"/>
          </p:nvPr>
        </p:nvSpPr>
        <p:spPr>
          <a:xfrm>
            <a:off x="272468" y="406929"/>
            <a:ext cx="8824415" cy="1325563"/>
          </a:xfrm>
        </p:spPr>
        <p:txBody>
          <a:bodyPr/>
          <a:lstStyle/>
          <a:p>
            <a:r>
              <a:rPr lang="es-ES" b="1" dirty="0"/>
              <a:t>03. LOS DOCUMENTOS BÁSICOS PARA UNA BUENA GESTIÓN DE PROYECTOS</a:t>
            </a:r>
            <a:endParaRPr lang="en-US" b="1" dirty="0"/>
          </a:p>
        </p:txBody>
      </p:sp>
    </p:spTree>
    <p:extLst>
      <p:ext uri="{BB962C8B-B14F-4D97-AF65-F5344CB8AC3E}">
        <p14:creationId xmlns:p14="http://schemas.microsoft.com/office/powerpoint/2010/main" val="4289268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hlinkClick r:id="rId2"/>
            <a:extLst>
              <a:ext uri="{FF2B5EF4-FFF2-40B4-BE49-F238E27FC236}">
                <a16:creationId xmlns:a16="http://schemas.microsoft.com/office/drawing/2014/main" id="{7B96E061-6B28-4B27-A40C-4AC919FA18F4}"/>
              </a:ext>
            </a:extLst>
          </p:cNvPr>
          <p:cNvSpPr/>
          <p:nvPr/>
        </p:nvSpPr>
        <p:spPr>
          <a:xfrm>
            <a:off x="576775" y="6296024"/>
            <a:ext cx="295422" cy="2547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Rectángulo 6">
            <a:hlinkClick r:id="rId3"/>
            <a:extLst>
              <a:ext uri="{FF2B5EF4-FFF2-40B4-BE49-F238E27FC236}">
                <a16:creationId xmlns:a16="http://schemas.microsoft.com/office/drawing/2014/main" id="{46BABD7D-8BAF-4EA4-A549-45A745C7D66C}"/>
              </a:ext>
            </a:extLst>
          </p:cNvPr>
          <p:cNvSpPr/>
          <p:nvPr/>
        </p:nvSpPr>
        <p:spPr>
          <a:xfrm>
            <a:off x="926306" y="6296025"/>
            <a:ext cx="271463"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Rectángulo 7">
            <a:hlinkClick r:id="rId4"/>
            <a:extLst>
              <a:ext uri="{FF2B5EF4-FFF2-40B4-BE49-F238E27FC236}">
                <a16:creationId xmlns:a16="http://schemas.microsoft.com/office/drawing/2014/main" id="{E5B07E67-A089-4608-951D-824EA803B2C8}"/>
              </a:ext>
            </a:extLst>
          </p:cNvPr>
          <p:cNvSpPr/>
          <p:nvPr/>
        </p:nvSpPr>
        <p:spPr>
          <a:xfrm>
            <a:off x="1251878" y="6296025"/>
            <a:ext cx="300697" cy="2876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Rectángulo 8">
            <a:hlinkClick r:id="rId5"/>
            <a:extLst>
              <a:ext uri="{FF2B5EF4-FFF2-40B4-BE49-F238E27FC236}">
                <a16:creationId xmlns:a16="http://schemas.microsoft.com/office/drawing/2014/main" id="{B2CCC631-FFDD-4E26-9159-C5BB2FC4F05C}"/>
              </a:ext>
            </a:extLst>
          </p:cNvPr>
          <p:cNvSpPr/>
          <p:nvPr/>
        </p:nvSpPr>
        <p:spPr>
          <a:xfrm>
            <a:off x="1606684" y="6279356"/>
            <a:ext cx="345941" cy="3043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nvGrpSpPr>
          <p:cNvPr id="44" name="Grupo 43"/>
          <p:cNvGrpSpPr/>
          <p:nvPr/>
        </p:nvGrpSpPr>
        <p:grpSpPr>
          <a:xfrm>
            <a:off x="396579" y="2026501"/>
            <a:ext cx="5433808" cy="4205942"/>
            <a:chOff x="0" y="271227"/>
            <a:chExt cx="5433808" cy="4205942"/>
          </a:xfrm>
        </p:grpSpPr>
        <p:sp>
          <p:nvSpPr>
            <p:cNvPr id="72" name="Rectángulo redondeado 71"/>
            <p:cNvSpPr/>
            <p:nvPr/>
          </p:nvSpPr>
          <p:spPr>
            <a:xfrm>
              <a:off x="0" y="271227"/>
              <a:ext cx="5433808" cy="4205942"/>
            </a:xfrm>
            <a:prstGeom prst="roundRect">
              <a:avLst>
                <a:gd name="adj" fmla="val 10000"/>
              </a:avLst>
            </a:prstGeom>
            <a:solidFill>
              <a:srgbClr val="B1A089">
                <a:lumMod val="75000"/>
              </a:srgbClr>
            </a:solidFill>
            <a:ln>
              <a:noFill/>
            </a:ln>
            <a:effectLst/>
          </p:spPr>
          <p:style>
            <a:lnRef idx="0">
              <a:scrgbClr r="0" g="0" b="0"/>
            </a:lnRef>
            <a:fillRef idx="1">
              <a:scrgbClr r="0" g="0" b="0"/>
            </a:fillRef>
            <a:effectRef idx="0">
              <a:scrgbClr r="0" g="0" b="0"/>
            </a:effectRef>
            <a:fontRef idx="minor">
              <a:schemeClr val="dk1">
                <a:hueOff val="0"/>
                <a:satOff val="0"/>
                <a:lumOff val="0"/>
                <a:alphaOff val="0"/>
              </a:schemeClr>
            </a:fontRef>
          </p:style>
          <p:txBody>
            <a:bodyPr/>
            <a:lstStyle/>
            <a:p>
              <a:endParaRPr lang="es-PE"/>
            </a:p>
          </p:txBody>
        </p:sp>
        <p:sp>
          <p:nvSpPr>
            <p:cNvPr id="73" name="CuadroTexto 72"/>
            <p:cNvSpPr txBox="1"/>
            <p:nvPr/>
          </p:nvSpPr>
          <p:spPr>
            <a:xfrm>
              <a:off x="36956" y="308183"/>
              <a:ext cx="5359896" cy="118787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s-PE" sz="2800" kern="1200" dirty="0">
                  <a:solidFill>
                    <a:srgbClr val="FFFFFF"/>
                  </a:solidFill>
                  <a:latin typeface="Tw Cen MT" panose="020B0602020104020603"/>
                  <a:ea typeface="+mn-ea"/>
                  <a:cs typeface="+mn-cs"/>
                </a:rPr>
                <a:t>El Caso de Negocio</a:t>
              </a:r>
              <a:endParaRPr lang="en-US" sz="2800" kern="1200" dirty="0">
                <a:solidFill>
                  <a:srgbClr val="FFFFFF"/>
                </a:solidFill>
                <a:latin typeface="Tw Cen MT" panose="020B0602020104020603"/>
                <a:ea typeface="+mn-ea"/>
                <a:cs typeface="+mn-cs"/>
              </a:endParaRPr>
            </a:p>
          </p:txBody>
        </p:sp>
      </p:grpSp>
      <p:grpSp>
        <p:nvGrpSpPr>
          <p:cNvPr id="45" name="Grupo 44"/>
          <p:cNvGrpSpPr/>
          <p:nvPr/>
        </p:nvGrpSpPr>
        <p:grpSpPr>
          <a:xfrm>
            <a:off x="721897" y="2963413"/>
            <a:ext cx="4859924" cy="562746"/>
            <a:chOff x="325318" y="1208139"/>
            <a:chExt cx="4859924" cy="562746"/>
          </a:xfrm>
        </p:grpSpPr>
        <p:sp>
          <p:nvSpPr>
            <p:cNvPr id="70" name="Rectángulo redondeado 69"/>
            <p:cNvSpPr/>
            <p:nvPr/>
          </p:nvSpPr>
          <p:spPr>
            <a:xfrm>
              <a:off x="325318" y="1208139"/>
              <a:ext cx="4859924" cy="562746"/>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71" name="CuadroTexto 70"/>
            <p:cNvSpPr txBox="1"/>
            <p:nvPr/>
          </p:nvSpPr>
          <p:spPr>
            <a:xfrm>
              <a:off x="341800" y="1224621"/>
              <a:ext cx="4826960" cy="5297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Estudio de factibilidad económico sustentado.</a:t>
              </a:r>
              <a:endParaRPr lang="en-US" sz="1700" kern="1200" dirty="0">
                <a:solidFill>
                  <a:srgbClr val="2E2B21"/>
                </a:solidFill>
                <a:latin typeface="Tw Cen MT" panose="020B0602020104020603"/>
                <a:ea typeface="+mn-ea"/>
                <a:cs typeface="+mn-cs"/>
              </a:endParaRPr>
            </a:p>
          </p:txBody>
        </p:sp>
      </p:grpSp>
      <p:grpSp>
        <p:nvGrpSpPr>
          <p:cNvPr id="46" name="Grupo 45"/>
          <p:cNvGrpSpPr/>
          <p:nvPr/>
        </p:nvGrpSpPr>
        <p:grpSpPr>
          <a:xfrm>
            <a:off x="721897" y="3639903"/>
            <a:ext cx="4859924" cy="538295"/>
            <a:chOff x="325318" y="1884629"/>
            <a:chExt cx="4859924" cy="538295"/>
          </a:xfrm>
        </p:grpSpPr>
        <p:sp>
          <p:nvSpPr>
            <p:cNvPr id="68" name="Rectángulo redondeado 67"/>
            <p:cNvSpPr/>
            <p:nvPr/>
          </p:nvSpPr>
          <p:spPr>
            <a:xfrm>
              <a:off x="325318" y="1884629"/>
              <a:ext cx="4859924" cy="538295"/>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69" name="CuadroTexto 68"/>
            <p:cNvSpPr txBox="1"/>
            <p:nvPr/>
          </p:nvSpPr>
          <p:spPr>
            <a:xfrm>
              <a:off x="341084" y="1900395"/>
              <a:ext cx="4828392" cy="5067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Sirve como base para autorizar un futuro proyecto.</a:t>
              </a:r>
              <a:endParaRPr lang="en-US" sz="1700" kern="1200" dirty="0">
                <a:solidFill>
                  <a:srgbClr val="2E2B21"/>
                </a:solidFill>
                <a:latin typeface="Tw Cen MT" panose="020B0602020104020603"/>
                <a:ea typeface="+mn-ea"/>
                <a:cs typeface="+mn-cs"/>
              </a:endParaRPr>
            </a:p>
          </p:txBody>
        </p:sp>
      </p:grpSp>
      <p:grpSp>
        <p:nvGrpSpPr>
          <p:cNvPr id="47" name="Grupo 46"/>
          <p:cNvGrpSpPr/>
          <p:nvPr/>
        </p:nvGrpSpPr>
        <p:grpSpPr>
          <a:xfrm>
            <a:off x="721897" y="4304825"/>
            <a:ext cx="4859924" cy="670644"/>
            <a:chOff x="325318" y="2549551"/>
            <a:chExt cx="4859924" cy="670644"/>
          </a:xfrm>
        </p:grpSpPr>
        <p:sp>
          <p:nvSpPr>
            <p:cNvPr id="66" name="Rectángulo redondeado 65"/>
            <p:cNvSpPr/>
            <p:nvPr/>
          </p:nvSpPr>
          <p:spPr>
            <a:xfrm>
              <a:off x="325318" y="2549551"/>
              <a:ext cx="4859924" cy="670644"/>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67" name="CuadroTexto 66"/>
            <p:cNvSpPr txBox="1"/>
            <p:nvPr/>
          </p:nvSpPr>
          <p:spPr>
            <a:xfrm>
              <a:off x="344960" y="2569193"/>
              <a:ext cx="4820640" cy="63136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Lista las razones y objetivos para iniciar un proyecto.</a:t>
              </a:r>
              <a:endParaRPr lang="en-US" sz="1700" kern="1200" dirty="0">
                <a:solidFill>
                  <a:srgbClr val="2E2B21"/>
                </a:solidFill>
                <a:latin typeface="Tw Cen MT" panose="020B0602020104020603"/>
                <a:ea typeface="+mn-ea"/>
                <a:cs typeface="+mn-cs"/>
              </a:endParaRPr>
            </a:p>
          </p:txBody>
        </p:sp>
      </p:grpSp>
      <p:grpSp>
        <p:nvGrpSpPr>
          <p:cNvPr id="48" name="Grupo 47"/>
          <p:cNvGrpSpPr/>
          <p:nvPr/>
        </p:nvGrpSpPr>
        <p:grpSpPr>
          <a:xfrm>
            <a:off x="721897" y="5114978"/>
            <a:ext cx="4859924" cy="873975"/>
            <a:chOff x="325318" y="3359704"/>
            <a:chExt cx="4859924" cy="873975"/>
          </a:xfrm>
        </p:grpSpPr>
        <p:sp>
          <p:nvSpPr>
            <p:cNvPr id="64" name="Rectángulo redondeado 63"/>
            <p:cNvSpPr/>
            <p:nvPr/>
          </p:nvSpPr>
          <p:spPr>
            <a:xfrm>
              <a:off x="325318" y="3359704"/>
              <a:ext cx="4859924" cy="873975"/>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65" name="CuadroTexto 64"/>
            <p:cNvSpPr txBox="1"/>
            <p:nvPr/>
          </p:nvSpPr>
          <p:spPr>
            <a:xfrm>
              <a:off x="350916" y="3385302"/>
              <a:ext cx="4808728" cy="82277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Mayormente el Sponsor del proyecto es el responsable de su desarrollo y de su actualización.</a:t>
              </a:r>
              <a:endParaRPr lang="en-US" sz="1700" kern="1200" dirty="0">
                <a:solidFill>
                  <a:srgbClr val="2E2B21"/>
                </a:solidFill>
                <a:latin typeface="Tw Cen MT" panose="020B0602020104020603"/>
                <a:ea typeface="+mn-ea"/>
                <a:cs typeface="+mn-cs"/>
              </a:endParaRPr>
            </a:p>
          </p:txBody>
        </p:sp>
      </p:grpSp>
      <p:grpSp>
        <p:nvGrpSpPr>
          <p:cNvPr id="49" name="Grupo 48"/>
          <p:cNvGrpSpPr/>
          <p:nvPr/>
        </p:nvGrpSpPr>
        <p:grpSpPr>
          <a:xfrm>
            <a:off x="6199291" y="2039568"/>
            <a:ext cx="5596129" cy="4511251"/>
            <a:chOff x="5802712" y="284294"/>
            <a:chExt cx="5596129" cy="4511251"/>
          </a:xfrm>
        </p:grpSpPr>
        <p:sp>
          <p:nvSpPr>
            <p:cNvPr id="62" name="Rectángulo redondeado 61"/>
            <p:cNvSpPr/>
            <p:nvPr/>
          </p:nvSpPr>
          <p:spPr>
            <a:xfrm>
              <a:off x="5802712" y="284294"/>
              <a:ext cx="5596129" cy="4511251"/>
            </a:xfrm>
            <a:prstGeom prst="roundRect">
              <a:avLst>
                <a:gd name="adj" fmla="val 10000"/>
              </a:avLst>
            </a:prstGeom>
            <a:solidFill>
              <a:srgbClr val="B1A089">
                <a:lumMod val="75000"/>
              </a:srgbClr>
            </a:solidFill>
            <a:ln>
              <a:noFill/>
            </a:ln>
            <a:effectLst/>
          </p:spPr>
          <p:style>
            <a:lnRef idx="0">
              <a:scrgbClr r="0" g="0" b="0"/>
            </a:lnRef>
            <a:fillRef idx="1">
              <a:scrgbClr r="0" g="0" b="0"/>
            </a:fillRef>
            <a:effectRef idx="0">
              <a:scrgbClr r="0" g="0" b="0"/>
            </a:effectRef>
            <a:fontRef idx="minor">
              <a:schemeClr val="dk1">
                <a:hueOff val="0"/>
                <a:satOff val="0"/>
                <a:lumOff val="0"/>
                <a:alphaOff val="0"/>
              </a:schemeClr>
            </a:fontRef>
          </p:style>
          <p:txBody>
            <a:bodyPr/>
            <a:lstStyle/>
            <a:p>
              <a:endParaRPr lang="es-PE"/>
            </a:p>
          </p:txBody>
        </p:sp>
        <p:sp>
          <p:nvSpPr>
            <p:cNvPr id="63" name="CuadroTexto 62"/>
            <p:cNvSpPr txBox="1"/>
            <p:nvPr/>
          </p:nvSpPr>
          <p:spPr>
            <a:xfrm>
              <a:off x="5842351" y="323933"/>
              <a:ext cx="5516851" cy="127409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s-PE" sz="2800" kern="1200" dirty="0">
                  <a:solidFill>
                    <a:srgbClr val="FFFFFF"/>
                  </a:solidFill>
                  <a:latin typeface="Tw Cen MT" panose="020B0602020104020603"/>
                  <a:ea typeface="+mn-ea"/>
                  <a:cs typeface="+mn-cs"/>
                </a:rPr>
                <a:t>El Plan de Gestión de Beneficios</a:t>
              </a:r>
              <a:endParaRPr lang="en-US" sz="2800" kern="1200" dirty="0">
                <a:solidFill>
                  <a:srgbClr val="FFFFFF"/>
                </a:solidFill>
                <a:latin typeface="Tw Cen MT" panose="020B0602020104020603"/>
                <a:ea typeface="+mn-ea"/>
                <a:cs typeface="+mn-cs"/>
              </a:endParaRPr>
            </a:p>
          </p:txBody>
        </p:sp>
      </p:grpSp>
      <p:grpSp>
        <p:nvGrpSpPr>
          <p:cNvPr id="50" name="Grupo 49"/>
          <p:cNvGrpSpPr/>
          <p:nvPr/>
        </p:nvGrpSpPr>
        <p:grpSpPr>
          <a:xfrm>
            <a:off x="6604664" y="2997920"/>
            <a:ext cx="4859924" cy="748017"/>
            <a:chOff x="6208085" y="1242646"/>
            <a:chExt cx="4859924" cy="748017"/>
          </a:xfrm>
        </p:grpSpPr>
        <p:sp>
          <p:nvSpPr>
            <p:cNvPr id="60" name="Rectángulo redondeado 59"/>
            <p:cNvSpPr/>
            <p:nvPr/>
          </p:nvSpPr>
          <p:spPr>
            <a:xfrm>
              <a:off x="6208085" y="1242646"/>
              <a:ext cx="4859924" cy="748017"/>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61" name="CuadroTexto 60"/>
            <p:cNvSpPr txBox="1"/>
            <p:nvPr/>
          </p:nvSpPr>
          <p:spPr>
            <a:xfrm>
              <a:off x="6229994" y="1264555"/>
              <a:ext cx="4816106" cy="70419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Explica con sustento como la estrategia para alcanzar y maximizar los beneficios que dará el proyecto.</a:t>
              </a:r>
              <a:endParaRPr lang="en-US" sz="1700" kern="1200" dirty="0">
                <a:solidFill>
                  <a:srgbClr val="2E2B21"/>
                </a:solidFill>
                <a:latin typeface="Tw Cen MT" panose="020B0602020104020603"/>
                <a:ea typeface="+mn-ea"/>
                <a:cs typeface="+mn-cs"/>
              </a:endParaRPr>
            </a:p>
          </p:txBody>
        </p:sp>
      </p:grpSp>
      <p:grpSp>
        <p:nvGrpSpPr>
          <p:cNvPr id="51" name="Grupo 50"/>
          <p:cNvGrpSpPr/>
          <p:nvPr/>
        </p:nvGrpSpPr>
        <p:grpSpPr>
          <a:xfrm>
            <a:off x="6604664" y="3861017"/>
            <a:ext cx="4859924" cy="748017"/>
            <a:chOff x="6208085" y="2105743"/>
            <a:chExt cx="4859924" cy="748017"/>
          </a:xfrm>
        </p:grpSpPr>
        <p:sp>
          <p:nvSpPr>
            <p:cNvPr id="58" name="Rectángulo redondeado 57"/>
            <p:cNvSpPr/>
            <p:nvPr/>
          </p:nvSpPr>
          <p:spPr>
            <a:xfrm>
              <a:off x="6208085" y="2105743"/>
              <a:ext cx="4859924" cy="748017"/>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59" name="CuadroTexto 58"/>
            <p:cNvSpPr txBox="1"/>
            <p:nvPr/>
          </p:nvSpPr>
          <p:spPr>
            <a:xfrm>
              <a:off x="6229994" y="2127652"/>
              <a:ext cx="4816106" cy="70419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Usa la data de la Evaluación de Necesidades y del Caso de Negocio.</a:t>
              </a:r>
              <a:endParaRPr lang="en-US" sz="1700" kern="1200" dirty="0">
                <a:solidFill>
                  <a:srgbClr val="2E2B21"/>
                </a:solidFill>
                <a:latin typeface="Tw Cen MT" panose="020B0602020104020603"/>
                <a:ea typeface="+mn-ea"/>
                <a:cs typeface="+mn-cs"/>
              </a:endParaRPr>
            </a:p>
          </p:txBody>
        </p:sp>
      </p:grpSp>
      <p:grpSp>
        <p:nvGrpSpPr>
          <p:cNvPr id="52" name="Grupo 51"/>
          <p:cNvGrpSpPr/>
          <p:nvPr/>
        </p:nvGrpSpPr>
        <p:grpSpPr>
          <a:xfrm>
            <a:off x="6604664" y="4724114"/>
            <a:ext cx="4859924" cy="748017"/>
            <a:chOff x="6208085" y="2968840"/>
            <a:chExt cx="4859924" cy="748017"/>
          </a:xfrm>
        </p:grpSpPr>
        <p:sp>
          <p:nvSpPr>
            <p:cNvPr id="56" name="Rectángulo redondeado 55"/>
            <p:cNvSpPr/>
            <p:nvPr/>
          </p:nvSpPr>
          <p:spPr>
            <a:xfrm>
              <a:off x="6208085" y="2968840"/>
              <a:ext cx="4859924" cy="748017"/>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57" name="CuadroTexto 56"/>
            <p:cNvSpPr txBox="1"/>
            <p:nvPr/>
          </p:nvSpPr>
          <p:spPr>
            <a:xfrm>
              <a:off x="6229994" y="2990749"/>
              <a:ext cx="4816106" cy="70419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Su desarrollo y actualización es un proceso iterativo. Complementa al Caso de Negocio, Project </a:t>
              </a:r>
              <a:r>
                <a:rPr lang="es-PE" sz="1700" kern="1200" dirty="0" err="1">
                  <a:solidFill>
                    <a:srgbClr val="2E2B21"/>
                  </a:solidFill>
                  <a:latin typeface="Tw Cen MT" panose="020B0602020104020603"/>
                  <a:ea typeface="+mn-ea"/>
                  <a:cs typeface="+mn-cs"/>
                </a:rPr>
                <a:t>Charter</a:t>
              </a:r>
              <a:r>
                <a:rPr lang="es-PE" sz="1700" kern="1200" dirty="0">
                  <a:solidFill>
                    <a:srgbClr val="2E2B21"/>
                  </a:solidFill>
                  <a:latin typeface="Tw Cen MT" panose="020B0602020104020603"/>
                  <a:ea typeface="+mn-ea"/>
                  <a:cs typeface="+mn-cs"/>
                </a:rPr>
                <a:t>, y Plan de Gestión del Proyecto.</a:t>
              </a:r>
              <a:endParaRPr lang="en-US" sz="1700" kern="1200" dirty="0">
                <a:solidFill>
                  <a:srgbClr val="2E2B21"/>
                </a:solidFill>
                <a:latin typeface="Tw Cen MT" panose="020B0602020104020603"/>
                <a:ea typeface="+mn-ea"/>
                <a:cs typeface="+mn-cs"/>
              </a:endParaRPr>
            </a:p>
          </p:txBody>
        </p:sp>
      </p:grpSp>
      <p:grpSp>
        <p:nvGrpSpPr>
          <p:cNvPr id="53" name="Grupo 52"/>
          <p:cNvGrpSpPr/>
          <p:nvPr/>
        </p:nvGrpSpPr>
        <p:grpSpPr>
          <a:xfrm>
            <a:off x="6604664" y="5587212"/>
            <a:ext cx="4859924" cy="748017"/>
            <a:chOff x="6208085" y="3831938"/>
            <a:chExt cx="4859924" cy="748017"/>
          </a:xfrm>
        </p:grpSpPr>
        <p:sp>
          <p:nvSpPr>
            <p:cNvPr id="54" name="Rectángulo redondeado 53"/>
            <p:cNvSpPr/>
            <p:nvPr/>
          </p:nvSpPr>
          <p:spPr>
            <a:xfrm>
              <a:off x="6208085" y="3831938"/>
              <a:ext cx="4859924" cy="748017"/>
            </a:xfrm>
            <a:prstGeom prst="roundRect">
              <a:avLst>
                <a:gd name="adj" fmla="val 10000"/>
              </a:avLst>
            </a:prstGeom>
            <a:solidFill>
              <a:srgbClr val="FFFFFF"/>
            </a:solidFill>
            <a:ln w="15875" cap="flat" cmpd="sng" algn="ctr">
              <a:solidFill>
                <a:srgbClr val="FFFFFF">
                  <a:hueOff val="0"/>
                  <a:satOff val="0"/>
                  <a:lumOff val="0"/>
                  <a:alphaOff val="0"/>
                </a:srgbClr>
              </a:solidFill>
              <a:prstDash val="solid"/>
            </a:ln>
            <a:effectLst/>
          </p:spPr>
          <p:style>
            <a:lnRef idx="2">
              <a:scrgbClr r="0" g="0" b="0"/>
            </a:lnRef>
            <a:fillRef idx="1">
              <a:scrgbClr r="0" g="0" b="0"/>
            </a:fillRef>
            <a:effectRef idx="0">
              <a:scrgbClr r="0" g="0" b="0"/>
            </a:effectRef>
            <a:fontRef idx="minor">
              <a:schemeClr val="lt1"/>
            </a:fontRef>
          </p:style>
          <p:txBody>
            <a:bodyPr/>
            <a:lstStyle/>
            <a:p>
              <a:endParaRPr lang="es-PE"/>
            </a:p>
          </p:txBody>
        </p:sp>
        <p:sp>
          <p:nvSpPr>
            <p:cNvPr id="55" name="CuadroTexto 54"/>
            <p:cNvSpPr txBox="1"/>
            <p:nvPr/>
          </p:nvSpPr>
          <p:spPr>
            <a:xfrm>
              <a:off x="6229994" y="3853847"/>
              <a:ext cx="4816106" cy="70419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0" tIns="32385" rIns="43180" bIns="32385" numCol="1" spcCol="1270" anchor="ctr" anchorCtr="0">
              <a:noAutofit/>
            </a:bodyPr>
            <a:lstStyle/>
            <a:p>
              <a:pPr lvl="0" algn="l" defTabSz="755650">
                <a:lnSpc>
                  <a:spcPct val="90000"/>
                </a:lnSpc>
                <a:spcBef>
                  <a:spcPct val="0"/>
                </a:spcBef>
                <a:spcAft>
                  <a:spcPct val="35000"/>
                </a:spcAft>
              </a:pPr>
              <a:r>
                <a:rPr lang="es-PE" sz="1700" kern="1200" dirty="0">
                  <a:solidFill>
                    <a:srgbClr val="2E2B21"/>
                  </a:solidFill>
                  <a:latin typeface="Tw Cen MT" panose="020B0602020104020603"/>
                  <a:ea typeface="+mn-ea"/>
                  <a:cs typeface="+mn-cs"/>
                </a:rPr>
                <a:t>Incluye la medición de los beneficios financieros del proyecto: VAN, TIR, Ratio C/B, RSI, Periodo de Retorno.</a:t>
              </a:r>
              <a:endParaRPr lang="en-US" sz="1700" kern="1200" dirty="0">
                <a:solidFill>
                  <a:srgbClr val="2E2B21"/>
                </a:solidFill>
                <a:latin typeface="Tw Cen MT" panose="020B0602020104020603"/>
                <a:ea typeface="+mn-ea"/>
                <a:cs typeface="+mn-cs"/>
              </a:endParaRPr>
            </a:p>
          </p:txBody>
        </p:sp>
      </p:grpSp>
      <p:sp>
        <p:nvSpPr>
          <p:cNvPr id="4" name="Título 1">
            <a:extLst>
              <a:ext uri="{FF2B5EF4-FFF2-40B4-BE49-F238E27FC236}">
                <a16:creationId xmlns:a16="http://schemas.microsoft.com/office/drawing/2014/main" id="{F164D2E1-8AAE-3E0E-1EAC-556300621AF7}"/>
              </a:ext>
            </a:extLst>
          </p:cNvPr>
          <p:cNvSpPr>
            <a:spLocks noGrp="1"/>
          </p:cNvSpPr>
          <p:nvPr>
            <p:ph type="title"/>
          </p:nvPr>
        </p:nvSpPr>
        <p:spPr>
          <a:xfrm>
            <a:off x="272468" y="406929"/>
            <a:ext cx="8824415" cy="1325563"/>
          </a:xfrm>
        </p:spPr>
        <p:txBody>
          <a:bodyPr/>
          <a:lstStyle/>
          <a:p>
            <a:r>
              <a:rPr lang="es-ES" b="1" dirty="0"/>
              <a:t>03. LOS DOCUMENTOS BÁSICOS PARA UNA BUENA GESTIÓN DE PROYECTOS</a:t>
            </a:r>
            <a:endParaRPr lang="en-US" b="1" dirty="0"/>
          </a:p>
        </p:txBody>
      </p:sp>
    </p:spTree>
    <p:extLst>
      <p:ext uri="{BB962C8B-B14F-4D97-AF65-F5344CB8AC3E}">
        <p14:creationId xmlns:p14="http://schemas.microsoft.com/office/powerpoint/2010/main" val="1328794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uadroTexto 15"/>
          <p:cNvSpPr txBox="1"/>
          <p:nvPr/>
        </p:nvSpPr>
        <p:spPr>
          <a:xfrm>
            <a:off x="6830895" y="2035871"/>
            <a:ext cx="4614204" cy="369332"/>
          </a:xfrm>
          <a:prstGeom prst="rect">
            <a:avLst/>
          </a:prstGeom>
          <a:noFill/>
        </p:spPr>
        <p:txBody>
          <a:bodyPr wrap="square" rtlCol="0">
            <a:spAutoFit/>
          </a:bodyPr>
          <a:lstStyle/>
          <a:p>
            <a:r>
              <a:rPr lang="es-PE" b="1" dirty="0">
                <a:solidFill>
                  <a:srgbClr val="2E2B21"/>
                </a:solidFill>
                <a:latin typeface="Tw Cen MT" panose="020B0602020104020603"/>
              </a:rPr>
              <a:t>FORMAS DE TRABAJAR</a:t>
            </a:r>
            <a:endParaRPr lang="en-US" b="1" dirty="0">
              <a:solidFill>
                <a:srgbClr val="2E2B21"/>
              </a:solidFill>
              <a:latin typeface="Tw Cen MT" panose="020B0602020104020603"/>
            </a:endParaRPr>
          </a:p>
        </p:txBody>
      </p:sp>
      <p:sp>
        <p:nvSpPr>
          <p:cNvPr id="17" name="CuadroTexto 16"/>
          <p:cNvSpPr txBox="1"/>
          <p:nvPr/>
        </p:nvSpPr>
        <p:spPr>
          <a:xfrm>
            <a:off x="6830895" y="2660654"/>
            <a:ext cx="4916820" cy="3139321"/>
          </a:xfrm>
          <a:prstGeom prst="rect">
            <a:avLst/>
          </a:prstGeom>
          <a:noFill/>
        </p:spPr>
        <p:txBody>
          <a:bodyPr wrap="square" rtlCol="0">
            <a:spAutoFit/>
          </a:bodyPr>
          <a:lstStyle/>
          <a:p>
            <a:pPr marL="285750" indent="-285750">
              <a:buFont typeface="Wingdings" panose="05000000000000000000" pitchFamily="2" charset="2"/>
              <a:buChar char="ü"/>
            </a:pPr>
            <a:r>
              <a:rPr lang="es-PE" dirty="0">
                <a:solidFill>
                  <a:srgbClr val="2E2B21"/>
                </a:solidFill>
                <a:latin typeface="Tw Cen MT" panose="020B0602020104020603"/>
              </a:rPr>
              <a:t>Predictivo, ágil, híbrido.</a:t>
            </a:r>
          </a:p>
          <a:p>
            <a:pPr marL="285750" indent="-285750">
              <a:buFont typeface="Wingdings" panose="05000000000000000000" pitchFamily="2" charset="2"/>
              <a:buChar char="ü"/>
            </a:pPr>
            <a:r>
              <a:rPr lang="es-PE" dirty="0">
                <a:solidFill>
                  <a:srgbClr val="2E2B21"/>
                </a:solidFill>
                <a:latin typeface="Tw Cen MT" panose="020B0602020104020603"/>
              </a:rPr>
              <a:t>Pensamiento crítico.</a:t>
            </a:r>
          </a:p>
          <a:p>
            <a:pPr marL="285750" indent="-285750">
              <a:buFont typeface="Wingdings" panose="05000000000000000000" pitchFamily="2" charset="2"/>
              <a:buChar char="ü"/>
            </a:pPr>
            <a:r>
              <a:rPr lang="es-PE" dirty="0">
                <a:solidFill>
                  <a:srgbClr val="2E2B21"/>
                </a:solidFill>
                <a:latin typeface="Tw Cen MT" panose="020B0602020104020603"/>
              </a:rPr>
              <a:t>Manejo de data, modelamiento.</a:t>
            </a:r>
          </a:p>
          <a:p>
            <a:pPr marL="285750" indent="-285750">
              <a:buFont typeface="Wingdings" panose="05000000000000000000" pitchFamily="2" charset="2"/>
              <a:buChar char="ü"/>
            </a:pPr>
            <a:r>
              <a:rPr lang="es-PE" dirty="0">
                <a:solidFill>
                  <a:srgbClr val="2E2B21"/>
                </a:solidFill>
                <a:latin typeface="Tw Cen MT" panose="020B0602020104020603"/>
              </a:rPr>
              <a:t>Valor ganado.</a:t>
            </a:r>
          </a:p>
          <a:p>
            <a:pPr marL="285750" indent="-285750">
              <a:buFont typeface="Wingdings" panose="05000000000000000000" pitchFamily="2" charset="2"/>
              <a:buChar char="ü"/>
            </a:pPr>
            <a:r>
              <a:rPr lang="es-PE" dirty="0">
                <a:solidFill>
                  <a:srgbClr val="2E2B21"/>
                </a:solidFill>
                <a:latin typeface="Tw Cen MT" panose="020B0602020104020603"/>
              </a:rPr>
              <a:t>Gobernanza.</a:t>
            </a:r>
          </a:p>
          <a:p>
            <a:pPr marL="285750" indent="-285750">
              <a:buFont typeface="Wingdings" panose="05000000000000000000" pitchFamily="2" charset="2"/>
              <a:buChar char="ü"/>
            </a:pPr>
            <a:r>
              <a:rPr lang="es-PE" dirty="0">
                <a:solidFill>
                  <a:srgbClr val="2E2B21"/>
                </a:solidFill>
                <a:latin typeface="Tw Cen MT" panose="020B0602020104020603"/>
              </a:rPr>
              <a:t>Manejo de indicadores.</a:t>
            </a:r>
          </a:p>
          <a:p>
            <a:pPr marL="285750" indent="-285750">
              <a:buFont typeface="Wingdings" panose="05000000000000000000" pitchFamily="2" charset="2"/>
              <a:buChar char="ü"/>
            </a:pPr>
            <a:r>
              <a:rPr lang="es-PE" dirty="0">
                <a:solidFill>
                  <a:srgbClr val="2E2B21"/>
                </a:solidFill>
                <a:latin typeface="Tw Cen MT" panose="020B0602020104020603"/>
              </a:rPr>
              <a:t>Trazabilidad de la información.</a:t>
            </a:r>
          </a:p>
          <a:p>
            <a:pPr marL="285750" indent="-285750">
              <a:buFont typeface="Wingdings" panose="05000000000000000000" pitchFamily="2" charset="2"/>
              <a:buChar char="ü"/>
            </a:pPr>
            <a:r>
              <a:rPr lang="es-PE" dirty="0">
                <a:solidFill>
                  <a:srgbClr val="2E2B21"/>
                </a:solidFill>
                <a:latin typeface="Tw Cen MT" panose="020B0602020104020603"/>
              </a:rPr>
              <a:t>Gestión del alcance y cronograma.</a:t>
            </a:r>
          </a:p>
          <a:p>
            <a:pPr marL="285750" indent="-285750">
              <a:buFont typeface="Wingdings" panose="05000000000000000000" pitchFamily="2" charset="2"/>
              <a:buChar char="ü"/>
            </a:pPr>
            <a:r>
              <a:rPr lang="es-PE" dirty="0">
                <a:solidFill>
                  <a:srgbClr val="2E2B21"/>
                </a:solidFill>
                <a:latin typeface="Tw Cen MT" panose="020B0602020104020603"/>
              </a:rPr>
              <a:t>Gestión de riesgos.</a:t>
            </a:r>
          </a:p>
          <a:p>
            <a:pPr marL="285750" indent="-285750">
              <a:buFont typeface="Wingdings" panose="05000000000000000000" pitchFamily="2" charset="2"/>
              <a:buChar char="ü"/>
            </a:pPr>
            <a:r>
              <a:rPr lang="es-PE" dirty="0">
                <a:solidFill>
                  <a:srgbClr val="2E2B21"/>
                </a:solidFill>
                <a:latin typeface="Tw Cen MT" panose="020B0602020104020603"/>
              </a:rPr>
              <a:t>Estimaciones.</a:t>
            </a:r>
          </a:p>
          <a:p>
            <a:pPr marL="285750" indent="-285750">
              <a:buFont typeface="Wingdings" panose="05000000000000000000" pitchFamily="2" charset="2"/>
              <a:buChar char="ü"/>
            </a:pPr>
            <a:endParaRPr lang="en-US" dirty="0">
              <a:solidFill>
                <a:srgbClr val="2E2B21"/>
              </a:solidFill>
              <a:latin typeface="Tw Cen MT" panose="020B0602020104020603"/>
            </a:endParaRPr>
          </a:p>
        </p:txBody>
      </p:sp>
      <p:cxnSp>
        <p:nvCxnSpPr>
          <p:cNvPr id="18" name="Conector recto 17"/>
          <p:cNvCxnSpPr/>
          <p:nvPr/>
        </p:nvCxnSpPr>
        <p:spPr>
          <a:xfrm>
            <a:off x="6603471" y="2035871"/>
            <a:ext cx="0" cy="4388888"/>
          </a:xfrm>
          <a:prstGeom prst="line">
            <a:avLst/>
          </a:prstGeom>
          <a:noFill/>
          <a:ln w="9525" cap="flat" cmpd="sng" algn="ctr">
            <a:solidFill>
              <a:srgbClr val="002060"/>
            </a:solidFill>
            <a:prstDash val="solid"/>
          </a:ln>
          <a:effectLst/>
        </p:spPr>
      </p:cxnSp>
      <p:sp>
        <p:nvSpPr>
          <p:cNvPr id="20" name="CuadroTexto 19"/>
          <p:cNvSpPr txBox="1"/>
          <p:nvPr/>
        </p:nvSpPr>
        <p:spPr>
          <a:xfrm>
            <a:off x="1628197" y="6202882"/>
            <a:ext cx="3854548" cy="276999"/>
          </a:xfrm>
          <a:prstGeom prst="rect">
            <a:avLst/>
          </a:prstGeom>
          <a:noFill/>
        </p:spPr>
        <p:txBody>
          <a:bodyPr wrap="square" rtlCol="0">
            <a:spAutoFit/>
          </a:bodyPr>
          <a:lstStyle/>
          <a:p>
            <a:pPr algn="ctr"/>
            <a:r>
              <a:rPr lang="es-PE" sz="1200" dirty="0">
                <a:solidFill>
                  <a:srgbClr val="2E2B21"/>
                </a:solidFill>
                <a:latin typeface="Tw Cen MT" panose="020B0602020104020603"/>
              </a:rPr>
              <a:t>EL TRIÁNGULO DEL TALENTO DEL PMI </a:t>
            </a:r>
            <a:r>
              <a:rPr lang="es-PE" sz="1100" dirty="0">
                <a:solidFill>
                  <a:srgbClr val="2E2B21"/>
                </a:solidFill>
                <a:latin typeface="Tw Cen MT" panose="020B0602020104020603"/>
              </a:rPr>
              <a:t>®</a:t>
            </a:r>
            <a:endParaRPr lang="en-US" sz="1100" dirty="0">
              <a:solidFill>
                <a:srgbClr val="2E2B21"/>
              </a:solidFill>
              <a:latin typeface="Tw Cen MT" panose="020B0602020104020603"/>
            </a:endParaRPr>
          </a:p>
        </p:txBody>
      </p:sp>
      <p:pic>
        <p:nvPicPr>
          <p:cNvPr id="3" name="Imagen 2"/>
          <p:cNvPicPr>
            <a:picLocks noChangeAspect="1"/>
          </p:cNvPicPr>
          <p:nvPr/>
        </p:nvPicPr>
        <p:blipFill>
          <a:blip r:embed="rId2"/>
          <a:stretch>
            <a:fillRect/>
          </a:stretch>
        </p:blipFill>
        <p:spPr>
          <a:xfrm>
            <a:off x="201778" y="2848996"/>
            <a:ext cx="6401693" cy="2762636"/>
          </a:xfrm>
          <a:prstGeom prst="rect">
            <a:avLst/>
          </a:prstGeom>
        </p:spPr>
      </p:pic>
      <p:sp>
        <p:nvSpPr>
          <p:cNvPr id="9" name="Título 1"/>
          <p:cNvSpPr>
            <a:spLocks noGrp="1"/>
          </p:cNvSpPr>
          <p:nvPr>
            <p:ph type="title"/>
          </p:nvPr>
        </p:nvSpPr>
        <p:spPr>
          <a:xfrm>
            <a:off x="272468" y="406929"/>
            <a:ext cx="8824415" cy="1325563"/>
          </a:xfrm>
        </p:spPr>
        <p:txBody>
          <a:bodyPr/>
          <a:lstStyle/>
          <a:p>
            <a:r>
              <a:rPr lang="es-ES" b="1" dirty="0"/>
              <a:t>04. MI ROL COMO GESTOR DE PROYECTOS</a:t>
            </a:r>
            <a:endParaRPr lang="en-US" b="1" dirty="0"/>
          </a:p>
        </p:txBody>
      </p:sp>
    </p:spTree>
    <p:extLst>
      <p:ext uri="{BB962C8B-B14F-4D97-AF65-F5344CB8AC3E}">
        <p14:creationId xmlns:p14="http://schemas.microsoft.com/office/powerpoint/2010/main" val="2949537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uadroTexto 15"/>
          <p:cNvSpPr txBox="1"/>
          <p:nvPr/>
        </p:nvSpPr>
        <p:spPr>
          <a:xfrm>
            <a:off x="6830895" y="2035871"/>
            <a:ext cx="4614204" cy="369332"/>
          </a:xfrm>
          <a:prstGeom prst="rect">
            <a:avLst/>
          </a:prstGeom>
          <a:noFill/>
        </p:spPr>
        <p:txBody>
          <a:bodyPr wrap="square" rtlCol="0">
            <a:spAutoFit/>
          </a:bodyPr>
          <a:lstStyle/>
          <a:p>
            <a:r>
              <a:rPr lang="es-PE" b="1" dirty="0">
                <a:solidFill>
                  <a:srgbClr val="2E2B21"/>
                </a:solidFill>
                <a:latin typeface="Tw Cen MT" panose="020B0602020104020603"/>
              </a:rPr>
              <a:t>PERSPICACIA COMERCIAL</a:t>
            </a:r>
            <a:endParaRPr lang="en-US" b="1" dirty="0">
              <a:solidFill>
                <a:srgbClr val="2E2B21"/>
              </a:solidFill>
              <a:latin typeface="Tw Cen MT" panose="020B0602020104020603"/>
            </a:endParaRPr>
          </a:p>
        </p:txBody>
      </p:sp>
      <p:sp>
        <p:nvSpPr>
          <p:cNvPr id="17" name="CuadroTexto 16"/>
          <p:cNvSpPr txBox="1"/>
          <p:nvPr/>
        </p:nvSpPr>
        <p:spPr>
          <a:xfrm>
            <a:off x="6830895" y="2660654"/>
            <a:ext cx="4916820" cy="2862322"/>
          </a:xfrm>
          <a:prstGeom prst="rect">
            <a:avLst/>
          </a:prstGeom>
          <a:noFill/>
        </p:spPr>
        <p:txBody>
          <a:bodyPr wrap="square" rtlCol="0">
            <a:spAutoFit/>
          </a:bodyPr>
          <a:lstStyle/>
          <a:p>
            <a:pPr marL="285750" indent="-285750">
              <a:buFont typeface="Wingdings" panose="05000000000000000000" pitchFamily="2" charset="2"/>
              <a:buChar char="ü"/>
            </a:pPr>
            <a:r>
              <a:rPr lang="es-PE" dirty="0">
                <a:solidFill>
                  <a:srgbClr val="2E2B21"/>
                </a:solidFill>
                <a:latin typeface="Tw Cen MT" panose="020B0602020104020603"/>
              </a:rPr>
              <a:t>Beneficios internos y externos al proyecto.</a:t>
            </a:r>
          </a:p>
          <a:p>
            <a:pPr marL="285750" indent="-285750">
              <a:buFont typeface="Wingdings" panose="05000000000000000000" pitchFamily="2" charset="2"/>
              <a:buChar char="ü"/>
            </a:pPr>
            <a:r>
              <a:rPr lang="es-PE" dirty="0">
                <a:solidFill>
                  <a:srgbClr val="2E2B21"/>
                </a:solidFill>
                <a:latin typeface="Tw Cen MT" panose="020B0602020104020603"/>
              </a:rPr>
              <a:t>Modelos y estructuras de negocios.</a:t>
            </a:r>
          </a:p>
          <a:p>
            <a:pPr marL="285750" indent="-285750">
              <a:buFont typeface="Wingdings" panose="05000000000000000000" pitchFamily="2" charset="2"/>
              <a:buChar char="ü"/>
            </a:pPr>
            <a:r>
              <a:rPr lang="es-PE" dirty="0">
                <a:solidFill>
                  <a:srgbClr val="2E2B21"/>
                </a:solidFill>
                <a:latin typeface="Tw Cen MT" panose="020B0602020104020603"/>
              </a:rPr>
              <a:t>Análisis competitivo.</a:t>
            </a:r>
          </a:p>
          <a:p>
            <a:pPr marL="285750" indent="-285750">
              <a:buFont typeface="Wingdings" panose="05000000000000000000" pitchFamily="2" charset="2"/>
              <a:buChar char="ü"/>
            </a:pPr>
            <a:r>
              <a:rPr lang="es-PE" dirty="0">
                <a:solidFill>
                  <a:srgbClr val="2E2B21"/>
                </a:solidFill>
                <a:latin typeface="Tw Cen MT" panose="020B0602020104020603"/>
              </a:rPr>
              <a:t>Relaciones comerciales.</a:t>
            </a:r>
          </a:p>
          <a:p>
            <a:pPr marL="285750" indent="-285750">
              <a:buFont typeface="Wingdings" panose="05000000000000000000" pitchFamily="2" charset="2"/>
              <a:buChar char="ü"/>
            </a:pPr>
            <a:r>
              <a:rPr lang="es-PE" dirty="0">
                <a:solidFill>
                  <a:srgbClr val="2E2B21"/>
                </a:solidFill>
                <a:latin typeface="Tw Cen MT" panose="020B0602020104020603"/>
              </a:rPr>
              <a:t>Conocimiento del mercado.</a:t>
            </a:r>
          </a:p>
          <a:p>
            <a:pPr marL="285750" indent="-285750">
              <a:buFont typeface="Wingdings" panose="05000000000000000000" pitchFamily="2" charset="2"/>
              <a:buChar char="ü"/>
            </a:pPr>
            <a:r>
              <a:rPr lang="es-PE" dirty="0">
                <a:solidFill>
                  <a:srgbClr val="2E2B21"/>
                </a:solidFill>
                <a:latin typeface="Tw Cen MT" panose="020B0602020104020603"/>
              </a:rPr>
              <a:t>Conocimiento de la industria.</a:t>
            </a:r>
          </a:p>
          <a:p>
            <a:pPr marL="285750" indent="-285750">
              <a:buFont typeface="Wingdings" panose="05000000000000000000" pitchFamily="2" charset="2"/>
              <a:buChar char="ü"/>
            </a:pPr>
            <a:r>
              <a:rPr lang="es-PE" dirty="0">
                <a:solidFill>
                  <a:srgbClr val="2E2B21"/>
                </a:solidFill>
                <a:latin typeface="Tw Cen MT" panose="020B0602020104020603"/>
              </a:rPr>
              <a:t>Regulaciones y cumplimiento.</a:t>
            </a:r>
          </a:p>
          <a:p>
            <a:pPr marL="285750" indent="-285750">
              <a:buFont typeface="Wingdings" panose="05000000000000000000" pitchFamily="2" charset="2"/>
              <a:buChar char="ü"/>
            </a:pPr>
            <a:r>
              <a:rPr lang="es-PE" dirty="0">
                <a:solidFill>
                  <a:srgbClr val="2E2B21"/>
                </a:solidFill>
                <a:latin typeface="Tw Cen MT" panose="020B0602020104020603"/>
              </a:rPr>
              <a:t>Planeamiento estratégico.</a:t>
            </a:r>
          </a:p>
          <a:p>
            <a:pPr marL="285750" indent="-285750">
              <a:buFont typeface="Wingdings" panose="05000000000000000000" pitchFamily="2" charset="2"/>
              <a:buChar char="ü"/>
            </a:pPr>
            <a:endParaRPr lang="es-PE" dirty="0">
              <a:solidFill>
                <a:srgbClr val="2E2B21"/>
              </a:solidFill>
              <a:latin typeface="Tw Cen MT" panose="020B0602020104020603"/>
            </a:endParaRPr>
          </a:p>
          <a:p>
            <a:pPr marL="285750" indent="-285750">
              <a:buFont typeface="Wingdings" panose="05000000000000000000" pitchFamily="2" charset="2"/>
              <a:buChar char="ü"/>
            </a:pPr>
            <a:endParaRPr lang="en-US" dirty="0">
              <a:solidFill>
                <a:srgbClr val="2E2B21"/>
              </a:solidFill>
              <a:latin typeface="Tw Cen MT" panose="020B0602020104020603"/>
            </a:endParaRPr>
          </a:p>
        </p:txBody>
      </p:sp>
      <p:cxnSp>
        <p:nvCxnSpPr>
          <p:cNvPr id="18" name="Conector recto 17"/>
          <p:cNvCxnSpPr/>
          <p:nvPr/>
        </p:nvCxnSpPr>
        <p:spPr>
          <a:xfrm>
            <a:off x="6603471" y="2035871"/>
            <a:ext cx="0" cy="4388888"/>
          </a:xfrm>
          <a:prstGeom prst="line">
            <a:avLst/>
          </a:prstGeom>
          <a:noFill/>
          <a:ln w="9525" cap="flat" cmpd="sng" algn="ctr">
            <a:solidFill>
              <a:srgbClr val="002060"/>
            </a:solidFill>
            <a:prstDash val="solid"/>
          </a:ln>
          <a:effectLst/>
        </p:spPr>
      </p:cxnSp>
      <p:sp>
        <p:nvSpPr>
          <p:cNvPr id="20" name="CuadroTexto 19"/>
          <p:cNvSpPr txBox="1"/>
          <p:nvPr/>
        </p:nvSpPr>
        <p:spPr>
          <a:xfrm>
            <a:off x="1628197" y="6202882"/>
            <a:ext cx="3854548" cy="276999"/>
          </a:xfrm>
          <a:prstGeom prst="rect">
            <a:avLst/>
          </a:prstGeom>
          <a:noFill/>
        </p:spPr>
        <p:txBody>
          <a:bodyPr wrap="square" rtlCol="0">
            <a:spAutoFit/>
          </a:bodyPr>
          <a:lstStyle/>
          <a:p>
            <a:pPr algn="ctr"/>
            <a:r>
              <a:rPr lang="es-PE" sz="1200" dirty="0">
                <a:solidFill>
                  <a:srgbClr val="2E2B21"/>
                </a:solidFill>
                <a:latin typeface="Tw Cen MT" panose="020B0602020104020603"/>
              </a:rPr>
              <a:t>EL TRIÁNGULO DEL TALENTO DEL PMI </a:t>
            </a:r>
            <a:r>
              <a:rPr lang="es-PE" sz="1100" dirty="0">
                <a:solidFill>
                  <a:srgbClr val="2E2B21"/>
                </a:solidFill>
                <a:latin typeface="Tw Cen MT" panose="020B0602020104020603"/>
              </a:rPr>
              <a:t>®</a:t>
            </a:r>
            <a:endParaRPr lang="en-US" sz="1100" dirty="0">
              <a:solidFill>
                <a:srgbClr val="2E2B21"/>
              </a:solidFill>
              <a:latin typeface="Tw Cen MT" panose="020B0602020104020603"/>
            </a:endParaRPr>
          </a:p>
        </p:txBody>
      </p:sp>
      <p:pic>
        <p:nvPicPr>
          <p:cNvPr id="3" name="Imagen 2"/>
          <p:cNvPicPr>
            <a:picLocks noChangeAspect="1"/>
          </p:cNvPicPr>
          <p:nvPr/>
        </p:nvPicPr>
        <p:blipFill>
          <a:blip r:embed="rId2"/>
          <a:stretch>
            <a:fillRect/>
          </a:stretch>
        </p:blipFill>
        <p:spPr>
          <a:xfrm>
            <a:off x="201778" y="2848996"/>
            <a:ext cx="6401693" cy="2762636"/>
          </a:xfrm>
          <a:prstGeom prst="rect">
            <a:avLst/>
          </a:prstGeom>
        </p:spPr>
      </p:pic>
      <p:sp>
        <p:nvSpPr>
          <p:cNvPr id="5" name="Título 1">
            <a:extLst>
              <a:ext uri="{FF2B5EF4-FFF2-40B4-BE49-F238E27FC236}">
                <a16:creationId xmlns:a16="http://schemas.microsoft.com/office/drawing/2014/main" id="{91A382E1-1054-78D4-22EF-89D53F395659}"/>
              </a:ext>
            </a:extLst>
          </p:cNvPr>
          <p:cNvSpPr>
            <a:spLocks noGrp="1"/>
          </p:cNvSpPr>
          <p:nvPr>
            <p:ph type="title"/>
          </p:nvPr>
        </p:nvSpPr>
        <p:spPr>
          <a:xfrm>
            <a:off x="272468" y="406929"/>
            <a:ext cx="8824415" cy="1325563"/>
          </a:xfrm>
        </p:spPr>
        <p:txBody>
          <a:bodyPr/>
          <a:lstStyle/>
          <a:p>
            <a:r>
              <a:rPr lang="es-ES" b="1" dirty="0"/>
              <a:t>04. MI ROL COMO GESTOR DE PROYECTOS</a:t>
            </a:r>
            <a:endParaRPr lang="en-US" b="1" dirty="0"/>
          </a:p>
        </p:txBody>
      </p:sp>
    </p:spTree>
    <p:extLst>
      <p:ext uri="{BB962C8B-B14F-4D97-AF65-F5344CB8AC3E}">
        <p14:creationId xmlns:p14="http://schemas.microsoft.com/office/powerpoint/2010/main" val="2887813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uadroTexto 15"/>
          <p:cNvSpPr txBox="1"/>
          <p:nvPr/>
        </p:nvSpPr>
        <p:spPr>
          <a:xfrm>
            <a:off x="6830895" y="2035871"/>
            <a:ext cx="4614204" cy="369332"/>
          </a:xfrm>
          <a:prstGeom prst="rect">
            <a:avLst/>
          </a:prstGeom>
          <a:noFill/>
        </p:spPr>
        <p:txBody>
          <a:bodyPr wrap="square" rtlCol="0">
            <a:spAutoFit/>
          </a:bodyPr>
          <a:lstStyle/>
          <a:p>
            <a:r>
              <a:rPr lang="es-PE" b="1" dirty="0">
                <a:solidFill>
                  <a:srgbClr val="2E2B21"/>
                </a:solidFill>
                <a:latin typeface="Tw Cen MT" panose="020B0602020104020603"/>
              </a:rPr>
              <a:t>HABILIDADES DE PODER</a:t>
            </a:r>
            <a:endParaRPr lang="en-US" b="1" dirty="0">
              <a:solidFill>
                <a:srgbClr val="2E2B21"/>
              </a:solidFill>
              <a:latin typeface="Tw Cen MT" panose="020B0602020104020603"/>
            </a:endParaRPr>
          </a:p>
        </p:txBody>
      </p:sp>
      <p:sp>
        <p:nvSpPr>
          <p:cNvPr id="17" name="CuadroTexto 16"/>
          <p:cNvSpPr txBox="1"/>
          <p:nvPr/>
        </p:nvSpPr>
        <p:spPr>
          <a:xfrm>
            <a:off x="6830895" y="2660654"/>
            <a:ext cx="4916820" cy="3693319"/>
          </a:xfrm>
          <a:prstGeom prst="rect">
            <a:avLst/>
          </a:prstGeom>
          <a:noFill/>
        </p:spPr>
        <p:txBody>
          <a:bodyPr wrap="square" rtlCol="0">
            <a:spAutoFit/>
          </a:bodyPr>
          <a:lstStyle/>
          <a:p>
            <a:pPr marL="285750" indent="-285750">
              <a:buFont typeface="Wingdings" panose="05000000000000000000" pitchFamily="2" charset="2"/>
              <a:buChar char="ü"/>
            </a:pPr>
            <a:r>
              <a:rPr lang="es-PE" dirty="0">
                <a:solidFill>
                  <a:srgbClr val="2E2B21"/>
                </a:solidFill>
                <a:latin typeface="Tw Cen MT" panose="020B0602020104020603"/>
              </a:rPr>
              <a:t>Escucha activa.</a:t>
            </a:r>
          </a:p>
          <a:p>
            <a:pPr marL="285750" indent="-285750">
              <a:buFont typeface="Wingdings" panose="05000000000000000000" pitchFamily="2" charset="2"/>
              <a:buChar char="ü"/>
            </a:pPr>
            <a:r>
              <a:rPr lang="es-PE" dirty="0">
                <a:solidFill>
                  <a:srgbClr val="2E2B21"/>
                </a:solidFill>
                <a:latin typeface="Tw Cen MT" panose="020B0602020104020603"/>
              </a:rPr>
              <a:t>Empatía.</a:t>
            </a:r>
          </a:p>
          <a:p>
            <a:pPr marL="285750" indent="-285750">
              <a:buFont typeface="Wingdings" panose="05000000000000000000" pitchFamily="2" charset="2"/>
              <a:buChar char="ü"/>
            </a:pPr>
            <a:r>
              <a:rPr lang="es-PE" dirty="0">
                <a:solidFill>
                  <a:srgbClr val="2E2B21"/>
                </a:solidFill>
                <a:latin typeface="Tw Cen MT" panose="020B0602020104020603"/>
              </a:rPr>
              <a:t>Comunicación.</a:t>
            </a:r>
          </a:p>
          <a:p>
            <a:pPr marL="285750" indent="-285750">
              <a:buFont typeface="Wingdings" panose="05000000000000000000" pitchFamily="2" charset="2"/>
              <a:buChar char="ü"/>
            </a:pPr>
            <a:r>
              <a:rPr lang="es-PE" dirty="0">
                <a:solidFill>
                  <a:srgbClr val="2E2B21"/>
                </a:solidFill>
                <a:latin typeface="Tw Cen MT" panose="020B0602020104020603"/>
              </a:rPr>
              <a:t>Adaptabilidad al cambio.</a:t>
            </a:r>
          </a:p>
          <a:p>
            <a:pPr marL="285750" indent="-285750">
              <a:buFont typeface="Wingdings" panose="05000000000000000000" pitchFamily="2" charset="2"/>
              <a:buChar char="ü"/>
            </a:pPr>
            <a:r>
              <a:rPr lang="es-PE" dirty="0">
                <a:solidFill>
                  <a:srgbClr val="2E2B21"/>
                </a:solidFill>
                <a:latin typeface="Tw Cen MT" panose="020B0602020104020603"/>
              </a:rPr>
              <a:t>Brainstorming.</a:t>
            </a:r>
          </a:p>
          <a:p>
            <a:pPr marL="285750" indent="-285750">
              <a:buFont typeface="Wingdings" panose="05000000000000000000" pitchFamily="2" charset="2"/>
              <a:buChar char="ü"/>
            </a:pPr>
            <a:r>
              <a:rPr lang="es-PE" dirty="0">
                <a:solidFill>
                  <a:srgbClr val="2E2B21"/>
                </a:solidFill>
                <a:latin typeface="Tw Cen MT" panose="020B0602020104020603"/>
              </a:rPr>
              <a:t>Mentoría.</a:t>
            </a:r>
          </a:p>
          <a:p>
            <a:pPr marL="285750" indent="-285750">
              <a:buFont typeface="Wingdings" panose="05000000000000000000" pitchFamily="2" charset="2"/>
              <a:buChar char="ü"/>
            </a:pPr>
            <a:r>
              <a:rPr lang="es-PE" dirty="0">
                <a:solidFill>
                  <a:srgbClr val="2E2B21"/>
                </a:solidFill>
                <a:latin typeface="Tw Cen MT" panose="020B0602020104020603"/>
              </a:rPr>
              <a:t>Influencia.</a:t>
            </a:r>
          </a:p>
          <a:p>
            <a:pPr marL="285750" indent="-285750">
              <a:buFont typeface="Wingdings" panose="05000000000000000000" pitchFamily="2" charset="2"/>
              <a:buChar char="ü"/>
            </a:pPr>
            <a:r>
              <a:rPr lang="es-PE" dirty="0">
                <a:solidFill>
                  <a:srgbClr val="2E2B21"/>
                </a:solidFill>
                <a:latin typeface="Tw Cen MT" panose="020B0602020104020603"/>
              </a:rPr>
              <a:t>Inteligencia emocional.</a:t>
            </a:r>
          </a:p>
          <a:p>
            <a:pPr marL="285750" indent="-285750">
              <a:buFont typeface="Wingdings" panose="05000000000000000000" pitchFamily="2" charset="2"/>
              <a:buChar char="ü"/>
            </a:pPr>
            <a:r>
              <a:rPr lang="es-PE" dirty="0">
                <a:solidFill>
                  <a:srgbClr val="2E2B21"/>
                </a:solidFill>
                <a:latin typeface="Tw Cen MT" panose="020B0602020104020603"/>
              </a:rPr>
              <a:t>Gestión de conflictos.</a:t>
            </a:r>
          </a:p>
          <a:p>
            <a:pPr marL="285750" indent="-285750">
              <a:buFont typeface="Wingdings" panose="05000000000000000000" pitchFamily="2" charset="2"/>
              <a:buChar char="ü"/>
            </a:pPr>
            <a:r>
              <a:rPr lang="es-PE" dirty="0">
                <a:solidFill>
                  <a:srgbClr val="2E2B21"/>
                </a:solidFill>
                <a:latin typeface="Tw Cen MT" panose="020B0602020104020603"/>
              </a:rPr>
              <a:t>Resolución de problemas.</a:t>
            </a:r>
          </a:p>
          <a:p>
            <a:pPr marL="285750" indent="-285750">
              <a:buFont typeface="Wingdings" panose="05000000000000000000" pitchFamily="2" charset="2"/>
              <a:buChar char="ü"/>
            </a:pPr>
            <a:r>
              <a:rPr lang="es-PE" dirty="0">
                <a:solidFill>
                  <a:srgbClr val="2E2B21"/>
                </a:solidFill>
                <a:latin typeface="Tw Cen MT" panose="020B0602020104020603"/>
              </a:rPr>
              <a:t>Trabajo en equipo.</a:t>
            </a:r>
          </a:p>
          <a:p>
            <a:pPr marL="285750" indent="-285750">
              <a:buFont typeface="Wingdings" panose="05000000000000000000" pitchFamily="2" charset="2"/>
              <a:buChar char="ü"/>
            </a:pPr>
            <a:endParaRPr lang="es-PE" dirty="0">
              <a:solidFill>
                <a:srgbClr val="2E2B21"/>
              </a:solidFill>
              <a:latin typeface="Tw Cen MT" panose="020B0602020104020603"/>
            </a:endParaRPr>
          </a:p>
          <a:p>
            <a:pPr marL="285750" indent="-285750">
              <a:buFont typeface="Wingdings" panose="05000000000000000000" pitchFamily="2" charset="2"/>
              <a:buChar char="ü"/>
            </a:pPr>
            <a:endParaRPr lang="en-US" dirty="0">
              <a:solidFill>
                <a:srgbClr val="2E2B21"/>
              </a:solidFill>
              <a:latin typeface="Tw Cen MT" panose="020B0602020104020603"/>
            </a:endParaRPr>
          </a:p>
        </p:txBody>
      </p:sp>
      <p:cxnSp>
        <p:nvCxnSpPr>
          <p:cNvPr id="18" name="Conector recto 17"/>
          <p:cNvCxnSpPr/>
          <p:nvPr/>
        </p:nvCxnSpPr>
        <p:spPr>
          <a:xfrm>
            <a:off x="6603471" y="2035871"/>
            <a:ext cx="0" cy="4388888"/>
          </a:xfrm>
          <a:prstGeom prst="line">
            <a:avLst/>
          </a:prstGeom>
          <a:noFill/>
          <a:ln w="9525" cap="flat" cmpd="sng" algn="ctr">
            <a:solidFill>
              <a:srgbClr val="002060"/>
            </a:solidFill>
            <a:prstDash val="solid"/>
          </a:ln>
          <a:effectLst/>
        </p:spPr>
      </p:cxnSp>
      <p:sp>
        <p:nvSpPr>
          <p:cNvPr id="20" name="CuadroTexto 19"/>
          <p:cNvSpPr txBox="1"/>
          <p:nvPr/>
        </p:nvSpPr>
        <p:spPr>
          <a:xfrm>
            <a:off x="1628197" y="6202882"/>
            <a:ext cx="3854548" cy="276999"/>
          </a:xfrm>
          <a:prstGeom prst="rect">
            <a:avLst/>
          </a:prstGeom>
          <a:noFill/>
        </p:spPr>
        <p:txBody>
          <a:bodyPr wrap="square" rtlCol="0">
            <a:spAutoFit/>
          </a:bodyPr>
          <a:lstStyle/>
          <a:p>
            <a:pPr algn="ctr"/>
            <a:r>
              <a:rPr lang="es-PE" sz="1200" dirty="0">
                <a:solidFill>
                  <a:srgbClr val="2E2B21"/>
                </a:solidFill>
                <a:latin typeface="Tw Cen MT" panose="020B0602020104020603"/>
              </a:rPr>
              <a:t>EL TRIÁNGULO DEL TALENTO DEL PMI </a:t>
            </a:r>
            <a:r>
              <a:rPr lang="es-PE" sz="1100" dirty="0">
                <a:solidFill>
                  <a:srgbClr val="2E2B21"/>
                </a:solidFill>
                <a:latin typeface="Tw Cen MT" panose="020B0602020104020603"/>
              </a:rPr>
              <a:t>®</a:t>
            </a:r>
            <a:endParaRPr lang="en-US" sz="1100" dirty="0">
              <a:solidFill>
                <a:srgbClr val="2E2B21"/>
              </a:solidFill>
              <a:latin typeface="Tw Cen MT" panose="020B0602020104020603"/>
            </a:endParaRPr>
          </a:p>
        </p:txBody>
      </p:sp>
      <p:pic>
        <p:nvPicPr>
          <p:cNvPr id="3" name="Imagen 2"/>
          <p:cNvPicPr>
            <a:picLocks noChangeAspect="1"/>
          </p:cNvPicPr>
          <p:nvPr/>
        </p:nvPicPr>
        <p:blipFill>
          <a:blip r:embed="rId2"/>
          <a:stretch>
            <a:fillRect/>
          </a:stretch>
        </p:blipFill>
        <p:spPr>
          <a:xfrm>
            <a:off x="201778" y="2848996"/>
            <a:ext cx="6401693" cy="2762636"/>
          </a:xfrm>
          <a:prstGeom prst="rect">
            <a:avLst/>
          </a:prstGeom>
        </p:spPr>
      </p:pic>
      <p:sp>
        <p:nvSpPr>
          <p:cNvPr id="5" name="Título 1">
            <a:extLst>
              <a:ext uri="{FF2B5EF4-FFF2-40B4-BE49-F238E27FC236}">
                <a16:creationId xmlns:a16="http://schemas.microsoft.com/office/drawing/2014/main" id="{54B34D75-E6BF-3AAE-2637-6EE3129DBB25}"/>
              </a:ext>
            </a:extLst>
          </p:cNvPr>
          <p:cNvSpPr>
            <a:spLocks noGrp="1"/>
          </p:cNvSpPr>
          <p:nvPr>
            <p:ph type="title"/>
          </p:nvPr>
        </p:nvSpPr>
        <p:spPr>
          <a:xfrm>
            <a:off x="272468" y="406929"/>
            <a:ext cx="8824415" cy="1325563"/>
          </a:xfrm>
        </p:spPr>
        <p:txBody>
          <a:bodyPr/>
          <a:lstStyle/>
          <a:p>
            <a:r>
              <a:rPr lang="es-ES" b="1" dirty="0"/>
              <a:t>04. MI ROL COMO GESTOR DE PROYECTOS</a:t>
            </a:r>
            <a:endParaRPr lang="en-US" b="1" dirty="0"/>
          </a:p>
        </p:txBody>
      </p:sp>
    </p:spTree>
    <p:extLst>
      <p:ext uri="{BB962C8B-B14F-4D97-AF65-F5344CB8AC3E}">
        <p14:creationId xmlns:p14="http://schemas.microsoft.com/office/powerpoint/2010/main" val="7137363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375039" y="2095526"/>
            <a:ext cx="11441921" cy="3991862"/>
          </a:xfrm>
          <a:prstGeom prst="rect">
            <a:avLst/>
          </a:prstGeom>
          <a:noFill/>
        </p:spPr>
        <p:txBody>
          <a:bodyPr wrap="square" rtlCol="0">
            <a:spAutoFit/>
          </a:bodyPr>
          <a:lstStyle/>
          <a:p>
            <a:pPr marR="0" lvl="0" defTabSz="190500">
              <a:lnSpc>
                <a:spcPct val="115000"/>
              </a:lnSpc>
              <a:spcBef>
                <a:spcPct val="20000"/>
              </a:spcBef>
              <a:spcAft>
                <a:spcPts val="0"/>
              </a:spcAft>
              <a:buClr>
                <a:srgbClr val="FFFFFF"/>
              </a:buClr>
              <a:buSzPct val="70000"/>
            </a:pPr>
            <a:r>
              <a:rPr lang="es-ES" sz="1400" b="1" dirty="0">
                <a:latin typeface="Arial" panose="020B0604020202020204" pitchFamily="34" charset="0"/>
                <a:cs typeface="Arial" panose="020B0604020202020204" pitchFamily="34" charset="0"/>
              </a:rPr>
              <a:t>1. </a:t>
            </a:r>
            <a:r>
              <a:rPr lang="es-PE" sz="1400" b="1" dirty="0">
                <a:latin typeface="Arial" panose="020B0604020202020204" pitchFamily="34" charset="0"/>
                <a:cs typeface="Arial" panose="020B0604020202020204" pitchFamily="34" charset="0"/>
              </a:rPr>
              <a:t>El  Project Manager de un proyecto complejo de investigaciones en la transferencia de calor sabe que los cambios en un proyecto son inevitables, pero debe transmitir a todas las partes interesadas que:</a:t>
            </a:r>
            <a:endParaRPr lang="en-US" sz="1400" b="1" dirty="0">
              <a:latin typeface="Arial" panose="020B0604020202020204" pitchFamily="34" charset="0"/>
              <a:cs typeface="Arial" panose="020B0604020202020204" pitchFamily="34" charset="0"/>
            </a:endParaRPr>
          </a:p>
          <a:p>
            <a:pPr marR="0" defTabSz="190500">
              <a:lnSpc>
                <a:spcPct val="115000"/>
              </a:lnSpc>
              <a:spcBef>
                <a:spcPct val="20000"/>
              </a:spcBef>
              <a:spcAft>
                <a:spcPts val="0"/>
              </a:spcAft>
              <a:buClr>
                <a:srgbClr val="FFFFFF"/>
              </a:buClr>
              <a:buSzPct val="70000"/>
            </a:pPr>
            <a:r>
              <a:rPr lang="es-ES" sz="1400" dirty="0">
                <a:latin typeface="Arial" panose="020B0604020202020204" pitchFamily="34" charset="0"/>
                <a:cs typeface="Arial" panose="020B0604020202020204" pitchFamily="34" charset="0"/>
              </a:rPr>
              <a:t>a) El costo de los cambios es menor en la fase inicial.</a:t>
            </a:r>
            <a:endParaRPr lang="en-US" sz="1400" dirty="0">
              <a:latin typeface="Arial" panose="020B0604020202020204" pitchFamily="34" charset="0"/>
              <a:cs typeface="Arial" panose="020B0604020202020204" pitchFamily="34" charset="0"/>
            </a:endParaRPr>
          </a:p>
          <a:p>
            <a:pPr marR="0" lvl="0" defTabSz="190500">
              <a:lnSpc>
                <a:spcPct val="115000"/>
              </a:lnSpc>
              <a:spcBef>
                <a:spcPct val="20000"/>
              </a:spcBef>
              <a:spcAft>
                <a:spcPts val="0"/>
              </a:spcAft>
              <a:buClr>
                <a:srgbClr val="FFFFFF"/>
              </a:buClr>
              <a:buSzPct val="70000"/>
              <a:tabLst>
                <a:tab pos="457200" algn="l"/>
              </a:tabLst>
            </a:pPr>
            <a:r>
              <a:rPr lang="es-ES" sz="1400" dirty="0">
                <a:latin typeface="Arial" panose="020B0604020202020204" pitchFamily="34" charset="0"/>
                <a:cs typeface="Arial" panose="020B0604020202020204" pitchFamily="34" charset="0"/>
              </a:rPr>
              <a:t>b) El costo del cambio es menor en la fase de cierre.</a:t>
            </a:r>
            <a:endParaRPr lang="en-US" sz="1400" dirty="0">
              <a:latin typeface="Arial" panose="020B0604020202020204" pitchFamily="34" charset="0"/>
              <a:cs typeface="Arial" panose="020B0604020202020204" pitchFamily="34" charset="0"/>
            </a:endParaRPr>
          </a:p>
          <a:p>
            <a:pPr marR="0" lvl="0" defTabSz="190500">
              <a:lnSpc>
                <a:spcPct val="115000"/>
              </a:lnSpc>
              <a:spcBef>
                <a:spcPct val="20000"/>
              </a:spcBef>
              <a:spcAft>
                <a:spcPts val="0"/>
              </a:spcAft>
              <a:buClr>
                <a:srgbClr val="FFFFFF"/>
              </a:buClr>
              <a:buSzPct val="70000"/>
              <a:tabLst>
                <a:tab pos="457200" algn="l"/>
              </a:tabLst>
            </a:pPr>
            <a:r>
              <a:rPr lang="es-ES" sz="1400" dirty="0">
                <a:latin typeface="Arial" panose="020B0604020202020204" pitchFamily="34" charset="0"/>
                <a:cs typeface="Arial" panose="020B0604020202020204" pitchFamily="34" charset="0"/>
              </a:rPr>
              <a:t>c) El costo del cambio es mayor en la fase inicial, no así los riesgos.</a:t>
            </a:r>
            <a:endParaRPr lang="en-US" sz="1400" dirty="0">
              <a:latin typeface="Arial" panose="020B0604020202020204" pitchFamily="34" charset="0"/>
              <a:cs typeface="Arial" panose="020B0604020202020204" pitchFamily="34" charset="0"/>
            </a:endParaRPr>
          </a:p>
          <a:p>
            <a:pPr marR="0" lvl="0" defTabSz="190500">
              <a:lnSpc>
                <a:spcPct val="115000"/>
              </a:lnSpc>
              <a:spcBef>
                <a:spcPct val="20000"/>
              </a:spcBef>
              <a:spcAft>
                <a:spcPts val="0"/>
              </a:spcAft>
              <a:buClr>
                <a:srgbClr val="FFFFFF"/>
              </a:buClr>
              <a:buSzPct val="70000"/>
              <a:tabLst>
                <a:tab pos="457200" algn="l"/>
              </a:tabLst>
            </a:pPr>
            <a:r>
              <a:rPr lang="es-ES" sz="1400" dirty="0">
                <a:latin typeface="Arial" panose="020B0604020202020204" pitchFamily="34" charset="0"/>
                <a:cs typeface="Arial" panose="020B0604020202020204" pitchFamily="34" charset="0"/>
              </a:rPr>
              <a:t>d) El costo del cambio es mucho menor en la ejecución.</a:t>
            </a:r>
            <a:endParaRPr lang="en-US" sz="1400" dirty="0">
              <a:latin typeface="Arial" panose="020B0604020202020204" pitchFamily="34" charset="0"/>
              <a:cs typeface="Arial" panose="020B0604020202020204" pitchFamily="34" charset="0"/>
            </a:endParaRPr>
          </a:p>
          <a:p>
            <a:pPr defTabSz="190500">
              <a:lnSpc>
                <a:spcPct val="115000"/>
              </a:lnSpc>
              <a:spcBef>
                <a:spcPct val="20000"/>
              </a:spcBef>
              <a:buClr>
                <a:srgbClr val="FFFFFF"/>
              </a:buClr>
              <a:buSzPct val="70000"/>
            </a:pPr>
            <a:endParaRPr lang="es-ES" sz="1400" b="1" dirty="0">
              <a:latin typeface="Arial" panose="020B0604020202020204" pitchFamily="34" charset="0"/>
              <a:cs typeface="Arial" panose="020B0604020202020204" pitchFamily="34" charset="0"/>
            </a:endParaRPr>
          </a:p>
          <a:p>
            <a:pPr lvl="0" defTabSz="190500">
              <a:lnSpc>
                <a:spcPct val="115000"/>
              </a:lnSpc>
              <a:spcBef>
                <a:spcPct val="20000"/>
              </a:spcBef>
              <a:buClr>
                <a:srgbClr val="FFFFFF"/>
              </a:buClr>
              <a:buSzPct val="70000"/>
            </a:pPr>
            <a:r>
              <a:rPr lang="es-ES" sz="1400" b="1" dirty="0">
                <a:latin typeface="Arial" panose="020B0604020202020204" pitchFamily="34" charset="0"/>
                <a:cs typeface="Arial" panose="020B0604020202020204" pitchFamily="34" charset="0"/>
              </a:rPr>
              <a:t>2. Los patrocinadores de proyecto deben tener la capacidad de tomar decisiones de manera efectiva. ¿Cuál de los siguientes aspectos es importante para facilitarles este trabajo?</a:t>
            </a:r>
            <a:r>
              <a:rPr lang="es-PE" sz="1400" b="1" dirty="0">
                <a:latin typeface="Arial" panose="020B0604020202020204" pitchFamily="34" charset="0"/>
                <a:cs typeface="Arial" panose="020B0604020202020204" pitchFamily="34" charset="0"/>
              </a:rPr>
              <a:t> </a:t>
            </a:r>
            <a:endParaRPr lang="en-US" sz="1400" b="1" dirty="0">
              <a:latin typeface="Arial" panose="020B0604020202020204" pitchFamily="34" charset="0"/>
              <a:cs typeface="Arial" panose="020B0604020202020204" pitchFamily="34" charset="0"/>
            </a:endParaRPr>
          </a:p>
          <a:p>
            <a:pPr defTabSz="190500">
              <a:lnSpc>
                <a:spcPct val="115000"/>
              </a:lnSpc>
              <a:spcBef>
                <a:spcPct val="20000"/>
              </a:spcBef>
              <a:buClr>
                <a:srgbClr val="FFFFFF"/>
              </a:buClr>
              <a:buSzPct val="70000"/>
            </a:pPr>
            <a:r>
              <a:rPr lang="es-ES" sz="1400" dirty="0">
                <a:latin typeface="Arial" panose="020B0604020202020204" pitchFamily="34" charset="0"/>
                <a:cs typeface="Arial" panose="020B0604020202020204" pitchFamily="34" charset="0"/>
              </a:rPr>
              <a:t>a) Los patrocinadores deben consultar a las partes interesadas antes de tomar cualquier decisión</a:t>
            </a:r>
            <a:r>
              <a:rPr lang="es-PE" sz="1400" dirty="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a:p>
            <a:pPr lvl="0" defTabSz="190500">
              <a:lnSpc>
                <a:spcPct val="115000"/>
              </a:lnSpc>
              <a:spcBef>
                <a:spcPct val="20000"/>
              </a:spcBef>
              <a:buClr>
                <a:srgbClr val="FFFFFF"/>
              </a:buClr>
              <a:buSzPct val="70000"/>
            </a:pPr>
            <a:r>
              <a:rPr lang="es-ES" sz="1400" dirty="0">
                <a:latin typeface="Arial" panose="020B0604020202020204" pitchFamily="34" charset="0"/>
                <a:cs typeface="Arial" panose="020B0604020202020204" pitchFamily="34" charset="0"/>
              </a:rPr>
              <a:t>b) Los patrocinadores deben poseer toda la información técnica detallada a considerar en la toma de una decisión</a:t>
            </a:r>
            <a:r>
              <a:rPr lang="es-PE" sz="1400" dirty="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a:p>
            <a:pPr lvl="0" defTabSz="190500">
              <a:lnSpc>
                <a:spcPct val="115000"/>
              </a:lnSpc>
              <a:spcBef>
                <a:spcPct val="20000"/>
              </a:spcBef>
              <a:buClr>
                <a:srgbClr val="FFFFFF"/>
              </a:buClr>
              <a:buSzPct val="70000"/>
            </a:pPr>
            <a:r>
              <a:rPr lang="es-ES" sz="1400" dirty="0">
                <a:latin typeface="Arial" panose="020B0604020202020204" pitchFamily="34" charset="0"/>
                <a:cs typeface="Arial" panose="020B0604020202020204" pitchFamily="34" charset="0"/>
              </a:rPr>
              <a:t>c) Los patrocinadores y los Project manager deben establecer una relación y unas expectativas claras desde el inicio del proceso de planificación</a:t>
            </a:r>
            <a:r>
              <a:rPr lang="es-PE" sz="1400" dirty="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a:p>
            <a:pPr defTabSz="190500">
              <a:lnSpc>
                <a:spcPct val="115000"/>
              </a:lnSpc>
              <a:spcBef>
                <a:spcPct val="20000"/>
              </a:spcBef>
              <a:buClr>
                <a:srgbClr val="FFFFFF"/>
              </a:buClr>
              <a:buSzPct val="70000"/>
            </a:pPr>
            <a:r>
              <a:rPr lang="es-ES" sz="1400" dirty="0">
                <a:latin typeface="Arial" panose="020B0604020202020204" pitchFamily="34" charset="0"/>
                <a:cs typeface="Arial" panose="020B0604020202020204" pitchFamily="34" charset="0"/>
              </a:rPr>
              <a:t>d) Los miembros del equipo deben ayudar al patrocinador a tomar decisiones en todo momento</a:t>
            </a:r>
            <a:r>
              <a:rPr lang="es-PE" sz="1400" dirty="0">
                <a:latin typeface="Arial" panose="020B0604020202020204" pitchFamily="34" charset="0"/>
                <a:cs typeface="Arial" panose="020B0604020202020204" pitchFamily="34" charset="0"/>
              </a:rPr>
              <a:t>.</a:t>
            </a:r>
            <a:endParaRPr lang="es-ES" sz="1400" dirty="0">
              <a:latin typeface="Arial" panose="020B0604020202020204" pitchFamily="34" charset="0"/>
              <a:cs typeface="Arial" panose="020B0604020202020204" pitchFamily="34" charset="0"/>
            </a:endParaRPr>
          </a:p>
        </p:txBody>
      </p:sp>
      <p:sp>
        <p:nvSpPr>
          <p:cNvPr id="12" name="Freeform 4"/>
          <p:cNvSpPr>
            <a:spLocks/>
          </p:cNvSpPr>
          <p:nvPr/>
        </p:nvSpPr>
        <p:spPr bwMode="auto">
          <a:xfrm>
            <a:off x="4851949" y="2649393"/>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13" name="Freeform 4"/>
          <p:cNvSpPr>
            <a:spLocks/>
          </p:cNvSpPr>
          <p:nvPr/>
        </p:nvSpPr>
        <p:spPr bwMode="auto">
          <a:xfrm>
            <a:off x="1782306" y="5511853"/>
            <a:ext cx="161684" cy="191524"/>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8" name="Título 1"/>
          <p:cNvSpPr>
            <a:spLocks noGrp="1"/>
          </p:cNvSpPr>
          <p:nvPr>
            <p:ph type="title"/>
          </p:nvPr>
        </p:nvSpPr>
        <p:spPr>
          <a:xfrm>
            <a:off x="838200" y="365125"/>
            <a:ext cx="10515600" cy="1325563"/>
          </a:xfrm>
        </p:spPr>
        <p:txBody>
          <a:bodyPr/>
          <a:lstStyle/>
          <a:p>
            <a:r>
              <a:rPr lang="es-ES" dirty="0"/>
              <a:t>Verifica cuánto has aprendido hoy:</a:t>
            </a:r>
            <a:endParaRPr lang="en-US" dirty="0"/>
          </a:p>
        </p:txBody>
      </p:sp>
    </p:spTree>
    <p:extLst>
      <p:ext uri="{BB962C8B-B14F-4D97-AF65-F5344CB8AC3E}">
        <p14:creationId xmlns:p14="http://schemas.microsoft.com/office/powerpoint/2010/main" val="1558120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326265" y="1689367"/>
            <a:ext cx="11539470" cy="2954655"/>
          </a:xfrm>
          <a:prstGeom prst="rect">
            <a:avLst/>
          </a:prstGeom>
          <a:noFill/>
        </p:spPr>
        <p:txBody>
          <a:bodyPr wrap="square" rtlCol="0">
            <a:spAutoFit/>
          </a:bodyPr>
          <a:lstStyle/>
          <a:p>
            <a:pPr marL="342900" lvl="0" indent="-342900" algn="just">
              <a:buFont typeface="+mj-lt"/>
              <a:buAutoNum type="arabicPeriod" startAt="3"/>
            </a:pPr>
            <a:r>
              <a:rPr lang="es-ES" sz="1400" b="1" spc="100" dirty="0">
                <a:effectLst/>
                <a:latin typeface="Arial" panose="020B0604020202020204" pitchFamily="34" charset="0"/>
                <a:ea typeface="Times New Roman" panose="02020603050405020304" pitchFamily="18" charset="0"/>
              </a:rPr>
              <a:t>Usted lidera el departamento de ingeniería en su compañía. Últimamente, usted ha observado que ciertos entregables no se ajustan al cronograma. Una mirada más exhaustiva le indica que estos entregables tienen que ver con un determinando miembro del equipo. Usted decide discutir este tema con el miembro del equipo. Al inicio éste miembro se rehúsa a entrar a detalles hasta que finalmente decide comentarle que los retrasos se deben a que recibe diferentes indicaciones tanto de usted como del Project Manager y por ello se da la confusión de qué entregables tienen prioridad. ¿En qué tipo de organización es más probable que esté ocurriendo este caso?</a:t>
            </a:r>
            <a:endParaRPr lang="es-PE" sz="1400" dirty="0">
              <a:effectLst/>
              <a:latin typeface="Times New Roman" panose="02020603050405020304" pitchFamily="18" charset="0"/>
              <a:ea typeface="Times New Roman" panose="02020603050405020304" pitchFamily="18" charset="0"/>
            </a:endParaRPr>
          </a:p>
          <a:p>
            <a:pPr algn="just"/>
            <a:r>
              <a:rPr lang="es-ES" sz="1800" spc="100" dirty="0">
                <a:effectLst/>
                <a:latin typeface="Arial" panose="020B0604020202020204" pitchFamily="34" charset="0"/>
                <a:ea typeface="Times New Roman" panose="02020603050405020304" pitchFamily="18" charset="0"/>
              </a:rPr>
              <a:t> </a:t>
            </a:r>
            <a:endParaRPr lang="es-PE" sz="1800" dirty="0">
              <a:effectLst/>
              <a:latin typeface="Times New Roman" panose="02020603050405020304" pitchFamily="18" charset="0"/>
              <a:ea typeface="Times New Roman" panose="02020603050405020304" pitchFamily="18" charset="0"/>
            </a:endParaRPr>
          </a:p>
          <a:p>
            <a:pPr lvl="0" algn="just">
              <a:tabLst>
                <a:tab pos="457200" algn="l"/>
              </a:tabLst>
            </a:pPr>
            <a:r>
              <a:rPr lang="es-ES" sz="1400" spc="100" dirty="0">
                <a:effectLst/>
                <a:latin typeface="Arial" panose="020B0604020202020204" pitchFamily="34" charset="0"/>
                <a:ea typeface="Times New Roman" panose="02020603050405020304" pitchFamily="18" charset="0"/>
                <a:cs typeface="Arial" panose="020B0604020202020204" pitchFamily="34" charset="0"/>
              </a:rPr>
              <a:t>a) Funcional.</a:t>
            </a:r>
            <a:endParaRPr lang="es-PE" sz="1400" dirty="0">
              <a:effectLst/>
              <a:latin typeface="Arial" panose="020B0604020202020204" pitchFamily="34" charset="0"/>
              <a:ea typeface="Times New Roman" panose="02020603050405020304" pitchFamily="18" charset="0"/>
              <a:cs typeface="Arial" panose="020B0604020202020204" pitchFamily="34" charset="0"/>
            </a:endParaRPr>
          </a:p>
          <a:p>
            <a:pPr lvl="0" algn="just">
              <a:tabLst>
                <a:tab pos="457200" algn="l"/>
              </a:tabLst>
            </a:pPr>
            <a:r>
              <a:rPr lang="es-ES" sz="1400" spc="100" dirty="0">
                <a:effectLst/>
                <a:latin typeface="Arial" panose="020B0604020202020204" pitchFamily="34" charset="0"/>
                <a:ea typeface="Times New Roman" panose="02020603050405020304" pitchFamily="18" charset="0"/>
                <a:cs typeface="Arial" panose="020B0604020202020204" pitchFamily="34" charset="0"/>
              </a:rPr>
              <a:t>b) </a:t>
            </a:r>
            <a:r>
              <a:rPr lang="es-ES" sz="1400" spc="100" dirty="0" err="1">
                <a:effectLst/>
                <a:latin typeface="Arial" panose="020B0604020202020204" pitchFamily="34" charset="0"/>
                <a:ea typeface="Times New Roman" panose="02020603050405020304" pitchFamily="18" charset="0"/>
                <a:cs typeface="Arial" panose="020B0604020202020204" pitchFamily="34" charset="0"/>
              </a:rPr>
              <a:t>Proyectizada</a:t>
            </a:r>
            <a:r>
              <a:rPr lang="es-ES" sz="1400" spc="100" dirty="0">
                <a:effectLst/>
                <a:latin typeface="Arial" panose="020B0604020202020204" pitchFamily="34" charset="0"/>
                <a:ea typeface="Times New Roman" panose="02020603050405020304" pitchFamily="18" charset="0"/>
                <a:cs typeface="Arial" panose="020B0604020202020204" pitchFamily="34" charset="0"/>
              </a:rPr>
              <a:t>.</a:t>
            </a:r>
            <a:endParaRPr lang="es-PE" sz="1400" dirty="0">
              <a:effectLst/>
              <a:latin typeface="Arial" panose="020B0604020202020204" pitchFamily="34" charset="0"/>
              <a:ea typeface="Times New Roman" panose="02020603050405020304" pitchFamily="18" charset="0"/>
              <a:cs typeface="Arial" panose="020B0604020202020204" pitchFamily="34" charset="0"/>
            </a:endParaRPr>
          </a:p>
          <a:p>
            <a:pPr lvl="0" algn="just">
              <a:tabLst>
                <a:tab pos="457200" algn="l"/>
              </a:tabLst>
            </a:pPr>
            <a:r>
              <a:rPr lang="es-ES" sz="1400" spc="100" dirty="0">
                <a:effectLst/>
                <a:latin typeface="Arial" panose="020B0604020202020204" pitchFamily="34" charset="0"/>
                <a:ea typeface="Times New Roman" panose="02020603050405020304" pitchFamily="18" charset="0"/>
                <a:cs typeface="Arial" panose="020B0604020202020204" pitchFamily="34" charset="0"/>
              </a:rPr>
              <a:t>c) Matricial débil.</a:t>
            </a:r>
            <a:endParaRPr lang="es-PE" sz="1400" dirty="0">
              <a:effectLst/>
              <a:latin typeface="Arial" panose="020B0604020202020204" pitchFamily="34" charset="0"/>
              <a:ea typeface="Times New Roman" panose="02020603050405020304" pitchFamily="18" charset="0"/>
              <a:cs typeface="Arial" panose="020B0604020202020204" pitchFamily="34" charset="0"/>
            </a:endParaRPr>
          </a:p>
          <a:p>
            <a:r>
              <a:rPr lang="es-ES" sz="1400" spc="100" dirty="0">
                <a:latin typeface="Arial" panose="020B0604020202020204" pitchFamily="34" charset="0"/>
                <a:ea typeface="Times New Roman" panose="02020603050405020304" pitchFamily="18" charset="0"/>
                <a:cs typeface="Arial" panose="020B0604020202020204" pitchFamily="34" charset="0"/>
              </a:rPr>
              <a:t>d) </a:t>
            </a:r>
            <a:r>
              <a:rPr lang="es-ES" sz="1400" spc="100" dirty="0">
                <a:effectLst/>
                <a:latin typeface="Arial" panose="020B0604020202020204" pitchFamily="34" charset="0"/>
                <a:ea typeface="Times New Roman" panose="02020603050405020304" pitchFamily="18" charset="0"/>
                <a:cs typeface="Arial" panose="020B0604020202020204" pitchFamily="34" charset="0"/>
              </a:rPr>
              <a:t>Matricial balanceada</a:t>
            </a:r>
            <a:endParaRPr lang="es-ES" sz="1400" dirty="0">
              <a:latin typeface="Arial" panose="020B0604020202020204" pitchFamily="34" charset="0"/>
              <a:cs typeface="Arial" panose="020B0604020202020204" pitchFamily="34" charset="0"/>
            </a:endParaRPr>
          </a:p>
          <a:p>
            <a:pPr marL="342900" marR="0" lvl="0" indent="-342900" algn="just">
              <a:spcBef>
                <a:spcPts val="0"/>
              </a:spcBef>
              <a:spcAft>
                <a:spcPts val="0"/>
              </a:spcAft>
              <a:buFont typeface="+mj-lt"/>
              <a:buAutoNum type="arabicPeriod"/>
            </a:pPr>
            <a:endParaRPr lang="es-ES" sz="1400" b="1" dirty="0">
              <a:latin typeface="Arial" panose="020B0604020202020204" pitchFamily="34" charset="0"/>
              <a:cs typeface="Arial" panose="020B0604020202020204" pitchFamily="34" charset="0"/>
            </a:endParaRPr>
          </a:p>
        </p:txBody>
      </p:sp>
      <p:sp>
        <p:nvSpPr>
          <p:cNvPr id="12" name="Freeform 4"/>
          <p:cNvSpPr>
            <a:spLocks/>
          </p:cNvSpPr>
          <p:nvPr/>
        </p:nvSpPr>
        <p:spPr bwMode="auto">
          <a:xfrm>
            <a:off x="2623262" y="4109301"/>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7" name="Título 1"/>
          <p:cNvSpPr>
            <a:spLocks noGrp="1"/>
          </p:cNvSpPr>
          <p:nvPr>
            <p:ph type="title"/>
          </p:nvPr>
        </p:nvSpPr>
        <p:spPr>
          <a:xfrm>
            <a:off x="838200" y="365125"/>
            <a:ext cx="10515600" cy="1325563"/>
          </a:xfrm>
        </p:spPr>
        <p:txBody>
          <a:bodyPr/>
          <a:lstStyle/>
          <a:p>
            <a:r>
              <a:rPr lang="es-ES" dirty="0"/>
              <a:t>Verifica cuánto has aprendido hoy:</a:t>
            </a:r>
            <a:endParaRPr lang="en-US" dirty="0"/>
          </a:p>
        </p:txBody>
      </p:sp>
    </p:spTree>
    <p:extLst>
      <p:ext uri="{BB962C8B-B14F-4D97-AF65-F5344CB8AC3E}">
        <p14:creationId xmlns:p14="http://schemas.microsoft.com/office/powerpoint/2010/main" val="2715644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326265" y="1689367"/>
            <a:ext cx="11539470" cy="2462213"/>
          </a:xfrm>
          <a:prstGeom prst="rect">
            <a:avLst/>
          </a:prstGeom>
          <a:noFill/>
        </p:spPr>
        <p:txBody>
          <a:bodyPr wrap="square" rtlCol="0">
            <a:spAutoFit/>
          </a:bodyPr>
          <a:lstStyle>
            <a:defPPr>
              <a:defRPr lang="es-ES"/>
            </a:defPPr>
            <a:lvl1pPr marL="342900" lvl="0" indent="-342900" algn="just">
              <a:buFont typeface="+mj-lt"/>
              <a:buAutoNum type="arabicPeriod" startAt="3"/>
              <a:defRPr sz="1400" b="1" spc="100">
                <a:effectLst/>
                <a:latin typeface="Arial" panose="020B0604020202020204" pitchFamily="34" charset="0"/>
                <a:ea typeface="Times New Roman" panose="02020603050405020304" pitchFamily="18" charset="0"/>
              </a:defRPr>
            </a:lvl1pPr>
          </a:lstStyle>
          <a:p>
            <a:pPr>
              <a:buFont typeface="+mj-lt"/>
              <a:buAutoNum type="arabicPeriod" startAt="4"/>
            </a:pPr>
            <a:r>
              <a:rPr lang="es-ES_tradnl" dirty="0"/>
              <a:t>Eres el director de un proyecto de automatización, cuyo valor es de USD 50M para una fabricación de productos de consumo masivo y actualmente te encuentras desarrollando el acta de constitución del proyecto. Necesitas identificar a los interesados y alinearlos ahora con los objetivos del proyecto. Uno de tus interesados te pide que le muestres el informe de viabilidad económica del proyecto, el cual establecerá la validez de los beneficios obtenidos a partir de la automatización. ¿Cuál documento deberías consultar para esto?</a:t>
            </a:r>
          </a:p>
          <a:p>
            <a:pPr>
              <a:buFont typeface="+mj-lt"/>
              <a:buAutoNum type="arabicPeriod" startAt="4"/>
            </a:pPr>
            <a:endParaRPr lang="es-ES_tradnl" dirty="0"/>
          </a:p>
          <a:p>
            <a:pPr>
              <a:buFont typeface="+mj-lt"/>
              <a:buAutoNum type="arabicPeriod" startAt="4"/>
            </a:pPr>
            <a:endParaRPr lang="es-PE" dirty="0"/>
          </a:p>
          <a:p>
            <a:pPr marL="0" indent="0">
              <a:buNone/>
            </a:pPr>
            <a:r>
              <a:rPr lang="es-ES" b="0" dirty="0"/>
              <a:t>a) Acta de Constitución del Proyecto.</a:t>
            </a:r>
            <a:endParaRPr lang="es-PE" b="0" dirty="0"/>
          </a:p>
          <a:p>
            <a:pPr marL="0" indent="0">
              <a:buNone/>
            </a:pPr>
            <a:r>
              <a:rPr lang="es-ES" b="0" dirty="0"/>
              <a:t>b) Caso de negocio del proyecto.</a:t>
            </a:r>
            <a:endParaRPr lang="es-PE" b="0" dirty="0"/>
          </a:p>
          <a:p>
            <a:pPr marL="0" indent="0">
              <a:buNone/>
            </a:pPr>
            <a:r>
              <a:rPr lang="es-ES" b="0" dirty="0"/>
              <a:t>c) Plan de gestión de la configuración.</a:t>
            </a:r>
            <a:endParaRPr lang="es-PE" b="0" dirty="0"/>
          </a:p>
          <a:p>
            <a:pPr marL="0" indent="0">
              <a:buNone/>
            </a:pPr>
            <a:r>
              <a:rPr lang="es-ES" b="0" dirty="0"/>
              <a:t>d) Plan de gestión de beneficios.</a:t>
            </a:r>
          </a:p>
        </p:txBody>
      </p:sp>
      <p:sp>
        <p:nvSpPr>
          <p:cNvPr id="12" name="Freeform 4"/>
          <p:cNvSpPr>
            <a:spLocks/>
          </p:cNvSpPr>
          <p:nvPr/>
        </p:nvSpPr>
        <p:spPr bwMode="auto">
          <a:xfrm>
            <a:off x="3632912" y="3429000"/>
            <a:ext cx="161925" cy="219075"/>
          </a:xfrm>
          <a:custGeom>
            <a:avLst/>
            <a:gdLst>
              <a:gd name="T0" fmla="*/ 2147483647 w 1040"/>
              <a:gd name="T1" fmla="*/ 2147483647 h 1312"/>
              <a:gd name="T2" fmla="*/ 2147483647 w 1040"/>
              <a:gd name="T3" fmla="*/ 2147483647 h 1312"/>
              <a:gd name="T4" fmla="*/ 0 w 1040"/>
              <a:gd name="T5" fmla="*/ 2147483647 h 1312"/>
              <a:gd name="T6" fmla="*/ 2147483647 w 1040"/>
              <a:gd name="T7" fmla="*/ 2147483647 h 1312"/>
              <a:gd name="T8" fmla="*/ 2147483647 w 1040"/>
              <a:gd name="T9" fmla="*/ 2147483647 h 1312"/>
              <a:gd name="T10" fmla="*/ 2147483647 w 1040"/>
              <a:gd name="T11" fmla="*/ 2147483647 h 1312"/>
              <a:gd name="T12" fmla="*/ 2147483647 w 1040"/>
              <a:gd name="T13" fmla="*/ 2147483647 h 1312"/>
              <a:gd name="T14" fmla="*/ 2147483647 w 1040"/>
              <a:gd name="T15" fmla="*/ 2147483647 h 1312"/>
              <a:gd name="T16" fmla="*/ 2147483647 w 1040"/>
              <a:gd name="T17" fmla="*/ 2147483647 h 1312"/>
              <a:gd name="T18" fmla="*/ 2147483647 w 1040"/>
              <a:gd name="T19" fmla="*/ 2147483647 h 1312"/>
              <a:gd name="T20" fmla="*/ 2147483647 w 1040"/>
              <a:gd name="T21" fmla="*/ 2147483647 h 1312"/>
              <a:gd name="T22" fmla="*/ 2147483647 w 1040"/>
              <a:gd name="T23" fmla="*/ 0 h 1312"/>
              <a:gd name="T24" fmla="*/ 2147483647 w 1040"/>
              <a:gd name="T25" fmla="*/ 2147483647 h 1312"/>
              <a:gd name="T26" fmla="*/ 2147483647 w 1040"/>
              <a:gd name="T27" fmla="*/ 2147483647 h 1312"/>
              <a:gd name="T28" fmla="*/ 2147483647 w 1040"/>
              <a:gd name="T29" fmla="*/ 2147483647 h 1312"/>
              <a:gd name="T30" fmla="*/ 2147483647 w 1040"/>
              <a:gd name="T31" fmla="*/ 2147483647 h 1312"/>
              <a:gd name="T32" fmla="*/ 2147483647 w 1040"/>
              <a:gd name="T33" fmla="*/ 2147483647 h 13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40"/>
              <a:gd name="T52" fmla="*/ 0 h 1312"/>
              <a:gd name="T53" fmla="*/ 1040 w 1040"/>
              <a:gd name="T54" fmla="*/ 1312 h 13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40" h="1312">
                <a:moveTo>
                  <a:pt x="285" y="736"/>
                </a:moveTo>
                <a:lnTo>
                  <a:pt x="104" y="619"/>
                </a:lnTo>
                <a:lnTo>
                  <a:pt x="0" y="665"/>
                </a:lnTo>
                <a:lnTo>
                  <a:pt x="14" y="818"/>
                </a:lnTo>
                <a:lnTo>
                  <a:pt x="163" y="1099"/>
                </a:lnTo>
                <a:lnTo>
                  <a:pt x="231" y="1312"/>
                </a:lnTo>
                <a:lnTo>
                  <a:pt x="366" y="1308"/>
                </a:lnTo>
                <a:lnTo>
                  <a:pt x="515" y="782"/>
                </a:lnTo>
                <a:lnTo>
                  <a:pt x="692" y="442"/>
                </a:lnTo>
                <a:lnTo>
                  <a:pt x="981" y="100"/>
                </a:lnTo>
                <a:lnTo>
                  <a:pt x="1040" y="4"/>
                </a:lnTo>
                <a:lnTo>
                  <a:pt x="941" y="0"/>
                </a:lnTo>
                <a:lnTo>
                  <a:pt x="710" y="181"/>
                </a:lnTo>
                <a:lnTo>
                  <a:pt x="470" y="479"/>
                </a:lnTo>
                <a:lnTo>
                  <a:pt x="298" y="900"/>
                </a:lnTo>
                <a:lnTo>
                  <a:pt x="285" y="736"/>
                </a:lnTo>
                <a:close/>
              </a:path>
            </a:pathLst>
          </a:custGeom>
          <a:solidFill>
            <a:srgbClr val="0070C0"/>
          </a:solidFill>
          <a:ln>
            <a:noFill/>
          </a:ln>
        </p:spPr>
        <p:txBody>
          <a:bodyPr/>
          <a:lstStyle/>
          <a:p>
            <a:endParaRPr lang="en-US">
              <a:solidFill>
                <a:srgbClr val="FFFFFF"/>
              </a:solidFill>
              <a:latin typeface="Tw Cen MT" panose="020B0602020104020603"/>
            </a:endParaRPr>
          </a:p>
        </p:txBody>
      </p:sp>
      <p:sp>
        <p:nvSpPr>
          <p:cNvPr id="7" name="Título 1"/>
          <p:cNvSpPr>
            <a:spLocks noGrp="1"/>
          </p:cNvSpPr>
          <p:nvPr>
            <p:ph type="title"/>
          </p:nvPr>
        </p:nvSpPr>
        <p:spPr>
          <a:xfrm>
            <a:off x="838200" y="365125"/>
            <a:ext cx="10515600" cy="1325563"/>
          </a:xfrm>
        </p:spPr>
        <p:txBody>
          <a:bodyPr/>
          <a:lstStyle/>
          <a:p>
            <a:r>
              <a:rPr lang="es-ES" dirty="0"/>
              <a:t>Verifica cuánto has aprendido hoy:</a:t>
            </a:r>
            <a:endParaRPr lang="en-US" dirty="0"/>
          </a:p>
        </p:txBody>
      </p:sp>
    </p:spTree>
    <p:extLst>
      <p:ext uri="{BB962C8B-B14F-4D97-AF65-F5344CB8AC3E}">
        <p14:creationId xmlns:p14="http://schemas.microsoft.com/office/powerpoint/2010/main" val="911111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TotalTime>
  <Words>1285</Words>
  <Application>Microsoft Office PowerPoint</Application>
  <PresentationFormat>Panorámica</PresentationFormat>
  <Paragraphs>192</Paragraphs>
  <Slides>21</Slides>
  <Notes>0</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21</vt:i4>
      </vt:variant>
    </vt:vector>
  </HeadingPairs>
  <TitlesOfParts>
    <vt:vector size="33" baseType="lpstr">
      <vt:lpstr>Arial</vt:lpstr>
      <vt:lpstr>Arial Narrow</vt:lpstr>
      <vt:lpstr>Calibri</vt:lpstr>
      <vt:lpstr>Calibri Light</vt:lpstr>
      <vt:lpstr>Futura-Bold</vt:lpstr>
      <vt:lpstr>Lato Light</vt:lpstr>
      <vt:lpstr>Poppins</vt:lpstr>
      <vt:lpstr>Prompt</vt:lpstr>
      <vt:lpstr>Times New Roman</vt:lpstr>
      <vt:lpstr>Tw Cen MT</vt:lpstr>
      <vt:lpstr>Wingdings</vt:lpstr>
      <vt:lpstr>Tema de Office</vt:lpstr>
      <vt:lpstr>Presentación de PowerPoint</vt:lpstr>
      <vt:lpstr>Presentación de PowerPoint</vt:lpstr>
      <vt:lpstr>SESIÓN 02</vt:lpstr>
      <vt:lpstr>Presentación de PowerPoint</vt:lpstr>
      <vt:lpstr>Presentación de PowerPoint</vt:lpstr>
      <vt:lpstr>01. LOS PROCESOS MACRO DE LA GESTIÓN DE PROYECTOS – 6ta EDICIÓN</vt:lpstr>
      <vt:lpstr>01. LOS PROCESOS MACRO DE LA GESTIÓN DE PROYECTOS – 6ta EDICIÓN</vt:lpstr>
      <vt:lpstr>01. LOS PROCESOS MACRO DE LA GESTIÓN DE PROYECTOS – 6ta EDICIÓN</vt:lpstr>
      <vt:lpstr>DE LA 6ta A LA 7ma EDICIÓN</vt:lpstr>
      <vt:lpstr>02. ESTRUCTURAS EN UNA ORGANIZACIÓN</vt:lpstr>
      <vt:lpstr>02. ESTRUCTURAS EN UNA ORGANIZACIÓN</vt:lpstr>
      <vt:lpstr>02. ESTRUCTURAS EN UNA ORGANIZACIÓN</vt:lpstr>
      <vt:lpstr>03. LOS DOCUMENTOS BÁSICOS PARA UNA BUENA GESTIÓN DE PROYECTOS</vt:lpstr>
      <vt:lpstr>03. LOS DOCUMENTOS BÁSICOS PARA UNA BUENA GESTIÓN DE PROYECTOS</vt:lpstr>
      <vt:lpstr>04. MI ROL COMO GESTOR DE PROYECTOS</vt:lpstr>
      <vt:lpstr>04. MI ROL COMO GESTOR DE PROYECTOS</vt:lpstr>
      <vt:lpstr>04. MI ROL COMO GESTOR DE PROYECTOS</vt:lpstr>
      <vt:lpstr>Verifica cuánto has aprendido hoy:</vt:lpstr>
      <vt:lpstr>Verifica cuánto has aprendido hoy:</vt:lpstr>
      <vt:lpstr>Verifica cuánto has aprendido hoy:</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Angel Omar Gonzales</cp:lastModifiedBy>
  <cp:revision>18</cp:revision>
  <dcterms:created xsi:type="dcterms:W3CDTF">2022-04-19T18:02:09Z</dcterms:created>
  <dcterms:modified xsi:type="dcterms:W3CDTF">2023-10-03T02:53:54Z</dcterms:modified>
</cp:coreProperties>
</file>