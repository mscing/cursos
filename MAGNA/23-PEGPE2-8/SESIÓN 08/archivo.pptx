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2" r:id="rId3"/>
    <p:sldId id="263" r:id="rId4"/>
    <p:sldId id="288" r:id="rId5"/>
    <p:sldId id="375" r:id="rId6"/>
    <p:sldId id="380" r:id="rId7"/>
    <p:sldId id="381" r:id="rId8"/>
    <p:sldId id="382" r:id="rId9"/>
    <p:sldId id="383" r:id="rId10"/>
    <p:sldId id="384" r:id="rId11"/>
    <p:sldId id="397" r:id="rId12"/>
    <p:sldId id="399" r:id="rId13"/>
    <p:sldId id="400" r:id="rId14"/>
    <p:sldId id="401" r:id="rId15"/>
    <p:sldId id="402" r:id="rId16"/>
    <p:sldId id="403" r:id="rId17"/>
    <p:sldId id="385" r:id="rId18"/>
    <p:sldId id="386" r:id="rId19"/>
    <p:sldId id="398" r:id="rId20"/>
    <p:sldId id="387" r:id="rId21"/>
    <p:sldId id="394" r:id="rId22"/>
    <p:sldId id="388" r:id="rId23"/>
    <p:sldId id="395" r:id="rId24"/>
    <p:sldId id="389" r:id="rId25"/>
    <p:sldId id="396" r:id="rId26"/>
    <p:sldId id="260"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6CCFEB-18AA-4EE0-896B-70E1BBA070B1}" type="datetimeFigureOut">
              <a:rPr lang="es-PE" smtClean="0"/>
              <a:t>24/10/2023</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FAC0A-98B9-47C6-A828-BA2356E45C0B}" type="slidenum">
              <a:rPr lang="es-PE" smtClean="0"/>
              <a:t>‹Nº›</a:t>
            </a:fld>
            <a:endParaRPr lang="es-PE"/>
          </a:p>
        </p:txBody>
      </p:sp>
    </p:spTree>
    <p:extLst>
      <p:ext uri="{BB962C8B-B14F-4D97-AF65-F5344CB8AC3E}">
        <p14:creationId xmlns:p14="http://schemas.microsoft.com/office/powerpoint/2010/main" val="1688301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24/10/2023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24/10/2023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24/10/2023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24/10/2023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24/10/2023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CuadroTexto 6"/>
          <p:cNvSpPr txBox="1"/>
          <p:nvPr/>
        </p:nvSpPr>
        <p:spPr>
          <a:xfrm>
            <a:off x="469177" y="541700"/>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Título 1"/>
          <p:cNvSpPr txBox="1">
            <a:spLocks/>
          </p:cNvSpPr>
          <p:nvPr/>
        </p:nvSpPr>
        <p:spPr>
          <a:xfrm>
            <a:off x="889950" y="2754228"/>
            <a:ext cx="10993549" cy="1475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rPr>
              <a:t>GESTIÓN DE PROYECTOS ELECTROMECÁNICOS</a:t>
            </a:r>
            <a:endParaRPr lang="en-US" b="1" dirty="0">
              <a:solidFill>
                <a:schemeClr val="bg1"/>
              </a:solidFill>
            </a:endParaRPr>
          </a:p>
        </p:txBody>
      </p:sp>
      <p:sp>
        <p:nvSpPr>
          <p:cNvPr id="5" name="Subtítulo 2"/>
          <p:cNvSpPr txBox="1">
            <a:spLocks/>
          </p:cNvSpPr>
          <p:nvPr/>
        </p:nvSpPr>
        <p:spPr>
          <a:xfrm>
            <a:off x="783075" y="3754230"/>
            <a:ext cx="10993546" cy="590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dirty="0">
                <a:solidFill>
                  <a:schemeClr val="bg1"/>
                </a:solidFill>
              </a:rPr>
              <a:t>Según 7ma edición PMBOK® - PROJECT MANAGEMENT INSTITUTE</a:t>
            </a:r>
            <a:endParaRPr lang="en-US" dirty="0">
              <a:solidFill>
                <a:schemeClr val="bg1"/>
              </a:solidFill>
            </a:endParaRPr>
          </a:p>
        </p:txBody>
      </p:sp>
      <p:sp>
        <p:nvSpPr>
          <p:cNvPr id="8" name="CuadroTexto 7"/>
          <p:cNvSpPr txBox="1"/>
          <p:nvPr/>
        </p:nvSpPr>
        <p:spPr>
          <a:xfrm>
            <a:off x="8205311" y="4943265"/>
            <a:ext cx="3177152" cy="1138773"/>
          </a:xfrm>
          <a:prstGeom prst="rect">
            <a:avLst/>
          </a:prstGeom>
          <a:noFill/>
        </p:spPr>
        <p:txBody>
          <a:bodyPr wrap="square" rtlCol="0">
            <a:spAutoFit/>
          </a:bodyPr>
          <a:lstStyle/>
          <a:p>
            <a:pPr algn="r"/>
            <a:r>
              <a:rPr lang="es-ES" sz="2000" b="1" dirty="0">
                <a:solidFill>
                  <a:schemeClr val="bg1"/>
                </a:solidFill>
                <a:latin typeface="Arial Narrow" panose="020B0606020202030204" pitchFamily="34" charset="0"/>
              </a:rPr>
              <a:t>MAYOR ENFOQUE A </a:t>
            </a:r>
            <a:r>
              <a:rPr lang="es-ES" sz="2800" b="1" dirty="0">
                <a:solidFill>
                  <a:schemeClr val="bg1"/>
                </a:solidFill>
                <a:latin typeface="Arial Narrow" panose="020B0606020202030204" pitchFamily="34" charset="0"/>
              </a:rPr>
              <a:t>RESULTADOS</a:t>
            </a:r>
            <a:r>
              <a:rPr lang="es-ES" sz="2000" b="1" dirty="0">
                <a:solidFill>
                  <a:schemeClr val="bg1"/>
                </a:solidFill>
                <a:latin typeface="Arial Narrow" panose="020B0606020202030204" pitchFamily="34" charset="0"/>
              </a:rPr>
              <a:t>… QUE A ENTREGABLES</a:t>
            </a:r>
            <a:endParaRPr lang="en-US" sz="20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4FB8828-6999-4A9C-6074-68E59EA64819}"/>
              </a:ext>
            </a:extLst>
          </p:cNvPr>
          <p:cNvSpPr>
            <a:spLocks noGrp="1"/>
          </p:cNvSpPr>
          <p:nvPr>
            <p:ph type="title"/>
          </p:nvPr>
        </p:nvSpPr>
        <p:spPr>
          <a:xfrm>
            <a:off x="1117572" y="2757273"/>
            <a:ext cx="10407677" cy="1652802"/>
          </a:xfrm>
        </p:spPr>
        <p:txBody>
          <a:bodyPr>
            <a:normAutofit/>
          </a:bodyPr>
          <a:lstStyle/>
          <a:p>
            <a:r>
              <a:rPr lang="es-ES" b="1" dirty="0">
                <a:solidFill>
                  <a:srgbClr val="00F3B5"/>
                </a:solidFill>
                <a:latin typeface="Prompt" panose="00000800000000000000" pitchFamily="2" charset="-34"/>
                <a:cs typeface="Prompt" panose="00000800000000000000" pitchFamily="2" charset="-34"/>
              </a:rPr>
              <a:t>SESIÓN 08</a:t>
            </a:r>
            <a:br>
              <a:rPr lang="es-ES" b="1" dirty="0">
                <a:solidFill>
                  <a:srgbClr val="00F3B5"/>
                </a:solidFill>
                <a:latin typeface="Prompt" panose="00000800000000000000" pitchFamily="2" charset="-34"/>
                <a:cs typeface="Prompt" panose="00000800000000000000" pitchFamily="2" charset="-34"/>
              </a:rPr>
            </a:br>
            <a:r>
              <a:rPr lang="es-ES" sz="3600" b="1" dirty="0">
                <a:solidFill>
                  <a:srgbClr val="00F3B5"/>
                </a:solidFill>
                <a:latin typeface="Prompt" panose="00000800000000000000" pitchFamily="2" charset="-34"/>
                <a:cs typeface="Prompt" panose="00000800000000000000" pitchFamily="2" charset="-34"/>
              </a:rPr>
              <a:t>EL CONTROL DEL PRESUPUESTO</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808838" y="1844943"/>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808838" y="2919363"/>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808838" y="3993783"/>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2949877" y="1824978"/>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1</a:t>
            </a:r>
          </a:p>
        </p:txBody>
      </p:sp>
      <p:sp>
        <p:nvSpPr>
          <p:cNvPr id="37" name="TextBox 7">
            <a:extLst>
              <a:ext uri="{FF2B5EF4-FFF2-40B4-BE49-F238E27FC236}">
                <a16:creationId xmlns:a16="http://schemas.microsoft.com/office/drawing/2014/main" id="{B5E35E49-1469-C74E-9808-7442A8C2701B}"/>
              </a:ext>
            </a:extLst>
          </p:cNvPr>
          <p:cNvSpPr txBox="1"/>
          <p:nvPr/>
        </p:nvSpPr>
        <p:spPr>
          <a:xfrm>
            <a:off x="2949877" y="2899398"/>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2</a:t>
            </a:r>
          </a:p>
        </p:txBody>
      </p:sp>
      <p:sp>
        <p:nvSpPr>
          <p:cNvPr id="38" name="TextBox 8">
            <a:extLst>
              <a:ext uri="{FF2B5EF4-FFF2-40B4-BE49-F238E27FC236}">
                <a16:creationId xmlns:a16="http://schemas.microsoft.com/office/drawing/2014/main" id="{3013026D-5AAE-5046-9336-9D0A775EEB0C}"/>
              </a:ext>
            </a:extLst>
          </p:cNvPr>
          <p:cNvSpPr txBox="1"/>
          <p:nvPr/>
        </p:nvSpPr>
        <p:spPr>
          <a:xfrm>
            <a:off x="2949876" y="3973818"/>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3</a:t>
            </a:r>
          </a:p>
        </p:txBody>
      </p:sp>
      <p:sp>
        <p:nvSpPr>
          <p:cNvPr id="41" name="Rectangle 13">
            <a:extLst>
              <a:ext uri="{FF2B5EF4-FFF2-40B4-BE49-F238E27FC236}">
                <a16:creationId xmlns:a16="http://schemas.microsoft.com/office/drawing/2014/main" id="{F1DA5C09-0AA0-3A46-98D0-C4584C233D3D}"/>
              </a:ext>
            </a:extLst>
          </p:cNvPr>
          <p:cNvSpPr/>
          <p:nvPr/>
        </p:nvSpPr>
        <p:spPr>
          <a:xfrm>
            <a:off x="3703984" y="1844943"/>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03984" y="2919363"/>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03984" y="3993783"/>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038338" y="2001817"/>
            <a:ext cx="5867662" cy="584775"/>
          </a:xfrm>
          <a:prstGeom prst="rect">
            <a:avLst/>
          </a:prstGeom>
          <a:noFill/>
        </p:spPr>
        <p:txBody>
          <a:bodyPr wrap="square" rtlCol="0" anchor="ctr">
            <a:spAutoFit/>
          </a:bodyPr>
          <a:lstStyle/>
          <a:p>
            <a:r>
              <a:rPr lang="en-US" sz="1600" b="1" dirty="0">
                <a:solidFill>
                  <a:schemeClr val="accent1">
                    <a:lumMod val="50000"/>
                  </a:schemeClr>
                </a:solidFill>
                <a:latin typeface="Poppins" pitchFamily="2" charset="77"/>
                <a:cs typeface="Poppins" pitchFamily="2" charset="77"/>
              </a:rPr>
              <a:t>REGLAS CLARAS PARA EL CONTROL Y REPORTE DEL PRESUPUESTO</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038338" y="3096241"/>
            <a:ext cx="5800987" cy="584775"/>
          </a:xfrm>
          <a:prstGeom prst="rect">
            <a:avLst/>
          </a:prstGeom>
          <a:noFill/>
        </p:spPr>
        <p:txBody>
          <a:bodyPr wrap="square" rtlCol="0" anchor="ctr">
            <a:spAutoFit/>
          </a:bodyPr>
          <a:lstStyle/>
          <a:p>
            <a:r>
              <a:rPr lang="en-US" sz="1600" b="1" dirty="0">
                <a:solidFill>
                  <a:schemeClr val="accent2">
                    <a:lumMod val="50000"/>
                  </a:schemeClr>
                </a:solidFill>
                <a:latin typeface="Poppins" pitchFamily="2" charset="77"/>
                <a:cs typeface="Poppins" pitchFamily="2" charset="77"/>
              </a:rPr>
              <a:t>¿CUÁNDO USAR LA RESERVA DE GESTIÓN Y LA RESERVA DE CONTINGENCIA?</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038338" y="4293135"/>
            <a:ext cx="5867662" cy="338554"/>
          </a:xfrm>
          <a:prstGeom prst="rect">
            <a:avLst/>
          </a:prstGeom>
          <a:noFill/>
        </p:spPr>
        <p:txBody>
          <a:bodyPr wrap="square" rtlCol="0" anchor="ctr">
            <a:spAutoFit/>
          </a:bodyPr>
          <a:lstStyle/>
          <a:p>
            <a:r>
              <a:rPr lang="en-US" sz="1600" b="1" dirty="0">
                <a:solidFill>
                  <a:schemeClr val="accent3">
                    <a:lumMod val="50000"/>
                  </a:schemeClr>
                </a:solidFill>
                <a:latin typeface="Poppins" pitchFamily="2" charset="77"/>
                <a:cs typeface="Poppins" pitchFamily="2" charset="77"/>
              </a:rPr>
              <a:t>CONTROL CON EVM: UN PASO MÁS ALLÁ</a:t>
            </a:r>
            <a:endParaRPr lang="en-US" sz="1600" b="1" dirty="0">
              <a:solidFill>
                <a:schemeClr val="tx2"/>
              </a:solidFill>
              <a:latin typeface="Poppins" pitchFamily="2" charset="77"/>
              <a:cs typeface="Poppins" pitchFamily="2" charset="77"/>
            </a:endParaRPr>
          </a:p>
        </p:txBody>
      </p:sp>
      <p:sp>
        <p:nvSpPr>
          <p:cNvPr id="2" name="Rectangle 1">
            <a:extLst>
              <a:ext uri="{FF2B5EF4-FFF2-40B4-BE49-F238E27FC236}">
                <a16:creationId xmlns:a16="http://schemas.microsoft.com/office/drawing/2014/main" id="{86E1895D-6130-E19F-32DC-76BAC7524286}"/>
              </a:ext>
            </a:extLst>
          </p:cNvPr>
          <p:cNvSpPr/>
          <p:nvPr/>
        </p:nvSpPr>
        <p:spPr>
          <a:xfrm>
            <a:off x="2805232" y="505685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4" name="TextBox 6">
            <a:extLst>
              <a:ext uri="{FF2B5EF4-FFF2-40B4-BE49-F238E27FC236}">
                <a16:creationId xmlns:a16="http://schemas.microsoft.com/office/drawing/2014/main" id="{846E0CB9-68B1-DF22-2846-A9FBBAA50C7B}"/>
              </a:ext>
            </a:extLst>
          </p:cNvPr>
          <p:cNvSpPr txBox="1"/>
          <p:nvPr/>
        </p:nvSpPr>
        <p:spPr>
          <a:xfrm>
            <a:off x="2946271" y="503689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4</a:t>
            </a:r>
          </a:p>
        </p:txBody>
      </p:sp>
      <p:sp>
        <p:nvSpPr>
          <p:cNvPr id="10" name="Rectangle 13">
            <a:extLst>
              <a:ext uri="{FF2B5EF4-FFF2-40B4-BE49-F238E27FC236}">
                <a16:creationId xmlns:a16="http://schemas.microsoft.com/office/drawing/2014/main" id="{3CBD35E3-BA0D-5D07-8996-7F6CB799E142}"/>
              </a:ext>
            </a:extLst>
          </p:cNvPr>
          <p:cNvSpPr/>
          <p:nvPr/>
        </p:nvSpPr>
        <p:spPr>
          <a:xfrm>
            <a:off x="3700378" y="505685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13" name="TextBox 18">
            <a:extLst>
              <a:ext uri="{FF2B5EF4-FFF2-40B4-BE49-F238E27FC236}">
                <a16:creationId xmlns:a16="http://schemas.microsoft.com/office/drawing/2014/main" id="{F0E47D4A-6C74-0DED-846C-77817DFAC48D}"/>
              </a:ext>
            </a:extLst>
          </p:cNvPr>
          <p:cNvSpPr txBox="1"/>
          <p:nvPr/>
        </p:nvSpPr>
        <p:spPr>
          <a:xfrm>
            <a:off x="4034732" y="5333352"/>
            <a:ext cx="1383712" cy="338554"/>
          </a:xfrm>
          <a:prstGeom prst="rect">
            <a:avLst/>
          </a:prstGeom>
          <a:noFill/>
        </p:spPr>
        <p:txBody>
          <a:bodyPr wrap="none" rtlCol="0" anchor="ctr">
            <a:spAutoFit/>
          </a:bodyPr>
          <a:lstStyle/>
          <a:p>
            <a:r>
              <a:rPr lang="en-US" sz="1600" b="1" dirty="0">
                <a:solidFill>
                  <a:schemeClr val="accent1">
                    <a:lumMod val="50000"/>
                  </a:schemeClr>
                </a:solidFill>
                <a:latin typeface="Poppins" pitchFamily="2" charset="77"/>
                <a:cs typeface="Poppins" pitchFamily="2" charset="77"/>
              </a:rPr>
              <a:t>DINÁMICAS</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34398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ppt_x"/>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additive="base">
                                        <p:cTn id="73" dur="500" fill="hold"/>
                                        <p:tgtEl>
                                          <p:spTgt spid="10"/>
                                        </p:tgtEl>
                                        <p:attrNameLst>
                                          <p:attrName>ppt_x</p:attrName>
                                        </p:attrNameLst>
                                      </p:cBhvr>
                                      <p:tavLst>
                                        <p:tav tm="0">
                                          <p:val>
                                            <p:strVal val="#ppt_x"/>
                                          </p:val>
                                        </p:tav>
                                        <p:tav tm="100000">
                                          <p:val>
                                            <p:strVal val="#ppt_x"/>
                                          </p:val>
                                        </p:tav>
                                      </p:tavLst>
                                    </p:anim>
                                    <p:anim calcmode="lin" valueType="num">
                                      <p:cBhvr additive="base">
                                        <p:cTn id="7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6" grpId="0"/>
      <p:bldP spid="37" grpId="0"/>
      <p:bldP spid="38" grpId="0"/>
      <p:bldP spid="41" grpId="0" animBg="1"/>
      <p:bldP spid="42" grpId="0" animBg="1"/>
      <p:bldP spid="43" grpId="0" animBg="1"/>
      <p:bldP spid="46" grpId="0"/>
      <p:bldP spid="47" grpId="0"/>
      <p:bldP spid="48" grpId="0"/>
      <p:bldP spid="2" grpId="0" animBg="1"/>
      <p:bldP spid="4" grpId="0"/>
      <p:bldP spid="10"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rgamino vertical 2"/>
          <p:cNvSpPr/>
          <p:nvPr/>
        </p:nvSpPr>
        <p:spPr>
          <a:xfrm>
            <a:off x="166048" y="3168494"/>
            <a:ext cx="2180492" cy="2518117"/>
          </a:xfrm>
          <a:prstGeom prst="verticalScroll">
            <a:avLst/>
          </a:prstGeom>
          <a:gradFill rotWithShape="1">
            <a:gsLst>
              <a:gs pos="0">
                <a:srgbClr val="D2CB6C">
                  <a:tint val="83000"/>
                  <a:satMod val="100000"/>
                  <a:lumMod val="100000"/>
                </a:srgbClr>
              </a:gs>
              <a:gs pos="100000">
                <a:srgbClr val="D2CB6C">
                  <a:tint val="61000"/>
                  <a:satMod val="150000"/>
                  <a:lumMod val="100000"/>
                </a:srgbClr>
              </a:gs>
            </a:gsLst>
            <a:path path="circle">
              <a:fillToRect l="100000" t="100000" r="100000" b="100000"/>
            </a:path>
          </a:gradFill>
          <a:ln w="9525" cap="flat" cmpd="sng" algn="ctr">
            <a:solidFill>
              <a:srgbClr val="D2CB6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1" i="0" u="none" strike="noStrike" kern="0" cap="none" spc="0" normalizeH="0" baseline="0" noProof="0" dirty="0">
                <a:ln>
                  <a:noFill/>
                </a:ln>
                <a:solidFill>
                  <a:srgbClr val="2E2B21"/>
                </a:solidFill>
                <a:effectLst/>
                <a:uLnTx/>
                <a:uFillTx/>
                <a:latin typeface="Tw Cen MT" panose="020B0602020104020603"/>
                <a:ea typeface="+mn-ea"/>
                <a:cs typeface="+mn-cs"/>
              </a:rPr>
              <a:t>Plan de gestión de costos</a:t>
            </a:r>
            <a:endParaRPr kumimoji="0" lang="en-US" sz="1800" b="1"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6" name="Documento 5"/>
          <p:cNvSpPr/>
          <p:nvPr/>
        </p:nvSpPr>
        <p:spPr>
          <a:xfrm>
            <a:off x="3381375" y="1702826"/>
            <a:ext cx="2475914" cy="594096"/>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Umbrales aceptados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9" name="Conector recto de flecha 8"/>
          <p:cNvCxnSpPr>
            <a:stCxn id="6" idx="1"/>
            <a:endCxn id="3" idx="3"/>
          </p:cNvCxnSpPr>
          <p:nvPr/>
        </p:nvCxnSpPr>
        <p:spPr>
          <a:xfrm flipH="1">
            <a:off x="2073979" y="1999874"/>
            <a:ext cx="1307396" cy="2427679"/>
          </a:xfrm>
          <a:prstGeom prst="straightConnector1">
            <a:avLst/>
          </a:prstGeom>
          <a:noFill/>
          <a:ln w="9525" cap="flat" cmpd="sng" algn="ctr">
            <a:solidFill>
              <a:srgbClr val="2E2B21"/>
            </a:solidFill>
            <a:prstDash val="solid"/>
            <a:tailEnd type="triangle"/>
          </a:ln>
          <a:effectLst/>
        </p:spPr>
      </p:cxnSp>
      <p:sp>
        <p:nvSpPr>
          <p:cNvPr id="10" name="Documento 9"/>
          <p:cNvSpPr/>
          <p:nvPr/>
        </p:nvSpPr>
        <p:spPr>
          <a:xfrm>
            <a:off x="4772977" y="2339226"/>
            <a:ext cx="2475914" cy="561135"/>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Vinculación a  EDT</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1" name="Documento 10"/>
          <p:cNvSpPr/>
          <p:nvPr/>
        </p:nvSpPr>
        <p:spPr>
          <a:xfrm>
            <a:off x="5755976" y="3104227"/>
            <a:ext cx="4921085" cy="400852"/>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Reglas y nivel para control: EVM</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2" name="Documento 11"/>
          <p:cNvSpPr/>
          <p:nvPr/>
        </p:nvSpPr>
        <p:spPr>
          <a:xfrm>
            <a:off x="6523469" y="3723977"/>
            <a:ext cx="4153592" cy="443133"/>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Formatos de informes a usar</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13" name="Conector recto de flecha 12"/>
          <p:cNvCxnSpPr>
            <a:stCxn id="10" idx="1"/>
            <a:endCxn id="3" idx="3"/>
          </p:cNvCxnSpPr>
          <p:nvPr/>
        </p:nvCxnSpPr>
        <p:spPr>
          <a:xfrm flipH="1">
            <a:off x="2073979" y="2619794"/>
            <a:ext cx="2698998" cy="1807759"/>
          </a:xfrm>
          <a:prstGeom prst="straightConnector1">
            <a:avLst/>
          </a:prstGeom>
          <a:noFill/>
          <a:ln w="9525" cap="flat" cmpd="sng" algn="ctr">
            <a:solidFill>
              <a:srgbClr val="2E2B21"/>
            </a:solidFill>
            <a:prstDash val="solid"/>
            <a:tailEnd type="triangle"/>
          </a:ln>
          <a:effectLst/>
        </p:spPr>
      </p:cxnSp>
      <p:cxnSp>
        <p:nvCxnSpPr>
          <p:cNvPr id="14" name="Conector recto de flecha 13"/>
          <p:cNvCxnSpPr>
            <a:stCxn id="11" idx="1"/>
            <a:endCxn id="3" idx="3"/>
          </p:cNvCxnSpPr>
          <p:nvPr/>
        </p:nvCxnSpPr>
        <p:spPr>
          <a:xfrm flipH="1">
            <a:off x="2073979" y="3304653"/>
            <a:ext cx="3681997" cy="1122900"/>
          </a:xfrm>
          <a:prstGeom prst="straightConnector1">
            <a:avLst/>
          </a:prstGeom>
          <a:noFill/>
          <a:ln w="9525" cap="flat" cmpd="sng" algn="ctr">
            <a:solidFill>
              <a:srgbClr val="2E2B21"/>
            </a:solidFill>
            <a:prstDash val="solid"/>
            <a:tailEnd type="triangle"/>
          </a:ln>
          <a:effectLst/>
        </p:spPr>
      </p:cxnSp>
      <p:cxnSp>
        <p:nvCxnSpPr>
          <p:cNvPr id="15" name="Conector recto de flecha 14"/>
          <p:cNvCxnSpPr>
            <a:stCxn id="12" idx="1"/>
            <a:endCxn id="3" idx="3"/>
          </p:cNvCxnSpPr>
          <p:nvPr/>
        </p:nvCxnSpPr>
        <p:spPr>
          <a:xfrm flipH="1">
            <a:off x="2073979" y="3945544"/>
            <a:ext cx="4449490" cy="482009"/>
          </a:xfrm>
          <a:prstGeom prst="straightConnector1">
            <a:avLst/>
          </a:prstGeom>
          <a:noFill/>
          <a:ln w="9525" cap="flat" cmpd="sng" algn="ctr">
            <a:solidFill>
              <a:srgbClr val="2E2B21"/>
            </a:solidFill>
            <a:prstDash val="solid"/>
            <a:tailEnd type="triangle"/>
          </a:ln>
          <a:effectLst/>
        </p:spPr>
      </p:cxnSp>
      <p:sp>
        <p:nvSpPr>
          <p:cNvPr id="16" name="Documento 15"/>
          <p:cNvSpPr/>
          <p:nvPr/>
        </p:nvSpPr>
        <p:spPr>
          <a:xfrm>
            <a:off x="5088296" y="4568349"/>
            <a:ext cx="6503165" cy="542291"/>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¿El control incluirá a los costos directos o también a los indirectos?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7" name="Documento 16"/>
          <p:cNvSpPr/>
          <p:nvPr/>
        </p:nvSpPr>
        <p:spPr>
          <a:xfrm>
            <a:off x="3761221" y="5486119"/>
            <a:ext cx="5979333" cy="400984"/>
          </a:xfrm>
          <a:prstGeom prst="flowChartDocument">
            <a:avLst/>
          </a:prstGeom>
          <a:solidFill>
            <a:srgbClr val="0070C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Procedimiento para control de cambios al presupuesto</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18" name="Conector recto de flecha 17"/>
          <p:cNvCxnSpPr>
            <a:stCxn id="16" idx="1"/>
            <a:endCxn id="3" idx="3"/>
          </p:cNvCxnSpPr>
          <p:nvPr/>
        </p:nvCxnSpPr>
        <p:spPr>
          <a:xfrm flipH="1" flipV="1">
            <a:off x="2073979" y="4427553"/>
            <a:ext cx="3014317" cy="411942"/>
          </a:xfrm>
          <a:prstGeom prst="straightConnector1">
            <a:avLst/>
          </a:prstGeom>
          <a:noFill/>
          <a:ln w="9525" cap="flat" cmpd="sng" algn="ctr">
            <a:solidFill>
              <a:srgbClr val="2E2B21"/>
            </a:solidFill>
            <a:prstDash val="solid"/>
            <a:tailEnd type="triangle"/>
          </a:ln>
          <a:effectLst/>
        </p:spPr>
      </p:cxnSp>
      <p:cxnSp>
        <p:nvCxnSpPr>
          <p:cNvPr id="19" name="Conector recto de flecha 18"/>
          <p:cNvCxnSpPr>
            <a:stCxn id="17" idx="1"/>
            <a:endCxn id="3" idx="3"/>
          </p:cNvCxnSpPr>
          <p:nvPr/>
        </p:nvCxnSpPr>
        <p:spPr>
          <a:xfrm flipH="1" flipV="1">
            <a:off x="2073979" y="4427553"/>
            <a:ext cx="1687242" cy="1259058"/>
          </a:xfrm>
          <a:prstGeom prst="straightConnector1">
            <a:avLst/>
          </a:prstGeom>
          <a:noFill/>
          <a:ln w="9525" cap="flat" cmpd="sng" algn="ctr">
            <a:solidFill>
              <a:srgbClr val="2E2B21"/>
            </a:solidFill>
            <a:prstDash val="solid"/>
            <a:tailEnd type="triangle"/>
          </a:ln>
          <a:effectLst/>
        </p:spPr>
      </p:cxnSp>
      <p:sp>
        <p:nvSpPr>
          <p:cNvPr id="21" name="Título 1"/>
          <p:cNvSpPr>
            <a:spLocks noGrp="1"/>
          </p:cNvSpPr>
          <p:nvPr>
            <p:ph type="title"/>
          </p:nvPr>
        </p:nvSpPr>
        <p:spPr>
          <a:xfrm>
            <a:off x="292288" y="377263"/>
            <a:ext cx="9083723" cy="1325563"/>
          </a:xfrm>
        </p:spPr>
        <p:txBody>
          <a:bodyPr>
            <a:normAutofit/>
          </a:bodyPr>
          <a:lstStyle/>
          <a:p>
            <a:r>
              <a:rPr lang="es-ES" sz="4000" b="1" dirty="0"/>
              <a:t>01. REGLAS CLARAS PARA EL CONTROL Y REPORTE DEL PRESUPUESTO </a:t>
            </a:r>
            <a:endParaRPr lang="en-US" sz="4000" b="1" dirty="0"/>
          </a:p>
        </p:txBody>
      </p:sp>
      <p:pic>
        <p:nvPicPr>
          <p:cNvPr id="27" name="Imagen 26">
            <a:extLst>
              <a:ext uri="{FF2B5EF4-FFF2-40B4-BE49-F238E27FC236}">
                <a16:creationId xmlns:a16="http://schemas.microsoft.com/office/drawing/2014/main" id="{AAAEA049-0D0D-87D9-8A8D-BD24F30793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372655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261285" y="1786485"/>
            <a:ext cx="4940490" cy="523220"/>
          </a:xfrm>
          <a:prstGeom prst="rect">
            <a:avLst/>
          </a:prstGeom>
          <a:noFill/>
        </p:spPr>
        <p:txBody>
          <a:bodyPr wrap="square" rtlCol="0">
            <a:spAutoFit/>
          </a:bodyPr>
          <a:lstStyle/>
          <a:p>
            <a:r>
              <a:rPr lang="es-PE" sz="2800" b="1" dirty="0">
                <a:solidFill>
                  <a:srgbClr val="0070C0"/>
                </a:solidFill>
              </a:rPr>
              <a:t>CLASES DE ESTIMACIÓN  -AACE</a:t>
            </a:r>
          </a:p>
        </p:txBody>
      </p:sp>
      <p:sp>
        <p:nvSpPr>
          <p:cNvPr id="6" name="CuadroTexto 5"/>
          <p:cNvSpPr txBox="1"/>
          <p:nvPr/>
        </p:nvSpPr>
        <p:spPr>
          <a:xfrm>
            <a:off x="362828" y="3179928"/>
            <a:ext cx="5546653" cy="2246769"/>
          </a:xfrm>
          <a:prstGeom prst="rect">
            <a:avLst/>
          </a:prstGeom>
          <a:noFill/>
        </p:spPr>
        <p:txBody>
          <a:bodyPr wrap="square" rtlCol="0">
            <a:spAutoFit/>
          </a:bodyPr>
          <a:lstStyle/>
          <a:p>
            <a:pPr marL="342900" indent="-342900">
              <a:buAutoNum type="arabicPeriod"/>
            </a:pPr>
            <a:r>
              <a:rPr lang="es-PE" sz="2800" b="1" dirty="0"/>
              <a:t>CONCEPTUAL (Clases 4 y 5)</a:t>
            </a:r>
          </a:p>
          <a:p>
            <a:pPr marL="800100" lvl="1" indent="-342900">
              <a:buFont typeface="+mj-lt"/>
              <a:buAutoNum type="alphaLcParenR"/>
            </a:pPr>
            <a:r>
              <a:rPr lang="es-PE" sz="2800" dirty="0"/>
              <a:t>Por factores</a:t>
            </a:r>
          </a:p>
          <a:p>
            <a:pPr marL="800100" lvl="1" indent="-342900">
              <a:buFont typeface="+mj-lt"/>
              <a:buAutoNum type="alphaLcParenR"/>
            </a:pPr>
            <a:r>
              <a:rPr lang="es-PE" sz="2800" dirty="0"/>
              <a:t>Paramétrico</a:t>
            </a:r>
          </a:p>
          <a:p>
            <a:pPr marL="342900" indent="-342900">
              <a:buFont typeface="+mj-lt"/>
              <a:buAutoNum type="arabicPeriod"/>
            </a:pPr>
            <a:r>
              <a:rPr lang="es-PE" sz="2800" b="1" dirty="0"/>
              <a:t>SEMIDETALLADO (Clase 3)</a:t>
            </a:r>
          </a:p>
          <a:p>
            <a:pPr marL="342900" indent="-342900">
              <a:buFont typeface="+mj-lt"/>
              <a:buAutoNum type="arabicPeriod"/>
            </a:pPr>
            <a:r>
              <a:rPr lang="es-PE" sz="2800" b="1" dirty="0"/>
              <a:t>DETALLADO (Clases 1 y 2)</a:t>
            </a:r>
          </a:p>
        </p:txBody>
      </p:sp>
      <p:sp>
        <p:nvSpPr>
          <p:cNvPr id="8" name="Rectángulo redondeado 7"/>
          <p:cNvSpPr/>
          <p:nvPr/>
        </p:nvSpPr>
        <p:spPr>
          <a:xfrm>
            <a:off x="5100232" y="2301638"/>
            <a:ext cx="1733265" cy="3308587"/>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Rectángulo redondeado 17"/>
          <p:cNvSpPr/>
          <p:nvPr/>
        </p:nvSpPr>
        <p:spPr>
          <a:xfrm>
            <a:off x="7107072" y="2301638"/>
            <a:ext cx="1733265" cy="3308587"/>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Rectángulo redondeado 18"/>
          <p:cNvSpPr/>
          <p:nvPr/>
        </p:nvSpPr>
        <p:spPr>
          <a:xfrm>
            <a:off x="9142863" y="2301638"/>
            <a:ext cx="1733265" cy="3308587"/>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Freeform 311">
            <a:extLst>
              <a:ext uri="{FF2B5EF4-FFF2-40B4-BE49-F238E27FC236}">
                <a16:creationId xmlns:a16="http://schemas.microsoft.com/office/drawing/2014/main" id="{61F033C4-BAB3-C04F-8731-2BFD37A20BE7}"/>
              </a:ext>
            </a:extLst>
          </p:cNvPr>
          <p:cNvSpPr>
            <a:spLocks noChangeAspect="1" noChangeArrowheads="1"/>
          </p:cNvSpPr>
          <p:nvPr/>
        </p:nvSpPr>
        <p:spPr bwMode="auto">
          <a:xfrm>
            <a:off x="5457863" y="2510860"/>
            <a:ext cx="908256" cy="900147"/>
          </a:xfrm>
          <a:custGeom>
            <a:avLst/>
            <a:gdLst>
              <a:gd name="T0" fmla="*/ 2147483646 w 814"/>
              <a:gd name="T1" fmla="*/ 2147483646 h 812"/>
              <a:gd name="T2" fmla="*/ 2147483646 w 814"/>
              <a:gd name="T3" fmla="*/ 2147483646 h 812"/>
              <a:gd name="T4" fmla="*/ 2147483646 w 814"/>
              <a:gd name="T5" fmla="*/ 2147483646 h 812"/>
              <a:gd name="T6" fmla="*/ 2147483646 w 814"/>
              <a:gd name="T7" fmla="*/ 2147483646 h 812"/>
              <a:gd name="T8" fmla="*/ 2147483646 w 814"/>
              <a:gd name="T9" fmla="*/ 2147483646 h 812"/>
              <a:gd name="T10" fmla="*/ 2147483646 w 814"/>
              <a:gd name="T11" fmla="*/ 2147483646 h 812"/>
              <a:gd name="T12" fmla="*/ 2147483646 w 814"/>
              <a:gd name="T13" fmla="*/ 2147483646 h 812"/>
              <a:gd name="T14" fmla="*/ 2147483646 w 814"/>
              <a:gd name="T15" fmla="*/ 2147483646 h 812"/>
              <a:gd name="T16" fmla="*/ 2147483646 w 814"/>
              <a:gd name="T17" fmla="*/ 2147483646 h 812"/>
              <a:gd name="T18" fmla="*/ 2147483646 w 814"/>
              <a:gd name="T19" fmla="*/ 2147483646 h 812"/>
              <a:gd name="T20" fmla="*/ 2147483646 w 814"/>
              <a:gd name="T21" fmla="*/ 2147483646 h 812"/>
              <a:gd name="T22" fmla="*/ 2147483646 w 814"/>
              <a:gd name="T23" fmla="*/ 2147483646 h 812"/>
              <a:gd name="T24" fmla="*/ 2147483646 w 814"/>
              <a:gd name="T25" fmla="*/ 2147483646 h 812"/>
              <a:gd name="T26" fmla="*/ 2147483646 w 814"/>
              <a:gd name="T27" fmla="*/ 2147483646 h 812"/>
              <a:gd name="T28" fmla="*/ 2147483646 w 814"/>
              <a:gd name="T29" fmla="*/ 2147483646 h 812"/>
              <a:gd name="T30" fmla="*/ 2147483646 w 814"/>
              <a:gd name="T31" fmla="*/ 2147483646 h 812"/>
              <a:gd name="T32" fmla="*/ 2147483646 w 814"/>
              <a:gd name="T33" fmla="*/ 2147483646 h 812"/>
              <a:gd name="T34" fmla="*/ 2147483646 w 814"/>
              <a:gd name="T35" fmla="*/ 2147483646 h 812"/>
              <a:gd name="T36" fmla="*/ 2147483646 w 814"/>
              <a:gd name="T37" fmla="*/ 2147483646 h 812"/>
              <a:gd name="T38" fmla="*/ 2147483646 w 814"/>
              <a:gd name="T39" fmla="*/ 2147483646 h 812"/>
              <a:gd name="T40" fmla="*/ 2147483646 w 814"/>
              <a:gd name="T41" fmla="*/ 2147483646 h 812"/>
              <a:gd name="T42" fmla="*/ 2147483646 w 814"/>
              <a:gd name="T43" fmla="*/ 2147483646 h 812"/>
              <a:gd name="T44" fmla="*/ 2147483646 w 814"/>
              <a:gd name="T45" fmla="*/ 2147483646 h 812"/>
              <a:gd name="T46" fmla="*/ 2147483646 w 814"/>
              <a:gd name="T47" fmla="*/ 2147483646 h 812"/>
              <a:gd name="T48" fmla="*/ 2147483646 w 814"/>
              <a:gd name="T49" fmla="*/ 2147483646 h 812"/>
              <a:gd name="T50" fmla="*/ 0 w 814"/>
              <a:gd name="T51" fmla="*/ 2147483646 h 812"/>
              <a:gd name="T52" fmla="*/ 2147483646 w 814"/>
              <a:gd name="T53" fmla="*/ 2147483646 h 812"/>
              <a:gd name="T54" fmla="*/ 2147483646 w 814"/>
              <a:gd name="T55" fmla="*/ 2147483646 h 812"/>
              <a:gd name="T56" fmla="*/ 2147483646 w 814"/>
              <a:gd name="T57" fmla="*/ 2147483646 h 812"/>
              <a:gd name="T58" fmla="*/ 2147483646 w 814"/>
              <a:gd name="T59" fmla="*/ 2147483646 h 812"/>
              <a:gd name="T60" fmla="*/ 2147483646 w 814"/>
              <a:gd name="T61" fmla="*/ 2147483646 h 812"/>
              <a:gd name="T62" fmla="*/ 2147483646 w 814"/>
              <a:gd name="T63" fmla="*/ 2147483646 h 812"/>
              <a:gd name="T64" fmla="*/ 2147483646 w 814"/>
              <a:gd name="T65" fmla="*/ 2147483646 h 812"/>
              <a:gd name="T66" fmla="*/ 2147483646 w 814"/>
              <a:gd name="T67" fmla="*/ 2147483646 h 812"/>
              <a:gd name="T68" fmla="*/ 2147483646 w 814"/>
              <a:gd name="T69" fmla="*/ 2147483646 h 812"/>
              <a:gd name="T70" fmla="*/ 2147483646 w 814"/>
              <a:gd name="T71" fmla="*/ 2147483646 h 812"/>
              <a:gd name="T72" fmla="*/ 2147483646 w 814"/>
              <a:gd name="T73" fmla="*/ 2147483646 h 812"/>
              <a:gd name="T74" fmla="*/ 2147483646 w 814"/>
              <a:gd name="T75" fmla="*/ 2147483646 h 812"/>
              <a:gd name="T76" fmla="*/ 2147483646 w 814"/>
              <a:gd name="T77" fmla="*/ 2147483646 h 812"/>
              <a:gd name="T78" fmla="*/ 2147483646 w 814"/>
              <a:gd name="T79" fmla="*/ 2147483646 h 812"/>
              <a:gd name="T80" fmla="*/ 2147483646 w 814"/>
              <a:gd name="T81" fmla="*/ 2147483646 h 812"/>
              <a:gd name="T82" fmla="*/ 2147483646 w 814"/>
              <a:gd name="T83" fmla="*/ 2147483646 h 812"/>
              <a:gd name="T84" fmla="*/ 2147483646 w 814"/>
              <a:gd name="T85" fmla="*/ 2147483646 h 812"/>
              <a:gd name="T86" fmla="*/ 2147483646 w 814"/>
              <a:gd name="T87" fmla="*/ 2147483646 h 812"/>
              <a:gd name="T88" fmla="*/ 2147483646 w 814"/>
              <a:gd name="T89" fmla="*/ 2147483646 h 812"/>
              <a:gd name="T90" fmla="*/ 2147483646 w 814"/>
              <a:gd name="T91" fmla="*/ 2147483646 h 812"/>
              <a:gd name="T92" fmla="*/ 2147483646 w 814"/>
              <a:gd name="T93" fmla="*/ 2147483646 h 812"/>
              <a:gd name="T94" fmla="*/ 2147483646 w 814"/>
              <a:gd name="T95" fmla="*/ 2147483646 h 812"/>
              <a:gd name="T96" fmla="*/ 2147483646 w 814"/>
              <a:gd name="T97" fmla="*/ 2147483646 h 81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14" h="812">
                <a:moveTo>
                  <a:pt x="575" y="609"/>
                </a:moveTo>
                <a:lnTo>
                  <a:pt x="575" y="609"/>
                </a:lnTo>
                <a:cubicBezTo>
                  <a:pt x="574" y="615"/>
                  <a:pt x="574" y="621"/>
                  <a:pt x="574" y="628"/>
                </a:cubicBezTo>
                <a:lnTo>
                  <a:pt x="574" y="652"/>
                </a:lnTo>
                <a:lnTo>
                  <a:pt x="325" y="652"/>
                </a:lnTo>
                <a:cubicBezTo>
                  <a:pt x="317" y="652"/>
                  <a:pt x="311" y="657"/>
                  <a:pt x="311" y="664"/>
                </a:cubicBezTo>
                <a:cubicBezTo>
                  <a:pt x="311" y="672"/>
                  <a:pt x="317" y="676"/>
                  <a:pt x="325" y="676"/>
                </a:cubicBezTo>
                <a:lnTo>
                  <a:pt x="574" y="676"/>
                </a:lnTo>
                <a:lnTo>
                  <a:pt x="574" y="715"/>
                </a:lnTo>
                <a:cubicBezTo>
                  <a:pt x="574" y="717"/>
                  <a:pt x="573" y="718"/>
                  <a:pt x="570" y="718"/>
                </a:cubicBezTo>
                <a:lnTo>
                  <a:pt x="275" y="718"/>
                </a:lnTo>
                <a:cubicBezTo>
                  <a:pt x="273" y="718"/>
                  <a:pt x="271" y="717"/>
                  <a:pt x="271" y="715"/>
                </a:cubicBezTo>
                <a:lnTo>
                  <a:pt x="271" y="629"/>
                </a:lnTo>
                <a:cubicBezTo>
                  <a:pt x="271" y="623"/>
                  <a:pt x="271" y="615"/>
                  <a:pt x="271" y="609"/>
                </a:cubicBezTo>
                <a:lnTo>
                  <a:pt x="575" y="609"/>
                </a:lnTo>
                <a:close/>
                <a:moveTo>
                  <a:pt x="486" y="787"/>
                </a:moveTo>
                <a:lnTo>
                  <a:pt x="360" y="787"/>
                </a:lnTo>
                <a:cubicBezTo>
                  <a:pt x="333" y="787"/>
                  <a:pt x="310" y="768"/>
                  <a:pt x="306" y="743"/>
                </a:cubicBezTo>
                <a:lnTo>
                  <a:pt x="540" y="743"/>
                </a:lnTo>
                <a:cubicBezTo>
                  <a:pt x="534" y="768"/>
                  <a:pt x="512" y="787"/>
                  <a:pt x="486" y="787"/>
                </a:cubicBezTo>
                <a:close/>
                <a:moveTo>
                  <a:pt x="645" y="399"/>
                </a:moveTo>
                <a:lnTo>
                  <a:pt x="645" y="399"/>
                </a:lnTo>
                <a:cubicBezTo>
                  <a:pt x="647" y="400"/>
                  <a:pt x="648" y="400"/>
                  <a:pt x="650" y="400"/>
                </a:cubicBezTo>
                <a:cubicBezTo>
                  <a:pt x="653" y="400"/>
                  <a:pt x="656" y="399"/>
                  <a:pt x="659" y="397"/>
                </a:cubicBezTo>
                <a:lnTo>
                  <a:pt x="808" y="248"/>
                </a:lnTo>
                <a:cubicBezTo>
                  <a:pt x="813" y="243"/>
                  <a:pt x="813" y="235"/>
                  <a:pt x="808" y="231"/>
                </a:cubicBezTo>
                <a:lnTo>
                  <a:pt x="659" y="81"/>
                </a:lnTo>
                <a:cubicBezTo>
                  <a:pt x="655" y="79"/>
                  <a:pt x="650" y="77"/>
                  <a:pt x="645" y="79"/>
                </a:cubicBezTo>
                <a:cubicBezTo>
                  <a:pt x="641" y="81"/>
                  <a:pt x="638" y="86"/>
                  <a:pt x="638" y="90"/>
                </a:cubicBezTo>
                <a:lnTo>
                  <a:pt x="638" y="163"/>
                </a:lnTo>
                <a:lnTo>
                  <a:pt x="234" y="163"/>
                </a:lnTo>
                <a:cubicBezTo>
                  <a:pt x="228" y="163"/>
                  <a:pt x="222" y="167"/>
                  <a:pt x="222" y="174"/>
                </a:cubicBezTo>
                <a:cubicBezTo>
                  <a:pt x="222" y="181"/>
                  <a:pt x="228" y="186"/>
                  <a:pt x="234" y="186"/>
                </a:cubicBezTo>
                <a:lnTo>
                  <a:pt x="650" y="186"/>
                </a:lnTo>
                <a:cubicBezTo>
                  <a:pt x="658" y="186"/>
                  <a:pt x="662" y="181"/>
                  <a:pt x="662" y="174"/>
                </a:cubicBezTo>
                <a:lnTo>
                  <a:pt x="662" y="121"/>
                </a:lnTo>
                <a:lnTo>
                  <a:pt x="782" y="240"/>
                </a:lnTo>
                <a:lnTo>
                  <a:pt x="662" y="358"/>
                </a:lnTo>
                <a:lnTo>
                  <a:pt x="662" y="304"/>
                </a:lnTo>
                <a:cubicBezTo>
                  <a:pt x="662" y="297"/>
                  <a:pt x="658" y="292"/>
                  <a:pt x="650" y="292"/>
                </a:cubicBezTo>
                <a:lnTo>
                  <a:pt x="479" y="292"/>
                </a:lnTo>
                <a:lnTo>
                  <a:pt x="398" y="213"/>
                </a:lnTo>
                <a:cubicBezTo>
                  <a:pt x="395" y="209"/>
                  <a:pt x="389" y="207"/>
                  <a:pt x="385" y="209"/>
                </a:cubicBezTo>
                <a:cubicBezTo>
                  <a:pt x="381" y="211"/>
                  <a:pt x="377" y="216"/>
                  <a:pt x="377" y="220"/>
                </a:cubicBezTo>
                <a:lnTo>
                  <a:pt x="377" y="293"/>
                </a:lnTo>
                <a:lnTo>
                  <a:pt x="139" y="293"/>
                </a:lnTo>
                <a:cubicBezTo>
                  <a:pt x="147" y="143"/>
                  <a:pt x="271" y="25"/>
                  <a:pt x="421" y="25"/>
                </a:cubicBezTo>
                <a:cubicBezTo>
                  <a:pt x="479" y="25"/>
                  <a:pt x="535" y="42"/>
                  <a:pt x="582" y="76"/>
                </a:cubicBezTo>
                <a:cubicBezTo>
                  <a:pt x="589" y="79"/>
                  <a:pt x="595" y="77"/>
                  <a:pt x="600" y="72"/>
                </a:cubicBezTo>
                <a:cubicBezTo>
                  <a:pt x="603" y="67"/>
                  <a:pt x="602" y="59"/>
                  <a:pt x="596" y="54"/>
                </a:cubicBezTo>
                <a:cubicBezTo>
                  <a:pt x="546" y="19"/>
                  <a:pt x="484" y="0"/>
                  <a:pt x="421" y="0"/>
                </a:cubicBezTo>
                <a:cubicBezTo>
                  <a:pt x="257" y="0"/>
                  <a:pt x="123" y="130"/>
                  <a:pt x="114" y="293"/>
                </a:cubicBezTo>
                <a:lnTo>
                  <a:pt x="11" y="293"/>
                </a:lnTo>
                <a:cubicBezTo>
                  <a:pt x="6" y="293"/>
                  <a:pt x="0" y="297"/>
                  <a:pt x="0" y="304"/>
                </a:cubicBezTo>
                <a:cubicBezTo>
                  <a:pt x="0" y="311"/>
                  <a:pt x="6" y="317"/>
                  <a:pt x="11" y="317"/>
                </a:cubicBezTo>
                <a:lnTo>
                  <a:pt x="390" y="317"/>
                </a:lnTo>
                <a:cubicBezTo>
                  <a:pt x="397" y="317"/>
                  <a:pt x="402" y="311"/>
                  <a:pt x="402" y="304"/>
                </a:cubicBezTo>
                <a:lnTo>
                  <a:pt x="402" y="251"/>
                </a:lnTo>
                <a:lnTo>
                  <a:pt x="522" y="370"/>
                </a:lnTo>
                <a:lnTo>
                  <a:pt x="402" y="489"/>
                </a:lnTo>
                <a:lnTo>
                  <a:pt x="402" y="434"/>
                </a:lnTo>
                <a:cubicBezTo>
                  <a:pt x="402" y="429"/>
                  <a:pt x="397" y="422"/>
                  <a:pt x="390" y="422"/>
                </a:cubicBezTo>
                <a:lnTo>
                  <a:pt x="94" y="422"/>
                </a:lnTo>
                <a:cubicBezTo>
                  <a:pt x="87" y="422"/>
                  <a:pt x="82" y="429"/>
                  <a:pt x="82" y="434"/>
                </a:cubicBezTo>
                <a:cubicBezTo>
                  <a:pt x="82" y="441"/>
                  <a:pt x="87" y="447"/>
                  <a:pt x="94" y="447"/>
                </a:cubicBezTo>
                <a:lnTo>
                  <a:pt x="147" y="447"/>
                </a:lnTo>
                <a:cubicBezTo>
                  <a:pt x="162" y="475"/>
                  <a:pt x="180" y="501"/>
                  <a:pt x="203" y="524"/>
                </a:cubicBezTo>
                <a:cubicBezTo>
                  <a:pt x="231" y="552"/>
                  <a:pt x="246" y="589"/>
                  <a:pt x="246" y="629"/>
                </a:cubicBezTo>
                <a:lnTo>
                  <a:pt x="246" y="715"/>
                </a:lnTo>
                <a:cubicBezTo>
                  <a:pt x="246" y="730"/>
                  <a:pt x="259" y="743"/>
                  <a:pt x="275" y="743"/>
                </a:cubicBezTo>
                <a:lnTo>
                  <a:pt x="281" y="743"/>
                </a:lnTo>
                <a:cubicBezTo>
                  <a:pt x="286" y="782"/>
                  <a:pt x="319" y="811"/>
                  <a:pt x="360" y="811"/>
                </a:cubicBezTo>
                <a:lnTo>
                  <a:pt x="486" y="811"/>
                </a:lnTo>
                <a:cubicBezTo>
                  <a:pt x="525" y="811"/>
                  <a:pt x="559" y="782"/>
                  <a:pt x="565" y="743"/>
                </a:cubicBezTo>
                <a:lnTo>
                  <a:pt x="570" y="743"/>
                </a:lnTo>
                <a:cubicBezTo>
                  <a:pt x="585" y="743"/>
                  <a:pt x="599" y="730"/>
                  <a:pt x="599" y="715"/>
                </a:cubicBezTo>
                <a:lnTo>
                  <a:pt x="599" y="628"/>
                </a:lnTo>
                <a:cubicBezTo>
                  <a:pt x="599" y="588"/>
                  <a:pt x="615" y="550"/>
                  <a:pt x="642" y="521"/>
                </a:cubicBezTo>
                <a:cubicBezTo>
                  <a:pt x="667" y="495"/>
                  <a:pt x="687" y="466"/>
                  <a:pt x="702" y="433"/>
                </a:cubicBezTo>
                <a:cubicBezTo>
                  <a:pt x="705" y="426"/>
                  <a:pt x="702" y="420"/>
                  <a:pt x="696" y="417"/>
                </a:cubicBezTo>
                <a:cubicBezTo>
                  <a:pt x="689" y="414"/>
                  <a:pt x="682" y="417"/>
                  <a:pt x="679" y="423"/>
                </a:cubicBezTo>
                <a:cubicBezTo>
                  <a:pt x="665" y="454"/>
                  <a:pt x="647" y="481"/>
                  <a:pt x="624" y="506"/>
                </a:cubicBezTo>
                <a:cubicBezTo>
                  <a:pt x="602" y="527"/>
                  <a:pt x="587" y="554"/>
                  <a:pt x="579" y="584"/>
                </a:cubicBezTo>
                <a:lnTo>
                  <a:pt x="265" y="584"/>
                </a:lnTo>
                <a:cubicBezTo>
                  <a:pt x="257" y="555"/>
                  <a:pt x="242" y="528"/>
                  <a:pt x="221" y="507"/>
                </a:cubicBezTo>
                <a:cubicBezTo>
                  <a:pt x="203" y="489"/>
                  <a:pt x="188" y="468"/>
                  <a:pt x="175" y="447"/>
                </a:cubicBezTo>
                <a:lnTo>
                  <a:pt x="377" y="447"/>
                </a:lnTo>
                <a:lnTo>
                  <a:pt x="377" y="518"/>
                </a:lnTo>
                <a:cubicBezTo>
                  <a:pt x="377" y="524"/>
                  <a:pt x="381" y="528"/>
                  <a:pt x="385" y="529"/>
                </a:cubicBezTo>
                <a:cubicBezTo>
                  <a:pt x="387" y="530"/>
                  <a:pt x="388" y="530"/>
                  <a:pt x="390" y="530"/>
                </a:cubicBezTo>
                <a:cubicBezTo>
                  <a:pt x="393" y="530"/>
                  <a:pt x="396" y="529"/>
                  <a:pt x="398" y="527"/>
                </a:cubicBezTo>
                <a:lnTo>
                  <a:pt x="548" y="378"/>
                </a:lnTo>
                <a:cubicBezTo>
                  <a:pt x="550" y="377"/>
                  <a:pt x="551" y="373"/>
                  <a:pt x="551" y="370"/>
                </a:cubicBezTo>
                <a:cubicBezTo>
                  <a:pt x="551" y="366"/>
                  <a:pt x="550" y="363"/>
                  <a:pt x="548" y="361"/>
                </a:cubicBezTo>
                <a:lnTo>
                  <a:pt x="503" y="317"/>
                </a:lnTo>
                <a:lnTo>
                  <a:pt x="638" y="317"/>
                </a:lnTo>
                <a:lnTo>
                  <a:pt x="638" y="388"/>
                </a:lnTo>
                <a:cubicBezTo>
                  <a:pt x="638" y="392"/>
                  <a:pt x="641" y="398"/>
                  <a:pt x="645" y="399"/>
                </a:cubicBezTo>
                <a:close/>
              </a:path>
            </a:pathLst>
          </a:custGeom>
          <a:solidFill>
            <a:schemeClr val="bg2"/>
          </a:solidFill>
          <a:ln>
            <a:noFill/>
          </a:ln>
          <a:effectLst/>
        </p:spPr>
        <p:txBody>
          <a:bodyPr wrap="none" anchor="ctr"/>
          <a:lstStyle/>
          <a:p>
            <a:endParaRPr lang="en-US"/>
          </a:p>
        </p:txBody>
      </p:sp>
      <p:sp>
        <p:nvSpPr>
          <p:cNvPr id="21" name="Freeform 992">
            <a:extLst>
              <a:ext uri="{FF2B5EF4-FFF2-40B4-BE49-F238E27FC236}">
                <a16:creationId xmlns:a16="http://schemas.microsoft.com/office/drawing/2014/main" id="{F4B26987-2492-1546-BCA8-03D060AAC9FA}"/>
              </a:ext>
            </a:extLst>
          </p:cNvPr>
          <p:cNvSpPr>
            <a:spLocks noChangeAspect="1" noChangeArrowheads="1"/>
          </p:cNvSpPr>
          <p:nvPr/>
        </p:nvSpPr>
        <p:spPr bwMode="auto">
          <a:xfrm>
            <a:off x="9529445" y="2510860"/>
            <a:ext cx="960100" cy="960100"/>
          </a:xfrm>
          <a:custGeom>
            <a:avLst/>
            <a:gdLst>
              <a:gd name="T0" fmla="*/ 983605 w 288564"/>
              <a:gd name="T1" fmla="*/ 5399087 h 288565"/>
              <a:gd name="T2" fmla="*/ 1148375 w 288564"/>
              <a:gd name="T3" fmla="*/ 4869428 h 288565"/>
              <a:gd name="T4" fmla="*/ 2447074 w 288564"/>
              <a:gd name="T5" fmla="*/ 4038246 h 288565"/>
              <a:gd name="T6" fmla="*/ 3383308 w 288564"/>
              <a:gd name="T7" fmla="*/ 3101148 h 288565"/>
              <a:gd name="T8" fmla="*/ 3747811 w 288564"/>
              <a:gd name="T9" fmla="*/ 3573297 h 288565"/>
              <a:gd name="T10" fmla="*/ 2082576 w 288564"/>
              <a:gd name="T11" fmla="*/ 3573297 h 288565"/>
              <a:gd name="T12" fmla="*/ 2000770 w 288564"/>
              <a:gd name="T13" fmla="*/ 2643421 h 288565"/>
              <a:gd name="T14" fmla="*/ 1721416 w 288564"/>
              <a:gd name="T15" fmla="*/ 5212978 h 288565"/>
              <a:gd name="T16" fmla="*/ 4199801 w 288564"/>
              <a:gd name="T17" fmla="*/ 3559592 h 288565"/>
              <a:gd name="T18" fmla="*/ 3949087 w 288564"/>
              <a:gd name="T19" fmla="*/ 2521720 h 288565"/>
              <a:gd name="T20" fmla="*/ 1570966 w 288564"/>
              <a:gd name="T21" fmla="*/ 5613809 h 288565"/>
              <a:gd name="T22" fmla="*/ 725775 w 288564"/>
              <a:gd name="T23" fmla="*/ 5220133 h 288565"/>
              <a:gd name="T24" fmla="*/ 2917643 w 288564"/>
              <a:gd name="T25" fmla="*/ 2097633 h 288565"/>
              <a:gd name="T26" fmla="*/ 5632430 w 288564"/>
              <a:gd name="T27" fmla="*/ 4441837 h 288565"/>
              <a:gd name="T28" fmla="*/ 5013339 w 288564"/>
              <a:gd name="T29" fmla="*/ 1388323 h 288565"/>
              <a:gd name="T30" fmla="*/ 4922460 w 288564"/>
              <a:gd name="T31" fmla="*/ 4356220 h 288565"/>
              <a:gd name="T32" fmla="*/ 4662434 w 288564"/>
              <a:gd name="T33" fmla="*/ 1474001 h 288565"/>
              <a:gd name="T34" fmla="*/ 4480679 w 288564"/>
              <a:gd name="T35" fmla="*/ 1474001 h 288565"/>
              <a:gd name="T36" fmla="*/ 4221676 w 288564"/>
              <a:gd name="T37" fmla="*/ 2406637 h 288565"/>
              <a:gd name="T38" fmla="*/ 4142803 w 288564"/>
              <a:gd name="T39" fmla="*/ 1388323 h 288565"/>
              <a:gd name="T40" fmla="*/ 3534094 w 288564"/>
              <a:gd name="T41" fmla="*/ 2075396 h 288565"/>
              <a:gd name="T42" fmla="*/ 3088538 w 288564"/>
              <a:gd name="T43" fmla="*/ 1388323 h 288565"/>
              <a:gd name="T44" fmla="*/ 2997670 w 288564"/>
              <a:gd name="T45" fmla="*/ 1830501 h 288565"/>
              <a:gd name="T46" fmla="*/ 2737645 w 288564"/>
              <a:gd name="T47" fmla="*/ 1475323 h 288565"/>
              <a:gd name="T48" fmla="*/ 2555890 w 288564"/>
              <a:gd name="T49" fmla="*/ 1475323 h 288565"/>
              <a:gd name="T50" fmla="*/ 2265319 w 288564"/>
              <a:gd name="T51" fmla="*/ 1997493 h 288565"/>
              <a:gd name="T52" fmla="*/ 2193037 w 288564"/>
              <a:gd name="T53" fmla="*/ 1388323 h 288565"/>
              <a:gd name="T54" fmla="*/ 1577716 w 288564"/>
              <a:gd name="T55" fmla="*/ 2611677 h 288565"/>
              <a:gd name="T56" fmla="*/ 1143221 w 288564"/>
              <a:gd name="T57" fmla="*/ 1388323 h 288565"/>
              <a:gd name="T58" fmla="*/ 1041329 w 288564"/>
              <a:gd name="T59" fmla="*/ 3086937 h 288565"/>
              <a:gd name="T60" fmla="*/ 781548 w 288564"/>
              <a:gd name="T61" fmla="*/ 1473952 h 288565"/>
              <a:gd name="T62" fmla="*/ 599560 w 288564"/>
              <a:gd name="T63" fmla="*/ 1473952 h 288565"/>
              <a:gd name="T64" fmla="*/ 182032 w 288564"/>
              <a:gd name="T65" fmla="*/ 4356220 h 288565"/>
              <a:gd name="T66" fmla="*/ 94661 w 288564"/>
              <a:gd name="T67" fmla="*/ 1388323 h 288565"/>
              <a:gd name="T68" fmla="*/ 5656817 w 288564"/>
              <a:gd name="T69" fmla="*/ 1128616 h 288565"/>
              <a:gd name="T70" fmla="*/ 5632430 w 288564"/>
              <a:gd name="T71" fmla="*/ 0 h 288565"/>
              <a:gd name="T72" fmla="*/ 5553537 w 288564"/>
              <a:gd name="T73" fmla="*/ 539904 h 288565"/>
              <a:gd name="T74" fmla="*/ 5135748 w 288564"/>
              <a:gd name="T75" fmla="*/ 84097 h 288565"/>
              <a:gd name="T76" fmla="*/ 4954018 w 288564"/>
              <a:gd name="T77" fmla="*/ 84097 h 288565"/>
              <a:gd name="T78" fmla="*/ 4694299 w 288564"/>
              <a:gd name="T79" fmla="*/ 539904 h 288565"/>
              <a:gd name="T80" fmla="*/ 4599624 w 288564"/>
              <a:gd name="T81" fmla="*/ 0 h 288565"/>
              <a:gd name="T82" fmla="*/ 4142803 w 288564"/>
              <a:gd name="T83" fmla="*/ 624004 h 288565"/>
              <a:gd name="T84" fmla="*/ 3534094 w 288564"/>
              <a:gd name="T85" fmla="*/ 0 h 288565"/>
              <a:gd name="T86" fmla="*/ 3439416 w 288564"/>
              <a:gd name="T87" fmla="*/ 539904 h 288565"/>
              <a:gd name="T88" fmla="*/ 3179401 w 288564"/>
              <a:gd name="T89" fmla="*/ 84097 h 288565"/>
              <a:gd name="T90" fmla="*/ 2997670 w 288564"/>
              <a:gd name="T91" fmla="*/ 84097 h 288565"/>
              <a:gd name="T92" fmla="*/ 2737645 w 288564"/>
              <a:gd name="T93" fmla="*/ 539904 h 288565"/>
              <a:gd name="T94" fmla="*/ 2639203 w 288564"/>
              <a:gd name="T95" fmla="*/ 0 h 288565"/>
              <a:gd name="T96" fmla="*/ 2193037 w 288564"/>
              <a:gd name="T97" fmla="*/ 624004 h 288565"/>
              <a:gd name="T98" fmla="*/ 1577716 w 288564"/>
              <a:gd name="T99" fmla="*/ 0 h 288565"/>
              <a:gd name="T100" fmla="*/ 1483056 w 288564"/>
              <a:gd name="T101" fmla="*/ 539904 h 288565"/>
              <a:gd name="T102" fmla="*/ 1128647 w 288564"/>
              <a:gd name="T103" fmla="*/ 84097 h 288565"/>
              <a:gd name="T104" fmla="*/ 946651 w 288564"/>
              <a:gd name="T105" fmla="*/ 84097 h 288565"/>
              <a:gd name="T106" fmla="*/ 718141 w 288564"/>
              <a:gd name="T107" fmla="*/ 539904 h 288565"/>
              <a:gd name="T108" fmla="*/ 619724 w 288564"/>
              <a:gd name="T109" fmla="*/ 0 h 288565"/>
              <a:gd name="T110" fmla="*/ 94661 w 288564"/>
              <a:gd name="T111" fmla="*/ 624004 h 28856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88564" h="288565">
                <a:moveTo>
                  <a:pt x="57775" y="244991"/>
                </a:moveTo>
                <a:lnTo>
                  <a:pt x="49486" y="253274"/>
                </a:lnTo>
                <a:cubicBezTo>
                  <a:pt x="46964" y="255074"/>
                  <a:pt x="45522" y="258676"/>
                  <a:pt x="45522" y="262637"/>
                </a:cubicBezTo>
                <a:cubicBezTo>
                  <a:pt x="45522" y="265878"/>
                  <a:pt x="46964" y="269119"/>
                  <a:pt x="49486" y="271640"/>
                </a:cubicBezTo>
                <a:lnTo>
                  <a:pt x="54171" y="276321"/>
                </a:lnTo>
                <a:cubicBezTo>
                  <a:pt x="58856" y="281003"/>
                  <a:pt x="67505" y="281003"/>
                  <a:pt x="72910" y="276321"/>
                </a:cubicBezTo>
                <a:lnTo>
                  <a:pt x="80839" y="268039"/>
                </a:lnTo>
                <a:lnTo>
                  <a:pt x="57775" y="244991"/>
                </a:lnTo>
                <a:close/>
                <a:moveTo>
                  <a:pt x="146485" y="146307"/>
                </a:moveTo>
                <a:cubicBezTo>
                  <a:pt x="138215" y="146307"/>
                  <a:pt x="129585" y="149546"/>
                  <a:pt x="123113" y="156025"/>
                </a:cubicBezTo>
                <a:cubicBezTo>
                  <a:pt x="117000" y="162144"/>
                  <a:pt x="113405" y="170782"/>
                  <a:pt x="113405" y="179780"/>
                </a:cubicBezTo>
                <a:cubicBezTo>
                  <a:pt x="113405" y="188778"/>
                  <a:pt x="117000" y="197056"/>
                  <a:pt x="123113" y="203174"/>
                </a:cubicBezTo>
                <a:cubicBezTo>
                  <a:pt x="129585" y="209653"/>
                  <a:pt x="137855" y="212892"/>
                  <a:pt x="146485" y="212892"/>
                </a:cubicBezTo>
                <a:cubicBezTo>
                  <a:pt x="155474" y="212892"/>
                  <a:pt x="164103" y="209653"/>
                  <a:pt x="170216" y="203174"/>
                </a:cubicBezTo>
                <a:cubicBezTo>
                  <a:pt x="176688" y="197056"/>
                  <a:pt x="179924" y="188778"/>
                  <a:pt x="179924" y="179780"/>
                </a:cubicBezTo>
                <a:cubicBezTo>
                  <a:pt x="179924" y="170782"/>
                  <a:pt x="176688" y="162144"/>
                  <a:pt x="170216" y="156025"/>
                </a:cubicBezTo>
                <a:cubicBezTo>
                  <a:pt x="163744" y="149546"/>
                  <a:pt x="155114" y="146307"/>
                  <a:pt x="146485" y="146307"/>
                </a:cubicBezTo>
                <a:close/>
                <a:moveTo>
                  <a:pt x="146709" y="137489"/>
                </a:moveTo>
                <a:cubicBezTo>
                  <a:pt x="157541" y="137489"/>
                  <a:pt x="168418" y="141628"/>
                  <a:pt x="176688" y="149906"/>
                </a:cubicBezTo>
                <a:cubicBezTo>
                  <a:pt x="184598" y="157825"/>
                  <a:pt x="188554" y="168622"/>
                  <a:pt x="188554" y="179780"/>
                </a:cubicBezTo>
                <a:cubicBezTo>
                  <a:pt x="188554" y="190937"/>
                  <a:pt x="184598" y="201735"/>
                  <a:pt x="176688" y="209293"/>
                </a:cubicBezTo>
                <a:cubicBezTo>
                  <a:pt x="168778" y="217571"/>
                  <a:pt x="157991" y="221890"/>
                  <a:pt x="146485" y="221890"/>
                </a:cubicBezTo>
                <a:cubicBezTo>
                  <a:pt x="135338" y="221890"/>
                  <a:pt x="124911" y="217571"/>
                  <a:pt x="117000" y="209293"/>
                </a:cubicBezTo>
                <a:cubicBezTo>
                  <a:pt x="108730" y="201735"/>
                  <a:pt x="104775" y="190937"/>
                  <a:pt x="104775" y="179780"/>
                </a:cubicBezTo>
                <a:cubicBezTo>
                  <a:pt x="104775" y="168622"/>
                  <a:pt x="108730" y="157825"/>
                  <a:pt x="117000" y="149906"/>
                </a:cubicBezTo>
                <a:cubicBezTo>
                  <a:pt x="125090" y="141628"/>
                  <a:pt x="135877" y="137489"/>
                  <a:pt x="146709" y="137489"/>
                </a:cubicBezTo>
                <a:close/>
                <a:moveTo>
                  <a:pt x="146427" y="114270"/>
                </a:moveTo>
                <a:cubicBezTo>
                  <a:pt x="130210" y="114270"/>
                  <a:pt x="113633" y="120392"/>
                  <a:pt x="100659" y="132996"/>
                </a:cubicBezTo>
                <a:cubicBezTo>
                  <a:pt x="80478" y="153162"/>
                  <a:pt x="76154" y="183772"/>
                  <a:pt x="89127" y="208980"/>
                </a:cubicBezTo>
                <a:cubicBezTo>
                  <a:pt x="89848" y="210781"/>
                  <a:pt x="89488" y="212941"/>
                  <a:pt x="88406" y="214022"/>
                </a:cubicBezTo>
                <a:lnTo>
                  <a:pt x="63541" y="238509"/>
                </a:lnTo>
                <a:lnTo>
                  <a:pt x="86605" y="262277"/>
                </a:lnTo>
                <a:lnTo>
                  <a:pt x="111470" y="237069"/>
                </a:lnTo>
                <a:cubicBezTo>
                  <a:pt x="112912" y="235988"/>
                  <a:pt x="115074" y="235628"/>
                  <a:pt x="116876" y="236349"/>
                </a:cubicBezTo>
                <a:cubicBezTo>
                  <a:pt x="141742" y="250033"/>
                  <a:pt x="172734" y="244991"/>
                  <a:pt x="192554" y="224465"/>
                </a:cubicBezTo>
                <a:cubicBezTo>
                  <a:pt x="204807" y="212221"/>
                  <a:pt x="211293" y="196376"/>
                  <a:pt x="211293" y="179091"/>
                </a:cubicBezTo>
                <a:cubicBezTo>
                  <a:pt x="211293" y="161445"/>
                  <a:pt x="204807" y="145240"/>
                  <a:pt x="192554" y="132996"/>
                </a:cubicBezTo>
                <a:cubicBezTo>
                  <a:pt x="179941" y="120392"/>
                  <a:pt x="163364" y="114270"/>
                  <a:pt x="146427" y="114270"/>
                </a:cubicBezTo>
                <a:close/>
                <a:moveTo>
                  <a:pt x="146787" y="105537"/>
                </a:moveTo>
                <a:cubicBezTo>
                  <a:pt x="165616" y="105537"/>
                  <a:pt x="184446" y="112649"/>
                  <a:pt x="198680" y="126874"/>
                </a:cubicBezTo>
                <a:cubicBezTo>
                  <a:pt x="212735" y="140558"/>
                  <a:pt x="220303" y="159284"/>
                  <a:pt x="220303" y="179091"/>
                </a:cubicBezTo>
                <a:cubicBezTo>
                  <a:pt x="220303" y="198537"/>
                  <a:pt x="212735" y="217263"/>
                  <a:pt x="198680" y="231307"/>
                </a:cubicBezTo>
                <a:cubicBezTo>
                  <a:pt x="176698" y="253274"/>
                  <a:pt x="143183" y="258676"/>
                  <a:pt x="115435" y="245712"/>
                </a:cubicBezTo>
                <a:lnTo>
                  <a:pt x="79037" y="282443"/>
                </a:lnTo>
                <a:cubicBezTo>
                  <a:pt x="74712" y="286404"/>
                  <a:pt x="68946" y="288565"/>
                  <a:pt x="63541" y="288565"/>
                </a:cubicBezTo>
                <a:cubicBezTo>
                  <a:pt x="57775" y="288565"/>
                  <a:pt x="52009" y="286404"/>
                  <a:pt x="48045" y="282443"/>
                </a:cubicBezTo>
                <a:lnTo>
                  <a:pt x="43360" y="277762"/>
                </a:lnTo>
                <a:cubicBezTo>
                  <a:pt x="39396" y="273440"/>
                  <a:pt x="36513" y="268039"/>
                  <a:pt x="36513" y="262637"/>
                </a:cubicBezTo>
                <a:cubicBezTo>
                  <a:pt x="36513" y="256515"/>
                  <a:pt x="39396" y="250753"/>
                  <a:pt x="43360" y="246792"/>
                </a:cubicBezTo>
                <a:lnTo>
                  <a:pt x="79757" y="210060"/>
                </a:lnTo>
                <a:cubicBezTo>
                  <a:pt x="66784" y="182332"/>
                  <a:pt x="72550" y="149201"/>
                  <a:pt x="94893" y="126874"/>
                </a:cubicBezTo>
                <a:cubicBezTo>
                  <a:pt x="109128" y="112649"/>
                  <a:pt x="127957" y="105537"/>
                  <a:pt x="146787" y="105537"/>
                </a:cubicBezTo>
                <a:close/>
                <a:moveTo>
                  <a:pt x="283369" y="69850"/>
                </a:moveTo>
                <a:cubicBezTo>
                  <a:pt x="285684" y="69850"/>
                  <a:pt x="287007" y="71645"/>
                  <a:pt x="287007" y="74157"/>
                </a:cubicBezTo>
                <a:lnTo>
                  <a:pt x="287007" y="219172"/>
                </a:lnTo>
                <a:cubicBezTo>
                  <a:pt x="287007" y="222043"/>
                  <a:pt x="285684" y="223479"/>
                  <a:pt x="283369" y="223479"/>
                </a:cubicBezTo>
                <a:cubicBezTo>
                  <a:pt x="281054" y="223479"/>
                  <a:pt x="279400" y="222043"/>
                  <a:pt x="279400" y="219172"/>
                </a:cubicBezTo>
                <a:lnTo>
                  <a:pt x="279400" y="74157"/>
                </a:lnTo>
                <a:cubicBezTo>
                  <a:pt x="279400" y="71645"/>
                  <a:pt x="281054" y="69850"/>
                  <a:pt x="283369" y="69850"/>
                </a:cubicBezTo>
                <a:close/>
                <a:moveTo>
                  <a:pt x="252222" y="69850"/>
                </a:moveTo>
                <a:cubicBezTo>
                  <a:pt x="254508" y="69850"/>
                  <a:pt x="256794" y="71645"/>
                  <a:pt x="256794" y="74157"/>
                </a:cubicBezTo>
                <a:lnTo>
                  <a:pt x="256794" y="219172"/>
                </a:lnTo>
                <a:cubicBezTo>
                  <a:pt x="256794" y="222043"/>
                  <a:pt x="254508" y="223479"/>
                  <a:pt x="252222" y="223479"/>
                </a:cubicBezTo>
                <a:cubicBezTo>
                  <a:pt x="249555" y="223479"/>
                  <a:pt x="247650" y="222043"/>
                  <a:pt x="247650" y="219172"/>
                </a:cubicBezTo>
                <a:lnTo>
                  <a:pt x="247650" y="74157"/>
                </a:lnTo>
                <a:cubicBezTo>
                  <a:pt x="247650" y="71645"/>
                  <a:pt x="249555" y="69850"/>
                  <a:pt x="252222" y="69850"/>
                </a:cubicBezTo>
                <a:close/>
                <a:moveTo>
                  <a:pt x="230378" y="69850"/>
                </a:moveTo>
                <a:cubicBezTo>
                  <a:pt x="232664" y="69850"/>
                  <a:pt x="234569" y="71645"/>
                  <a:pt x="234569" y="74159"/>
                </a:cubicBezTo>
                <a:lnTo>
                  <a:pt x="234569" y="155311"/>
                </a:lnTo>
                <a:cubicBezTo>
                  <a:pt x="234569" y="157825"/>
                  <a:pt x="232664" y="159979"/>
                  <a:pt x="230378" y="159979"/>
                </a:cubicBezTo>
                <a:cubicBezTo>
                  <a:pt x="227711" y="159979"/>
                  <a:pt x="225425" y="157825"/>
                  <a:pt x="225425" y="155311"/>
                </a:cubicBezTo>
                <a:lnTo>
                  <a:pt x="225425" y="74159"/>
                </a:lnTo>
                <a:cubicBezTo>
                  <a:pt x="225425" y="71645"/>
                  <a:pt x="227711" y="69850"/>
                  <a:pt x="230378" y="69850"/>
                </a:cubicBezTo>
                <a:close/>
                <a:moveTo>
                  <a:pt x="208426" y="69850"/>
                </a:moveTo>
                <a:cubicBezTo>
                  <a:pt x="210741" y="69850"/>
                  <a:pt x="212394" y="71654"/>
                  <a:pt x="212394" y="74179"/>
                </a:cubicBezTo>
                <a:lnTo>
                  <a:pt x="212394" y="121083"/>
                </a:lnTo>
                <a:cubicBezTo>
                  <a:pt x="212394" y="123248"/>
                  <a:pt x="210741" y="125052"/>
                  <a:pt x="208426" y="125052"/>
                </a:cubicBezTo>
                <a:cubicBezTo>
                  <a:pt x="206442" y="125052"/>
                  <a:pt x="204788" y="123248"/>
                  <a:pt x="204788" y="121083"/>
                </a:cubicBezTo>
                <a:lnTo>
                  <a:pt x="204788" y="74179"/>
                </a:lnTo>
                <a:cubicBezTo>
                  <a:pt x="204788" y="71654"/>
                  <a:pt x="206442" y="69850"/>
                  <a:pt x="208426" y="69850"/>
                </a:cubicBezTo>
                <a:close/>
                <a:moveTo>
                  <a:pt x="177801" y="69850"/>
                </a:moveTo>
                <a:cubicBezTo>
                  <a:pt x="180365" y="69850"/>
                  <a:pt x="182197" y="71632"/>
                  <a:pt x="182197" y="74126"/>
                </a:cubicBezTo>
                <a:lnTo>
                  <a:pt x="182197" y="100498"/>
                </a:lnTo>
                <a:cubicBezTo>
                  <a:pt x="182197" y="102637"/>
                  <a:pt x="180365" y="104418"/>
                  <a:pt x="177801" y="104418"/>
                </a:cubicBezTo>
                <a:cubicBezTo>
                  <a:pt x="175236" y="104418"/>
                  <a:pt x="173038" y="102637"/>
                  <a:pt x="173038" y="100498"/>
                </a:cubicBezTo>
                <a:lnTo>
                  <a:pt x="173038" y="74126"/>
                </a:lnTo>
                <a:cubicBezTo>
                  <a:pt x="173038" y="71632"/>
                  <a:pt x="175236" y="69850"/>
                  <a:pt x="177801" y="69850"/>
                </a:cubicBezTo>
                <a:close/>
                <a:moveTo>
                  <a:pt x="155385" y="69850"/>
                </a:moveTo>
                <a:cubicBezTo>
                  <a:pt x="158052" y="69850"/>
                  <a:pt x="159957" y="71673"/>
                  <a:pt x="159957" y="74226"/>
                </a:cubicBezTo>
                <a:lnTo>
                  <a:pt x="159957" y="92097"/>
                </a:lnTo>
                <a:cubicBezTo>
                  <a:pt x="159957" y="94285"/>
                  <a:pt x="158052" y="96473"/>
                  <a:pt x="155385" y="96473"/>
                </a:cubicBezTo>
                <a:cubicBezTo>
                  <a:pt x="152718" y="96473"/>
                  <a:pt x="150813" y="94285"/>
                  <a:pt x="150813" y="92097"/>
                </a:cubicBezTo>
                <a:lnTo>
                  <a:pt x="150813" y="74226"/>
                </a:lnTo>
                <a:cubicBezTo>
                  <a:pt x="150813" y="71673"/>
                  <a:pt x="152718" y="69850"/>
                  <a:pt x="155385" y="69850"/>
                </a:cubicBezTo>
                <a:close/>
                <a:moveTo>
                  <a:pt x="132779" y="69850"/>
                </a:moveTo>
                <a:cubicBezTo>
                  <a:pt x="135446" y="69850"/>
                  <a:pt x="137732" y="71673"/>
                  <a:pt x="137732" y="74226"/>
                </a:cubicBezTo>
                <a:lnTo>
                  <a:pt x="137732" y="92097"/>
                </a:lnTo>
                <a:cubicBezTo>
                  <a:pt x="137732" y="94285"/>
                  <a:pt x="135446" y="96473"/>
                  <a:pt x="132779" y="96473"/>
                </a:cubicBezTo>
                <a:cubicBezTo>
                  <a:pt x="130112" y="96473"/>
                  <a:pt x="128588" y="94285"/>
                  <a:pt x="128588" y="92097"/>
                </a:cubicBezTo>
                <a:lnTo>
                  <a:pt x="128588" y="74226"/>
                </a:lnTo>
                <a:cubicBezTo>
                  <a:pt x="128588" y="71673"/>
                  <a:pt x="130112" y="69850"/>
                  <a:pt x="132779" y="69850"/>
                </a:cubicBezTo>
                <a:close/>
                <a:moveTo>
                  <a:pt x="110332" y="69850"/>
                </a:moveTo>
                <a:cubicBezTo>
                  <a:pt x="112647" y="69850"/>
                  <a:pt x="113969" y="71632"/>
                  <a:pt x="113969" y="74126"/>
                </a:cubicBezTo>
                <a:lnTo>
                  <a:pt x="113969" y="100498"/>
                </a:lnTo>
                <a:cubicBezTo>
                  <a:pt x="113969" y="102637"/>
                  <a:pt x="112647" y="104418"/>
                  <a:pt x="110332" y="104418"/>
                </a:cubicBezTo>
                <a:cubicBezTo>
                  <a:pt x="108017" y="104418"/>
                  <a:pt x="106363" y="102637"/>
                  <a:pt x="106363" y="100498"/>
                </a:cubicBezTo>
                <a:lnTo>
                  <a:pt x="106363" y="74126"/>
                </a:lnTo>
                <a:cubicBezTo>
                  <a:pt x="106363" y="71632"/>
                  <a:pt x="108017" y="69850"/>
                  <a:pt x="110332" y="69850"/>
                </a:cubicBezTo>
                <a:close/>
                <a:moveTo>
                  <a:pt x="79375" y="69850"/>
                </a:moveTo>
                <a:cubicBezTo>
                  <a:pt x="81940" y="69850"/>
                  <a:pt x="83772" y="71671"/>
                  <a:pt x="83772" y="74220"/>
                </a:cubicBezTo>
                <a:lnTo>
                  <a:pt x="83772" y="127393"/>
                </a:lnTo>
                <a:cubicBezTo>
                  <a:pt x="83772" y="129942"/>
                  <a:pt x="81940" y="131399"/>
                  <a:pt x="79375" y="131399"/>
                </a:cubicBezTo>
                <a:cubicBezTo>
                  <a:pt x="76811" y="131399"/>
                  <a:pt x="74613" y="129942"/>
                  <a:pt x="74613" y="127393"/>
                </a:cubicBezTo>
                <a:lnTo>
                  <a:pt x="74613" y="74220"/>
                </a:lnTo>
                <a:cubicBezTo>
                  <a:pt x="74613" y="71671"/>
                  <a:pt x="76811" y="69850"/>
                  <a:pt x="79375" y="69850"/>
                </a:cubicBezTo>
                <a:close/>
                <a:moveTo>
                  <a:pt x="57517" y="69850"/>
                </a:moveTo>
                <a:cubicBezTo>
                  <a:pt x="60081" y="69850"/>
                  <a:pt x="61547" y="71645"/>
                  <a:pt x="61547" y="74159"/>
                </a:cubicBezTo>
                <a:lnTo>
                  <a:pt x="61547" y="155311"/>
                </a:lnTo>
                <a:cubicBezTo>
                  <a:pt x="61547" y="157825"/>
                  <a:pt x="60081" y="159979"/>
                  <a:pt x="57517" y="159979"/>
                </a:cubicBezTo>
                <a:cubicBezTo>
                  <a:pt x="54952" y="159979"/>
                  <a:pt x="52388" y="157825"/>
                  <a:pt x="52388" y="155311"/>
                </a:cubicBezTo>
                <a:lnTo>
                  <a:pt x="52388" y="74159"/>
                </a:lnTo>
                <a:cubicBezTo>
                  <a:pt x="52388" y="71645"/>
                  <a:pt x="54952" y="69850"/>
                  <a:pt x="57517" y="69850"/>
                </a:cubicBezTo>
                <a:close/>
                <a:moveTo>
                  <a:pt x="34925" y="69850"/>
                </a:moveTo>
                <a:cubicBezTo>
                  <a:pt x="36757" y="69850"/>
                  <a:pt x="39322" y="71645"/>
                  <a:pt x="39322" y="74157"/>
                </a:cubicBezTo>
                <a:lnTo>
                  <a:pt x="39322" y="219172"/>
                </a:lnTo>
                <a:cubicBezTo>
                  <a:pt x="39322" y="221684"/>
                  <a:pt x="36757" y="223479"/>
                  <a:pt x="34925" y="223479"/>
                </a:cubicBezTo>
                <a:cubicBezTo>
                  <a:pt x="32361" y="223479"/>
                  <a:pt x="30163" y="221684"/>
                  <a:pt x="30163" y="219172"/>
                </a:cubicBezTo>
                <a:lnTo>
                  <a:pt x="30163" y="74157"/>
                </a:lnTo>
                <a:cubicBezTo>
                  <a:pt x="30163" y="71645"/>
                  <a:pt x="32361" y="69850"/>
                  <a:pt x="34925" y="69850"/>
                </a:cubicBezTo>
                <a:close/>
                <a:moveTo>
                  <a:pt x="4762" y="69850"/>
                </a:moveTo>
                <a:cubicBezTo>
                  <a:pt x="7327" y="69850"/>
                  <a:pt x="9159" y="71645"/>
                  <a:pt x="9159" y="74157"/>
                </a:cubicBezTo>
                <a:lnTo>
                  <a:pt x="9159" y="219172"/>
                </a:lnTo>
                <a:cubicBezTo>
                  <a:pt x="9159" y="222043"/>
                  <a:pt x="7327" y="223479"/>
                  <a:pt x="4762" y="223479"/>
                </a:cubicBezTo>
                <a:cubicBezTo>
                  <a:pt x="2198" y="223479"/>
                  <a:pt x="0" y="222043"/>
                  <a:pt x="0" y="219172"/>
                </a:cubicBezTo>
                <a:lnTo>
                  <a:pt x="0" y="74157"/>
                </a:lnTo>
                <a:cubicBezTo>
                  <a:pt x="0" y="71645"/>
                  <a:pt x="2198" y="69850"/>
                  <a:pt x="4762" y="69850"/>
                </a:cubicBezTo>
                <a:close/>
                <a:moveTo>
                  <a:pt x="4689" y="47625"/>
                </a:moveTo>
                <a:lnTo>
                  <a:pt x="284597" y="47625"/>
                </a:lnTo>
                <a:cubicBezTo>
                  <a:pt x="287122" y="47625"/>
                  <a:pt x="288564" y="49823"/>
                  <a:pt x="288564" y="52021"/>
                </a:cubicBezTo>
                <a:cubicBezTo>
                  <a:pt x="288564" y="54585"/>
                  <a:pt x="287122" y="56784"/>
                  <a:pt x="284597" y="56784"/>
                </a:cubicBezTo>
                <a:lnTo>
                  <a:pt x="4689" y="56784"/>
                </a:lnTo>
                <a:cubicBezTo>
                  <a:pt x="2164" y="56784"/>
                  <a:pt x="0" y="54585"/>
                  <a:pt x="0" y="52021"/>
                </a:cubicBezTo>
                <a:cubicBezTo>
                  <a:pt x="0" y="49823"/>
                  <a:pt x="2164" y="47625"/>
                  <a:pt x="4689" y="47625"/>
                </a:cubicBezTo>
                <a:close/>
                <a:moveTo>
                  <a:pt x="283369" y="0"/>
                </a:moveTo>
                <a:cubicBezTo>
                  <a:pt x="285684" y="0"/>
                  <a:pt x="287007" y="2117"/>
                  <a:pt x="287007" y="4233"/>
                </a:cubicBezTo>
                <a:lnTo>
                  <a:pt x="287007" y="27164"/>
                </a:lnTo>
                <a:cubicBezTo>
                  <a:pt x="287007" y="29633"/>
                  <a:pt x="285684" y="31397"/>
                  <a:pt x="283369" y="31397"/>
                </a:cubicBezTo>
                <a:cubicBezTo>
                  <a:pt x="281054" y="31397"/>
                  <a:pt x="279400" y="29633"/>
                  <a:pt x="279400" y="27164"/>
                </a:cubicBezTo>
                <a:lnTo>
                  <a:pt x="279400" y="4233"/>
                </a:lnTo>
                <a:cubicBezTo>
                  <a:pt x="279400" y="2117"/>
                  <a:pt x="281054" y="0"/>
                  <a:pt x="283369" y="0"/>
                </a:cubicBezTo>
                <a:close/>
                <a:moveTo>
                  <a:pt x="253810" y="0"/>
                </a:moveTo>
                <a:cubicBezTo>
                  <a:pt x="256477" y="0"/>
                  <a:pt x="258382" y="2117"/>
                  <a:pt x="258382" y="4233"/>
                </a:cubicBezTo>
                <a:lnTo>
                  <a:pt x="258382" y="27164"/>
                </a:lnTo>
                <a:cubicBezTo>
                  <a:pt x="258382" y="29633"/>
                  <a:pt x="256477" y="31397"/>
                  <a:pt x="253810" y="31397"/>
                </a:cubicBezTo>
                <a:cubicBezTo>
                  <a:pt x="251143" y="31397"/>
                  <a:pt x="249238" y="29633"/>
                  <a:pt x="249238" y="27164"/>
                </a:cubicBezTo>
                <a:lnTo>
                  <a:pt x="249238" y="4233"/>
                </a:lnTo>
                <a:cubicBezTo>
                  <a:pt x="249238" y="2117"/>
                  <a:pt x="251143" y="0"/>
                  <a:pt x="253810" y="0"/>
                </a:cubicBezTo>
                <a:close/>
                <a:moveTo>
                  <a:pt x="231409" y="0"/>
                </a:moveTo>
                <a:cubicBezTo>
                  <a:pt x="233974" y="0"/>
                  <a:pt x="236172" y="2117"/>
                  <a:pt x="236172" y="4233"/>
                </a:cubicBezTo>
                <a:lnTo>
                  <a:pt x="236172" y="27164"/>
                </a:lnTo>
                <a:cubicBezTo>
                  <a:pt x="236172" y="29633"/>
                  <a:pt x="233974" y="31397"/>
                  <a:pt x="231409" y="31397"/>
                </a:cubicBezTo>
                <a:cubicBezTo>
                  <a:pt x="228845" y="31397"/>
                  <a:pt x="227013" y="29633"/>
                  <a:pt x="227013" y="27164"/>
                </a:cubicBezTo>
                <a:lnTo>
                  <a:pt x="227013" y="4233"/>
                </a:lnTo>
                <a:cubicBezTo>
                  <a:pt x="227013" y="2117"/>
                  <a:pt x="228845" y="0"/>
                  <a:pt x="231409" y="0"/>
                </a:cubicBezTo>
                <a:close/>
                <a:moveTo>
                  <a:pt x="208426" y="0"/>
                </a:moveTo>
                <a:cubicBezTo>
                  <a:pt x="210741" y="0"/>
                  <a:pt x="212394" y="2117"/>
                  <a:pt x="212394" y="4233"/>
                </a:cubicBezTo>
                <a:lnTo>
                  <a:pt x="212394" y="27164"/>
                </a:lnTo>
                <a:cubicBezTo>
                  <a:pt x="212394" y="29633"/>
                  <a:pt x="210741" y="31397"/>
                  <a:pt x="208426" y="31397"/>
                </a:cubicBezTo>
                <a:cubicBezTo>
                  <a:pt x="206442" y="31397"/>
                  <a:pt x="204788" y="29633"/>
                  <a:pt x="204788" y="27164"/>
                </a:cubicBezTo>
                <a:lnTo>
                  <a:pt x="204788" y="4233"/>
                </a:lnTo>
                <a:cubicBezTo>
                  <a:pt x="204788" y="2117"/>
                  <a:pt x="206442" y="0"/>
                  <a:pt x="208426" y="0"/>
                </a:cubicBezTo>
                <a:close/>
                <a:moveTo>
                  <a:pt x="177801" y="0"/>
                </a:moveTo>
                <a:cubicBezTo>
                  <a:pt x="180365" y="0"/>
                  <a:pt x="182197" y="2117"/>
                  <a:pt x="182197" y="4233"/>
                </a:cubicBezTo>
                <a:lnTo>
                  <a:pt x="182197" y="27164"/>
                </a:lnTo>
                <a:cubicBezTo>
                  <a:pt x="182197" y="29633"/>
                  <a:pt x="180365" y="31397"/>
                  <a:pt x="177801" y="31397"/>
                </a:cubicBezTo>
                <a:cubicBezTo>
                  <a:pt x="175236" y="31397"/>
                  <a:pt x="173038" y="29633"/>
                  <a:pt x="173038" y="27164"/>
                </a:cubicBezTo>
                <a:lnTo>
                  <a:pt x="173038" y="4233"/>
                </a:lnTo>
                <a:cubicBezTo>
                  <a:pt x="173038" y="2117"/>
                  <a:pt x="175236" y="0"/>
                  <a:pt x="177801" y="0"/>
                </a:cubicBezTo>
                <a:close/>
                <a:moveTo>
                  <a:pt x="155385" y="0"/>
                </a:moveTo>
                <a:cubicBezTo>
                  <a:pt x="158052" y="0"/>
                  <a:pt x="159957" y="2117"/>
                  <a:pt x="159957" y="4233"/>
                </a:cubicBezTo>
                <a:lnTo>
                  <a:pt x="159957" y="27164"/>
                </a:lnTo>
                <a:cubicBezTo>
                  <a:pt x="159957" y="29633"/>
                  <a:pt x="158052" y="31397"/>
                  <a:pt x="155385" y="31397"/>
                </a:cubicBezTo>
                <a:cubicBezTo>
                  <a:pt x="152718" y="31397"/>
                  <a:pt x="150813" y="29633"/>
                  <a:pt x="150813" y="27164"/>
                </a:cubicBezTo>
                <a:lnTo>
                  <a:pt x="150813" y="4233"/>
                </a:lnTo>
                <a:cubicBezTo>
                  <a:pt x="150813" y="2117"/>
                  <a:pt x="152718" y="0"/>
                  <a:pt x="155385" y="0"/>
                </a:cubicBezTo>
                <a:close/>
                <a:moveTo>
                  <a:pt x="132779" y="0"/>
                </a:moveTo>
                <a:cubicBezTo>
                  <a:pt x="135446" y="0"/>
                  <a:pt x="137732" y="2117"/>
                  <a:pt x="137732" y="4233"/>
                </a:cubicBezTo>
                <a:lnTo>
                  <a:pt x="137732" y="27164"/>
                </a:lnTo>
                <a:cubicBezTo>
                  <a:pt x="137732" y="29633"/>
                  <a:pt x="135446" y="31397"/>
                  <a:pt x="132779" y="31397"/>
                </a:cubicBezTo>
                <a:cubicBezTo>
                  <a:pt x="130112" y="31397"/>
                  <a:pt x="128588" y="29633"/>
                  <a:pt x="128588" y="27164"/>
                </a:cubicBezTo>
                <a:lnTo>
                  <a:pt x="128588" y="4233"/>
                </a:lnTo>
                <a:cubicBezTo>
                  <a:pt x="128588" y="2117"/>
                  <a:pt x="130112" y="0"/>
                  <a:pt x="132779" y="0"/>
                </a:cubicBezTo>
                <a:close/>
                <a:moveTo>
                  <a:pt x="110332" y="0"/>
                </a:moveTo>
                <a:cubicBezTo>
                  <a:pt x="112647" y="0"/>
                  <a:pt x="113969" y="2117"/>
                  <a:pt x="113969" y="4233"/>
                </a:cubicBezTo>
                <a:lnTo>
                  <a:pt x="113969" y="27164"/>
                </a:lnTo>
                <a:cubicBezTo>
                  <a:pt x="113969" y="29633"/>
                  <a:pt x="112647" y="31397"/>
                  <a:pt x="110332" y="31397"/>
                </a:cubicBezTo>
                <a:cubicBezTo>
                  <a:pt x="108017" y="31397"/>
                  <a:pt x="106363" y="29633"/>
                  <a:pt x="106363" y="27164"/>
                </a:cubicBezTo>
                <a:lnTo>
                  <a:pt x="106363" y="4233"/>
                </a:lnTo>
                <a:cubicBezTo>
                  <a:pt x="106363" y="2117"/>
                  <a:pt x="108017" y="0"/>
                  <a:pt x="110332" y="0"/>
                </a:cubicBezTo>
                <a:close/>
                <a:moveTo>
                  <a:pt x="79375" y="0"/>
                </a:moveTo>
                <a:cubicBezTo>
                  <a:pt x="81940" y="0"/>
                  <a:pt x="83772" y="2117"/>
                  <a:pt x="83772" y="4233"/>
                </a:cubicBezTo>
                <a:lnTo>
                  <a:pt x="83772" y="27164"/>
                </a:lnTo>
                <a:cubicBezTo>
                  <a:pt x="83772" y="29633"/>
                  <a:pt x="81940" y="31397"/>
                  <a:pt x="79375" y="31397"/>
                </a:cubicBezTo>
                <a:cubicBezTo>
                  <a:pt x="76811" y="31397"/>
                  <a:pt x="74613" y="29633"/>
                  <a:pt x="74613" y="27164"/>
                </a:cubicBezTo>
                <a:lnTo>
                  <a:pt x="74613" y="4233"/>
                </a:lnTo>
                <a:cubicBezTo>
                  <a:pt x="74613" y="2117"/>
                  <a:pt x="76811" y="0"/>
                  <a:pt x="79375" y="0"/>
                </a:cubicBezTo>
                <a:close/>
                <a:moveTo>
                  <a:pt x="51655" y="0"/>
                </a:moveTo>
                <a:cubicBezTo>
                  <a:pt x="54219" y="0"/>
                  <a:pt x="56784" y="2117"/>
                  <a:pt x="56784" y="4233"/>
                </a:cubicBezTo>
                <a:lnTo>
                  <a:pt x="56784" y="27164"/>
                </a:lnTo>
                <a:cubicBezTo>
                  <a:pt x="56784" y="29633"/>
                  <a:pt x="54219" y="31397"/>
                  <a:pt x="51655" y="31397"/>
                </a:cubicBezTo>
                <a:cubicBezTo>
                  <a:pt x="49823" y="31397"/>
                  <a:pt x="47625" y="29633"/>
                  <a:pt x="47625" y="27164"/>
                </a:cubicBezTo>
                <a:lnTo>
                  <a:pt x="47625" y="4233"/>
                </a:lnTo>
                <a:cubicBezTo>
                  <a:pt x="47625" y="2117"/>
                  <a:pt x="49823" y="0"/>
                  <a:pt x="51655" y="0"/>
                </a:cubicBezTo>
                <a:close/>
                <a:moveTo>
                  <a:pt x="31179" y="0"/>
                </a:moveTo>
                <a:cubicBezTo>
                  <a:pt x="33846" y="0"/>
                  <a:pt x="36132" y="2117"/>
                  <a:pt x="36132" y="4233"/>
                </a:cubicBezTo>
                <a:lnTo>
                  <a:pt x="36132" y="27164"/>
                </a:lnTo>
                <a:cubicBezTo>
                  <a:pt x="36132" y="29633"/>
                  <a:pt x="33846" y="31397"/>
                  <a:pt x="31179" y="31397"/>
                </a:cubicBezTo>
                <a:cubicBezTo>
                  <a:pt x="28512" y="31397"/>
                  <a:pt x="26988" y="29633"/>
                  <a:pt x="26988" y="27164"/>
                </a:cubicBezTo>
                <a:lnTo>
                  <a:pt x="26988" y="4233"/>
                </a:lnTo>
                <a:cubicBezTo>
                  <a:pt x="26988" y="2117"/>
                  <a:pt x="28512" y="0"/>
                  <a:pt x="31179" y="0"/>
                </a:cubicBezTo>
                <a:close/>
                <a:moveTo>
                  <a:pt x="4762" y="0"/>
                </a:moveTo>
                <a:cubicBezTo>
                  <a:pt x="7327" y="0"/>
                  <a:pt x="9159" y="2117"/>
                  <a:pt x="9159" y="4233"/>
                </a:cubicBezTo>
                <a:lnTo>
                  <a:pt x="9159" y="27164"/>
                </a:lnTo>
                <a:cubicBezTo>
                  <a:pt x="9159" y="29633"/>
                  <a:pt x="7327" y="31397"/>
                  <a:pt x="4762" y="31397"/>
                </a:cubicBezTo>
                <a:cubicBezTo>
                  <a:pt x="2198" y="31397"/>
                  <a:pt x="0" y="29633"/>
                  <a:pt x="0" y="27164"/>
                </a:cubicBezTo>
                <a:lnTo>
                  <a:pt x="0" y="4233"/>
                </a:lnTo>
                <a:cubicBezTo>
                  <a:pt x="0" y="2117"/>
                  <a:pt x="2198" y="0"/>
                  <a:pt x="4762" y="0"/>
                </a:cubicBezTo>
                <a:close/>
              </a:path>
            </a:pathLst>
          </a:custGeom>
          <a:solidFill>
            <a:schemeClr val="bg1"/>
          </a:solidFill>
          <a:ln>
            <a:noFill/>
          </a:ln>
          <a:effectLst/>
        </p:spPr>
        <p:txBody>
          <a:bodyPr anchor="ctr"/>
          <a:lstStyle/>
          <a:p>
            <a:endParaRPr lang="en-US"/>
          </a:p>
        </p:txBody>
      </p:sp>
      <p:sp>
        <p:nvSpPr>
          <p:cNvPr id="22" name="Freeform 978">
            <a:extLst>
              <a:ext uri="{FF2B5EF4-FFF2-40B4-BE49-F238E27FC236}">
                <a16:creationId xmlns:a16="http://schemas.microsoft.com/office/drawing/2014/main" id="{79115D95-C638-E248-9916-9919BF90A848}"/>
              </a:ext>
            </a:extLst>
          </p:cNvPr>
          <p:cNvSpPr>
            <a:spLocks noChangeAspect="1" noChangeArrowheads="1"/>
          </p:cNvSpPr>
          <p:nvPr/>
        </p:nvSpPr>
        <p:spPr bwMode="auto">
          <a:xfrm>
            <a:off x="7496458" y="2519326"/>
            <a:ext cx="954492" cy="951634"/>
          </a:xfrm>
          <a:custGeom>
            <a:avLst/>
            <a:gdLst>
              <a:gd name="T0" fmla="*/ 4720202 w 291739"/>
              <a:gd name="T1" fmla="*/ 4912673 h 291739"/>
              <a:gd name="T2" fmla="*/ 5073322 w 291739"/>
              <a:gd name="T3" fmla="*/ 4912673 h 291739"/>
              <a:gd name="T4" fmla="*/ 4893141 w 291739"/>
              <a:gd name="T5" fmla="*/ 4571716 h 291739"/>
              <a:gd name="T6" fmla="*/ 4893141 w 291739"/>
              <a:gd name="T7" fmla="*/ 5253639 h 291739"/>
              <a:gd name="T8" fmla="*/ 3033757 w 291739"/>
              <a:gd name="T9" fmla="*/ 4996170 h 291739"/>
              <a:gd name="T10" fmla="*/ 3033757 w 291739"/>
              <a:gd name="T11" fmla="*/ 4829163 h 291739"/>
              <a:gd name="T12" fmla="*/ 4893141 w 291739"/>
              <a:gd name="T13" fmla="*/ 4571716 h 291739"/>
              <a:gd name="T14" fmla="*/ 3552660 w 291739"/>
              <a:gd name="T15" fmla="*/ 4035911 h 291739"/>
              <a:gd name="T16" fmla="*/ 3905806 w 291739"/>
              <a:gd name="T17" fmla="*/ 4035911 h 291739"/>
              <a:gd name="T18" fmla="*/ 3725624 w 291739"/>
              <a:gd name="T19" fmla="*/ 3694934 h 291739"/>
              <a:gd name="T20" fmla="*/ 5159812 w 291739"/>
              <a:gd name="T21" fmla="*/ 3952404 h 291739"/>
              <a:gd name="T22" fmla="*/ 5159812 w 291739"/>
              <a:gd name="T23" fmla="*/ 4126367 h 291739"/>
              <a:gd name="T24" fmla="*/ 3725624 w 291739"/>
              <a:gd name="T25" fmla="*/ 4376877 h 291739"/>
              <a:gd name="T26" fmla="*/ 3033757 w 291739"/>
              <a:gd name="T27" fmla="*/ 4126367 h 291739"/>
              <a:gd name="T28" fmla="*/ 3033757 w 291739"/>
              <a:gd name="T29" fmla="*/ 3952404 h 291739"/>
              <a:gd name="T30" fmla="*/ 3725624 w 291739"/>
              <a:gd name="T31" fmla="*/ 3694934 h 291739"/>
              <a:gd name="T32" fmla="*/ 4302192 w 291739"/>
              <a:gd name="T33" fmla="*/ 3159118 h 291739"/>
              <a:gd name="T34" fmla="*/ 4655347 w 291739"/>
              <a:gd name="T35" fmla="*/ 3159118 h 291739"/>
              <a:gd name="T36" fmla="*/ 4475137 w 291739"/>
              <a:gd name="T37" fmla="*/ 2818174 h 291739"/>
              <a:gd name="T38" fmla="*/ 5159812 w 291739"/>
              <a:gd name="T39" fmla="*/ 3075644 h 291739"/>
              <a:gd name="T40" fmla="*/ 5159812 w 291739"/>
              <a:gd name="T41" fmla="*/ 3242625 h 291739"/>
              <a:gd name="T42" fmla="*/ 4475137 w 291739"/>
              <a:gd name="T43" fmla="*/ 3500108 h 291739"/>
              <a:gd name="T44" fmla="*/ 3033757 w 291739"/>
              <a:gd name="T45" fmla="*/ 3242625 h 291739"/>
              <a:gd name="T46" fmla="*/ 3033757 w 291739"/>
              <a:gd name="T47" fmla="*/ 3075644 h 291739"/>
              <a:gd name="T48" fmla="*/ 4475137 w 291739"/>
              <a:gd name="T49" fmla="*/ 2818174 h 291739"/>
              <a:gd name="T50" fmla="*/ 2517987 w 291739"/>
              <a:gd name="T51" fmla="*/ 5590809 h 291739"/>
              <a:gd name="T52" fmla="*/ 5643902 w 291739"/>
              <a:gd name="T53" fmla="*/ 2495085 h 291739"/>
              <a:gd name="T54" fmla="*/ 2431548 w 291739"/>
              <a:gd name="T55" fmla="*/ 2317166 h 291739"/>
              <a:gd name="T56" fmla="*/ 5823931 w 291739"/>
              <a:gd name="T57" fmla="*/ 2409681 h 291739"/>
              <a:gd name="T58" fmla="*/ 5744731 w 291739"/>
              <a:gd name="T59" fmla="*/ 5754471 h 291739"/>
              <a:gd name="T60" fmla="*/ 2345139 w 291739"/>
              <a:gd name="T61" fmla="*/ 5676219 h 291739"/>
              <a:gd name="T62" fmla="*/ 2431548 w 291739"/>
              <a:gd name="T63" fmla="*/ 2317166 h 291739"/>
              <a:gd name="T64" fmla="*/ 1160127 w 291739"/>
              <a:gd name="T65" fmla="*/ 869830 h 291739"/>
              <a:gd name="T66" fmla="*/ 1572422 w 291739"/>
              <a:gd name="T67" fmla="*/ 869830 h 291739"/>
              <a:gd name="T68" fmla="*/ 1366282 w 291739"/>
              <a:gd name="T69" fmla="*/ 501029 h 291739"/>
              <a:gd name="T70" fmla="*/ 1366282 w 291739"/>
              <a:gd name="T71" fmla="*/ 1245552 h 291739"/>
              <a:gd name="T72" fmla="*/ 1366282 w 291739"/>
              <a:gd name="T73" fmla="*/ 501029 h 291739"/>
              <a:gd name="T74" fmla="*/ 3614626 w 291739"/>
              <a:gd name="T75" fmla="*/ 0 h 291739"/>
              <a:gd name="T76" fmla="*/ 3700705 w 291739"/>
              <a:gd name="T77" fmla="*/ 1944948 h 291739"/>
              <a:gd name="T78" fmla="*/ 3528582 w 291739"/>
              <a:gd name="T79" fmla="*/ 1944948 h 291739"/>
              <a:gd name="T80" fmla="*/ 179267 w 291739"/>
              <a:gd name="T81" fmla="*/ 176792 h 291739"/>
              <a:gd name="T82" fmla="*/ 917979 w 291739"/>
              <a:gd name="T83" fmla="*/ 1570154 h 291739"/>
              <a:gd name="T84" fmla="*/ 1061431 w 291739"/>
              <a:gd name="T85" fmla="*/ 1570154 h 291739"/>
              <a:gd name="T86" fmla="*/ 2474289 w 291739"/>
              <a:gd name="T87" fmla="*/ 876982 h 291739"/>
              <a:gd name="T88" fmla="*/ 3342079 w 291739"/>
              <a:gd name="T89" fmla="*/ 1895455 h 291739"/>
              <a:gd name="T90" fmla="*/ 3198678 w 291739"/>
              <a:gd name="T91" fmla="*/ 1994465 h 291739"/>
              <a:gd name="T92" fmla="*/ 1628002 w 291739"/>
              <a:gd name="T93" fmla="*/ 2376396 h 291739"/>
              <a:gd name="T94" fmla="*/ 2015300 w 291739"/>
              <a:gd name="T95" fmla="*/ 3076579 h 291739"/>
              <a:gd name="T96" fmla="*/ 1900551 w 291739"/>
              <a:gd name="T97" fmla="*/ 3055374 h 291739"/>
              <a:gd name="T98" fmla="*/ 179267 w 291739"/>
              <a:gd name="T99" fmla="*/ 2920977 h 291739"/>
              <a:gd name="T100" fmla="*/ 1972279 w 291739"/>
              <a:gd name="T101" fmla="*/ 3479730 h 291739"/>
              <a:gd name="T102" fmla="*/ 1972279 w 291739"/>
              <a:gd name="T103" fmla="*/ 3656548 h 291739"/>
              <a:gd name="T104" fmla="*/ 0 w 291739"/>
              <a:gd name="T105" fmla="*/ 3571670 h 291739"/>
              <a:gd name="T106" fmla="*/ 86021 w 291739"/>
              <a:gd name="T107" fmla="*/ 0 h 2917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1739" h="291739">
                <a:moveTo>
                  <a:pt x="245113" y="240242"/>
                </a:moveTo>
                <a:cubicBezTo>
                  <a:pt x="240059" y="240242"/>
                  <a:pt x="236449" y="244122"/>
                  <a:pt x="236449" y="249061"/>
                </a:cubicBezTo>
                <a:cubicBezTo>
                  <a:pt x="236449" y="254000"/>
                  <a:pt x="240059" y="257528"/>
                  <a:pt x="245113" y="257528"/>
                </a:cubicBezTo>
                <a:cubicBezTo>
                  <a:pt x="249807" y="257528"/>
                  <a:pt x="254139" y="254000"/>
                  <a:pt x="254139" y="249061"/>
                </a:cubicBezTo>
                <a:cubicBezTo>
                  <a:pt x="254139" y="244122"/>
                  <a:pt x="249807" y="240242"/>
                  <a:pt x="245113" y="240242"/>
                </a:cubicBezTo>
                <a:close/>
                <a:moveTo>
                  <a:pt x="245113" y="231775"/>
                </a:moveTo>
                <a:cubicBezTo>
                  <a:pt x="255222" y="231775"/>
                  <a:pt x="263164" y="239536"/>
                  <a:pt x="263164" y="249061"/>
                </a:cubicBezTo>
                <a:cubicBezTo>
                  <a:pt x="263164" y="258586"/>
                  <a:pt x="255222" y="266347"/>
                  <a:pt x="245113" y="266347"/>
                </a:cubicBezTo>
                <a:cubicBezTo>
                  <a:pt x="236810" y="266347"/>
                  <a:pt x="230312" y="260703"/>
                  <a:pt x="227784" y="253295"/>
                </a:cubicBezTo>
                <a:lnTo>
                  <a:pt x="151970" y="253295"/>
                </a:lnTo>
                <a:cubicBezTo>
                  <a:pt x="149443" y="253295"/>
                  <a:pt x="147638" y="251531"/>
                  <a:pt x="147638" y="249061"/>
                </a:cubicBezTo>
                <a:cubicBezTo>
                  <a:pt x="147638" y="246592"/>
                  <a:pt x="149443" y="244828"/>
                  <a:pt x="151970" y="244828"/>
                </a:cubicBezTo>
                <a:lnTo>
                  <a:pt x="227784" y="244828"/>
                </a:lnTo>
                <a:cubicBezTo>
                  <a:pt x="230312" y="237420"/>
                  <a:pt x="236810" y="231775"/>
                  <a:pt x="245113" y="231775"/>
                </a:cubicBezTo>
                <a:close/>
                <a:moveTo>
                  <a:pt x="186628" y="195792"/>
                </a:moveTo>
                <a:cubicBezTo>
                  <a:pt x="181574" y="195792"/>
                  <a:pt x="177964" y="200025"/>
                  <a:pt x="177964" y="204611"/>
                </a:cubicBezTo>
                <a:cubicBezTo>
                  <a:pt x="177964" y="209550"/>
                  <a:pt x="181574" y="213078"/>
                  <a:pt x="186628" y="213078"/>
                </a:cubicBezTo>
                <a:cubicBezTo>
                  <a:pt x="191683" y="213078"/>
                  <a:pt x="195654" y="209550"/>
                  <a:pt x="195654" y="204611"/>
                </a:cubicBezTo>
                <a:cubicBezTo>
                  <a:pt x="195654" y="200025"/>
                  <a:pt x="191683" y="195792"/>
                  <a:pt x="186628" y="195792"/>
                </a:cubicBezTo>
                <a:close/>
                <a:moveTo>
                  <a:pt x="186628" y="187325"/>
                </a:moveTo>
                <a:cubicBezTo>
                  <a:pt x="195293" y="187325"/>
                  <a:pt x="201791" y="192617"/>
                  <a:pt x="203957" y="200378"/>
                </a:cubicBezTo>
                <a:lnTo>
                  <a:pt x="258471" y="200378"/>
                </a:lnTo>
                <a:cubicBezTo>
                  <a:pt x="260998" y="200378"/>
                  <a:pt x="263164" y="202494"/>
                  <a:pt x="263164" y="204611"/>
                </a:cubicBezTo>
                <a:cubicBezTo>
                  <a:pt x="263164" y="207080"/>
                  <a:pt x="260998" y="209197"/>
                  <a:pt x="258471" y="209197"/>
                </a:cubicBezTo>
                <a:lnTo>
                  <a:pt x="203957" y="209197"/>
                </a:lnTo>
                <a:cubicBezTo>
                  <a:pt x="201791" y="216605"/>
                  <a:pt x="195293" y="221897"/>
                  <a:pt x="186628" y="221897"/>
                </a:cubicBezTo>
                <a:cubicBezTo>
                  <a:pt x="178325" y="221897"/>
                  <a:pt x="171465" y="216605"/>
                  <a:pt x="170021" y="209197"/>
                </a:cubicBezTo>
                <a:lnTo>
                  <a:pt x="151970" y="209197"/>
                </a:lnTo>
                <a:cubicBezTo>
                  <a:pt x="149443" y="209197"/>
                  <a:pt x="147638" y="207080"/>
                  <a:pt x="147638" y="204611"/>
                </a:cubicBezTo>
                <a:cubicBezTo>
                  <a:pt x="147638" y="202494"/>
                  <a:pt x="149443" y="200378"/>
                  <a:pt x="151970" y="200378"/>
                </a:cubicBezTo>
                <a:lnTo>
                  <a:pt x="170021" y="200378"/>
                </a:lnTo>
                <a:cubicBezTo>
                  <a:pt x="171465" y="192617"/>
                  <a:pt x="178325" y="187325"/>
                  <a:pt x="186628" y="187325"/>
                </a:cubicBezTo>
                <a:close/>
                <a:moveTo>
                  <a:pt x="224174" y="151342"/>
                </a:moveTo>
                <a:cubicBezTo>
                  <a:pt x="219842" y="151342"/>
                  <a:pt x="215510" y="155222"/>
                  <a:pt x="215510" y="160161"/>
                </a:cubicBezTo>
                <a:cubicBezTo>
                  <a:pt x="215510" y="165100"/>
                  <a:pt x="219842" y="168980"/>
                  <a:pt x="224174" y="168980"/>
                </a:cubicBezTo>
                <a:cubicBezTo>
                  <a:pt x="229589" y="168980"/>
                  <a:pt x="233200" y="165100"/>
                  <a:pt x="233200" y="160161"/>
                </a:cubicBezTo>
                <a:cubicBezTo>
                  <a:pt x="233200" y="155222"/>
                  <a:pt x="229589" y="151342"/>
                  <a:pt x="224174" y="151342"/>
                </a:cubicBezTo>
                <a:close/>
                <a:moveTo>
                  <a:pt x="224174" y="142875"/>
                </a:moveTo>
                <a:cubicBezTo>
                  <a:pt x="232839" y="142875"/>
                  <a:pt x="239337" y="148167"/>
                  <a:pt x="241864" y="155928"/>
                </a:cubicBezTo>
                <a:lnTo>
                  <a:pt x="258471" y="155928"/>
                </a:lnTo>
                <a:cubicBezTo>
                  <a:pt x="260998" y="155928"/>
                  <a:pt x="263164" y="157692"/>
                  <a:pt x="263164" y="160161"/>
                </a:cubicBezTo>
                <a:cubicBezTo>
                  <a:pt x="263164" y="162630"/>
                  <a:pt x="260998" y="164394"/>
                  <a:pt x="258471" y="164394"/>
                </a:cubicBezTo>
                <a:lnTo>
                  <a:pt x="241864" y="164394"/>
                </a:lnTo>
                <a:cubicBezTo>
                  <a:pt x="239337" y="172155"/>
                  <a:pt x="232839" y="177447"/>
                  <a:pt x="224174" y="177447"/>
                </a:cubicBezTo>
                <a:cubicBezTo>
                  <a:pt x="215871" y="177447"/>
                  <a:pt x="209011" y="172155"/>
                  <a:pt x="207567" y="164394"/>
                </a:cubicBezTo>
                <a:lnTo>
                  <a:pt x="151970" y="164394"/>
                </a:lnTo>
                <a:cubicBezTo>
                  <a:pt x="149443" y="164394"/>
                  <a:pt x="147638" y="162630"/>
                  <a:pt x="147638" y="160161"/>
                </a:cubicBezTo>
                <a:cubicBezTo>
                  <a:pt x="147638" y="157692"/>
                  <a:pt x="149443" y="155928"/>
                  <a:pt x="151970" y="155928"/>
                </a:cubicBezTo>
                <a:lnTo>
                  <a:pt x="207567" y="155928"/>
                </a:lnTo>
                <a:cubicBezTo>
                  <a:pt x="209011" y="148167"/>
                  <a:pt x="215871" y="142875"/>
                  <a:pt x="224174" y="142875"/>
                </a:cubicBezTo>
                <a:close/>
                <a:moveTo>
                  <a:pt x="126134" y="126495"/>
                </a:moveTo>
                <a:lnTo>
                  <a:pt x="126134" y="283441"/>
                </a:lnTo>
                <a:lnTo>
                  <a:pt x="282720" y="283441"/>
                </a:lnTo>
                <a:lnTo>
                  <a:pt x="282720" y="126495"/>
                </a:lnTo>
                <a:lnTo>
                  <a:pt x="126134" y="126495"/>
                </a:lnTo>
                <a:close/>
                <a:moveTo>
                  <a:pt x="121804" y="117475"/>
                </a:moveTo>
                <a:lnTo>
                  <a:pt x="287771" y="117475"/>
                </a:lnTo>
                <a:cubicBezTo>
                  <a:pt x="289575" y="117475"/>
                  <a:pt x="291739" y="119640"/>
                  <a:pt x="291739" y="122165"/>
                </a:cubicBezTo>
                <a:lnTo>
                  <a:pt x="291739" y="287771"/>
                </a:lnTo>
                <a:cubicBezTo>
                  <a:pt x="291739" y="290296"/>
                  <a:pt x="289575" y="291739"/>
                  <a:pt x="287771" y="291739"/>
                </a:cubicBezTo>
                <a:lnTo>
                  <a:pt x="121804" y="291739"/>
                </a:lnTo>
                <a:cubicBezTo>
                  <a:pt x="119640" y="291739"/>
                  <a:pt x="117475" y="290296"/>
                  <a:pt x="117475" y="287771"/>
                </a:cubicBezTo>
                <a:lnTo>
                  <a:pt x="117475" y="122165"/>
                </a:lnTo>
                <a:cubicBezTo>
                  <a:pt x="117475" y="119640"/>
                  <a:pt x="119640" y="117475"/>
                  <a:pt x="121804" y="117475"/>
                </a:cubicBezTo>
                <a:close/>
                <a:moveTo>
                  <a:pt x="68441" y="33867"/>
                </a:moveTo>
                <a:cubicBezTo>
                  <a:pt x="62388" y="33867"/>
                  <a:pt x="58115" y="38805"/>
                  <a:pt x="58115" y="44097"/>
                </a:cubicBezTo>
                <a:cubicBezTo>
                  <a:pt x="58115" y="49742"/>
                  <a:pt x="62388" y="54328"/>
                  <a:pt x="68441" y="54328"/>
                </a:cubicBezTo>
                <a:cubicBezTo>
                  <a:pt x="73782" y="54328"/>
                  <a:pt x="78767" y="49742"/>
                  <a:pt x="78767" y="44097"/>
                </a:cubicBezTo>
                <a:cubicBezTo>
                  <a:pt x="78767" y="38805"/>
                  <a:pt x="73782" y="33867"/>
                  <a:pt x="68441" y="33867"/>
                </a:cubicBezTo>
                <a:close/>
                <a:moveTo>
                  <a:pt x="68441" y="25400"/>
                </a:moveTo>
                <a:cubicBezTo>
                  <a:pt x="78767" y="25400"/>
                  <a:pt x="86957" y="33867"/>
                  <a:pt x="86957" y="44097"/>
                </a:cubicBezTo>
                <a:cubicBezTo>
                  <a:pt x="86957" y="54680"/>
                  <a:pt x="78767" y="63147"/>
                  <a:pt x="68441" y="63147"/>
                </a:cubicBezTo>
                <a:cubicBezTo>
                  <a:pt x="58115" y="63147"/>
                  <a:pt x="49213" y="54680"/>
                  <a:pt x="49213" y="44097"/>
                </a:cubicBezTo>
                <a:cubicBezTo>
                  <a:pt x="49213" y="33867"/>
                  <a:pt x="58115" y="25400"/>
                  <a:pt x="68441" y="25400"/>
                </a:cubicBezTo>
                <a:close/>
                <a:moveTo>
                  <a:pt x="4311" y="0"/>
                </a:moveTo>
                <a:lnTo>
                  <a:pt x="181068" y="0"/>
                </a:lnTo>
                <a:cubicBezTo>
                  <a:pt x="183583" y="0"/>
                  <a:pt x="185379" y="2510"/>
                  <a:pt x="185379" y="4303"/>
                </a:cubicBezTo>
                <a:lnTo>
                  <a:pt x="185379" y="98605"/>
                </a:lnTo>
                <a:cubicBezTo>
                  <a:pt x="185379" y="101115"/>
                  <a:pt x="183583" y="102908"/>
                  <a:pt x="181068" y="102908"/>
                </a:cubicBezTo>
                <a:cubicBezTo>
                  <a:pt x="178194" y="102908"/>
                  <a:pt x="176757" y="101115"/>
                  <a:pt x="176757" y="98605"/>
                </a:cubicBezTo>
                <a:lnTo>
                  <a:pt x="176757" y="8964"/>
                </a:lnTo>
                <a:lnTo>
                  <a:pt x="8981" y="8964"/>
                </a:lnTo>
                <a:lnTo>
                  <a:pt x="8981" y="132669"/>
                </a:lnTo>
                <a:lnTo>
                  <a:pt x="45985" y="79602"/>
                </a:lnTo>
                <a:cubicBezTo>
                  <a:pt x="46704" y="78167"/>
                  <a:pt x="47781" y="77809"/>
                  <a:pt x="49578" y="77809"/>
                </a:cubicBezTo>
                <a:cubicBezTo>
                  <a:pt x="50656" y="77809"/>
                  <a:pt x="52452" y="78167"/>
                  <a:pt x="53170" y="79602"/>
                </a:cubicBezTo>
                <a:lnTo>
                  <a:pt x="75804" y="112231"/>
                </a:lnTo>
                <a:lnTo>
                  <a:pt x="123945" y="44462"/>
                </a:lnTo>
                <a:cubicBezTo>
                  <a:pt x="125382" y="41952"/>
                  <a:pt x="129693" y="41952"/>
                  <a:pt x="131130" y="44462"/>
                </a:cubicBezTo>
                <a:lnTo>
                  <a:pt x="167416" y="96096"/>
                </a:lnTo>
                <a:cubicBezTo>
                  <a:pt x="168494" y="98247"/>
                  <a:pt x="168134" y="101115"/>
                  <a:pt x="166338" y="102191"/>
                </a:cubicBezTo>
                <a:cubicBezTo>
                  <a:pt x="164183" y="103625"/>
                  <a:pt x="161668" y="102908"/>
                  <a:pt x="160231" y="101115"/>
                </a:cubicBezTo>
                <a:lnTo>
                  <a:pt x="127537" y="54860"/>
                </a:lnTo>
                <a:lnTo>
                  <a:pt x="81552" y="120478"/>
                </a:lnTo>
                <a:lnTo>
                  <a:pt x="102389" y="150239"/>
                </a:lnTo>
                <a:cubicBezTo>
                  <a:pt x="103467" y="151673"/>
                  <a:pt x="103108" y="154542"/>
                  <a:pt x="100952" y="155976"/>
                </a:cubicBezTo>
                <a:cubicBezTo>
                  <a:pt x="100234" y="156693"/>
                  <a:pt x="99515" y="157052"/>
                  <a:pt x="98797" y="157052"/>
                </a:cubicBezTo>
                <a:cubicBezTo>
                  <a:pt x="97000" y="157052"/>
                  <a:pt x="95922" y="156335"/>
                  <a:pt x="95204" y="154900"/>
                </a:cubicBezTo>
                <a:lnTo>
                  <a:pt x="49578" y="90000"/>
                </a:lnTo>
                <a:lnTo>
                  <a:pt x="8981" y="148088"/>
                </a:lnTo>
                <a:lnTo>
                  <a:pt x="8981" y="176414"/>
                </a:lnTo>
                <a:lnTo>
                  <a:pt x="98797" y="176414"/>
                </a:lnTo>
                <a:cubicBezTo>
                  <a:pt x="100593" y="176414"/>
                  <a:pt x="103108" y="178566"/>
                  <a:pt x="103108" y="181076"/>
                </a:cubicBezTo>
                <a:cubicBezTo>
                  <a:pt x="103108" y="183227"/>
                  <a:pt x="100593" y="185378"/>
                  <a:pt x="98797" y="185378"/>
                </a:cubicBezTo>
                <a:lnTo>
                  <a:pt x="4311" y="185378"/>
                </a:lnTo>
                <a:cubicBezTo>
                  <a:pt x="1796" y="185378"/>
                  <a:pt x="0" y="183227"/>
                  <a:pt x="0" y="181076"/>
                </a:cubicBezTo>
                <a:lnTo>
                  <a:pt x="0" y="4303"/>
                </a:lnTo>
                <a:cubicBezTo>
                  <a:pt x="0" y="2510"/>
                  <a:pt x="1796" y="0"/>
                  <a:pt x="4311" y="0"/>
                </a:cubicBezTo>
                <a:close/>
              </a:path>
            </a:pathLst>
          </a:custGeom>
          <a:solidFill>
            <a:schemeClr val="bg1"/>
          </a:solidFill>
          <a:ln>
            <a:noFill/>
          </a:ln>
          <a:effectLst/>
        </p:spPr>
        <p:txBody>
          <a:bodyPr anchor="ctr"/>
          <a:lstStyle/>
          <a:p>
            <a:endParaRPr lang="en-US"/>
          </a:p>
        </p:txBody>
      </p:sp>
      <p:sp>
        <p:nvSpPr>
          <p:cNvPr id="9" name="CuadroTexto 8"/>
          <p:cNvSpPr txBox="1"/>
          <p:nvPr/>
        </p:nvSpPr>
        <p:spPr>
          <a:xfrm>
            <a:off x="5344856" y="5212035"/>
            <a:ext cx="1423916" cy="307777"/>
          </a:xfrm>
          <a:prstGeom prst="rect">
            <a:avLst/>
          </a:prstGeom>
          <a:noFill/>
        </p:spPr>
        <p:txBody>
          <a:bodyPr wrap="square" rtlCol="0">
            <a:spAutoFit/>
          </a:bodyPr>
          <a:lstStyle/>
          <a:p>
            <a:r>
              <a:rPr lang="es-PE" sz="1400" dirty="0">
                <a:solidFill>
                  <a:schemeClr val="bg1"/>
                </a:solidFill>
              </a:rPr>
              <a:t>CONCEPTUAL</a:t>
            </a:r>
          </a:p>
        </p:txBody>
      </p:sp>
      <p:sp>
        <p:nvSpPr>
          <p:cNvPr id="23" name="CuadroTexto 22"/>
          <p:cNvSpPr txBox="1"/>
          <p:nvPr/>
        </p:nvSpPr>
        <p:spPr>
          <a:xfrm>
            <a:off x="9403386" y="5212035"/>
            <a:ext cx="1423916" cy="307777"/>
          </a:xfrm>
          <a:prstGeom prst="rect">
            <a:avLst/>
          </a:prstGeom>
          <a:noFill/>
        </p:spPr>
        <p:txBody>
          <a:bodyPr wrap="square" rtlCol="0">
            <a:spAutoFit/>
          </a:bodyPr>
          <a:lstStyle/>
          <a:p>
            <a:r>
              <a:rPr lang="es-PE" sz="1400" dirty="0">
                <a:solidFill>
                  <a:schemeClr val="bg1"/>
                </a:solidFill>
              </a:rPr>
              <a:t>DETALLADO</a:t>
            </a:r>
          </a:p>
        </p:txBody>
      </p:sp>
      <p:sp>
        <p:nvSpPr>
          <p:cNvPr id="24" name="CuadroTexto 23"/>
          <p:cNvSpPr txBox="1"/>
          <p:nvPr/>
        </p:nvSpPr>
        <p:spPr>
          <a:xfrm>
            <a:off x="7261745" y="5212035"/>
            <a:ext cx="1578591" cy="307777"/>
          </a:xfrm>
          <a:prstGeom prst="rect">
            <a:avLst/>
          </a:prstGeom>
          <a:noFill/>
        </p:spPr>
        <p:txBody>
          <a:bodyPr wrap="square" rtlCol="0">
            <a:spAutoFit/>
          </a:bodyPr>
          <a:lstStyle/>
          <a:p>
            <a:r>
              <a:rPr lang="es-PE" sz="1400" dirty="0"/>
              <a:t>SEMIDETALLADO</a:t>
            </a:r>
          </a:p>
        </p:txBody>
      </p:sp>
      <p:sp>
        <p:nvSpPr>
          <p:cNvPr id="4" name="Título 1">
            <a:extLst>
              <a:ext uri="{FF2B5EF4-FFF2-40B4-BE49-F238E27FC236}">
                <a16:creationId xmlns:a16="http://schemas.microsoft.com/office/drawing/2014/main" id="{7C71731F-362D-415B-620E-72C1A9F748F9}"/>
              </a:ext>
            </a:extLst>
          </p:cNvPr>
          <p:cNvSpPr>
            <a:spLocks noGrp="1"/>
          </p:cNvSpPr>
          <p:nvPr>
            <p:ph type="title"/>
          </p:nvPr>
        </p:nvSpPr>
        <p:spPr>
          <a:xfrm>
            <a:off x="292288" y="377263"/>
            <a:ext cx="9083723" cy="1325563"/>
          </a:xfrm>
        </p:spPr>
        <p:txBody>
          <a:bodyPr>
            <a:normAutofit/>
          </a:bodyPr>
          <a:lstStyle/>
          <a:p>
            <a:r>
              <a:rPr lang="es-ES" sz="4000" b="1" dirty="0"/>
              <a:t>01. REGLAS CLARAS PARA EL CONTROL Y REPORTE DEL PRESUPUESTO </a:t>
            </a:r>
            <a:endParaRPr lang="en-US" sz="4000" b="1" dirty="0"/>
          </a:p>
        </p:txBody>
      </p:sp>
      <p:pic>
        <p:nvPicPr>
          <p:cNvPr id="7" name="Imagen 6">
            <a:extLst>
              <a:ext uri="{FF2B5EF4-FFF2-40B4-BE49-F238E27FC236}">
                <a16:creationId xmlns:a16="http://schemas.microsoft.com/office/drawing/2014/main" id="{0C93F30F-8885-793E-5D49-6FFB8540582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3444327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1550422" y="2259690"/>
            <a:ext cx="7689090" cy="4110864"/>
          </a:xfrm>
          <a:prstGeom prst="rect">
            <a:avLst/>
          </a:prstGeom>
        </p:spPr>
      </p:pic>
      <p:sp>
        <p:nvSpPr>
          <p:cNvPr id="5" name="CuadroTexto 4"/>
          <p:cNvSpPr txBox="1"/>
          <p:nvPr/>
        </p:nvSpPr>
        <p:spPr>
          <a:xfrm>
            <a:off x="2924722" y="1796592"/>
            <a:ext cx="4940490" cy="369332"/>
          </a:xfrm>
          <a:prstGeom prst="rect">
            <a:avLst/>
          </a:prstGeom>
          <a:noFill/>
        </p:spPr>
        <p:txBody>
          <a:bodyPr wrap="square" rtlCol="0">
            <a:spAutoFit/>
          </a:bodyPr>
          <a:lstStyle/>
          <a:p>
            <a:r>
              <a:rPr lang="es-PE" dirty="0"/>
              <a:t>CLASES DE ESTIMACIÓN  -AACE – RP 18R-97</a:t>
            </a:r>
          </a:p>
        </p:txBody>
      </p:sp>
      <p:sp>
        <p:nvSpPr>
          <p:cNvPr id="7" name="Título 1">
            <a:extLst>
              <a:ext uri="{FF2B5EF4-FFF2-40B4-BE49-F238E27FC236}">
                <a16:creationId xmlns:a16="http://schemas.microsoft.com/office/drawing/2014/main" id="{B6B138E9-6D64-778E-5FE7-AD80F688A5AE}"/>
              </a:ext>
            </a:extLst>
          </p:cNvPr>
          <p:cNvSpPr>
            <a:spLocks noGrp="1"/>
          </p:cNvSpPr>
          <p:nvPr>
            <p:ph type="title"/>
          </p:nvPr>
        </p:nvSpPr>
        <p:spPr>
          <a:xfrm>
            <a:off x="292288" y="377263"/>
            <a:ext cx="9083723" cy="1325563"/>
          </a:xfrm>
        </p:spPr>
        <p:txBody>
          <a:bodyPr>
            <a:normAutofit/>
          </a:bodyPr>
          <a:lstStyle/>
          <a:p>
            <a:r>
              <a:rPr lang="es-ES" sz="4000" b="1" dirty="0"/>
              <a:t>01. REGLAS CLARAS PARA EL CONTROL Y REPORTE DEL PRESUPUESTO </a:t>
            </a:r>
            <a:endParaRPr lang="en-US" sz="4000" b="1" dirty="0"/>
          </a:p>
        </p:txBody>
      </p:sp>
      <p:pic>
        <p:nvPicPr>
          <p:cNvPr id="8" name="Imagen 7">
            <a:extLst>
              <a:ext uri="{FF2B5EF4-FFF2-40B4-BE49-F238E27FC236}">
                <a16:creationId xmlns:a16="http://schemas.microsoft.com/office/drawing/2014/main" id="{4B343F1B-49A3-FE92-80AC-45DB8D40746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3433289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2015105" y="1702826"/>
            <a:ext cx="6715125" cy="4495800"/>
          </a:xfrm>
          <a:prstGeom prst="rect">
            <a:avLst/>
          </a:prstGeom>
        </p:spPr>
      </p:pic>
      <p:cxnSp>
        <p:nvCxnSpPr>
          <p:cNvPr id="5" name="Conector recto de flecha 4"/>
          <p:cNvCxnSpPr/>
          <p:nvPr/>
        </p:nvCxnSpPr>
        <p:spPr>
          <a:xfrm flipV="1">
            <a:off x="9147682" y="2146101"/>
            <a:ext cx="27295" cy="3609250"/>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9174977" y="3041871"/>
            <a:ext cx="615553" cy="2031325"/>
          </a:xfrm>
          <a:prstGeom prst="rect">
            <a:avLst/>
          </a:prstGeom>
          <a:noFill/>
        </p:spPr>
        <p:txBody>
          <a:bodyPr vert="vert270" wrap="square" rtlCol="0">
            <a:spAutoFit/>
          </a:bodyPr>
          <a:lstStyle/>
          <a:p>
            <a:pPr algn="ctr"/>
            <a:r>
              <a:rPr lang="es-PE" sz="1400" dirty="0"/>
              <a:t>ESTIMACIÓN </a:t>
            </a:r>
          </a:p>
          <a:p>
            <a:pPr algn="ctr"/>
            <a:r>
              <a:rPr lang="es-PE" sz="1400" dirty="0"/>
              <a:t>ASCENDENTE</a:t>
            </a:r>
          </a:p>
        </p:txBody>
      </p:sp>
      <p:sp>
        <p:nvSpPr>
          <p:cNvPr id="8" name="Título 1">
            <a:extLst>
              <a:ext uri="{FF2B5EF4-FFF2-40B4-BE49-F238E27FC236}">
                <a16:creationId xmlns:a16="http://schemas.microsoft.com/office/drawing/2014/main" id="{DBDF85E4-89BE-5A34-A6E7-4A3D3D119E4C}"/>
              </a:ext>
            </a:extLst>
          </p:cNvPr>
          <p:cNvSpPr>
            <a:spLocks noGrp="1"/>
          </p:cNvSpPr>
          <p:nvPr>
            <p:ph type="title"/>
          </p:nvPr>
        </p:nvSpPr>
        <p:spPr>
          <a:xfrm>
            <a:off x="292288" y="377263"/>
            <a:ext cx="9498242" cy="1325563"/>
          </a:xfrm>
        </p:spPr>
        <p:txBody>
          <a:bodyPr>
            <a:normAutofit/>
          </a:bodyPr>
          <a:lstStyle/>
          <a:p>
            <a:r>
              <a:rPr lang="es-ES" sz="4000" b="1" dirty="0"/>
              <a:t>02. ¿CUÁNDO USAR LA RESERVA DE GESTIÓN Y LA RESERVA DE CONTINGENCIA?</a:t>
            </a:r>
            <a:endParaRPr lang="en-US" sz="4000" b="1" dirty="0"/>
          </a:p>
        </p:txBody>
      </p:sp>
      <p:pic>
        <p:nvPicPr>
          <p:cNvPr id="9" name="Imagen 8">
            <a:extLst>
              <a:ext uri="{FF2B5EF4-FFF2-40B4-BE49-F238E27FC236}">
                <a16:creationId xmlns:a16="http://schemas.microsoft.com/office/drawing/2014/main" id="{1CA28B4C-F1B8-F99A-7F88-B20F8360F47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4188174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430293" y="1755307"/>
            <a:ext cx="4287633" cy="363176"/>
          </a:xfrm>
          <a:prstGeom prst="rect">
            <a:avLst/>
          </a:prstGeom>
          <a:solidFill>
            <a:srgbClr val="FFFFCC"/>
          </a:solidFill>
          <a:ln>
            <a:solidFill>
              <a:schemeClr val="tx1"/>
            </a:solidFill>
          </a:ln>
        </p:spPr>
        <p:txBody>
          <a:bodyPr wrap="square">
            <a:spAutoFit/>
          </a:bodyPr>
          <a:lstStyle/>
          <a:p>
            <a:pPr>
              <a:lnSpc>
                <a:spcPct val="110000"/>
              </a:lnSpc>
              <a:defRPr/>
            </a:pPr>
            <a:r>
              <a:rPr lang="es-PE" sz="1600" b="1" kern="0" dirty="0">
                <a:solidFill>
                  <a:srgbClr val="000099"/>
                </a:solidFill>
                <a:latin typeface="Arial" pitchFamily="34" charset="0"/>
                <a:cs typeface="Arial" pitchFamily="34" charset="0"/>
              </a:rPr>
              <a:t>Línea Base de costos</a:t>
            </a:r>
          </a:p>
        </p:txBody>
      </p:sp>
      <p:pic>
        <p:nvPicPr>
          <p:cNvPr id="5" name="Imagen 4"/>
          <p:cNvPicPr>
            <a:picLocks noChangeAspect="1"/>
          </p:cNvPicPr>
          <p:nvPr/>
        </p:nvPicPr>
        <p:blipFill>
          <a:blip r:embed="rId2"/>
          <a:stretch>
            <a:fillRect/>
          </a:stretch>
        </p:blipFill>
        <p:spPr>
          <a:xfrm>
            <a:off x="430293" y="2190488"/>
            <a:ext cx="5780592" cy="3277075"/>
          </a:xfrm>
          <a:prstGeom prst="rect">
            <a:avLst/>
          </a:prstGeom>
        </p:spPr>
      </p:pic>
      <p:sp>
        <p:nvSpPr>
          <p:cNvPr id="6" name="CuadroTexto 5"/>
          <p:cNvSpPr txBox="1"/>
          <p:nvPr/>
        </p:nvSpPr>
        <p:spPr>
          <a:xfrm>
            <a:off x="5198340" y="5416457"/>
            <a:ext cx="1159890" cy="246221"/>
          </a:xfrm>
          <a:prstGeom prst="rect">
            <a:avLst/>
          </a:prstGeom>
          <a:noFill/>
        </p:spPr>
        <p:txBody>
          <a:bodyPr wrap="square" rtlCol="0">
            <a:spAutoFit/>
          </a:bodyPr>
          <a:lstStyle/>
          <a:p>
            <a:r>
              <a:rPr lang="es-PE" sz="1000" dirty="0">
                <a:solidFill>
                  <a:srgbClr val="2E2B21"/>
                </a:solidFill>
                <a:latin typeface="Tw Cen MT" panose="020B0602020104020603"/>
              </a:rPr>
              <a:t>PMBOK, 6ta Ed.</a:t>
            </a:r>
            <a:endParaRPr lang="en-US" sz="1000" dirty="0">
              <a:solidFill>
                <a:srgbClr val="2E2B21"/>
              </a:solidFill>
              <a:latin typeface="Tw Cen MT" panose="020B0602020104020603"/>
            </a:endParaRPr>
          </a:p>
        </p:txBody>
      </p:sp>
      <p:sp>
        <p:nvSpPr>
          <p:cNvPr id="7" name="Rectángulo redondeado 6"/>
          <p:cNvSpPr/>
          <p:nvPr/>
        </p:nvSpPr>
        <p:spPr>
          <a:xfrm>
            <a:off x="6878718" y="3297517"/>
            <a:ext cx="4598907" cy="1063015"/>
          </a:xfrm>
          <a:prstGeom prst="roundRect">
            <a:avLst/>
          </a:prstGeom>
          <a:solidFill>
            <a:srgbClr val="FFFFFF">
              <a:lumMod val="85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La línea base de costos está definida en el tiempo y un método de representarla es mediante la curva “S”.</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9" name="Título 1">
            <a:extLst>
              <a:ext uri="{FF2B5EF4-FFF2-40B4-BE49-F238E27FC236}">
                <a16:creationId xmlns:a16="http://schemas.microsoft.com/office/drawing/2014/main" id="{C1FAF043-DB56-5BAE-F874-5CEA6A7C844C}"/>
              </a:ext>
            </a:extLst>
          </p:cNvPr>
          <p:cNvSpPr>
            <a:spLocks noGrp="1"/>
          </p:cNvSpPr>
          <p:nvPr>
            <p:ph type="title"/>
          </p:nvPr>
        </p:nvSpPr>
        <p:spPr>
          <a:xfrm>
            <a:off x="292288" y="377263"/>
            <a:ext cx="9498242" cy="1325563"/>
          </a:xfrm>
        </p:spPr>
        <p:txBody>
          <a:bodyPr>
            <a:normAutofit/>
          </a:bodyPr>
          <a:lstStyle/>
          <a:p>
            <a:r>
              <a:rPr lang="es-ES" sz="4000" b="1" dirty="0"/>
              <a:t>02. ¿CUÁNDO USAR LA RESERVA DE GESTIÓN Y LA RESERVA DE CONTINGENCIA?</a:t>
            </a:r>
            <a:endParaRPr lang="en-US" sz="4000" b="1" dirty="0"/>
          </a:p>
        </p:txBody>
      </p:sp>
      <p:pic>
        <p:nvPicPr>
          <p:cNvPr id="10" name="Imagen 9">
            <a:extLst>
              <a:ext uri="{FF2B5EF4-FFF2-40B4-BE49-F238E27FC236}">
                <a16:creationId xmlns:a16="http://schemas.microsoft.com/office/drawing/2014/main" id="{48C9FD48-FB84-8B4D-253F-59238478DBD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1510528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736980" y="1525405"/>
            <a:ext cx="10249468" cy="4616648"/>
          </a:xfrm>
          <a:prstGeom prst="rect">
            <a:avLst/>
          </a:prstGeom>
          <a:noFill/>
        </p:spPr>
        <p:txBody>
          <a:bodyPr wrap="square" rtlCol="0">
            <a:spAutoFit/>
          </a:bodyPr>
          <a:lstStyle/>
          <a:p>
            <a:pPr algn="ctr"/>
            <a:r>
              <a:rPr lang="es-PE" sz="3200" b="1" dirty="0">
                <a:solidFill>
                  <a:srgbClr val="FF0000"/>
                </a:solidFill>
              </a:rPr>
              <a:t>VALOR GANADO (EARNED VALUE MANAGEMENT)</a:t>
            </a:r>
          </a:p>
          <a:p>
            <a:pPr algn="ctr"/>
            <a:r>
              <a:rPr lang="es-PE" sz="2400" b="1" dirty="0">
                <a:solidFill>
                  <a:srgbClr val="FF0000"/>
                </a:solidFill>
              </a:rPr>
              <a:t>PREGUNTAS A CONTESTAR</a:t>
            </a:r>
          </a:p>
          <a:p>
            <a:endParaRPr lang="es-PE" dirty="0"/>
          </a:p>
          <a:p>
            <a:pPr marL="285750" indent="-285750">
              <a:buFont typeface="Arial" panose="020B0604020202020204" pitchFamily="34" charset="0"/>
              <a:buChar char="•"/>
            </a:pPr>
            <a:r>
              <a:rPr lang="es-PE" sz="2000" dirty="0">
                <a:solidFill>
                  <a:srgbClr val="0070C0"/>
                </a:solidFill>
              </a:rPr>
              <a:t>¿</a:t>
            </a:r>
            <a:r>
              <a:rPr lang="es-PE" sz="2000" b="1" dirty="0">
                <a:solidFill>
                  <a:srgbClr val="0070C0"/>
                </a:solidFill>
              </a:rPr>
              <a:t>Estamos avanzando según el cronograma?</a:t>
            </a:r>
          </a:p>
          <a:p>
            <a:pPr marL="285750" indent="-285750">
              <a:buFont typeface="Arial" panose="020B0604020202020204" pitchFamily="34" charset="0"/>
              <a:buChar char="•"/>
            </a:pPr>
            <a:endParaRPr lang="es-PE" sz="2000" b="1" dirty="0">
              <a:solidFill>
                <a:srgbClr val="0070C0"/>
              </a:solidFill>
            </a:endParaRPr>
          </a:p>
          <a:p>
            <a:pPr marL="285750" indent="-285750">
              <a:buFont typeface="Arial" panose="020B0604020202020204" pitchFamily="34" charset="0"/>
              <a:buChar char="•"/>
            </a:pPr>
            <a:r>
              <a:rPr lang="es-PE" sz="2000" b="1" dirty="0">
                <a:solidFill>
                  <a:srgbClr val="0070C0"/>
                </a:solidFill>
              </a:rPr>
              <a:t>¿ Cuánto dinero vamos gastando?</a:t>
            </a:r>
          </a:p>
          <a:p>
            <a:pPr marL="285750" indent="-285750">
              <a:buFont typeface="Arial" panose="020B0604020202020204" pitchFamily="34" charset="0"/>
              <a:buChar char="•"/>
            </a:pPr>
            <a:endParaRPr lang="es-PE" sz="2000" b="1" dirty="0">
              <a:solidFill>
                <a:srgbClr val="0070C0"/>
              </a:solidFill>
            </a:endParaRPr>
          </a:p>
          <a:p>
            <a:pPr marL="285750" indent="-285750">
              <a:buFont typeface="Arial" panose="020B0604020202020204" pitchFamily="34" charset="0"/>
              <a:buChar char="•"/>
            </a:pPr>
            <a:r>
              <a:rPr lang="es-PE" sz="2000" b="1" dirty="0">
                <a:solidFill>
                  <a:srgbClr val="0070C0"/>
                </a:solidFill>
              </a:rPr>
              <a:t>¿Cuándo se va a terminar el proyecto?</a:t>
            </a:r>
          </a:p>
          <a:p>
            <a:pPr marL="285750" indent="-285750">
              <a:buFont typeface="Arial" panose="020B0604020202020204" pitchFamily="34" charset="0"/>
              <a:buChar char="•"/>
            </a:pPr>
            <a:endParaRPr lang="es-PE" sz="2000" b="1" dirty="0">
              <a:solidFill>
                <a:srgbClr val="0070C0"/>
              </a:solidFill>
            </a:endParaRPr>
          </a:p>
          <a:p>
            <a:pPr marL="285750" indent="-285750">
              <a:buFont typeface="Arial" panose="020B0604020202020204" pitchFamily="34" charset="0"/>
              <a:buChar char="•"/>
            </a:pPr>
            <a:r>
              <a:rPr lang="es-PE" sz="2000" b="1" dirty="0">
                <a:solidFill>
                  <a:srgbClr val="0070C0"/>
                </a:solidFill>
              </a:rPr>
              <a:t>¿Cuánto más queda por gastar?</a:t>
            </a:r>
          </a:p>
          <a:p>
            <a:pPr marL="285750" indent="-285750">
              <a:buFont typeface="Arial" panose="020B0604020202020204" pitchFamily="34" charset="0"/>
              <a:buChar char="•"/>
            </a:pPr>
            <a:endParaRPr lang="es-PE" sz="2000" b="1" dirty="0">
              <a:solidFill>
                <a:srgbClr val="0070C0"/>
              </a:solidFill>
            </a:endParaRPr>
          </a:p>
          <a:p>
            <a:pPr marL="285750" indent="-285750">
              <a:buFont typeface="Arial" panose="020B0604020202020204" pitchFamily="34" charset="0"/>
              <a:buChar char="•"/>
            </a:pPr>
            <a:r>
              <a:rPr lang="es-PE" sz="2000" b="1" dirty="0">
                <a:solidFill>
                  <a:srgbClr val="0070C0"/>
                </a:solidFill>
              </a:rPr>
              <a:t>¿Cuánto trabajo hemos realizado?</a:t>
            </a:r>
          </a:p>
          <a:p>
            <a:pPr marL="285750" indent="-285750">
              <a:buFont typeface="Arial" panose="020B0604020202020204" pitchFamily="34" charset="0"/>
              <a:buChar char="•"/>
            </a:pPr>
            <a:endParaRPr lang="es-PE" sz="2000" b="1" dirty="0">
              <a:solidFill>
                <a:srgbClr val="0070C0"/>
              </a:solidFill>
            </a:endParaRPr>
          </a:p>
          <a:p>
            <a:pPr marL="285750" indent="-285750">
              <a:buFont typeface="Arial" panose="020B0604020202020204" pitchFamily="34" charset="0"/>
              <a:buChar char="•"/>
            </a:pPr>
            <a:r>
              <a:rPr lang="es-PE" sz="2000" b="1" dirty="0">
                <a:solidFill>
                  <a:srgbClr val="0070C0"/>
                </a:solidFill>
              </a:rPr>
              <a:t>¿Hemos hecho lo que dijimos que íbamos a hacer?</a:t>
            </a:r>
          </a:p>
        </p:txBody>
      </p:sp>
      <p:pic>
        <p:nvPicPr>
          <p:cNvPr id="37" name="Imagen 3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19163" y="2669028"/>
            <a:ext cx="5190841" cy="2777708"/>
          </a:xfrm>
          <a:prstGeom prst="rect">
            <a:avLst/>
          </a:prstGeom>
        </p:spPr>
      </p:pic>
      <p:sp>
        <p:nvSpPr>
          <p:cNvPr id="39" name="CuadroTexto 38"/>
          <p:cNvSpPr txBox="1"/>
          <p:nvPr/>
        </p:nvSpPr>
        <p:spPr>
          <a:xfrm>
            <a:off x="6312733" y="5425063"/>
            <a:ext cx="612859" cy="246221"/>
          </a:xfrm>
          <a:prstGeom prst="rect">
            <a:avLst/>
          </a:prstGeom>
          <a:noFill/>
        </p:spPr>
        <p:txBody>
          <a:bodyPr wrap="square" rtlCol="0">
            <a:spAutoFit/>
          </a:bodyPr>
          <a:lstStyle/>
          <a:p>
            <a:pPr algn="r"/>
            <a:r>
              <a:rPr lang="es-PE" sz="1000" dirty="0">
                <a:solidFill>
                  <a:srgbClr val="2E2B21"/>
                </a:solidFill>
                <a:latin typeface="Tw Cen MT" panose="020B0602020104020603"/>
              </a:rPr>
              <a:t>PMI.</a:t>
            </a:r>
            <a:endParaRPr lang="en-US" sz="1000" dirty="0">
              <a:solidFill>
                <a:srgbClr val="2E2B21"/>
              </a:solidFill>
              <a:latin typeface="Tw Cen MT" panose="020B0602020104020603"/>
            </a:endParaRPr>
          </a:p>
        </p:txBody>
      </p:sp>
      <p:sp>
        <p:nvSpPr>
          <p:cNvPr id="5" name="Título 1">
            <a:extLst>
              <a:ext uri="{FF2B5EF4-FFF2-40B4-BE49-F238E27FC236}">
                <a16:creationId xmlns:a16="http://schemas.microsoft.com/office/drawing/2014/main" id="{38A07353-3BE1-2CF9-5579-AAD38ED45CA9}"/>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6" name="Imagen 5">
            <a:extLst>
              <a:ext uri="{FF2B5EF4-FFF2-40B4-BE49-F238E27FC236}">
                <a16:creationId xmlns:a16="http://schemas.microsoft.com/office/drawing/2014/main" id="{B9F128DE-CB12-7192-9FC0-FFAA7FF01C8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2238251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a:spLocks/>
          </p:cNvSpPr>
          <p:nvPr/>
        </p:nvSpPr>
        <p:spPr bwMode="blackWhite">
          <a:xfrm>
            <a:off x="4818412" y="1584212"/>
            <a:ext cx="1338268" cy="584775"/>
          </a:xfrm>
          <a:prstGeom prst="borderCallout3">
            <a:avLst>
              <a:gd name="adj1" fmla="val 33028"/>
              <a:gd name="adj2" fmla="val -2676"/>
              <a:gd name="adj3" fmla="val 45056"/>
              <a:gd name="adj4" fmla="val 5"/>
              <a:gd name="adj5" fmla="val 45056"/>
              <a:gd name="adj6" fmla="val -93628"/>
              <a:gd name="adj7" fmla="val 274595"/>
              <a:gd name="adj8" fmla="val -59299"/>
            </a:avLst>
          </a:prstGeom>
          <a:solidFill>
            <a:srgbClr val="34E0F2"/>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PV: Valor Planeado </a:t>
            </a:r>
          </a:p>
        </p:txBody>
      </p:sp>
      <p:sp>
        <p:nvSpPr>
          <p:cNvPr id="7" name="Freeform 7"/>
          <p:cNvSpPr>
            <a:spLocks/>
          </p:cNvSpPr>
          <p:nvPr/>
        </p:nvSpPr>
        <p:spPr bwMode="blackWhite">
          <a:xfrm>
            <a:off x="1057421" y="2633457"/>
            <a:ext cx="5049838" cy="3327400"/>
          </a:xfrm>
          <a:custGeom>
            <a:avLst/>
            <a:gdLst>
              <a:gd name="T0" fmla="*/ 0 w 1920"/>
              <a:gd name="T1" fmla="*/ 2147483647 h 1880"/>
              <a:gd name="T2" fmla="*/ 2147483647 w 1920"/>
              <a:gd name="T3" fmla="*/ 2147483647 h 1880"/>
              <a:gd name="T4" fmla="*/ 2147483647 w 1920"/>
              <a:gd name="T5" fmla="*/ 2147483647 h 1880"/>
              <a:gd name="T6" fmla="*/ 2147483647 w 1920"/>
              <a:gd name="T7" fmla="*/ 2147483647 h 1880"/>
              <a:gd name="T8" fmla="*/ 0 60000 65536"/>
              <a:gd name="T9" fmla="*/ 0 60000 65536"/>
              <a:gd name="T10" fmla="*/ 0 60000 65536"/>
              <a:gd name="T11" fmla="*/ 0 60000 65536"/>
              <a:gd name="T12" fmla="*/ 0 w 1920"/>
              <a:gd name="T13" fmla="*/ 0 h 1880"/>
              <a:gd name="T14" fmla="*/ 1920 w 1920"/>
              <a:gd name="T15" fmla="*/ 1880 h 1880"/>
            </a:gdLst>
            <a:ahLst/>
            <a:cxnLst>
              <a:cxn ang="T8">
                <a:pos x="T0" y="T1"/>
              </a:cxn>
              <a:cxn ang="T9">
                <a:pos x="T2" y="T3"/>
              </a:cxn>
              <a:cxn ang="T10">
                <a:pos x="T4" y="T5"/>
              </a:cxn>
              <a:cxn ang="T11">
                <a:pos x="T6" y="T7"/>
              </a:cxn>
            </a:cxnLst>
            <a:rect l="T12" t="T13" r="T14" b="T15"/>
            <a:pathLst>
              <a:path w="1920" h="1880">
                <a:moveTo>
                  <a:pt x="0" y="1880"/>
                </a:moveTo>
                <a:cubicBezTo>
                  <a:pt x="236" y="1824"/>
                  <a:pt x="472" y="1768"/>
                  <a:pt x="672" y="1496"/>
                </a:cubicBezTo>
                <a:cubicBezTo>
                  <a:pt x="872" y="1224"/>
                  <a:pt x="992" y="496"/>
                  <a:pt x="1200" y="248"/>
                </a:cubicBezTo>
                <a:cubicBezTo>
                  <a:pt x="1408" y="0"/>
                  <a:pt x="1808" y="48"/>
                  <a:pt x="1920" y="8"/>
                </a:cubicBezTo>
              </a:path>
            </a:pathLst>
          </a:custGeom>
          <a:noFill/>
          <a:ln w="508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8" name="Freeform 8"/>
          <p:cNvSpPr>
            <a:spLocks/>
          </p:cNvSpPr>
          <p:nvPr/>
        </p:nvSpPr>
        <p:spPr bwMode="blackWhite">
          <a:xfrm>
            <a:off x="1083612" y="3503408"/>
            <a:ext cx="3101392" cy="2436018"/>
          </a:xfrm>
          <a:custGeom>
            <a:avLst/>
            <a:gdLst>
              <a:gd name="T0" fmla="*/ 0 w 1880"/>
              <a:gd name="T1" fmla="*/ 2147483647 h 1513"/>
              <a:gd name="T2" fmla="*/ 2147483647 w 1880"/>
              <a:gd name="T3" fmla="*/ 2147483647 h 1513"/>
              <a:gd name="T4" fmla="*/ 2147483647 w 1880"/>
              <a:gd name="T5" fmla="*/ 2147483647 h 1513"/>
              <a:gd name="T6" fmla="*/ 2147483647 w 1880"/>
              <a:gd name="T7" fmla="*/ 2147483647 h 1513"/>
              <a:gd name="T8" fmla="*/ 2147483647 w 1880"/>
              <a:gd name="T9" fmla="*/ 2147483647 h 1513"/>
              <a:gd name="T10" fmla="*/ 2147483647 w 1880"/>
              <a:gd name="T11" fmla="*/ 0 h 1513"/>
              <a:gd name="T12" fmla="*/ 0 60000 65536"/>
              <a:gd name="T13" fmla="*/ 0 60000 65536"/>
              <a:gd name="T14" fmla="*/ 0 60000 65536"/>
              <a:gd name="T15" fmla="*/ 0 60000 65536"/>
              <a:gd name="T16" fmla="*/ 0 60000 65536"/>
              <a:gd name="T17" fmla="*/ 0 60000 65536"/>
              <a:gd name="T18" fmla="*/ 0 w 1880"/>
              <a:gd name="T19" fmla="*/ 0 h 1513"/>
              <a:gd name="T20" fmla="*/ 1880 w 1880"/>
              <a:gd name="T21" fmla="*/ 1513 h 1513"/>
            </a:gdLst>
            <a:ahLst/>
            <a:cxnLst>
              <a:cxn ang="T12">
                <a:pos x="T0" y="T1"/>
              </a:cxn>
              <a:cxn ang="T13">
                <a:pos x="T2" y="T3"/>
              </a:cxn>
              <a:cxn ang="T14">
                <a:pos x="T4" y="T5"/>
              </a:cxn>
              <a:cxn ang="T15">
                <a:pos x="T6" y="T7"/>
              </a:cxn>
              <a:cxn ang="T16">
                <a:pos x="T8" y="T9"/>
              </a:cxn>
              <a:cxn ang="T17">
                <a:pos x="T10" y="T11"/>
              </a:cxn>
            </a:cxnLst>
            <a:rect l="T18" t="T19" r="T20" b="T21"/>
            <a:pathLst>
              <a:path w="1880" h="1513">
                <a:moveTo>
                  <a:pt x="0" y="1513"/>
                </a:moveTo>
                <a:cubicBezTo>
                  <a:pt x="135" y="1436"/>
                  <a:pt x="641" y="1147"/>
                  <a:pt x="808" y="1050"/>
                </a:cubicBezTo>
                <a:cubicBezTo>
                  <a:pt x="975" y="953"/>
                  <a:pt x="924" y="988"/>
                  <a:pt x="1005" y="933"/>
                </a:cubicBezTo>
                <a:cubicBezTo>
                  <a:pt x="1086" y="878"/>
                  <a:pt x="1193" y="812"/>
                  <a:pt x="1293" y="719"/>
                </a:cubicBezTo>
                <a:cubicBezTo>
                  <a:pt x="1393" y="626"/>
                  <a:pt x="1507" y="493"/>
                  <a:pt x="1605" y="373"/>
                </a:cubicBezTo>
                <a:cubicBezTo>
                  <a:pt x="1703" y="253"/>
                  <a:pt x="1823" y="78"/>
                  <a:pt x="1880" y="0"/>
                </a:cubicBezTo>
              </a:path>
            </a:pathLst>
          </a:custGeom>
          <a:noFill/>
          <a:ln w="63500" cap="flat">
            <a:solidFill>
              <a:srgbClr val="00B0F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9" name="Line 9"/>
          <p:cNvSpPr>
            <a:spLocks noChangeShapeType="1"/>
          </p:cNvSpPr>
          <p:nvPr/>
        </p:nvSpPr>
        <p:spPr bwMode="blackWhite">
          <a:xfrm flipV="1">
            <a:off x="1033607" y="2409619"/>
            <a:ext cx="0" cy="3568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0" name="Text Box 10"/>
          <p:cNvSpPr txBox="1">
            <a:spLocks noChangeArrowheads="1"/>
          </p:cNvSpPr>
          <p:nvPr/>
        </p:nvSpPr>
        <p:spPr bwMode="blackWhite">
          <a:xfrm>
            <a:off x="5207836" y="5806562"/>
            <a:ext cx="1087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2000" dirty="0">
                <a:solidFill>
                  <a:srgbClr val="000000"/>
                </a:solidFill>
                <a:latin typeface="Arial" charset="0"/>
              </a:rPr>
              <a:t>Tiempo</a:t>
            </a:r>
          </a:p>
        </p:txBody>
      </p:sp>
      <p:sp>
        <p:nvSpPr>
          <p:cNvPr id="11" name="Text Box 11"/>
          <p:cNvSpPr txBox="1">
            <a:spLocks noChangeArrowheads="1"/>
          </p:cNvSpPr>
          <p:nvPr/>
        </p:nvSpPr>
        <p:spPr bwMode="blackWhite">
          <a:xfrm>
            <a:off x="620653" y="201070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800" dirty="0">
                <a:solidFill>
                  <a:srgbClr val="000000"/>
                </a:solidFill>
                <a:latin typeface="Arial" charset="0"/>
              </a:rPr>
              <a:t>$</a:t>
            </a:r>
          </a:p>
        </p:txBody>
      </p:sp>
      <p:sp>
        <p:nvSpPr>
          <p:cNvPr id="12" name="Line 12"/>
          <p:cNvSpPr>
            <a:spLocks noChangeShapeType="1"/>
          </p:cNvSpPr>
          <p:nvPr/>
        </p:nvSpPr>
        <p:spPr bwMode="blackWhite">
          <a:xfrm flipH="1" flipV="1">
            <a:off x="1033607" y="2665207"/>
            <a:ext cx="530225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3" name="Line 13"/>
          <p:cNvSpPr>
            <a:spLocks noChangeShapeType="1"/>
          </p:cNvSpPr>
          <p:nvPr/>
        </p:nvSpPr>
        <p:spPr bwMode="blackWhite">
          <a:xfrm flipV="1">
            <a:off x="4048269" y="1385682"/>
            <a:ext cx="3175" cy="4592637"/>
          </a:xfrm>
          <a:prstGeom prst="line">
            <a:avLst/>
          </a:prstGeom>
          <a:noFill/>
          <a:ln w="1587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Rectangle 14"/>
          <p:cNvSpPr>
            <a:spLocks noChangeArrowheads="1"/>
          </p:cNvSpPr>
          <p:nvPr/>
        </p:nvSpPr>
        <p:spPr bwMode="auto">
          <a:xfrm>
            <a:off x="3785117" y="1199838"/>
            <a:ext cx="2056653" cy="323808"/>
          </a:xfrm>
          <a:prstGeom prst="rect">
            <a:avLst/>
          </a:prstGeom>
          <a:noFill/>
          <a:ln>
            <a:noFill/>
          </a:ln>
        </p:spPr>
        <p:txBody>
          <a:bodyPr wrap="none" lIns="92075" tIns="46038" rIns="92075" bIns="46038">
            <a:spAutoFit/>
          </a:bodyPr>
          <a:lstStyle/>
          <a:p>
            <a:pPr eaLnBrk="0" fontAlgn="base" hangingPunct="0">
              <a:spcBef>
                <a:spcPct val="0"/>
              </a:spcBef>
              <a:spcAft>
                <a:spcPct val="0"/>
              </a:spcAft>
              <a:defRPr/>
            </a:pPr>
            <a:r>
              <a:rPr lang="es-MX" sz="1500" b="1" kern="0" dirty="0">
                <a:solidFill>
                  <a:srgbClr val="000000"/>
                </a:solidFill>
                <a:latin typeface="Arial" charset="0"/>
              </a:rPr>
              <a:t>Hoy: Fecha de Corte</a:t>
            </a:r>
          </a:p>
        </p:txBody>
      </p:sp>
      <p:sp>
        <p:nvSpPr>
          <p:cNvPr id="15" name="Freeform 15"/>
          <p:cNvSpPr>
            <a:spLocks/>
          </p:cNvSpPr>
          <p:nvPr/>
        </p:nvSpPr>
        <p:spPr bwMode="blackWhite">
          <a:xfrm>
            <a:off x="1083029" y="4101063"/>
            <a:ext cx="2994025" cy="1868487"/>
          </a:xfrm>
          <a:custGeom>
            <a:avLst/>
            <a:gdLst>
              <a:gd name="T0" fmla="*/ 0 w 1886"/>
              <a:gd name="T1" fmla="*/ 2147483647 h 1177"/>
              <a:gd name="T2" fmla="*/ 2147483647 w 1886"/>
              <a:gd name="T3" fmla="*/ 2147483647 h 1177"/>
              <a:gd name="T4" fmla="*/ 2147483647 w 1886"/>
              <a:gd name="T5" fmla="*/ 2147483647 h 1177"/>
              <a:gd name="T6" fmla="*/ 2147483647 w 1886"/>
              <a:gd name="T7" fmla="*/ 2147483647 h 1177"/>
              <a:gd name="T8" fmla="*/ 2147483647 w 1886"/>
              <a:gd name="T9" fmla="*/ 2147483647 h 1177"/>
              <a:gd name="T10" fmla="*/ 2147483647 w 1886"/>
              <a:gd name="T11" fmla="*/ 0 h 1177"/>
              <a:gd name="T12" fmla="*/ 0 60000 65536"/>
              <a:gd name="T13" fmla="*/ 0 60000 65536"/>
              <a:gd name="T14" fmla="*/ 0 60000 65536"/>
              <a:gd name="T15" fmla="*/ 0 60000 65536"/>
              <a:gd name="T16" fmla="*/ 0 60000 65536"/>
              <a:gd name="T17" fmla="*/ 0 60000 65536"/>
              <a:gd name="T18" fmla="*/ 0 w 1886"/>
              <a:gd name="T19" fmla="*/ 0 h 1177"/>
              <a:gd name="T20" fmla="*/ 1886 w 1886"/>
              <a:gd name="T21" fmla="*/ 1177 h 1177"/>
            </a:gdLst>
            <a:ahLst/>
            <a:cxnLst>
              <a:cxn ang="T12">
                <a:pos x="T0" y="T1"/>
              </a:cxn>
              <a:cxn ang="T13">
                <a:pos x="T2" y="T3"/>
              </a:cxn>
              <a:cxn ang="T14">
                <a:pos x="T4" y="T5"/>
              </a:cxn>
              <a:cxn ang="T15">
                <a:pos x="T6" y="T7"/>
              </a:cxn>
              <a:cxn ang="T16">
                <a:pos x="T8" y="T9"/>
              </a:cxn>
              <a:cxn ang="T17">
                <a:pos x="T10" y="T11"/>
              </a:cxn>
            </a:cxnLst>
            <a:rect l="T18" t="T19" r="T20" b="T21"/>
            <a:pathLst>
              <a:path w="1886" h="1177">
                <a:moveTo>
                  <a:pt x="0" y="1177"/>
                </a:moveTo>
                <a:cubicBezTo>
                  <a:pt x="88" y="1146"/>
                  <a:pt x="393" y="1044"/>
                  <a:pt x="526" y="994"/>
                </a:cubicBezTo>
                <a:cubicBezTo>
                  <a:pt x="659" y="944"/>
                  <a:pt x="671" y="934"/>
                  <a:pt x="797" y="876"/>
                </a:cubicBezTo>
                <a:cubicBezTo>
                  <a:pt x="923" y="818"/>
                  <a:pt x="1139" y="736"/>
                  <a:pt x="1283" y="646"/>
                </a:cubicBezTo>
                <a:cubicBezTo>
                  <a:pt x="1427" y="556"/>
                  <a:pt x="1561" y="442"/>
                  <a:pt x="1661" y="334"/>
                </a:cubicBezTo>
                <a:cubicBezTo>
                  <a:pt x="1761" y="226"/>
                  <a:pt x="1839" y="70"/>
                  <a:pt x="1886" y="0"/>
                </a:cubicBezTo>
              </a:path>
            </a:pathLst>
          </a:custGeom>
          <a:noFill/>
          <a:ln w="63500" cap="flat">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6" name="AutoShape 16"/>
          <p:cNvSpPr>
            <a:spLocks/>
          </p:cNvSpPr>
          <p:nvPr/>
        </p:nvSpPr>
        <p:spPr bwMode="blackWhite">
          <a:xfrm>
            <a:off x="4933049" y="5129732"/>
            <a:ext cx="1223632" cy="584775"/>
          </a:xfrm>
          <a:prstGeom prst="borderCallout2">
            <a:avLst>
              <a:gd name="adj1" fmla="val 33028"/>
              <a:gd name="adj2" fmla="val -2690"/>
              <a:gd name="adj3" fmla="val 33028"/>
              <a:gd name="adj4" fmla="val -15759"/>
              <a:gd name="adj5" fmla="val -162513"/>
              <a:gd name="adj6" fmla="val -72724"/>
            </a:avLst>
          </a:prstGeom>
          <a:solidFill>
            <a:srgbClr val="FFC000"/>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EV: Valor Ganado </a:t>
            </a:r>
          </a:p>
        </p:txBody>
      </p:sp>
      <p:sp>
        <p:nvSpPr>
          <p:cNvPr id="17" name="AutoShape 17"/>
          <p:cNvSpPr>
            <a:spLocks/>
          </p:cNvSpPr>
          <p:nvPr/>
        </p:nvSpPr>
        <p:spPr bwMode="blackWhite">
          <a:xfrm>
            <a:off x="4867419" y="4363224"/>
            <a:ext cx="1289261" cy="584775"/>
          </a:xfrm>
          <a:prstGeom prst="borderCallout2">
            <a:avLst>
              <a:gd name="adj1" fmla="val 33028"/>
              <a:gd name="adj2" fmla="val -3028"/>
              <a:gd name="adj3" fmla="val 33028"/>
              <a:gd name="adj4" fmla="val -17278"/>
              <a:gd name="adj5" fmla="val -124480"/>
              <a:gd name="adj6" fmla="val -63344"/>
            </a:avLst>
          </a:prstGeom>
          <a:solidFill>
            <a:srgbClr val="FFFF99"/>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AC: Costo Real </a:t>
            </a:r>
          </a:p>
        </p:txBody>
      </p:sp>
      <p:sp>
        <p:nvSpPr>
          <p:cNvPr id="20" name="Text Box 20"/>
          <p:cNvSpPr txBox="1">
            <a:spLocks noChangeArrowheads="1"/>
          </p:cNvSpPr>
          <p:nvPr/>
        </p:nvSpPr>
        <p:spPr bwMode="blackWhite">
          <a:xfrm>
            <a:off x="546244" y="3960607"/>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a:solidFill>
                  <a:srgbClr val="000000"/>
                </a:solidFill>
                <a:latin typeface="Arial" charset="0"/>
              </a:rPr>
              <a:t>100</a:t>
            </a:r>
          </a:p>
        </p:txBody>
      </p:sp>
      <p:sp>
        <p:nvSpPr>
          <p:cNvPr id="21" name="Text Box 21"/>
          <p:cNvSpPr txBox="1">
            <a:spLocks noChangeArrowheads="1"/>
          </p:cNvSpPr>
          <p:nvPr/>
        </p:nvSpPr>
        <p:spPr bwMode="blackWhite">
          <a:xfrm>
            <a:off x="546244" y="350340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150</a:t>
            </a:r>
          </a:p>
        </p:txBody>
      </p:sp>
      <p:sp>
        <p:nvSpPr>
          <p:cNvPr id="22" name="Text Box 22"/>
          <p:cNvSpPr txBox="1">
            <a:spLocks noChangeArrowheads="1"/>
          </p:cNvSpPr>
          <p:nvPr/>
        </p:nvSpPr>
        <p:spPr bwMode="blackWhite">
          <a:xfrm>
            <a:off x="546244" y="312240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180</a:t>
            </a:r>
          </a:p>
        </p:txBody>
      </p:sp>
      <p:sp>
        <p:nvSpPr>
          <p:cNvPr id="25" name="Line 25"/>
          <p:cNvSpPr>
            <a:spLocks noChangeShapeType="1"/>
          </p:cNvSpPr>
          <p:nvPr/>
        </p:nvSpPr>
        <p:spPr bwMode="auto">
          <a:xfrm>
            <a:off x="1003444" y="6018007"/>
            <a:ext cx="4191000"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9" name="Line 29"/>
          <p:cNvSpPr>
            <a:spLocks noChangeShapeType="1"/>
          </p:cNvSpPr>
          <p:nvPr/>
        </p:nvSpPr>
        <p:spPr bwMode="blackWhite">
          <a:xfrm flipH="1" flipV="1">
            <a:off x="1009794" y="328433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0" name="Line 30"/>
          <p:cNvSpPr>
            <a:spLocks noChangeShapeType="1"/>
          </p:cNvSpPr>
          <p:nvPr/>
        </p:nvSpPr>
        <p:spPr bwMode="blackWhite">
          <a:xfrm flipH="1" flipV="1">
            <a:off x="1009794" y="3670094"/>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1" name="Line 31"/>
          <p:cNvSpPr>
            <a:spLocks noChangeShapeType="1"/>
          </p:cNvSpPr>
          <p:nvPr/>
        </p:nvSpPr>
        <p:spPr bwMode="blackWhite">
          <a:xfrm flipH="1" flipV="1">
            <a:off x="1009794" y="412253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graphicFrame>
        <p:nvGraphicFramePr>
          <p:cNvPr id="36" name="Group 56"/>
          <p:cNvGraphicFramePr>
            <a:graphicFrameLocks noGrp="1"/>
          </p:cNvGraphicFramePr>
          <p:nvPr>
            <p:extLst>
              <p:ext uri="{D42A27DB-BD31-4B8C-83A1-F6EECF244321}">
                <p14:modId xmlns:p14="http://schemas.microsoft.com/office/powerpoint/2010/main" val="1831393025"/>
              </p:ext>
            </p:extLst>
          </p:nvPr>
        </p:nvGraphicFramePr>
        <p:xfrm>
          <a:off x="6215189" y="2410020"/>
          <a:ext cx="3575547" cy="578847"/>
        </p:xfrm>
        <a:graphic>
          <a:graphicData uri="http://schemas.openxmlformats.org/drawingml/2006/table">
            <a:tbl>
              <a:tblPr/>
              <a:tblGrid>
                <a:gridCol w="3575547">
                  <a:extLst>
                    <a:ext uri="{9D8B030D-6E8A-4147-A177-3AD203B41FA5}">
                      <a16:colId xmlns:a16="http://schemas.microsoft.com/office/drawing/2014/main" val="20000"/>
                    </a:ext>
                  </a:extLst>
                </a:gridCol>
              </a:tblGrid>
              <a:tr h="57884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Budget at Completion:</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BAC: </a:t>
                      </a:r>
                      <a:r>
                        <a:rPr kumimoji="0" lang="es-ES" sz="1200" b="0" i="0" u="none" strike="noStrike" cap="none" normalizeH="0" baseline="0" dirty="0">
                          <a:ln>
                            <a:noFill/>
                          </a:ln>
                          <a:solidFill>
                            <a:schemeClr val="accent6">
                              <a:lumMod val="50000"/>
                            </a:schemeClr>
                          </a:solidFill>
                          <a:effectLst/>
                          <a:latin typeface="Arial" pitchFamily="34" charset="0"/>
                        </a:rPr>
                        <a:t> Presupuesto hasta el fin del proyecto.</a:t>
                      </a:r>
                    </a:p>
                  </a:txBody>
                  <a:tcPr marT="45723" marB="45723" horzOverflow="overflow">
                    <a:lnL w="28575"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34E0F2"/>
                    </a:solidFill>
                  </a:tcPr>
                </a:tc>
                <a:extLst>
                  <a:ext uri="{0D108BD9-81ED-4DB2-BD59-A6C34878D82A}">
                    <a16:rowId xmlns:a16="http://schemas.microsoft.com/office/drawing/2014/main" val="10000"/>
                  </a:ext>
                </a:extLst>
              </a:tr>
            </a:tbl>
          </a:graphicData>
        </a:graphic>
      </p:graphicFrame>
      <p:sp>
        <p:nvSpPr>
          <p:cNvPr id="2" name="Elipse 1"/>
          <p:cNvSpPr/>
          <p:nvPr/>
        </p:nvSpPr>
        <p:spPr>
          <a:xfrm>
            <a:off x="3899485" y="3072441"/>
            <a:ext cx="348809" cy="2118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Elipse 38"/>
          <p:cNvSpPr/>
          <p:nvPr/>
        </p:nvSpPr>
        <p:spPr>
          <a:xfrm flipV="1">
            <a:off x="3875451" y="3576035"/>
            <a:ext cx="348809" cy="2119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Elipse 39"/>
          <p:cNvSpPr/>
          <p:nvPr/>
        </p:nvSpPr>
        <p:spPr>
          <a:xfrm>
            <a:off x="3860008" y="4085265"/>
            <a:ext cx="348809" cy="2118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p:cNvSpPr txBox="1"/>
          <p:nvPr/>
        </p:nvSpPr>
        <p:spPr>
          <a:xfrm>
            <a:off x="6177651" y="1420038"/>
            <a:ext cx="4405706" cy="830997"/>
          </a:xfrm>
          <a:prstGeom prst="rect">
            <a:avLst/>
          </a:prstGeom>
          <a:noFill/>
        </p:spPr>
        <p:txBody>
          <a:bodyPr wrap="square" rtlCol="0">
            <a:spAutoFit/>
          </a:bodyPr>
          <a:lstStyle/>
          <a:p>
            <a:r>
              <a:rPr lang="es-PE" sz="1600" b="1" dirty="0"/>
              <a:t>Costo presupuestado </a:t>
            </a:r>
            <a:r>
              <a:rPr lang="es-PE" sz="1600" dirty="0"/>
              <a:t>del </a:t>
            </a:r>
            <a:r>
              <a:rPr lang="es-PE" sz="1600" b="1" dirty="0"/>
              <a:t>trabajo programado </a:t>
            </a:r>
            <a:r>
              <a:rPr lang="es-PE" sz="1600" dirty="0"/>
              <a:t>para completar una actividad hasta un momento determinado</a:t>
            </a:r>
          </a:p>
        </p:txBody>
      </p:sp>
      <p:sp>
        <p:nvSpPr>
          <p:cNvPr id="41" name="CuadroTexto 40"/>
          <p:cNvSpPr txBox="1"/>
          <p:nvPr/>
        </p:nvSpPr>
        <p:spPr>
          <a:xfrm>
            <a:off x="6215189" y="4259262"/>
            <a:ext cx="4405706" cy="830997"/>
          </a:xfrm>
          <a:prstGeom prst="rect">
            <a:avLst/>
          </a:prstGeom>
          <a:noFill/>
        </p:spPr>
        <p:txBody>
          <a:bodyPr wrap="square" rtlCol="0">
            <a:spAutoFit/>
          </a:bodyPr>
          <a:lstStyle/>
          <a:p>
            <a:r>
              <a:rPr lang="es-PE" sz="1600" b="1" dirty="0"/>
              <a:t>Costo total incurrido </a:t>
            </a:r>
            <a:r>
              <a:rPr lang="es-PE" sz="1600" dirty="0"/>
              <a:t>en la ejecución del </a:t>
            </a:r>
            <a:r>
              <a:rPr lang="es-PE" sz="1600" b="1" dirty="0"/>
              <a:t>trabajo completado </a:t>
            </a:r>
            <a:r>
              <a:rPr lang="es-PE" sz="1600" dirty="0"/>
              <a:t>durante un periodo de tiempo determinado.</a:t>
            </a:r>
          </a:p>
        </p:txBody>
      </p:sp>
      <p:sp>
        <p:nvSpPr>
          <p:cNvPr id="42" name="CuadroTexto 41"/>
          <p:cNvSpPr txBox="1"/>
          <p:nvPr/>
        </p:nvSpPr>
        <p:spPr>
          <a:xfrm>
            <a:off x="6215189" y="5076611"/>
            <a:ext cx="4405706" cy="830997"/>
          </a:xfrm>
          <a:prstGeom prst="rect">
            <a:avLst/>
          </a:prstGeom>
          <a:noFill/>
        </p:spPr>
        <p:txBody>
          <a:bodyPr wrap="square" rtlCol="0">
            <a:spAutoFit/>
          </a:bodyPr>
          <a:lstStyle/>
          <a:p>
            <a:r>
              <a:rPr lang="es-PE" sz="1600" b="1" dirty="0"/>
              <a:t>Costo presupuestado </a:t>
            </a:r>
            <a:r>
              <a:rPr lang="es-PE" sz="1600" dirty="0"/>
              <a:t>para el </a:t>
            </a:r>
            <a:r>
              <a:rPr lang="es-PE" sz="1600" b="1" dirty="0"/>
              <a:t>trabajo realmente ejecutado </a:t>
            </a:r>
            <a:r>
              <a:rPr lang="es-PE" sz="1600" dirty="0"/>
              <a:t>de una actividad durante un periodo de tiempo determinado.</a:t>
            </a:r>
          </a:p>
        </p:txBody>
      </p:sp>
      <p:sp>
        <p:nvSpPr>
          <p:cNvPr id="18" name="Título 1">
            <a:extLst>
              <a:ext uri="{FF2B5EF4-FFF2-40B4-BE49-F238E27FC236}">
                <a16:creationId xmlns:a16="http://schemas.microsoft.com/office/drawing/2014/main" id="{9DEE4702-A508-12F5-BD1F-93EB008EC744}"/>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19" name="Imagen 18">
            <a:extLst>
              <a:ext uri="{FF2B5EF4-FFF2-40B4-BE49-F238E27FC236}">
                <a16:creationId xmlns:a16="http://schemas.microsoft.com/office/drawing/2014/main" id="{15B5C8DC-202D-3533-413D-0511FC0205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1687939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a:spLocks noChangeArrowheads="1"/>
          </p:cNvSpPr>
          <p:nvPr/>
        </p:nvSpPr>
        <p:spPr bwMode="auto">
          <a:xfrm>
            <a:off x="399700" y="1922670"/>
            <a:ext cx="3193961" cy="701731"/>
          </a:xfrm>
          <a:prstGeom prst="rect">
            <a:avLst/>
          </a:prstGeom>
          <a:noFill/>
          <a:ln>
            <a:noFill/>
          </a:ln>
        </p:spPr>
        <p:txBody>
          <a:bodyPr wrap="square">
            <a:spAutoFit/>
          </a:bodyPr>
          <a:lstStyle/>
          <a:p>
            <a:pPr algn="ctr">
              <a:lnSpc>
                <a:spcPct val="110000"/>
              </a:lnSpc>
              <a:defRPr/>
            </a:pPr>
            <a:r>
              <a:rPr lang="es-PE" b="1" kern="0" dirty="0">
                <a:solidFill>
                  <a:srgbClr val="000099"/>
                </a:solidFill>
                <a:latin typeface="Arial" pitchFamily="34" charset="0"/>
                <a:cs typeface="Arial" pitchFamily="34" charset="0"/>
              </a:rPr>
              <a:t>Análisis del Valor Ganado y de Variaciones </a:t>
            </a:r>
          </a:p>
        </p:txBody>
      </p:sp>
      <p:sp>
        <p:nvSpPr>
          <p:cNvPr id="4" name="Text Box 4"/>
          <p:cNvSpPr txBox="1">
            <a:spLocks noChangeArrowheads="1"/>
          </p:cNvSpPr>
          <p:nvPr/>
        </p:nvSpPr>
        <p:spPr bwMode="blackWhite">
          <a:xfrm>
            <a:off x="6263881" y="3785192"/>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500" dirty="0">
                <a:solidFill>
                  <a:srgbClr val="000000"/>
                </a:solidFill>
                <a:latin typeface="Comic Sans MS" pitchFamily="66" charset="0"/>
              </a:rPr>
              <a:t>Variación del Cronograma</a:t>
            </a:r>
            <a:r>
              <a:rPr lang="es-MX" sz="1600" dirty="0">
                <a:solidFill>
                  <a:srgbClr val="000000"/>
                </a:solidFill>
                <a:latin typeface="Comic Sans MS" pitchFamily="66" charset="0"/>
              </a:rPr>
              <a:t>: SV= EV – PV</a:t>
            </a:r>
          </a:p>
        </p:txBody>
      </p:sp>
      <p:sp>
        <p:nvSpPr>
          <p:cNvPr id="5" name="Text Box 5"/>
          <p:cNvSpPr txBox="1">
            <a:spLocks noChangeArrowheads="1"/>
          </p:cNvSpPr>
          <p:nvPr/>
        </p:nvSpPr>
        <p:spPr bwMode="blackWhite">
          <a:xfrm>
            <a:off x="6797281" y="4270967"/>
            <a:ext cx="426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500" dirty="0">
                <a:solidFill>
                  <a:srgbClr val="000000"/>
                </a:solidFill>
                <a:latin typeface="Comic Sans MS" pitchFamily="66" charset="0"/>
              </a:rPr>
              <a:t>Variación del Costo</a:t>
            </a:r>
            <a:r>
              <a:rPr lang="es-MX" sz="1600" dirty="0">
                <a:solidFill>
                  <a:srgbClr val="000000"/>
                </a:solidFill>
                <a:latin typeface="Comic Sans MS" pitchFamily="66" charset="0"/>
              </a:rPr>
              <a:t>: CV= EV- AC</a:t>
            </a:r>
          </a:p>
        </p:txBody>
      </p:sp>
      <p:sp>
        <p:nvSpPr>
          <p:cNvPr id="6" name="AutoShape 6"/>
          <p:cNvSpPr>
            <a:spLocks/>
          </p:cNvSpPr>
          <p:nvPr/>
        </p:nvSpPr>
        <p:spPr bwMode="blackWhite">
          <a:xfrm>
            <a:off x="6327359" y="2290492"/>
            <a:ext cx="1637656" cy="584775"/>
          </a:xfrm>
          <a:prstGeom prst="borderCallout3">
            <a:avLst>
              <a:gd name="adj1" fmla="val 33028"/>
              <a:gd name="adj2" fmla="val -2676"/>
              <a:gd name="adj3" fmla="val 45056"/>
              <a:gd name="adj4" fmla="val 5"/>
              <a:gd name="adj5" fmla="val 45056"/>
              <a:gd name="adj6" fmla="val -93628"/>
              <a:gd name="adj7" fmla="val 262926"/>
              <a:gd name="adj8" fmla="val -51140"/>
            </a:avLst>
          </a:prstGeom>
          <a:solidFill>
            <a:srgbClr val="34E0F2"/>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PV: Valor Planeado </a:t>
            </a:r>
          </a:p>
        </p:txBody>
      </p:sp>
      <p:sp>
        <p:nvSpPr>
          <p:cNvPr id="7" name="Freeform 7"/>
          <p:cNvSpPr>
            <a:spLocks/>
          </p:cNvSpPr>
          <p:nvPr/>
        </p:nvSpPr>
        <p:spPr bwMode="blackWhite">
          <a:xfrm>
            <a:off x="2507858" y="3204167"/>
            <a:ext cx="5049838" cy="3327400"/>
          </a:xfrm>
          <a:custGeom>
            <a:avLst/>
            <a:gdLst>
              <a:gd name="T0" fmla="*/ 0 w 1920"/>
              <a:gd name="T1" fmla="*/ 2147483647 h 1880"/>
              <a:gd name="T2" fmla="*/ 2147483647 w 1920"/>
              <a:gd name="T3" fmla="*/ 2147483647 h 1880"/>
              <a:gd name="T4" fmla="*/ 2147483647 w 1920"/>
              <a:gd name="T5" fmla="*/ 2147483647 h 1880"/>
              <a:gd name="T6" fmla="*/ 2147483647 w 1920"/>
              <a:gd name="T7" fmla="*/ 2147483647 h 1880"/>
              <a:gd name="T8" fmla="*/ 0 60000 65536"/>
              <a:gd name="T9" fmla="*/ 0 60000 65536"/>
              <a:gd name="T10" fmla="*/ 0 60000 65536"/>
              <a:gd name="T11" fmla="*/ 0 60000 65536"/>
              <a:gd name="T12" fmla="*/ 0 w 1920"/>
              <a:gd name="T13" fmla="*/ 0 h 1880"/>
              <a:gd name="T14" fmla="*/ 1920 w 1920"/>
              <a:gd name="T15" fmla="*/ 1880 h 1880"/>
            </a:gdLst>
            <a:ahLst/>
            <a:cxnLst>
              <a:cxn ang="T8">
                <a:pos x="T0" y="T1"/>
              </a:cxn>
              <a:cxn ang="T9">
                <a:pos x="T2" y="T3"/>
              </a:cxn>
              <a:cxn ang="T10">
                <a:pos x="T4" y="T5"/>
              </a:cxn>
              <a:cxn ang="T11">
                <a:pos x="T6" y="T7"/>
              </a:cxn>
            </a:cxnLst>
            <a:rect l="T12" t="T13" r="T14" b="T15"/>
            <a:pathLst>
              <a:path w="1920" h="1880">
                <a:moveTo>
                  <a:pt x="0" y="1880"/>
                </a:moveTo>
                <a:cubicBezTo>
                  <a:pt x="236" y="1824"/>
                  <a:pt x="472" y="1768"/>
                  <a:pt x="672" y="1496"/>
                </a:cubicBezTo>
                <a:cubicBezTo>
                  <a:pt x="872" y="1224"/>
                  <a:pt x="992" y="496"/>
                  <a:pt x="1200" y="248"/>
                </a:cubicBezTo>
                <a:cubicBezTo>
                  <a:pt x="1408" y="0"/>
                  <a:pt x="1808" y="48"/>
                  <a:pt x="1920" y="8"/>
                </a:cubicBezTo>
              </a:path>
            </a:pathLst>
          </a:custGeom>
          <a:noFill/>
          <a:ln w="508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8" name="Freeform 8"/>
          <p:cNvSpPr>
            <a:spLocks/>
          </p:cNvSpPr>
          <p:nvPr/>
        </p:nvSpPr>
        <p:spPr bwMode="blackWhite">
          <a:xfrm>
            <a:off x="2534049" y="4074118"/>
            <a:ext cx="3101392" cy="2436018"/>
          </a:xfrm>
          <a:custGeom>
            <a:avLst/>
            <a:gdLst>
              <a:gd name="T0" fmla="*/ 0 w 1880"/>
              <a:gd name="T1" fmla="*/ 2147483647 h 1513"/>
              <a:gd name="T2" fmla="*/ 2147483647 w 1880"/>
              <a:gd name="T3" fmla="*/ 2147483647 h 1513"/>
              <a:gd name="T4" fmla="*/ 2147483647 w 1880"/>
              <a:gd name="T5" fmla="*/ 2147483647 h 1513"/>
              <a:gd name="T6" fmla="*/ 2147483647 w 1880"/>
              <a:gd name="T7" fmla="*/ 2147483647 h 1513"/>
              <a:gd name="T8" fmla="*/ 2147483647 w 1880"/>
              <a:gd name="T9" fmla="*/ 2147483647 h 1513"/>
              <a:gd name="T10" fmla="*/ 2147483647 w 1880"/>
              <a:gd name="T11" fmla="*/ 0 h 1513"/>
              <a:gd name="T12" fmla="*/ 0 60000 65536"/>
              <a:gd name="T13" fmla="*/ 0 60000 65536"/>
              <a:gd name="T14" fmla="*/ 0 60000 65536"/>
              <a:gd name="T15" fmla="*/ 0 60000 65536"/>
              <a:gd name="T16" fmla="*/ 0 60000 65536"/>
              <a:gd name="T17" fmla="*/ 0 60000 65536"/>
              <a:gd name="T18" fmla="*/ 0 w 1880"/>
              <a:gd name="T19" fmla="*/ 0 h 1513"/>
              <a:gd name="T20" fmla="*/ 1880 w 1880"/>
              <a:gd name="T21" fmla="*/ 1513 h 1513"/>
            </a:gdLst>
            <a:ahLst/>
            <a:cxnLst>
              <a:cxn ang="T12">
                <a:pos x="T0" y="T1"/>
              </a:cxn>
              <a:cxn ang="T13">
                <a:pos x="T2" y="T3"/>
              </a:cxn>
              <a:cxn ang="T14">
                <a:pos x="T4" y="T5"/>
              </a:cxn>
              <a:cxn ang="T15">
                <a:pos x="T6" y="T7"/>
              </a:cxn>
              <a:cxn ang="T16">
                <a:pos x="T8" y="T9"/>
              </a:cxn>
              <a:cxn ang="T17">
                <a:pos x="T10" y="T11"/>
              </a:cxn>
            </a:cxnLst>
            <a:rect l="T18" t="T19" r="T20" b="T21"/>
            <a:pathLst>
              <a:path w="1880" h="1513">
                <a:moveTo>
                  <a:pt x="0" y="1513"/>
                </a:moveTo>
                <a:cubicBezTo>
                  <a:pt x="135" y="1436"/>
                  <a:pt x="641" y="1147"/>
                  <a:pt x="808" y="1050"/>
                </a:cubicBezTo>
                <a:cubicBezTo>
                  <a:pt x="975" y="953"/>
                  <a:pt x="924" y="988"/>
                  <a:pt x="1005" y="933"/>
                </a:cubicBezTo>
                <a:cubicBezTo>
                  <a:pt x="1086" y="878"/>
                  <a:pt x="1193" y="812"/>
                  <a:pt x="1293" y="719"/>
                </a:cubicBezTo>
                <a:cubicBezTo>
                  <a:pt x="1393" y="626"/>
                  <a:pt x="1507" y="493"/>
                  <a:pt x="1605" y="373"/>
                </a:cubicBezTo>
                <a:cubicBezTo>
                  <a:pt x="1703" y="253"/>
                  <a:pt x="1823" y="78"/>
                  <a:pt x="1880" y="0"/>
                </a:cubicBezTo>
              </a:path>
            </a:pathLst>
          </a:custGeom>
          <a:noFill/>
          <a:ln w="63500" cap="flat">
            <a:solidFill>
              <a:srgbClr val="00B0F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9" name="Line 9"/>
          <p:cNvSpPr>
            <a:spLocks noChangeShapeType="1"/>
          </p:cNvSpPr>
          <p:nvPr/>
        </p:nvSpPr>
        <p:spPr bwMode="blackWhite">
          <a:xfrm flipV="1">
            <a:off x="2484044" y="2980329"/>
            <a:ext cx="0" cy="3568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0" name="Text Box 10"/>
          <p:cNvSpPr txBox="1">
            <a:spLocks noChangeArrowheads="1"/>
          </p:cNvSpPr>
          <p:nvPr/>
        </p:nvSpPr>
        <p:spPr bwMode="blackWhite">
          <a:xfrm>
            <a:off x="6658273" y="6377272"/>
            <a:ext cx="1087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2000" dirty="0">
                <a:solidFill>
                  <a:srgbClr val="000000"/>
                </a:solidFill>
                <a:latin typeface="Arial" charset="0"/>
              </a:rPr>
              <a:t>Tiempo</a:t>
            </a:r>
          </a:p>
        </p:txBody>
      </p:sp>
      <p:sp>
        <p:nvSpPr>
          <p:cNvPr id="11" name="Text Box 11"/>
          <p:cNvSpPr txBox="1">
            <a:spLocks noChangeArrowheads="1"/>
          </p:cNvSpPr>
          <p:nvPr/>
        </p:nvSpPr>
        <p:spPr bwMode="blackWhite">
          <a:xfrm>
            <a:off x="2071090" y="258141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800" dirty="0">
                <a:solidFill>
                  <a:srgbClr val="000000"/>
                </a:solidFill>
                <a:latin typeface="Arial" charset="0"/>
              </a:rPr>
              <a:t>$</a:t>
            </a:r>
          </a:p>
        </p:txBody>
      </p:sp>
      <p:sp>
        <p:nvSpPr>
          <p:cNvPr id="12" name="Line 12"/>
          <p:cNvSpPr>
            <a:spLocks noChangeShapeType="1"/>
          </p:cNvSpPr>
          <p:nvPr/>
        </p:nvSpPr>
        <p:spPr bwMode="blackWhite">
          <a:xfrm flipH="1" flipV="1">
            <a:off x="2484044" y="3235917"/>
            <a:ext cx="530225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3" name="Line 13"/>
          <p:cNvSpPr>
            <a:spLocks noChangeShapeType="1"/>
          </p:cNvSpPr>
          <p:nvPr/>
        </p:nvSpPr>
        <p:spPr bwMode="blackWhite">
          <a:xfrm flipV="1">
            <a:off x="5498706" y="1956392"/>
            <a:ext cx="3175" cy="45926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Rectangle 14"/>
          <p:cNvSpPr>
            <a:spLocks noChangeArrowheads="1"/>
          </p:cNvSpPr>
          <p:nvPr/>
        </p:nvSpPr>
        <p:spPr bwMode="auto">
          <a:xfrm>
            <a:off x="5235554" y="1770548"/>
            <a:ext cx="2056653" cy="323808"/>
          </a:xfrm>
          <a:prstGeom prst="rect">
            <a:avLst/>
          </a:prstGeom>
          <a:noFill/>
          <a:ln>
            <a:noFill/>
          </a:ln>
        </p:spPr>
        <p:txBody>
          <a:bodyPr wrap="none" lIns="92075" tIns="46038" rIns="92075" bIns="46038">
            <a:spAutoFit/>
          </a:bodyPr>
          <a:lstStyle/>
          <a:p>
            <a:pPr eaLnBrk="0" fontAlgn="base" hangingPunct="0">
              <a:spcBef>
                <a:spcPct val="0"/>
              </a:spcBef>
              <a:spcAft>
                <a:spcPct val="0"/>
              </a:spcAft>
              <a:defRPr/>
            </a:pPr>
            <a:r>
              <a:rPr lang="es-MX" sz="1500" b="1" kern="0" dirty="0">
                <a:solidFill>
                  <a:srgbClr val="000000"/>
                </a:solidFill>
                <a:latin typeface="Arial" charset="0"/>
              </a:rPr>
              <a:t>Hoy: Fecha de Corte</a:t>
            </a:r>
          </a:p>
        </p:txBody>
      </p:sp>
      <p:sp>
        <p:nvSpPr>
          <p:cNvPr id="15" name="Freeform 15"/>
          <p:cNvSpPr>
            <a:spLocks/>
          </p:cNvSpPr>
          <p:nvPr/>
        </p:nvSpPr>
        <p:spPr bwMode="blackWhite">
          <a:xfrm>
            <a:off x="2533466" y="4671773"/>
            <a:ext cx="2994025" cy="1868487"/>
          </a:xfrm>
          <a:custGeom>
            <a:avLst/>
            <a:gdLst>
              <a:gd name="T0" fmla="*/ 0 w 1886"/>
              <a:gd name="T1" fmla="*/ 2147483647 h 1177"/>
              <a:gd name="T2" fmla="*/ 2147483647 w 1886"/>
              <a:gd name="T3" fmla="*/ 2147483647 h 1177"/>
              <a:gd name="T4" fmla="*/ 2147483647 w 1886"/>
              <a:gd name="T5" fmla="*/ 2147483647 h 1177"/>
              <a:gd name="T6" fmla="*/ 2147483647 w 1886"/>
              <a:gd name="T7" fmla="*/ 2147483647 h 1177"/>
              <a:gd name="T8" fmla="*/ 2147483647 w 1886"/>
              <a:gd name="T9" fmla="*/ 2147483647 h 1177"/>
              <a:gd name="T10" fmla="*/ 2147483647 w 1886"/>
              <a:gd name="T11" fmla="*/ 0 h 1177"/>
              <a:gd name="T12" fmla="*/ 0 60000 65536"/>
              <a:gd name="T13" fmla="*/ 0 60000 65536"/>
              <a:gd name="T14" fmla="*/ 0 60000 65536"/>
              <a:gd name="T15" fmla="*/ 0 60000 65536"/>
              <a:gd name="T16" fmla="*/ 0 60000 65536"/>
              <a:gd name="T17" fmla="*/ 0 60000 65536"/>
              <a:gd name="T18" fmla="*/ 0 w 1886"/>
              <a:gd name="T19" fmla="*/ 0 h 1177"/>
              <a:gd name="T20" fmla="*/ 1886 w 1886"/>
              <a:gd name="T21" fmla="*/ 1177 h 1177"/>
            </a:gdLst>
            <a:ahLst/>
            <a:cxnLst>
              <a:cxn ang="T12">
                <a:pos x="T0" y="T1"/>
              </a:cxn>
              <a:cxn ang="T13">
                <a:pos x="T2" y="T3"/>
              </a:cxn>
              <a:cxn ang="T14">
                <a:pos x="T4" y="T5"/>
              </a:cxn>
              <a:cxn ang="T15">
                <a:pos x="T6" y="T7"/>
              </a:cxn>
              <a:cxn ang="T16">
                <a:pos x="T8" y="T9"/>
              </a:cxn>
              <a:cxn ang="T17">
                <a:pos x="T10" y="T11"/>
              </a:cxn>
            </a:cxnLst>
            <a:rect l="T18" t="T19" r="T20" b="T21"/>
            <a:pathLst>
              <a:path w="1886" h="1177">
                <a:moveTo>
                  <a:pt x="0" y="1177"/>
                </a:moveTo>
                <a:cubicBezTo>
                  <a:pt x="88" y="1146"/>
                  <a:pt x="393" y="1044"/>
                  <a:pt x="526" y="994"/>
                </a:cubicBezTo>
                <a:cubicBezTo>
                  <a:pt x="659" y="944"/>
                  <a:pt x="671" y="934"/>
                  <a:pt x="797" y="876"/>
                </a:cubicBezTo>
                <a:cubicBezTo>
                  <a:pt x="923" y="818"/>
                  <a:pt x="1139" y="736"/>
                  <a:pt x="1283" y="646"/>
                </a:cubicBezTo>
                <a:cubicBezTo>
                  <a:pt x="1427" y="556"/>
                  <a:pt x="1561" y="442"/>
                  <a:pt x="1661" y="334"/>
                </a:cubicBezTo>
                <a:cubicBezTo>
                  <a:pt x="1761" y="226"/>
                  <a:pt x="1839" y="70"/>
                  <a:pt x="1886" y="0"/>
                </a:cubicBezTo>
              </a:path>
            </a:pathLst>
          </a:custGeom>
          <a:noFill/>
          <a:ln w="63500" cap="flat">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6" name="AutoShape 16"/>
          <p:cNvSpPr>
            <a:spLocks/>
          </p:cNvSpPr>
          <p:nvPr/>
        </p:nvSpPr>
        <p:spPr bwMode="blackWhite">
          <a:xfrm>
            <a:off x="6383485" y="5700442"/>
            <a:ext cx="1705377" cy="584775"/>
          </a:xfrm>
          <a:prstGeom prst="borderCallout2">
            <a:avLst>
              <a:gd name="adj1" fmla="val 33028"/>
              <a:gd name="adj2" fmla="val -2690"/>
              <a:gd name="adj3" fmla="val 33028"/>
              <a:gd name="adj4" fmla="val -15759"/>
              <a:gd name="adj5" fmla="val -169515"/>
              <a:gd name="adj6" fmla="val -49302"/>
            </a:avLst>
          </a:prstGeom>
          <a:solidFill>
            <a:srgbClr val="FFC000"/>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EV: Valor Ganado </a:t>
            </a:r>
          </a:p>
        </p:txBody>
      </p:sp>
      <p:sp>
        <p:nvSpPr>
          <p:cNvPr id="17" name="AutoShape 17"/>
          <p:cNvSpPr>
            <a:spLocks/>
          </p:cNvSpPr>
          <p:nvPr/>
        </p:nvSpPr>
        <p:spPr bwMode="blackWhite">
          <a:xfrm>
            <a:off x="6317856" y="4933934"/>
            <a:ext cx="1771006" cy="338554"/>
          </a:xfrm>
          <a:prstGeom prst="borderCallout2">
            <a:avLst>
              <a:gd name="adj1" fmla="val 33028"/>
              <a:gd name="adj2" fmla="val -3028"/>
              <a:gd name="adj3" fmla="val 33028"/>
              <a:gd name="adj4" fmla="val -17278"/>
              <a:gd name="adj5" fmla="val -194495"/>
              <a:gd name="adj6" fmla="val -46407"/>
            </a:avLst>
          </a:prstGeom>
          <a:solidFill>
            <a:srgbClr val="FFFF99"/>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AC: Costo Real </a:t>
            </a:r>
          </a:p>
        </p:txBody>
      </p:sp>
      <p:sp>
        <p:nvSpPr>
          <p:cNvPr id="18" name="Line 18"/>
          <p:cNvSpPr>
            <a:spLocks noChangeShapeType="1"/>
          </p:cNvSpPr>
          <p:nvPr/>
        </p:nvSpPr>
        <p:spPr bwMode="auto">
          <a:xfrm>
            <a:off x="6263881" y="3845517"/>
            <a:ext cx="0" cy="838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9" name="Line 19"/>
          <p:cNvSpPr>
            <a:spLocks noChangeShapeType="1"/>
          </p:cNvSpPr>
          <p:nvPr/>
        </p:nvSpPr>
        <p:spPr bwMode="auto">
          <a:xfrm>
            <a:off x="6721081" y="4226517"/>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0" name="Text Box 20"/>
          <p:cNvSpPr txBox="1">
            <a:spLocks noChangeArrowheads="1"/>
          </p:cNvSpPr>
          <p:nvPr/>
        </p:nvSpPr>
        <p:spPr bwMode="blackWhite">
          <a:xfrm>
            <a:off x="1996681" y="4531317"/>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a:solidFill>
                  <a:srgbClr val="000000"/>
                </a:solidFill>
                <a:latin typeface="Arial" charset="0"/>
              </a:rPr>
              <a:t>100</a:t>
            </a:r>
          </a:p>
        </p:txBody>
      </p:sp>
      <p:sp>
        <p:nvSpPr>
          <p:cNvPr id="21" name="Text Box 21"/>
          <p:cNvSpPr txBox="1">
            <a:spLocks noChangeArrowheads="1"/>
          </p:cNvSpPr>
          <p:nvPr/>
        </p:nvSpPr>
        <p:spPr bwMode="blackWhite">
          <a:xfrm>
            <a:off x="1996681" y="407411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150</a:t>
            </a:r>
          </a:p>
        </p:txBody>
      </p:sp>
      <p:sp>
        <p:nvSpPr>
          <p:cNvPr id="22" name="Text Box 22"/>
          <p:cNvSpPr txBox="1">
            <a:spLocks noChangeArrowheads="1"/>
          </p:cNvSpPr>
          <p:nvPr/>
        </p:nvSpPr>
        <p:spPr bwMode="blackWhite">
          <a:xfrm>
            <a:off x="1996681" y="369311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180</a:t>
            </a:r>
          </a:p>
        </p:txBody>
      </p:sp>
      <p:sp>
        <p:nvSpPr>
          <p:cNvPr id="25" name="Line 25"/>
          <p:cNvSpPr>
            <a:spLocks noChangeShapeType="1"/>
          </p:cNvSpPr>
          <p:nvPr/>
        </p:nvSpPr>
        <p:spPr bwMode="auto">
          <a:xfrm>
            <a:off x="2453881" y="6588717"/>
            <a:ext cx="4191000"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6" name="Line 26"/>
          <p:cNvSpPr>
            <a:spLocks noChangeShapeType="1"/>
          </p:cNvSpPr>
          <p:nvPr/>
        </p:nvSpPr>
        <p:spPr bwMode="auto">
          <a:xfrm>
            <a:off x="5501881" y="3861392"/>
            <a:ext cx="7620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7" name="Line 27"/>
          <p:cNvSpPr>
            <a:spLocks noChangeShapeType="1"/>
          </p:cNvSpPr>
          <p:nvPr/>
        </p:nvSpPr>
        <p:spPr bwMode="auto">
          <a:xfrm>
            <a:off x="5501881" y="4242392"/>
            <a:ext cx="12954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8" name="Line 28"/>
          <p:cNvSpPr>
            <a:spLocks noChangeShapeType="1"/>
          </p:cNvSpPr>
          <p:nvPr/>
        </p:nvSpPr>
        <p:spPr bwMode="auto">
          <a:xfrm>
            <a:off x="5501881" y="4699592"/>
            <a:ext cx="12954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9" name="Line 29"/>
          <p:cNvSpPr>
            <a:spLocks noChangeShapeType="1"/>
          </p:cNvSpPr>
          <p:nvPr/>
        </p:nvSpPr>
        <p:spPr bwMode="blackWhite">
          <a:xfrm flipH="1" flipV="1">
            <a:off x="2460231" y="385504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0" name="Line 30"/>
          <p:cNvSpPr>
            <a:spLocks noChangeShapeType="1"/>
          </p:cNvSpPr>
          <p:nvPr/>
        </p:nvSpPr>
        <p:spPr bwMode="blackWhite">
          <a:xfrm flipH="1" flipV="1">
            <a:off x="2460231" y="4240804"/>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1" name="Line 31"/>
          <p:cNvSpPr>
            <a:spLocks noChangeShapeType="1"/>
          </p:cNvSpPr>
          <p:nvPr/>
        </p:nvSpPr>
        <p:spPr bwMode="blackWhite">
          <a:xfrm flipH="1" flipV="1">
            <a:off x="2460231" y="469324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4" name="Rectángulo redondeado 33"/>
          <p:cNvSpPr/>
          <p:nvPr/>
        </p:nvSpPr>
        <p:spPr>
          <a:xfrm>
            <a:off x="6327359" y="3759793"/>
            <a:ext cx="3921196" cy="374649"/>
          </a:xfrm>
          <a:prstGeom prst="roundRect">
            <a:avLst/>
          </a:prstGeom>
          <a:solidFill>
            <a:srgbClr val="F4EE70">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35" name="Rectángulo redondeado 34"/>
          <p:cNvSpPr/>
          <p:nvPr/>
        </p:nvSpPr>
        <p:spPr>
          <a:xfrm>
            <a:off x="6829032" y="4232868"/>
            <a:ext cx="3419522" cy="374649"/>
          </a:xfrm>
          <a:prstGeom prst="roundRect">
            <a:avLst/>
          </a:prstGeom>
          <a:solidFill>
            <a:srgbClr val="F4EE70">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24" name="Título 1">
            <a:extLst>
              <a:ext uri="{FF2B5EF4-FFF2-40B4-BE49-F238E27FC236}">
                <a16:creationId xmlns:a16="http://schemas.microsoft.com/office/drawing/2014/main" id="{89F112F0-B6D6-61C5-1B43-484EFBBC911A}"/>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32" name="Imagen 31">
            <a:extLst>
              <a:ext uri="{FF2B5EF4-FFF2-40B4-BE49-F238E27FC236}">
                <a16:creationId xmlns:a16="http://schemas.microsoft.com/office/drawing/2014/main" id="{D1DD29B2-C040-910E-DA1B-416CD64CC3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1626661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4152458216"/>
              </p:ext>
            </p:extLst>
          </p:nvPr>
        </p:nvGraphicFramePr>
        <p:xfrm>
          <a:off x="1023629" y="1563123"/>
          <a:ext cx="8490423" cy="4397723"/>
        </p:xfrm>
        <a:graphic>
          <a:graphicData uri="http://schemas.openxmlformats.org/drawingml/2006/table">
            <a:tbl>
              <a:tblPr firstRow="1" bandRow="1">
                <a:tableStyleId>{5C22544A-7EE6-4342-B048-85BDC9FD1C3A}</a:tableStyleId>
              </a:tblPr>
              <a:tblGrid>
                <a:gridCol w="3337560">
                  <a:extLst>
                    <a:ext uri="{9D8B030D-6E8A-4147-A177-3AD203B41FA5}">
                      <a16:colId xmlns:a16="http://schemas.microsoft.com/office/drawing/2014/main" val="1989583322"/>
                    </a:ext>
                  </a:extLst>
                </a:gridCol>
                <a:gridCol w="5152863">
                  <a:extLst>
                    <a:ext uri="{9D8B030D-6E8A-4147-A177-3AD203B41FA5}">
                      <a16:colId xmlns:a16="http://schemas.microsoft.com/office/drawing/2014/main" val="3167967938"/>
                    </a:ext>
                  </a:extLst>
                </a:gridCol>
              </a:tblGrid>
              <a:tr h="523538">
                <a:tc gridSpan="2">
                  <a:txBody>
                    <a:bodyPr/>
                    <a:lstStyle/>
                    <a:p>
                      <a:pPr algn="ctr"/>
                      <a:r>
                        <a:rPr lang="es-PE" sz="2400" dirty="0"/>
                        <a:t>VARIACIONES</a:t>
                      </a:r>
                    </a:p>
                  </a:txBody>
                  <a:tcPr/>
                </a:tc>
                <a:tc hMerge="1">
                  <a:txBody>
                    <a:bodyPr/>
                    <a:lstStyle/>
                    <a:p>
                      <a:endParaRPr lang="es-PE" dirty="0"/>
                    </a:p>
                  </a:txBody>
                  <a:tcPr/>
                </a:tc>
                <a:extLst>
                  <a:ext uri="{0D108BD9-81ED-4DB2-BD59-A6C34878D82A}">
                    <a16:rowId xmlns:a16="http://schemas.microsoft.com/office/drawing/2014/main" val="1050570688"/>
                  </a:ext>
                </a:extLst>
              </a:tr>
              <a:tr h="732954">
                <a:tc>
                  <a:txBody>
                    <a:bodyPr/>
                    <a:lstStyle/>
                    <a:p>
                      <a:r>
                        <a:rPr lang="es-PE" b="1" dirty="0"/>
                        <a:t>VARIACIÓN DEL COSTO</a:t>
                      </a:r>
                      <a:r>
                        <a:rPr lang="es-PE" b="1" baseline="0" dirty="0"/>
                        <a:t> (CV)</a:t>
                      </a:r>
                    </a:p>
                    <a:p>
                      <a:r>
                        <a:rPr lang="es-PE" baseline="0" dirty="0"/>
                        <a:t>CV = EV- AC</a:t>
                      </a:r>
                      <a:endParaRPr lang="es-PE" dirty="0"/>
                    </a:p>
                  </a:txBody>
                  <a:tcPr/>
                </a:tc>
                <a:tc>
                  <a:txBody>
                    <a:bodyPr/>
                    <a:lstStyle/>
                    <a:p>
                      <a:r>
                        <a:rPr lang="es-PE" dirty="0"/>
                        <a:t>CV = $5000- $5500 = -$500</a:t>
                      </a:r>
                    </a:p>
                    <a:p>
                      <a:r>
                        <a:rPr lang="es-PE" b="1" dirty="0"/>
                        <a:t>Condición</a:t>
                      </a:r>
                      <a:r>
                        <a:rPr lang="es-PE" b="1" baseline="0" dirty="0"/>
                        <a:t> desfavorable</a:t>
                      </a:r>
                      <a:endParaRPr lang="es-PE" b="1" dirty="0"/>
                    </a:p>
                  </a:txBody>
                  <a:tcPr/>
                </a:tc>
                <a:extLst>
                  <a:ext uri="{0D108BD9-81ED-4DB2-BD59-A6C34878D82A}">
                    <a16:rowId xmlns:a16="http://schemas.microsoft.com/office/drawing/2014/main" val="2197075135"/>
                  </a:ext>
                </a:extLst>
              </a:tr>
              <a:tr h="1361200">
                <a:tc>
                  <a:txBody>
                    <a:bodyPr/>
                    <a:lstStyle/>
                    <a:p>
                      <a:r>
                        <a:rPr lang="es-PE" b="1" dirty="0"/>
                        <a:t>PORCENTAJE DE VARIACIÓN DEL COSTO (%CV)</a:t>
                      </a:r>
                    </a:p>
                    <a:p>
                      <a:r>
                        <a:rPr lang="es-PE" dirty="0"/>
                        <a:t>%CV = CV/EV</a:t>
                      </a:r>
                    </a:p>
                  </a:txBody>
                  <a:tcPr/>
                </a:tc>
                <a:tc>
                  <a:txBody>
                    <a:bodyPr/>
                    <a:lstStyle/>
                    <a:p>
                      <a:r>
                        <a:rPr lang="es-PE" dirty="0"/>
                        <a:t>Determina qué tan dentro o fuera del presupuesto se encuentra el proyecto.</a:t>
                      </a:r>
                    </a:p>
                    <a:p>
                      <a:r>
                        <a:rPr lang="es-PE" dirty="0"/>
                        <a:t>%CV = -$500/$5000 = -0.1</a:t>
                      </a:r>
                    </a:p>
                    <a:p>
                      <a:r>
                        <a:rPr lang="es-PE" b="1" dirty="0"/>
                        <a:t>Se encuentra fuera</a:t>
                      </a:r>
                      <a:r>
                        <a:rPr lang="es-PE" b="1" baseline="0" dirty="0"/>
                        <a:t> del presupuesto por 10%</a:t>
                      </a:r>
                      <a:endParaRPr lang="es-PE" b="1" dirty="0"/>
                    </a:p>
                  </a:txBody>
                  <a:tcPr/>
                </a:tc>
                <a:extLst>
                  <a:ext uri="{0D108BD9-81ED-4DB2-BD59-A6C34878D82A}">
                    <a16:rowId xmlns:a16="http://schemas.microsoft.com/office/drawing/2014/main" val="2224230806"/>
                  </a:ext>
                </a:extLst>
              </a:tr>
              <a:tr h="732954">
                <a:tc>
                  <a:txBody>
                    <a:bodyPr/>
                    <a:lstStyle/>
                    <a:p>
                      <a:r>
                        <a:rPr lang="es-PE" b="1" dirty="0"/>
                        <a:t>VARIACIÓN DEL TIEMPO</a:t>
                      </a:r>
                      <a:r>
                        <a:rPr lang="es-PE" b="1" baseline="0" dirty="0"/>
                        <a:t> (SV)</a:t>
                      </a:r>
                    </a:p>
                    <a:p>
                      <a:r>
                        <a:rPr lang="es-PE" baseline="0" dirty="0"/>
                        <a:t>SV = EV- PV</a:t>
                      </a:r>
                      <a:endParaRPr lang="es-PE" dirty="0"/>
                    </a:p>
                  </a:txBody>
                  <a:tcPr/>
                </a:tc>
                <a:tc>
                  <a:txBody>
                    <a:bodyPr/>
                    <a:lstStyle/>
                    <a:p>
                      <a:r>
                        <a:rPr lang="es-PE" dirty="0"/>
                        <a:t>SV = $5000- $6500 = -$1500</a:t>
                      </a:r>
                    </a:p>
                    <a:p>
                      <a:r>
                        <a:rPr lang="es-PE" b="1" dirty="0"/>
                        <a:t>Condición</a:t>
                      </a:r>
                      <a:r>
                        <a:rPr lang="es-PE" b="1" baseline="0" dirty="0"/>
                        <a:t> desfavorable</a:t>
                      </a:r>
                      <a:endParaRPr lang="es-PE" b="1" dirty="0"/>
                    </a:p>
                  </a:txBody>
                  <a:tcPr/>
                </a:tc>
                <a:extLst>
                  <a:ext uri="{0D108BD9-81ED-4DB2-BD59-A6C34878D82A}">
                    <a16:rowId xmlns:a16="http://schemas.microsoft.com/office/drawing/2014/main" val="3129237262"/>
                  </a:ext>
                </a:extLst>
              </a:tr>
              <a:tr h="1047077">
                <a:tc>
                  <a:txBody>
                    <a:bodyPr/>
                    <a:lstStyle/>
                    <a:p>
                      <a:r>
                        <a:rPr lang="es-PE" b="1" dirty="0"/>
                        <a:t>PORCENTAJE DE VARIACIÓN DEL CRONOGRAMA (%SV)</a:t>
                      </a:r>
                    </a:p>
                    <a:p>
                      <a:r>
                        <a:rPr lang="es-PE" dirty="0"/>
                        <a:t>%SV = SV/PV</a:t>
                      </a:r>
                    </a:p>
                  </a:txBody>
                  <a:tcPr/>
                </a:tc>
                <a:tc>
                  <a:txBody>
                    <a:bodyPr/>
                    <a:lstStyle/>
                    <a:p>
                      <a:r>
                        <a:rPr lang="es-PE" dirty="0"/>
                        <a:t>Determina el retraso o adelanto del proyecto.</a:t>
                      </a:r>
                    </a:p>
                    <a:p>
                      <a:r>
                        <a:rPr lang="es-PE" dirty="0"/>
                        <a:t>%SV = -$1500/$6500 = -0.23</a:t>
                      </a:r>
                    </a:p>
                    <a:p>
                      <a:r>
                        <a:rPr lang="es-PE" b="1" dirty="0"/>
                        <a:t>Se encuentra retrasado</a:t>
                      </a:r>
                      <a:r>
                        <a:rPr lang="es-PE" b="1" baseline="0" dirty="0"/>
                        <a:t> el proyecto en un 23%</a:t>
                      </a:r>
                      <a:endParaRPr lang="es-PE" b="1" dirty="0"/>
                    </a:p>
                  </a:txBody>
                  <a:tcPr/>
                </a:tc>
                <a:extLst>
                  <a:ext uri="{0D108BD9-81ED-4DB2-BD59-A6C34878D82A}">
                    <a16:rowId xmlns:a16="http://schemas.microsoft.com/office/drawing/2014/main" val="127414242"/>
                  </a:ext>
                </a:extLst>
              </a:tr>
            </a:tbl>
          </a:graphicData>
        </a:graphic>
      </p:graphicFrame>
      <p:sp>
        <p:nvSpPr>
          <p:cNvPr id="5" name="Título 1">
            <a:extLst>
              <a:ext uri="{FF2B5EF4-FFF2-40B4-BE49-F238E27FC236}">
                <a16:creationId xmlns:a16="http://schemas.microsoft.com/office/drawing/2014/main" id="{8237194A-AB00-FA7B-2158-114E5FA921B2}"/>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6" name="Imagen 5">
            <a:extLst>
              <a:ext uri="{FF2B5EF4-FFF2-40B4-BE49-F238E27FC236}">
                <a16:creationId xmlns:a16="http://schemas.microsoft.com/office/drawing/2014/main" id="{563160C9-DB09-0069-24DA-F7E9FC4B68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3950098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redondeado 31"/>
          <p:cNvSpPr/>
          <p:nvPr/>
        </p:nvSpPr>
        <p:spPr>
          <a:xfrm>
            <a:off x="240431" y="4764841"/>
            <a:ext cx="1919013" cy="1353197"/>
          </a:xfrm>
          <a:prstGeom prst="roundRect">
            <a:avLst/>
          </a:prstGeom>
          <a:solidFill>
            <a:srgbClr val="A9A57C">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33" name="Rectángulo redondeado 32"/>
          <p:cNvSpPr/>
          <p:nvPr/>
        </p:nvSpPr>
        <p:spPr>
          <a:xfrm>
            <a:off x="9959025" y="1648844"/>
            <a:ext cx="1651782" cy="1436749"/>
          </a:xfrm>
          <a:prstGeom prst="roundRect">
            <a:avLst/>
          </a:prstGeom>
          <a:solidFill>
            <a:srgbClr val="D2CB6C">
              <a:lumMod val="60000"/>
              <a:lumOff val="40000"/>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4" name="Text Box 4"/>
          <p:cNvSpPr txBox="1">
            <a:spLocks noChangeArrowheads="1"/>
          </p:cNvSpPr>
          <p:nvPr/>
        </p:nvSpPr>
        <p:spPr bwMode="blackWhite">
          <a:xfrm>
            <a:off x="6263881" y="3785192"/>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500" dirty="0">
                <a:solidFill>
                  <a:srgbClr val="000000"/>
                </a:solidFill>
                <a:latin typeface="Comic Sans MS" pitchFamily="66" charset="0"/>
              </a:rPr>
              <a:t>Variación del Cronograma</a:t>
            </a:r>
            <a:r>
              <a:rPr lang="es-MX" sz="1600" dirty="0">
                <a:solidFill>
                  <a:srgbClr val="000000"/>
                </a:solidFill>
                <a:latin typeface="Comic Sans MS" pitchFamily="66" charset="0"/>
              </a:rPr>
              <a:t>: SV= EV – PV</a:t>
            </a:r>
          </a:p>
        </p:txBody>
      </p:sp>
      <p:sp>
        <p:nvSpPr>
          <p:cNvPr id="5" name="Text Box 5"/>
          <p:cNvSpPr txBox="1">
            <a:spLocks noChangeArrowheads="1"/>
          </p:cNvSpPr>
          <p:nvPr/>
        </p:nvSpPr>
        <p:spPr bwMode="blackWhite">
          <a:xfrm>
            <a:off x="6797281" y="4270967"/>
            <a:ext cx="426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500" dirty="0">
                <a:solidFill>
                  <a:srgbClr val="000000"/>
                </a:solidFill>
                <a:latin typeface="Comic Sans MS" pitchFamily="66" charset="0"/>
              </a:rPr>
              <a:t>Variación del Costo</a:t>
            </a:r>
            <a:r>
              <a:rPr lang="es-MX" sz="1600" dirty="0">
                <a:solidFill>
                  <a:srgbClr val="000000"/>
                </a:solidFill>
                <a:latin typeface="Comic Sans MS" pitchFamily="66" charset="0"/>
              </a:rPr>
              <a:t>: CV= EV- AC</a:t>
            </a:r>
          </a:p>
        </p:txBody>
      </p:sp>
      <p:sp>
        <p:nvSpPr>
          <p:cNvPr id="6" name="AutoShape 6"/>
          <p:cNvSpPr>
            <a:spLocks/>
          </p:cNvSpPr>
          <p:nvPr/>
        </p:nvSpPr>
        <p:spPr bwMode="blackWhite">
          <a:xfrm>
            <a:off x="6327359" y="2290492"/>
            <a:ext cx="1637656" cy="584775"/>
          </a:xfrm>
          <a:prstGeom prst="borderCallout3">
            <a:avLst>
              <a:gd name="adj1" fmla="val 33028"/>
              <a:gd name="adj2" fmla="val -2676"/>
              <a:gd name="adj3" fmla="val 45056"/>
              <a:gd name="adj4" fmla="val 5"/>
              <a:gd name="adj5" fmla="val 45056"/>
              <a:gd name="adj6" fmla="val -93628"/>
              <a:gd name="adj7" fmla="val 262926"/>
              <a:gd name="adj8" fmla="val -51140"/>
            </a:avLst>
          </a:prstGeom>
          <a:solidFill>
            <a:srgbClr val="34E0F2"/>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PV: Valor Planeado </a:t>
            </a:r>
          </a:p>
        </p:txBody>
      </p:sp>
      <p:sp>
        <p:nvSpPr>
          <p:cNvPr id="7" name="Freeform 7"/>
          <p:cNvSpPr>
            <a:spLocks/>
          </p:cNvSpPr>
          <p:nvPr/>
        </p:nvSpPr>
        <p:spPr bwMode="blackWhite">
          <a:xfrm>
            <a:off x="2507858" y="3204167"/>
            <a:ext cx="5049838" cy="3327400"/>
          </a:xfrm>
          <a:custGeom>
            <a:avLst/>
            <a:gdLst>
              <a:gd name="T0" fmla="*/ 0 w 1920"/>
              <a:gd name="T1" fmla="*/ 2147483647 h 1880"/>
              <a:gd name="T2" fmla="*/ 2147483647 w 1920"/>
              <a:gd name="T3" fmla="*/ 2147483647 h 1880"/>
              <a:gd name="T4" fmla="*/ 2147483647 w 1920"/>
              <a:gd name="T5" fmla="*/ 2147483647 h 1880"/>
              <a:gd name="T6" fmla="*/ 2147483647 w 1920"/>
              <a:gd name="T7" fmla="*/ 2147483647 h 1880"/>
              <a:gd name="T8" fmla="*/ 0 60000 65536"/>
              <a:gd name="T9" fmla="*/ 0 60000 65536"/>
              <a:gd name="T10" fmla="*/ 0 60000 65536"/>
              <a:gd name="T11" fmla="*/ 0 60000 65536"/>
              <a:gd name="T12" fmla="*/ 0 w 1920"/>
              <a:gd name="T13" fmla="*/ 0 h 1880"/>
              <a:gd name="T14" fmla="*/ 1920 w 1920"/>
              <a:gd name="T15" fmla="*/ 1880 h 1880"/>
            </a:gdLst>
            <a:ahLst/>
            <a:cxnLst>
              <a:cxn ang="T8">
                <a:pos x="T0" y="T1"/>
              </a:cxn>
              <a:cxn ang="T9">
                <a:pos x="T2" y="T3"/>
              </a:cxn>
              <a:cxn ang="T10">
                <a:pos x="T4" y="T5"/>
              </a:cxn>
              <a:cxn ang="T11">
                <a:pos x="T6" y="T7"/>
              </a:cxn>
            </a:cxnLst>
            <a:rect l="T12" t="T13" r="T14" b="T15"/>
            <a:pathLst>
              <a:path w="1920" h="1880">
                <a:moveTo>
                  <a:pt x="0" y="1880"/>
                </a:moveTo>
                <a:cubicBezTo>
                  <a:pt x="236" y="1824"/>
                  <a:pt x="472" y="1768"/>
                  <a:pt x="672" y="1496"/>
                </a:cubicBezTo>
                <a:cubicBezTo>
                  <a:pt x="872" y="1224"/>
                  <a:pt x="992" y="496"/>
                  <a:pt x="1200" y="248"/>
                </a:cubicBezTo>
                <a:cubicBezTo>
                  <a:pt x="1408" y="0"/>
                  <a:pt x="1808" y="48"/>
                  <a:pt x="1920" y="8"/>
                </a:cubicBezTo>
              </a:path>
            </a:pathLst>
          </a:custGeom>
          <a:noFill/>
          <a:ln w="508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8" name="Freeform 8"/>
          <p:cNvSpPr>
            <a:spLocks/>
          </p:cNvSpPr>
          <p:nvPr/>
        </p:nvSpPr>
        <p:spPr bwMode="blackWhite">
          <a:xfrm>
            <a:off x="2534049" y="4074118"/>
            <a:ext cx="3101392" cy="2436018"/>
          </a:xfrm>
          <a:custGeom>
            <a:avLst/>
            <a:gdLst>
              <a:gd name="T0" fmla="*/ 0 w 1880"/>
              <a:gd name="T1" fmla="*/ 2147483647 h 1513"/>
              <a:gd name="T2" fmla="*/ 2147483647 w 1880"/>
              <a:gd name="T3" fmla="*/ 2147483647 h 1513"/>
              <a:gd name="T4" fmla="*/ 2147483647 w 1880"/>
              <a:gd name="T5" fmla="*/ 2147483647 h 1513"/>
              <a:gd name="T6" fmla="*/ 2147483647 w 1880"/>
              <a:gd name="T7" fmla="*/ 2147483647 h 1513"/>
              <a:gd name="T8" fmla="*/ 2147483647 w 1880"/>
              <a:gd name="T9" fmla="*/ 2147483647 h 1513"/>
              <a:gd name="T10" fmla="*/ 2147483647 w 1880"/>
              <a:gd name="T11" fmla="*/ 0 h 1513"/>
              <a:gd name="T12" fmla="*/ 0 60000 65536"/>
              <a:gd name="T13" fmla="*/ 0 60000 65536"/>
              <a:gd name="T14" fmla="*/ 0 60000 65536"/>
              <a:gd name="T15" fmla="*/ 0 60000 65536"/>
              <a:gd name="T16" fmla="*/ 0 60000 65536"/>
              <a:gd name="T17" fmla="*/ 0 60000 65536"/>
              <a:gd name="T18" fmla="*/ 0 w 1880"/>
              <a:gd name="T19" fmla="*/ 0 h 1513"/>
              <a:gd name="T20" fmla="*/ 1880 w 1880"/>
              <a:gd name="T21" fmla="*/ 1513 h 1513"/>
            </a:gdLst>
            <a:ahLst/>
            <a:cxnLst>
              <a:cxn ang="T12">
                <a:pos x="T0" y="T1"/>
              </a:cxn>
              <a:cxn ang="T13">
                <a:pos x="T2" y="T3"/>
              </a:cxn>
              <a:cxn ang="T14">
                <a:pos x="T4" y="T5"/>
              </a:cxn>
              <a:cxn ang="T15">
                <a:pos x="T6" y="T7"/>
              </a:cxn>
              <a:cxn ang="T16">
                <a:pos x="T8" y="T9"/>
              </a:cxn>
              <a:cxn ang="T17">
                <a:pos x="T10" y="T11"/>
              </a:cxn>
            </a:cxnLst>
            <a:rect l="T18" t="T19" r="T20" b="T21"/>
            <a:pathLst>
              <a:path w="1880" h="1513">
                <a:moveTo>
                  <a:pt x="0" y="1513"/>
                </a:moveTo>
                <a:cubicBezTo>
                  <a:pt x="135" y="1436"/>
                  <a:pt x="641" y="1147"/>
                  <a:pt x="808" y="1050"/>
                </a:cubicBezTo>
                <a:cubicBezTo>
                  <a:pt x="975" y="953"/>
                  <a:pt x="924" y="988"/>
                  <a:pt x="1005" y="933"/>
                </a:cubicBezTo>
                <a:cubicBezTo>
                  <a:pt x="1086" y="878"/>
                  <a:pt x="1193" y="812"/>
                  <a:pt x="1293" y="719"/>
                </a:cubicBezTo>
                <a:cubicBezTo>
                  <a:pt x="1393" y="626"/>
                  <a:pt x="1507" y="493"/>
                  <a:pt x="1605" y="373"/>
                </a:cubicBezTo>
                <a:cubicBezTo>
                  <a:pt x="1703" y="253"/>
                  <a:pt x="1823" y="78"/>
                  <a:pt x="1880" y="0"/>
                </a:cubicBezTo>
              </a:path>
            </a:pathLst>
          </a:custGeom>
          <a:noFill/>
          <a:ln w="63500" cap="flat">
            <a:solidFill>
              <a:srgbClr val="00B0F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9" name="Line 9"/>
          <p:cNvSpPr>
            <a:spLocks noChangeShapeType="1"/>
          </p:cNvSpPr>
          <p:nvPr/>
        </p:nvSpPr>
        <p:spPr bwMode="blackWhite">
          <a:xfrm flipV="1">
            <a:off x="2484044" y="2980329"/>
            <a:ext cx="0" cy="3568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0" name="Text Box 10"/>
          <p:cNvSpPr txBox="1">
            <a:spLocks noChangeArrowheads="1"/>
          </p:cNvSpPr>
          <p:nvPr/>
        </p:nvSpPr>
        <p:spPr bwMode="blackWhite">
          <a:xfrm>
            <a:off x="6658273" y="6377272"/>
            <a:ext cx="1087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2000" dirty="0">
                <a:solidFill>
                  <a:srgbClr val="000000"/>
                </a:solidFill>
                <a:latin typeface="Arial" charset="0"/>
              </a:rPr>
              <a:t>Tiempo</a:t>
            </a:r>
          </a:p>
        </p:txBody>
      </p:sp>
      <p:sp>
        <p:nvSpPr>
          <p:cNvPr id="11" name="Text Box 11"/>
          <p:cNvSpPr txBox="1">
            <a:spLocks noChangeArrowheads="1"/>
          </p:cNvSpPr>
          <p:nvPr/>
        </p:nvSpPr>
        <p:spPr bwMode="blackWhite">
          <a:xfrm>
            <a:off x="2071090" y="258141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800" dirty="0">
                <a:solidFill>
                  <a:srgbClr val="000000"/>
                </a:solidFill>
                <a:latin typeface="Arial" charset="0"/>
              </a:rPr>
              <a:t>$</a:t>
            </a:r>
          </a:p>
        </p:txBody>
      </p:sp>
      <p:sp>
        <p:nvSpPr>
          <p:cNvPr id="12" name="Line 12"/>
          <p:cNvSpPr>
            <a:spLocks noChangeShapeType="1"/>
          </p:cNvSpPr>
          <p:nvPr/>
        </p:nvSpPr>
        <p:spPr bwMode="blackWhite">
          <a:xfrm flipH="1" flipV="1">
            <a:off x="2484044" y="3235917"/>
            <a:ext cx="530225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3" name="Line 13"/>
          <p:cNvSpPr>
            <a:spLocks noChangeShapeType="1"/>
          </p:cNvSpPr>
          <p:nvPr/>
        </p:nvSpPr>
        <p:spPr bwMode="blackWhite">
          <a:xfrm flipV="1">
            <a:off x="5498706" y="1956392"/>
            <a:ext cx="3175" cy="45926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Rectangle 14"/>
          <p:cNvSpPr>
            <a:spLocks noChangeArrowheads="1"/>
          </p:cNvSpPr>
          <p:nvPr/>
        </p:nvSpPr>
        <p:spPr bwMode="auto">
          <a:xfrm>
            <a:off x="5235554" y="1770548"/>
            <a:ext cx="2056653" cy="323808"/>
          </a:xfrm>
          <a:prstGeom prst="rect">
            <a:avLst/>
          </a:prstGeom>
          <a:noFill/>
          <a:ln>
            <a:noFill/>
          </a:ln>
        </p:spPr>
        <p:txBody>
          <a:bodyPr wrap="none" lIns="92075" tIns="46038" rIns="92075" bIns="46038">
            <a:spAutoFit/>
          </a:bodyPr>
          <a:lstStyle/>
          <a:p>
            <a:pPr eaLnBrk="0" fontAlgn="base" hangingPunct="0">
              <a:spcBef>
                <a:spcPct val="0"/>
              </a:spcBef>
              <a:spcAft>
                <a:spcPct val="0"/>
              </a:spcAft>
              <a:defRPr/>
            </a:pPr>
            <a:r>
              <a:rPr lang="es-MX" sz="1500" b="1" kern="0" dirty="0">
                <a:solidFill>
                  <a:srgbClr val="000000"/>
                </a:solidFill>
                <a:latin typeface="Arial" charset="0"/>
              </a:rPr>
              <a:t>Hoy: Fecha de Corte</a:t>
            </a:r>
          </a:p>
        </p:txBody>
      </p:sp>
      <p:sp>
        <p:nvSpPr>
          <p:cNvPr id="15" name="Freeform 15"/>
          <p:cNvSpPr>
            <a:spLocks/>
          </p:cNvSpPr>
          <p:nvPr/>
        </p:nvSpPr>
        <p:spPr bwMode="blackWhite">
          <a:xfrm>
            <a:off x="2533466" y="4671773"/>
            <a:ext cx="2994025" cy="1868487"/>
          </a:xfrm>
          <a:custGeom>
            <a:avLst/>
            <a:gdLst>
              <a:gd name="T0" fmla="*/ 0 w 1886"/>
              <a:gd name="T1" fmla="*/ 2147483647 h 1177"/>
              <a:gd name="T2" fmla="*/ 2147483647 w 1886"/>
              <a:gd name="T3" fmla="*/ 2147483647 h 1177"/>
              <a:gd name="T4" fmla="*/ 2147483647 w 1886"/>
              <a:gd name="T5" fmla="*/ 2147483647 h 1177"/>
              <a:gd name="T6" fmla="*/ 2147483647 w 1886"/>
              <a:gd name="T7" fmla="*/ 2147483647 h 1177"/>
              <a:gd name="T8" fmla="*/ 2147483647 w 1886"/>
              <a:gd name="T9" fmla="*/ 2147483647 h 1177"/>
              <a:gd name="T10" fmla="*/ 2147483647 w 1886"/>
              <a:gd name="T11" fmla="*/ 0 h 1177"/>
              <a:gd name="T12" fmla="*/ 0 60000 65536"/>
              <a:gd name="T13" fmla="*/ 0 60000 65536"/>
              <a:gd name="T14" fmla="*/ 0 60000 65536"/>
              <a:gd name="T15" fmla="*/ 0 60000 65536"/>
              <a:gd name="T16" fmla="*/ 0 60000 65536"/>
              <a:gd name="T17" fmla="*/ 0 60000 65536"/>
              <a:gd name="T18" fmla="*/ 0 w 1886"/>
              <a:gd name="T19" fmla="*/ 0 h 1177"/>
              <a:gd name="T20" fmla="*/ 1886 w 1886"/>
              <a:gd name="T21" fmla="*/ 1177 h 1177"/>
            </a:gdLst>
            <a:ahLst/>
            <a:cxnLst>
              <a:cxn ang="T12">
                <a:pos x="T0" y="T1"/>
              </a:cxn>
              <a:cxn ang="T13">
                <a:pos x="T2" y="T3"/>
              </a:cxn>
              <a:cxn ang="T14">
                <a:pos x="T4" y="T5"/>
              </a:cxn>
              <a:cxn ang="T15">
                <a:pos x="T6" y="T7"/>
              </a:cxn>
              <a:cxn ang="T16">
                <a:pos x="T8" y="T9"/>
              </a:cxn>
              <a:cxn ang="T17">
                <a:pos x="T10" y="T11"/>
              </a:cxn>
            </a:cxnLst>
            <a:rect l="T18" t="T19" r="T20" b="T21"/>
            <a:pathLst>
              <a:path w="1886" h="1177">
                <a:moveTo>
                  <a:pt x="0" y="1177"/>
                </a:moveTo>
                <a:cubicBezTo>
                  <a:pt x="88" y="1146"/>
                  <a:pt x="393" y="1044"/>
                  <a:pt x="526" y="994"/>
                </a:cubicBezTo>
                <a:cubicBezTo>
                  <a:pt x="659" y="944"/>
                  <a:pt x="671" y="934"/>
                  <a:pt x="797" y="876"/>
                </a:cubicBezTo>
                <a:cubicBezTo>
                  <a:pt x="923" y="818"/>
                  <a:pt x="1139" y="736"/>
                  <a:pt x="1283" y="646"/>
                </a:cubicBezTo>
                <a:cubicBezTo>
                  <a:pt x="1427" y="556"/>
                  <a:pt x="1561" y="442"/>
                  <a:pt x="1661" y="334"/>
                </a:cubicBezTo>
                <a:cubicBezTo>
                  <a:pt x="1761" y="226"/>
                  <a:pt x="1839" y="70"/>
                  <a:pt x="1886" y="0"/>
                </a:cubicBezTo>
              </a:path>
            </a:pathLst>
          </a:custGeom>
          <a:noFill/>
          <a:ln w="63500" cap="flat">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6" name="AutoShape 16"/>
          <p:cNvSpPr>
            <a:spLocks/>
          </p:cNvSpPr>
          <p:nvPr/>
        </p:nvSpPr>
        <p:spPr bwMode="blackWhite">
          <a:xfrm>
            <a:off x="6383485" y="5700442"/>
            <a:ext cx="1705377" cy="584775"/>
          </a:xfrm>
          <a:prstGeom prst="borderCallout2">
            <a:avLst>
              <a:gd name="adj1" fmla="val 33028"/>
              <a:gd name="adj2" fmla="val -2690"/>
              <a:gd name="adj3" fmla="val 33028"/>
              <a:gd name="adj4" fmla="val -15759"/>
              <a:gd name="adj5" fmla="val -169515"/>
              <a:gd name="adj6" fmla="val -49302"/>
            </a:avLst>
          </a:prstGeom>
          <a:solidFill>
            <a:srgbClr val="FFC000"/>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EV: Valor Ganado </a:t>
            </a:r>
          </a:p>
        </p:txBody>
      </p:sp>
      <p:sp>
        <p:nvSpPr>
          <p:cNvPr id="17" name="AutoShape 17"/>
          <p:cNvSpPr>
            <a:spLocks/>
          </p:cNvSpPr>
          <p:nvPr/>
        </p:nvSpPr>
        <p:spPr bwMode="blackWhite">
          <a:xfrm>
            <a:off x="6317856" y="4933934"/>
            <a:ext cx="1771006" cy="338554"/>
          </a:xfrm>
          <a:prstGeom prst="borderCallout2">
            <a:avLst>
              <a:gd name="adj1" fmla="val 33028"/>
              <a:gd name="adj2" fmla="val -3028"/>
              <a:gd name="adj3" fmla="val 33028"/>
              <a:gd name="adj4" fmla="val -17278"/>
              <a:gd name="adj5" fmla="val -194495"/>
              <a:gd name="adj6" fmla="val -46407"/>
            </a:avLst>
          </a:prstGeom>
          <a:solidFill>
            <a:srgbClr val="FFFF99"/>
          </a:solidFill>
          <a:ln w="9525">
            <a:solidFill>
              <a:srgbClr val="000000"/>
            </a:solidFill>
            <a:miter lim="800000"/>
            <a:headEnd/>
            <a:tailEnd type="triangle" w="med" len="med"/>
          </a:ln>
          <a:effectLst/>
        </p:spPr>
        <p:txBody>
          <a:bodyPr wrap="square">
            <a:spAutoFit/>
          </a:bodyPr>
          <a:lstStyle/>
          <a:p>
            <a:pPr eaLnBrk="0" fontAlgn="base" hangingPunct="0">
              <a:spcBef>
                <a:spcPct val="0"/>
              </a:spcBef>
              <a:spcAft>
                <a:spcPct val="0"/>
              </a:spcAft>
              <a:defRPr/>
            </a:pPr>
            <a:r>
              <a:rPr lang="es-MX" sz="1600" b="1" kern="0" dirty="0">
                <a:solidFill>
                  <a:srgbClr val="000000"/>
                </a:solidFill>
                <a:latin typeface="Book Antiqua" pitchFamily="18" charset="0"/>
              </a:rPr>
              <a:t>AC: Costo Real </a:t>
            </a:r>
          </a:p>
        </p:txBody>
      </p:sp>
      <p:sp>
        <p:nvSpPr>
          <p:cNvPr id="18" name="Line 18"/>
          <p:cNvSpPr>
            <a:spLocks noChangeShapeType="1"/>
          </p:cNvSpPr>
          <p:nvPr/>
        </p:nvSpPr>
        <p:spPr bwMode="auto">
          <a:xfrm>
            <a:off x="6263881" y="3845517"/>
            <a:ext cx="0" cy="838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9" name="Line 19"/>
          <p:cNvSpPr>
            <a:spLocks noChangeShapeType="1"/>
          </p:cNvSpPr>
          <p:nvPr/>
        </p:nvSpPr>
        <p:spPr bwMode="auto">
          <a:xfrm>
            <a:off x="6721081" y="4226517"/>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0" name="Text Box 20"/>
          <p:cNvSpPr txBox="1">
            <a:spLocks noChangeArrowheads="1"/>
          </p:cNvSpPr>
          <p:nvPr/>
        </p:nvSpPr>
        <p:spPr bwMode="blackWhite">
          <a:xfrm>
            <a:off x="1996681" y="4531317"/>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a:solidFill>
                  <a:srgbClr val="000000"/>
                </a:solidFill>
                <a:latin typeface="Arial" charset="0"/>
              </a:rPr>
              <a:t>100</a:t>
            </a:r>
          </a:p>
        </p:txBody>
      </p:sp>
      <p:sp>
        <p:nvSpPr>
          <p:cNvPr id="21" name="Text Box 21"/>
          <p:cNvSpPr txBox="1">
            <a:spLocks noChangeArrowheads="1"/>
          </p:cNvSpPr>
          <p:nvPr/>
        </p:nvSpPr>
        <p:spPr bwMode="blackWhite">
          <a:xfrm>
            <a:off x="1996681" y="407411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150</a:t>
            </a:r>
          </a:p>
        </p:txBody>
      </p:sp>
      <p:sp>
        <p:nvSpPr>
          <p:cNvPr id="22" name="Text Box 22"/>
          <p:cNvSpPr txBox="1">
            <a:spLocks noChangeArrowheads="1"/>
          </p:cNvSpPr>
          <p:nvPr/>
        </p:nvSpPr>
        <p:spPr bwMode="blackWhite">
          <a:xfrm>
            <a:off x="1996681" y="3693117"/>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spcBef>
                <a:spcPct val="0"/>
              </a:spcBef>
              <a:spcAft>
                <a:spcPct val="0"/>
              </a:spcAft>
            </a:pPr>
            <a:r>
              <a:rPr lang="es-MX" sz="1600" dirty="0">
                <a:solidFill>
                  <a:srgbClr val="000000"/>
                </a:solidFill>
                <a:latin typeface="Arial" charset="0"/>
              </a:rPr>
              <a:t>180</a:t>
            </a:r>
          </a:p>
        </p:txBody>
      </p:sp>
      <p:sp>
        <p:nvSpPr>
          <p:cNvPr id="23" name="Text Box 23"/>
          <p:cNvSpPr txBox="1">
            <a:spLocks noChangeArrowheads="1"/>
          </p:cNvSpPr>
          <p:nvPr/>
        </p:nvSpPr>
        <p:spPr bwMode="blackWhite">
          <a:xfrm>
            <a:off x="251114" y="4933934"/>
            <a:ext cx="183532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algn="ctr" eaLnBrk="0" fontAlgn="base" hangingPunct="0">
              <a:spcBef>
                <a:spcPct val="0"/>
              </a:spcBef>
              <a:spcAft>
                <a:spcPct val="0"/>
              </a:spcAft>
            </a:pPr>
            <a:r>
              <a:rPr lang="es-MX" sz="1600" dirty="0" err="1">
                <a:solidFill>
                  <a:srgbClr val="000000"/>
                </a:solidFill>
                <a:latin typeface="Comic Sans MS" pitchFamily="66" charset="0"/>
              </a:rPr>
              <a:t>Cost</a:t>
            </a:r>
            <a:r>
              <a:rPr lang="es-MX" sz="1600" dirty="0">
                <a:solidFill>
                  <a:srgbClr val="000000"/>
                </a:solidFill>
                <a:latin typeface="Comic Sans MS" pitchFamily="66" charset="0"/>
              </a:rPr>
              <a:t> </a:t>
            </a:r>
            <a:r>
              <a:rPr lang="es-MX" sz="1600" dirty="0" err="1">
                <a:solidFill>
                  <a:srgbClr val="000000"/>
                </a:solidFill>
                <a:latin typeface="Comic Sans MS" pitchFamily="66" charset="0"/>
              </a:rPr>
              <a:t>Perfomance</a:t>
            </a:r>
            <a:r>
              <a:rPr lang="es-MX" sz="1600" dirty="0">
                <a:solidFill>
                  <a:srgbClr val="000000"/>
                </a:solidFill>
                <a:latin typeface="Comic Sans MS" pitchFamily="66" charset="0"/>
              </a:rPr>
              <a:t> </a:t>
            </a:r>
            <a:r>
              <a:rPr lang="es-MX" sz="1600" dirty="0" err="1">
                <a:solidFill>
                  <a:srgbClr val="000000"/>
                </a:solidFill>
                <a:latin typeface="Comic Sans MS" pitchFamily="66" charset="0"/>
              </a:rPr>
              <a:t>Index</a:t>
            </a:r>
            <a:endParaRPr lang="es-MX" sz="1600" dirty="0">
              <a:solidFill>
                <a:srgbClr val="000000"/>
              </a:solidFill>
              <a:latin typeface="Comic Sans MS" pitchFamily="66" charset="0"/>
            </a:endParaRPr>
          </a:p>
          <a:p>
            <a:pPr algn="ctr" eaLnBrk="0" fontAlgn="base" hangingPunct="0">
              <a:spcBef>
                <a:spcPct val="0"/>
              </a:spcBef>
              <a:spcAft>
                <a:spcPct val="0"/>
              </a:spcAft>
            </a:pPr>
            <a:endParaRPr lang="es-MX" sz="1600" dirty="0">
              <a:solidFill>
                <a:srgbClr val="000000"/>
              </a:solidFill>
              <a:latin typeface="Comic Sans MS" pitchFamily="66" charset="0"/>
            </a:endParaRPr>
          </a:p>
          <a:p>
            <a:pPr algn="ctr" eaLnBrk="0" fontAlgn="base" hangingPunct="0">
              <a:spcBef>
                <a:spcPct val="0"/>
              </a:spcBef>
              <a:spcAft>
                <a:spcPct val="0"/>
              </a:spcAft>
            </a:pPr>
            <a:r>
              <a:rPr lang="es-MX" sz="1600" dirty="0">
                <a:solidFill>
                  <a:srgbClr val="000000"/>
                </a:solidFill>
                <a:latin typeface="Comic Sans MS" pitchFamily="66" charset="0"/>
              </a:rPr>
              <a:t>CPI=EV/AC</a:t>
            </a:r>
          </a:p>
        </p:txBody>
      </p:sp>
      <p:sp>
        <p:nvSpPr>
          <p:cNvPr id="24" name="Text Box 24"/>
          <p:cNvSpPr txBox="1">
            <a:spLocks noChangeArrowheads="1"/>
          </p:cNvSpPr>
          <p:nvPr/>
        </p:nvSpPr>
        <p:spPr bwMode="blackWhite">
          <a:xfrm>
            <a:off x="10126380" y="1743907"/>
            <a:ext cx="131707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algn="ctr" eaLnBrk="0" fontAlgn="base" hangingPunct="0">
              <a:spcBef>
                <a:spcPct val="0"/>
              </a:spcBef>
              <a:spcAft>
                <a:spcPct val="0"/>
              </a:spcAft>
            </a:pPr>
            <a:r>
              <a:rPr lang="es-MX" sz="1600" dirty="0">
                <a:solidFill>
                  <a:srgbClr val="000000"/>
                </a:solidFill>
                <a:latin typeface="Comic Sans MS" pitchFamily="66" charset="0"/>
              </a:rPr>
              <a:t>Schedule </a:t>
            </a:r>
            <a:r>
              <a:rPr lang="es-MX" sz="1600" dirty="0" err="1">
                <a:solidFill>
                  <a:srgbClr val="000000"/>
                </a:solidFill>
                <a:latin typeface="Comic Sans MS" pitchFamily="66" charset="0"/>
              </a:rPr>
              <a:t>Perfomance</a:t>
            </a:r>
            <a:r>
              <a:rPr lang="es-MX" sz="1600" dirty="0">
                <a:solidFill>
                  <a:srgbClr val="000000"/>
                </a:solidFill>
                <a:latin typeface="Comic Sans MS" pitchFamily="66" charset="0"/>
              </a:rPr>
              <a:t> </a:t>
            </a:r>
            <a:r>
              <a:rPr lang="es-MX" sz="1600" dirty="0" err="1">
                <a:solidFill>
                  <a:srgbClr val="000000"/>
                </a:solidFill>
                <a:latin typeface="Comic Sans MS" pitchFamily="66" charset="0"/>
              </a:rPr>
              <a:t>Index</a:t>
            </a:r>
            <a:endParaRPr lang="es-MX" sz="1600" dirty="0">
              <a:solidFill>
                <a:srgbClr val="000000"/>
              </a:solidFill>
              <a:latin typeface="Comic Sans MS" pitchFamily="66" charset="0"/>
            </a:endParaRPr>
          </a:p>
          <a:p>
            <a:pPr algn="ctr" eaLnBrk="0" fontAlgn="base" hangingPunct="0">
              <a:spcBef>
                <a:spcPct val="0"/>
              </a:spcBef>
              <a:spcAft>
                <a:spcPct val="0"/>
              </a:spcAft>
            </a:pPr>
            <a:endParaRPr lang="es-MX" sz="1600" dirty="0">
              <a:solidFill>
                <a:srgbClr val="000000"/>
              </a:solidFill>
              <a:latin typeface="Comic Sans MS" pitchFamily="66" charset="0"/>
            </a:endParaRPr>
          </a:p>
          <a:p>
            <a:pPr algn="ctr" eaLnBrk="0" fontAlgn="base" hangingPunct="0">
              <a:spcBef>
                <a:spcPct val="0"/>
              </a:spcBef>
              <a:spcAft>
                <a:spcPct val="0"/>
              </a:spcAft>
            </a:pPr>
            <a:r>
              <a:rPr lang="es-MX" sz="1600" dirty="0">
                <a:solidFill>
                  <a:srgbClr val="000000"/>
                </a:solidFill>
                <a:latin typeface="Comic Sans MS" pitchFamily="66" charset="0"/>
              </a:rPr>
              <a:t>SPI=EV/PV</a:t>
            </a:r>
          </a:p>
        </p:txBody>
      </p:sp>
      <p:sp>
        <p:nvSpPr>
          <p:cNvPr id="25" name="Line 25"/>
          <p:cNvSpPr>
            <a:spLocks noChangeShapeType="1"/>
          </p:cNvSpPr>
          <p:nvPr/>
        </p:nvSpPr>
        <p:spPr bwMode="auto">
          <a:xfrm>
            <a:off x="2453881" y="6588717"/>
            <a:ext cx="4191000"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6" name="Line 26"/>
          <p:cNvSpPr>
            <a:spLocks noChangeShapeType="1"/>
          </p:cNvSpPr>
          <p:nvPr/>
        </p:nvSpPr>
        <p:spPr bwMode="auto">
          <a:xfrm>
            <a:off x="5501881" y="3861392"/>
            <a:ext cx="7620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7" name="Line 27"/>
          <p:cNvSpPr>
            <a:spLocks noChangeShapeType="1"/>
          </p:cNvSpPr>
          <p:nvPr/>
        </p:nvSpPr>
        <p:spPr bwMode="auto">
          <a:xfrm>
            <a:off x="5501881" y="4242392"/>
            <a:ext cx="12954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8" name="Line 28"/>
          <p:cNvSpPr>
            <a:spLocks noChangeShapeType="1"/>
          </p:cNvSpPr>
          <p:nvPr/>
        </p:nvSpPr>
        <p:spPr bwMode="auto">
          <a:xfrm>
            <a:off x="5501881" y="4699592"/>
            <a:ext cx="129540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9" name="Line 29"/>
          <p:cNvSpPr>
            <a:spLocks noChangeShapeType="1"/>
          </p:cNvSpPr>
          <p:nvPr/>
        </p:nvSpPr>
        <p:spPr bwMode="blackWhite">
          <a:xfrm flipH="1" flipV="1">
            <a:off x="2460231" y="385504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0" name="Line 30"/>
          <p:cNvSpPr>
            <a:spLocks noChangeShapeType="1"/>
          </p:cNvSpPr>
          <p:nvPr/>
        </p:nvSpPr>
        <p:spPr bwMode="blackWhite">
          <a:xfrm flipH="1" flipV="1">
            <a:off x="2460231" y="4240804"/>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1" name="Line 31"/>
          <p:cNvSpPr>
            <a:spLocks noChangeShapeType="1"/>
          </p:cNvSpPr>
          <p:nvPr/>
        </p:nvSpPr>
        <p:spPr bwMode="blackWhite">
          <a:xfrm flipH="1" flipV="1">
            <a:off x="2460231" y="4693242"/>
            <a:ext cx="3238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4" name="Rectángulo redondeado 33"/>
          <p:cNvSpPr/>
          <p:nvPr/>
        </p:nvSpPr>
        <p:spPr>
          <a:xfrm>
            <a:off x="6327359" y="3759793"/>
            <a:ext cx="3921196" cy="374649"/>
          </a:xfrm>
          <a:prstGeom prst="roundRect">
            <a:avLst/>
          </a:prstGeom>
          <a:solidFill>
            <a:srgbClr val="F4EE70">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35" name="Rectángulo redondeado 34"/>
          <p:cNvSpPr/>
          <p:nvPr/>
        </p:nvSpPr>
        <p:spPr>
          <a:xfrm>
            <a:off x="6829032" y="4232868"/>
            <a:ext cx="3419522" cy="374649"/>
          </a:xfrm>
          <a:prstGeom prst="roundRect">
            <a:avLst/>
          </a:prstGeom>
          <a:solidFill>
            <a:srgbClr val="F4EE70">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B21"/>
              </a:solidFill>
              <a:effectLst/>
              <a:uLnTx/>
              <a:uFillTx/>
              <a:latin typeface="Tw Cen MT" panose="020B0602020104020603"/>
              <a:ea typeface="+mn-ea"/>
              <a:cs typeface="+mn-cs"/>
            </a:endParaRPr>
          </a:p>
        </p:txBody>
      </p:sp>
      <p:sp>
        <p:nvSpPr>
          <p:cNvPr id="37" name="Título 1">
            <a:extLst>
              <a:ext uri="{FF2B5EF4-FFF2-40B4-BE49-F238E27FC236}">
                <a16:creationId xmlns:a16="http://schemas.microsoft.com/office/drawing/2014/main" id="{A8973C11-DFEC-1BDB-73CC-25F74B6E6226}"/>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39" name="Imagen 38">
            <a:extLst>
              <a:ext uri="{FF2B5EF4-FFF2-40B4-BE49-F238E27FC236}">
                <a16:creationId xmlns:a16="http://schemas.microsoft.com/office/drawing/2014/main" id="{07C18236-746B-56F3-3DF6-E1B67FD53CA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402948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23"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nvGraphicFramePr>
        <p:xfrm>
          <a:off x="735461" y="1839303"/>
          <a:ext cx="10715011" cy="3723938"/>
        </p:xfrm>
        <a:graphic>
          <a:graphicData uri="http://schemas.openxmlformats.org/drawingml/2006/table">
            <a:tbl>
              <a:tblPr firstRow="1" bandRow="1">
                <a:tableStyleId>{5C22544A-7EE6-4342-B048-85BDC9FD1C3A}</a:tableStyleId>
              </a:tblPr>
              <a:tblGrid>
                <a:gridCol w="1981066">
                  <a:extLst>
                    <a:ext uri="{9D8B030D-6E8A-4147-A177-3AD203B41FA5}">
                      <a16:colId xmlns:a16="http://schemas.microsoft.com/office/drawing/2014/main" val="1989583322"/>
                    </a:ext>
                  </a:extLst>
                </a:gridCol>
                <a:gridCol w="4687048">
                  <a:extLst>
                    <a:ext uri="{9D8B030D-6E8A-4147-A177-3AD203B41FA5}">
                      <a16:colId xmlns:a16="http://schemas.microsoft.com/office/drawing/2014/main" val="1005362614"/>
                    </a:ext>
                  </a:extLst>
                </a:gridCol>
                <a:gridCol w="4046897">
                  <a:extLst>
                    <a:ext uri="{9D8B030D-6E8A-4147-A177-3AD203B41FA5}">
                      <a16:colId xmlns:a16="http://schemas.microsoft.com/office/drawing/2014/main" val="3167967938"/>
                    </a:ext>
                  </a:extLst>
                </a:gridCol>
              </a:tblGrid>
              <a:tr h="523538">
                <a:tc gridSpan="3">
                  <a:txBody>
                    <a:bodyPr/>
                    <a:lstStyle/>
                    <a:p>
                      <a:pPr algn="ctr"/>
                      <a:r>
                        <a:rPr lang="es-PE" sz="2400" dirty="0"/>
                        <a:t>INDICADORES</a:t>
                      </a:r>
                    </a:p>
                  </a:txBody>
                  <a:tcPr/>
                </a:tc>
                <a:tc hMerge="1">
                  <a:txBody>
                    <a:bodyPr/>
                    <a:lstStyle/>
                    <a:p>
                      <a:endParaRPr lang="es-PE"/>
                    </a:p>
                  </a:txBody>
                  <a:tcPr/>
                </a:tc>
                <a:tc hMerge="1">
                  <a:txBody>
                    <a:bodyPr/>
                    <a:lstStyle/>
                    <a:p>
                      <a:endParaRPr lang="es-PE" dirty="0"/>
                    </a:p>
                  </a:txBody>
                  <a:tcPr/>
                </a:tc>
                <a:extLst>
                  <a:ext uri="{0D108BD9-81ED-4DB2-BD59-A6C34878D82A}">
                    <a16:rowId xmlns:a16="http://schemas.microsoft.com/office/drawing/2014/main" val="1050570688"/>
                  </a:ext>
                </a:extLst>
              </a:tr>
              <a:tr h="732954">
                <a:tc>
                  <a:txBody>
                    <a:bodyPr/>
                    <a:lstStyle/>
                    <a:p>
                      <a:r>
                        <a:rPr lang="es-PE" b="1" dirty="0"/>
                        <a:t>SPI</a:t>
                      </a:r>
                      <a:endParaRPr lang="es-PE" b="1" baseline="0" dirty="0"/>
                    </a:p>
                    <a:p>
                      <a:r>
                        <a:rPr lang="es-PE" baseline="0" dirty="0"/>
                        <a:t>SPI = EV/PV</a:t>
                      </a:r>
                      <a:endParaRPr lang="es-PE" dirty="0"/>
                    </a:p>
                  </a:txBody>
                  <a:tcPr/>
                </a:tc>
                <a:tc>
                  <a:txBody>
                    <a:bodyPr/>
                    <a:lstStyle/>
                    <a:p>
                      <a:r>
                        <a:rPr lang="es-PE" b="1" dirty="0"/>
                        <a:t>ÍNDICE DE DESEMPEÑO DEL CRONOGRAMA</a:t>
                      </a:r>
                    </a:p>
                    <a:p>
                      <a:r>
                        <a:rPr lang="es-PE" b="0" dirty="0"/>
                        <a:t>Una medida de eficiencia en función del cronograma</a:t>
                      </a:r>
                    </a:p>
                    <a:p>
                      <a:r>
                        <a:rPr lang="es-PE" b="0" dirty="0"/>
                        <a:t>Muestra que tan efectivas son las horas de trabajo del proyecto</a:t>
                      </a:r>
                    </a:p>
                  </a:txBody>
                  <a:tcPr/>
                </a:tc>
                <a:tc>
                  <a:txBody>
                    <a:bodyPr/>
                    <a:lstStyle/>
                    <a:p>
                      <a:r>
                        <a:rPr lang="es-PE" b="1" dirty="0"/>
                        <a:t>SPI = 1 EN</a:t>
                      </a:r>
                      <a:r>
                        <a:rPr lang="es-PE" b="1" baseline="0" dirty="0"/>
                        <a:t> PLAZO</a:t>
                      </a:r>
                    </a:p>
                    <a:p>
                      <a:endParaRPr lang="es-PE" b="1" baseline="0" dirty="0"/>
                    </a:p>
                    <a:p>
                      <a:r>
                        <a:rPr lang="es-PE" b="1" baseline="0" dirty="0"/>
                        <a:t>SPI &gt; 1 ADELANTADO</a:t>
                      </a:r>
                    </a:p>
                    <a:p>
                      <a:endParaRPr lang="es-PE" b="1" baseline="0" dirty="0"/>
                    </a:p>
                    <a:p>
                      <a:r>
                        <a:rPr lang="es-PE" b="1" baseline="0" dirty="0"/>
                        <a:t>SPI &lt; 1 RETRASADO</a:t>
                      </a:r>
                      <a:endParaRPr lang="es-PE" b="1" dirty="0"/>
                    </a:p>
                  </a:txBody>
                  <a:tcPr/>
                </a:tc>
                <a:extLst>
                  <a:ext uri="{0D108BD9-81ED-4DB2-BD59-A6C34878D82A}">
                    <a16:rowId xmlns:a16="http://schemas.microsoft.com/office/drawing/2014/main" val="2197075135"/>
                  </a:ext>
                </a:extLst>
              </a:tr>
              <a:tr h="1361200">
                <a:tc>
                  <a:txBody>
                    <a:bodyPr/>
                    <a:lstStyle/>
                    <a:p>
                      <a:r>
                        <a:rPr lang="es-PE" b="1" dirty="0"/>
                        <a:t>CPI</a:t>
                      </a:r>
                    </a:p>
                    <a:p>
                      <a:r>
                        <a:rPr lang="es-PE" dirty="0"/>
                        <a:t>CPI = EV/AC</a:t>
                      </a:r>
                    </a:p>
                  </a:txBody>
                  <a:tcPr/>
                </a:tc>
                <a:tc>
                  <a:txBody>
                    <a:bodyPr/>
                    <a:lstStyle/>
                    <a:p>
                      <a:r>
                        <a:rPr lang="es-PE" b="1" dirty="0"/>
                        <a:t>ÍNDICE DE DESEMPEÑO DEL COSTO</a:t>
                      </a:r>
                    </a:p>
                    <a:p>
                      <a:r>
                        <a:rPr lang="es-PE" b="0" dirty="0"/>
                        <a:t>Una medida de eficiencia en función de</a:t>
                      </a:r>
                      <a:r>
                        <a:rPr lang="es-PE" b="0" baseline="0" dirty="0"/>
                        <a:t> los costos</a:t>
                      </a:r>
                    </a:p>
                    <a:p>
                      <a:r>
                        <a:rPr lang="es-PE" b="0" dirty="0"/>
                        <a:t>Muestra cuánto dinero</a:t>
                      </a:r>
                      <a:r>
                        <a:rPr lang="es-PE" b="0" baseline="0" dirty="0"/>
                        <a:t> </a:t>
                      </a:r>
                      <a:r>
                        <a:rPr lang="es-PE" b="0" dirty="0"/>
                        <a:t>se obtiene por cada unidad</a:t>
                      </a:r>
                      <a:r>
                        <a:rPr lang="es-PE" b="0" baseline="0" dirty="0"/>
                        <a:t> de dinero invertido en el proyecto</a:t>
                      </a:r>
                      <a:endParaRPr lang="es-PE" b="0" dirty="0"/>
                    </a:p>
                    <a:p>
                      <a:endParaRPr lang="es-PE" b="1" dirty="0"/>
                    </a:p>
                  </a:txBody>
                  <a:tcPr/>
                </a:tc>
                <a:tc>
                  <a:txBody>
                    <a:bodyPr/>
                    <a:lstStyle/>
                    <a:p>
                      <a:r>
                        <a:rPr lang="es-PE" b="1" dirty="0"/>
                        <a:t>CPI = 1 SEGÚN</a:t>
                      </a:r>
                      <a:r>
                        <a:rPr lang="es-PE" b="1" baseline="0" dirty="0"/>
                        <a:t> EL PRESUPUESTO</a:t>
                      </a:r>
                    </a:p>
                    <a:p>
                      <a:endParaRPr lang="es-PE" b="1" baseline="0" dirty="0"/>
                    </a:p>
                    <a:p>
                      <a:r>
                        <a:rPr lang="es-PE" b="1" baseline="0" dirty="0"/>
                        <a:t>CPI &gt; 1 DEBAJO DEL PRESUPUESTO</a:t>
                      </a:r>
                    </a:p>
                    <a:p>
                      <a:endParaRPr lang="es-PE" b="1" baseline="0" dirty="0"/>
                    </a:p>
                    <a:p>
                      <a:r>
                        <a:rPr lang="es-PE" b="1" baseline="0" dirty="0"/>
                        <a:t>CPI &lt; 1 POR ENCIMA DEL PRESUPUESTO</a:t>
                      </a:r>
                      <a:endParaRPr lang="es-PE" b="1" dirty="0"/>
                    </a:p>
                  </a:txBody>
                  <a:tcPr/>
                </a:tc>
                <a:extLst>
                  <a:ext uri="{0D108BD9-81ED-4DB2-BD59-A6C34878D82A}">
                    <a16:rowId xmlns:a16="http://schemas.microsoft.com/office/drawing/2014/main" val="2224230806"/>
                  </a:ext>
                </a:extLst>
              </a:tr>
            </a:tbl>
          </a:graphicData>
        </a:graphic>
      </p:graphicFrame>
      <p:sp>
        <p:nvSpPr>
          <p:cNvPr id="5" name="Título 1">
            <a:extLst>
              <a:ext uri="{FF2B5EF4-FFF2-40B4-BE49-F238E27FC236}">
                <a16:creationId xmlns:a16="http://schemas.microsoft.com/office/drawing/2014/main" id="{EA8DE0BA-BB38-DABB-6B97-B73BCC6948D6}"/>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6" name="Imagen 5">
            <a:extLst>
              <a:ext uri="{FF2B5EF4-FFF2-40B4-BE49-F238E27FC236}">
                <a16:creationId xmlns:a16="http://schemas.microsoft.com/office/drawing/2014/main" id="{B00AC2B4-9E0F-4A1A-4031-D57A99515F8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1349492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nvGraphicFramePr>
        <p:xfrm>
          <a:off x="2004704" y="1702825"/>
          <a:ext cx="8490423" cy="3984491"/>
        </p:xfrm>
        <a:graphic>
          <a:graphicData uri="http://schemas.openxmlformats.org/drawingml/2006/table">
            <a:tbl>
              <a:tblPr firstRow="1" bandRow="1">
                <a:tableStyleId>{5C22544A-7EE6-4342-B048-85BDC9FD1C3A}</a:tableStyleId>
              </a:tblPr>
              <a:tblGrid>
                <a:gridCol w="3337560">
                  <a:extLst>
                    <a:ext uri="{9D8B030D-6E8A-4147-A177-3AD203B41FA5}">
                      <a16:colId xmlns:a16="http://schemas.microsoft.com/office/drawing/2014/main" val="1989583322"/>
                    </a:ext>
                  </a:extLst>
                </a:gridCol>
                <a:gridCol w="5152863">
                  <a:extLst>
                    <a:ext uri="{9D8B030D-6E8A-4147-A177-3AD203B41FA5}">
                      <a16:colId xmlns:a16="http://schemas.microsoft.com/office/drawing/2014/main" val="3167967938"/>
                    </a:ext>
                  </a:extLst>
                </a:gridCol>
              </a:tblGrid>
              <a:tr h="523538">
                <a:tc gridSpan="2">
                  <a:txBody>
                    <a:bodyPr/>
                    <a:lstStyle/>
                    <a:p>
                      <a:pPr algn="ctr"/>
                      <a:r>
                        <a:rPr lang="es-PE" sz="2400" dirty="0"/>
                        <a:t>EJEMPLO</a:t>
                      </a:r>
                    </a:p>
                  </a:txBody>
                  <a:tcPr/>
                </a:tc>
                <a:tc hMerge="1">
                  <a:txBody>
                    <a:bodyPr/>
                    <a:lstStyle/>
                    <a:p>
                      <a:endParaRPr lang="es-PE" dirty="0"/>
                    </a:p>
                  </a:txBody>
                  <a:tcPr/>
                </a:tc>
                <a:extLst>
                  <a:ext uri="{0D108BD9-81ED-4DB2-BD59-A6C34878D82A}">
                    <a16:rowId xmlns:a16="http://schemas.microsoft.com/office/drawing/2014/main" val="1050570688"/>
                  </a:ext>
                </a:extLst>
              </a:tr>
              <a:tr h="732954">
                <a:tc>
                  <a:txBody>
                    <a:bodyPr/>
                    <a:lstStyle/>
                    <a:p>
                      <a:r>
                        <a:rPr lang="es-PE" b="1" dirty="0"/>
                        <a:t>VARIACIÓN DEL COSTO</a:t>
                      </a:r>
                      <a:r>
                        <a:rPr lang="es-PE" b="1" baseline="0" dirty="0"/>
                        <a:t> (CV)</a:t>
                      </a:r>
                    </a:p>
                    <a:p>
                      <a:r>
                        <a:rPr lang="es-PE" baseline="0" dirty="0"/>
                        <a:t>CV = EV- AC</a:t>
                      </a:r>
                      <a:endParaRPr lang="es-PE" dirty="0"/>
                    </a:p>
                  </a:txBody>
                  <a:tcPr/>
                </a:tc>
                <a:tc>
                  <a:txBody>
                    <a:bodyPr/>
                    <a:lstStyle/>
                    <a:p>
                      <a:r>
                        <a:rPr lang="es-PE" dirty="0"/>
                        <a:t>CV = $5000- $5500 = -$500</a:t>
                      </a:r>
                    </a:p>
                    <a:p>
                      <a:r>
                        <a:rPr lang="es-PE" b="1" dirty="0"/>
                        <a:t>Condición</a:t>
                      </a:r>
                      <a:r>
                        <a:rPr lang="es-PE" b="1" baseline="0" dirty="0"/>
                        <a:t> desfavorable</a:t>
                      </a:r>
                      <a:endParaRPr lang="es-PE" b="1" dirty="0"/>
                    </a:p>
                  </a:txBody>
                  <a:tcPr/>
                </a:tc>
                <a:extLst>
                  <a:ext uri="{0D108BD9-81ED-4DB2-BD59-A6C34878D82A}">
                    <a16:rowId xmlns:a16="http://schemas.microsoft.com/office/drawing/2014/main" val="2197075135"/>
                  </a:ext>
                </a:extLst>
              </a:tr>
              <a:tr h="766522">
                <a:tc>
                  <a:txBody>
                    <a:bodyPr/>
                    <a:lstStyle/>
                    <a:p>
                      <a:r>
                        <a:rPr lang="es-PE" b="1" dirty="0"/>
                        <a:t>VARIACIÓN DEL TIEMPO</a:t>
                      </a:r>
                      <a:r>
                        <a:rPr lang="es-PE" b="1" baseline="0" dirty="0"/>
                        <a:t> (SV)</a:t>
                      </a:r>
                    </a:p>
                    <a:p>
                      <a:r>
                        <a:rPr lang="es-PE" baseline="0" dirty="0"/>
                        <a:t>SV = EV- PV</a:t>
                      </a:r>
                      <a:endParaRPr lang="es-PE" dirty="0"/>
                    </a:p>
                  </a:txBody>
                  <a:tcPr/>
                </a:tc>
                <a:tc>
                  <a:txBody>
                    <a:bodyPr/>
                    <a:lstStyle/>
                    <a:p>
                      <a:r>
                        <a:rPr lang="es-PE" dirty="0"/>
                        <a:t>SV = $5000- $6500 = -$1500</a:t>
                      </a:r>
                    </a:p>
                    <a:p>
                      <a:r>
                        <a:rPr lang="es-PE" b="1" dirty="0"/>
                        <a:t>Condición</a:t>
                      </a:r>
                      <a:r>
                        <a:rPr lang="es-PE" b="1" baseline="0" dirty="0"/>
                        <a:t> desfavorable</a:t>
                      </a:r>
                      <a:endParaRPr lang="es-PE" b="1" dirty="0"/>
                    </a:p>
                  </a:txBody>
                  <a:tcPr/>
                </a:tc>
                <a:extLst>
                  <a:ext uri="{0D108BD9-81ED-4DB2-BD59-A6C34878D82A}">
                    <a16:rowId xmlns:a16="http://schemas.microsoft.com/office/drawing/2014/main" val="2224230806"/>
                  </a:ext>
                </a:extLst>
              </a:tr>
              <a:tr h="732954">
                <a:tc>
                  <a:txBody>
                    <a:bodyPr/>
                    <a:lstStyle/>
                    <a:p>
                      <a:r>
                        <a:rPr lang="es-PE" b="1" baseline="0" dirty="0"/>
                        <a:t>ÍNDICE DE DESEMPEÑO DEL COSTO (CPI)</a:t>
                      </a:r>
                    </a:p>
                    <a:p>
                      <a:r>
                        <a:rPr lang="es-PE" baseline="0" dirty="0"/>
                        <a:t>CPI = EV/AC</a:t>
                      </a:r>
                      <a:endParaRPr lang="es-PE" dirty="0"/>
                    </a:p>
                  </a:txBody>
                  <a:tcPr/>
                </a:tc>
                <a:tc>
                  <a:txBody>
                    <a:bodyPr/>
                    <a:lstStyle/>
                    <a:p>
                      <a:r>
                        <a:rPr lang="es-PE" dirty="0"/>
                        <a:t>CPI= $5000</a:t>
                      </a:r>
                      <a:r>
                        <a:rPr lang="es-PE" baseline="0" dirty="0"/>
                        <a:t> / </a:t>
                      </a:r>
                      <a:r>
                        <a:rPr lang="es-PE" dirty="0"/>
                        <a:t>$5500 = 0.909</a:t>
                      </a:r>
                    </a:p>
                    <a:p>
                      <a:r>
                        <a:rPr lang="es-PE" b="1" dirty="0"/>
                        <a:t>El proyecto está por encima del presupuesto</a:t>
                      </a:r>
                    </a:p>
                  </a:txBody>
                  <a:tcPr/>
                </a:tc>
                <a:extLst>
                  <a:ext uri="{0D108BD9-81ED-4DB2-BD59-A6C34878D82A}">
                    <a16:rowId xmlns:a16="http://schemas.microsoft.com/office/drawing/2014/main" val="3129237262"/>
                  </a:ext>
                </a:extLst>
              </a:tr>
              <a:tr h="1047077">
                <a:tc>
                  <a:txBody>
                    <a:bodyPr/>
                    <a:lstStyle/>
                    <a:p>
                      <a:r>
                        <a:rPr lang="es-PE" b="1" baseline="0" dirty="0"/>
                        <a:t>ÍNDICE DE DESEMPEÑO DEL CRONOGRAMA (SPI)</a:t>
                      </a:r>
                    </a:p>
                    <a:p>
                      <a:r>
                        <a:rPr lang="es-PE" baseline="0" dirty="0"/>
                        <a:t>SPI = EV/PV</a:t>
                      </a:r>
                      <a:endParaRPr lang="es-PE" dirty="0"/>
                    </a:p>
                  </a:txBody>
                  <a:tcPr/>
                </a:tc>
                <a:tc>
                  <a:txBody>
                    <a:bodyPr/>
                    <a:lstStyle/>
                    <a:p>
                      <a:r>
                        <a:rPr lang="es-PE" dirty="0"/>
                        <a:t>SPI= $5000</a:t>
                      </a:r>
                      <a:r>
                        <a:rPr lang="es-PE" baseline="0" dirty="0"/>
                        <a:t> / </a:t>
                      </a:r>
                      <a:r>
                        <a:rPr lang="es-PE" dirty="0"/>
                        <a:t>$6500 = 0.769</a:t>
                      </a:r>
                    </a:p>
                    <a:p>
                      <a:r>
                        <a:rPr lang="es-PE" b="1" dirty="0"/>
                        <a:t>El proyecto está retrasado</a:t>
                      </a:r>
                    </a:p>
                  </a:txBody>
                  <a:tcPr/>
                </a:tc>
                <a:extLst>
                  <a:ext uri="{0D108BD9-81ED-4DB2-BD59-A6C34878D82A}">
                    <a16:rowId xmlns:a16="http://schemas.microsoft.com/office/drawing/2014/main" val="127414242"/>
                  </a:ext>
                </a:extLst>
              </a:tr>
            </a:tbl>
          </a:graphicData>
        </a:graphic>
      </p:graphicFrame>
      <p:sp>
        <p:nvSpPr>
          <p:cNvPr id="5" name="Título 1">
            <a:extLst>
              <a:ext uri="{FF2B5EF4-FFF2-40B4-BE49-F238E27FC236}">
                <a16:creationId xmlns:a16="http://schemas.microsoft.com/office/drawing/2014/main" id="{0490CDA5-9604-1EF7-3233-01F5B9FC857A}"/>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6" name="Imagen 5">
            <a:extLst>
              <a:ext uri="{FF2B5EF4-FFF2-40B4-BE49-F238E27FC236}">
                <a16:creationId xmlns:a16="http://schemas.microsoft.com/office/drawing/2014/main" id="{397717DA-C3D2-ED3F-450A-E73AAF14505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2105495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a:spLocks/>
          </p:cNvSpPr>
          <p:nvPr/>
        </p:nvSpPr>
        <p:spPr bwMode="blackWhite">
          <a:xfrm>
            <a:off x="6213332" y="3388920"/>
            <a:ext cx="3036888" cy="2784475"/>
          </a:xfrm>
          <a:custGeom>
            <a:avLst/>
            <a:gdLst>
              <a:gd name="T0" fmla="*/ 0 w 2147"/>
              <a:gd name="T1" fmla="*/ 2147483647 h 2016"/>
              <a:gd name="T2" fmla="*/ 2147483647 w 2147"/>
              <a:gd name="T3" fmla="*/ 2147483647 h 2016"/>
              <a:gd name="T4" fmla="*/ 2147483647 w 2147"/>
              <a:gd name="T5" fmla="*/ 2147483647 h 2016"/>
              <a:gd name="T6" fmla="*/ 2147483647 w 2147"/>
              <a:gd name="T7" fmla="*/ 2147483647 h 2016"/>
              <a:gd name="T8" fmla="*/ 2147483647 w 2147"/>
              <a:gd name="T9" fmla="*/ 2147483647 h 2016"/>
              <a:gd name="T10" fmla="*/ 2147483647 w 2147"/>
              <a:gd name="T11" fmla="*/ 0 h 2016"/>
              <a:gd name="T12" fmla="*/ 0 60000 65536"/>
              <a:gd name="T13" fmla="*/ 0 60000 65536"/>
              <a:gd name="T14" fmla="*/ 0 60000 65536"/>
              <a:gd name="T15" fmla="*/ 0 60000 65536"/>
              <a:gd name="T16" fmla="*/ 0 60000 65536"/>
              <a:gd name="T17" fmla="*/ 0 60000 65536"/>
              <a:gd name="T18" fmla="*/ 0 w 2147"/>
              <a:gd name="T19" fmla="*/ 0 h 2016"/>
              <a:gd name="T20" fmla="*/ 2147 w 2147"/>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2147" h="2016">
                <a:moveTo>
                  <a:pt x="0" y="2016"/>
                </a:moveTo>
                <a:cubicBezTo>
                  <a:pt x="144" y="1929"/>
                  <a:pt x="608" y="1678"/>
                  <a:pt x="863" y="1491"/>
                </a:cubicBezTo>
                <a:cubicBezTo>
                  <a:pt x="1118" y="1304"/>
                  <a:pt x="1372" y="1049"/>
                  <a:pt x="1530" y="892"/>
                </a:cubicBezTo>
                <a:cubicBezTo>
                  <a:pt x="1688" y="735"/>
                  <a:pt x="1722" y="674"/>
                  <a:pt x="1814" y="549"/>
                </a:cubicBezTo>
                <a:cubicBezTo>
                  <a:pt x="1906" y="424"/>
                  <a:pt x="2027" y="235"/>
                  <a:pt x="2082" y="144"/>
                </a:cubicBezTo>
                <a:cubicBezTo>
                  <a:pt x="2137" y="53"/>
                  <a:pt x="2133" y="30"/>
                  <a:pt x="2147" y="0"/>
                </a:cubicBezTo>
              </a:path>
            </a:pathLst>
          </a:custGeom>
          <a:noFill/>
          <a:ln w="38100">
            <a:solidFill>
              <a:srgbClr val="FF0000"/>
            </a:solidFill>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4" name="Freeform 7"/>
          <p:cNvSpPr>
            <a:spLocks/>
          </p:cNvSpPr>
          <p:nvPr/>
        </p:nvSpPr>
        <p:spPr bwMode="blackWhite">
          <a:xfrm>
            <a:off x="6148245" y="2931720"/>
            <a:ext cx="4487862" cy="3275012"/>
          </a:xfrm>
          <a:custGeom>
            <a:avLst/>
            <a:gdLst>
              <a:gd name="T0" fmla="*/ 0 w 3150"/>
              <a:gd name="T1" fmla="*/ 2147483647 h 2266"/>
              <a:gd name="T2" fmla="*/ 2147483647 w 3150"/>
              <a:gd name="T3" fmla="*/ 2147483647 h 2266"/>
              <a:gd name="T4" fmla="*/ 2147483647 w 3150"/>
              <a:gd name="T5" fmla="*/ 2147483647 h 2266"/>
              <a:gd name="T6" fmla="*/ 2147483647 w 3150"/>
              <a:gd name="T7" fmla="*/ 2147483647 h 2266"/>
              <a:gd name="T8" fmla="*/ 2147483647 w 3150"/>
              <a:gd name="T9" fmla="*/ 2147483647 h 2266"/>
              <a:gd name="T10" fmla="*/ 2147483647 w 3150"/>
              <a:gd name="T11" fmla="*/ 2147483647 h 2266"/>
              <a:gd name="T12" fmla="*/ 2147483647 w 3150"/>
              <a:gd name="T13" fmla="*/ 2147483647 h 2266"/>
              <a:gd name="T14" fmla="*/ 2147483647 w 3150"/>
              <a:gd name="T15" fmla="*/ 0 h 2266"/>
              <a:gd name="T16" fmla="*/ 0 60000 65536"/>
              <a:gd name="T17" fmla="*/ 0 60000 65536"/>
              <a:gd name="T18" fmla="*/ 0 60000 65536"/>
              <a:gd name="T19" fmla="*/ 0 60000 65536"/>
              <a:gd name="T20" fmla="*/ 0 60000 65536"/>
              <a:gd name="T21" fmla="*/ 0 60000 65536"/>
              <a:gd name="T22" fmla="*/ 0 60000 65536"/>
              <a:gd name="T23" fmla="*/ 0 60000 65536"/>
              <a:gd name="T24" fmla="*/ 0 w 3150"/>
              <a:gd name="T25" fmla="*/ 0 h 2266"/>
              <a:gd name="T26" fmla="*/ 3150 w 3150"/>
              <a:gd name="T27" fmla="*/ 2266 h 22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50" h="2266">
                <a:moveTo>
                  <a:pt x="0" y="2266"/>
                </a:moveTo>
                <a:cubicBezTo>
                  <a:pt x="78" y="2235"/>
                  <a:pt x="284" y="2166"/>
                  <a:pt x="473" y="2080"/>
                </a:cubicBezTo>
                <a:cubicBezTo>
                  <a:pt x="663" y="1994"/>
                  <a:pt x="936" y="1872"/>
                  <a:pt x="1140" y="1750"/>
                </a:cubicBezTo>
                <a:cubicBezTo>
                  <a:pt x="1344" y="1628"/>
                  <a:pt x="1523" y="1502"/>
                  <a:pt x="1697" y="1349"/>
                </a:cubicBezTo>
                <a:cubicBezTo>
                  <a:pt x="1872" y="1197"/>
                  <a:pt x="2047" y="995"/>
                  <a:pt x="2187" y="835"/>
                </a:cubicBezTo>
                <a:cubicBezTo>
                  <a:pt x="2327" y="675"/>
                  <a:pt x="2427" y="509"/>
                  <a:pt x="2540" y="387"/>
                </a:cubicBezTo>
                <a:cubicBezTo>
                  <a:pt x="2653" y="265"/>
                  <a:pt x="2765" y="168"/>
                  <a:pt x="2867" y="103"/>
                </a:cubicBezTo>
                <a:cubicBezTo>
                  <a:pt x="2969" y="38"/>
                  <a:pt x="3091" y="21"/>
                  <a:pt x="3150" y="0"/>
                </a:cubicBezTo>
              </a:path>
            </a:pathLst>
          </a:custGeom>
          <a:noFill/>
          <a:ln w="38100" cap="flat">
            <a:solidFill>
              <a:srgbClr val="000080"/>
            </a:solidFill>
            <a:prstDash val="solid"/>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5" name="Line 9"/>
          <p:cNvSpPr>
            <a:spLocks noChangeShapeType="1"/>
          </p:cNvSpPr>
          <p:nvPr/>
        </p:nvSpPr>
        <p:spPr bwMode="blackWhite">
          <a:xfrm flipH="1">
            <a:off x="6170470" y="2922195"/>
            <a:ext cx="4437062" cy="9525"/>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6" name="Line 10"/>
          <p:cNvSpPr>
            <a:spLocks noChangeShapeType="1"/>
          </p:cNvSpPr>
          <p:nvPr/>
        </p:nvSpPr>
        <p:spPr bwMode="blackWhite">
          <a:xfrm flipV="1">
            <a:off x="9250220" y="1350570"/>
            <a:ext cx="0" cy="4916487"/>
          </a:xfrm>
          <a:prstGeom prst="line">
            <a:avLst/>
          </a:prstGeom>
          <a:noFill/>
          <a:ln w="9525">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7" name="Freeform 11"/>
          <p:cNvSpPr>
            <a:spLocks/>
          </p:cNvSpPr>
          <p:nvPr/>
        </p:nvSpPr>
        <p:spPr bwMode="blackWhite">
          <a:xfrm>
            <a:off x="6181582" y="4898632"/>
            <a:ext cx="3068638" cy="1285875"/>
          </a:xfrm>
          <a:custGeom>
            <a:avLst/>
            <a:gdLst>
              <a:gd name="T0" fmla="*/ 0 w 2216"/>
              <a:gd name="T1" fmla="*/ 2147483647 h 899"/>
              <a:gd name="T2" fmla="*/ 2147483647 w 2216"/>
              <a:gd name="T3" fmla="*/ 2147483647 h 899"/>
              <a:gd name="T4" fmla="*/ 2147483647 w 2216"/>
              <a:gd name="T5" fmla="*/ 0 h 899"/>
              <a:gd name="T6" fmla="*/ 0 60000 65536"/>
              <a:gd name="T7" fmla="*/ 0 60000 65536"/>
              <a:gd name="T8" fmla="*/ 0 60000 65536"/>
              <a:gd name="T9" fmla="*/ 0 w 2216"/>
              <a:gd name="T10" fmla="*/ 0 h 899"/>
              <a:gd name="T11" fmla="*/ 2216 w 2216"/>
              <a:gd name="T12" fmla="*/ 899 h 899"/>
            </a:gdLst>
            <a:ahLst/>
            <a:cxnLst>
              <a:cxn ang="T6">
                <a:pos x="T0" y="T1"/>
              </a:cxn>
              <a:cxn ang="T7">
                <a:pos x="T2" y="T3"/>
              </a:cxn>
              <a:cxn ang="T8">
                <a:pos x="T4" y="T5"/>
              </a:cxn>
            </a:cxnLst>
            <a:rect l="T9" t="T10" r="T11" b="T12"/>
            <a:pathLst>
              <a:path w="2216" h="899">
                <a:moveTo>
                  <a:pt x="0" y="899"/>
                </a:moveTo>
                <a:cubicBezTo>
                  <a:pt x="209" y="852"/>
                  <a:pt x="884" y="769"/>
                  <a:pt x="1253" y="619"/>
                </a:cubicBezTo>
                <a:cubicBezTo>
                  <a:pt x="1622" y="469"/>
                  <a:pt x="2016" y="129"/>
                  <a:pt x="2216" y="0"/>
                </a:cubicBezTo>
              </a:path>
            </a:pathLst>
          </a:custGeom>
          <a:noFill/>
          <a:ln w="38100" cap="flat">
            <a:solidFill>
              <a:srgbClr val="003300"/>
            </a:solidFill>
            <a:prstDash val="solid"/>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 name="Text Box 12"/>
          <p:cNvSpPr txBox="1">
            <a:spLocks noChangeArrowheads="1"/>
          </p:cNvSpPr>
          <p:nvPr/>
        </p:nvSpPr>
        <p:spPr bwMode="blackWhite">
          <a:xfrm>
            <a:off x="5732320" y="4724007"/>
            <a:ext cx="4381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EV</a:t>
            </a:r>
          </a:p>
        </p:txBody>
      </p:sp>
      <p:sp>
        <p:nvSpPr>
          <p:cNvPr id="9" name="Text Box 13"/>
          <p:cNvSpPr txBox="1">
            <a:spLocks noChangeArrowheads="1"/>
          </p:cNvSpPr>
          <p:nvPr/>
        </p:nvSpPr>
        <p:spPr bwMode="blackWhite">
          <a:xfrm>
            <a:off x="5732320" y="4004870"/>
            <a:ext cx="4381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PV</a:t>
            </a:r>
          </a:p>
        </p:txBody>
      </p:sp>
      <p:sp>
        <p:nvSpPr>
          <p:cNvPr id="10" name="Text Box 14"/>
          <p:cNvSpPr txBox="1">
            <a:spLocks noChangeArrowheads="1"/>
          </p:cNvSpPr>
          <p:nvPr/>
        </p:nvSpPr>
        <p:spPr bwMode="blackWhite">
          <a:xfrm>
            <a:off x="5732320" y="3196832"/>
            <a:ext cx="4603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AC</a:t>
            </a:r>
          </a:p>
        </p:txBody>
      </p:sp>
      <p:sp>
        <p:nvSpPr>
          <p:cNvPr id="11" name="Line 15"/>
          <p:cNvSpPr>
            <a:spLocks noChangeShapeType="1"/>
          </p:cNvSpPr>
          <p:nvPr/>
        </p:nvSpPr>
        <p:spPr bwMode="auto">
          <a:xfrm flipV="1">
            <a:off x="6143482" y="6184507"/>
            <a:ext cx="5529263" cy="2381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2" name="Freeform 16"/>
          <p:cNvSpPr>
            <a:spLocks/>
          </p:cNvSpPr>
          <p:nvPr/>
        </p:nvSpPr>
        <p:spPr bwMode="auto">
          <a:xfrm>
            <a:off x="9250220" y="2922195"/>
            <a:ext cx="2192337" cy="1968500"/>
          </a:xfrm>
          <a:custGeom>
            <a:avLst/>
            <a:gdLst>
              <a:gd name="T0" fmla="*/ 0 w 1815"/>
              <a:gd name="T1" fmla="*/ 2147483647 h 1271"/>
              <a:gd name="T2" fmla="*/ 2147483647 w 1815"/>
              <a:gd name="T3" fmla="*/ 2147483647 h 1271"/>
              <a:gd name="T4" fmla="*/ 2147483647 w 1815"/>
              <a:gd name="T5" fmla="*/ 0 h 1271"/>
              <a:gd name="T6" fmla="*/ 0 60000 65536"/>
              <a:gd name="T7" fmla="*/ 0 60000 65536"/>
              <a:gd name="T8" fmla="*/ 0 60000 65536"/>
              <a:gd name="T9" fmla="*/ 0 w 1815"/>
              <a:gd name="T10" fmla="*/ 0 h 1271"/>
              <a:gd name="T11" fmla="*/ 1815 w 1815"/>
              <a:gd name="T12" fmla="*/ 1271 h 1271"/>
            </a:gdLst>
            <a:ahLst/>
            <a:cxnLst>
              <a:cxn ang="T6">
                <a:pos x="T0" y="T1"/>
              </a:cxn>
              <a:cxn ang="T7">
                <a:pos x="T2" y="T3"/>
              </a:cxn>
              <a:cxn ang="T8">
                <a:pos x="T4" y="T5"/>
              </a:cxn>
            </a:cxnLst>
            <a:rect l="T9" t="T10" r="T11" b="T12"/>
            <a:pathLst>
              <a:path w="1815" h="1271">
                <a:moveTo>
                  <a:pt x="0" y="1271"/>
                </a:moveTo>
                <a:cubicBezTo>
                  <a:pt x="175" y="1112"/>
                  <a:pt x="749" y="528"/>
                  <a:pt x="1051" y="316"/>
                </a:cubicBezTo>
                <a:cubicBezTo>
                  <a:pt x="1353" y="104"/>
                  <a:pt x="1656" y="66"/>
                  <a:pt x="1815" y="0"/>
                </a:cubicBezTo>
              </a:path>
            </a:pathLst>
          </a:custGeom>
          <a:noFill/>
          <a:ln w="12700" cap="flat" cmpd="sng">
            <a:solidFill>
              <a:srgbClr val="000000"/>
            </a:solidFill>
            <a:prstDash val="dash"/>
            <a:round/>
            <a:headEnd type="none" w="med" len="me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3" name="Freeform 17"/>
          <p:cNvSpPr>
            <a:spLocks/>
          </p:cNvSpPr>
          <p:nvPr/>
        </p:nvSpPr>
        <p:spPr bwMode="auto">
          <a:xfrm>
            <a:off x="9250220" y="1552182"/>
            <a:ext cx="2197100" cy="1836738"/>
          </a:xfrm>
          <a:custGeom>
            <a:avLst/>
            <a:gdLst>
              <a:gd name="T0" fmla="*/ 0 w 1815"/>
              <a:gd name="T1" fmla="*/ 2147483647 h 1271"/>
              <a:gd name="T2" fmla="*/ 2147483647 w 1815"/>
              <a:gd name="T3" fmla="*/ 2147483647 h 1271"/>
              <a:gd name="T4" fmla="*/ 2147483647 w 1815"/>
              <a:gd name="T5" fmla="*/ 2147483647 h 1271"/>
              <a:gd name="T6" fmla="*/ 2147483647 w 1815"/>
              <a:gd name="T7" fmla="*/ 0 h 1271"/>
              <a:gd name="T8" fmla="*/ 0 60000 65536"/>
              <a:gd name="T9" fmla="*/ 0 60000 65536"/>
              <a:gd name="T10" fmla="*/ 0 60000 65536"/>
              <a:gd name="T11" fmla="*/ 0 60000 65536"/>
              <a:gd name="T12" fmla="*/ 0 w 1815"/>
              <a:gd name="T13" fmla="*/ 0 h 1271"/>
              <a:gd name="T14" fmla="*/ 1815 w 1815"/>
              <a:gd name="T15" fmla="*/ 1271 h 1271"/>
            </a:gdLst>
            <a:ahLst/>
            <a:cxnLst>
              <a:cxn ang="T8">
                <a:pos x="T0" y="T1"/>
              </a:cxn>
              <a:cxn ang="T9">
                <a:pos x="T2" y="T3"/>
              </a:cxn>
              <a:cxn ang="T10">
                <a:pos x="T4" y="T5"/>
              </a:cxn>
              <a:cxn ang="T11">
                <a:pos x="T6" y="T7"/>
              </a:cxn>
            </a:cxnLst>
            <a:rect l="T12" t="T13" r="T14" b="T15"/>
            <a:pathLst>
              <a:path w="1815" h="1271">
                <a:moveTo>
                  <a:pt x="0" y="1271"/>
                </a:moveTo>
                <a:cubicBezTo>
                  <a:pt x="119" y="1122"/>
                  <a:pt x="484" y="578"/>
                  <a:pt x="715" y="378"/>
                </a:cubicBezTo>
                <a:cubicBezTo>
                  <a:pt x="946" y="178"/>
                  <a:pt x="1203" y="132"/>
                  <a:pt x="1386" y="69"/>
                </a:cubicBezTo>
                <a:cubicBezTo>
                  <a:pt x="1569" y="6"/>
                  <a:pt x="1726" y="14"/>
                  <a:pt x="1815" y="0"/>
                </a:cubicBezTo>
              </a:path>
            </a:pathLst>
          </a:custGeom>
          <a:noFill/>
          <a:ln w="12700" cap="flat" cmpd="sng">
            <a:solidFill>
              <a:srgbClr val="000000"/>
            </a:solidFill>
            <a:prstDash val="dash"/>
            <a:round/>
            <a:headEnd type="none" w="med" len="me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4" name="Line 18"/>
          <p:cNvSpPr>
            <a:spLocks noChangeShapeType="1"/>
          </p:cNvSpPr>
          <p:nvPr/>
        </p:nvSpPr>
        <p:spPr bwMode="blackWhite">
          <a:xfrm flipH="1">
            <a:off x="6148245" y="3374632"/>
            <a:ext cx="3101975" cy="793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5" name="Line 19"/>
          <p:cNvSpPr>
            <a:spLocks noChangeShapeType="1"/>
          </p:cNvSpPr>
          <p:nvPr/>
        </p:nvSpPr>
        <p:spPr bwMode="blackWhite">
          <a:xfrm flipH="1">
            <a:off x="6148245" y="4889107"/>
            <a:ext cx="3101975" cy="793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6" name="Line 20"/>
          <p:cNvSpPr>
            <a:spLocks noChangeShapeType="1"/>
          </p:cNvSpPr>
          <p:nvPr/>
        </p:nvSpPr>
        <p:spPr bwMode="blackWhite">
          <a:xfrm flipH="1">
            <a:off x="6148245" y="4168382"/>
            <a:ext cx="3101975"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7" name="Line 21"/>
          <p:cNvSpPr>
            <a:spLocks noChangeShapeType="1"/>
          </p:cNvSpPr>
          <p:nvPr/>
        </p:nvSpPr>
        <p:spPr bwMode="auto">
          <a:xfrm flipV="1">
            <a:off x="6148245" y="1285482"/>
            <a:ext cx="0" cy="504666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8" name="Text Box 22"/>
          <p:cNvSpPr txBox="1">
            <a:spLocks noChangeArrowheads="1"/>
          </p:cNvSpPr>
          <p:nvPr/>
        </p:nvSpPr>
        <p:spPr bwMode="blackWhite">
          <a:xfrm>
            <a:off x="10612295" y="2658670"/>
            <a:ext cx="56991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BAC</a:t>
            </a:r>
          </a:p>
        </p:txBody>
      </p:sp>
      <p:sp>
        <p:nvSpPr>
          <p:cNvPr id="19" name="Line 23"/>
          <p:cNvSpPr>
            <a:spLocks noChangeShapeType="1"/>
          </p:cNvSpPr>
          <p:nvPr/>
        </p:nvSpPr>
        <p:spPr bwMode="auto">
          <a:xfrm flipV="1">
            <a:off x="6407007" y="3382570"/>
            <a:ext cx="0" cy="1506537"/>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20" name="Text Box 24"/>
          <p:cNvSpPr txBox="1">
            <a:spLocks noChangeArrowheads="1"/>
          </p:cNvSpPr>
          <p:nvPr/>
        </p:nvSpPr>
        <p:spPr bwMode="blackWhite">
          <a:xfrm>
            <a:off x="6368907" y="3642920"/>
            <a:ext cx="4318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CV</a:t>
            </a:r>
          </a:p>
        </p:txBody>
      </p:sp>
      <p:sp>
        <p:nvSpPr>
          <p:cNvPr id="21" name="Line 25"/>
          <p:cNvSpPr>
            <a:spLocks noChangeShapeType="1"/>
          </p:cNvSpPr>
          <p:nvPr/>
        </p:nvSpPr>
        <p:spPr bwMode="auto">
          <a:xfrm flipV="1">
            <a:off x="6924532" y="4168382"/>
            <a:ext cx="0" cy="720725"/>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22" name="Text Box 26"/>
          <p:cNvSpPr txBox="1">
            <a:spLocks noChangeArrowheads="1"/>
          </p:cNvSpPr>
          <p:nvPr/>
        </p:nvSpPr>
        <p:spPr bwMode="blackWhite">
          <a:xfrm>
            <a:off x="6859445" y="4431907"/>
            <a:ext cx="422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SV</a:t>
            </a:r>
          </a:p>
        </p:txBody>
      </p:sp>
      <p:sp>
        <p:nvSpPr>
          <p:cNvPr id="23" name="Text Box 27"/>
          <p:cNvSpPr txBox="1">
            <a:spLocks noChangeArrowheads="1"/>
          </p:cNvSpPr>
          <p:nvPr/>
        </p:nvSpPr>
        <p:spPr bwMode="blackWhite">
          <a:xfrm>
            <a:off x="7126145" y="5211370"/>
            <a:ext cx="43180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AC</a:t>
            </a:r>
          </a:p>
        </p:txBody>
      </p:sp>
      <p:sp>
        <p:nvSpPr>
          <p:cNvPr id="24" name="Text Box 28"/>
          <p:cNvSpPr txBox="1">
            <a:spLocks noChangeArrowheads="1"/>
          </p:cNvSpPr>
          <p:nvPr/>
        </p:nvSpPr>
        <p:spPr bwMode="blackWhite">
          <a:xfrm>
            <a:off x="7636786" y="5471720"/>
            <a:ext cx="4058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PV</a:t>
            </a:r>
          </a:p>
        </p:txBody>
      </p:sp>
      <p:sp>
        <p:nvSpPr>
          <p:cNvPr id="25" name="Text Box 29"/>
          <p:cNvSpPr txBox="1">
            <a:spLocks noChangeArrowheads="1"/>
          </p:cNvSpPr>
          <p:nvPr/>
        </p:nvSpPr>
        <p:spPr bwMode="blackWhite">
          <a:xfrm>
            <a:off x="8299567" y="5543157"/>
            <a:ext cx="4058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EV</a:t>
            </a:r>
          </a:p>
        </p:txBody>
      </p:sp>
      <p:sp>
        <p:nvSpPr>
          <p:cNvPr id="26" name="Line 30"/>
          <p:cNvSpPr>
            <a:spLocks noChangeShapeType="1"/>
          </p:cNvSpPr>
          <p:nvPr/>
        </p:nvSpPr>
        <p:spPr bwMode="blackWhite">
          <a:xfrm flipH="1">
            <a:off x="6148245" y="1545832"/>
            <a:ext cx="5299075"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27" name="Line 31"/>
          <p:cNvSpPr>
            <a:spLocks noChangeShapeType="1"/>
          </p:cNvSpPr>
          <p:nvPr/>
        </p:nvSpPr>
        <p:spPr bwMode="auto">
          <a:xfrm flipV="1">
            <a:off x="6407007" y="1545832"/>
            <a:ext cx="0" cy="1376363"/>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28" name="Text Box 32"/>
          <p:cNvSpPr txBox="1">
            <a:spLocks noChangeArrowheads="1"/>
          </p:cNvSpPr>
          <p:nvPr/>
        </p:nvSpPr>
        <p:spPr bwMode="blackWhite">
          <a:xfrm>
            <a:off x="6408595" y="2071295"/>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VAC</a:t>
            </a:r>
          </a:p>
        </p:txBody>
      </p:sp>
      <p:sp>
        <p:nvSpPr>
          <p:cNvPr id="29" name="Line 33"/>
          <p:cNvSpPr>
            <a:spLocks noChangeShapeType="1"/>
          </p:cNvSpPr>
          <p:nvPr/>
        </p:nvSpPr>
        <p:spPr bwMode="auto">
          <a:xfrm flipV="1">
            <a:off x="7375382" y="1545832"/>
            <a:ext cx="0" cy="1836738"/>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30" name="Text Box 34"/>
          <p:cNvSpPr txBox="1">
            <a:spLocks noChangeArrowheads="1"/>
          </p:cNvSpPr>
          <p:nvPr/>
        </p:nvSpPr>
        <p:spPr bwMode="blackWhite">
          <a:xfrm>
            <a:off x="7311882" y="2071295"/>
            <a:ext cx="13179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ETC (Costos)</a:t>
            </a:r>
          </a:p>
        </p:txBody>
      </p:sp>
      <p:sp>
        <p:nvSpPr>
          <p:cNvPr id="31" name="Line 35"/>
          <p:cNvSpPr>
            <a:spLocks noChangeShapeType="1"/>
          </p:cNvSpPr>
          <p:nvPr/>
        </p:nvSpPr>
        <p:spPr bwMode="blackWhite">
          <a:xfrm flipV="1">
            <a:off x="11447320" y="1545832"/>
            <a:ext cx="0" cy="46545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32" name="Text Box 36"/>
          <p:cNvSpPr txBox="1">
            <a:spLocks noChangeArrowheads="1"/>
          </p:cNvSpPr>
          <p:nvPr/>
        </p:nvSpPr>
        <p:spPr bwMode="blackWhite">
          <a:xfrm>
            <a:off x="5642627" y="1414831"/>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EAC</a:t>
            </a:r>
          </a:p>
        </p:txBody>
      </p:sp>
      <p:sp>
        <p:nvSpPr>
          <p:cNvPr id="33" name="Text Box 37"/>
          <p:cNvSpPr txBox="1">
            <a:spLocks noChangeArrowheads="1"/>
          </p:cNvSpPr>
          <p:nvPr/>
        </p:nvSpPr>
        <p:spPr bwMode="blackWhite">
          <a:xfrm>
            <a:off x="5695807" y="2792020"/>
            <a:ext cx="569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BAC</a:t>
            </a:r>
          </a:p>
        </p:txBody>
      </p:sp>
      <p:sp>
        <p:nvSpPr>
          <p:cNvPr id="34" name="Text Box 38"/>
          <p:cNvSpPr txBox="1">
            <a:spLocks noChangeArrowheads="1"/>
          </p:cNvSpPr>
          <p:nvPr/>
        </p:nvSpPr>
        <p:spPr bwMode="blackWhite">
          <a:xfrm>
            <a:off x="10967895" y="1237857"/>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EAC</a:t>
            </a:r>
          </a:p>
        </p:txBody>
      </p:sp>
      <p:sp>
        <p:nvSpPr>
          <p:cNvPr id="35" name="Line 39"/>
          <p:cNvSpPr>
            <a:spLocks noChangeShapeType="1"/>
          </p:cNvSpPr>
          <p:nvPr/>
        </p:nvSpPr>
        <p:spPr bwMode="blackWhite">
          <a:xfrm flipV="1">
            <a:off x="10605945" y="2922195"/>
            <a:ext cx="25400" cy="32781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36" name="Line 33"/>
          <p:cNvSpPr>
            <a:spLocks noChangeShapeType="1"/>
          </p:cNvSpPr>
          <p:nvPr/>
        </p:nvSpPr>
        <p:spPr bwMode="auto">
          <a:xfrm rot="5400000" flipV="1">
            <a:off x="10346388" y="4923710"/>
            <a:ext cx="0" cy="2192337"/>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37" name="Text Box 34"/>
          <p:cNvSpPr txBox="1">
            <a:spLocks noChangeArrowheads="1"/>
          </p:cNvSpPr>
          <p:nvPr/>
        </p:nvSpPr>
        <p:spPr bwMode="blackWhite">
          <a:xfrm>
            <a:off x="9816685" y="5621170"/>
            <a:ext cx="13451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ETC (Tiempo)</a:t>
            </a:r>
          </a:p>
        </p:txBody>
      </p:sp>
      <p:graphicFrame>
        <p:nvGraphicFramePr>
          <p:cNvPr id="38" name="Group 56"/>
          <p:cNvGraphicFramePr>
            <a:graphicFrameLocks noGrp="1"/>
          </p:cNvGraphicFramePr>
          <p:nvPr>
            <p:extLst>
              <p:ext uri="{D42A27DB-BD31-4B8C-83A1-F6EECF244321}">
                <p14:modId xmlns:p14="http://schemas.microsoft.com/office/powerpoint/2010/main" val="2652219729"/>
              </p:ext>
            </p:extLst>
          </p:nvPr>
        </p:nvGraphicFramePr>
        <p:xfrm>
          <a:off x="292288" y="1433658"/>
          <a:ext cx="5354580" cy="4588453"/>
        </p:xfrm>
        <a:graphic>
          <a:graphicData uri="http://schemas.openxmlformats.org/drawingml/2006/table">
            <a:tbl>
              <a:tblPr/>
              <a:tblGrid>
                <a:gridCol w="5354580">
                  <a:extLst>
                    <a:ext uri="{9D8B030D-6E8A-4147-A177-3AD203B41FA5}">
                      <a16:colId xmlns:a16="http://schemas.microsoft.com/office/drawing/2014/main" val="20000"/>
                    </a:ext>
                  </a:extLst>
                </a:gridCol>
              </a:tblGrid>
              <a:tr h="4526251">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r>
                        <a:rPr kumimoji="0" lang="es-ES" sz="1200" b="1" i="0" u="none" strike="noStrike" cap="none" normalizeH="0" baseline="0" dirty="0">
                          <a:ln>
                            <a:noFill/>
                          </a:ln>
                          <a:solidFill>
                            <a:schemeClr val="accent6">
                              <a:lumMod val="50000"/>
                            </a:schemeClr>
                          </a:solidFill>
                          <a:effectLst/>
                          <a:latin typeface="Arial" pitchFamily="34" charset="0"/>
                        </a:rPr>
                        <a:t>Estimate At Completion</a:t>
                      </a:r>
                      <a:r>
                        <a:rPr kumimoji="0" lang="es-ES" sz="1200" b="0" i="0" u="none" strike="noStrike" cap="none" normalizeH="0" baseline="0" dirty="0">
                          <a:ln>
                            <a:noFill/>
                          </a:ln>
                          <a:solidFill>
                            <a:schemeClr val="accent6">
                              <a:lumMod val="50000"/>
                            </a:schemeClr>
                          </a:solidFill>
                          <a:effectLst/>
                          <a:latin typeface="Arial" pitchFamily="34" charset="0"/>
                        </a:rPr>
                        <a:t>: A la fecha, cuánto esperamos que sea finalmente el costo total del proyecto.</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1) Espera el mismo desempeño en el futuro, se basa en el mismo CPI acumulativo.</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EAC = AC+(BAC-EV)/CPI </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EAC = EV/CPI + BAC/CPI – EV/CPI</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dirty="0">
                          <a:ln>
                            <a:noFill/>
                          </a:ln>
                          <a:solidFill>
                            <a:schemeClr val="accent6">
                              <a:lumMod val="50000"/>
                            </a:schemeClr>
                          </a:solidFill>
                          <a:effectLst/>
                          <a:latin typeface="Arial" pitchFamily="34" charset="0"/>
                        </a:rPr>
                        <a:t>EAC = BAC/CPI</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200" b="1" i="0" u="none" strike="noStrike" cap="none" normalizeH="0" baseline="0" dirty="0">
                        <a:ln>
                          <a:noFill/>
                        </a:ln>
                        <a:solidFill>
                          <a:schemeClr val="accent6">
                            <a:lumMod val="50000"/>
                          </a:schemeClr>
                        </a:solidFill>
                        <a:effectLst/>
                        <a:latin typeface="Arial" pitchFamily="34" charset="0"/>
                      </a:endParaRP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200" b="1" i="0" u="none" strike="noStrike" cap="none" normalizeH="0" baseline="0" dirty="0">
                          <a:ln>
                            <a:noFill/>
                          </a:ln>
                          <a:solidFill>
                            <a:schemeClr val="accent6">
                              <a:lumMod val="50000"/>
                            </a:schemeClr>
                          </a:solidFill>
                          <a:effectLst/>
                          <a:latin typeface="Arial" pitchFamily="34" charset="0"/>
                        </a:rPr>
                        <a:t>2) Se acepta el avance actual y se espera que se cumplan los ratios de desempeño tal como fueron presupuestados. Aplica análisis de riesgos para asegurar lo anterior.</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200" b="1" i="0" u="none" strike="noStrike" cap="none" normalizeH="0" baseline="0" dirty="0">
                        <a:ln>
                          <a:noFill/>
                        </a:ln>
                        <a:solidFill>
                          <a:schemeClr val="accent6">
                            <a:lumMod val="50000"/>
                          </a:schemeClr>
                        </a:solidFill>
                        <a:effectLst/>
                        <a:latin typeface="Arial" pitchFamily="34" charset="0"/>
                      </a:endParaRP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dirty="0">
                          <a:ln>
                            <a:noFill/>
                          </a:ln>
                          <a:solidFill>
                            <a:schemeClr val="accent6">
                              <a:lumMod val="50000"/>
                            </a:schemeClr>
                          </a:solidFill>
                          <a:effectLst/>
                          <a:latin typeface="Arial" pitchFamily="34" charset="0"/>
                        </a:rPr>
                        <a:t>EAC = AC+(BAC-EV) </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endParaRPr kumimoji="0" lang="es-ES" sz="1200" b="1" i="0" u="none" strike="noStrike" cap="none" normalizeH="0" baseline="0" dirty="0">
                        <a:ln>
                          <a:noFill/>
                        </a:ln>
                        <a:solidFill>
                          <a:schemeClr val="accent6">
                            <a:lumMod val="50000"/>
                          </a:schemeClr>
                        </a:solidFill>
                        <a:effectLst/>
                        <a:latin typeface="Arial" pitchFamily="34" charset="0"/>
                      </a:endParaRP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r>
                        <a:rPr kumimoji="0" lang="es-ES" sz="1200" b="1" i="0" u="none" strike="noStrike" cap="none" normalizeH="0" baseline="0" dirty="0">
                          <a:ln>
                            <a:noFill/>
                          </a:ln>
                          <a:solidFill>
                            <a:schemeClr val="accent6">
                              <a:lumMod val="50000"/>
                            </a:schemeClr>
                          </a:solidFill>
                          <a:effectLst/>
                          <a:latin typeface="Arial" pitchFamily="34" charset="0"/>
                        </a:rPr>
                        <a:t>3) Proyecto con mucha influencia del tiempo y el costo. Aplican métodos de dar “pesos” a los avances.</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r>
                        <a:rPr kumimoji="0" lang="es-ES" sz="1400" b="1" i="0" u="none" strike="noStrike" cap="none" normalizeH="0" baseline="0" dirty="0">
                          <a:ln>
                            <a:noFill/>
                          </a:ln>
                          <a:solidFill>
                            <a:schemeClr val="accent6">
                              <a:lumMod val="50000"/>
                            </a:schemeClr>
                          </a:solidFill>
                          <a:effectLst/>
                          <a:latin typeface="Arial" pitchFamily="34" charset="0"/>
                        </a:rPr>
                        <a:t>EAC = AC + [(BAC – EV) / (CPI x SPI)] </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endParaRPr kumimoji="0" lang="es-ES" sz="1200" b="1" i="0" u="none" strike="noStrike" cap="none" normalizeH="0" baseline="0" dirty="0">
                        <a:ln>
                          <a:noFill/>
                        </a:ln>
                        <a:solidFill>
                          <a:schemeClr val="accent6">
                            <a:lumMod val="50000"/>
                          </a:schemeClr>
                        </a:solidFill>
                        <a:effectLst/>
                        <a:latin typeface="Arial" pitchFamily="34" charset="0"/>
                      </a:endParaRPr>
                    </a:p>
                  </a:txBody>
                  <a:tcPr marT="45723" marB="45723" horzOverflow="overflow">
                    <a:lnL w="28575"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cxnSp>
        <p:nvCxnSpPr>
          <p:cNvPr id="39" name="Conector recto 38"/>
          <p:cNvCxnSpPr/>
          <p:nvPr/>
        </p:nvCxnSpPr>
        <p:spPr>
          <a:xfrm flipV="1">
            <a:off x="3954581" y="2685446"/>
            <a:ext cx="267286" cy="286498"/>
          </a:xfrm>
          <a:prstGeom prst="line">
            <a:avLst/>
          </a:prstGeom>
          <a:noFill/>
          <a:ln w="25400" cap="flat" cmpd="sng" algn="ctr">
            <a:solidFill>
              <a:srgbClr val="00B0F0"/>
            </a:solidFill>
            <a:prstDash val="solid"/>
          </a:ln>
          <a:effectLst/>
        </p:spPr>
      </p:cxnSp>
      <p:cxnSp>
        <p:nvCxnSpPr>
          <p:cNvPr id="40" name="Conector recto 39"/>
          <p:cNvCxnSpPr/>
          <p:nvPr/>
        </p:nvCxnSpPr>
        <p:spPr>
          <a:xfrm flipV="1">
            <a:off x="2326547" y="2657922"/>
            <a:ext cx="267286" cy="286498"/>
          </a:xfrm>
          <a:prstGeom prst="line">
            <a:avLst/>
          </a:prstGeom>
          <a:noFill/>
          <a:ln w="25400" cap="flat" cmpd="sng" algn="ctr">
            <a:solidFill>
              <a:srgbClr val="00B0F0"/>
            </a:solidFill>
            <a:prstDash val="solid"/>
          </a:ln>
          <a:effectLst/>
        </p:spPr>
      </p:cxnSp>
      <p:sp>
        <p:nvSpPr>
          <p:cNvPr id="43" name="Título 1">
            <a:extLst>
              <a:ext uri="{FF2B5EF4-FFF2-40B4-BE49-F238E27FC236}">
                <a16:creationId xmlns:a16="http://schemas.microsoft.com/office/drawing/2014/main" id="{2A235B70-F81A-8856-9C69-80FF104B031A}"/>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spTree>
    <p:extLst>
      <p:ext uri="{BB962C8B-B14F-4D97-AF65-F5344CB8AC3E}">
        <p14:creationId xmlns:p14="http://schemas.microsoft.com/office/powerpoint/2010/main" val="439149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 name="Group 56"/>
          <p:cNvGraphicFramePr>
            <a:graphicFrameLocks noGrp="1"/>
          </p:cNvGraphicFramePr>
          <p:nvPr/>
        </p:nvGraphicFramePr>
        <p:xfrm>
          <a:off x="467963" y="2234749"/>
          <a:ext cx="4336050" cy="1735525"/>
        </p:xfrm>
        <a:graphic>
          <a:graphicData uri="http://schemas.openxmlformats.org/drawingml/2006/table">
            <a:tbl>
              <a:tblPr/>
              <a:tblGrid>
                <a:gridCol w="4336050">
                  <a:extLst>
                    <a:ext uri="{9D8B030D-6E8A-4147-A177-3AD203B41FA5}">
                      <a16:colId xmlns:a16="http://schemas.microsoft.com/office/drawing/2014/main" val="20000"/>
                    </a:ext>
                  </a:extLst>
                </a:gridCol>
              </a:tblGrid>
              <a:tr h="126206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dirty="0">
                          <a:ln>
                            <a:noFill/>
                          </a:ln>
                          <a:solidFill>
                            <a:schemeClr val="accent6">
                              <a:lumMod val="50000"/>
                            </a:schemeClr>
                          </a:solidFill>
                          <a:effectLst/>
                          <a:latin typeface="Arial" pitchFamily="34" charset="0"/>
                        </a:rPr>
                        <a:t>Estimate To Complete:</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accent6">
                              <a:lumMod val="50000"/>
                            </a:schemeClr>
                          </a:solidFill>
                          <a:effectLst/>
                          <a:latin typeface="Arial" pitchFamily="34" charset="0"/>
                        </a:rPr>
                        <a:t>A la fecha, cuanto más se espera que pueda costar el trabajo que falta por ejecutar.</a:t>
                      </a: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400" b="0" i="0" u="none" strike="noStrike" cap="none" normalizeH="0" baseline="0" dirty="0">
                        <a:ln>
                          <a:noFill/>
                        </a:ln>
                        <a:solidFill>
                          <a:schemeClr val="accent6">
                            <a:lumMod val="50000"/>
                          </a:schemeClr>
                        </a:solidFill>
                        <a:effectLst/>
                        <a:latin typeface="Arial" pitchFamily="34" charset="0"/>
                      </a:endParaRP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r>
                        <a:rPr kumimoji="0" lang="es-ES" sz="1400" b="1" i="0" u="none" strike="noStrike" cap="none" normalizeH="0" baseline="0" dirty="0">
                          <a:ln>
                            <a:noFill/>
                          </a:ln>
                          <a:solidFill>
                            <a:schemeClr val="accent6">
                              <a:lumMod val="50000"/>
                            </a:schemeClr>
                          </a:solidFill>
                          <a:effectLst/>
                          <a:latin typeface="Arial" pitchFamily="34" charset="0"/>
                        </a:rPr>
                        <a:t>ETC = EAC – AC</a:t>
                      </a:r>
                      <a:endParaRPr kumimoji="0" lang="es-ES" sz="1400" b="0" i="0" u="none" strike="noStrike" cap="none" normalizeH="0" baseline="0" dirty="0">
                        <a:ln>
                          <a:noFill/>
                        </a:ln>
                        <a:solidFill>
                          <a:schemeClr val="accent6">
                            <a:lumMod val="50000"/>
                          </a:schemeClr>
                        </a:solidFill>
                        <a:effectLst/>
                        <a:latin typeface="Arial" pitchFamily="34" charset="0"/>
                      </a:endParaRP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200" b="0" i="0" u="none" strike="noStrike" cap="none" normalizeH="0" baseline="0" dirty="0">
                        <a:ln>
                          <a:noFill/>
                        </a:ln>
                        <a:solidFill>
                          <a:schemeClr val="accent6">
                            <a:lumMod val="50000"/>
                          </a:schemeClr>
                        </a:solidFill>
                        <a:effectLst/>
                        <a:latin typeface="Arial" pitchFamily="34" charset="0"/>
                      </a:endParaRPr>
                    </a:p>
                  </a:txBody>
                  <a:tcPr marT="45723" marB="45723" horzOverflow="overflow">
                    <a:lnL w="28575"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34E0F2"/>
                    </a:solidFill>
                  </a:tcPr>
                </a:tc>
                <a:extLst>
                  <a:ext uri="{0D108BD9-81ED-4DB2-BD59-A6C34878D82A}">
                    <a16:rowId xmlns:a16="http://schemas.microsoft.com/office/drawing/2014/main" val="10000"/>
                  </a:ext>
                </a:extLst>
              </a:tr>
            </a:tbl>
          </a:graphicData>
        </a:graphic>
      </p:graphicFrame>
      <p:graphicFrame>
        <p:nvGraphicFramePr>
          <p:cNvPr id="81" name="Group 56"/>
          <p:cNvGraphicFramePr>
            <a:graphicFrameLocks noGrp="1"/>
          </p:cNvGraphicFramePr>
          <p:nvPr/>
        </p:nvGraphicFramePr>
        <p:xfrm>
          <a:off x="477993" y="4574944"/>
          <a:ext cx="4327994" cy="1735525"/>
        </p:xfrm>
        <a:graphic>
          <a:graphicData uri="http://schemas.openxmlformats.org/drawingml/2006/table">
            <a:tbl>
              <a:tblPr/>
              <a:tblGrid>
                <a:gridCol w="4327994">
                  <a:extLst>
                    <a:ext uri="{9D8B030D-6E8A-4147-A177-3AD203B41FA5}">
                      <a16:colId xmlns:a16="http://schemas.microsoft.com/office/drawing/2014/main" val="20000"/>
                    </a:ext>
                  </a:extLst>
                </a:gridCol>
              </a:tblGrid>
              <a:tr h="104298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dirty="0">
                          <a:ln>
                            <a:noFill/>
                          </a:ln>
                          <a:solidFill>
                            <a:schemeClr val="accent6">
                              <a:lumMod val="50000"/>
                            </a:schemeClr>
                          </a:solidFill>
                          <a:effectLst/>
                          <a:latin typeface="Arial" pitchFamily="34" charset="0"/>
                        </a:rPr>
                        <a:t>Variance At Completion:</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accent6">
                              <a:lumMod val="50000"/>
                            </a:schemeClr>
                          </a:solidFill>
                          <a:effectLst/>
                          <a:latin typeface="Arial" pitchFamily="34" charset="0"/>
                        </a:rPr>
                        <a:t>Indica cuanto será la variación final que sufrirá el presupuesto del proyecto.</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400" b="0" i="0" u="none" strike="noStrike" cap="none" normalizeH="0" baseline="0" dirty="0">
                        <a:ln>
                          <a:noFill/>
                        </a:ln>
                        <a:solidFill>
                          <a:schemeClr val="accent6">
                            <a:lumMod val="50000"/>
                          </a:schemeClr>
                        </a:solidFill>
                        <a:effectLst/>
                        <a:latin typeface="Arial" pitchFamily="34" charset="0"/>
                      </a:endParaRPr>
                    </a:p>
                    <a:p>
                      <a:pPr marL="0" marR="0" lvl="0" indent="0" algn="ctr" defTabSz="914400" rtl="0" eaLnBrk="0" fontAlgn="base" latinLnBrk="0" hangingPunct="0">
                        <a:lnSpc>
                          <a:spcPct val="120000"/>
                        </a:lnSpc>
                        <a:spcBef>
                          <a:spcPct val="20000"/>
                        </a:spcBef>
                        <a:spcAft>
                          <a:spcPct val="0"/>
                        </a:spcAft>
                        <a:buClr>
                          <a:schemeClr val="tx1"/>
                        </a:buClr>
                        <a:buSzPct val="70000"/>
                        <a:buFont typeface="Wingdings" pitchFamily="2" charset="2"/>
                        <a:buNone/>
                        <a:tabLst/>
                        <a:defRPr/>
                      </a:pPr>
                      <a:r>
                        <a:rPr kumimoji="0" lang="es-ES" sz="1400" b="1" i="0" u="none" strike="noStrike" cap="none" normalizeH="0" baseline="0" dirty="0">
                          <a:ln>
                            <a:noFill/>
                          </a:ln>
                          <a:solidFill>
                            <a:schemeClr val="accent6">
                              <a:lumMod val="50000"/>
                            </a:schemeClr>
                          </a:solidFill>
                          <a:effectLst/>
                          <a:latin typeface="Arial" pitchFamily="34" charset="0"/>
                        </a:rPr>
                        <a:t>VAC = BAC – EAC</a:t>
                      </a:r>
                    </a:p>
                    <a:p>
                      <a:pPr marL="0" marR="0" lvl="0" indent="0" algn="l" defTabSz="914400" rtl="0" eaLnBrk="0" fontAlgn="base" latinLnBrk="0" hangingPunct="0">
                        <a:lnSpc>
                          <a:spcPct val="120000"/>
                        </a:lnSpc>
                        <a:spcBef>
                          <a:spcPct val="20000"/>
                        </a:spcBef>
                        <a:spcAft>
                          <a:spcPct val="0"/>
                        </a:spcAft>
                        <a:buClr>
                          <a:schemeClr val="tx1"/>
                        </a:buClr>
                        <a:buSzPct val="70000"/>
                        <a:buFont typeface="Wingdings" pitchFamily="2" charset="2"/>
                        <a:buNone/>
                        <a:tabLst/>
                      </a:pPr>
                      <a:endParaRPr kumimoji="0" lang="es-ES" sz="1200" b="0" i="0" u="none" strike="noStrike" cap="none" normalizeH="0" baseline="0" dirty="0">
                        <a:ln>
                          <a:noFill/>
                        </a:ln>
                        <a:solidFill>
                          <a:schemeClr val="accent6">
                            <a:lumMod val="50000"/>
                          </a:schemeClr>
                        </a:solidFill>
                        <a:effectLst/>
                        <a:latin typeface="Arial" pitchFamily="34" charset="0"/>
                      </a:endParaRPr>
                    </a:p>
                  </a:txBody>
                  <a:tcPr marT="45723" marB="45723" horzOverflow="overflow">
                    <a:lnL w="28575"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sp>
        <p:nvSpPr>
          <p:cNvPr id="82" name="Text Box 4"/>
          <p:cNvSpPr txBox="1">
            <a:spLocks noChangeArrowheads="1"/>
          </p:cNvSpPr>
          <p:nvPr/>
        </p:nvSpPr>
        <p:spPr bwMode="blackWhite">
          <a:xfrm>
            <a:off x="11232657" y="6457746"/>
            <a:ext cx="814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Tiempo</a:t>
            </a:r>
          </a:p>
        </p:txBody>
      </p:sp>
      <p:sp>
        <p:nvSpPr>
          <p:cNvPr id="83" name="Rectangle 5"/>
          <p:cNvSpPr>
            <a:spLocks noChangeArrowheads="1"/>
          </p:cNvSpPr>
          <p:nvPr/>
        </p:nvSpPr>
        <p:spPr bwMode="auto">
          <a:xfrm>
            <a:off x="8748218" y="6489893"/>
            <a:ext cx="524182"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fontAlgn="base" hangingPunct="0">
              <a:spcBef>
                <a:spcPct val="0"/>
              </a:spcBef>
              <a:spcAft>
                <a:spcPct val="0"/>
              </a:spcAft>
            </a:pPr>
            <a:r>
              <a:rPr lang="es-MX" sz="1400" b="1" dirty="0">
                <a:solidFill>
                  <a:srgbClr val="000000"/>
                </a:solidFill>
                <a:latin typeface="Arial"/>
              </a:rPr>
              <a:t>Hoy</a:t>
            </a:r>
            <a:endParaRPr lang="es-MX" sz="1000" b="1" dirty="0">
              <a:solidFill>
                <a:srgbClr val="000000"/>
              </a:solidFill>
              <a:latin typeface="Arial"/>
            </a:endParaRPr>
          </a:p>
        </p:txBody>
      </p:sp>
      <p:sp>
        <p:nvSpPr>
          <p:cNvPr id="84" name="Freeform 6"/>
          <p:cNvSpPr>
            <a:spLocks/>
          </p:cNvSpPr>
          <p:nvPr/>
        </p:nvSpPr>
        <p:spPr bwMode="blackWhite">
          <a:xfrm>
            <a:off x="5908181" y="3657843"/>
            <a:ext cx="3036888" cy="2784475"/>
          </a:xfrm>
          <a:custGeom>
            <a:avLst/>
            <a:gdLst>
              <a:gd name="T0" fmla="*/ 0 w 2147"/>
              <a:gd name="T1" fmla="*/ 2147483647 h 2016"/>
              <a:gd name="T2" fmla="*/ 2147483647 w 2147"/>
              <a:gd name="T3" fmla="*/ 2147483647 h 2016"/>
              <a:gd name="T4" fmla="*/ 2147483647 w 2147"/>
              <a:gd name="T5" fmla="*/ 2147483647 h 2016"/>
              <a:gd name="T6" fmla="*/ 2147483647 w 2147"/>
              <a:gd name="T7" fmla="*/ 2147483647 h 2016"/>
              <a:gd name="T8" fmla="*/ 2147483647 w 2147"/>
              <a:gd name="T9" fmla="*/ 2147483647 h 2016"/>
              <a:gd name="T10" fmla="*/ 2147483647 w 2147"/>
              <a:gd name="T11" fmla="*/ 0 h 2016"/>
              <a:gd name="T12" fmla="*/ 0 60000 65536"/>
              <a:gd name="T13" fmla="*/ 0 60000 65536"/>
              <a:gd name="T14" fmla="*/ 0 60000 65536"/>
              <a:gd name="T15" fmla="*/ 0 60000 65536"/>
              <a:gd name="T16" fmla="*/ 0 60000 65536"/>
              <a:gd name="T17" fmla="*/ 0 60000 65536"/>
              <a:gd name="T18" fmla="*/ 0 w 2147"/>
              <a:gd name="T19" fmla="*/ 0 h 2016"/>
              <a:gd name="T20" fmla="*/ 2147 w 2147"/>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2147" h="2016">
                <a:moveTo>
                  <a:pt x="0" y="2016"/>
                </a:moveTo>
                <a:cubicBezTo>
                  <a:pt x="144" y="1929"/>
                  <a:pt x="608" y="1678"/>
                  <a:pt x="863" y="1491"/>
                </a:cubicBezTo>
                <a:cubicBezTo>
                  <a:pt x="1118" y="1304"/>
                  <a:pt x="1372" y="1049"/>
                  <a:pt x="1530" y="892"/>
                </a:cubicBezTo>
                <a:cubicBezTo>
                  <a:pt x="1688" y="735"/>
                  <a:pt x="1722" y="674"/>
                  <a:pt x="1814" y="549"/>
                </a:cubicBezTo>
                <a:cubicBezTo>
                  <a:pt x="1906" y="424"/>
                  <a:pt x="2027" y="235"/>
                  <a:pt x="2082" y="144"/>
                </a:cubicBezTo>
                <a:cubicBezTo>
                  <a:pt x="2137" y="53"/>
                  <a:pt x="2133" y="30"/>
                  <a:pt x="2147" y="0"/>
                </a:cubicBezTo>
              </a:path>
            </a:pathLst>
          </a:custGeom>
          <a:noFill/>
          <a:ln w="38100">
            <a:solidFill>
              <a:srgbClr val="FF0000"/>
            </a:solidFill>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5" name="Freeform 7"/>
          <p:cNvSpPr>
            <a:spLocks/>
          </p:cNvSpPr>
          <p:nvPr/>
        </p:nvSpPr>
        <p:spPr bwMode="blackWhite">
          <a:xfrm>
            <a:off x="5843094" y="3200643"/>
            <a:ext cx="4487862" cy="3275012"/>
          </a:xfrm>
          <a:custGeom>
            <a:avLst/>
            <a:gdLst>
              <a:gd name="T0" fmla="*/ 0 w 3150"/>
              <a:gd name="T1" fmla="*/ 2147483647 h 2266"/>
              <a:gd name="T2" fmla="*/ 2147483647 w 3150"/>
              <a:gd name="T3" fmla="*/ 2147483647 h 2266"/>
              <a:gd name="T4" fmla="*/ 2147483647 w 3150"/>
              <a:gd name="T5" fmla="*/ 2147483647 h 2266"/>
              <a:gd name="T6" fmla="*/ 2147483647 w 3150"/>
              <a:gd name="T7" fmla="*/ 2147483647 h 2266"/>
              <a:gd name="T8" fmla="*/ 2147483647 w 3150"/>
              <a:gd name="T9" fmla="*/ 2147483647 h 2266"/>
              <a:gd name="T10" fmla="*/ 2147483647 w 3150"/>
              <a:gd name="T11" fmla="*/ 2147483647 h 2266"/>
              <a:gd name="T12" fmla="*/ 2147483647 w 3150"/>
              <a:gd name="T13" fmla="*/ 2147483647 h 2266"/>
              <a:gd name="T14" fmla="*/ 2147483647 w 3150"/>
              <a:gd name="T15" fmla="*/ 0 h 2266"/>
              <a:gd name="T16" fmla="*/ 0 60000 65536"/>
              <a:gd name="T17" fmla="*/ 0 60000 65536"/>
              <a:gd name="T18" fmla="*/ 0 60000 65536"/>
              <a:gd name="T19" fmla="*/ 0 60000 65536"/>
              <a:gd name="T20" fmla="*/ 0 60000 65536"/>
              <a:gd name="T21" fmla="*/ 0 60000 65536"/>
              <a:gd name="T22" fmla="*/ 0 60000 65536"/>
              <a:gd name="T23" fmla="*/ 0 60000 65536"/>
              <a:gd name="T24" fmla="*/ 0 w 3150"/>
              <a:gd name="T25" fmla="*/ 0 h 2266"/>
              <a:gd name="T26" fmla="*/ 3150 w 3150"/>
              <a:gd name="T27" fmla="*/ 2266 h 22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50" h="2266">
                <a:moveTo>
                  <a:pt x="0" y="2266"/>
                </a:moveTo>
                <a:cubicBezTo>
                  <a:pt x="78" y="2235"/>
                  <a:pt x="284" y="2166"/>
                  <a:pt x="473" y="2080"/>
                </a:cubicBezTo>
                <a:cubicBezTo>
                  <a:pt x="663" y="1994"/>
                  <a:pt x="936" y="1872"/>
                  <a:pt x="1140" y="1750"/>
                </a:cubicBezTo>
                <a:cubicBezTo>
                  <a:pt x="1344" y="1628"/>
                  <a:pt x="1523" y="1502"/>
                  <a:pt x="1697" y="1349"/>
                </a:cubicBezTo>
                <a:cubicBezTo>
                  <a:pt x="1872" y="1197"/>
                  <a:pt x="2047" y="995"/>
                  <a:pt x="2187" y="835"/>
                </a:cubicBezTo>
                <a:cubicBezTo>
                  <a:pt x="2327" y="675"/>
                  <a:pt x="2427" y="509"/>
                  <a:pt x="2540" y="387"/>
                </a:cubicBezTo>
                <a:cubicBezTo>
                  <a:pt x="2653" y="265"/>
                  <a:pt x="2765" y="168"/>
                  <a:pt x="2867" y="103"/>
                </a:cubicBezTo>
                <a:cubicBezTo>
                  <a:pt x="2969" y="38"/>
                  <a:pt x="3091" y="21"/>
                  <a:pt x="3150" y="0"/>
                </a:cubicBezTo>
              </a:path>
            </a:pathLst>
          </a:custGeom>
          <a:noFill/>
          <a:ln w="38100" cap="flat">
            <a:solidFill>
              <a:srgbClr val="000080"/>
            </a:solidFill>
            <a:prstDash val="solid"/>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6" name="Line 9"/>
          <p:cNvSpPr>
            <a:spLocks noChangeShapeType="1"/>
          </p:cNvSpPr>
          <p:nvPr/>
        </p:nvSpPr>
        <p:spPr bwMode="blackWhite">
          <a:xfrm flipH="1">
            <a:off x="5865319" y="3191118"/>
            <a:ext cx="4437062" cy="9525"/>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7" name="Line 10"/>
          <p:cNvSpPr>
            <a:spLocks noChangeShapeType="1"/>
          </p:cNvSpPr>
          <p:nvPr/>
        </p:nvSpPr>
        <p:spPr bwMode="blackWhite">
          <a:xfrm flipV="1">
            <a:off x="8945069" y="1523957"/>
            <a:ext cx="0" cy="4916487"/>
          </a:xfrm>
          <a:prstGeom prst="line">
            <a:avLst/>
          </a:prstGeom>
          <a:noFill/>
          <a:ln w="12700">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8" name="Freeform 11"/>
          <p:cNvSpPr>
            <a:spLocks/>
          </p:cNvSpPr>
          <p:nvPr/>
        </p:nvSpPr>
        <p:spPr bwMode="blackWhite">
          <a:xfrm>
            <a:off x="5876431" y="5167555"/>
            <a:ext cx="3068638" cy="1285875"/>
          </a:xfrm>
          <a:custGeom>
            <a:avLst/>
            <a:gdLst>
              <a:gd name="T0" fmla="*/ 0 w 2216"/>
              <a:gd name="T1" fmla="*/ 2147483647 h 899"/>
              <a:gd name="T2" fmla="*/ 2147483647 w 2216"/>
              <a:gd name="T3" fmla="*/ 2147483647 h 899"/>
              <a:gd name="T4" fmla="*/ 2147483647 w 2216"/>
              <a:gd name="T5" fmla="*/ 0 h 899"/>
              <a:gd name="T6" fmla="*/ 0 60000 65536"/>
              <a:gd name="T7" fmla="*/ 0 60000 65536"/>
              <a:gd name="T8" fmla="*/ 0 60000 65536"/>
              <a:gd name="T9" fmla="*/ 0 w 2216"/>
              <a:gd name="T10" fmla="*/ 0 h 899"/>
              <a:gd name="T11" fmla="*/ 2216 w 2216"/>
              <a:gd name="T12" fmla="*/ 899 h 899"/>
            </a:gdLst>
            <a:ahLst/>
            <a:cxnLst>
              <a:cxn ang="T6">
                <a:pos x="T0" y="T1"/>
              </a:cxn>
              <a:cxn ang="T7">
                <a:pos x="T2" y="T3"/>
              </a:cxn>
              <a:cxn ang="T8">
                <a:pos x="T4" y="T5"/>
              </a:cxn>
            </a:cxnLst>
            <a:rect l="T9" t="T10" r="T11" b="T12"/>
            <a:pathLst>
              <a:path w="2216" h="899">
                <a:moveTo>
                  <a:pt x="0" y="899"/>
                </a:moveTo>
                <a:cubicBezTo>
                  <a:pt x="209" y="852"/>
                  <a:pt x="884" y="769"/>
                  <a:pt x="1253" y="619"/>
                </a:cubicBezTo>
                <a:cubicBezTo>
                  <a:pt x="1622" y="469"/>
                  <a:pt x="2016" y="129"/>
                  <a:pt x="2216" y="0"/>
                </a:cubicBezTo>
              </a:path>
            </a:pathLst>
          </a:custGeom>
          <a:noFill/>
          <a:ln w="38100" cap="flat">
            <a:solidFill>
              <a:srgbClr val="003300"/>
            </a:solidFill>
            <a:prstDash val="solid"/>
            <a:round/>
            <a:headEn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89" name="Text Box 12"/>
          <p:cNvSpPr txBox="1">
            <a:spLocks noChangeArrowheads="1"/>
          </p:cNvSpPr>
          <p:nvPr/>
        </p:nvSpPr>
        <p:spPr bwMode="blackWhite">
          <a:xfrm>
            <a:off x="5427169" y="4992930"/>
            <a:ext cx="4381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EV</a:t>
            </a:r>
          </a:p>
        </p:txBody>
      </p:sp>
      <p:sp>
        <p:nvSpPr>
          <p:cNvPr id="90" name="Text Box 13"/>
          <p:cNvSpPr txBox="1">
            <a:spLocks noChangeArrowheads="1"/>
          </p:cNvSpPr>
          <p:nvPr/>
        </p:nvSpPr>
        <p:spPr bwMode="blackWhite">
          <a:xfrm>
            <a:off x="5427169" y="4273793"/>
            <a:ext cx="4381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PV</a:t>
            </a:r>
          </a:p>
        </p:txBody>
      </p:sp>
      <p:sp>
        <p:nvSpPr>
          <p:cNvPr id="91" name="Text Box 14"/>
          <p:cNvSpPr txBox="1">
            <a:spLocks noChangeArrowheads="1"/>
          </p:cNvSpPr>
          <p:nvPr/>
        </p:nvSpPr>
        <p:spPr bwMode="blackWhite">
          <a:xfrm>
            <a:off x="5427169" y="3465755"/>
            <a:ext cx="4603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500" b="1">
                <a:solidFill>
                  <a:srgbClr val="000000"/>
                </a:solidFill>
                <a:latin typeface="Arial"/>
              </a:rPr>
              <a:t>AC</a:t>
            </a:r>
          </a:p>
        </p:txBody>
      </p:sp>
      <p:sp>
        <p:nvSpPr>
          <p:cNvPr id="92" name="Line 15"/>
          <p:cNvSpPr>
            <a:spLocks noChangeShapeType="1"/>
          </p:cNvSpPr>
          <p:nvPr/>
        </p:nvSpPr>
        <p:spPr bwMode="auto">
          <a:xfrm flipV="1">
            <a:off x="5838331" y="6469305"/>
            <a:ext cx="5819775" cy="7938"/>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3" name="Freeform 16"/>
          <p:cNvSpPr>
            <a:spLocks/>
          </p:cNvSpPr>
          <p:nvPr/>
        </p:nvSpPr>
        <p:spPr bwMode="auto">
          <a:xfrm>
            <a:off x="8945069" y="3191118"/>
            <a:ext cx="2192337" cy="1968500"/>
          </a:xfrm>
          <a:custGeom>
            <a:avLst/>
            <a:gdLst>
              <a:gd name="T0" fmla="*/ 0 w 1815"/>
              <a:gd name="T1" fmla="*/ 2147483647 h 1271"/>
              <a:gd name="T2" fmla="*/ 2147483647 w 1815"/>
              <a:gd name="T3" fmla="*/ 2147483647 h 1271"/>
              <a:gd name="T4" fmla="*/ 2147483647 w 1815"/>
              <a:gd name="T5" fmla="*/ 0 h 1271"/>
              <a:gd name="T6" fmla="*/ 0 60000 65536"/>
              <a:gd name="T7" fmla="*/ 0 60000 65536"/>
              <a:gd name="T8" fmla="*/ 0 60000 65536"/>
              <a:gd name="T9" fmla="*/ 0 w 1815"/>
              <a:gd name="T10" fmla="*/ 0 h 1271"/>
              <a:gd name="T11" fmla="*/ 1815 w 1815"/>
              <a:gd name="T12" fmla="*/ 1271 h 1271"/>
            </a:gdLst>
            <a:ahLst/>
            <a:cxnLst>
              <a:cxn ang="T6">
                <a:pos x="T0" y="T1"/>
              </a:cxn>
              <a:cxn ang="T7">
                <a:pos x="T2" y="T3"/>
              </a:cxn>
              <a:cxn ang="T8">
                <a:pos x="T4" y="T5"/>
              </a:cxn>
            </a:cxnLst>
            <a:rect l="T9" t="T10" r="T11" b="T12"/>
            <a:pathLst>
              <a:path w="1815" h="1271">
                <a:moveTo>
                  <a:pt x="0" y="1271"/>
                </a:moveTo>
                <a:cubicBezTo>
                  <a:pt x="175" y="1112"/>
                  <a:pt x="749" y="528"/>
                  <a:pt x="1051" y="316"/>
                </a:cubicBezTo>
                <a:cubicBezTo>
                  <a:pt x="1353" y="104"/>
                  <a:pt x="1656" y="66"/>
                  <a:pt x="1815" y="0"/>
                </a:cubicBezTo>
              </a:path>
            </a:pathLst>
          </a:custGeom>
          <a:noFill/>
          <a:ln w="12700" cap="flat" cmpd="sng">
            <a:solidFill>
              <a:srgbClr val="000000"/>
            </a:solidFill>
            <a:prstDash val="dash"/>
            <a:round/>
            <a:headEnd type="none" w="med" len="me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4" name="Freeform 17"/>
          <p:cNvSpPr>
            <a:spLocks/>
          </p:cNvSpPr>
          <p:nvPr/>
        </p:nvSpPr>
        <p:spPr bwMode="auto">
          <a:xfrm>
            <a:off x="8945069" y="1821105"/>
            <a:ext cx="2197100" cy="1836738"/>
          </a:xfrm>
          <a:custGeom>
            <a:avLst/>
            <a:gdLst>
              <a:gd name="T0" fmla="*/ 0 w 1815"/>
              <a:gd name="T1" fmla="*/ 2147483647 h 1271"/>
              <a:gd name="T2" fmla="*/ 2147483647 w 1815"/>
              <a:gd name="T3" fmla="*/ 2147483647 h 1271"/>
              <a:gd name="T4" fmla="*/ 2147483647 w 1815"/>
              <a:gd name="T5" fmla="*/ 2147483647 h 1271"/>
              <a:gd name="T6" fmla="*/ 2147483647 w 1815"/>
              <a:gd name="T7" fmla="*/ 0 h 1271"/>
              <a:gd name="T8" fmla="*/ 0 60000 65536"/>
              <a:gd name="T9" fmla="*/ 0 60000 65536"/>
              <a:gd name="T10" fmla="*/ 0 60000 65536"/>
              <a:gd name="T11" fmla="*/ 0 60000 65536"/>
              <a:gd name="T12" fmla="*/ 0 w 1815"/>
              <a:gd name="T13" fmla="*/ 0 h 1271"/>
              <a:gd name="T14" fmla="*/ 1815 w 1815"/>
              <a:gd name="T15" fmla="*/ 1271 h 1271"/>
            </a:gdLst>
            <a:ahLst/>
            <a:cxnLst>
              <a:cxn ang="T8">
                <a:pos x="T0" y="T1"/>
              </a:cxn>
              <a:cxn ang="T9">
                <a:pos x="T2" y="T3"/>
              </a:cxn>
              <a:cxn ang="T10">
                <a:pos x="T4" y="T5"/>
              </a:cxn>
              <a:cxn ang="T11">
                <a:pos x="T6" y="T7"/>
              </a:cxn>
            </a:cxnLst>
            <a:rect l="T12" t="T13" r="T14" b="T15"/>
            <a:pathLst>
              <a:path w="1815" h="1271">
                <a:moveTo>
                  <a:pt x="0" y="1271"/>
                </a:moveTo>
                <a:cubicBezTo>
                  <a:pt x="119" y="1122"/>
                  <a:pt x="484" y="578"/>
                  <a:pt x="715" y="378"/>
                </a:cubicBezTo>
                <a:cubicBezTo>
                  <a:pt x="946" y="178"/>
                  <a:pt x="1203" y="132"/>
                  <a:pt x="1386" y="69"/>
                </a:cubicBezTo>
                <a:cubicBezTo>
                  <a:pt x="1569" y="6"/>
                  <a:pt x="1726" y="14"/>
                  <a:pt x="1815" y="0"/>
                </a:cubicBezTo>
              </a:path>
            </a:pathLst>
          </a:custGeom>
          <a:noFill/>
          <a:ln w="12700" cap="flat" cmpd="sng">
            <a:solidFill>
              <a:srgbClr val="000000"/>
            </a:solidFill>
            <a:prstDash val="dash"/>
            <a:round/>
            <a:headEnd type="none" w="med" len="med"/>
            <a:tailEnd type="oval" w="med" len="med"/>
          </a:ln>
          <a:extLst>
            <a:ext uri="{909E8E84-426E-40DD-AFC4-6F175D3DCCD1}">
              <a14:hiddenFill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5" name="Line 18"/>
          <p:cNvSpPr>
            <a:spLocks noChangeShapeType="1"/>
          </p:cNvSpPr>
          <p:nvPr/>
        </p:nvSpPr>
        <p:spPr bwMode="blackWhite">
          <a:xfrm flipH="1">
            <a:off x="5843094" y="3643555"/>
            <a:ext cx="3101975" cy="793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6" name="Line 19"/>
          <p:cNvSpPr>
            <a:spLocks noChangeShapeType="1"/>
          </p:cNvSpPr>
          <p:nvPr/>
        </p:nvSpPr>
        <p:spPr bwMode="blackWhite">
          <a:xfrm flipH="1">
            <a:off x="5843094" y="5158030"/>
            <a:ext cx="3101975" cy="793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7" name="Line 20"/>
          <p:cNvSpPr>
            <a:spLocks noChangeShapeType="1"/>
          </p:cNvSpPr>
          <p:nvPr/>
        </p:nvSpPr>
        <p:spPr bwMode="blackWhite">
          <a:xfrm flipH="1">
            <a:off x="5843094" y="4437305"/>
            <a:ext cx="3101975"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98" name="Text Box 22"/>
          <p:cNvSpPr txBox="1">
            <a:spLocks noChangeArrowheads="1"/>
          </p:cNvSpPr>
          <p:nvPr/>
        </p:nvSpPr>
        <p:spPr bwMode="blackWhite">
          <a:xfrm>
            <a:off x="10307144" y="2927593"/>
            <a:ext cx="56991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BAC</a:t>
            </a:r>
          </a:p>
        </p:txBody>
      </p:sp>
      <p:sp>
        <p:nvSpPr>
          <p:cNvPr id="99" name="Line 23"/>
          <p:cNvSpPr>
            <a:spLocks noChangeShapeType="1"/>
          </p:cNvSpPr>
          <p:nvPr/>
        </p:nvSpPr>
        <p:spPr bwMode="auto">
          <a:xfrm flipV="1">
            <a:off x="6101856" y="3651493"/>
            <a:ext cx="0" cy="1506537"/>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00" name="Text Box 24"/>
          <p:cNvSpPr txBox="1">
            <a:spLocks noChangeArrowheads="1"/>
          </p:cNvSpPr>
          <p:nvPr/>
        </p:nvSpPr>
        <p:spPr bwMode="blackWhite">
          <a:xfrm>
            <a:off x="6063756" y="3911843"/>
            <a:ext cx="4318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CV</a:t>
            </a:r>
          </a:p>
        </p:txBody>
      </p:sp>
      <p:sp>
        <p:nvSpPr>
          <p:cNvPr id="101" name="Line 25"/>
          <p:cNvSpPr>
            <a:spLocks noChangeShapeType="1"/>
          </p:cNvSpPr>
          <p:nvPr/>
        </p:nvSpPr>
        <p:spPr bwMode="auto">
          <a:xfrm flipV="1">
            <a:off x="6619381" y="4437305"/>
            <a:ext cx="0" cy="720725"/>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02" name="Text Box 26"/>
          <p:cNvSpPr txBox="1">
            <a:spLocks noChangeArrowheads="1"/>
          </p:cNvSpPr>
          <p:nvPr/>
        </p:nvSpPr>
        <p:spPr bwMode="blackWhite">
          <a:xfrm>
            <a:off x="6554294" y="4700830"/>
            <a:ext cx="422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SV</a:t>
            </a:r>
          </a:p>
        </p:txBody>
      </p:sp>
      <p:sp>
        <p:nvSpPr>
          <p:cNvPr id="103" name="Text Box 27"/>
          <p:cNvSpPr txBox="1">
            <a:spLocks noChangeArrowheads="1"/>
          </p:cNvSpPr>
          <p:nvPr/>
        </p:nvSpPr>
        <p:spPr bwMode="blackWhite">
          <a:xfrm>
            <a:off x="6820994" y="5480293"/>
            <a:ext cx="43180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AC</a:t>
            </a:r>
          </a:p>
        </p:txBody>
      </p:sp>
      <p:sp>
        <p:nvSpPr>
          <p:cNvPr id="104" name="Text Box 28"/>
          <p:cNvSpPr txBox="1">
            <a:spLocks noChangeArrowheads="1"/>
          </p:cNvSpPr>
          <p:nvPr/>
        </p:nvSpPr>
        <p:spPr bwMode="blackWhite">
          <a:xfrm>
            <a:off x="7331635" y="5740643"/>
            <a:ext cx="4058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PV</a:t>
            </a:r>
          </a:p>
        </p:txBody>
      </p:sp>
      <p:sp>
        <p:nvSpPr>
          <p:cNvPr id="105" name="Text Box 29"/>
          <p:cNvSpPr txBox="1">
            <a:spLocks noChangeArrowheads="1"/>
          </p:cNvSpPr>
          <p:nvPr/>
        </p:nvSpPr>
        <p:spPr bwMode="blackWhite">
          <a:xfrm>
            <a:off x="7994416" y="5812080"/>
            <a:ext cx="4058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300" b="1">
                <a:solidFill>
                  <a:srgbClr val="000000"/>
                </a:solidFill>
                <a:latin typeface="Arial"/>
              </a:rPr>
              <a:t>EV</a:t>
            </a:r>
          </a:p>
        </p:txBody>
      </p:sp>
      <p:sp>
        <p:nvSpPr>
          <p:cNvPr id="106" name="Line 30"/>
          <p:cNvSpPr>
            <a:spLocks noChangeShapeType="1"/>
          </p:cNvSpPr>
          <p:nvPr/>
        </p:nvSpPr>
        <p:spPr bwMode="blackWhite">
          <a:xfrm flipH="1">
            <a:off x="5843094" y="1814755"/>
            <a:ext cx="5299075"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07" name="Line 31"/>
          <p:cNvSpPr>
            <a:spLocks noChangeShapeType="1"/>
          </p:cNvSpPr>
          <p:nvPr/>
        </p:nvSpPr>
        <p:spPr bwMode="auto">
          <a:xfrm flipV="1">
            <a:off x="6101856" y="1814755"/>
            <a:ext cx="0" cy="1376363"/>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08" name="Text Box 32"/>
          <p:cNvSpPr txBox="1">
            <a:spLocks noChangeArrowheads="1"/>
          </p:cNvSpPr>
          <p:nvPr/>
        </p:nvSpPr>
        <p:spPr bwMode="blackWhite">
          <a:xfrm>
            <a:off x="6103444" y="2340218"/>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VAC</a:t>
            </a:r>
          </a:p>
        </p:txBody>
      </p:sp>
      <p:sp>
        <p:nvSpPr>
          <p:cNvPr id="109" name="Line 33"/>
          <p:cNvSpPr>
            <a:spLocks noChangeShapeType="1"/>
          </p:cNvSpPr>
          <p:nvPr/>
        </p:nvSpPr>
        <p:spPr bwMode="auto">
          <a:xfrm flipV="1">
            <a:off x="7070231" y="1814755"/>
            <a:ext cx="0" cy="1836738"/>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10" name="Text Box 34"/>
          <p:cNvSpPr txBox="1">
            <a:spLocks noChangeArrowheads="1"/>
          </p:cNvSpPr>
          <p:nvPr/>
        </p:nvSpPr>
        <p:spPr bwMode="blackWhite">
          <a:xfrm>
            <a:off x="7006731" y="2340218"/>
            <a:ext cx="13179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ETC (Costos)</a:t>
            </a:r>
          </a:p>
        </p:txBody>
      </p:sp>
      <p:sp>
        <p:nvSpPr>
          <p:cNvPr id="111" name="Line 35"/>
          <p:cNvSpPr>
            <a:spLocks noChangeShapeType="1"/>
          </p:cNvSpPr>
          <p:nvPr/>
        </p:nvSpPr>
        <p:spPr bwMode="blackWhite">
          <a:xfrm flipV="1">
            <a:off x="11142169" y="1814755"/>
            <a:ext cx="0" cy="46545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12" name="Text Box 36"/>
          <p:cNvSpPr txBox="1">
            <a:spLocks noChangeArrowheads="1"/>
          </p:cNvSpPr>
          <p:nvPr/>
        </p:nvSpPr>
        <p:spPr bwMode="blackWhite">
          <a:xfrm>
            <a:off x="5247964" y="1697248"/>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EAC</a:t>
            </a:r>
          </a:p>
        </p:txBody>
      </p:sp>
      <p:sp>
        <p:nvSpPr>
          <p:cNvPr id="113" name="Text Box 37"/>
          <p:cNvSpPr txBox="1">
            <a:spLocks noChangeArrowheads="1"/>
          </p:cNvSpPr>
          <p:nvPr/>
        </p:nvSpPr>
        <p:spPr bwMode="blackWhite">
          <a:xfrm>
            <a:off x="5390656" y="2965407"/>
            <a:ext cx="569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a:solidFill>
                  <a:srgbClr val="000000"/>
                </a:solidFill>
                <a:latin typeface="Arial"/>
              </a:rPr>
              <a:t>BAC</a:t>
            </a:r>
          </a:p>
        </p:txBody>
      </p:sp>
      <p:sp>
        <p:nvSpPr>
          <p:cNvPr id="114" name="Text Box 38"/>
          <p:cNvSpPr txBox="1">
            <a:spLocks noChangeArrowheads="1"/>
          </p:cNvSpPr>
          <p:nvPr/>
        </p:nvSpPr>
        <p:spPr bwMode="blackWhite">
          <a:xfrm>
            <a:off x="11152404" y="1836443"/>
            <a:ext cx="560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EAC</a:t>
            </a:r>
          </a:p>
        </p:txBody>
      </p:sp>
      <p:sp>
        <p:nvSpPr>
          <p:cNvPr id="115" name="Line 39"/>
          <p:cNvSpPr>
            <a:spLocks noChangeShapeType="1"/>
          </p:cNvSpPr>
          <p:nvPr/>
        </p:nvSpPr>
        <p:spPr bwMode="blackWhite">
          <a:xfrm flipV="1">
            <a:off x="10300794" y="3191118"/>
            <a:ext cx="25400" cy="32781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16" name="Line 33"/>
          <p:cNvSpPr>
            <a:spLocks noChangeShapeType="1"/>
          </p:cNvSpPr>
          <p:nvPr/>
        </p:nvSpPr>
        <p:spPr bwMode="auto">
          <a:xfrm rot="5400000" flipV="1">
            <a:off x="10041237" y="5192633"/>
            <a:ext cx="0" cy="2192337"/>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117" name="Text Box 34"/>
          <p:cNvSpPr txBox="1">
            <a:spLocks noChangeArrowheads="1"/>
          </p:cNvSpPr>
          <p:nvPr/>
        </p:nvSpPr>
        <p:spPr bwMode="blackWhite">
          <a:xfrm>
            <a:off x="9511534" y="5890093"/>
            <a:ext cx="13451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500">
                <a:solidFill>
                  <a:schemeClr val="tx2"/>
                </a:solidFill>
                <a:latin typeface="Arial" pitchFamily="34" charset="0"/>
              </a:defRPr>
            </a:lvl1pPr>
            <a:lvl2pPr marL="742950" indent="-285750" eaLnBrk="0" hangingPunct="0">
              <a:defRPr sz="2500">
                <a:solidFill>
                  <a:schemeClr val="tx2"/>
                </a:solidFill>
                <a:latin typeface="Arial" pitchFamily="34" charset="0"/>
              </a:defRPr>
            </a:lvl2pPr>
            <a:lvl3pPr marL="1143000" indent="-228600" eaLnBrk="0" hangingPunct="0">
              <a:defRPr sz="2500">
                <a:solidFill>
                  <a:schemeClr val="tx2"/>
                </a:solidFill>
                <a:latin typeface="Arial" pitchFamily="34" charset="0"/>
              </a:defRPr>
            </a:lvl3pPr>
            <a:lvl4pPr marL="1600200" indent="-228600" eaLnBrk="0" hangingPunct="0">
              <a:defRPr sz="2500">
                <a:solidFill>
                  <a:schemeClr val="tx2"/>
                </a:solidFill>
                <a:latin typeface="Arial" pitchFamily="34" charset="0"/>
              </a:defRPr>
            </a:lvl4pPr>
            <a:lvl5pPr marL="2057400" indent="-228600" eaLnBrk="0" hangingPunct="0">
              <a:defRPr sz="2500">
                <a:solidFill>
                  <a:schemeClr val="tx2"/>
                </a:solidFill>
                <a:latin typeface="Arial" pitchFamily="34" charset="0"/>
              </a:defRPr>
            </a:lvl5pPr>
            <a:lvl6pPr marL="2514600" indent="-228600" eaLnBrk="0" fontAlgn="base" hangingPunct="0">
              <a:spcBef>
                <a:spcPct val="0"/>
              </a:spcBef>
              <a:spcAft>
                <a:spcPct val="0"/>
              </a:spcAft>
              <a:defRPr sz="2500">
                <a:solidFill>
                  <a:schemeClr val="tx2"/>
                </a:solidFill>
                <a:latin typeface="Arial" pitchFamily="34" charset="0"/>
              </a:defRPr>
            </a:lvl6pPr>
            <a:lvl7pPr marL="2971800" indent="-228600" eaLnBrk="0" fontAlgn="base" hangingPunct="0">
              <a:spcBef>
                <a:spcPct val="0"/>
              </a:spcBef>
              <a:spcAft>
                <a:spcPct val="0"/>
              </a:spcAft>
              <a:defRPr sz="2500">
                <a:solidFill>
                  <a:schemeClr val="tx2"/>
                </a:solidFill>
                <a:latin typeface="Arial" pitchFamily="34" charset="0"/>
              </a:defRPr>
            </a:lvl7pPr>
            <a:lvl8pPr marL="3429000" indent="-228600" eaLnBrk="0" fontAlgn="base" hangingPunct="0">
              <a:spcBef>
                <a:spcPct val="0"/>
              </a:spcBef>
              <a:spcAft>
                <a:spcPct val="0"/>
              </a:spcAft>
              <a:defRPr sz="2500">
                <a:solidFill>
                  <a:schemeClr val="tx2"/>
                </a:solidFill>
                <a:latin typeface="Arial" pitchFamily="34" charset="0"/>
              </a:defRPr>
            </a:lvl8pPr>
            <a:lvl9pPr marL="3886200" indent="-228600" eaLnBrk="0" fontAlgn="base" hangingPunct="0">
              <a:spcBef>
                <a:spcPct val="0"/>
              </a:spcBef>
              <a:spcAft>
                <a:spcPct val="0"/>
              </a:spcAft>
              <a:defRPr sz="2500">
                <a:solidFill>
                  <a:schemeClr val="tx2"/>
                </a:solidFill>
                <a:latin typeface="Arial" pitchFamily="34" charset="0"/>
              </a:defRPr>
            </a:lvl9pPr>
          </a:lstStyle>
          <a:p>
            <a:pPr algn="ctr" fontAlgn="base">
              <a:spcBef>
                <a:spcPct val="0"/>
              </a:spcBef>
              <a:spcAft>
                <a:spcPct val="0"/>
              </a:spcAft>
            </a:pPr>
            <a:r>
              <a:rPr lang="es-MX" sz="1400" b="1" dirty="0">
                <a:solidFill>
                  <a:srgbClr val="000000"/>
                </a:solidFill>
                <a:latin typeface="Arial"/>
              </a:rPr>
              <a:t>ETC (Tiempo)</a:t>
            </a:r>
          </a:p>
        </p:txBody>
      </p:sp>
      <p:sp>
        <p:nvSpPr>
          <p:cNvPr id="41" name="Line 21"/>
          <p:cNvSpPr>
            <a:spLocks noChangeShapeType="1"/>
          </p:cNvSpPr>
          <p:nvPr/>
        </p:nvSpPr>
        <p:spPr bwMode="auto">
          <a:xfrm flipV="1">
            <a:off x="5838331" y="1443230"/>
            <a:ext cx="0" cy="504666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Arial"/>
            </a:endParaRPr>
          </a:p>
        </p:txBody>
      </p:sp>
      <p:sp>
        <p:nvSpPr>
          <p:cNvPr id="4" name="Título 1">
            <a:extLst>
              <a:ext uri="{FF2B5EF4-FFF2-40B4-BE49-F238E27FC236}">
                <a16:creationId xmlns:a16="http://schemas.microsoft.com/office/drawing/2014/main" id="{A7BB2779-C886-12CF-9B8B-6D4FD8A0435F}"/>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spTree>
    <p:extLst>
      <p:ext uri="{BB962C8B-B14F-4D97-AF65-F5344CB8AC3E}">
        <p14:creationId xmlns:p14="http://schemas.microsoft.com/office/powerpoint/2010/main" val="2591672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5532" y="2148149"/>
            <a:ext cx="6523631" cy="4524315"/>
          </a:xfrm>
          <a:prstGeom prst="rect">
            <a:avLst/>
          </a:prstGeom>
          <a:noFill/>
        </p:spPr>
        <p:txBody>
          <a:bodyPr wrap="square" rtlCol="0">
            <a:spAutoFit/>
          </a:bodyPr>
          <a:lstStyle/>
          <a:p>
            <a:endParaRPr lang="es-PE" dirty="0"/>
          </a:p>
          <a:p>
            <a:pPr marL="457200" indent="-457200">
              <a:buFont typeface="+mj-lt"/>
              <a:buAutoNum type="arabicParenR"/>
            </a:pPr>
            <a:r>
              <a:rPr lang="es-PE" b="1" dirty="0">
                <a:solidFill>
                  <a:srgbClr val="0070C0"/>
                </a:solidFill>
              </a:rPr>
              <a:t>Crear la EDT o WBS: Según la estructura que se necesita controlar.</a:t>
            </a:r>
          </a:p>
          <a:p>
            <a:pPr marL="457200" indent="-457200">
              <a:buFont typeface="+mj-lt"/>
              <a:buAutoNum type="arabicParenR"/>
            </a:pPr>
            <a:endParaRPr lang="es-PE" b="1" dirty="0">
              <a:solidFill>
                <a:srgbClr val="0070C0"/>
              </a:solidFill>
            </a:endParaRPr>
          </a:p>
          <a:p>
            <a:pPr marL="457200" indent="-457200">
              <a:buFont typeface="+mj-lt"/>
              <a:buAutoNum type="arabicParenR"/>
            </a:pPr>
            <a:r>
              <a:rPr lang="es-PE" b="1" dirty="0">
                <a:solidFill>
                  <a:srgbClr val="0070C0"/>
                </a:solidFill>
              </a:rPr>
              <a:t>Identificar las actividades por cada paquete de trabajo de la EDT, así como su secuenciamiento y duración: Evaluar recursos y restricciones.</a:t>
            </a:r>
          </a:p>
          <a:p>
            <a:pPr marL="457200" indent="-457200">
              <a:buFont typeface="+mj-lt"/>
              <a:buAutoNum type="arabicParenR"/>
            </a:pPr>
            <a:endParaRPr lang="es-PE" b="1" dirty="0">
              <a:solidFill>
                <a:srgbClr val="0070C0"/>
              </a:solidFill>
            </a:endParaRPr>
          </a:p>
          <a:p>
            <a:pPr marL="457200" indent="-457200">
              <a:buFont typeface="+mj-lt"/>
              <a:buAutoNum type="arabicParenR"/>
            </a:pPr>
            <a:r>
              <a:rPr lang="es-PE" b="1" dirty="0">
                <a:solidFill>
                  <a:srgbClr val="0070C0"/>
                </a:solidFill>
              </a:rPr>
              <a:t>Determinar los costos por cada actividad identificada: Evaluar recursos y restricciones.</a:t>
            </a:r>
          </a:p>
          <a:p>
            <a:pPr marL="457200" indent="-457200">
              <a:buFont typeface="+mj-lt"/>
              <a:buAutoNum type="arabicParenR"/>
            </a:pPr>
            <a:endParaRPr lang="es-PE" b="1" dirty="0">
              <a:solidFill>
                <a:srgbClr val="0070C0"/>
              </a:solidFill>
            </a:endParaRPr>
          </a:p>
          <a:p>
            <a:pPr marL="457200" indent="-457200">
              <a:buFont typeface="+mj-lt"/>
              <a:buAutoNum type="arabicParenR"/>
            </a:pPr>
            <a:r>
              <a:rPr lang="es-PE" b="1" dirty="0">
                <a:solidFill>
                  <a:srgbClr val="0070C0"/>
                </a:solidFill>
              </a:rPr>
              <a:t>Validar los supuestos, cotizaciones, restricciones y excepciones.</a:t>
            </a:r>
          </a:p>
          <a:p>
            <a:pPr marL="457200" indent="-457200">
              <a:buFont typeface="+mj-lt"/>
              <a:buAutoNum type="arabicParenR"/>
            </a:pPr>
            <a:endParaRPr lang="es-PE" b="1" dirty="0">
              <a:solidFill>
                <a:srgbClr val="0070C0"/>
              </a:solidFill>
            </a:endParaRPr>
          </a:p>
          <a:p>
            <a:pPr marL="457200" indent="-457200">
              <a:buFont typeface="+mj-lt"/>
              <a:buAutoNum type="arabicParenR"/>
            </a:pPr>
            <a:r>
              <a:rPr lang="es-PE" b="1" dirty="0">
                <a:solidFill>
                  <a:srgbClr val="0070C0"/>
                </a:solidFill>
              </a:rPr>
              <a:t>Vinculación con la codificación del control de costos incurridos: Contabilidad  / Finanzas / Logística / Contratos.</a:t>
            </a:r>
          </a:p>
        </p:txBody>
      </p:sp>
      <p:pic>
        <p:nvPicPr>
          <p:cNvPr id="4" name="Imagen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21713" y="2432247"/>
            <a:ext cx="5190841" cy="2777708"/>
          </a:xfrm>
          <a:prstGeom prst="rect">
            <a:avLst/>
          </a:prstGeom>
        </p:spPr>
      </p:pic>
      <p:sp>
        <p:nvSpPr>
          <p:cNvPr id="5" name="CuadroTexto 4"/>
          <p:cNvSpPr txBox="1"/>
          <p:nvPr/>
        </p:nvSpPr>
        <p:spPr>
          <a:xfrm>
            <a:off x="11399695" y="5209955"/>
            <a:ext cx="612859" cy="246221"/>
          </a:xfrm>
          <a:prstGeom prst="rect">
            <a:avLst/>
          </a:prstGeom>
          <a:noFill/>
        </p:spPr>
        <p:txBody>
          <a:bodyPr wrap="square" rtlCol="0">
            <a:spAutoFit/>
          </a:bodyPr>
          <a:lstStyle/>
          <a:p>
            <a:pPr algn="r"/>
            <a:r>
              <a:rPr lang="es-PE" sz="1000" dirty="0">
                <a:solidFill>
                  <a:srgbClr val="2E2B21"/>
                </a:solidFill>
                <a:latin typeface="Tw Cen MT" panose="020B0602020104020603"/>
              </a:rPr>
              <a:t>PMI.</a:t>
            </a:r>
            <a:endParaRPr lang="en-US" sz="1000" dirty="0">
              <a:solidFill>
                <a:srgbClr val="2E2B21"/>
              </a:solidFill>
              <a:latin typeface="Tw Cen MT" panose="020B0602020104020603"/>
            </a:endParaRPr>
          </a:p>
        </p:txBody>
      </p:sp>
      <p:sp>
        <p:nvSpPr>
          <p:cNvPr id="3" name="CuadroTexto 2"/>
          <p:cNvSpPr txBox="1"/>
          <p:nvPr/>
        </p:nvSpPr>
        <p:spPr>
          <a:xfrm>
            <a:off x="3163436" y="1348883"/>
            <a:ext cx="5581936" cy="954107"/>
          </a:xfrm>
          <a:prstGeom prst="rect">
            <a:avLst/>
          </a:prstGeom>
          <a:noFill/>
        </p:spPr>
        <p:txBody>
          <a:bodyPr wrap="square" rtlCol="0">
            <a:spAutoFit/>
          </a:bodyPr>
          <a:lstStyle/>
          <a:p>
            <a:pPr algn="ctr"/>
            <a:r>
              <a:rPr lang="es-PE" sz="3200" b="1" dirty="0">
                <a:solidFill>
                  <a:srgbClr val="FF0000"/>
                </a:solidFill>
              </a:rPr>
              <a:t>VALOR GANADO</a:t>
            </a:r>
          </a:p>
          <a:p>
            <a:pPr algn="ctr"/>
            <a:r>
              <a:rPr lang="es-PE" sz="2400" b="1" dirty="0">
                <a:solidFill>
                  <a:srgbClr val="FF0000"/>
                </a:solidFill>
              </a:rPr>
              <a:t>¿ Qué necesitamos para implementarlo?</a:t>
            </a:r>
          </a:p>
        </p:txBody>
      </p:sp>
      <p:sp>
        <p:nvSpPr>
          <p:cNvPr id="7" name="Freeform 4"/>
          <p:cNvSpPr>
            <a:spLocks/>
          </p:cNvSpPr>
          <p:nvPr/>
        </p:nvSpPr>
        <p:spPr bwMode="auto">
          <a:xfrm>
            <a:off x="1912030" y="2802378"/>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8" name="Freeform 4"/>
          <p:cNvSpPr>
            <a:spLocks/>
          </p:cNvSpPr>
          <p:nvPr/>
        </p:nvSpPr>
        <p:spPr bwMode="auto">
          <a:xfrm>
            <a:off x="3082473" y="3936911"/>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9" name="Freeform 4"/>
          <p:cNvSpPr>
            <a:spLocks/>
          </p:cNvSpPr>
          <p:nvPr/>
        </p:nvSpPr>
        <p:spPr bwMode="auto">
          <a:xfrm>
            <a:off x="3001510" y="4769424"/>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0" name="Freeform 4"/>
          <p:cNvSpPr>
            <a:spLocks/>
          </p:cNvSpPr>
          <p:nvPr/>
        </p:nvSpPr>
        <p:spPr bwMode="auto">
          <a:xfrm>
            <a:off x="2171338" y="5518913"/>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1" name="Freeform 4"/>
          <p:cNvSpPr>
            <a:spLocks/>
          </p:cNvSpPr>
          <p:nvPr/>
        </p:nvSpPr>
        <p:spPr bwMode="auto">
          <a:xfrm>
            <a:off x="6457238" y="6298549"/>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Título 1">
            <a:extLst>
              <a:ext uri="{FF2B5EF4-FFF2-40B4-BE49-F238E27FC236}">
                <a16:creationId xmlns:a16="http://schemas.microsoft.com/office/drawing/2014/main" id="{39F1B476-30E2-1EA7-2AF5-1D72EAE2E8E4}"/>
              </a:ext>
            </a:extLst>
          </p:cNvPr>
          <p:cNvSpPr>
            <a:spLocks noGrp="1"/>
          </p:cNvSpPr>
          <p:nvPr>
            <p:ph type="title"/>
          </p:nvPr>
        </p:nvSpPr>
        <p:spPr>
          <a:xfrm>
            <a:off x="292288" y="377263"/>
            <a:ext cx="9498242" cy="1325563"/>
          </a:xfrm>
        </p:spPr>
        <p:txBody>
          <a:bodyPr>
            <a:normAutofit/>
          </a:bodyPr>
          <a:lstStyle/>
          <a:p>
            <a:r>
              <a:rPr lang="es-ES" sz="4000" b="1" dirty="0"/>
              <a:t>03. CONTROL CON EVM: UN PASO MÁS ALLÁ</a:t>
            </a:r>
            <a:endParaRPr lang="en-US" sz="4000" b="1" dirty="0"/>
          </a:p>
        </p:txBody>
      </p:sp>
      <p:pic>
        <p:nvPicPr>
          <p:cNvPr id="14" name="Imagen 13">
            <a:extLst>
              <a:ext uri="{FF2B5EF4-FFF2-40B4-BE49-F238E27FC236}">
                <a16:creationId xmlns:a16="http://schemas.microsoft.com/office/drawing/2014/main" id="{B3263067-4B62-8EB9-EF8B-9B944B08B2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78967" y="5991570"/>
            <a:ext cx="2033587" cy="731810"/>
          </a:xfrm>
          <a:prstGeom prst="rect">
            <a:avLst/>
          </a:prstGeom>
        </p:spPr>
      </p:pic>
    </p:spTree>
    <p:extLst>
      <p:ext uri="{BB962C8B-B14F-4D97-AF65-F5344CB8AC3E}">
        <p14:creationId xmlns:p14="http://schemas.microsoft.com/office/powerpoint/2010/main" val="418220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AutoShape 174"/>
          <p:cNvSpPr>
            <a:spLocks noChangeArrowheads="1"/>
          </p:cNvSpPr>
          <p:nvPr/>
        </p:nvSpPr>
        <p:spPr bwMode="auto">
          <a:xfrm>
            <a:off x="576775" y="2209586"/>
            <a:ext cx="11042559" cy="3896317"/>
          </a:xfrm>
          <a:prstGeom prst="roundRect">
            <a:avLst>
              <a:gd name="adj" fmla="val 11014"/>
            </a:avLst>
          </a:prstGeom>
          <a:solidFill>
            <a:srgbClr val="F2F2F2"/>
          </a:solidFill>
          <a:ln w="12700" algn="ctr">
            <a:solidFill>
              <a:srgbClr val="000000"/>
            </a:solidFill>
            <a:round/>
            <a:headEnd/>
            <a:tailEnd/>
          </a:ln>
        </p:spPr>
        <p:txBody>
          <a:bodyPr lIns="83485" tIns="41742" rIns="83485" bIns="41742"/>
          <a:lstStyle/>
          <a:p>
            <a:pPr defTabSz="174625" fontAlgn="base">
              <a:lnSpc>
                <a:spcPct val="130000"/>
              </a:lnSpc>
              <a:spcBef>
                <a:spcPct val="0"/>
              </a:spcBef>
              <a:spcAft>
                <a:spcPct val="0"/>
              </a:spcAft>
            </a:pPr>
            <a:r>
              <a:rPr lang="es-ES_tradnl" sz="1600" dirty="0">
                <a:solidFill>
                  <a:srgbClr val="000000"/>
                </a:solidFill>
                <a:latin typeface="Arial" pitchFamily="34" charset="0"/>
                <a:cs typeface="Arial" pitchFamily="34" charset="0"/>
              </a:rPr>
              <a:t>Franklin es el director del proyecto de instalación de una Subestación de Potencia en su comunidad y tiene un presupuesto de USD 800,000. El proyecto está programado para durar un año con la misma cantidad de trabajo realizado en cada trimestre. El segundo trimestre del proyecto ha terminado y Franklin ha gastado USD 350,000, pero solo ha terminado el 40% del trabajo del proyecto.</a:t>
            </a:r>
          </a:p>
          <a:p>
            <a:pPr defTabSz="174625" fontAlgn="base">
              <a:lnSpc>
                <a:spcPct val="130000"/>
              </a:lnSpc>
              <a:spcBef>
                <a:spcPct val="0"/>
              </a:spcBef>
              <a:spcAft>
                <a:spcPct val="0"/>
              </a:spcAft>
            </a:pPr>
            <a:r>
              <a:rPr lang="es-ES_tradnl" sz="1600" dirty="0">
                <a:solidFill>
                  <a:srgbClr val="000000"/>
                </a:solidFill>
                <a:latin typeface="Arial" pitchFamily="34" charset="0"/>
                <a:cs typeface="Arial" pitchFamily="34" charset="0"/>
              </a:rPr>
              <a:t>La gerencia necesita un informe de la variación de la programación del proyecto. Qué valor debe informar Franklin en este caso?</a:t>
            </a:r>
          </a:p>
          <a:p>
            <a:pPr defTabSz="174625" fontAlgn="base">
              <a:lnSpc>
                <a:spcPct val="130000"/>
              </a:lnSpc>
              <a:spcBef>
                <a:spcPct val="0"/>
              </a:spcBef>
              <a:spcAft>
                <a:spcPct val="0"/>
              </a:spcAft>
            </a:pPr>
            <a:endParaRPr lang="es-ES_tradnl" sz="16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50,000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80,000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30,000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40,000</a:t>
            </a:r>
          </a:p>
          <a:p>
            <a:pPr defTabSz="174625" fontAlgn="base">
              <a:lnSpc>
                <a:spcPct val="130000"/>
              </a:lnSpc>
              <a:spcBef>
                <a:spcPct val="0"/>
              </a:spcBef>
              <a:spcAft>
                <a:spcPct val="0"/>
              </a:spcAft>
            </a:pPr>
            <a:endParaRPr lang="es-ES_tradnl" sz="14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endParaRPr lang="es-ES_tradnl" sz="1400" dirty="0">
              <a:solidFill>
                <a:srgbClr val="000000"/>
              </a:solidFill>
              <a:latin typeface="Arial" pitchFamily="34" charset="0"/>
              <a:cs typeface="Arial" pitchFamily="34" charset="0"/>
            </a:endParaRPr>
          </a:p>
        </p:txBody>
      </p:sp>
      <p:sp>
        <p:nvSpPr>
          <p:cNvPr id="12" name="Freeform 4"/>
          <p:cNvSpPr>
            <a:spLocks/>
          </p:cNvSpPr>
          <p:nvPr/>
        </p:nvSpPr>
        <p:spPr bwMode="auto">
          <a:xfrm>
            <a:off x="2539827" y="4946845"/>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Título 1"/>
          <p:cNvSpPr>
            <a:spLocks noGrp="1"/>
          </p:cNvSpPr>
          <p:nvPr>
            <p:ph type="title"/>
          </p:nvPr>
        </p:nvSpPr>
        <p:spPr>
          <a:xfrm>
            <a:off x="581192" y="702156"/>
            <a:ext cx="11029616" cy="1013800"/>
          </a:xfrm>
        </p:spPr>
        <p:txBody>
          <a:bodyPr/>
          <a:lstStyle/>
          <a:p>
            <a:r>
              <a:rPr lang="es-ES" dirty="0"/>
              <a:t>CASO 01</a:t>
            </a:r>
            <a:endParaRPr lang="en-US" dirty="0"/>
          </a:p>
        </p:txBody>
      </p:sp>
    </p:spTree>
    <p:extLst>
      <p:ext uri="{BB962C8B-B14F-4D97-AF65-F5344CB8AC3E}">
        <p14:creationId xmlns:p14="http://schemas.microsoft.com/office/powerpoint/2010/main" val="415788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Título 1"/>
          <p:cNvSpPr>
            <a:spLocks noGrp="1"/>
          </p:cNvSpPr>
          <p:nvPr>
            <p:ph type="title"/>
          </p:nvPr>
        </p:nvSpPr>
        <p:spPr>
          <a:xfrm>
            <a:off x="581192" y="702156"/>
            <a:ext cx="11029616" cy="1013800"/>
          </a:xfrm>
        </p:spPr>
        <p:txBody>
          <a:bodyPr/>
          <a:lstStyle/>
          <a:p>
            <a:r>
              <a:rPr lang="es-ES" dirty="0"/>
              <a:t>CASO 01</a:t>
            </a:r>
            <a:endParaRPr lang="en-US" dirty="0"/>
          </a:p>
        </p:txBody>
      </p:sp>
      <p:sp>
        <p:nvSpPr>
          <p:cNvPr id="2" name="Rectángulo 1"/>
          <p:cNvSpPr/>
          <p:nvPr/>
        </p:nvSpPr>
        <p:spPr>
          <a:xfrm>
            <a:off x="696036" y="1856096"/>
            <a:ext cx="2115403" cy="40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BAC: $800,000</a:t>
            </a:r>
          </a:p>
        </p:txBody>
      </p:sp>
      <p:sp>
        <p:nvSpPr>
          <p:cNvPr id="11" name="Rectángulo 10"/>
          <p:cNvSpPr/>
          <p:nvPr/>
        </p:nvSpPr>
        <p:spPr>
          <a:xfrm>
            <a:off x="696036" y="2690884"/>
            <a:ext cx="2115403" cy="40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PV: $400,000</a:t>
            </a:r>
          </a:p>
        </p:txBody>
      </p:sp>
      <p:sp>
        <p:nvSpPr>
          <p:cNvPr id="14" name="Rectángulo 13"/>
          <p:cNvSpPr/>
          <p:nvPr/>
        </p:nvSpPr>
        <p:spPr>
          <a:xfrm>
            <a:off x="696035" y="3666628"/>
            <a:ext cx="2115403" cy="40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AC: $350,000</a:t>
            </a:r>
          </a:p>
        </p:txBody>
      </p:sp>
      <p:sp>
        <p:nvSpPr>
          <p:cNvPr id="15" name="Rectángulo 14"/>
          <p:cNvSpPr/>
          <p:nvPr/>
        </p:nvSpPr>
        <p:spPr>
          <a:xfrm>
            <a:off x="696034" y="4571894"/>
            <a:ext cx="3043453" cy="889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EV: 40% ($800,000)</a:t>
            </a:r>
          </a:p>
          <a:p>
            <a:pPr algn="ctr"/>
            <a:r>
              <a:rPr lang="es-PE" dirty="0"/>
              <a:t>EV: $320,000</a:t>
            </a:r>
          </a:p>
        </p:txBody>
      </p:sp>
      <p:sp>
        <p:nvSpPr>
          <p:cNvPr id="16" name="Rectángulo 15"/>
          <p:cNvSpPr/>
          <p:nvPr/>
        </p:nvSpPr>
        <p:spPr>
          <a:xfrm>
            <a:off x="7058168" y="2859597"/>
            <a:ext cx="3013880" cy="15462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SV= EV-PV</a:t>
            </a:r>
          </a:p>
          <a:p>
            <a:pPr algn="ctr"/>
            <a:r>
              <a:rPr lang="es-PE" dirty="0"/>
              <a:t>SV= $320,000-$400,000</a:t>
            </a:r>
          </a:p>
          <a:p>
            <a:pPr algn="ctr"/>
            <a:r>
              <a:rPr lang="es-PE" dirty="0"/>
              <a:t>SV= -$80,000</a:t>
            </a:r>
          </a:p>
        </p:txBody>
      </p:sp>
      <p:cxnSp>
        <p:nvCxnSpPr>
          <p:cNvPr id="4" name="Conector recto de flecha 3"/>
          <p:cNvCxnSpPr>
            <a:stCxn id="2" idx="3"/>
            <a:endCxn id="16" idx="1"/>
          </p:cNvCxnSpPr>
          <p:nvPr/>
        </p:nvCxnSpPr>
        <p:spPr>
          <a:xfrm>
            <a:off x="2811439" y="2060812"/>
            <a:ext cx="4246729" cy="1571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a:stCxn id="11" idx="3"/>
            <a:endCxn id="16" idx="1"/>
          </p:cNvCxnSpPr>
          <p:nvPr/>
        </p:nvCxnSpPr>
        <p:spPr>
          <a:xfrm>
            <a:off x="2811439" y="2895600"/>
            <a:ext cx="4246729" cy="737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a:stCxn id="15" idx="3"/>
            <a:endCxn id="16" idx="1"/>
          </p:cNvCxnSpPr>
          <p:nvPr/>
        </p:nvCxnSpPr>
        <p:spPr>
          <a:xfrm flipV="1">
            <a:off x="3739487" y="3632739"/>
            <a:ext cx="3318681" cy="1383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67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4"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AutoShape 174"/>
          <p:cNvSpPr>
            <a:spLocks noChangeArrowheads="1"/>
          </p:cNvSpPr>
          <p:nvPr/>
        </p:nvSpPr>
        <p:spPr bwMode="auto">
          <a:xfrm>
            <a:off x="576775" y="1900323"/>
            <a:ext cx="11143443" cy="3391731"/>
          </a:xfrm>
          <a:prstGeom prst="roundRect">
            <a:avLst>
              <a:gd name="adj" fmla="val 11014"/>
            </a:avLst>
          </a:prstGeom>
          <a:solidFill>
            <a:srgbClr val="F2F2F2"/>
          </a:solidFill>
          <a:ln w="12700" algn="ctr">
            <a:solidFill>
              <a:srgbClr val="000000"/>
            </a:solidFill>
            <a:round/>
            <a:headEnd/>
            <a:tailEnd/>
          </a:ln>
        </p:spPr>
        <p:txBody>
          <a:bodyPr lIns="83485" tIns="41742" rIns="83485" bIns="41742"/>
          <a:lstStyle/>
          <a:p>
            <a:pPr defTabSz="174625" fontAlgn="base">
              <a:lnSpc>
                <a:spcPct val="130000"/>
              </a:lnSpc>
              <a:spcBef>
                <a:spcPct val="0"/>
              </a:spcBef>
              <a:spcAft>
                <a:spcPct val="0"/>
              </a:spcAft>
            </a:pPr>
            <a:r>
              <a:rPr lang="es-ES_tradnl" sz="1600" dirty="0" err="1">
                <a:solidFill>
                  <a:srgbClr val="000000"/>
                </a:solidFill>
                <a:latin typeface="Arial" pitchFamily="34" charset="0"/>
                <a:cs typeface="Arial" pitchFamily="34" charset="0"/>
              </a:rPr>
              <a:t>Rider</a:t>
            </a:r>
            <a:r>
              <a:rPr lang="es-ES_tradnl" sz="1600" dirty="0">
                <a:solidFill>
                  <a:srgbClr val="000000"/>
                </a:solidFill>
                <a:latin typeface="Arial" pitchFamily="34" charset="0"/>
                <a:cs typeface="Arial" pitchFamily="34" charset="0"/>
              </a:rPr>
              <a:t> es el director del proyecto de instalación de un sistema de compensación reactiva para una nueva línea de proceso de chancado en las instalaciones de su nuevo cliente. Este proyecto tiene un BAC de USD 2,456,900 y un 60% completo. </a:t>
            </a:r>
            <a:r>
              <a:rPr lang="es-ES_tradnl" sz="1600" dirty="0" err="1">
                <a:solidFill>
                  <a:srgbClr val="000000"/>
                </a:solidFill>
                <a:latin typeface="Arial" pitchFamily="34" charset="0"/>
                <a:cs typeface="Arial" pitchFamily="34" charset="0"/>
              </a:rPr>
              <a:t>Rider</a:t>
            </a:r>
            <a:r>
              <a:rPr lang="es-ES_tradnl" sz="1600" dirty="0">
                <a:solidFill>
                  <a:srgbClr val="000000"/>
                </a:solidFill>
                <a:latin typeface="Arial" pitchFamily="34" charset="0"/>
                <a:cs typeface="Arial" pitchFamily="34" charset="0"/>
              </a:rPr>
              <a:t> ha intensificado el proyecto, lo que ha impulsado los costos del proyecto hasta la fecha a USD 1,525,140, pero su proyecto está 5% más avanzado de lo que estaba previsto. Cuál es la variación en los costos para este proyecto que </a:t>
            </a:r>
            <a:r>
              <a:rPr lang="es-ES_tradnl" sz="1600" dirty="0" err="1">
                <a:solidFill>
                  <a:srgbClr val="000000"/>
                </a:solidFill>
                <a:latin typeface="Arial" pitchFamily="34" charset="0"/>
                <a:cs typeface="Arial" pitchFamily="34" charset="0"/>
              </a:rPr>
              <a:t>Rider</a:t>
            </a:r>
            <a:r>
              <a:rPr lang="es-ES_tradnl" sz="1600" dirty="0">
                <a:solidFill>
                  <a:srgbClr val="000000"/>
                </a:solidFill>
                <a:latin typeface="Arial" pitchFamily="34" charset="0"/>
                <a:cs typeface="Arial" pitchFamily="34" charset="0"/>
              </a:rPr>
              <a:t> tiene que informar a la Gerencia?</a:t>
            </a:r>
          </a:p>
          <a:p>
            <a:pPr defTabSz="174625" fontAlgn="base">
              <a:lnSpc>
                <a:spcPct val="130000"/>
              </a:lnSpc>
              <a:spcBef>
                <a:spcPct val="0"/>
              </a:spcBef>
              <a:spcAft>
                <a:spcPct val="0"/>
              </a:spcAft>
            </a:pPr>
            <a:endParaRPr lang="es-ES_tradnl" sz="16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USD 122,845</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51,000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 USD 85,000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0</a:t>
            </a:r>
          </a:p>
          <a:p>
            <a:pPr defTabSz="174625" fontAlgn="base">
              <a:lnSpc>
                <a:spcPct val="130000"/>
              </a:lnSpc>
              <a:spcBef>
                <a:spcPct val="0"/>
              </a:spcBef>
              <a:spcAft>
                <a:spcPct val="0"/>
              </a:spcAft>
            </a:pPr>
            <a:endParaRPr lang="es-ES_tradnl" sz="14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endParaRPr lang="es-ES_tradnl" sz="1400" dirty="0">
              <a:solidFill>
                <a:srgbClr val="000000"/>
              </a:solidFill>
              <a:latin typeface="Arial" pitchFamily="34" charset="0"/>
              <a:cs typeface="Arial" pitchFamily="34" charset="0"/>
            </a:endParaRPr>
          </a:p>
        </p:txBody>
      </p:sp>
      <p:sp>
        <p:nvSpPr>
          <p:cNvPr id="12" name="Freeform 4"/>
          <p:cNvSpPr>
            <a:spLocks/>
          </p:cNvSpPr>
          <p:nvPr/>
        </p:nvSpPr>
        <p:spPr bwMode="auto">
          <a:xfrm>
            <a:off x="2567533" y="4285044"/>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Título 1"/>
          <p:cNvSpPr>
            <a:spLocks noGrp="1"/>
          </p:cNvSpPr>
          <p:nvPr>
            <p:ph type="title"/>
          </p:nvPr>
        </p:nvSpPr>
        <p:spPr>
          <a:xfrm>
            <a:off x="581192" y="702156"/>
            <a:ext cx="11029616" cy="1013800"/>
          </a:xfrm>
        </p:spPr>
        <p:txBody>
          <a:bodyPr/>
          <a:lstStyle/>
          <a:p>
            <a:r>
              <a:rPr lang="es-ES" dirty="0"/>
              <a:t>CASO 02</a:t>
            </a:r>
            <a:endParaRPr lang="en-US" dirty="0"/>
          </a:p>
        </p:txBody>
      </p:sp>
    </p:spTree>
    <p:extLst>
      <p:ext uri="{BB962C8B-B14F-4D97-AF65-F5344CB8AC3E}">
        <p14:creationId xmlns:p14="http://schemas.microsoft.com/office/powerpoint/2010/main" val="412304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Título 1"/>
          <p:cNvSpPr>
            <a:spLocks noGrp="1"/>
          </p:cNvSpPr>
          <p:nvPr>
            <p:ph type="title"/>
          </p:nvPr>
        </p:nvSpPr>
        <p:spPr>
          <a:xfrm>
            <a:off x="581192" y="702156"/>
            <a:ext cx="11029616" cy="1013800"/>
          </a:xfrm>
        </p:spPr>
        <p:txBody>
          <a:bodyPr/>
          <a:lstStyle/>
          <a:p>
            <a:r>
              <a:rPr lang="es-ES" dirty="0"/>
              <a:t>CASO 02</a:t>
            </a:r>
            <a:endParaRPr lang="en-US" dirty="0"/>
          </a:p>
        </p:txBody>
      </p:sp>
      <p:sp>
        <p:nvSpPr>
          <p:cNvPr id="2" name="Rectángulo 1"/>
          <p:cNvSpPr/>
          <p:nvPr/>
        </p:nvSpPr>
        <p:spPr>
          <a:xfrm>
            <a:off x="682389" y="2402007"/>
            <a:ext cx="2115403" cy="40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BAC: $2,456,900</a:t>
            </a:r>
          </a:p>
        </p:txBody>
      </p:sp>
      <p:sp>
        <p:nvSpPr>
          <p:cNvPr id="11" name="Rectángulo 10"/>
          <p:cNvSpPr/>
          <p:nvPr/>
        </p:nvSpPr>
        <p:spPr>
          <a:xfrm>
            <a:off x="371475" y="3236794"/>
            <a:ext cx="2426317" cy="789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EV: 60% $(2,456,900)</a:t>
            </a:r>
          </a:p>
          <a:p>
            <a:pPr algn="ctr"/>
            <a:r>
              <a:rPr lang="es-PE" dirty="0"/>
              <a:t>EV: $1,474,140</a:t>
            </a:r>
          </a:p>
        </p:txBody>
      </p:sp>
      <p:sp>
        <p:nvSpPr>
          <p:cNvPr id="18" name="Rectángulo 17"/>
          <p:cNvSpPr/>
          <p:nvPr/>
        </p:nvSpPr>
        <p:spPr>
          <a:xfrm>
            <a:off x="710839" y="4451444"/>
            <a:ext cx="2115403" cy="609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AC: $1,525,140</a:t>
            </a:r>
          </a:p>
        </p:txBody>
      </p:sp>
      <p:sp>
        <p:nvSpPr>
          <p:cNvPr id="20" name="Rectángulo 19"/>
          <p:cNvSpPr/>
          <p:nvPr/>
        </p:nvSpPr>
        <p:spPr>
          <a:xfrm>
            <a:off x="4253553" y="2331493"/>
            <a:ext cx="2115403" cy="789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EV: 1.05 X PV</a:t>
            </a:r>
          </a:p>
        </p:txBody>
      </p:sp>
      <p:sp>
        <p:nvSpPr>
          <p:cNvPr id="21" name="Rectángulo 20"/>
          <p:cNvSpPr/>
          <p:nvPr/>
        </p:nvSpPr>
        <p:spPr>
          <a:xfrm>
            <a:off x="8220502" y="2977485"/>
            <a:ext cx="2115403" cy="13625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CV=  EV-AC</a:t>
            </a:r>
          </a:p>
          <a:p>
            <a:pPr algn="ctr"/>
            <a:r>
              <a:rPr lang="es-PE" dirty="0"/>
              <a:t>CV= - $51,000</a:t>
            </a:r>
          </a:p>
        </p:txBody>
      </p:sp>
      <p:cxnSp>
        <p:nvCxnSpPr>
          <p:cNvPr id="5" name="Conector recto de flecha 4"/>
          <p:cNvCxnSpPr>
            <a:stCxn id="20" idx="1"/>
          </p:cNvCxnSpPr>
          <p:nvPr/>
        </p:nvCxnSpPr>
        <p:spPr>
          <a:xfrm flipH="1">
            <a:off x="2826243" y="2726141"/>
            <a:ext cx="1427310" cy="932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a:cxnSpLocks/>
            <a:stCxn id="11" idx="3"/>
            <a:endCxn id="21" idx="1"/>
          </p:cNvCxnSpPr>
          <p:nvPr/>
        </p:nvCxnSpPr>
        <p:spPr>
          <a:xfrm>
            <a:off x="2797792" y="3631442"/>
            <a:ext cx="5422710" cy="27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a:stCxn id="18" idx="3"/>
            <a:endCxn id="21" idx="1"/>
          </p:cNvCxnSpPr>
          <p:nvPr/>
        </p:nvCxnSpPr>
        <p:spPr>
          <a:xfrm flipV="1">
            <a:off x="2826242" y="3658737"/>
            <a:ext cx="5394260" cy="1097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47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8" grpId="0" animBg="1"/>
      <p:bldP spid="20"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AutoShape 174"/>
          <p:cNvSpPr>
            <a:spLocks noChangeArrowheads="1"/>
          </p:cNvSpPr>
          <p:nvPr/>
        </p:nvSpPr>
        <p:spPr bwMode="auto">
          <a:xfrm>
            <a:off x="217843" y="1886169"/>
            <a:ext cx="11756314" cy="3877593"/>
          </a:xfrm>
          <a:prstGeom prst="roundRect">
            <a:avLst>
              <a:gd name="adj" fmla="val 11014"/>
            </a:avLst>
          </a:prstGeom>
          <a:solidFill>
            <a:srgbClr val="F2F2F2"/>
          </a:solidFill>
          <a:ln w="12700" algn="ctr">
            <a:solidFill>
              <a:srgbClr val="000000"/>
            </a:solidFill>
            <a:round/>
            <a:headEnd/>
            <a:tailEnd/>
          </a:ln>
        </p:spPr>
        <p:txBody>
          <a:bodyPr lIns="83485" tIns="41742" rIns="83485" bIns="41742"/>
          <a:lstStyle/>
          <a:p>
            <a:pPr defTabSz="174625" fontAlgn="base">
              <a:lnSpc>
                <a:spcPct val="130000"/>
              </a:lnSpc>
              <a:spcBef>
                <a:spcPct val="0"/>
              </a:spcBef>
              <a:spcAft>
                <a:spcPct val="0"/>
              </a:spcAft>
            </a:pPr>
            <a:r>
              <a:rPr lang="es-ES_tradnl" sz="1600" dirty="0" err="1">
                <a:solidFill>
                  <a:srgbClr val="000000"/>
                </a:solidFill>
                <a:latin typeface="Arial" pitchFamily="34" charset="0"/>
                <a:cs typeface="Arial" pitchFamily="34" charset="0"/>
              </a:rPr>
              <a:t>Ud</a:t>
            </a:r>
            <a:r>
              <a:rPr lang="es-ES_tradnl" sz="1600" dirty="0">
                <a:solidFill>
                  <a:srgbClr val="000000"/>
                </a:solidFill>
                <a:latin typeface="Arial" pitchFamily="34" charset="0"/>
                <a:cs typeface="Arial" pitchFamily="34" charset="0"/>
              </a:rPr>
              <a:t> es el gerente del proyecto de electrificación de comunidad nativa TUCPA. El proyecto tiene un presupuesto de USD 2,500,000 y está previsto que dure 6 meses. Su proyecto se encuentra actualmente al 40% completo, aunque debió estar al 45% según lo programado. Con el fin de llegar a este punto del proyecto, se ha gastado USD 1,200,000. La gerencia necesita un informe del rendimiento en relación con el proyecto TUCPA, ya que le preocupa que el proyecto se encuentre por encima del presupuesto al finalizar. Cuál es la estimación a la conclusión de este proyecto que tendrás que informar a la gerencia?</a:t>
            </a:r>
          </a:p>
          <a:p>
            <a:pPr defTabSz="174625" fontAlgn="base">
              <a:lnSpc>
                <a:spcPct val="130000"/>
              </a:lnSpc>
              <a:spcBef>
                <a:spcPct val="0"/>
              </a:spcBef>
              <a:spcAft>
                <a:spcPct val="0"/>
              </a:spcAft>
            </a:pPr>
            <a:endParaRPr lang="es-ES_tradnl" sz="16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USD 3,000,000</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USD 2,666,667</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USD 2,812,528</a:t>
            </a:r>
          </a:p>
          <a:p>
            <a:pPr marL="342900" indent="-342900" defTabSz="174625" fontAlgn="base">
              <a:lnSpc>
                <a:spcPct val="130000"/>
              </a:lnSpc>
              <a:spcBef>
                <a:spcPct val="0"/>
              </a:spcBef>
              <a:spcAft>
                <a:spcPct val="0"/>
              </a:spcAft>
              <a:buFontTx/>
              <a:buAutoNum type="alphaLcPeriod"/>
            </a:pPr>
            <a:r>
              <a:rPr lang="es-ES_tradnl" sz="1600" dirty="0">
                <a:solidFill>
                  <a:srgbClr val="000000"/>
                </a:solidFill>
                <a:latin typeface="Arial" pitchFamily="34" charset="0"/>
                <a:cs typeface="Arial" pitchFamily="34" charset="0"/>
              </a:rPr>
              <a:t>USD 2,222,222</a:t>
            </a:r>
          </a:p>
          <a:p>
            <a:pPr defTabSz="174625" fontAlgn="base">
              <a:lnSpc>
                <a:spcPct val="130000"/>
              </a:lnSpc>
              <a:spcBef>
                <a:spcPct val="0"/>
              </a:spcBef>
              <a:spcAft>
                <a:spcPct val="0"/>
              </a:spcAft>
            </a:pPr>
            <a:endParaRPr lang="es-ES_tradnl" sz="1400" dirty="0">
              <a:solidFill>
                <a:srgbClr val="000000"/>
              </a:solidFill>
              <a:latin typeface="Arial" pitchFamily="34" charset="0"/>
              <a:cs typeface="Arial" pitchFamily="34" charset="0"/>
            </a:endParaRPr>
          </a:p>
          <a:p>
            <a:pPr marL="342900" indent="-342900" defTabSz="174625" fontAlgn="base">
              <a:lnSpc>
                <a:spcPct val="130000"/>
              </a:lnSpc>
              <a:spcBef>
                <a:spcPct val="0"/>
              </a:spcBef>
              <a:spcAft>
                <a:spcPct val="0"/>
              </a:spcAft>
              <a:buFontTx/>
              <a:buAutoNum type="alphaLcPeriod"/>
            </a:pPr>
            <a:endParaRPr lang="es-ES_tradnl" sz="1400" dirty="0">
              <a:solidFill>
                <a:srgbClr val="000000"/>
              </a:solidFill>
              <a:latin typeface="Arial" pitchFamily="34" charset="0"/>
              <a:cs typeface="Arial" pitchFamily="34" charset="0"/>
            </a:endParaRPr>
          </a:p>
        </p:txBody>
      </p:sp>
      <p:sp>
        <p:nvSpPr>
          <p:cNvPr id="12" name="Freeform 4"/>
          <p:cNvSpPr>
            <a:spLocks/>
          </p:cNvSpPr>
          <p:nvPr/>
        </p:nvSpPr>
        <p:spPr bwMode="auto">
          <a:xfrm>
            <a:off x="2324880" y="4278088"/>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Título 1"/>
          <p:cNvSpPr>
            <a:spLocks noGrp="1"/>
          </p:cNvSpPr>
          <p:nvPr>
            <p:ph type="title"/>
          </p:nvPr>
        </p:nvSpPr>
        <p:spPr>
          <a:xfrm>
            <a:off x="581192" y="702156"/>
            <a:ext cx="11029616" cy="1013800"/>
          </a:xfrm>
        </p:spPr>
        <p:txBody>
          <a:bodyPr/>
          <a:lstStyle/>
          <a:p>
            <a:r>
              <a:rPr lang="es-ES" dirty="0"/>
              <a:t>CASO 03</a:t>
            </a:r>
            <a:endParaRPr lang="en-US" dirty="0"/>
          </a:p>
        </p:txBody>
      </p:sp>
    </p:spTree>
    <p:extLst>
      <p:ext uri="{BB962C8B-B14F-4D97-AF65-F5344CB8AC3E}">
        <p14:creationId xmlns:p14="http://schemas.microsoft.com/office/powerpoint/2010/main" val="8344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1927903" y="5804705"/>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2277434" y="5804706"/>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2603006" y="5804706"/>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2957812" y="5788037"/>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Título 1"/>
          <p:cNvSpPr>
            <a:spLocks noGrp="1"/>
          </p:cNvSpPr>
          <p:nvPr>
            <p:ph type="title"/>
          </p:nvPr>
        </p:nvSpPr>
        <p:spPr>
          <a:xfrm>
            <a:off x="581192" y="702156"/>
            <a:ext cx="11029616" cy="1013800"/>
          </a:xfrm>
        </p:spPr>
        <p:txBody>
          <a:bodyPr/>
          <a:lstStyle/>
          <a:p>
            <a:r>
              <a:rPr lang="es-ES" dirty="0"/>
              <a:t>CASO 03</a:t>
            </a:r>
            <a:endParaRPr lang="en-US" dirty="0"/>
          </a:p>
        </p:txBody>
      </p:sp>
      <p:sp>
        <p:nvSpPr>
          <p:cNvPr id="2" name="Rectángulo 1"/>
          <p:cNvSpPr/>
          <p:nvPr/>
        </p:nvSpPr>
        <p:spPr>
          <a:xfrm>
            <a:off x="2033517" y="1910688"/>
            <a:ext cx="2115403" cy="40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BAC: $2,500,000</a:t>
            </a:r>
          </a:p>
        </p:txBody>
      </p:sp>
      <p:sp>
        <p:nvSpPr>
          <p:cNvPr id="11" name="Rectángulo 10"/>
          <p:cNvSpPr/>
          <p:nvPr/>
        </p:nvSpPr>
        <p:spPr>
          <a:xfrm>
            <a:off x="1838325" y="2745475"/>
            <a:ext cx="2428875" cy="789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EV: 40% ($2,500,000)</a:t>
            </a:r>
          </a:p>
          <a:p>
            <a:pPr algn="ctr"/>
            <a:r>
              <a:rPr lang="es-PE" dirty="0"/>
              <a:t>EV: $1,000,000</a:t>
            </a:r>
          </a:p>
        </p:txBody>
      </p:sp>
      <p:sp>
        <p:nvSpPr>
          <p:cNvPr id="15" name="Rectángulo 14"/>
          <p:cNvSpPr/>
          <p:nvPr/>
        </p:nvSpPr>
        <p:spPr>
          <a:xfrm>
            <a:off x="1838326" y="3960125"/>
            <a:ext cx="2428874" cy="789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PV: 45% ($2,500,000)</a:t>
            </a:r>
          </a:p>
          <a:p>
            <a:pPr algn="ctr"/>
            <a:r>
              <a:rPr lang="es-PE" dirty="0"/>
              <a:t>EV: $1,125,000</a:t>
            </a:r>
          </a:p>
        </p:txBody>
      </p:sp>
      <p:sp>
        <p:nvSpPr>
          <p:cNvPr id="16" name="Rectángulo 15"/>
          <p:cNvSpPr/>
          <p:nvPr/>
        </p:nvSpPr>
        <p:spPr>
          <a:xfrm>
            <a:off x="2033515" y="5174775"/>
            <a:ext cx="2115403" cy="789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AC: $1,200,000</a:t>
            </a:r>
          </a:p>
        </p:txBody>
      </p:sp>
      <p:sp>
        <p:nvSpPr>
          <p:cNvPr id="17" name="Rectángulo 16"/>
          <p:cNvSpPr/>
          <p:nvPr/>
        </p:nvSpPr>
        <p:spPr>
          <a:xfrm>
            <a:off x="6785211" y="3212331"/>
            <a:ext cx="2713630" cy="10959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EAC= BAC / CPI</a:t>
            </a:r>
          </a:p>
          <a:p>
            <a:pPr algn="ctr"/>
            <a:r>
              <a:rPr lang="es-PE" dirty="0"/>
              <a:t>EAC= BAC / (EV/AC)</a:t>
            </a:r>
          </a:p>
          <a:p>
            <a:pPr algn="ctr"/>
            <a:r>
              <a:rPr lang="es-PE" dirty="0"/>
              <a:t>EAC= $3,000,000</a:t>
            </a:r>
          </a:p>
        </p:txBody>
      </p:sp>
      <p:cxnSp>
        <p:nvCxnSpPr>
          <p:cNvPr id="4" name="Conector recto de flecha 3"/>
          <p:cNvCxnSpPr>
            <a:stCxn id="2" idx="3"/>
            <a:endCxn id="17" idx="1"/>
          </p:cNvCxnSpPr>
          <p:nvPr/>
        </p:nvCxnSpPr>
        <p:spPr>
          <a:xfrm>
            <a:off x="4148920" y="2115404"/>
            <a:ext cx="2636291" cy="1644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a:cxnSpLocks/>
            <a:stCxn id="11" idx="3"/>
            <a:endCxn id="17" idx="1"/>
          </p:cNvCxnSpPr>
          <p:nvPr/>
        </p:nvCxnSpPr>
        <p:spPr>
          <a:xfrm>
            <a:off x="4267200" y="3140123"/>
            <a:ext cx="2518011" cy="620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a:cxnSpLocks/>
            <a:stCxn id="15" idx="3"/>
            <a:endCxn id="17" idx="1"/>
          </p:cNvCxnSpPr>
          <p:nvPr/>
        </p:nvCxnSpPr>
        <p:spPr>
          <a:xfrm flipV="1">
            <a:off x="4267200" y="3760330"/>
            <a:ext cx="2518011" cy="594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a:stCxn id="16" idx="3"/>
            <a:endCxn id="17" idx="1"/>
          </p:cNvCxnSpPr>
          <p:nvPr/>
        </p:nvCxnSpPr>
        <p:spPr>
          <a:xfrm flipV="1">
            <a:off x="4148918" y="3760330"/>
            <a:ext cx="2636293" cy="1809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62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4225</TotalTime>
  <Words>1688</Words>
  <Application>Microsoft Office PowerPoint</Application>
  <PresentationFormat>Panorámica</PresentationFormat>
  <Paragraphs>280</Paragraphs>
  <Slides>26</Slides>
  <Notes>0</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26</vt:i4>
      </vt:variant>
    </vt:vector>
  </HeadingPairs>
  <TitlesOfParts>
    <vt:vector size="40" baseType="lpstr">
      <vt:lpstr>Arial</vt:lpstr>
      <vt:lpstr>Arial Narrow</vt:lpstr>
      <vt:lpstr>Book Antiqua</vt:lpstr>
      <vt:lpstr>Calibri</vt:lpstr>
      <vt:lpstr>Calibri Light</vt:lpstr>
      <vt:lpstr>Comic Sans MS</vt:lpstr>
      <vt:lpstr>Futura-Bold</vt:lpstr>
      <vt:lpstr>Lato Light</vt:lpstr>
      <vt:lpstr>Poppins</vt:lpstr>
      <vt:lpstr>Prompt</vt:lpstr>
      <vt:lpstr>Tw Cen MT</vt:lpstr>
      <vt:lpstr>Verdana</vt:lpstr>
      <vt:lpstr>Wingdings</vt:lpstr>
      <vt:lpstr>Tema de Office</vt:lpstr>
      <vt:lpstr>Presentación de PowerPoint</vt:lpstr>
      <vt:lpstr>Presentación de PowerPoint</vt:lpstr>
      <vt:lpstr>SESIÓN 08 EL CONTROL DEL PRESUPUESTO</vt:lpstr>
      <vt:lpstr>Presentación de PowerPoint</vt:lpstr>
      <vt:lpstr>01. REGLAS CLARAS PARA EL CONTROL Y REPORTE DEL PRESUPUESTO </vt:lpstr>
      <vt:lpstr>01. REGLAS CLARAS PARA EL CONTROL Y REPORTE DEL PRESUPUESTO </vt:lpstr>
      <vt:lpstr>01. REGLAS CLARAS PARA EL CONTROL Y REPORTE DEL PRESUPUESTO </vt:lpstr>
      <vt:lpstr>02. ¿CUÁNDO USAR LA RESERVA DE GESTIÓN Y LA RESERVA DE CONTINGENCIA?</vt:lpstr>
      <vt:lpstr>02. ¿CUÁNDO USAR LA RESERVA DE GESTIÓN Y LA RESERVA DE CONTINGENCIA?</vt:lpstr>
      <vt:lpstr>03. CONTROL CON EVM: UN PASO MÁS ALLÁ</vt:lpstr>
      <vt:lpstr>03. CONTROL CON EVM: UN PASO MÁS ALLÁ</vt:lpstr>
      <vt:lpstr>03. CONTROL CON EVM: UN PASO MÁS ALLÁ</vt:lpstr>
      <vt:lpstr>03. CONTROL CON EVM: UN PASO MÁS ALLÁ</vt:lpstr>
      <vt:lpstr>03. CONTROL CON EVM: UN PASO MÁS ALLÁ</vt:lpstr>
      <vt:lpstr>03. CONTROL CON EVM: UN PASO MÁS ALLÁ</vt:lpstr>
      <vt:lpstr>03. CONTROL CON EVM: UN PASO MÁS ALLÁ</vt:lpstr>
      <vt:lpstr>03. CONTROL CON EVM: UN PASO MÁS ALLÁ</vt:lpstr>
      <vt:lpstr>03. CONTROL CON EVM: UN PASO MÁS ALLÁ</vt:lpstr>
      <vt:lpstr>03. CONTROL CON EVM: UN PASO MÁS ALLÁ</vt:lpstr>
      <vt:lpstr>CASO 01</vt:lpstr>
      <vt:lpstr>CASO 01</vt:lpstr>
      <vt:lpstr>CASO 02</vt:lpstr>
      <vt:lpstr>CASO 02</vt:lpstr>
      <vt:lpstr>CASO 03</vt:lpstr>
      <vt:lpstr>CASO 03</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Angel Omar Gonzales</cp:lastModifiedBy>
  <cp:revision>57</cp:revision>
  <dcterms:created xsi:type="dcterms:W3CDTF">2022-04-19T18:02:09Z</dcterms:created>
  <dcterms:modified xsi:type="dcterms:W3CDTF">2023-10-25T03:03:09Z</dcterms:modified>
</cp:coreProperties>
</file>