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88" r:id="rId5"/>
    <p:sldId id="346" r:id="rId6"/>
    <p:sldId id="366" r:id="rId7"/>
    <p:sldId id="348" r:id="rId8"/>
    <p:sldId id="349" r:id="rId9"/>
    <p:sldId id="350" r:id="rId10"/>
    <p:sldId id="365" r:id="rId11"/>
    <p:sldId id="351" r:id="rId12"/>
    <p:sldId id="260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12/10/2023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inelinc/" TargetMode="External"/><Relationship Id="rId2" Type="http://schemas.openxmlformats.org/officeDocument/2006/relationships/hyperlink" Target="https://www.linkedin.com/company/inelin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inelinc" TargetMode="External"/><Relationship Id="rId4" Type="http://schemas.openxmlformats.org/officeDocument/2006/relationships/hyperlink" Target="https://www.instagram.com/inel.inc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469177" y="541700"/>
            <a:ext cx="381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CURSO DE FORMACIÓN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89950" y="2754228"/>
            <a:ext cx="10993549" cy="147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GESTIÓN DE PROYECTOS ELECTROMECÁNICOS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783075" y="375423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Según 7ma edición PMBOK® - PROJECT MANAGEMENT INSTITUTE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205311" y="4943265"/>
            <a:ext cx="31771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MAYOR ENFOQUE A </a:t>
            </a:r>
            <a:r>
              <a:rPr 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… QUE A ENTREGABLES</a:t>
            </a: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64FB8828-6999-4A9C-6074-68E59EA6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72" y="2757273"/>
            <a:ext cx="10407677" cy="1652802"/>
          </a:xfrm>
        </p:spPr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SESIÓN 05</a:t>
            </a:r>
            <a:br>
              <a:rPr lang="es-ES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</a:br>
            <a:r>
              <a:rPr lang="es-ES" sz="3600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EL MAYOR FACTOR DE DISCUSIÓN: EL CRONOGRAMA</a:t>
            </a:r>
          </a:p>
        </p:txBody>
      </p:sp>
    </p:spTree>
    <p:extLst>
      <p:ext uri="{BB962C8B-B14F-4D97-AF65-F5344CB8AC3E}">
        <p14:creationId xmlns:p14="http://schemas.microsoft.com/office/powerpoint/2010/main" val="107133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hlinkClick r:id="rId2"/>
            <a:extLst>
              <a:ext uri="{FF2B5EF4-FFF2-40B4-BE49-F238E27FC236}">
                <a16:creationId xmlns:a16="http://schemas.microsoft.com/office/drawing/2014/main" id="{7B96E061-6B28-4B27-A40C-4AC919FA18F4}"/>
              </a:ext>
            </a:extLst>
          </p:cNvPr>
          <p:cNvSpPr/>
          <p:nvPr/>
        </p:nvSpPr>
        <p:spPr>
          <a:xfrm>
            <a:off x="576775" y="6296024"/>
            <a:ext cx="295422" cy="2547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hlinkClick r:id="rId3"/>
            <a:extLst>
              <a:ext uri="{FF2B5EF4-FFF2-40B4-BE49-F238E27FC236}">
                <a16:creationId xmlns:a16="http://schemas.microsoft.com/office/drawing/2014/main" id="{46BABD7D-8BAF-4EA4-A549-45A745C7D66C}"/>
              </a:ext>
            </a:extLst>
          </p:cNvPr>
          <p:cNvSpPr/>
          <p:nvPr/>
        </p:nvSpPr>
        <p:spPr>
          <a:xfrm>
            <a:off x="926306" y="6296025"/>
            <a:ext cx="271463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hlinkClick r:id="rId4"/>
            <a:extLst>
              <a:ext uri="{FF2B5EF4-FFF2-40B4-BE49-F238E27FC236}">
                <a16:creationId xmlns:a16="http://schemas.microsoft.com/office/drawing/2014/main" id="{E5B07E67-A089-4608-951D-824EA803B2C8}"/>
              </a:ext>
            </a:extLst>
          </p:cNvPr>
          <p:cNvSpPr/>
          <p:nvPr/>
        </p:nvSpPr>
        <p:spPr>
          <a:xfrm>
            <a:off x="1251878" y="6296025"/>
            <a:ext cx="300697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hlinkClick r:id="rId5"/>
            <a:extLst>
              <a:ext uri="{FF2B5EF4-FFF2-40B4-BE49-F238E27FC236}">
                <a16:creationId xmlns:a16="http://schemas.microsoft.com/office/drawing/2014/main" id="{B2CCC631-FFDD-4E26-9159-C5BB2FC4F05C}"/>
              </a:ext>
            </a:extLst>
          </p:cNvPr>
          <p:cNvSpPr/>
          <p:nvPr/>
        </p:nvSpPr>
        <p:spPr>
          <a:xfrm>
            <a:off x="1606684" y="6279356"/>
            <a:ext cx="345941" cy="304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0DC3D3-042A-4FBC-84AB-5E5F72824E1E}"/>
              </a:ext>
            </a:extLst>
          </p:cNvPr>
          <p:cNvSpPr txBox="1"/>
          <p:nvPr/>
        </p:nvSpPr>
        <p:spPr>
          <a:xfrm>
            <a:off x="480300" y="734293"/>
            <a:ext cx="7335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dirty="0">
                <a:latin typeface="Futura-Bold" pitchFamily="2" charset="0"/>
              </a:rPr>
              <a:t>Agenda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5AB2D3A9-6F4D-344C-9378-75484DCB9681}"/>
              </a:ext>
            </a:extLst>
          </p:cNvPr>
          <p:cNvSpPr/>
          <p:nvPr/>
        </p:nvSpPr>
        <p:spPr>
          <a:xfrm>
            <a:off x="2808838" y="1340118"/>
            <a:ext cx="891540" cy="891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0B9D3BC8-4C2E-D642-88E4-84578137B50B}"/>
              </a:ext>
            </a:extLst>
          </p:cNvPr>
          <p:cNvSpPr/>
          <p:nvPr/>
        </p:nvSpPr>
        <p:spPr>
          <a:xfrm>
            <a:off x="2808838" y="2414538"/>
            <a:ext cx="891540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F076D6E-3CB7-EA4F-ABFD-595DE2B0EE21}"/>
              </a:ext>
            </a:extLst>
          </p:cNvPr>
          <p:cNvSpPr/>
          <p:nvPr/>
        </p:nvSpPr>
        <p:spPr>
          <a:xfrm>
            <a:off x="2808838" y="3488958"/>
            <a:ext cx="891540" cy="8915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86E61A51-4080-D747-BEEC-36EB62F657E7}"/>
              </a:ext>
            </a:extLst>
          </p:cNvPr>
          <p:cNvSpPr txBox="1"/>
          <p:nvPr/>
        </p:nvSpPr>
        <p:spPr>
          <a:xfrm>
            <a:off x="2949877" y="1320153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5E35E49-1469-C74E-9808-7442A8C2701B}"/>
              </a:ext>
            </a:extLst>
          </p:cNvPr>
          <p:cNvSpPr txBox="1"/>
          <p:nvPr/>
        </p:nvSpPr>
        <p:spPr>
          <a:xfrm>
            <a:off x="2949877" y="2394573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3013026D-5AAE-5046-9336-9D0A775EEB0C}"/>
              </a:ext>
            </a:extLst>
          </p:cNvPr>
          <p:cNvSpPr txBox="1"/>
          <p:nvPr/>
        </p:nvSpPr>
        <p:spPr>
          <a:xfrm>
            <a:off x="2949876" y="3468993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F1DA5C09-0AA0-3A46-98D0-C4584C233D3D}"/>
              </a:ext>
            </a:extLst>
          </p:cNvPr>
          <p:cNvSpPr/>
          <p:nvPr/>
        </p:nvSpPr>
        <p:spPr>
          <a:xfrm>
            <a:off x="3703984" y="1340118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9EC1C1FF-95F0-C749-8196-8724C6BAE2D6}"/>
              </a:ext>
            </a:extLst>
          </p:cNvPr>
          <p:cNvSpPr/>
          <p:nvPr/>
        </p:nvSpPr>
        <p:spPr>
          <a:xfrm>
            <a:off x="3703984" y="2414538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2454F0E4-D6B4-AA48-8BA5-62A6EA619989}"/>
              </a:ext>
            </a:extLst>
          </p:cNvPr>
          <p:cNvSpPr/>
          <p:nvPr/>
        </p:nvSpPr>
        <p:spPr>
          <a:xfrm>
            <a:off x="3703984" y="3488958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43A67BBC-AC66-0343-BD39-82BB808757E4}"/>
              </a:ext>
            </a:extLst>
          </p:cNvPr>
          <p:cNvSpPr txBox="1"/>
          <p:nvPr/>
        </p:nvSpPr>
        <p:spPr>
          <a:xfrm>
            <a:off x="4038338" y="1616611"/>
            <a:ext cx="508664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TIPOS DE CRONOGRAMAS: ¿CUÁL TE SIRVE MÁS?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DDCD1AEF-006A-5D49-8BFB-CCAA6EEED0CA}"/>
              </a:ext>
            </a:extLst>
          </p:cNvPr>
          <p:cNvSpPr txBox="1"/>
          <p:nvPr/>
        </p:nvSpPr>
        <p:spPr>
          <a:xfrm>
            <a:off x="4038338" y="2691031"/>
            <a:ext cx="235032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REGLAS DE MEDICIÓN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68DC790B-F525-9E48-B131-CE273BCAC9B7}"/>
              </a:ext>
            </a:extLst>
          </p:cNvPr>
          <p:cNvSpPr txBox="1"/>
          <p:nvPr/>
        </p:nvSpPr>
        <p:spPr>
          <a:xfrm>
            <a:off x="4038338" y="3665200"/>
            <a:ext cx="586766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DEFINICIÓN DE ACTIVIDADES, SECUENCIAMIENTO, DURACIÓN Y HOLGURAS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1895D-6130-E19F-32DC-76BAC7524286}"/>
              </a:ext>
            </a:extLst>
          </p:cNvPr>
          <p:cNvSpPr/>
          <p:nvPr/>
        </p:nvSpPr>
        <p:spPr>
          <a:xfrm>
            <a:off x="2805232" y="4552034"/>
            <a:ext cx="891540" cy="891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F056BC-2B1A-2493-D426-D29659FCD92D}"/>
              </a:ext>
            </a:extLst>
          </p:cNvPr>
          <p:cNvSpPr/>
          <p:nvPr/>
        </p:nvSpPr>
        <p:spPr>
          <a:xfrm>
            <a:off x="2805232" y="5626454"/>
            <a:ext cx="891540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46E0CB9-68B1-DF22-2846-A9FBBAA50C7B}"/>
              </a:ext>
            </a:extLst>
          </p:cNvPr>
          <p:cNvSpPr txBox="1"/>
          <p:nvPr/>
        </p:nvSpPr>
        <p:spPr>
          <a:xfrm>
            <a:off x="2946271" y="453206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D1AE89A-6FAB-255B-271C-E44EDAF70A3F}"/>
              </a:ext>
            </a:extLst>
          </p:cNvPr>
          <p:cNvSpPr txBox="1"/>
          <p:nvPr/>
        </p:nvSpPr>
        <p:spPr>
          <a:xfrm>
            <a:off x="2946271" y="560648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CBD35E3-BA0D-5D07-8996-7F6CB799E142}"/>
              </a:ext>
            </a:extLst>
          </p:cNvPr>
          <p:cNvSpPr/>
          <p:nvPr/>
        </p:nvSpPr>
        <p:spPr>
          <a:xfrm>
            <a:off x="3700378" y="455203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81121C02-161D-58A2-7B72-1FD62F32CFCA}"/>
              </a:ext>
            </a:extLst>
          </p:cNvPr>
          <p:cNvSpPr/>
          <p:nvPr/>
        </p:nvSpPr>
        <p:spPr>
          <a:xfrm>
            <a:off x="3700378" y="562645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F0E47D4A-6C74-0DED-846C-77817DFAC48D}"/>
              </a:ext>
            </a:extLst>
          </p:cNvPr>
          <p:cNvSpPr txBox="1"/>
          <p:nvPr/>
        </p:nvSpPr>
        <p:spPr>
          <a:xfrm>
            <a:off x="4034732" y="4828527"/>
            <a:ext cx="384913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¿EL CRASHING ó EL FAST TRACKING?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A6EBEE50-862C-0A19-9941-2E50B8AEC77D}"/>
              </a:ext>
            </a:extLst>
          </p:cNvPr>
          <p:cNvSpPr txBox="1"/>
          <p:nvPr/>
        </p:nvSpPr>
        <p:spPr>
          <a:xfrm>
            <a:off x="4034732" y="5902947"/>
            <a:ext cx="214834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CASOS PRÁCTICOS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398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6" grpId="0"/>
      <p:bldP spid="37" grpId="0"/>
      <p:bldP spid="38" grpId="0"/>
      <p:bldP spid="41" grpId="0" animBg="1"/>
      <p:bldP spid="42" grpId="0" animBg="1"/>
      <p:bldP spid="43" grpId="0" animBg="1"/>
      <p:bldP spid="46" grpId="0"/>
      <p:bldP spid="47" grpId="0"/>
      <p:bldP spid="48" grpId="0"/>
      <p:bldP spid="2" grpId="0" animBg="1"/>
      <p:bldP spid="3" grpId="0" animBg="1"/>
      <p:bldP spid="4" grpId="0"/>
      <p:bldP spid="5" grpId="0"/>
      <p:bldP spid="10" grpId="0" animBg="1"/>
      <p:bldP spid="12" grpId="0" animBg="1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522607" y="1883830"/>
            <a:ext cx="5820136" cy="84592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/>
          <p:cNvSpPr txBox="1"/>
          <p:nvPr/>
        </p:nvSpPr>
        <p:spPr>
          <a:xfrm>
            <a:off x="1007366" y="2045183"/>
            <a:ext cx="4850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¿Qué es un </a:t>
            </a:r>
            <a:r>
              <a:rPr lang="es-PE" sz="2800" b="1" dirty="0">
                <a:solidFill>
                  <a:srgbClr val="2E2B21"/>
                </a:solidFill>
                <a:latin typeface="Tahoma" pitchFamily="34" charset="0"/>
              </a:rPr>
              <a:t>CRONOGRAMA?</a:t>
            </a:r>
          </a:p>
        </p:txBody>
      </p:sp>
      <p:sp>
        <p:nvSpPr>
          <p:cNvPr id="3" name="Rectángulo redondeado 2"/>
          <p:cNvSpPr/>
          <p:nvPr/>
        </p:nvSpPr>
        <p:spPr>
          <a:xfrm>
            <a:off x="522607" y="3252033"/>
            <a:ext cx="11146784" cy="223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MODELO</a:t>
            </a:r>
            <a:r>
              <a:rPr lang="es-PE" dirty="0"/>
              <a:t> </a:t>
            </a:r>
            <a:r>
              <a:rPr lang="es-PE" sz="2000" dirty="0"/>
              <a:t>que representa:</a:t>
            </a:r>
          </a:p>
          <a:p>
            <a:pPr algn="ctr"/>
            <a:endParaRPr lang="es-PE" sz="2000" dirty="0"/>
          </a:p>
          <a:p>
            <a:pPr marL="342900" indent="-342900" algn="ctr">
              <a:buAutoNum type="arabicPeriod"/>
            </a:pPr>
            <a:r>
              <a:rPr lang="es-PE" sz="2000" dirty="0"/>
              <a:t>Cómo la </a:t>
            </a:r>
            <a:r>
              <a:rPr lang="es-PE" sz="2000" b="1" dirty="0"/>
              <a:t>CONTRATISTA</a:t>
            </a:r>
            <a:r>
              <a:rPr lang="es-PE" sz="2000" dirty="0"/>
              <a:t> tiene la intención de llevar a cabo las actividades del Plan de Trabajo</a:t>
            </a:r>
          </a:p>
          <a:p>
            <a:pPr marL="342900" indent="-342900" algn="ctr">
              <a:buAutoNum type="arabicPeriod"/>
            </a:pPr>
            <a:endParaRPr lang="es-PE" sz="2000" dirty="0"/>
          </a:p>
          <a:p>
            <a:pPr marL="342900" indent="-342900" algn="ctr">
              <a:buAutoNum type="arabicPeriod"/>
            </a:pPr>
            <a:r>
              <a:rPr lang="es-PE" sz="2000" dirty="0"/>
              <a:t>…Y cómo el </a:t>
            </a:r>
            <a:r>
              <a:rPr lang="es-PE" sz="2000" b="1" dirty="0"/>
              <a:t>PROPIETARIO (OWNER) </a:t>
            </a:r>
            <a:r>
              <a:rPr lang="es-PE" sz="2000" dirty="0"/>
              <a:t>deberá recibir el proyecto gradualmente.</a:t>
            </a: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45039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AFF711-1EDF-611B-C337-62D8C5A4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06" y="1775830"/>
            <a:ext cx="3635794" cy="4891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2F625B4-9D58-ACB3-F596-D69C0238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08966"/>
            <a:ext cx="5543548" cy="45717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3D1C4443-7886-BE73-EF74-F151AFAF0D29}"/>
              </a:ext>
            </a:extLst>
          </p:cNvPr>
          <p:cNvSpPr/>
          <p:nvPr/>
        </p:nvSpPr>
        <p:spPr>
          <a:xfrm>
            <a:off x="4733924" y="4714577"/>
            <a:ext cx="1338263" cy="4095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2063A8-1A9A-7235-321F-02D73AC7A8A7}"/>
              </a:ext>
            </a:extLst>
          </p:cNvPr>
          <p:cNvSpPr txBox="1"/>
          <p:nvPr/>
        </p:nvSpPr>
        <p:spPr>
          <a:xfrm>
            <a:off x="3195637" y="4457700"/>
            <a:ext cx="1438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PRIMERO construyo la EDT</a:t>
            </a:r>
            <a:endParaRPr lang="es-PE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204EED-8A9B-75FC-1EE2-A372500CE3E7}"/>
              </a:ext>
            </a:extLst>
          </p:cNvPr>
          <p:cNvSpPr txBox="1"/>
          <p:nvPr/>
        </p:nvSpPr>
        <p:spPr>
          <a:xfrm>
            <a:off x="6172200" y="4457700"/>
            <a:ext cx="1647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LUEGO elaboro el CRONOGRAMA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57714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ceso predefinido 2"/>
          <p:cNvSpPr/>
          <p:nvPr/>
        </p:nvSpPr>
        <p:spPr>
          <a:xfrm>
            <a:off x="4315481" y="3865157"/>
            <a:ext cx="4403188" cy="717452"/>
          </a:xfrm>
          <a:prstGeom prst="flowChartPredefinedProcess">
            <a:avLst/>
          </a:prstGeom>
          <a:solidFill>
            <a:srgbClr val="A9A57C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Plan de gestión del cronograma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Llamada rectangular 3"/>
          <p:cNvSpPr/>
          <p:nvPr/>
        </p:nvSpPr>
        <p:spPr>
          <a:xfrm>
            <a:off x="3371838" y="2429273"/>
            <a:ext cx="2419643" cy="872197"/>
          </a:xfrm>
          <a:prstGeom prst="wedgeRectCallout">
            <a:avLst>
              <a:gd name="adj1" fmla="val 25098"/>
              <a:gd name="adj2" fmla="val 118952"/>
            </a:avLst>
          </a:prstGeom>
          <a:solidFill>
            <a:srgbClr val="34E0F2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Modelo de cronograma a usar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Llamada rectangular 4"/>
          <p:cNvSpPr/>
          <p:nvPr/>
        </p:nvSpPr>
        <p:spPr>
          <a:xfrm>
            <a:off x="3769186" y="5220591"/>
            <a:ext cx="2419643" cy="872197"/>
          </a:xfrm>
          <a:prstGeom prst="wedgeRectCallout">
            <a:avLst>
              <a:gd name="adj1" fmla="val 18121"/>
              <a:gd name="adj2" fmla="val -121371"/>
            </a:avLst>
          </a:prstGeom>
          <a:solidFill>
            <a:srgbClr val="34E0F2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Enlace a la EDT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Llamada rectangular 5"/>
          <p:cNvSpPr/>
          <p:nvPr/>
        </p:nvSpPr>
        <p:spPr>
          <a:xfrm>
            <a:off x="6299026" y="5220590"/>
            <a:ext cx="2419643" cy="872197"/>
          </a:xfrm>
          <a:prstGeom prst="wedgeRectCallout">
            <a:avLst>
              <a:gd name="adj1" fmla="val -3972"/>
              <a:gd name="adj2" fmla="val -121371"/>
            </a:avLst>
          </a:prstGeom>
          <a:solidFill>
            <a:srgbClr val="34E0F2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Umbrales de control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Llamada rectangular 6"/>
          <p:cNvSpPr/>
          <p:nvPr/>
        </p:nvSpPr>
        <p:spPr>
          <a:xfrm>
            <a:off x="7276595" y="2615309"/>
            <a:ext cx="2419643" cy="872197"/>
          </a:xfrm>
          <a:prstGeom prst="wedgeRectCallout">
            <a:avLst>
              <a:gd name="adj1" fmla="val -32918"/>
              <a:gd name="adj2" fmla="val 91396"/>
            </a:avLst>
          </a:prstGeom>
          <a:solidFill>
            <a:srgbClr val="34E0F2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Reglas de medición del desempeño: SPI, SV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2555514" y="1946037"/>
            <a:ext cx="8187686" cy="4642325"/>
          </a:xfrm>
          <a:prstGeom prst="roundRect">
            <a:avLst/>
          </a:prstGeom>
          <a:noFill/>
          <a:ln w="28575" cap="flat" cmpd="sng" algn="ctr">
            <a:solidFill>
              <a:srgbClr val="A9A57C">
                <a:shade val="50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581192" y="2732651"/>
            <a:ext cx="149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solidFill>
                  <a:srgbClr val="2E2B21"/>
                </a:solidFill>
                <a:latin typeface="Tw Cen MT" panose="020B0602020104020603"/>
              </a:rPr>
              <a:t>Modelo de </a:t>
            </a:r>
          </a:p>
          <a:p>
            <a:pPr algn="ctr"/>
            <a:r>
              <a:rPr lang="es-PE" dirty="0">
                <a:solidFill>
                  <a:srgbClr val="2E2B21"/>
                </a:solidFill>
                <a:latin typeface="Tw Cen MT" panose="020B0602020104020603"/>
              </a:rPr>
              <a:t>reportes y </a:t>
            </a:r>
          </a:p>
          <a:p>
            <a:pPr algn="ctr"/>
            <a:r>
              <a:rPr lang="es-PE" dirty="0">
                <a:solidFill>
                  <a:srgbClr val="2E2B21"/>
                </a:solidFill>
                <a:latin typeface="Tw Cen MT" panose="020B0602020104020603"/>
              </a:rPr>
              <a:t>formatos a </a:t>
            </a:r>
          </a:p>
          <a:p>
            <a:pPr algn="ctr"/>
            <a:r>
              <a:rPr lang="es-PE" dirty="0">
                <a:solidFill>
                  <a:srgbClr val="2E2B21"/>
                </a:solidFill>
                <a:latin typeface="Tw Cen MT" panose="020B0602020104020603"/>
              </a:rPr>
              <a:t>usar</a:t>
            </a:r>
            <a:endParaRPr lang="en-US" dirty="0">
              <a:solidFill>
                <a:srgbClr val="2E2B21"/>
              </a:solidFill>
              <a:latin typeface="Tw Cen MT" panose="020B0602020104020603"/>
            </a:endParaRPr>
          </a:p>
        </p:txBody>
      </p:sp>
      <p:cxnSp>
        <p:nvCxnSpPr>
          <p:cNvPr id="10" name="Conector recto de flecha 9"/>
          <p:cNvCxnSpPr/>
          <p:nvPr/>
        </p:nvCxnSpPr>
        <p:spPr>
          <a:xfrm flipH="1" flipV="1">
            <a:off x="1620111" y="3932980"/>
            <a:ext cx="935404" cy="1600305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6A8B3946-D01F-1266-98BE-DB9A74DE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7809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318" y="2002971"/>
            <a:ext cx="5523094" cy="4659085"/>
          </a:xfrm>
          <a:prstGeom prst="rect">
            <a:avLst/>
          </a:prstGeom>
        </p:spPr>
      </p:pic>
      <p:sp>
        <p:nvSpPr>
          <p:cNvPr id="12" name="Rectángulo redondeado 11"/>
          <p:cNvSpPr/>
          <p:nvPr/>
        </p:nvSpPr>
        <p:spPr>
          <a:xfrm>
            <a:off x="725715" y="3686629"/>
            <a:ext cx="4281714" cy="10740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FFFFCC"/>
                </a:solidFill>
              </a:rPr>
              <a:t>EL PUNTO DE VISTA DE LA CONTRATISTA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5358714" y="6400446"/>
            <a:ext cx="1027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/>
              <a:t>AACE 2022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246F8C0-1AF7-5053-762F-C5E332D6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198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11"/>
          <p:cNvSpPr/>
          <p:nvPr/>
        </p:nvSpPr>
        <p:spPr>
          <a:xfrm>
            <a:off x="478972" y="3657599"/>
            <a:ext cx="3454399" cy="110308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FFFFCC"/>
                </a:solidFill>
              </a:rPr>
              <a:t>EL PUNTO DE VISTA DEL PROPIETARIO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56" y="1988457"/>
            <a:ext cx="7546909" cy="467359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268657" y="6400446"/>
            <a:ext cx="1027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100" dirty="0"/>
              <a:t>AACE 2022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10A9756-4B11-CD63-C9D5-245147312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10347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426231" y="1918324"/>
            <a:ext cx="4287633" cy="34214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s-PE" sz="1600" b="1" kern="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Niveles y clases del cronograma</a:t>
            </a:r>
          </a:p>
        </p:txBody>
      </p:sp>
      <p:graphicFrame>
        <p:nvGraphicFramePr>
          <p:cNvPr id="16" name="Tabla 15"/>
          <p:cNvGraphicFramePr>
            <a:graphicFrameLocks noGrp="1"/>
          </p:cNvGraphicFramePr>
          <p:nvPr/>
        </p:nvGraphicFramePr>
        <p:xfrm>
          <a:off x="426231" y="3394627"/>
          <a:ext cx="456358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936">
                  <a:extLst>
                    <a:ext uri="{9D8B030D-6E8A-4147-A177-3AD203B41FA5}">
                      <a16:colId xmlns:a16="http://schemas.microsoft.com/office/drawing/2014/main" val="1127768083"/>
                    </a:ext>
                  </a:extLst>
                </a:gridCol>
                <a:gridCol w="3384645">
                  <a:extLst>
                    <a:ext uri="{9D8B030D-6E8A-4147-A177-3AD203B41FA5}">
                      <a16:colId xmlns:a16="http://schemas.microsoft.com/office/drawing/2014/main" val="2147769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Concepto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96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Hitos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62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Cronograma resumen - WBS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38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Cronograma de control - CPM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05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Cronograma de detalle – 3W 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40521"/>
                  </a:ext>
                </a:extLst>
              </a:tr>
            </a:tbl>
          </a:graphicData>
        </a:graphic>
      </p:graphicFrame>
      <p:graphicFrame>
        <p:nvGraphicFramePr>
          <p:cNvPr id="17" name="Tabla 16"/>
          <p:cNvGraphicFramePr>
            <a:graphicFrameLocks noGrp="1"/>
          </p:cNvGraphicFramePr>
          <p:nvPr/>
        </p:nvGraphicFramePr>
        <p:xfrm>
          <a:off x="5788639" y="2774867"/>
          <a:ext cx="5822169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420">
                  <a:extLst>
                    <a:ext uri="{9D8B030D-6E8A-4147-A177-3AD203B41FA5}">
                      <a16:colId xmlns:a16="http://schemas.microsoft.com/office/drawing/2014/main" val="1127768083"/>
                    </a:ext>
                  </a:extLst>
                </a:gridCol>
                <a:gridCol w="2137471">
                  <a:extLst>
                    <a:ext uri="{9D8B030D-6E8A-4147-A177-3AD203B41FA5}">
                      <a16:colId xmlns:a16="http://schemas.microsoft.com/office/drawing/2014/main" val="2147769757"/>
                    </a:ext>
                  </a:extLst>
                </a:gridCol>
                <a:gridCol w="1965278">
                  <a:extLst>
                    <a:ext uri="{9D8B030D-6E8A-4147-A177-3AD203B41FA5}">
                      <a16:colId xmlns:a16="http://schemas.microsoft.com/office/drawing/2014/main" val="3196806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Clasificación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Grado de definición</a:t>
                      </a:r>
                      <a:r>
                        <a:rPr lang="es-PE" sz="1600" baseline="0" dirty="0"/>
                        <a:t> del proyecto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Uso 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96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Clase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0% a 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Fase conceptual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62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Clase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1% al 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Factibilidad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38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Clase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10% al 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Presupuesto, autorización del proyecto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05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Clase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30% al 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Licitación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Clase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70% al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Licitación, ejecución y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896664"/>
                  </a:ext>
                </a:extLst>
              </a:tr>
            </a:tbl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CE3F4895-C5EB-A523-9287-3E2D052F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TIPOS DE CRONOGRAMAS: ¿CUÁL TE SIRVE MÁS?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1175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5229364" y="2329408"/>
          <a:ext cx="5909482" cy="148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741">
                  <a:extLst>
                    <a:ext uri="{9D8B030D-6E8A-4147-A177-3AD203B41FA5}">
                      <a16:colId xmlns:a16="http://schemas.microsoft.com/office/drawing/2014/main" val="3480780782"/>
                    </a:ext>
                  </a:extLst>
                </a:gridCol>
                <a:gridCol w="2954741">
                  <a:extLst>
                    <a:ext uri="{9D8B030D-6E8A-4147-A177-3AD203B41FA5}">
                      <a16:colId xmlns:a16="http://schemas.microsoft.com/office/drawing/2014/main" val="1495206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ESTADO DE ENTREGABLES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% AVANCE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7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REV. 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02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REV. B, C, 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80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988106"/>
                  </a:ext>
                </a:extLst>
              </a:tr>
              <a:tr h="368819">
                <a:tc>
                  <a:txBody>
                    <a:bodyPr/>
                    <a:lstStyle/>
                    <a:p>
                      <a:r>
                        <a:rPr lang="es-ES" dirty="0"/>
                        <a:t>REV. 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297041"/>
                  </a:ext>
                </a:extLst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368489" y="3020031"/>
            <a:ext cx="4694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EJEMPLOS DE REGLAS DE MEDICIÓN: FASE DE INGENIERÍA – SUMA ALZADA</a:t>
            </a:r>
            <a:endParaRPr lang="es-PE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5229364" y="4379541"/>
          <a:ext cx="5909482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741">
                  <a:extLst>
                    <a:ext uri="{9D8B030D-6E8A-4147-A177-3AD203B41FA5}">
                      <a16:colId xmlns:a16="http://schemas.microsoft.com/office/drawing/2014/main" val="3480780782"/>
                    </a:ext>
                  </a:extLst>
                </a:gridCol>
                <a:gridCol w="2954741">
                  <a:extLst>
                    <a:ext uri="{9D8B030D-6E8A-4147-A177-3AD203B41FA5}">
                      <a16:colId xmlns:a16="http://schemas.microsoft.com/office/drawing/2014/main" val="1495206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AVANCE</a:t>
                      </a:r>
                      <a:r>
                        <a:rPr lang="es-ES" baseline="0" dirty="0"/>
                        <a:t> </a:t>
                      </a:r>
                      <a:r>
                        <a:rPr lang="es-ES" dirty="0"/>
                        <a:t>DE ENTREGABLES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% AVANCE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7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HHs</a:t>
                      </a:r>
                      <a:r>
                        <a:rPr lang="es-ES" baseline="0" dirty="0"/>
                        <a:t> por disciplina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 función del consumo solicitado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02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HHs de Gestión de Proyectos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 función del consumo solicitado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988106"/>
                  </a:ext>
                </a:extLst>
              </a:tr>
            </a:tbl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368489" y="5147480"/>
            <a:ext cx="469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EJEMPLOS DE REGLAS DE MEDICIÓN: FASE DE INGENIERÍA – T&amp;M</a:t>
            </a:r>
            <a:endParaRPr lang="es-PE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09D40A-F5B3-56AA-31CC-61599138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02. REGLAS DE MEDICIÓN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99040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</TotalTime>
  <Words>401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Futura-Bold</vt:lpstr>
      <vt:lpstr>Lato Light</vt:lpstr>
      <vt:lpstr>Poppins</vt:lpstr>
      <vt:lpstr>Prompt</vt:lpstr>
      <vt:lpstr>Tahoma</vt:lpstr>
      <vt:lpstr>Tw Cen MT</vt:lpstr>
      <vt:lpstr>Tema de Office</vt:lpstr>
      <vt:lpstr>Presentación de PowerPoint</vt:lpstr>
      <vt:lpstr>Presentación de PowerPoint</vt:lpstr>
      <vt:lpstr>SESIÓN 05 EL MAYOR FACTOR DE DISCUSIÓN: EL CRONOGRAMA</vt:lpstr>
      <vt:lpstr>Presentación de PowerPoint</vt:lpstr>
      <vt:lpstr>01. TIPOS DE CRONOGRAMAS: ¿CUÁL TE SIRVE MÁS?</vt:lpstr>
      <vt:lpstr>01. TIPOS DE CRONOGRAMAS: ¿CUÁL TE SIRVE MÁS?</vt:lpstr>
      <vt:lpstr>01. TIPOS DE CRONOGRAMAS: ¿CUÁL TE SIRVE MÁS?</vt:lpstr>
      <vt:lpstr>01. TIPOS DE CRONOGRAMAS: ¿CUÁL TE SIRVE MÁS?</vt:lpstr>
      <vt:lpstr>01. TIPOS DE CRONOGRAMAS: ¿CUÁL TE SIRVE MÁS?</vt:lpstr>
      <vt:lpstr>01. TIPOS DE CRONOGRAMAS: ¿CUÁL TE SIRVE MÁS?</vt:lpstr>
      <vt:lpstr>02. REGLAS DE MEDICIÓN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Angel Omar Gonzales</cp:lastModifiedBy>
  <cp:revision>36</cp:revision>
  <dcterms:created xsi:type="dcterms:W3CDTF">2022-04-19T18:02:09Z</dcterms:created>
  <dcterms:modified xsi:type="dcterms:W3CDTF">2023-10-13T03:04:59Z</dcterms:modified>
</cp:coreProperties>
</file>