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4" r:id="rId2"/>
    <p:sldId id="288" r:id="rId3"/>
    <p:sldId id="285" r:id="rId4"/>
    <p:sldId id="286" r:id="rId5"/>
    <p:sldId id="287" r:id="rId6"/>
    <p:sldId id="289" r:id="rId7"/>
    <p:sldId id="290" r:id="rId8"/>
    <p:sldId id="298" r:id="rId9"/>
    <p:sldId id="291" r:id="rId10"/>
    <p:sldId id="299" r:id="rId11"/>
    <p:sldId id="300" r:id="rId12"/>
    <p:sldId id="301" r:id="rId13"/>
    <p:sldId id="302" r:id="rId14"/>
    <p:sldId id="303" r:id="rId15"/>
    <p:sldId id="304" r:id="rId16"/>
    <p:sldId id="324" r:id="rId17"/>
    <p:sldId id="295" r:id="rId18"/>
    <p:sldId id="292" r:id="rId19"/>
    <p:sldId id="293" r:id="rId20"/>
    <p:sldId id="296" r:id="rId21"/>
    <p:sldId id="305" r:id="rId22"/>
    <p:sldId id="306" r:id="rId23"/>
    <p:sldId id="307" r:id="rId24"/>
    <p:sldId id="294" r:id="rId25"/>
    <p:sldId id="308" r:id="rId26"/>
    <p:sldId id="310" r:id="rId27"/>
    <p:sldId id="311" r:id="rId28"/>
    <p:sldId id="312" r:id="rId29"/>
    <p:sldId id="313" r:id="rId30"/>
    <p:sldId id="314" r:id="rId31"/>
    <p:sldId id="316" r:id="rId32"/>
    <p:sldId id="317" r:id="rId33"/>
    <p:sldId id="318" r:id="rId34"/>
    <p:sldId id="319" r:id="rId35"/>
    <p:sldId id="320" r:id="rId36"/>
    <p:sldId id="321" r:id="rId37"/>
    <p:sldId id="322" r:id="rId38"/>
    <p:sldId id="323" r:id="rId3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3" d="100"/>
          <a:sy n="83" d="100"/>
        </p:scale>
        <p:origin x="643"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05/06/2024</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dirty="0"/>
          </a:p>
        </p:txBody>
      </p:sp>
    </p:spTree>
    <p:extLst>
      <p:ext uri="{BB962C8B-B14F-4D97-AF65-F5344CB8AC3E}">
        <p14:creationId xmlns:p14="http://schemas.microsoft.com/office/powerpoint/2010/main" val="9181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05/06/2024</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dirty="0"/>
          </a:p>
        </p:txBody>
      </p:sp>
    </p:spTree>
    <p:extLst>
      <p:ext uri="{BB962C8B-B14F-4D97-AF65-F5344CB8AC3E}">
        <p14:creationId xmlns:p14="http://schemas.microsoft.com/office/powerpoint/2010/main" val="89452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05/06/2024</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dirty="0"/>
          </a:p>
        </p:txBody>
      </p:sp>
    </p:spTree>
    <p:extLst>
      <p:ext uri="{BB962C8B-B14F-4D97-AF65-F5344CB8AC3E}">
        <p14:creationId xmlns:p14="http://schemas.microsoft.com/office/powerpoint/2010/main" val="359373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CC231CB2-8F63-4ACB-AA28-38CB9C3B0788}" type="datetimeFigureOut">
              <a:rPr lang="es-ES" smtClean="0"/>
              <a:t>05/06/2024</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dirty="0"/>
          </a:p>
        </p:txBody>
      </p:sp>
    </p:spTree>
    <p:extLst>
      <p:ext uri="{BB962C8B-B14F-4D97-AF65-F5344CB8AC3E}">
        <p14:creationId xmlns:p14="http://schemas.microsoft.com/office/powerpoint/2010/main" val="364624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CC231CB2-8F63-4ACB-AA28-38CB9C3B0788}" type="datetimeFigureOut">
              <a:rPr lang="es-ES" smtClean="0"/>
              <a:t>05/06/2024</a:t>
            </a:fld>
            <a:endParaRPr lang="es-ES" dirty="0"/>
          </a:p>
        </p:txBody>
      </p:sp>
      <p:sp>
        <p:nvSpPr>
          <p:cNvPr id="8" name="Marcador de pie de página 7"/>
          <p:cNvSpPr>
            <a:spLocks noGrp="1"/>
          </p:cNvSpPr>
          <p:nvPr>
            <p:ph type="ftr" sz="quarter" idx="11"/>
          </p:nvPr>
        </p:nvSpPr>
        <p:spPr/>
        <p:txBody>
          <a:bodyPr/>
          <a:lstStyle/>
          <a:p>
            <a:endParaRPr lang="es-ES" dirty="0"/>
          </a:p>
        </p:txBody>
      </p:sp>
      <p:sp>
        <p:nvSpPr>
          <p:cNvPr id="9" name="Marcador de número de diapositiva 8"/>
          <p:cNvSpPr>
            <a:spLocks noGrp="1"/>
          </p:cNvSpPr>
          <p:nvPr>
            <p:ph type="sldNum" sz="quarter" idx="12"/>
          </p:nvPr>
        </p:nvSpPr>
        <p:spPr/>
        <p:txBody>
          <a:bodyPr/>
          <a:lstStyle/>
          <a:p>
            <a:fld id="{24A79FA8-4D08-4E50-BBA2-D88CCB263461}" type="slidenum">
              <a:rPr lang="es-ES" smtClean="0"/>
              <a:t>‹Nº›</a:t>
            </a:fld>
            <a:endParaRPr lang="es-ES" dirty="0"/>
          </a:p>
        </p:txBody>
      </p:sp>
    </p:spTree>
    <p:extLst>
      <p:ext uri="{BB962C8B-B14F-4D97-AF65-F5344CB8AC3E}">
        <p14:creationId xmlns:p14="http://schemas.microsoft.com/office/powerpoint/2010/main" val="4962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CC231CB2-8F63-4ACB-AA28-38CB9C3B0788}" type="datetimeFigureOut">
              <a:rPr lang="es-ES" smtClean="0"/>
              <a:t>05/06/2024</a:t>
            </a:fld>
            <a:endParaRPr lang="es-ES" dirty="0"/>
          </a:p>
        </p:txBody>
      </p:sp>
      <p:sp>
        <p:nvSpPr>
          <p:cNvPr id="4" name="Marcador de pie de página 3"/>
          <p:cNvSpPr>
            <a:spLocks noGrp="1"/>
          </p:cNvSpPr>
          <p:nvPr>
            <p:ph type="ftr" sz="quarter" idx="11"/>
          </p:nvPr>
        </p:nvSpPr>
        <p:spPr/>
        <p:txBody>
          <a:bodyPr/>
          <a:lstStyle/>
          <a:p>
            <a:endParaRPr lang="es-ES" dirty="0"/>
          </a:p>
        </p:txBody>
      </p:sp>
      <p:sp>
        <p:nvSpPr>
          <p:cNvPr id="5" name="Marcador de número de diapositiva 4"/>
          <p:cNvSpPr>
            <a:spLocks noGrp="1"/>
          </p:cNvSpPr>
          <p:nvPr>
            <p:ph type="sldNum" sz="quarter" idx="12"/>
          </p:nvPr>
        </p:nvSpPr>
        <p:spPr/>
        <p:txBody>
          <a:bodyPr/>
          <a:lstStyle/>
          <a:p>
            <a:fld id="{24A79FA8-4D08-4E50-BBA2-D88CCB263461}" type="slidenum">
              <a:rPr lang="es-ES" smtClean="0"/>
              <a:t>‹Nº›</a:t>
            </a:fld>
            <a:endParaRPr lang="es-ES" dirty="0"/>
          </a:p>
        </p:txBody>
      </p:sp>
    </p:spTree>
    <p:extLst>
      <p:ext uri="{BB962C8B-B14F-4D97-AF65-F5344CB8AC3E}">
        <p14:creationId xmlns:p14="http://schemas.microsoft.com/office/powerpoint/2010/main" val="1989915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C231CB2-8F63-4ACB-AA28-38CB9C3B0788}" type="datetimeFigureOut">
              <a:rPr lang="es-ES" smtClean="0"/>
              <a:t>05/06/2024</a:t>
            </a:fld>
            <a:endParaRPr lang="es-ES" dirty="0"/>
          </a:p>
        </p:txBody>
      </p:sp>
      <p:sp>
        <p:nvSpPr>
          <p:cNvPr id="3" name="Marcador de pie de página 2"/>
          <p:cNvSpPr>
            <a:spLocks noGrp="1"/>
          </p:cNvSpPr>
          <p:nvPr>
            <p:ph type="ftr" sz="quarter" idx="11"/>
          </p:nvPr>
        </p:nvSpPr>
        <p:spPr/>
        <p:txBody>
          <a:bodyPr/>
          <a:lstStyle/>
          <a:p>
            <a:endParaRPr lang="es-ES" dirty="0"/>
          </a:p>
        </p:txBody>
      </p:sp>
      <p:sp>
        <p:nvSpPr>
          <p:cNvPr id="4" name="Marcador de número de diapositiva 3"/>
          <p:cNvSpPr>
            <a:spLocks noGrp="1"/>
          </p:cNvSpPr>
          <p:nvPr>
            <p:ph type="sldNum" sz="quarter" idx="12"/>
          </p:nvPr>
        </p:nvSpPr>
        <p:spPr/>
        <p:txBody>
          <a:bodyPr/>
          <a:lstStyle/>
          <a:p>
            <a:fld id="{24A79FA8-4D08-4E50-BBA2-D88CCB263461}" type="slidenum">
              <a:rPr lang="es-ES" smtClean="0"/>
              <a:t>‹Nº›</a:t>
            </a:fld>
            <a:endParaRPr lang="es-ES" dirty="0"/>
          </a:p>
        </p:txBody>
      </p:sp>
    </p:spTree>
    <p:extLst>
      <p:ext uri="{BB962C8B-B14F-4D97-AF65-F5344CB8AC3E}">
        <p14:creationId xmlns:p14="http://schemas.microsoft.com/office/powerpoint/2010/main" val="1162406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05/06/2024</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dirty="0"/>
          </a:p>
        </p:txBody>
      </p:sp>
    </p:spTree>
    <p:extLst>
      <p:ext uri="{BB962C8B-B14F-4D97-AF65-F5344CB8AC3E}">
        <p14:creationId xmlns:p14="http://schemas.microsoft.com/office/powerpoint/2010/main" val="199980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05/06/2024</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dirty="0"/>
          </a:p>
        </p:txBody>
      </p:sp>
    </p:spTree>
    <p:extLst>
      <p:ext uri="{BB962C8B-B14F-4D97-AF65-F5344CB8AC3E}">
        <p14:creationId xmlns:p14="http://schemas.microsoft.com/office/powerpoint/2010/main" val="21969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05/06/2024</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dirty="0"/>
          </a:p>
        </p:txBody>
      </p:sp>
    </p:spTree>
    <p:extLst>
      <p:ext uri="{BB962C8B-B14F-4D97-AF65-F5344CB8AC3E}">
        <p14:creationId xmlns:p14="http://schemas.microsoft.com/office/powerpoint/2010/main" val="272927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05/06/2024</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dirty="0"/>
          </a:p>
        </p:txBody>
      </p:sp>
    </p:spTree>
    <p:extLst>
      <p:ext uri="{BB962C8B-B14F-4D97-AF65-F5344CB8AC3E}">
        <p14:creationId xmlns:p14="http://schemas.microsoft.com/office/powerpoint/2010/main" val="207310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1CB2-8F63-4ACB-AA28-38CB9C3B0788}" type="datetimeFigureOut">
              <a:rPr lang="es-ES" smtClean="0"/>
              <a:t>05/06/2024</a:t>
            </a:fld>
            <a:endParaRPr lang="es-ES" dirty="0"/>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dirty="0"/>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79FA8-4D08-4E50-BBA2-D88CCB263461}" type="slidenum">
              <a:rPr lang="es-ES" smtClean="0"/>
              <a:t>‹Nº›</a:t>
            </a:fld>
            <a:endParaRPr lang="es-ES" dirty="0"/>
          </a:p>
        </p:txBody>
      </p:sp>
    </p:spTree>
    <p:extLst>
      <p:ext uri="{BB962C8B-B14F-4D97-AF65-F5344CB8AC3E}">
        <p14:creationId xmlns:p14="http://schemas.microsoft.com/office/powerpoint/2010/main" val="298081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Layout" Target="../slideLayouts/slideLayout3.xml"/><Relationship Id="rId4" Type="http://schemas.openxmlformats.org/officeDocument/2006/relationships/image" Target="../media/image10.jpe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p:cNvSpPr/>
          <p:nvPr/>
        </p:nvSpPr>
        <p:spPr>
          <a:xfrm>
            <a:off x="436485" y="488271"/>
            <a:ext cx="6461465" cy="923330"/>
          </a:xfrm>
          <a:prstGeom prst="rect">
            <a:avLst/>
          </a:prstGeom>
        </p:spPr>
        <p:txBody>
          <a:bodyPr wrap="square">
            <a:spAutoFit/>
          </a:bodyPr>
          <a:lstStyle/>
          <a:p>
            <a:r>
              <a:rPr lang="es-ES" sz="5400" b="1" i="0" dirty="0">
                <a:solidFill>
                  <a:srgbClr val="00F3B5"/>
                </a:solidFill>
                <a:effectLst/>
                <a:latin typeface="Aptos Display" panose="020B0004020202020204" pitchFamily="34" charset="0"/>
              </a:rPr>
              <a:t>MODULO</a:t>
            </a:r>
            <a:r>
              <a:rPr lang="es-ES" sz="4000" b="1" i="0" dirty="0">
                <a:solidFill>
                  <a:srgbClr val="00F3B5"/>
                </a:solidFill>
                <a:effectLst/>
                <a:latin typeface="Aptos Display" panose="020B0004020202020204" pitchFamily="34" charset="0"/>
              </a:rPr>
              <a:t>: </a:t>
            </a:r>
            <a:r>
              <a:rPr lang="es-ES" sz="5400" b="1" dirty="0">
                <a:solidFill>
                  <a:srgbClr val="00F3B5"/>
                </a:solidFill>
                <a:latin typeface="Aptos Display" panose="020B0004020202020204" pitchFamily="34" charset="0"/>
              </a:rPr>
              <a:t>III</a:t>
            </a:r>
            <a:endParaRPr lang="es-ES" sz="4000" dirty="0">
              <a:solidFill>
                <a:srgbClr val="00F3B5"/>
              </a:solidFill>
              <a:latin typeface="Prompt" panose="00000800000000000000" pitchFamily="2" charset="-34"/>
              <a:cs typeface="Prompt" panose="00000800000000000000" pitchFamily="2" charset="-34"/>
            </a:endParaRPr>
          </a:p>
        </p:txBody>
      </p:sp>
      <p:sp>
        <p:nvSpPr>
          <p:cNvPr id="3" name="Marcador de texto 2">
            <a:extLst>
              <a:ext uri="{FF2B5EF4-FFF2-40B4-BE49-F238E27FC236}">
                <a16:creationId xmlns:a16="http://schemas.microsoft.com/office/drawing/2014/main" id="{345606F9-6270-E169-A5E4-8562712B1FF2}"/>
              </a:ext>
            </a:extLst>
          </p:cNvPr>
          <p:cNvSpPr>
            <a:spLocks noGrp="1"/>
          </p:cNvSpPr>
          <p:nvPr>
            <p:ph type="body" idx="1"/>
          </p:nvPr>
        </p:nvSpPr>
        <p:spPr>
          <a:xfrm>
            <a:off x="436485" y="1802167"/>
            <a:ext cx="10910965" cy="4287484"/>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5400" b="1" i="0" u="none" strike="noStrike" kern="1200" cap="none" spc="0" normalizeH="0" baseline="0" noProof="0" dirty="0">
                <a:ln>
                  <a:noFill/>
                </a:ln>
                <a:solidFill>
                  <a:srgbClr val="00F3B5"/>
                </a:solidFill>
                <a:effectLst/>
                <a:uLnTx/>
                <a:uFillTx/>
                <a:latin typeface="Aptos Display" panose="020B0004020202020204" pitchFamily="34" charset="0"/>
                <a:ea typeface="+mn-ea"/>
                <a:cs typeface="Prompt" panose="00000800000000000000" pitchFamily="2" charset="-34"/>
              </a:rPr>
              <a:t>Interruptores automáticos para instalaciones de uso doméstico, industrial y similares</a:t>
            </a:r>
            <a:endParaRPr kumimoji="0" lang="es-ES" sz="5400" b="0" i="0" u="none" strike="noStrike" kern="1200" cap="none" spc="0" normalizeH="0" baseline="0" noProof="0" dirty="0">
              <a:ln>
                <a:noFill/>
              </a:ln>
              <a:solidFill>
                <a:srgbClr val="00F3B5"/>
              </a:solidFill>
              <a:effectLst/>
              <a:uLnTx/>
              <a:uFillTx/>
              <a:latin typeface="Prompt" panose="00000800000000000000" pitchFamily="2" charset="-34"/>
              <a:ea typeface="+mn-ea"/>
              <a:cs typeface="Prompt" panose="00000800000000000000" pitchFamily="2" charset="-34"/>
            </a:endParaRPr>
          </a:p>
        </p:txBody>
      </p:sp>
    </p:spTree>
    <p:extLst>
      <p:ext uri="{BB962C8B-B14F-4D97-AF65-F5344CB8AC3E}">
        <p14:creationId xmlns:p14="http://schemas.microsoft.com/office/powerpoint/2010/main" val="21029868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p:cNvSpPr/>
          <p:nvPr/>
        </p:nvSpPr>
        <p:spPr>
          <a:xfrm>
            <a:off x="436485" y="488271"/>
            <a:ext cx="6461465" cy="923330"/>
          </a:xfrm>
          <a:prstGeom prst="rect">
            <a:avLst/>
          </a:prstGeom>
        </p:spPr>
        <p:txBody>
          <a:bodyPr wrap="square">
            <a:spAutoFit/>
          </a:bodyPr>
          <a:lstStyle/>
          <a:p>
            <a:r>
              <a:rPr lang="es-ES" sz="5400" b="1" dirty="0">
                <a:solidFill>
                  <a:srgbClr val="00F3B5"/>
                </a:solidFill>
                <a:latin typeface="Aptos Display" panose="020B0004020202020204" pitchFamily="34" charset="0"/>
                <a:cs typeface="Prompt" panose="00000800000000000000" pitchFamily="2" charset="-34"/>
              </a:rPr>
              <a:t>ÍNDICE</a:t>
            </a:r>
            <a:endParaRPr lang="es-ES" sz="5400" dirty="0">
              <a:solidFill>
                <a:srgbClr val="00F3B5"/>
              </a:solidFill>
              <a:latin typeface="Prompt" panose="00000800000000000000" pitchFamily="2" charset="-34"/>
              <a:cs typeface="Prompt" panose="00000800000000000000" pitchFamily="2" charset="-34"/>
            </a:endParaRPr>
          </a:p>
        </p:txBody>
      </p:sp>
      <p:sp>
        <p:nvSpPr>
          <p:cNvPr id="3" name="Marcador de texto 2">
            <a:extLst>
              <a:ext uri="{FF2B5EF4-FFF2-40B4-BE49-F238E27FC236}">
                <a16:creationId xmlns:a16="http://schemas.microsoft.com/office/drawing/2014/main" id="{345606F9-6270-E169-A5E4-8562712B1FF2}"/>
              </a:ext>
            </a:extLst>
          </p:cNvPr>
          <p:cNvSpPr>
            <a:spLocks noGrp="1"/>
          </p:cNvSpPr>
          <p:nvPr>
            <p:ph type="body" idx="1"/>
          </p:nvPr>
        </p:nvSpPr>
        <p:spPr>
          <a:xfrm>
            <a:off x="436485" y="1802167"/>
            <a:ext cx="10910965" cy="4287484"/>
          </a:xfrm>
        </p:spPr>
        <p:txBody>
          <a:bodyPr>
            <a:normAutofit/>
          </a:bodyPr>
          <a:lstStyle/>
          <a:p>
            <a:pPr marL="457200" indent="-457200">
              <a:buFont typeface="+mj-lt"/>
              <a:buAutoNum type="arabicPeriod"/>
            </a:pPr>
            <a:r>
              <a:rPr lang="es-ES" sz="3600" dirty="0">
                <a:solidFill>
                  <a:srgbClr val="00F3B5"/>
                </a:solidFill>
              </a:rPr>
              <a:t>CAPACIDADES</a:t>
            </a:r>
          </a:p>
          <a:p>
            <a:pPr marL="457200" indent="-457200">
              <a:buFont typeface="+mj-lt"/>
              <a:buAutoNum type="arabicPeriod"/>
            </a:pPr>
            <a:r>
              <a:rPr lang="es-ES" sz="3600" dirty="0">
                <a:solidFill>
                  <a:srgbClr val="00F3B5"/>
                </a:solidFill>
              </a:rPr>
              <a:t>CONTENIDO</a:t>
            </a:r>
          </a:p>
          <a:p>
            <a:pPr marL="971550" lvl="1" indent="-514350">
              <a:buFont typeface="+mj-lt"/>
              <a:buAutoNum type="romanUcPeriod"/>
            </a:pPr>
            <a:r>
              <a:rPr lang="es-ES" sz="2800" dirty="0">
                <a:solidFill>
                  <a:srgbClr val="00F3B5"/>
                </a:solidFill>
              </a:rPr>
              <a:t>Marco normativo peruano NTP.</a:t>
            </a:r>
          </a:p>
          <a:p>
            <a:pPr marL="971550" lvl="1" indent="-514350">
              <a:buFont typeface="+mj-lt"/>
              <a:buAutoNum type="romanUcPeriod"/>
            </a:pPr>
            <a:r>
              <a:rPr lang="es-ES" sz="2800" dirty="0">
                <a:solidFill>
                  <a:srgbClr val="00F3B5"/>
                </a:solidFill>
              </a:rPr>
              <a:t>Clasificación.</a:t>
            </a:r>
          </a:p>
          <a:p>
            <a:pPr marL="971550" lvl="1" indent="-514350">
              <a:buFont typeface="+mj-lt"/>
              <a:buAutoNum type="romanUcPeriod"/>
            </a:pPr>
            <a:r>
              <a:rPr lang="es-PE" sz="2800" dirty="0">
                <a:solidFill>
                  <a:srgbClr val="00F3B5"/>
                </a:solidFill>
              </a:rPr>
              <a:t>Curvas de disparo instantáneo.</a:t>
            </a:r>
          </a:p>
          <a:p>
            <a:pPr marL="971550" lvl="1" indent="-514350">
              <a:buFont typeface="+mj-lt"/>
              <a:buAutoNum type="romanUcPeriod"/>
            </a:pPr>
            <a:r>
              <a:rPr lang="es-ES" sz="2800" dirty="0">
                <a:solidFill>
                  <a:srgbClr val="00F3B5"/>
                </a:solidFill>
              </a:rPr>
              <a:t>Selectividad y filiación en baja tensión de interruptores automáticos.</a:t>
            </a:r>
            <a:endParaRPr lang="es-PE" sz="2800" dirty="0">
              <a:solidFill>
                <a:srgbClr val="00F3B5"/>
              </a:solidFill>
            </a:endParaRPr>
          </a:p>
        </p:txBody>
      </p:sp>
    </p:spTree>
    <p:extLst>
      <p:ext uri="{BB962C8B-B14F-4D97-AF65-F5344CB8AC3E}">
        <p14:creationId xmlns:p14="http://schemas.microsoft.com/office/powerpoint/2010/main" val="1138394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A08A965A-3A0B-FC8B-B4B7-A6051F051513}"/>
              </a:ext>
            </a:extLst>
          </p:cNvPr>
          <p:cNvSpPr txBox="1"/>
          <p:nvPr/>
        </p:nvSpPr>
        <p:spPr>
          <a:xfrm>
            <a:off x="699486" y="785219"/>
            <a:ext cx="10793027" cy="646331"/>
          </a:xfrm>
          <a:prstGeom prst="rect">
            <a:avLst/>
          </a:prstGeom>
          <a:noFill/>
        </p:spPr>
        <p:txBody>
          <a:bodyPr wrap="square">
            <a:spAutoFit/>
          </a:bodyPr>
          <a:lstStyle/>
          <a:p>
            <a:pPr marL="514350" indent="-514350">
              <a:buFont typeface="+mj-lt"/>
              <a:buAutoNum type="arabicPeriod"/>
            </a:pPr>
            <a:r>
              <a:rPr lang="es-PE" sz="3600" dirty="0">
                <a:solidFill>
                  <a:srgbClr val="00F3B5"/>
                </a:solidFill>
              </a:rPr>
              <a:t>CAPACIDADES.</a:t>
            </a:r>
            <a:endParaRPr lang="es-PE" sz="2000" dirty="0">
              <a:solidFill>
                <a:srgbClr val="00F3B5"/>
              </a:solidFill>
            </a:endParaRPr>
          </a:p>
        </p:txBody>
      </p:sp>
      <p:sp>
        <p:nvSpPr>
          <p:cNvPr id="13" name="Marcador de texto 12">
            <a:extLst>
              <a:ext uri="{FF2B5EF4-FFF2-40B4-BE49-F238E27FC236}">
                <a16:creationId xmlns:a16="http://schemas.microsoft.com/office/drawing/2014/main" id="{2F5CDFA4-1DA9-338B-E990-43B407A8D9EF}"/>
              </a:ext>
            </a:extLst>
          </p:cNvPr>
          <p:cNvSpPr>
            <a:spLocks noGrp="1"/>
          </p:cNvSpPr>
          <p:nvPr>
            <p:ph type="body" sz="half" idx="2"/>
          </p:nvPr>
        </p:nvSpPr>
        <p:spPr>
          <a:xfrm>
            <a:off x="839787" y="2057400"/>
            <a:ext cx="10652725" cy="4343400"/>
          </a:xfrm>
        </p:spPr>
        <p:txBody>
          <a:bodyPr>
            <a:normAutofit/>
          </a:bodyPr>
          <a:lstStyle/>
          <a:p>
            <a:pPr marL="285750" indent="-285750">
              <a:buFont typeface="Wingdings" panose="05000000000000000000" pitchFamily="2" charset="2"/>
              <a:buChar char="Ø"/>
            </a:pPr>
            <a:r>
              <a:rPr lang="es-ES" sz="2800" dirty="0">
                <a:solidFill>
                  <a:schemeClr val="bg1"/>
                </a:solidFill>
              </a:rPr>
              <a:t>Saber seleccionar los interruptores de acuerdo a  la  norma técnica peruana, para el proyecto eléctrico que amerite. </a:t>
            </a:r>
          </a:p>
          <a:p>
            <a:pPr marL="285750" indent="-285750">
              <a:buFont typeface="Wingdings" panose="05000000000000000000" pitchFamily="2" charset="2"/>
              <a:buChar char="Ø"/>
            </a:pPr>
            <a:r>
              <a:rPr lang="es-PE" sz="2800" dirty="0">
                <a:solidFill>
                  <a:schemeClr val="bg1"/>
                </a:solidFill>
              </a:rPr>
              <a:t>Identificar los  interruptores  de acuerdo  las curvas  de disparo</a:t>
            </a:r>
          </a:p>
          <a:p>
            <a:pPr marL="285750" indent="-285750">
              <a:buFont typeface="Wingdings" panose="05000000000000000000" pitchFamily="2" charset="2"/>
              <a:buChar char="Ø"/>
            </a:pPr>
            <a:r>
              <a:rPr lang="es-PE" sz="2800" dirty="0">
                <a:solidFill>
                  <a:schemeClr val="bg1"/>
                </a:solidFill>
              </a:rPr>
              <a:t>Saber  elegir los </a:t>
            </a:r>
            <a:r>
              <a:rPr lang="es-PE" sz="2800" dirty="0" err="1">
                <a:solidFill>
                  <a:schemeClr val="bg1"/>
                </a:solidFill>
              </a:rPr>
              <a:t>itm</a:t>
            </a:r>
            <a:r>
              <a:rPr lang="es-PE" sz="2800" dirty="0">
                <a:solidFill>
                  <a:schemeClr val="bg1"/>
                </a:solidFill>
              </a:rPr>
              <a:t> de acuerdo  la selectividad y filiación.</a:t>
            </a:r>
          </a:p>
          <a:p>
            <a:endParaRPr lang="es-PE" sz="2800" dirty="0">
              <a:solidFill>
                <a:schemeClr val="bg1"/>
              </a:solidFill>
            </a:endParaRPr>
          </a:p>
          <a:p>
            <a:pPr marL="285750" indent="-285750">
              <a:buFont typeface="Wingdings" panose="05000000000000000000" pitchFamily="2" charset="2"/>
              <a:buChar char="Ø"/>
            </a:pPr>
            <a:endParaRPr lang="es-PE" sz="2800" dirty="0">
              <a:solidFill>
                <a:schemeClr val="bg1"/>
              </a:solidFill>
            </a:endParaRPr>
          </a:p>
        </p:txBody>
      </p:sp>
    </p:spTree>
    <p:extLst>
      <p:ext uri="{BB962C8B-B14F-4D97-AF65-F5344CB8AC3E}">
        <p14:creationId xmlns:p14="http://schemas.microsoft.com/office/powerpoint/2010/main" val="17150288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467DBB5C-EAE9-9D29-989A-F3EA07E4575A}"/>
              </a:ext>
            </a:extLst>
          </p:cNvPr>
          <p:cNvSpPr txBox="1"/>
          <p:nvPr/>
        </p:nvSpPr>
        <p:spPr>
          <a:xfrm>
            <a:off x="378964" y="552162"/>
            <a:ext cx="3364361" cy="584775"/>
          </a:xfrm>
          <a:prstGeom prst="rect">
            <a:avLst/>
          </a:prstGeom>
          <a:noFill/>
        </p:spPr>
        <p:txBody>
          <a:bodyPr wrap="square">
            <a:spAutoFit/>
          </a:bodyPr>
          <a:lstStyle/>
          <a:p>
            <a:r>
              <a:rPr lang="es-ES" sz="3200" dirty="0">
                <a:solidFill>
                  <a:srgbClr val="00F3B5"/>
                </a:solidFill>
              </a:rPr>
              <a:t>2. CONTENIDO</a:t>
            </a:r>
            <a:endParaRPr lang="es-PE" sz="3200" dirty="0">
              <a:solidFill>
                <a:srgbClr val="00F3B5"/>
              </a:solidFill>
            </a:endParaRPr>
          </a:p>
        </p:txBody>
      </p:sp>
      <p:sp>
        <p:nvSpPr>
          <p:cNvPr id="9" name="Marcador de texto 8">
            <a:extLst>
              <a:ext uri="{FF2B5EF4-FFF2-40B4-BE49-F238E27FC236}">
                <a16:creationId xmlns:a16="http://schemas.microsoft.com/office/drawing/2014/main" id="{01256718-EABB-4FF2-C4E6-1736EED855D8}"/>
              </a:ext>
            </a:extLst>
          </p:cNvPr>
          <p:cNvSpPr>
            <a:spLocks noGrp="1"/>
          </p:cNvSpPr>
          <p:nvPr>
            <p:ph type="body" idx="1"/>
          </p:nvPr>
        </p:nvSpPr>
        <p:spPr>
          <a:xfrm>
            <a:off x="512064" y="1958009"/>
            <a:ext cx="10835386" cy="4542182"/>
          </a:xfrm>
        </p:spPr>
        <p:txBody>
          <a:bodyPr>
            <a:normAutofit fontScale="40000" lnSpcReduction="20000"/>
          </a:bodyPr>
          <a:lstStyle/>
          <a:p>
            <a:pPr>
              <a:lnSpc>
                <a:spcPct val="120000"/>
              </a:lnSpc>
            </a:pPr>
            <a:r>
              <a:rPr lang="es-ES" sz="3700" i="0" dirty="0">
                <a:solidFill>
                  <a:schemeClr val="bg1"/>
                </a:solidFill>
                <a:effectLst/>
                <a:latin typeface="Arial" panose="020B0604020202020204" pitchFamily="34" charset="0"/>
              </a:rPr>
              <a:t>Se deben cumplir las Normas Técnicas Peruanas correspondientes a los interruptores, interruptores automáticos para protección contra </a:t>
            </a:r>
            <a:r>
              <a:rPr lang="es-ES" sz="3700" i="0" dirty="0" err="1">
                <a:solidFill>
                  <a:schemeClr val="bg1"/>
                </a:solidFill>
                <a:effectLst/>
                <a:latin typeface="Arial" panose="020B0604020202020204" pitchFamily="34" charset="0"/>
              </a:rPr>
              <a:t>sobrecorrientes</a:t>
            </a:r>
            <a:r>
              <a:rPr lang="es-ES" sz="3700" i="0" dirty="0">
                <a:solidFill>
                  <a:schemeClr val="bg1"/>
                </a:solidFill>
                <a:effectLst/>
                <a:latin typeface="Arial" panose="020B0604020202020204" pitchFamily="34" charset="0"/>
              </a:rPr>
              <a:t> e interruptores automáticos para actuar por corriente residual, tales como:</a:t>
            </a:r>
          </a:p>
          <a:p>
            <a:endParaRPr lang="es-ES" sz="3700" b="1" i="0" dirty="0">
              <a:solidFill>
                <a:schemeClr val="bg1"/>
              </a:solidFill>
              <a:effectLst/>
              <a:latin typeface="Arial" panose="020B0604020202020204" pitchFamily="34" charset="0"/>
            </a:endParaRPr>
          </a:p>
          <a:p>
            <a:pPr marL="285750" indent="-285750">
              <a:lnSpc>
                <a:spcPct val="120000"/>
              </a:lnSpc>
              <a:buFont typeface="Wingdings" panose="05000000000000000000" pitchFamily="2" charset="2"/>
              <a:buChar char="§"/>
            </a:pPr>
            <a:r>
              <a:rPr lang="es-ES" sz="3700" b="1" dirty="0">
                <a:solidFill>
                  <a:schemeClr val="bg1"/>
                </a:solidFill>
                <a:latin typeface="Arial" panose="020B0604020202020204" pitchFamily="34" charset="0"/>
              </a:rPr>
              <a:t>NTP-IEC 60898-1: </a:t>
            </a:r>
            <a:r>
              <a:rPr lang="es-ES" sz="3700" dirty="0">
                <a:solidFill>
                  <a:schemeClr val="bg1"/>
                </a:solidFill>
                <a:latin typeface="Arial" panose="020B0604020202020204" pitchFamily="34" charset="0"/>
              </a:rPr>
              <a:t>“Interruptores automáticos para protección contra </a:t>
            </a:r>
            <a:r>
              <a:rPr lang="es-ES" sz="3700" dirty="0" err="1">
                <a:solidFill>
                  <a:schemeClr val="bg1"/>
                </a:solidFill>
                <a:latin typeface="Arial" panose="020B0604020202020204" pitchFamily="34" charset="0"/>
              </a:rPr>
              <a:t>sobrecorrientes</a:t>
            </a:r>
            <a:r>
              <a:rPr lang="es-ES" sz="3700" dirty="0">
                <a:solidFill>
                  <a:schemeClr val="bg1"/>
                </a:solidFill>
                <a:latin typeface="Arial" panose="020B0604020202020204" pitchFamily="34" charset="0"/>
              </a:rPr>
              <a:t> en instalaciones domésticas y similares. Parte 1: Interruptores automáticos para operación con </a:t>
            </a:r>
            <a:r>
              <a:rPr lang="es-ES" sz="3700" dirty="0" err="1">
                <a:solidFill>
                  <a:schemeClr val="bg1"/>
                </a:solidFill>
                <a:latin typeface="Arial" panose="020B0604020202020204" pitchFamily="34" charset="0"/>
              </a:rPr>
              <a:t>c.a.</a:t>
            </a:r>
            <a:r>
              <a:rPr lang="es-ES" sz="3700" dirty="0">
                <a:solidFill>
                  <a:schemeClr val="bg1"/>
                </a:solidFill>
                <a:latin typeface="Arial" panose="020B0604020202020204" pitchFamily="34" charset="0"/>
              </a:rPr>
              <a:t>”.</a:t>
            </a:r>
          </a:p>
          <a:p>
            <a:pPr marL="285750" indent="-285750">
              <a:lnSpc>
                <a:spcPct val="120000"/>
              </a:lnSpc>
              <a:buFont typeface="Wingdings" panose="05000000000000000000" pitchFamily="2" charset="2"/>
              <a:buChar char="§"/>
            </a:pPr>
            <a:r>
              <a:rPr lang="es-ES" sz="3700" b="1" i="0" dirty="0">
                <a:solidFill>
                  <a:schemeClr val="bg1"/>
                </a:solidFill>
                <a:effectLst/>
                <a:latin typeface="CIDFont+F3"/>
              </a:rPr>
              <a:t>NTP 370.308: </a:t>
            </a:r>
            <a:r>
              <a:rPr lang="es-ES" sz="3700" b="0" i="0" dirty="0">
                <a:solidFill>
                  <a:schemeClr val="bg1"/>
                </a:solidFill>
                <a:effectLst/>
                <a:latin typeface="CIDFont+F3"/>
              </a:rPr>
              <a:t>“Interruptores automáticos en caja moldeada”</a:t>
            </a:r>
            <a:r>
              <a:rPr lang="es-ES" sz="3700" dirty="0">
                <a:solidFill>
                  <a:schemeClr val="bg1"/>
                </a:solidFill>
              </a:rPr>
              <a:t> </a:t>
            </a:r>
          </a:p>
          <a:p>
            <a:pPr marL="285750" indent="-285750">
              <a:lnSpc>
                <a:spcPct val="120000"/>
              </a:lnSpc>
              <a:buFont typeface="Wingdings" panose="05000000000000000000" pitchFamily="2" charset="2"/>
              <a:buChar char="§"/>
            </a:pPr>
            <a:r>
              <a:rPr lang="es-ES" sz="3700" b="1" i="0" dirty="0">
                <a:solidFill>
                  <a:schemeClr val="bg1"/>
                </a:solidFill>
                <a:effectLst/>
                <a:latin typeface="CIDFont+F3"/>
              </a:rPr>
              <a:t>NTP 370.309</a:t>
            </a:r>
            <a:r>
              <a:rPr lang="es-ES" sz="3700" b="0" i="0" dirty="0">
                <a:solidFill>
                  <a:schemeClr val="bg1"/>
                </a:solidFill>
                <a:effectLst/>
                <a:latin typeface="CIDFont+F3"/>
              </a:rPr>
              <a:t>: “Interruptores en caja moldeada” (</a:t>
            </a:r>
            <a:r>
              <a:rPr lang="es-ES" sz="3700" b="0" i="0" dirty="0" err="1">
                <a:solidFill>
                  <a:schemeClr val="bg1"/>
                </a:solidFill>
                <a:effectLst/>
                <a:latin typeface="CIDFont+F3"/>
              </a:rPr>
              <a:t>molded</a:t>
            </a:r>
            <a:r>
              <a:rPr lang="es-ES" sz="3700" b="0" i="0" dirty="0">
                <a:solidFill>
                  <a:schemeClr val="bg1"/>
                </a:solidFill>
                <a:effectLst/>
                <a:latin typeface="CIDFont+F3"/>
              </a:rPr>
              <a:t>-case switches).</a:t>
            </a:r>
          </a:p>
          <a:p>
            <a:pPr marL="285750" indent="-285750">
              <a:lnSpc>
                <a:spcPct val="120000"/>
              </a:lnSpc>
              <a:buFont typeface="Wingdings" panose="05000000000000000000" pitchFamily="2" charset="2"/>
              <a:buChar char="§"/>
            </a:pPr>
            <a:r>
              <a:rPr lang="es-ES" sz="3700" b="1" i="0" dirty="0">
                <a:solidFill>
                  <a:schemeClr val="bg1"/>
                </a:solidFill>
                <a:effectLst/>
                <a:latin typeface="CIDFont+F3"/>
              </a:rPr>
              <a:t>NTP-IEC 60947-2: </a:t>
            </a:r>
            <a:r>
              <a:rPr lang="es-ES" sz="3700" b="0" i="0" dirty="0">
                <a:solidFill>
                  <a:schemeClr val="bg1"/>
                </a:solidFill>
                <a:effectLst/>
                <a:latin typeface="CIDFont+F3"/>
              </a:rPr>
              <a:t>“Aparatos de conexión y de mando de baja tensión (</a:t>
            </a:r>
            <a:r>
              <a:rPr lang="es-ES" sz="3700" b="0" i="0" dirty="0" err="1">
                <a:solidFill>
                  <a:schemeClr val="bg1"/>
                </a:solidFill>
                <a:effectLst/>
                <a:latin typeface="CIDFont+F3"/>
              </a:rPr>
              <a:t>aparamenta</a:t>
            </a:r>
            <a:r>
              <a:rPr lang="es-ES" sz="3700" b="0" i="0" dirty="0">
                <a:solidFill>
                  <a:schemeClr val="bg1"/>
                </a:solidFill>
                <a:effectLst/>
                <a:latin typeface="CIDFont+F3"/>
              </a:rPr>
              <a:t> de baja tensión). Parte 2: Interruptores automáticos”.</a:t>
            </a:r>
          </a:p>
          <a:p>
            <a:pPr marL="285750" indent="-285750">
              <a:lnSpc>
                <a:spcPct val="120000"/>
              </a:lnSpc>
              <a:buFont typeface="Wingdings" panose="05000000000000000000" pitchFamily="2" charset="2"/>
              <a:buChar char="§"/>
            </a:pPr>
            <a:r>
              <a:rPr lang="es-ES" sz="3700" b="1" i="0" dirty="0">
                <a:solidFill>
                  <a:schemeClr val="bg1"/>
                </a:solidFill>
                <a:effectLst/>
                <a:latin typeface="CIDFont+F3"/>
              </a:rPr>
              <a:t>NTP-IEC 61008-1: </a:t>
            </a:r>
            <a:r>
              <a:rPr lang="es-ES" sz="3700" b="0" i="0" dirty="0">
                <a:solidFill>
                  <a:schemeClr val="bg1"/>
                </a:solidFill>
                <a:effectLst/>
                <a:latin typeface="CIDFont+F3"/>
              </a:rPr>
              <a:t>“Interruptores automáticos para actuar por corriente residual (interruptores diferenciales), sin dispositivo de protección contra </a:t>
            </a:r>
            <a:r>
              <a:rPr lang="es-ES" sz="3700" b="0" i="0" dirty="0" err="1">
                <a:solidFill>
                  <a:schemeClr val="bg1"/>
                </a:solidFill>
                <a:effectLst/>
                <a:latin typeface="CIDFont+F3"/>
              </a:rPr>
              <a:t>sobrecorrientes</a:t>
            </a:r>
            <a:r>
              <a:rPr lang="es-ES" sz="3700" b="0" i="0" dirty="0">
                <a:solidFill>
                  <a:schemeClr val="bg1"/>
                </a:solidFill>
                <a:effectLst/>
                <a:latin typeface="CIDFont+F3"/>
              </a:rPr>
              <a:t>, para uso doméstico y similares. Parte 1: Reglas generales</a:t>
            </a:r>
          </a:p>
          <a:p>
            <a:pPr marL="285750" indent="-285750">
              <a:lnSpc>
                <a:spcPct val="120000"/>
              </a:lnSpc>
              <a:buFont typeface="Wingdings" panose="05000000000000000000" pitchFamily="2" charset="2"/>
              <a:buChar char="§"/>
            </a:pPr>
            <a:r>
              <a:rPr lang="es-ES" sz="3700" b="1" dirty="0">
                <a:solidFill>
                  <a:schemeClr val="bg1"/>
                </a:solidFill>
                <a:latin typeface="CIDFont+F3"/>
              </a:rPr>
              <a:t>NTP-IEC 61009-1: </a:t>
            </a:r>
            <a:r>
              <a:rPr lang="es-ES" sz="3700" dirty="0">
                <a:solidFill>
                  <a:schemeClr val="bg1"/>
                </a:solidFill>
                <a:latin typeface="CIDFont+F3"/>
              </a:rPr>
              <a:t>“Interruptores automáticos para actuar por corriente residual(interruptores diferenciales), con dispositivo de protección contra </a:t>
            </a:r>
            <a:r>
              <a:rPr lang="es-ES" sz="3700" dirty="0" err="1">
                <a:solidFill>
                  <a:schemeClr val="bg1"/>
                </a:solidFill>
                <a:latin typeface="CIDFont+F3"/>
              </a:rPr>
              <a:t>sobrecorrientes</a:t>
            </a:r>
            <a:r>
              <a:rPr lang="es-ES" sz="3700" dirty="0">
                <a:solidFill>
                  <a:schemeClr val="bg1"/>
                </a:solidFill>
                <a:latin typeface="CIDFont+F3"/>
              </a:rPr>
              <a:t> incorporado, para uso doméstico y similares. Parte 1: Reglas generales”.</a:t>
            </a:r>
            <a:br>
              <a:rPr lang="es-ES" sz="2900" dirty="0">
                <a:solidFill>
                  <a:schemeClr val="bg1"/>
                </a:solidFill>
                <a:latin typeface="CIDFont+F3"/>
              </a:rPr>
            </a:br>
            <a:br>
              <a:rPr lang="es-ES" sz="1100" dirty="0">
                <a:solidFill>
                  <a:schemeClr val="bg1"/>
                </a:solidFill>
              </a:rPr>
            </a:br>
            <a:br>
              <a:rPr lang="es-ES" sz="1400" dirty="0">
                <a:solidFill>
                  <a:schemeClr val="bg1"/>
                </a:solidFill>
              </a:rPr>
            </a:br>
            <a:br>
              <a:rPr lang="es-ES" dirty="0">
                <a:solidFill>
                  <a:schemeClr val="bg1"/>
                </a:solidFill>
              </a:rPr>
            </a:br>
            <a:br>
              <a:rPr lang="es-ES" dirty="0">
                <a:solidFill>
                  <a:schemeClr val="bg1"/>
                </a:solidFill>
              </a:rPr>
            </a:br>
            <a:endParaRPr lang="es-ES" dirty="0">
              <a:solidFill>
                <a:schemeClr val="bg1"/>
              </a:solidFill>
            </a:endParaRPr>
          </a:p>
        </p:txBody>
      </p:sp>
      <p:sp>
        <p:nvSpPr>
          <p:cNvPr id="12" name="CuadroTexto 11">
            <a:extLst>
              <a:ext uri="{FF2B5EF4-FFF2-40B4-BE49-F238E27FC236}">
                <a16:creationId xmlns:a16="http://schemas.microsoft.com/office/drawing/2014/main" id="{1FEE6829-E8F0-DEE7-B680-868D3334AB35}"/>
              </a:ext>
            </a:extLst>
          </p:cNvPr>
          <p:cNvSpPr txBox="1"/>
          <p:nvPr/>
        </p:nvSpPr>
        <p:spPr>
          <a:xfrm>
            <a:off x="564046" y="1362807"/>
            <a:ext cx="6097656" cy="461665"/>
          </a:xfrm>
          <a:prstGeom prst="rect">
            <a:avLst/>
          </a:prstGeom>
          <a:noFill/>
        </p:spPr>
        <p:txBody>
          <a:bodyPr wrap="square">
            <a:spAutoFit/>
          </a:bodyPr>
          <a:lstStyle/>
          <a:p>
            <a:pPr marL="400050" indent="-400050">
              <a:buFont typeface="+mj-lt"/>
              <a:buAutoNum type="romanUcPeriod"/>
            </a:pPr>
            <a:r>
              <a:rPr lang="es-PE" sz="2400" dirty="0">
                <a:solidFill>
                  <a:srgbClr val="00F3B5"/>
                </a:solidFill>
              </a:rPr>
              <a:t>Marco normativo peruano NTP</a:t>
            </a:r>
            <a:r>
              <a:rPr lang="es-PE" dirty="0">
                <a:solidFill>
                  <a:srgbClr val="00F3B5"/>
                </a:solidFill>
              </a:rPr>
              <a:t>.</a:t>
            </a:r>
          </a:p>
        </p:txBody>
      </p:sp>
    </p:spTree>
    <p:extLst>
      <p:ext uri="{BB962C8B-B14F-4D97-AF65-F5344CB8AC3E}">
        <p14:creationId xmlns:p14="http://schemas.microsoft.com/office/powerpoint/2010/main" val="814460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Marcador de texto 8">
            <a:extLst>
              <a:ext uri="{FF2B5EF4-FFF2-40B4-BE49-F238E27FC236}">
                <a16:creationId xmlns:a16="http://schemas.microsoft.com/office/drawing/2014/main" id="{01256718-EABB-4FF2-C4E6-1736EED855D8}"/>
              </a:ext>
            </a:extLst>
          </p:cNvPr>
          <p:cNvSpPr>
            <a:spLocks noGrp="1"/>
          </p:cNvSpPr>
          <p:nvPr>
            <p:ph type="body" idx="1"/>
          </p:nvPr>
        </p:nvSpPr>
        <p:spPr>
          <a:xfrm>
            <a:off x="512064" y="2610035"/>
            <a:ext cx="5675672" cy="3890155"/>
          </a:xfrm>
        </p:spPr>
        <p:txBody>
          <a:bodyPr>
            <a:normAutofit fontScale="40000" lnSpcReduction="20000"/>
          </a:bodyPr>
          <a:lstStyle/>
          <a:p>
            <a:pPr>
              <a:lnSpc>
                <a:spcPct val="120000"/>
              </a:lnSpc>
            </a:pPr>
            <a:r>
              <a:rPr lang="es-ES" sz="4600" dirty="0">
                <a:solidFill>
                  <a:schemeClr val="bg1"/>
                </a:solidFill>
                <a:latin typeface="Arial" panose="020B0604020202020204" pitchFamily="34" charset="0"/>
              </a:rPr>
              <a:t>Normalmente los interruptores automáticos para uso domestico son  riel din.</a:t>
            </a:r>
          </a:p>
          <a:p>
            <a:pPr>
              <a:lnSpc>
                <a:spcPct val="120000"/>
              </a:lnSpc>
            </a:pPr>
            <a:r>
              <a:rPr lang="es-ES" sz="4600" dirty="0">
                <a:solidFill>
                  <a:schemeClr val="bg1"/>
                </a:solidFill>
                <a:latin typeface="Arial" panose="020B0604020202020204" pitchFamily="34" charset="0"/>
              </a:rPr>
              <a:t>Un interruptor termomagnético es un dispositivo que interrumpe la corriente eléctrica de un circuito cuando detecta valores superiores a ciertos límites.</a:t>
            </a:r>
          </a:p>
          <a:p>
            <a:pPr>
              <a:lnSpc>
                <a:spcPct val="120000"/>
              </a:lnSpc>
            </a:pPr>
            <a:r>
              <a:rPr lang="es-ES" sz="4600" dirty="0">
                <a:solidFill>
                  <a:schemeClr val="bg1"/>
                </a:solidFill>
                <a:latin typeface="Arial" panose="020B0604020202020204" pitchFamily="34" charset="0"/>
              </a:rPr>
              <a:t>Este dispositivo protege las instalaciones eléctricas y sus receptores de sobrecargas y cortocircuitos eléctricos.</a:t>
            </a:r>
            <a:endParaRPr lang="es-ES" sz="1800" dirty="0">
              <a:solidFill>
                <a:schemeClr val="bg1"/>
              </a:solidFill>
            </a:endParaRPr>
          </a:p>
          <a:p>
            <a:pPr>
              <a:lnSpc>
                <a:spcPct val="120000"/>
              </a:lnSpc>
            </a:pPr>
            <a:br>
              <a:rPr lang="es-ES" sz="2900" dirty="0">
                <a:solidFill>
                  <a:schemeClr val="bg1"/>
                </a:solidFill>
                <a:latin typeface="CIDFont+F3"/>
              </a:rPr>
            </a:br>
            <a:br>
              <a:rPr lang="es-ES" sz="1100" dirty="0">
                <a:solidFill>
                  <a:schemeClr val="bg1"/>
                </a:solidFill>
              </a:rPr>
            </a:br>
            <a:br>
              <a:rPr lang="es-ES" sz="1400" dirty="0">
                <a:solidFill>
                  <a:schemeClr val="bg1"/>
                </a:solidFill>
              </a:rPr>
            </a:br>
            <a:br>
              <a:rPr lang="es-ES" dirty="0">
                <a:solidFill>
                  <a:schemeClr val="bg1"/>
                </a:solidFill>
              </a:rPr>
            </a:br>
            <a:br>
              <a:rPr lang="es-ES" dirty="0">
                <a:solidFill>
                  <a:schemeClr val="bg1"/>
                </a:solidFill>
              </a:rPr>
            </a:br>
            <a:endParaRPr lang="es-ES" dirty="0">
              <a:solidFill>
                <a:schemeClr val="bg1"/>
              </a:solidFill>
            </a:endParaRPr>
          </a:p>
        </p:txBody>
      </p:sp>
      <p:sp>
        <p:nvSpPr>
          <p:cNvPr id="12" name="CuadroTexto 11">
            <a:extLst>
              <a:ext uri="{FF2B5EF4-FFF2-40B4-BE49-F238E27FC236}">
                <a16:creationId xmlns:a16="http://schemas.microsoft.com/office/drawing/2014/main" id="{1FEE6829-E8F0-DEE7-B680-868D3334AB35}"/>
              </a:ext>
            </a:extLst>
          </p:cNvPr>
          <p:cNvSpPr txBox="1"/>
          <p:nvPr/>
        </p:nvSpPr>
        <p:spPr>
          <a:xfrm>
            <a:off x="512064" y="557736"/>
            <a:ext cx="3881032" cy="584775"/>
          </a:xfrm>
          <a:prstGeom prst="rect">
            <a:avLst/>
          </a:prstGeom>
          <a:noFill/>
        </p:spPr>
        <p:txBody>
          <a:bodyPr wrap="square">
            <a:spAutoFit/>
          </a:bodyPr>
          <a:lstStyle/>
          <a:p>
            <a:pPr marL="514350" indent="-514350">
              <a:buFont typeface="+mj-lt"/>
              <a:buAutoNum type="romanUcPeriod" startAt="2"/>
            </a:pPr>
            <a:r>
              <a:rPr lang="es-PE" sz="3200" b="1" dirty="0">
                <a:solidFill>
                  <a:srgbClr val="00F3B5"/>
                </a:solidFill>
              </a:rPr>
              <a:t>Clasificación.</a:t>
            </a:r>
          </a:p>
        </p:txBody>
      </p:sp>
      <p:sp>
        <p:nvSpPr>
          <p:cNvPr id="2" name="CuadroTexto 1">
            <a:extLst>
              <a:ext uri="{FF2B5EF4-FFF2-40B4-BE49-F238E27FC236}">
                <a16:creationId xmlns:a16="http://schemas.microsoft.com/office/drawing/2014/main" id="{1B322A8E-966B-01BF-8AA8-EDF70C20441E}"/>
              </a:ext>
            </a:extLst>
          </p:cNvPr>
          <p:cNvSpPr txBox="1"/>
          <p:nvPr/>
        </p:nvSpPr>
        <p:spPr>
          <a:xfrm>
            <a:off x="512064" y="1142511"/>
            <a:ext cx="5583936" cy="1569660"/>
          </a:xfrm>
          <a:prstGeom prst="rect">
            <a:avLst/>
          </a:prstGeom>
          <a:noFill/>
        </p:spPr>
        <p:txBody>
          <a:bodyPr wrap="square">
            <a:spAutoFit/>
          </a:bodyPr>
          <a:lstStyle/>
          <a:p>
            <a:r>
              <a:rPr lang="es-PE" sz="3200" b="1" dirty="0">
                <a:solidFill>
                  <a:srgbClr val="00F3B5"/>
                </a:solidFill>
              </a:rPr>
              <a:t>INTERRUPTORES AUTOMATICOS PARA USO DOMESTICO</a:t>
            </a:r>
          </a:p>
        </p:txBody>
      </p:sp>
      <p:pic>
        <p:nvPicPr>
          <p:cNvPr id="4" name="Imagen 3">
            <a:extLst>
              <a:ext uri="{FF2B5EF4-FFF2-40B4-BE49-F238E27FC236}">
                <a16:creationId xmlns:a16="http://schemas.microsoft.com/office/drawing/2014/main" id="{01BCFAB1-8C3F-A47E-6610-8A62645F195B}"/>
              </a:ext>
            </a:extLst>
          </p:cNvPr>
          <p:cNvPicPr>
            <a:picLocks noChangeAspect="1"/>
          </p:cNvPicPr>
          <p:nvPr/>
        </p:nvPicPr>
        <p:blipFill>
          <a:blip r:embed="rId3"/>
          <a:stretch>
            <a:fillRect/>
          </a:stretch>
        </p:blipFill>
        <p:spPr>
          <a:xfrm>
            <a:off x="6187736" y="2094402"/>
            <a:ext cx="5201630" cy="3890155"/>
          </a:xfrm>
          <a:prstGeom prst="rect">
            <a:avLst/>
          </a:prstGeom>
        </p:spPr>
      </p:pic>
    </p:spTree>
    <p:extLst>
      <p:ext uri="{BB962C8B-B14F-4D97-AF65-F5344CB8AC3E}">
        <p14:creationId xmlns:p14="http://schemas.microsoft.com/office/powerpoint/2010/main" val="3736766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Marcador de texto 8">
            <a:extLst>
              <a:ext uri="{FF2B5EF4-FFF2-40B4-BE49-F238E27FC236}">
                <a16:creationId xmlns:a16="http://schemas.microsoft.com/office/drawing/2014/main" id="{01256718-EABB-4FF2-C4E6-1736EED855D8}"/>
              </a:ext>
            </a:extLst>
          </p:cNvPr>
          <p:cNvSpPr>
            <a:spLocks noGrp="1"/>
          </p:cNvSpPr>
          <p:nvPr>
            <p:ph type="body" idx="1"/>
          </p:nvPr>
        </p:nvSpPr>
        <p:spPr>
          <a:xfrm>
            <a:off x="390144" y="2162995"/>
            <a:ext cx="7016496" cy="4187005"/>
          </a:xfrm>
        </p:spPr>
        <p:txBody>
          <a:bodyPr>
            <a:noAutofit/>
          </a:bodyPr>
          <a:lstStyle/>
          <a:p>
            <a:pPr>
              <a:lnSpc>
                <a:spcPct val="120000"/>
              </a:lnSpc>
            </a:pPr>
            <a:r>
              <a:rPr lang="es-ES" sz="2800" dirty="0">
                <a:solidFill>
                  <a:schemeClr val="bg1"/>
                </a:solidFill>
                <a:latin typeface="Arial" panose="020B0604020202020204" pitchFamily="34" charset="0"/>
              </a:rPr>
              <a:t> IEC 60898 “Interruptores para instalaciones domésticas y análogas”.</a:t>
            </a:r>
          </a:p>
          <a:p>
            <a:pPr>
              <a:lnSpc>
                <a:spcPct val="120000"/>
              </a:lnSpc>
            </a:pPr>
            <a:r>
              <a:rPr lang="es-ES" sz="2800" dirty="0">
                <a:solidFill>
                  <a:schemeClr val="bg1"/>
                </a:solidFill>
                <a:latin typeface="Arial" panose="020B0604020202020204" pitchFamily="34" charset="0"/>
              </a:rPr>
              <a:t>Estos </a:t>
            </a:r>
            <a:r>
              <a:rPr lang="es-ES" sz="2800" dirty="0" err="1">
                <a:solidFill>
                  <a:schemeClr val="bg1"/>
                </a:solidFill>
                <a:latin typeface="Arial" panose="020B0604020202020204" pitchFamily="34" charset="0"/>
              </a:rPr>
              <a:t>itm</a:t>
            </a:r>
            <a:r>
              <a:rPr lang="es-ES" sz="2800" dirty="0">
                <a:solidFill>
                  <a:schemeClr val="bg1"/>
                </a:solidFill>
                <a:latin typeface="Arial" panose="020B0604020202020204" pitchFamily="34" charset="0"/>
              </a:rPr>
              <a:t> trabajan a una corriente de cortocircuito menor que las de uso industrial.</a:t>
            </a:r>
          </a:p>
          <a:p>
            <a:pPr>
              <a:lnSpc>
                <a:spcPct val="120000"/>
              </a:lnSpc>
            </a:pPr>
            <a:r>
              <a:rPr lang="es-ES" sz="2800" dirty="0">
                <a:solidFill>
                  <a:schemeClr val="bg1"/>
                </a:solidFill>
                <a:latin typeface="Arial" panose="020B0604020202020204" pitchFamily="34" charset="0"/>
              </a:rPr>
              <a:t>10Ka en 220Vac.</a:t>
            </a:r>
          </a:p>
          <a:p>
            <a:pPr>
              <a:lnSpc>
                <a:spcPct val="120000"/>
              </a:lnSpc>
            </a:pPr>
            <a:endParaRPr lang="es-ES" sz="2800" dirty="0">
              <a:solidFill>
                <a:schemeClr val="bg1"/>
              </a:solidFill>
            </a:endParaRPr>
          </a:p>
          <a:p>
            <a:pPr>
              <a:lnSpc>
                <a:spcPct val="120000"/>
              </a:lnSpc>
            </a:pPr>
            <a:br>
              <a:rPr lang="es-ES" sz="2800" dirty="0">
                <a:solidFill>
                  <a:schemeClr val="bg1"/>
                </a:solidFill>
                <a:latin typeface="CIDFont+F3"/>
              </a:rPr>
            </a:br>
            <a:br>
              <a:rPr lang="es-ES" sz="2800" dirty="0">
                <a:solidFill>
                  <a:schemeClr val="bg1"/>
                </a:solidFill>
              </a:rPr>
            </a:br>
            <a:br>
              <a:rPr lang="es-ES" sz="2800" dirty="0">
                <a:solidFill>
                  <a:schemeClr val="bg1"/>
                </a:solidFill>
              </a:rPr>
            </a:br>
            <a:br>
              <a:rPr lang="es-ES" sz="2800" dirty="0">
                <a:solidFill>
                  <a:schemeClr val="bg1"/>
                </a:solidFill>
              </a:rPr>
            </a:br>
            <a:br>
              <a:rPr lang="es-ES" sz="2800" dirty="0">
                <a:solidFill>
                  <a:schemeClr val="bg1"/>
                </a:solidFill>
              </a:rPr>
            </a:br>
            <a:endParaRPr lang="es-ES" sz="2800" dirty="0">
              <a:solidFill>
                <a:schemeClr val="bg1"/>
              </a:solidFill>
            </a:endParaRPr>
          </a:p>
        </p:txBody>
      </p:sp>
      <p:sp>
        <p:nvSpPr>
          <p:cNvPr id="2" name="CuadroTexto 1">
            <a:extLst>
              <a:ext uri="{FF2B5EF4-FFF2-40B4-BE49-F238E27FC236}">
                <a16:creationId xmlns:a16="http://schemas.microsoft.com/office/drawing/2014/main" id="{1B322A8E-966B-01BF-8AA8-EDF70C20441E}"/>
              </a:ext>
            </a:extLst>
          </p:cNvPr>
          <p:cNvSpPr txBox="1"/>
          <p:nvPr/>
        </p:nvSpPr>
        <p:spPr>
          <a:xfrm>
            <a:off x="186944" y="357810"/>
            <a:ext cx="8560816" cy="1077218"/>
          </a:xfrm>
          <a:prstGeom prst="rect">
            <a:avLst/>
          </a:prstGeom>
          <a:noFill/>
        </p:spPr>
        <p:txBody>
          <a:bodyPr wrap="square">
            <a:spAutoFit/>
          </a:bodyPr>
          <a:lstStyle/>
          <a:p>
            <a:r>
              <a:rPr lang="es-ES" sz="3200" b="1" dirty="0">
                <a:solidFill>
                  <a:srgbClr val="00F3B5"/>
                </a:solidFill>
              </a:rPr>
              <a:t>Fabricación de los interruptores termomagnéticos de acuerdo a la norma IEC:</a:t>
            </a:r>
          </a:p>
        </p:txBody>
      </p:sp>
      <p:pic>
        <p:nvPicPr>
          <p:cNvPr id="3" name="Imagen 2">
            <a:extLst>
              <a:ext uri="{FF2B5EF4-FFF2-40B4-BE49-F238E27FC236}">
                <a16:creationId xmlns:a16="http://schemas.microsoft.com/office/drawing/2014/main" id="{A28EFAF6-DAED-D109-9675-9417603614EB}"/>
              </a:ext>
            </a:extLst>
          </p:cNvPr>
          <p:cNvPicPr>
            <a:picLocks noChangeAspect="1"/>
          </p:cNvPicPr>
          <p:nvPr/>
        </p:nvPicPr>
        <p:blipFill rotWithShape="1">
          <a:blip r:embed="rId3"/>
          <a:srcRect t="7814" r="9045" b="7813"/>
          <a:stretch/>
        </p:blipFill>
        <p:spPr>
          <a:xfrm>
            <a:off x="7406640" y="3139440"/>
            <a:ext cx="3556000" cy="2743200"/>
          </a:xfrm>
          <a:prstGeom prst="rect">
            <a:avLst/>
          </a:prstGeom>
        </p:spPr>
      </p:pic>
    </p:spTree>
    <p:extLst>
      <p:ext uri="{BB962C8B-B14F-4D97-AF65-F5344CB8AC3E}">
        <p14:creationId xmlns:p14="http://schemas.microsoft.com/office/powerpoint/2010/main" val="3745819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Marcador de texto 8">
            <a:extLst>
              <a:ext uri="{FF2B5EF4-FFF2-40B4-BE49-F238E27FC236}">
                <a16:creationId xmlns:a16="http://schemas.microsoft.com/office/drawing/2014/main" id="{01256718-EABB-4FF2-C4E6-1736EED855D8}"/>
              </a:ext>
            </a:extLst>
          </p:cNvPr>
          <p:cNvSpPr>
            <a:spLocks noGrp="1"/>
          </p:cNvSpPr>
          <p:nvPr>
            <p:ph type="subTitle" idx="1"/>
          </p:nvPr>
        </p:nvSpPr>
        <p:spPr/>
        <p:txBody>
          <a:bodyPr>
            <a:noAutofit/>
          </a:bodyPr>
          <a:lstStyle/>
          <a:p>
            <a:pPr>
              <a:lnSpc>
                <a:spcPct val="120000"/>
              </a:lnSpc>
            </a:pPr>
            <a:endParaRPr lang="es-ES" sz="2800" dirty="0">
              <a:solidFill>
                <a:schemeClr val="bg1"/>
              </a:solidFill>
            </a:endParaRPr>
          </a:p>
          <a:p>
            <a:pPr>
              <a:lnSpc>
                <a:spcPct val="120000"/>
              </a:lnSpc>
            </a:pPr>
            <a:br>
              <a:rPr lang="es-ES" sz="2800" dirty="0">
                <a:solidFill>
                  <a:schemeClr val="bg1"/>
                </a:solidFill>
                <a:latin typeface="CIDFont+F3"/>
              </a:rPr>
            </a:br>
            <a:br>
              <a:rPr lang="es-ES" sz="2800" dirty="0">
                <a:solidFill>
                  <a:schemeClr val="bg1"/>
                </a:solidFill>
              </a:rPr>
            </a:br>
            <a:br>
              <a:rPr lang="es-ES" sz="2800" dirty="0">
                <a:solidFill>
                  <a:schemeClr val="bg1"/>
                </a:solidFill>
              </a:rPr>
            </a:br>
            <a:br>
              <a:rPr lang="es-ES" sz="2800" dirty="0">
                <a:solidFill>
                  <a:schemeClr val="bg1"/>
                </a:solidFill>
              </a:rPr>
            </a:br>
            <a:br>
              <a:rPr lang="es-ES" sz="2800" dirty="0">
                <a:solidFill>
                  <a:schemeClr val="bg1"/>
                </a:solidFill>
              </a:rPr>
            </a:br>
            <a:endParaRPr lang="es-ES" sz="2800" dirty="0">
              <a:solidFill>
                <a:schemeClr val="bg1"/>
              </a:solidFill>
            </a:endParaRPr>
          </a:p>
        </p:txBody>
      </p:sp>
      <p:sp>
        <p:nvSpPr>
          <p:cNvPr id="2" name="CuadroTexto 1">
            <a:extLst>
              <a:ext uri="{FF2B5EF4-FFF2-40B4-BE49-F238E27FC236}">
                <a16:creationId xmlns:a16="http://schemas.microsoft.com/office/drawing/2014/main" id="{1B322A8E-966B-01BF-8AA8-EDF70C20441E}"/>
              </a:ext>
            </a:extLst>
          </p:cNvPr>
          <p:cNvSpPr txBox="1"/>
          <p:nvPr/>
        </p:nvSpPr>
        <p:spPr>
          <a:xfrm>
            <a:off x="186944" y="357810"/>
            <a:ext cx="8642096" cy="584775"/>
          </a:xfrm>
          <a:prstGeom prst="rect">
            <a:avLst/>
          </a:prstGeom>
          <a:noFill/>
        </p:spPr>
        <p:txBody>
          <a:bodyPr wrap="square">
            <a:spAutoFit/>
          </a:bodyPr>
          <a:lstStyle/>
          <a:p>
            <a:r>
              <a:rPr lang="es-ES" sz="3200" b="1" dirty="0">
                <a:solidFill>
                  <a:srgbClr val="00F3B5"/>
                </a:solidFill>
              </a:rPr>
              <a:t>LAS PARTES INTERNAS DEL ITM:</a:t>
            </a:r>
          </a:p>
        </p:txBody>
      </p:sp>
      <p:sp>
        <p:nvSpPr>
          <p:cNvPr id="22" name="Título 21">
            <a:extLst>
              <a:ext uri="{FF2B5EF4-FFF2-40B4-BE49-F238E27FC236}">
                <a16:creationId xmlns:a16="http://schemas.microsoft.com/office/drawing/2014/main" id="{26A7E591-B219-6510-EDC6-02907BEEA86A}"/>
              </a:ext>
            </a:extLst>
          </p:cNvPr>
          <p:cNvSpPr>
            <a:spLocks noGrp="1"/>
          </p:cNvSpPr>
          <p:nvPr>
            <p:ph type="ctrTitle"/>
          </p:nvPr>
        </p:nvSpPr>
        <p:spPr/>
        <p:txBody>
          <a:bodyPr/>
          <a:lstStyle/>
          <a:p>
            <a:endParaRPr lang="es-PE"/>
          </a:p>
        </p:txBody>
      </p:sp>
      <p:pic>
        <p:nvPicPr>
          <p:cNvPr id="24" name="Imagen 23">
            <a:extLst>
              <a:ext uri="{FF2B5EF4-FFF2-40B4-BE49-F238E27FC236}">
                <a16:creationId xmlns:a16="http://schemas.microsoft.com/office/drawing/2014/main" id="{5C0E527A-3130-8EFB-BFD1-12D42779D952}"/>
              </a:ext>
            </a:extLst>
          </p:cNvPr>
          <p:cNvPicPr>
            <a:picLocks noChangeAspect="1"/>
          </p:cNvPicPr>
          <p:nvPr/>
        </p:nvPicPr>
        <p:blipFill>
          <a:blip r:embed="rId3"/>
          <a:stretch>
            <a:fillRect/>
          </a:stretch>
        </p:blipFill>
        <p:spPr>
          <a:xfrm>
            <a:off x="635000" y="1122753"/>
            <a:ext cx="7716520" cy="5377437"/>
          </a:xfrm>
          <a:prstGeom prst="rect">
            <a:avLst/>
          </a:prstGeom>
        </p:spPr>
      </p:pic>
    </p:spTree>
    <p:extLst>
      <p:ext uri="{BB962C8B-B14F-4D97-AF65-F5344CB8AC3E}">
        <p14:creationId xmlns:p14="http://schemas.microsoft.com/office/powerpoint/2010/main" val="53531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Marcador de texto 8">
            <a:extLst>
              <a:ext uri="{FF2B5EF4-FFF2-40B4-BE49-F238E27FC236}">
                <a16:creationId xmlns:a16="http://schemas.microsoft.com/office/drawing/2014/main" id="{01256718-EABB-4FF2-C4E6-1736EED855D8}"/>
              </a:ext>
            </a:extLst>
          </p:cNvPr>
          <p:cNvSpPr>
            <a:spLocks noGrp="1"/>
          </p:cNvSpPr>
          <p:nvPr>
            <p:ph type="body" idx="1"/>
          </p:nvPr>
        </p:nvSpPr>
        <p:spPr>
          <a:xfrm>
            <a:off x="390144" y="2162995"/>
            <a:ext cx="4626482" cy="4187005"/>
          </a:xfrm>
        </p:spPr>
        <p:txBody>
          <a:bodyPr>
            <a:noAutofit/>
          </a:bodyPr>
          <a:lstStyle/>
          <a:p>
            <a:pPr>
              <a:lnSpc>
                <a:spcPct val="120000"/>
              </a:lnSpc>
            </a:pPr>
            <a:endParaRPr lang="es-ES" sz="2800" dirty="0">
              <a:solidFill>
                <a:schemeClr val="bg1"/>
              </a:solidFill>
            </a:endParaRPr>
          </a:p>
          <a:p>
            <a:pPr>
              <a:lnSpc>
                <a:spcPct val="120000"/>
              </a:lnSpc>
            </a:pPr>
            <a:br>
              <a:rPr lang="es-ES" sz="2800" dirty="0">
                <a:solidFill>
                  <a:schemeClr val="bg1"/>
                </a:solidFill>
                <a:latin typeface="CIDFont+F3"/>
              </a:rPr>
            </a:br>
            <a:br>
              <a:rPr lang="es-ES" sz="2800" dirty="0">
                <a:solidFill>
                  <a:schemeClr val="bg1"/>
                </a:solidFill>
              </a:rPr>
            </a:br>
            <a:br>
              <a:rPr lang="es-ES" sz="2800" dirty="0">
                <a:solidFill>
                  <a:schemeClr val="bg1"/>
                </a:solidFill>
              </a:rPr>
            </a:br>
            <a:br>
              <a:rPr lang="es-ES" sz="2800" dirty="0">
                <a:solidFill>
                  <a:schemeClr val="bg1"/>
                </a:solidFill>
              </a:rPr>
            </a:br>
            <a:br>
              <a:rPr lang="es-ES" sz="2800" dirty="0">
                <a:solidFill>
                  <a:schemeClr val="bg1"/>
                </a:solidFill>
              </a:rPr>
            </a:br>
            <a:endParaRPr lang="es-ES" sz="2800" dirty="0">
              <a:solidFill>
                <a:schemeClr val="bg1"/>
              </a:solidFill>
            </a:endParaRPr>
          </a:p>
        </p:txBody>
      </p:sp>
      <p:sp>
        <p:nvSpPr>
          <p:cNvPr id="2" name="CuadroTexto 1">
            <a:extLst>
              <a:ext uri="{FF2B5EF4-FFF2-40B4-BE49-F238E27FC236}">
                <a16:creationId xmlns:a16="http://schemas.microsoft.com/office/drawing/2014/main" id="{1B322A8E-966B-01BF-8AA8-EDF70C20441E}"/>
              </a:ext>
            </a:extLst>
          </p:cNvPr>
          <p:cNvSpPr txBox="1"/>
          <p:nvPr/>
        </p:nvSpPr>
        <p:spPr>
          <a:xfrm>
            <a:off x="186944" y="357810"/>
            <a:ext cx="8642096" cy="1077218"/>
          </a:xfrm>
          <a:prstGeom prst="rect">
            <a:avLst/>
          </a:prstGeom>
          <a:noFill/>
        </p:spPr>
        <p:txBody>
          <a:bodyPr wrap="square">
            <a:spAutoFit/>
          </a:bodyPr>
          <a:lstStyle/>
          <a:p>
            <a:r>
              <a:rPr lang="es-ES" sz="3200" b="1" dirty="0">
                <a:solidFill>
                  <a:srgbClr val="00F3B5"/>
                </a:solidFill>
              </a:rPr>
              <a:t>¿CÓMO PROTEGER ADECUADAMENTE A</a:t>
            </a:r>
          </a:p>
          <a:p>
            <a:r>
              <a:rPr lang="es-ES" sz="3200" b="1" dirty="0">
                <a:solidFill>
                  <a:srgbClr val="00F3B5"/>
                </a:solidFill>
              </a:rPr>
              <a:t>LOS CONDUCTORES ELÉCTRICOS?</a:t>
            </a:r>
          </a:p>
        </p:txBody>
      </p:sp>
      <p:pic>
        <p:nvPicPr>
          <p:cNvPr id="5" name="Imagen 4">
            <a:extLst>
              <a:ext uri="{FF2B5EF4-FFF2-40B4-BE49-F238E27FC236}">
                <a16:creationId xmlns:a16="http://schemas.microsoft.com/office/drawing/2014/main" id="{01194397-80AE-45F6-FCB4-543B58ACC18E}"/>
              </a:ext>
            </a:extLst>
          </p:cNvPr>
          <p:cNvPicPr>
            <a:picLocks noChangeAspect="1"/>
          </p:cNvPicPr>
          <p:nvPr/>
        </p:nvPicPr>
        <p:blipFill>
          <a:blip r:embed="rId3"/>
          <a:stretch>
            <a:fillRect/>
          </a:stretch>
        </p:blipFill>
        <p:spPr>
          <a:xfrm>
            <a:off x="710741" y="2392045"/>
            <a:ext cx="4523387" cy="3388995"/>
          </a:xfrm>
          <a:prstGeom prst="rect">
            <a:avLst/>
          </a:prstGeom>
        </p:spPr>
      </p:pic>
      <p:pic>
        <p:nvPicPr>
          <p:cNvPr id="10" name="Imagen 9">
            <a:extLst>
              <a:ext uri="{FF2B5EF4-FFF2-40B4-BE49-F238E27FC236}">
                <a16:creationId xmlns:a16="http://schemas.microsoft.com/office/drawing/2014/main" id="{31021F4A-37B8-FF30-07A0-7A354A9324B1}"/>
              </a:ext>
            </a:extLst>
          </p:cNvPr>
          <p:cNvPicPr>
            <a:picLocks noChangeAspect="1"/>
          </p:cNvPicPr>
          <p:nvPr/>
        </p:nvPicPr>
        <p:blipFill>
          <a:blip r:embed="rId4"/>
          <a:stretch>
            <a:fillRect/>
          </a:stretch>
        </p:blipFill>
        <p:spPr>
          <a:xfrm>
            <a:off x="6957874" y="3928110"/>
            <a:ext cx="2089585" cy="2171700"/>
          </a:xfrm>
          <a:prstGeom prst="rect">
            <a:avLst/>
          </a:prstGeom>
        </p:spPr>
      </p:pic>
      <p:sp>
        <p:nvSpPr>
          <p:cNvPr id="12" name="CuadroTexto 11">
            <a:extLst>
              <a:ext uri="{FF2B5EF4-FFF2-40B4-BE49-F238E27FC236}">
                <a16:creationId xmlns:a16="http://schemas.microsoft.com/office/drawing/2014/main" id="{F209D88F-242C-1EEF-4884-BA54253BD49D}"/>
              </a:ext>
            </a:extLst>
          </p:cNvPr>
          <p:cNvSpPr txBox="1"/>
          <p:nvPr/>
        </p:nvSpPr>
        <p:spPr>
          <a:xfrm>
            <a:off x="6811801" y="2162995"/>
            <a:ext cx="4523387" cy="1200329"/>
          </a:xfrm>
          <a:prstGeom prst="rect">
            <a:avLst/>
          </a:prstGeom>
          <a:noFill/>
        </p:spPr>
        <p:txBody>
          <a:bodyPr wrap="square">
            <a:spAutoFit/>
          </a:bodyPr>
          <a:lstStyle/>
          <a:p>
            <a:r>
              <a:rPr lang="es-PE" sz="2400" dirty="0">
                <a:solidFill>
                  <a:schemeClr val="bg1"/>
                </a:solidFill>
              </a:rPr>
              <a:t>Utilizando interruptores automáticos</a:t>
            </a:r>
          </a:p>
          <a:p>
            <a:r>
              <a:rPr lang="es-PE" sz="2400" dirty="0">
                <a:solidFill>
                  <a:schemeClr val="bg1"/>
                </a:solidFill>
              </a:rPr>
              <a:t>del tipo termomagnético</a:t>
            </a:r>
            <a:endParaRPr lang="es-PE" dirty="0">
              <a:solidFill>
                <a:schemeClr val="bg1"/>
              </a:solidFill>
            </a:endParaRPr>
          </a:p>
        </p:txBody>
      </p:sp>
      <p:cxnSp>
        <p:nvCxnSpPr>
          <p:cNvPr id="14" name="Conector recto de flecha 13">
            <a:extLst>
              <a:ext uri="{FF2B5EF4-FFF2-40B4-BE49-F238E27FC236}">
                <a16:creationId xmlns:a16="http://schemas.microsoft.com/office/drawing/2014/main" id="{EB79C15B-6821-75B5-26B2-233F961E2395}"/>
              </a:ext>
            </a:extLst>
          </p:cNvPr>
          <p:cNvCxnSpPr/>
          <p:nvPr/>
        </p:nvCxnSpPr>
        <p:spPr>
          <a:xfrm flipH="1" flipV="1">
            <a:off x="5554725" y="4064000"/>
            <a:ext cx="1120395" cy="640080"/>
          </a:xfrm>
          <a:prstGeom prst="straightConnector1">
            <a:avLst/>
          </a:prstGeom>
          <a:ln w="76200">
            <a:solidFill>
              <a:srgbClr val="00F3B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7226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Marcador de texto 8">
            <a:extLst>
              <a:ext uri="{FF2B5EF4-FFF2-40B4-BE49-F238E27FC236}">
                <a16:creationId xmlns:a16="http://schemas.microsoft.com/office/drawing/2014/main" id="{01256718-EABB-4FF2-C4E6-1736EED855D8}"/>
              </a:ext>
            </a:extLst>
          </p:cNvPr>
          <p:cNvSpPr>
            <a:spLocks noGrp="1"/>
          </p:cNvSpPr>
          <p:nvPr>
            <p:ph type="body" idx="1"/>
          </p:nvPr>
        </p:nvSpPr>
        <p:spPr>
          <a:xfrm>
            <a:off x="390144" y="2162995"/>
            <a:ext cx="4626482" cy="4187005"/>
          </a:xfrm>
        </p:spPr>
        <p:txBody>
          <a:bodyPr>
            <a:noAutofit/>
          </a:bodyPr>
          <a:lstStyle/>
          <a:p>
            <a:pPr>
              <a:lnSpc>
                <a:spcPct val="120000"/>
              </a:lnSpc>
            </a:pPr>
            <a:endParaRPr lang="es-ES" sz="2800" dirty="0">
              <a:solidFill>
                <a:schemeClr val="bg1"/>
              </a:solidFill>
            </a:endParaRPr>
          </a:p>
          <a:p>
            <a:pPr>
              <a:lnSpc>
                <a:spcPct val="120000"/>
              </a:lnSpc>
            </a:pPr>
            <a:br>
              <a:rPr lang="es-ES" sz="2800" dirty="0">
                <a:solidFill>
                  <a:schemeClr val="bg1"/>
                </a:solidFill>
                <a:latin typeface="CIDFont+F3"/>
              </a:rPr>
            </a:br>
            <a:br>
              <a:rPr lang="es-ES" sz="2800" dirty="0">
                <a:solidFill>
                  <a:schemeClr val="bg1"/>
                </a:solidFill>
              </a:rPr>
            </a:br>
            <a:br>
              <a:rPr lang="es-ES" sz="2800" dirty="0">
                <a:solidFill>
                  <a:schemeClr val="bg1"/>
                </a:solidFill>
              </a:rPr>
            </a:br>
            <a:br>
              <a:rPr lang="es-ES" sz="2800" dirty="0">
                <a:solidFill>
                  <a:schemeClr val="bg1"/>
                </a:solidFill>
              </a:rPr>
            </a:br>
            <a:br>
              <a:rPr lang="es-ES" sz="2800" dirty="0">
                <a:solidFill>
                  <a:schemeClr val="bg1"/>
                </a:solidFill>
              </a:rPr>
            </a:br>
            <a:endParaRPr lang="es-ES" sz="2800" dirty="0">
              <a:solidFill>
                <a:schemeClr val="bg1"/>
              </a:solidFill>
            </a:endParaRPr>
          </a:p>
        </p:txBody>
      </p:sp>
      <p:sp>
        <p:nvSpPr>
          <p:cNvPr id="2" name="CuadroTexto 1">
            <a:extLst>
              <a:ext uri="{FF2B5EF4-FFF2-40B4-BE49-F238E27FC236}">
                <a16:creationId xmlns:a16="http://schemas.microsoft.com/office/drawing/2014/main" id="{1B322A8E-966B-01BF-8AA8-EDF70C20441E}"/>
              </a:ext>
            </a:extLst>
          </p:cNvPr>
          <p:cNvSpPr txBox="1"/>
          <p:nvPr/>
        </p:nvSpPr>
        <p:spPr>
          <a:xfrm>
            <a:off x="186944" y="357810"/>
            <a:ext cx="8642096" cy="1077218"/>
          </a:xfrm>
          <a:prstGeom prst="rect">
            <a:avLst/>
          </a:prstGeom>
          <a:noFill/>
        </p:spPr>
        <p:txBody>
          <a:bodyPr wrap="square">
            <a:spAutoFit/>
          </a:bodyPr>
          <a:lstStyle/>
          <a:p>
            <a:r>
              <a:rPr lang="es-ES" sz="3200" b="1" dirty="0">
                <a:solidFill>
                  <a:srgbClr val="00F3B5"/>
                </a:solidFill>
              </a:rPr>
              <a:t>CARACTERÍSTICAS DE UN INTERRUPTOR</a:t>
            </a:r>
          </a:p>
          <a:p>
            <a:r>
              <a:rPr lang="es-ES" sz="3200" b="1" dirty="0">
                <a:solidFill>
                  <a:srgbClr val="00F3B5"/>
                </a:solidFill>
              </a:rPr>
              <a:t>TERMOMAGNÉTICO</a:t>
            </a:r>
          </a:p>
        </p:txBody>
      </p:sp>
      <p:pic>
        <p:nvPicPr>
          <p:cNvPr id="6" name="Imagen 5">
            <a:extLst>
              <a:ext uri="{FF2B5EF4-FFF2-40B4-BE49-F238E27FC236}">
                <a16:creationId xmlns:a16="http://schemas.microsoft.com/office/drawing/2014/main" id="{B8EBBFEB-FD5D-2256-2395-017EF1B1969C}"/>
              </a:ext>
            </a:extLst>
          </p:cNvPr>
          <p:cNvPicPr>
            <a:picLocks noChangeAspect="1"/>
          </p:cNvPicPr>
          <p:nvPr/>
        </p:nvPicPr>
        <p:blipFill>
          <a:blip r:embed="rId3"/>
          <a:stretch>
            <a:fillRect/>
          </a:stretch>
        </p:blipFill>
        <p:spPr>
          <a:xfrm>
            <a:off x="390144" y="1435028"/>
            <a:ext cx="6353175" cy="5191125"/>
          </a:xfrm>
          <a:prstGeom prst="rect">
            <a:avLst/>
          </a:prstGeom>
        </p:spPr>
      </p:pic>
    </p:spTree>
    <p:extLst>
      <p:ext uri="{BB962C8B-B14F-4D97-AF65-F5344CB8AC3E}">
        <p14:creationId xmlns:p14="http://schemas.microsoft.com/office/powerpoint/2010/main" val="4021681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Marcador de texto 8">
            <a:extLst>
              <a:ext uri="{FF2B5EF4-FFF2-40B4-BE49-F238E27FC236}">
                <a16:creationId xmlns:a16="http://schemas.microsoft.com/office/drawing/2014/main" id="{01256718-EABB-4FF2-C4E6-1736EED855D8}"/>
              </a:ext>
            </a:extLst>
          </p:cNvPr>
          <p:cNvSpPr>
            <a:spLocks noGrp="1"/>
          </p:cNvSpPr>
          <p:nvPr>
            <p:ph type="body" idx="1"/>
          </p:nvPr>
        </p:nvSpPr>
        <p:spPr>
          <a:xfrm>
            <a:off x="390144" y="2162995"/>
            <a:ext cx="4626482" cy="4187005"/>
          </a:xfrm>
        </p:spPr>
        <p:txBody>
          <a:bodyPr>
            <a:noAutofit/>
          </a:bodyPr>
          <a:lstStyle/>
          <a:p>
            <a:pPr>
              <a:lnSpc>
                <a:spcPct val="120000"/>
              </a:lnSpc>
            </a:pPr>
            <a:endParaRPr lang="es-ES" sz="2800" dirty="0">
              <a:solidFill>
                <a:schemeClr val="bg1"/>
              </a:solidFill>
            </a:endParaRPr>
          </a:p>
          <a:p>
            <a:pPr>
              <a:lnSpc>
                <a:spcPct val="120000"/>
              </a:lnSpc>
            </a:pPr>
            <a:br>
              <a:rPr lang="es-ES" sz="2800" dirty="0">
                <a:solidFill>
                  <a:schemeClr val="bg1"/>
                </a:solidFill>
                <a:latin typeface="CIDFont+F3"/>
              </a:rPr>
            </a:br>
            <a:br>
              <a:rPr lang="es-ES" sz="2800" dirty="0">
                <a:solidFill>
                  <a:schemeClr val="bg1"/>
                </a:solidFill>
              </a:rPr>
            </a:br>
            <a:br>
              <a:rPr lang="es-ES" sz="2800" dirty="0">
                <a:solidFill>
                  <a:schemeClr val="bg1"/>
                </a:solidFill>
              </a:rPr>
            </a:br>
            <a:br>
              <a:rPr lang="es-ES" sz="2800" dirty="0">
                <a:solidFill>
                  <a:schemeClr val="bg1"/>
                </a:solidFill>
              </a:rPr>
            </a:br>
            <a:br>
              <a:rPr lang="es-ES" sz="2800" dirty="0">
                <a:solidFill>
                  <a:schemeClr val="bg1"/>
                </a:solidFill>
              </a:rPr>
            </a:br>
            <a:endParaRPr lang="es-ES" sz="2800" dirty="0">
              <a:solidFill>
                <a:schemeClr val="bg1"/>
              </a:solidFill>
            </a:endParaRPr>
          </a:p>
        </p:txBody>
      </p:sp>
      <p:sp>
        <p:nvSpPr>
          <p:cNvPr id="2" name="CuadroTexto 1">
            <a:extLst>
              <a:ext uri="{FF2B5EF4-FFF2-40B4-BE49-F238E27FC236}">
                <a16:creationId xmlns:a16="http://schemas.microsoft.com/office/drawing/2014/main" id="{1B322A8E-966B-01BF-8AA8-EDF70C20441E}"/>
              </a:ext>
            </a:extLst>
          </p:cNvPr>
          <p:cNvSpPr txBox="1"/>
          <p:nvPr/>
        </p:nvSpPr>
        <p:spPr>
          <a:xfrm>
            <a:off x="186944" y="357810"/>
            <a:ext cx="8642096" cy="1077218"/>
          </a:xfrm>
          <a:prstGeom prst="rect">
            <a:avLst/>
          </a:prstGeom>
          <a:noFill/>
        </p:spPr>
        <p:txBody>
          <a:bodyPr wrap="square">
            <a:spAutoFit/>
          </a:bodyPr>
          <a:lstStyle/>
          <a:p>
            <a:r>
              <a:rPr lang="es-ES" sz="3200" b="1" dirty="0">
                <a:solidFill>
                  <a:srgbClr val="00F3B5"/>
                </a:solidFill>
              </a:rPr>
              <a:t>CARACTERÍSTICAS DE UN INTERRUPTOR</a:t>
            </a:r>
          </a:p>
          <a:p>
            <a:r>
              <a:rPr lang="es-ES" sz="3200" b="1" dirty="0">
                <a:solidFill>
                  <a:srgbClr val="00F3B5"/>
                </a:solidFill>
              </a:rPr>
              <a:t>TERMOMAGNÉTICO</a:t>
            </a:r>
          </a:p>
        </p:txBody>
      </p:sp>
      <p:sp>
        <p:nvSpPr>
          <p:cNvPr id="12" name="CuadroTexto 11">
            <a:extLst>
              <a:ext uri="{FF2B5EF4-FFF2-40B4-BE49-F238E27FC236}">
                <a16:creationId xmlns:a16="http://schemas.microsoft.com/office/drawing/2014/main" id="{F209D88F-242C-1EEF-4884-BA54253BD49D}"/>
              </a:ext>
            </a:extLst>
          </p:cNvPr>
          <p:cNvSpPr txBox="1"/>
          <p:nvPr/>
        </p:nvSpPr>
        <p:spPr>
          <a:xfrm>
            <a:off x="390144" y="1668098"/>
            <a:ext cx="10633456" cy="5262979"/>
          </a:xfrm>
          <a:prstGeom prst="rect">
            <a:avLst/>
          </a:prstGeom>
          <a:noFill/>
        </p:spPr>
        <p:txBody>
          <a:bodyPr wrap="square">
            <a:spAutoFit/>
          </a:bodyPr>
          <a:lstStyle/>
          <a:p>
            <a:r>
              <a:rPr lang="es-ES" sz="2400" dirty="0">
                <a:solidFill>
                  <a:schemeClr val="bg1"/>
                </a:solidFill>
              </a:rPr>
              <a:t>Principales características técnicas de los interruptores:</a:t>
            </a:r>
          </a:p>
          <a:p>
            <a:r>
              <a:rPr lang="es-PE" sz="2400" dirty="0">
                <a:solidFill>
                  <a:schemeClr val="bg1"/>
                </a:solidFill>
              </a:rPr>
              <a:t>Corriente nominal (A):</a:t>
            </a:r>
          </a:p>
          <a:p>
            <a:r>
              <a:rPr lang="es-ES" sz="2400" dirty="0">
                <a:solidFill>
                  <a:schemeClr val="bg1"/>
                </a:solidFill>
              </a:rPr>
              <a:t>Las termomagnéticos que permiten seleccionar adecuadamente la protección específica que se requiere en cada caso son las siguientes:</a:t>
            </a:r>
          </a:p>
          <a:p>
            <a:endParaRPr lang="es-ES" sz="2400" dirty="0">
              <a:solidFill>
                <a:schemeClr val="bg1"/>
              </a:solidFill>
            </a:endParaRPr>
          </a:p>
          <a:p>
            <a:r>
              <a:rPr lang="es-ES" sz="2400" dirty="0">
                <a:solidFill>
                  <a:schemeClr val="bg1"/>
                </a:solidFill>
              </a:rPr>
              <a:t> • Número de polos</a:t>
            </a:r>
          </a:p>
          <a:p>
            <a:r>
              <a:rPr lang="es-ES" sz="2400" dirty="0">
                <a:solidFill>
                  <a:schemeClr val="bg1"/>
                </a:solidFill>
              </a:rPr>
              <a:t>• Tensión asignada</a:t>
            </a:r>
          </a:p>
          <a:p>
            <a:r>
              <a:rPr lang="es-ES" sz="2400" dirty="0">
                <a:solidFill>
                  <a:schemeClr val="bg1"/>
                </a:solidFill>
              </a:rPr>
              <a:t>• Corriente asignada</a:t>
            </a:r>
          </a:p>
          <a:p>
            <a:r>
              <a:rPr lang="es-ES" sz="2400" dirty="0">
                <a:solidFill>
                  <a:schemeClr val="bg1"/>
                </a:solidFill>
              </a:rPr>
              <a:t>• Corriente convencional de no desconexión</a:t>
            </a:r>
          </a:p>
          <a:p>
            <a:r>
              <a:rPr lang="es-ES" sz="2400" dirty="0">
                <a:solidFill>
                  <a:schemeClr val="bg1"/>
                </a:solidFill>
              </a:rPr>
              <a:t>• Corriente convencional de desconexión</a:t>
            </a:r>
          </a:p>
          <a:p>
            <a:r>
              <a:rPr lang="es-ES" sz="2400" dirty="0">
                <a:solidFill>
                  <a:schemeClr val="bg1"/>
                </a:solidFill>
              </a:rPr>
              <a:t>• Corriente de disparo instantáneo</a:t>
            </a:r>
          </a:p>
          <a:p>
            <a:r>
              <a:rPr lang="es-ES" sz="2400" dirty="0">
                <a:solidFill>
                  <a:schemeClr val="bg1"/>
                </a:solidFill>
              </a:rPr>
              <a:t>• Poder de corte asignado</a:t>
            </a:r>
          </a:p>
          <a:p>
            <a:r>
              <a:rPr lang="es-ES" sz="2400" dirty="0">
                <a:solidFill>
                  <a:schemeClr val="bg1"/>
                </a:solidFill>
              </a:rPr>
              <a:t>• Energía específica pasante</a:t>
            </a:r>
            <a:br>
              <a:rPr lang="es-ES" sz="2400" dirty="0"/>
            </a:br>
            <a:r>
              <a:rPr lang="es-PE" sz="2400" dirty="0">
                <a:solidFill>
                  <a:schemeClr val="bg1"/>
                </a:solidFill>
              </a:rPr>
              <a:t>    </a:t>
            </a:r>
          </a:p>
        </p:txBody>
      </p:sp>
    </p:spTree>
    <p:extLst>
      <p:ext uri="{BB962C8B-B14F-4D97-AF65-F5344CB8AC3E}">
        <p14:creationId xmlns:p14="http://schemas.microsoft.com/office/powerpoint/2010/main" val="4228087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Marcador de texto 8">
            <a:extLst>
              <a:ext uri="{FF2B5EF4-FFF2-40B4-BE49-F238E27FC236}">
                <a16:creationId xmlns:a16="http://schemas.microsoft.com/office/drawing/2014/main" id="{01256718-EABB-4FF2-C4E6-1736EED855D8}"/>
              </a:ext>
            </a:extLst>
          </p:cNvPr>
          <p:cNvSpPr>
            <a:spLocks noGrp="1"/>
          </p:cNvSpPr>
          <p:nvPr>
            <p:ph type="body" idx="1"/>
          </p:nvPr>
        </p:nvSpPr>
        <p:spPr>
          <a:xfrm>
            <a:off x="390144" y="2162995"/>
            <a:ext cx="4626482" cy="4187005"/>
          </a:xfrm>
        </p:spPr>
        <p:txBody>
          <a:bodyPr>
            <a:noAutofit/>
          </a:bodyPr>
          <a:lstStyle/>
          <a:p>
            <a:pPr>
              <a:lnSpc>
                <a:spcPct val="120000"/>
              </a:lnSpc>
            </a:pPr>
            <a:endParaRPr lang="es-ES" sz="2800" dirty="0">
              <a:solidFill>
                <a:schemeClr val="bg1"/>
              </a:solidFill>
            </a:endParaRPr>
          </a:p>
          <a:p>
            <a:pPr>
              <a:lnSpc>
                <a:spcPct val="120000"/>
              </a:lnSpc>
            </a:pPr>
            <a:br>
              <a:rPr lang="es-ES" sz="2800" dirty="0">
                <a:solidFill>
                  <a:schemeClr val="bg1"/>
                </a:solidFill>
                <a:latin typeface="CIDFont+F3"/>
              </a:rPr>
            </a:br>
            <a:br>
              <a:rPr lang="es-ES" sz="2800" dirty="0">
                <a:solidFill>
                  <a:schemeClr val="bg1"/>
                </a:solidFill>
              </a:rPr>
            </a:br>
            <a:br>
              <a:rPr lang="es-ES" sz="2800" dirty="0">
                <a:solidFill>
                  <a:schemeClr val="bg1"/>
                </a:solidFill>
              </a:rPr>
            </a:br>
            <a:br>
              <a:rPr lang="es-ES" sz="2800" dirty="0">
                <a:solidFill>
                  <a:schemeClr val="bg1"/>
                </a:solidFill>
              </a:rPr>
            </a:br>
            <a:br>
              <a:rPr lang="es-ES" sz="2800" dirty="0">
                <a:solidFill>
                  <a:schemeClr val="bg1"/>
                </a:solidFill>
              </a:rPr>
            </a:br>
            <a:endParaRPr lang="es-ES" sz="2800" dirty="0">
              <a:solidFill>
                <a:schemeClr val="bg1"/>
              </a:solidFill>
            </a:endParaRPr>
          </a:p>
        </p:txBody>
      </p:sp>
      <p:sp>
        <p:nvSpPr>
          <p:cNvPr id="2" name="CuadroTexto 1">
            <a:extLst>
              <a:ext uri="{FF2B5EF4-FFF2-40B4-BE49-F238E27FC236}">
                <a16:creationId xmlns:a16="http://schemas.microsoft.com/office/drawing/2014/main" id="{1B322A8E-966B-01BF-8AA8-EDF70C20441E}"/>
              </a:ext>
            </a:extLst>
          </p:cNvPr>
          <p:cNvSpPr txBox="1"/>
          <p:nvPr/>
        </p:nvSpPr>
        <p:spPr>
          <a:xfrm>
            <a:off x="390144" y="723570"/>
            <a:ext cx="8642096" cy="584775"/>
          </a:xfrm>
          <a:prstGeom prst="rect">
            <a:avLst/>
          </a:prstGeom>
          <a:noFill/>
        </p:spPr>
        <p:txBody>
          <a:bodyPr wrap="square">
            <a:spAutoFit/>
          </a:bodyPr>
          <a:lstStyle/>
          <a:p>
            <a:r>
              <a:rPr lang="es-ES" sz="3200" b="1" dirty="0">
                <a:solidFill>
                  <a:srgbClr val="00F3B5"/>
                </a:solidFill>
              </a:rPr>
              <a:t>Numero de polos de un </a:t>
            </a:r>
            <a:r>
              <a:rPr lang="es-ES" sz="3200" b="1" dirty="0" err="1">
                <a:solidFill>
                  <a:srgbClr val="00F3B5"/>
                </a:solidFill>
              </a:rPr>
              <a:t>itm</a:t>
            </a:r>
            <a:r>
              <a:rPr lang="es-ES" sz="3200" b="1" dirty="0">
                <a:solidFill>
                  <a:srgbClr val="00F3B5"/>
                </a:solidFill>
              </a:rPr>
              <a:t>:</a:t>
            </a:r>
          </a:p>
        </p:txBody>
      </p:sp>
      <p:sp>
        <p:nvSpPr>
          <p:cNvPr id="12" name="CuadroTexto 11">
            <a:extLst>
              <a:ext uri="{FF2B5EF4-FFF2-40B4-BE49-F238E27FC236}">
                <a16:creationId xmlns:a16="http://schemas.microsoft.com/office/drawing/2014/main" id="{F209D88F-242C-1EEF-4884-BA54253BD49D}"/>
              </a:ext>
            </a:extLst>
          </p:cNvPr>
          <p:cNvSpPr txBox="1"/>
          <p:nvPr/>
        </p:nvSpPr>
        <p:spPr>
          <a:xfrm>
            <a:off x="390144" y="1668098"/>
            <a:ext cx="11243056" cy="3216265"/>
          </a:xfrm>
          <a:prstGeom prst="rect">
            <a:avLst/>
          </a:prstGeom>
          <a:noFill/>
        </p:spPr>
        <p:txBody>
          <a:bodyPr wrap="square">
            <a:spAutoFit/>
          </a:bodyPr>
          <a:lstStyle/>
          <a:p>
            <a:r>
              <a:rPr lang="es-ES" sz="2900" dirty="0">
                <a:solidFill>
                  <a:schemeClr val="bg1"/>
                </a:solidFill>
              </a:rPr>
              <a:t>Se denomina polo a la parte de un interruptor asociada exclusivamente</a:t>
            </a:r>
          </a:p>
          <a:p>
            <a:r>
              <a:rPr lang="es-ES" sz="2900" dirty="0">
                <a:solidFill>
                  <a:schemeClr val="bg1"/>
                </a:solidFill>
              </a:rPr>
              <a:t>con una vía conductora eléctricamente separada, perteneciente a su</a:t>
            </a:r>
          </a:p>
          <a:p>
            <a:r>
              <a:rPr lang="es-ES" sz="2900" dirty="0">
                <a:solidFill>
                  <a:schemeClr val="bg1"/>
                </a:solidFill>
              </a:rPr>
              <a:t>circuito principal provisto con contactos y destinada a conectar y</a:t>
            </a:r>
          </a:p>
          <a:p>
            <a:r>
              <a:rPr lang="es-ES" sz="2900" dirty="0">
                <a:solidFill>
                  <a:schemeClr val="bg1"/>
                </a:solidFill>
              </a:rPr>
              <a:t>desconectar dicho circuito; mientras que se denomina polo protegido al</a:t>
            </a:r>
          </a:p>
          <a:p>
            <a:r>
              <a:rPr lang="es-ES" sz="2900" dirty="0">
                <a:solidFill>
                  <a:schemeClr val="bg1"/>
                </a:solidFill>
              </a:rPr>
              <a:t>polo provisto de un disparador de sobreintensidad.</a:t>
            </a:r>
          </a:p>
          <a:p>
            <a:r>
              <a:rPr lang="es-ES" sz="2900" dirty="0">
                <a:solidFill>
                  <a:schemeClr val="bg1"/>
                </a:solidFill>
              </a:rPr>
              <a:t>Los polos de un interruptor termomagnético están en función del</a:t>
            </a:r>
          </a:p>
          <a:p>
            <a:r>
              <a:rPr lang="es-ES" sz="2900" dirty="0">
                <a:solidFill>
                  <a:schemeClr val="bg1"/>
                </a:solidFill>
              </a:rPr>
              <a:t>número de fases y neutro del circuito a proteger.</a:t>
            </a:r>
            <a:r>
              <a:rPr lang="es-PE" sz="2900" dirty="0">
                <a:solidFill>
                  <a:schemeClr val="bg1"/>
                </a:solidFill>
              </a:rPr>
              <a:t>    </a:t>
            </a:r>
          </a:p>
        </p:txBody>
      </p:sp>
    </p:spTree>
    <p:extLst>
      <p:ext uri="{BB962C8B-B14F-4D97-AF65-F5344CB8AC3E}">
        <p14:creationId xmlns:p14="http://schemas.microsoft.com/office/powerpoint/2010/main" val="1815529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Marcador de texto 8">
            <a:extLst>
              <a:ext uri="{FF2B5EF4-FFF2-40B4-BE49-F238E27FC236}">
                <a16:creationId xmlns:a16="http://schemas.microsoft.com/office/drawing/2014/main" id="{01256718-EABB-4FF2-C4E6-1736EED855D8}"/>
              </a:ext>
            </a:extLst>
          </p:cNvPr>
          <p:cNvSpPr>
            <a:spLocks noGrp="1"/>
          </p:cNvSpPr>
          <p:nvPr>
            <p:ph type="body" idx="1"/>
          </p:nvPr>
        </p:nvSpPr>
        <p:spPr>
          <a:xfrm>
            <a:off x="390144" y="2162995"/>
            <a:ext cx="4626482" cy="4187005"/>
          </a:xfrm>
        </p:spPr>
        <p:txBody>
          <a:bodyPr>
            <a:noAutofit/>
          </a:bodyPr>
          <a:lstStyle/>
          <a:p>
            <a:pPr>
              <a:lnSpc>
                <a:spcPct val="120000"/>
              </a:lnSpc>
            </a:pPr>
            <a:endParaRPr lang="es-ES" sz="2800" dirty="0">
              <a:solidFill>
                <a:schemeClr val="bg1"/>
              </a:solidFill>
            </a:endParaRPr>
          </a:p>
          <a:p>
            <a:pPr>
              <a:lnSpc>
                <a:spcPct val="120000"/>
              </a:lnSpc>
            </a:pPr>
            <a:br>
              <a:rPr lang="es-ES" sz="2800" dirty="0">
                <a:solidFill>
                  <a:schemeClr val="bg1"/>
                </a:solidFill>
                <a:latin typeface="CIDFont+F3"/>
              </a:rPr>
            </a:br>
            <a:br>
              <a:rPr lang="es-ES" sz="2800" dirty="0">
                <a:solidFill>
                  <a:schemeClr val="bg1"/>
                </a:solidFill>
              </a:rPr>
            </a:br>
            <a:br>
              <a:rPr lang="es-ES" sz="2800" dirty="0">
                <a:solidFill>
                  <a:schemeClr val="bg1"/>
                </a:solidFill>
              </a:rPr>
            </a:br>
            <a:br>
              <a:rPr lang="es-ES" sz="2800" dirty="0">
                <a:solidFill>
                  <a:schemeClr val="bg1"/>
                </a:solidFill>
              </a:rPr>
            </a:br>
            <a:br>
              <a:rPr lang="es-ES" sz="2800" dirty="0">
                <a:solidFill>
                  <a:schemeClr val="bg1"/>
                </a:solidFill>
              </a:rPr>
            </a:br>
            <a:endParaRPr lang="es-ES" sz="2800" dirty="0">
              <a:solidFill>
                <a:schemeClr val="bg1"/>
              </a:solidFill>
            </a:endParaRPr>
          </a:p>
        </p:txBody>
      </p:sp>
      <p:sp>
        <p:nvSpPr>
          <p:cNvPr id="2" name="CuadroTexto 1">
            <a:extLst>
              <a:ext uri="{FF2B5EF4-FFF2-40B4-BE49-F238E27FC236}">
                <a16:creationId xmlns:a16="http://schemas.microsoft.com/office/drawing/2014/main" id="{1B322A8E-966B-01BF-8AA8-EDF70C20441E}"/>
              </a:ext>
            </a:extLst>
          </p:cNvPr>
          <p:cNvSpPr txBox="1"/>
          <p:nvPr/>
        </p:nvSpPr>
        <p:spPr>
          <a:xfrm>
            <a:off x="390144" y="723570"/>
            <a:ext cx="8642096" cy="584775"/>
          </a:xfrm>
          <a:prstGeom prst="rect">
            <a:avLst/>
          </a:prstGeom>
          <a:noFill/>
        </p:spPr>
        <p:txBody>
          <a:bodyPr wrap="square">
            <a:spAutoFit/>
          </a:bodyPr>
          <a:lstStyle/>
          <a:p>
            <a:r>
              <a:rPr lang="es-ES" sz="3200" b="1" dirty="0">
                <a:solidFill>
                  <a:srgbClr val="00F3B5"/>
                </a:solidFill>
              </a:rPr>
              <a:t>Numero de polos de un </a:t>
            </a:r>
            <a:r>
              <a:rPr lang="es-ES" sz="3200" b="1" dirty="0" err="1">
                <a:solidFill>
                  <a:srgbClr val="00F3B5"/>
                </a:solidFill>
              </a:rPr>
              <a:t>itm</a:t>
            </a:r>
            <a:r>
              <a:rPr lang="es-ES" sz="3200" b="1" dirty="0">
                <a:solidFill>
                  <a:srgbClr val="00F3B5"/>
                </a:solidFill>
              </a:rPr>
              <a:t>:</a:t>
            </a:r>
          </a:p>
        </p:txBody>
      </p:sp>
      <p:sp>
        <p:nvSpPr>
          <p:cNvPr id="12" name="CuadroTexto 11">
            <a:extLst>
              <a:ext uri="{FF2B5EF4-FFF2-40B4-BE49-F238E27FC236}">
                <a16:creationId xmlns:a16="http://schemas.microsoft.com/office/drawing/2014/main" id="{F209D88F-242C-1EEF-4884-BA54253BD49D}"/>
              </a:ext>
            </a:extLst>
          </p:cNvPr>
          <p:cNvSpPr txBox="1"/>
          <p:nvPr/>
        </p:nvSpPr>
        <p:spPr>
          <a:xfrm>
            <a:off x="390144" y="1668098"/>
            <a:ext cx="10633456" cy="4154984"/>
          </a:xfrm>
          <a:prstGeom prst="rect">
            <a:avLst/>
          </a:prstGeom>
          <a:noFill/>
        </p:spPr>
        <p:txBody>
          <a:bodyPr wrap="square">
            <a:spAutoFit/>
          </a:bodyPr>
          <a:lstStyle/>
          <a:p>
            <a:r>
              <a:rPr lang="es-ES" sz="2400" dirty="0">
                <a:solidFill>
                  <a:schemeClr val="bg1"/>
                </a:solidFill>
              </a:rPr>
              <a:t>❖ Si la instalación es monofásica se necesita un interruptor unipolar (un polo).</a:t>
            </a:r>
          </a:p>
          <a:p>
            <a:r>
              <a:rPr lang="es-ES" sz="2400" dirty="0">
                <a:solidFill>
                  <a:schemeClr val="bg1"/>
                </a:solidFill>
              </a:rPr>
              <a:t>❖ Si la instalación es bifásica se necesita un interruptor bipolar (dos polos).</a:t>
            </a:r>
          </a:p>
          <a:p>
            <a:r>
              <a:rPr lang="es-ES" sz="2400" dirty="0">
                <a:solidFill>
                  <a:schemeClr val="bg1"/>
                </a:solidFill>
              </a:rPr>
              <a:t>❖ Si la instalación es trifásica se necesita un interruptor tripolar (tres polos).</a:t>
            </a:r>
          </a:p>
          <a:p>
            <a:r>
              <a:rPr lang="es-ES" sz="2400" dirty="0">
                <a:solidFill>
                  <a:schemeClr val="bg1"/>
                </a:solidFill>
              </a:rPr>
              <a:t>❖ Si la instalación es trifásica con neutro se puede usar un interruptor tetrapolar    (cuatro polos).</a:t>
            </a:r>
          </a:p>
          <a:p>
            <a:endParaRPr lang="es-ES" sz="2400" dirty="0">
              <a:solidFill>
                <a:schemeClr val="bg1"/>
              </a:solidFill>
            </a:endParaRPr>
          </a:p>
          <a:p>
            <a:r>
              <a:rPr lang="es-ES" sz="2400" dirty="0">
                <a:solidFill>
                  <a:schemeClr val="bg1"/>
                </a:solidFill>
              </a:rPr>
              <a:t>Generalmente el neutro se opera con un polo sin protección (polo no</a:t>
            </a:r>
          </a:p>
          <a:p>
            <a:r>
              <a:rPr lang="es-ES" sz="2400" dirty="0">
                <a:solidFill>
                  <a:schemeClr val="bg1"/>
                </a:solidFill>
              </a:rPr>
              <a:t>protegido), que en algunos casos sólo provee seccionamiento y no está</a:t>
            </a:r>
          </a:p>
          <a:p>
            <a:r>
              <a:rPr lang="es-ES" sz="2400" dirty="0">
                <a:solidFill>
                  <a:schemeClr val="bg1"/>
                </a:solidFill>
              </a:rPr>
              <a:t>previsto para tener una capacidad de cortocircuito (polo neutro de</a:t>
            </a:r>
          </a:p>
          <a:p>
            <a:r>
              <a:rPr lang="es-ES" sz="2400" dirty="0">
                <a:solidFill>
                  <a:schemeClr val="bg1"/>
                </a:solidFill>
              </a:rPr>
              <a:t>seccionamiento).</a:t>
            </a:r>
            <a:br>
              <a:rPr lang="es-ES" sz="2400" dirty="0"/>
            </a:br>
            <a:r>
              <a:rPr lang="es-PE" sz="2400" dirty="0">
                <a:solidFill>
                  <a:schemeClr val="bg1"/>
                </a:solidFill>
              </a:rPr>
              <a:t>    </a:t>
            </a:r>
          </a:p>
        </p:txBody>
      </p:sp>
    </p:spTree>
    <p:extLst>
      <p:ext uri="{BB962C8B-B14F-4D97-AF65-F5344CB8AC3E}">
        <p14:creationId xmlns:p14="http://schemas.microsoft.com/office/powerpoint/2010/main" val="2856796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Marcador de texto 8">
            <a:extLst>
              <a:ext uri="{FF2B5EF4-FFF2-40B4-BE49-F238E27FC236}">
                <a16:creationId xmlns:a16="http://schemas.microsoft.com/office/drawing/2014/main" id="{01256718-EABB-4FF2-C4E6-1736EED855D8}"/>
              </a:ext>
            </a:extLst>
          </p:cNvPr>
          <p:cNvSpPr>
            <a:spLocks noGrp="1"/>
          </p:cNvSpPr>
          <p:nvPr>
            <p:ph type="body" idx="1"/>
          </p:nvPr>
        </p:nvSpPr>
        <p:spPr>
          <a:xfrm>
            <a:off x="390144" y="2162995"/>
            <a:ext cx="4626482" cy="4187005"/>
          </a:xfrm>
        </p:spPr>
        <p:txBody>
          <a:bodyPr>
            <a:noAutofit/>
          </a:bodyPr>
          <a:lstStyle/>
          <a:p>
            <a:pPr>
              <a:lnSpc>
                <a:spcPct val="120000"/>
              </a:lnSpc>
            </a:pPr>
            <a:endParaRPr lang="es-ES" sz="2800" dirty="0">
              <a:solidFill>
                <a:schemeClr val="bg1"/>
              </a:solidFill>
            </a:endParaRPr>
          </a:p>
          <a:p>
            <a:pPr>
              <a:lnSpc>
                <a:spcPct val="120000"/>
              </a:lnSpc>
            </a:pPr>
            <a:br>
              <a:rPr lang="es-ES" sz="2800" dirty="0">
                <a:solidFill>
                  <a:schemeClr val="bg1"/>
                </a:solidFill>
                <a:latin typeface="CIDFont+F3"/>
              </a:rPr>
            </a:br>
            <a:br>
              <a:rPr lang="es-ES" sz="2800" dirty="0">
                <a:solidFill>
                  <a:schemeClr val="bg1"/>
                </a:solidFill>
              </a:rPr>
            </a:br>
            <a:br>
              <a:rPr lang="es-ES" sz="2800" dirty="0">
                <a:solidFill>
                  <a:schemeClr val="bg1"/>
                </a:solidFill>
              </a:rPr>
            </a:br>
            <a:br>
              <a:rPr lang="es-ES" sz="2800" dirty="0">
                <a:solidFill>
                  <a:schemeClr val="bg1"/>
                </a:solidFill>
              </a:rPr>
            </a:br>
            <a:br>
              <a:rPr lang="es-ES" sz="2800" dirty="0">
                <a:solidFill>
                  <a:schemeClr val="bg1"/>
                </a:solidFill>
              </a:rPr>
            </a:br>
            <a:endParaRPr lang="es-ES" sz="2800" dirty="0">
              <a:solidFill>
                <a:schemeClr val="bg1"/>
              </a:solidFill>
            </a:endParaRPr>
          </a:p>
        </p:txBody>
      </p:sp>
      <p:sp>
        <p:nvSpPr>
          <p:cNvPr id="2" name="CuadroTexto 1">
            <a:extLst>
              <a:ext uri="{FF2B5EF4-FFF2-40B4-BE49-F238E27FC236}">
                <a16:creationId xmlns:a16="http://schemas.microsoft.com/office/drawing/2014/main" id="{1B322A8E-966B-01BF-8AA8-EDF70C20441E}"/>
              </a:ext>
            </a:extLst>
          </p:cNvPr>
          <p:cNvSpPr txBox="1"/>
          <p:nvPr/>
        </p:nvSpPr>
        <p:spPr>
          <a:xfrm>
            <a:off x="390144" y="723570"/>
            <a:ext cx="8642096" cy="584775"/>
          </a:xfrm>
          <a:prstGeom prst="rect">
            <a:avLst/>
          </a:prstGeom>
          <a:noFill/>
        </p:spPr>
        <p:txBody>
          <a:bodyPr wrap="square">
            <a:spAutoFit/>
          </a:bodyPr>
          <a:lstStyle/>
          <a:p>
            <a:r>
              <a:rPr lang="es-ES" sz="3200" b="1" dirty="0">
                <a:solidFill>
                  <a:srgbClr val="00F3B5"/>
                </a:solidFill>
              </a:rPr>
              <a:t>Numero de polos de un </a:t>
            </a:r>
            <a:r>
              <a:rPr lang="es-ES" sz="3200" b="1" dirty="0" err="1">
                <a:solidFill>
                  <a:srgbClr val="00F3B5"/>
                </a:solidFill>
              </a:rPr>
              <a:t>itm</a:t>
            </a:r>
            <a:r>
              <a:rPr lang="es-ES" sz="3200" b="1" dirty="0">
                <a:solidFill>
                  <a:srgbClr val="00F3B5"/>
                </a:solidFill>
              </a:rPr>
              <a:t>:</a:t>
            </a:r>
          </a:p>
        </p:txBody>
      </p:sp>
      <p:pic>
        <p:nvPicPr>
          <p:cNvPr id="4" name="Imagen 3">
            <a:extLst>
              <a:ext uri="{FF2B5EF4-FFF2-40B4-BE49-F238E27FC236}">
                <a16:creationId xmlns:a16="http://schemas.microsoft.com/office/drawing/2014/main" id="{EFB7EF07-20FE-7C38-0ADC-1C41FC4A50BB}"/>
              </a:ext>
            </a:extLst>
          </p:cNvPr>
          <p:cNvPicPr>
            <a:picLocks noChangeAspect="1"/>
          </p:cNvPicPr>
          <p:nvPr/>
        </p:nvPicPr>
        <p:blipFill>
          <a:blip r:embed="rId3"/>
          <a:stretch>
            <a:fillRect/>
          </a:stretch>
        </p:blipFill>
        <p:spPr>
          <a:xfrm>
            <a:off x="458279" y="1308345"/>
            <a:ext cx="8505825" cy="5290502"/>
          </a:xfrm>
          <a:prstGeom prst="rect">
            <a:avLst/>
          </a:prstGeom>
        </p:spPr>
      </p:pic>
    </p:spTree>
    <p:extLst>
      <p:ext uri="{BB962C8B-B14F-4D97-AF65-F5344CB8AC3E}">
        <p14:creationId xmlns:p14="http://schemas.microsoft.com/office/powerpoint/2010/main" val="3598818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Marcador de texto 8">
            <a:extLst>
              <a:ext uri="{FF2B5EF4-FFF2-40B4-BE49-F238E27FC236}">
                <a16:creationId xmlns:a16="http://schemas.microsoft.com/office/drawing/2014/main" id="{01256718-EABB-4FF2-C4E6-1736EED855D8}"/>
              </a:ext>
            </a:extLst>
          </p:cNvPr>
          <p:cNvSpPr>
            <a:spLocks noGrp="1"/>
          </p:cNvSpPr>
          <p:nvPr>
            <p:ph type="body" idx="1"/>
          </p:nvPr>
        </p:nvSpPr>
        <p:spPr>
          <a:xfrm>
            <a:off x="278384" y="1461955"/>
            <a:ext cx="10145776" cy="4187005"/>
          </a:xfrm>
        </p:spPr>
        <p:txBody>
          <a:bodyPr>
            <a:noAutofit/>
          </a:bodyPr>
          <a:lstStyle/>
          <a:p>
            <a:pPr>
              <a:lnSpc>
                <a:spcPct val="120000"/>
              </a:lnSpc>
            </a:pPr>
            <a:endParaRPr lang="es-ES" sz="2800" dirty="0">
              <a:solidFill>
                <a:schemeClr val="bg1"/>
              </a:solidFill>
            </a:endParaRPr>
          </a:p>
          <a:p>
            <a:pPr>
              <a:lnSpc>
                <a:spcPct val="120000"/>
              </a:lnSpc>
            </a:pPr>
            <a:r>
              <a:rPr lang="es-ES" sz="2200" b="1" dirty="0">
                <a:solidFill>
                  <a:srgbClr val="00F3B5"/>
                </a:solidFill>
                <a:latin typeface="CIDFont+F3"/>
              </a:rPr>
              <a:t>Tensión asignada (Un): </a:t>
            </a:r>
            <a:r>
              <a:rPr lang="es-ES" sz="2200" dirty="0">
                <a:solidFill>
                  <a:schemeClr val="bg1"/>
                </a:solidFill>
                <a:latin typeface="CIDFont+F3"/>
              </a:rPr>
              <a:t>Valor máximo de voltaje para el cual el interruptor termomagnético está diseñado. Los valores normalizados, habituales y encontrados en Ecuador son: 230V - 240V - 400V - 500V -525V.</a:t>
            </a:r>
          </a:p>
          <a:p>
            <a:pPr>
              <a:lnSpc>
                <a:spcPct val="120000"/>
              </a:lnSpc>
            </a:pPr>
            <a:endParaRPr lang="es-ES" sz="2200" dirty="0">
              <a:solidFill>
                <a:schemeClr val="bg1"/>
              </a:solidFill>
              <a:latin typeface="CIDFont+F3"/>
            </a:endParaRPr>
          </a:p>
          <a:p>
            <a:pPr>
              <a:lnSpc>
                <a:spcPct val="120000"/>
              </a:lnSpc>
            </a:pPr>
            <a:r>
              <a:rPr lang="es-ES" sz="2200" b="1" dirty="0">
                <a:solidFill>
                  <a:srgbClr val="00F3B5"/>
                </a:solidFill>
                <a:latin typeface="CIDFont+F3"/>
              </a:rPr>
              <a:t>Corriente asignada (In): </a:t>
            </a:r>
            <a:r>
              <a:rPr lang="es-ES" sz="2200" dirty="0">
                <a:solidFill>
                  <a:schemeClr val="bg1"/>
                </a:solidFill>
                <a:latin typeface="CIDFont+F3"/>
              </a:rPr>
              <a:t>Valor máximo de corriente de capacidad del interruptor para funcionamiento ininterrumpido del circuito o instalación, es decir, sin apertura del circuito por el interruptor termomagnético. Los valores normalizados son los siguientes tanto para riel din, como para caja.</a:t>
            </a:r>
            <a:br>
              <a:rPr lang="es-ES" sz="2800" dirty="0">
                <a:solidFill>
                  <a:schemeClr val="bg1"/>
                </a:solidFill>
                <a:latin typeface="CIDFont+F3"/>
              </a:rPr>
            </a:br>
            <a:br>
              <a:rPr lang="es-ES" sz="2800" dirty="0">
                <a:solidFill>
                  <a:schemeClr val="bg1"/>
                </a:solidFill>
              </a:rPr>
            </a:br>
            <a:br>
              <a:rPr lang="es-ES" sz="2800" dirty="0">
                <a:solidFill>
                  <a:schemeClr val="bg1"/>
                </a:solidFill>
              </a:rPr>
            </a:br>
            <a:br>
              <a:rPr lang="es-ES" sz="2800" dirty="0">
                <a:solidFill>
                  <a:schemeClr val="bg1"/>
                </a:solidFill>
              </a:rPr>
            </a:br>
            <a:br>
              <a:rPr lang="es-ES" sz="2800" dirty="0">
                <a:solidFill>
                  <a:schemeClr val="bg1"/>
                </a:solidFill>
              </a:rPr>
            </a:br>
            <a:endParaRPr lang="es-ES" sz="2800" dirty="0">
              <a:solidFill>
                <a:schemeClr val="bg1"/>
              </a:solidFill>
            </a:endParaRPr>
          </a:p>
        </p:txBody>
      </p:sp>
      <p:sp>
        <p:nvSpPr>
          <p:cNvPr id="2" name="CuadroTexto 1">
            <a:extLst>
              <a:ext uri="{FF2B5EF4-FFF2-40B4-BE49-F238E27FC236}">
                <a16:creationId xmlns:a16="http://schemas.microsoft.com/office/drawing/2014/main" id="{1B322A8E-966B-01BF-8AA8-EDF70C20441E}"/>
              </a:ext>
            </a:extLst>
          </p:cNvPr>
          <p:cNvSpPr txBox="1"/>
          <p:nvPr/>
        </p:nvSpPr>
        <p:spPr>
          <a:xfrm>
            <a:off x="390144" y="713410"/>
            <a:ext cx="8642096" cy="584775"/>
          </a:xfrm>
          <a:prstGeom prst="rect">
            <a:avLst/>
          </a:prstGeom>
          <a:noFill/>
        </p:spPr>
        <p:txBody>
          <a:bodyPr wrap="square">
            <a:spAutoFit/>
          </a:bodyPr>
          <a:lstStyle/>
          <a:p>
            <a:r>
              <a:rPr lang="es-ES" sz="3200" b="1" dirty="0">
                <a:solidFill>
                  <a:srgbClr val="00F3B5"/>
                </a:solidFill>
              </a:rPr>
              <a:t>CARACTERISTICAS DEL ITM</a:t>
            </a:r>
          </a:p>
        </p:txBody>
      </p:sp>
    </p:spTree>
    <p:extLst>
      <p:ext uri="{BB962C8B-B14F-4D97-AF65-F5344CB8AC3E}">
        <p14:creationId xmlns:p14="http://schemas.microsoft.com/office/powerpoint/2010/main" val="326183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Marcador de texto 8">
            <a:extLst>
              <a:ext uri="{FF2B5EF4-FFF2-40B4-BE49-F238E27FC236}">
                <a16:creationId xmlns:a16="http://schemas.microsoft.com/office/drawing/2014/main" id="{01256718-EABB-4FF2-C4E6-1736EED855D8}"/>
              </a:ext>
            </a:extLst>
          </p:cNvPr>
          <p:cNvSpPr>
            <a:spLocks noGrp="1"/>
          </p:cNvSpPr>
          <p:nvPr>
            <p:ph type="body" idx="1"/>
          </p:nvPr>
        </p:nvSpPr>
        <p:spPr>
          <a:xfrm>
            <a:off x="278384" y="1461955"/>
            <a:ext cx="10145776" cy="4949005"/>
          </a:xfrm>
        </p:spPr>
        <p:txBody>
          <a:bodyPr>
            <a:noAutofit/>
          </a:bodyPr>
          <a:lstStyle/>
          <a:p>
            <a:pPr>
              <a:lnSpc>
                <a:spcPct val="120000"/>
              </a:lnSpc>
            </a:pPr>
            <a:endParaRPr lang="es-ES" sz="2800" dirty="0">
              <a:solidFill>
                <a:schemeClr val="bg1"/>
              </a:solidFill>
            </a:endParaRPr>
          </a:p>
          <a:p>
            <a:pPr>
              <a:lnSpc>
                <a:spcPct val="120000"/>
              </a:lnSpc>
            </a:pPr>
            <a:r>
              <a:rPr lang="es-ES" sz="2200" b="1" dirty="0">
                <a:solidFill>
                  <a:srgbClr val="00F3B5"/>
                </a:solidFill>
                <a:latin typeface="CIDFont+F3"/>
              </a:rPr>
              <a:t>Tipo Riel Din: </a:t>
            </a:r>
          </a:p>
          <a:p>
            <a:pPr>
              <a:lnSpc>
                <a:spcPct val="120000"/>
              </a:lnSpc>
            </a:pPr>
            <a:r>
              <a:rPr lang="pt-BR" sz="2200" dirty="0">
                <a:solidFill>
                  <a:schemeClr val="bg1"/>
                </a:solidFill>
                <a:latin typeface="CIDFont+F3"/>
              </a:rPr>
              <a:t>2 – 4 – 6 – 10 –16 – 20 – 25 – 32 – 40 – 50 – 63 – 70 – 80 – 100 – 125 A.</a:t>
            </a:r>
          </a:p>
          <a:p>
            <a:pPr>
              <a:lnSpc>
                <a:spcPct val="120000"/>
              </a:lnSpc>
            </a:pPr>
            <a:endParaRPr lang="es-ES" sz="2200" dirty="0">
              <a:solidFill>
                <a:schemeClr val="bg1"/>
              </a:solidFill>
              <a:latin typeface="CIDFont+F3"/>
            </a:endParaRPr>
          </a:p>
          <a:p>
            <a:pPr>
              <a:lnSpc>
                <a:spcPct val="120000"/>
              </a:lnSpc>
            </a:pPr>
            <a:r>
              <a:rPr lang="es-ES" sz="2200" b="1" dirty="0">
                <a:solidFill>
                  <a:srgbClr val="00F3B5"/>
                </a:solidFill>
                <a:latin typeface="CIDFont+F3"/>
              </a:rPr>
              <a:t>Corriente de disparo instantáneo: </a:t>
            </a:r>
            <a:r>
              <a:rPr lang="es-ES" sz="2200" dirty="0">
                <a:solidFill>
                  <a:schemeClr val="bg1"/>
                </a:solidFill>
                <a:latin typeface="CIDFont+F3"/>
              </a:rPr>
              <a:t>Indica los límites de disparo magnético para cada una de las curvas de los interruptores termomagnéticos.</a:t>
            </a:r>
          </a:p>
          <a:p>
            <a:pPr>
              <a:lnSpc>
                <a:spcPct val="120000"/>
              </a:lnSpc>
            </a:pPr>
            <a:r>
              <a:rPr lang="es-ES" sz="2200" b="1" dirty="0">
                <a:solidFill>
                  <a:srgbClr val="00F3B5"/>
                </a:solidFill>
                <a:latin typeface="CIDFont+F3"/>
              </a:rPr>
              <a:t>Poder de corte asignado (</a:t>
            </a:r>
            <a:r>
              <a:rPr lang="es-ES" sz="2200" b="1" dirty="0" err="1">
                <a:solidFill>
                  <a:srgbClr val="00F3B5"/>
                </a:solidFill>
                <a:latin typeface="CIDFont+F3"/>
              </a:rPr>
              <a:t>Icu</a:t>
            </a:r>
            <a:r>
              <a:rPr lang="es-ES" sz="2200" b="1" dirty="0">
                <a:solidFill>
                  <a:srgbClr val="00F3B5"/>
                </a:solidFill>
                <a:latin typeface="CIDFont+F3"/>
              </a:rPr>
              <a:t>): </a:t>
            </a:r>
            <a:r>
              <a:rPr lang="es-ES" sz="2200" dirty="0">
                <a:solidFill>
                  <a:schemeClr val="bg1"/>
                </a:solidFill>
                <a:latin typeface="CIDFont+F3"/>
              </a:rPr>
              <a:t>Es la corriente máxima que es capaz de interrumpir un interruptor termomagnético.</a:t>
            </a:r>
            <a:br>
              <a:rPr lang="es-ES" sz="2800" dirty="0">
                <a:solidFill>
                  <a:schemeClr val="bg1"/>
                </a:solidFill>
                <a:latin typeface="CIDFont+F3"/>
              </a:rPr>
            </a:br>
            <a:br>
              <a:rPr lang="es-ES" sz="2800" dirty="0">
                <a:solidFill>
                  <a:schemeClr val="bg1"/>
                </a:solidFill>
              </a:rPr>
            </a:br>
            <a:br>
              <a:rPr lang="es-ES" sz="2800" dirty="0">
                <a:solidFill>
                  <a:schemeClr val="bg1"/>
                </a:solidFill>
              </a:rPr>
            </a:br>
            <a:br>
              <a:rPr lang="es-ES" sz="2800" dirty="0">
                <a:solidFill>
                  <a:schemeClr val="bg1"/>
                </a:solidFill>
              </a:rPr>
            </a:br>
            <a:br>
              <a:rPr lang="es-ES" sz="2800" dirty="0">
                <a:solidFill>
                  <a:schemeClr val="bg1"/>
                </a:solidFill>
              </a:rPr>
            </a:br>
            <a:endParaRPr lang="es-ES" sz="2800" dirty="0">
              <a:solidFill>
                <a:schemeClr val="bg1"/>
              </a:solidFill>
            </a:endParaRPr>
          </a:p>
        </p:txBody>
      </p:sp>
      <p:sp>
        <p:nvSpPr>
          <p:cNvPr id="2" name="CuadroTexto 1">
            <a:extLst>
              <a:ext uri="{FF2B5EF4-FFF2-40B4-BE49-F238E27FC236}">
                <a16:creationId xmlns:a16="http://schemas.microsoft.com/office/drawing/2014/main" id="{1B322A8E-966B-01BF-8AA8-EDF70C20441E}"/>
              </a:ext>
            </a:extLst>
          </p:cNvPr>
          <p:cNvSpPr txBox="1"/>
          <p:nvPr/>
        </p:nvSpPr>
        <p:spPr>
          <a:xfrm>
            <a:off x="390144" y="713410"/>
            <a:ext cx="8642096" cy="584775"/>
          </a:xfrm>
          <a:prstGeom prst="rect">
            <a:avLst/>
          </a:prstGeom>
          <a:noFill/>
        </p:spPr>
        <p:txBody>
          <a:bodyPr wrap="square">
            <a:spAutoFit/>
          </a:bodyPr>
          <a:lstStyle/>
          <a:p>
            <a:r>
              <a:rPr lang="es-ES" sz="3200" b="1" dirty="0">
                <a:solidFill>
                  <a:srgbClr val="00F3B5"/>
                </a:solidFill>
              </a:rPr>
              <a:t>CARACTERISTICAS DEL ITM</a:t>
            </a:r>
          </a:p>
        </p:txBody>
      </p:sp>
    </p:spTree>
    <p:extLst>
      <p:ext uri="{BB962C8B-B14F-4D97-AF65-F5344CB8AC3E}">
        <p14:creationId xmlns:p14="http://schemas.microsoft.com/office/powerpoint/2010/main" val="38903164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B322A8E-966B-01BF-8AA8-EDF70C20441E}"/>
              </a:ext>
            </a:extLst>
          </p:cNvPr>
          <p:cNvSpPr txBox="1"/>
          <p:nvPr/>
        </p:nvSpPr>
        <p:spPr>
          <a:xfrm>
            <a:off x="390144" y="713410"/>
            <a:ext cx="8642096" cy="584775"/>
          </a:xfrm>
          <a:prstGeom prst="rect">
            <a:avLst/>
          </a:prstGeom>
          <a:noFill/>
        </p:spPr>
        <p:txBody>
          <a:bodyPr wrap="square">
            <a:spAutoFit/>
          </a:bodyPr>
          <a:lstStyle/>
          <a:p>
            <a:r>
              <a:rPr lang="es-ES" sz="3200" b="1" dirty="0">
                <a:solidFill>
                  <a:srgbClr val="00F3B5"/>
                </a:solidFill>
              </a:rPr>
              <a:t>CARACTERISTICAS DEL ITM</a:t>
            </a:r>
          </a:p>
        </p:txBody>
      </p:sp>
      <p:pic>
        <p:nvPicPr>
          <p:cNvPr id="6" name="Imagen 5" descr="Imagen que contiene medidor&#10;&#10;Descripción generada automáticamente">
            <a:extLst>
              <a:ext uri="{FF2B5EF4-FFF2-40B4-BE49-F238E27FC236}">
                <a16:creationId xmlns:a16="http://schemas.microsoft.com/office/drawing/2014/main" id="{B8C310A7-1C4E-0208-D63F-E75E6A1242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627" y="1172231"/>
            <a:ext cx="3857625" cy="5592618"/>
          </a:xfrm>
          <a:prstGeom prst="rect">
            <a:avLst/>
          </a:prstGeom>
        </p:spPr>
      </p:pic>
      <p:pic>
        <p:nvPicPr>
          <p:cNvPr id="8" name="Imagen 7" descr="Imagen que contiene naranja&#10;&#10;Descripción generada automáticamente">
            <a:extLst>
              <a:ext uri="{FF2B5EF4-FFF2-40B4-BE49-F238E27FC236}">
                <a16:creationId xmlns:a16="http://schemas.microsoft.com/office/drawing/2014/main" id="{6026E22D-91F6-E3AB-726F-103544778D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23433" y="1172231"/>
            <a:ext cx="3857625" cy="5559815"/>
          </a:xfrm>
          <a:prstGeom prst="rect">
            <a:avLst/>
          </a:prstGeom>
        </p:spPr>
      </p:pic>
    </p:spTree>
    <p:extLst>
      <p:ext uri="{BB962C8B-B14F-4D97-AF65-F5344CB8AC3E}">
        <p14:creationId xmlns:p14="http://schemas.microsoft.com/office/powerpoint/2010/main" val="3734726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Marcador de texto 8">
            <a:extLst>
              <a:ext uri="{FF2B5EF4-FFF2-40B4-BE49-F238E27FC236}">
                <a16:creationId xmlns:a16="http://schemas.microsoft.com/office/drawing/2014/main" id="{01256718-EABB-4FF2-C4E6-1736EED855D8}"/>
              </a:ext>
            </a:extLst>
          </p:cNvPr>
          <p:cNvSpPr>
            <a:spLocks noGrp="1"/>
          </p:cNvSpPr>
          <p:nvPr>
            <p:ph type="body" idx="1"/>
          </p:nvPr>
        </p:nvSpPr>
        <p:spPr>
          <a:xfrm>
            <a:off x="390144" y="2162995"/>
            <a:ext cx="4626482" cy="4187005"/>
          </a:xfrm>
        </p:spPr>
        <p:txBody>
          <a:bodyPr>
            <a:noAutofit/>
          </a:bodyPr>
          <a:lstStyle/>
          <a:p>
            <a:pPr>
              <a:lnSpc>
                <a:spcPct val="120000"/>
              </a:lnSpc>
            </a:pPr>
            <a:endParaRPr lang="es-ES" sz="2800" dirty="0">
              <a:solidFill>
                <a:schemeClr val="bg1"/>
              </a:solidFill>
            </a:endParaRPr>
          </a:p>
          <a:p>
            <a:pPr>
              <a:lnSpc>
                <a:spcPct val="120000"/>
              </a:lnSpc>
            </a:pPr>
            <a:br>
              <a:rPr lang="es-ES" sz="2800" dirty="0">
                <a:solidFill>
                  <a:schemeClr val="bg1"/>
                </a:solidFill>
                <a:latin typeface="CIDFont+F3"/>
              </a:rPr>
            </a:br>
            <a:br>
              <a:rPr lang="es-ES" sz="2800" dirty="0">
                <a:solidFill>
                  <a:schemeClr val="bg1"/>
                </a:solidFill>
              </a:rPr>
            </a:br>
            <a:br>
              <a:rPr lang="es-ES" sz="2800" dirty="0">
                <a:solidFill>
                  <a:schemeClr val="bg1"/>
                </a:solidFill>
              </a:rPr>
            </a:br>
            <a:br>
              <a:rPr lang="es-ES" sz="2800" dirty="0">
                <a:solidFill>
                  <a:schemeClr val="bg1"/>
                </a:solidFill>
              </a:rPr>
            </a:br>
            <a:br>
              <a:rPr lang="es-ES" sz="2800" dirty="0">
                <a:solidFill>
                  <a:schemeClr val="bg1"/>
                </a:solidFill>
              </a:rPr>
            </a:br>
            <a:endParaRPr lang="es-ES" sz="2800" dirty="0">
              <a:solidFill>
                <a:schemeClr val="bg1"/>
              </a:solidFill>
            </a:endParaRPr>
          </a:p>
        </p:txBody>
      </p:sp>
      <p:sp>
        <p:nvSpPr>
          <p:cNvPr id="2" name="CuadroTexto 1">
            <a:extLst>
              <a:ext uri="{FF2B5EF4-FFF2-40B4-BE49-F238E27FC236}">
                <a16:creationId xmlns:a16="http://schemas.microsoft.com/office/drawing/2014/main" id="{1B322A8E-966B-01BF-8AA8-EDF70C20441E}"/>
              </a:ext>
            </a:extLst>
          </p:cNvPr>
          <p:cNvSpPr txBox="1"/>
          <p:nvPr/>
        </p:nvSpPr>
        <p:spPr>
          <a:xfrm>
            <a:off x="186944" y="357810"/>
            <a:ext cx="8642096" cy="1077218"/>
          </a:xfrm>
          <a:prstGeom prst="rect">
            <a:avLst/>
          </a:prstGeom>
          <a:noFill/>
        </p:spPr>
        <p:txBody>
          <a:bodyPr wrap="square">
            <a:spAutoFit/>
          </a:bodyPr>
          <a:lstStyle/>
          <a:p>
            <a:r>
              <a:rPr lang="es-ES" sz="3200" b="1" dirty="0">
                <a:solidFill>
                  <a:srgbClr val="00F3B5"/>
                </a:solidFill>
              </a:rPr>
              <a:t>CARACTERÍSTICAS DE UN INTERRUPTOR</a:t>
            </a:r>
          </a:p>
          <a:p>
            <a:r>
              <a:rPr lang="es-ES" sz="3200" b="1" dirty="0">
                <a:solidFill>
                  <a:srgbClr val="00F3B5"/>
                </a:solidFill>
              </a:rPr>
              <a:t>TERMOMAGNÉTICO</a:t>
            </a:r>
          </a:p>
        </p:txBody>
      </p:sp>
      <p:pic>
        <p:nvPicPr>
          <p:cNvPr id="5" name="Imagen 4">
            <a:extLst>
              <a:ext uri="{FF2B5EF4-FFF2-40B4-BE49-F238E27FC236}">
                <a16:creationId xmlns:a16="http://schemas.microsoft.com/office/drawing/2014/main" id="{37DC5E1B-4946-3306-448D-0ACAFA4DE4B9}"/>
              </a:ext>
            </a:extLst>
          </p:cNvPr>
          <p:cNvPicPr>
            <a:picLocks noChangeAspect="1"/>
          </p:cNvPicPr>
          <p:nvPr/>
        </p:nvPicPr>
        <p:blipFill>
          <a:blip r:embed="rId3"/>
          <a:stretch>
            <a:fillRect/>
          </a:stretch>
        </p:blipFill>
        <p:spPr>
          <a:xfrm>
            <a:off x="186944" y="1574799"/>
            <a:ext cx="10890250" cy="4998721"/>
          </a:xfrm>
          <a:prstGeom prst="rect">
            <a:avLst/>
          </a:prstGeom>
        </p:spPr>
      </p:pic>
    </p:spTree>
    <p:extLst>
      <p:ext uri="{BB962C8B-B14F-4D97-AF65-F5344CB8AC3E}">
        <p14:creationId xmlns:p14="http://schemas.microsoft.com/office/powerpoint/2010/main" val="28730412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Marcador de texto 8">
            <a:extLst>
              <a:ext uri="{FF2B5EF4-FFF2-40B4-BE49-F238E27FC236}">
                <a16:creationId xmlns:a16="http://schemas.microsoft.com/office/drawing/2014/main" id="{01256718-EABB-4FF2-C4E6-1736EED855D8}"/>
              </a:ext>
            </a:extLst>
          </p:cNvPr>
          <p:cNvSpPr>
            <a:spLocks noGrp="1"/>
          </p:cNvSpPr>
          <p:nvPr>
            <p:ph type="body" idx="1"/>
          </p:nvPr>
        </p:nvSpPr>
        <p:spPr>
          <a:xfrm>
            <a:off x="390144" y="2162995"/>
            <a:ext cx="4626482" cy="4187005"/>
          </a:xfrm>
        </p:spPr>
        <p:txBody>
          <a:bodyPr>
            <a:noAutofit/>
          </a:bodyPr>
          <a:lstStyle/>
          <a:p>
            <a:pPr>
              <a:lnSpc>
                <a:spcPct val="120000"/>
              </a:lnSpc>
            </a:pPr>
            <a:endParaRPr lang="es-ES" sz="2800" dirty="0">
              <a:solidFill>
                <a:schemeClr val="bg1"/>
              </a:solidFill>
            </a:endParaRPr>
          </a:p>
          <a:p>
            <a:pPr>
              <a:lnSpc>
                <a:spcPct val="120000"/>
              </a:lnSpc>
            </a:pPr>
            <a:br>
              <a:rPr lang="es-ES" sz="2800" dirty="0">
                <a:solidFill>
                  <a:schemeClr val="bg1"/>
                </a:solidFill>
                <a:latin typeface="CIDFont+F3"/>
              </a:rPr>
            </a:br>
            <a:br>
              <a:rPr lang="es-ES" sz="2800" dirty="0">
                <a:solidFill>
                  <a:schemeClr val="bg1"/>
                </a:solidFill>
              </a:rPr>
            </a:br>
            <a:br>
              <a:rPr lang="es-ES" sz="2800" dirty="0">
                <a:solidFill>
                  <a:schemeClr val="bg1"/>
                </a:solidFill>
              </a:rPr>
            </a:br>
            <a:br>
              <a:rPr lang="es-ES" sz="2800" dirty="0">
                <a:solidFill>
                  <a:schemeClr val="bg1"/>
                </a:solidFill>
              </a:rPr>
            </a:br>
            <a:br>
              <a:rPr lang="es-ES" sz="2800" dirty="0">
                <a:solidFill>
                  <a:schemeClr val="bg1"/>
                </a:solidFill>
              </a:rPr>
            </a:br>
            <a:endParaRPr lang="es-ES" sz="2800" dirty="0">
              <a:solidFill>
                <a:schemeClr val="bg1"/>
              </a:solidFill>
            </a:endParaRPr>
          </a:p>
        </p:txBody>
      </p:sp>
      <p:sp>
        <p:nvSpPr>
          <p:cNvPr id="2" name="CuadroTexto 1">
            <a:extLst>
              <a:ext uri="{FF2B5EF4-FFF2-40B4-BE49-F238E27FC236}">
                <a16:creationId xmlns:a16="http://schemas.microsoft.com/office/drawing/2014/main" id="{1B322A8E-966B-01BF-8AA8-EDF70C20441E}"/>
              </a:ext>
            </a:extLst>
          </p:cNvPr>
          <p:cNvSpPr txBox="1"/>
          <p:nvPr/>
        </p:nvSpPr>
        <p:spPr>
          <a:xfrm>
            <a:off x="492378" y="408610"/>
            <a:ext cx="6284342" cy="1077218"/>
          </a:xfrm>
          <a:prstGeom prst="rect">
            <a:avLst/>
          </a:prstGeom>
          <a:noFill/>
        </p:spPr>
        <p:txBody>
          <a:bodyPr wrap="square">
            <a:spAutoFit/>
          </a:bodyPr>
          <a:lstStyle/>
          <a:p>
            <a:r>
              <a:rPr lang="es-ES" sz="3200" b="1" dirty="0">
                <a:solidFill>
                  <a:srgbClr val="00F3B5"/>
                </a:solidFill>
              </a:rPr>
              <a:t>VENTAJAS DE LOS INTERRUPTORES</a:t>
            </a:r>
          </a:p>
          <a:p>
            <a:r>
              <a:rPr lang="es-ES" sz="3200" b="1" dirty="0">
                <a:solidFill>
                  <a:srgbClr val="00F3B5"/>
                </a:solidFill>
              </a:rPr>
              <a:t>TERMOMAGNÉTICOS</a:t>
            </a:r>
          </a:p>
        </p:txBody>
      </p:sp>
      <p:sp>
        <p:nvSpPr>
          <p:cNvPr id="12" name="CuadroTexto 11">
            <a:extLst>
              <a:ext uri="{FF2B5EF4-FFF2-40B4-BE49-F238E27FC236}">
                <a16:creationId xmlns:a16="http://schemas.microsoft.com/office/drawing/2014/main" id="{F209D88F-242C-1EEF-4884-BA54253BD49D}"/>
              </a:ext>
            </a:extLst>
          </p:cNvPr>
          <p:cNvSpPr txBox="1"/>
          <p:nvPr/>
        </p:nvSpPr>
        <p:spPr>
          <a:xfrm>
            <a:off x="390144" y="1668098"/>
            <a:ext cx="6904736" cy="2616101"/>
          </a:xfrm>
          <a:prstGeom prst="rect">
            <a:avLst/>
          </a:prstGeom>
          <a:noFill/>
        </p:spPr>
        <p:txBody>
          <a:bodyPr wrap="square">
            <a:spAutoFit/>
          </a:bodyPr>
          <a:lstStyle/>
          <a:p>
            <a:pPr marL="342900" indent="-342900">
              <a:buFont typeface="Wingdings" panose="05000000000000000000" pitchFamily="2" charset="2"/>
              <a:buChar char="Ø"/>
            </a:pPr>
            <a:endParaRPr lang="es-ES" sz="3600" dirty="0">
              <a:solidFill>
                <a:schemeClr val="bg1"/>
              </a:solidFill>
            </a:endParaRPr>
          </a:p>
          <a:p>
            <a:pPr marL="342900" indent="-342900">
              <a:buFont typeface="Wingdings" panose="05000000000000000000" pitchFamily="2" charset="2"/>
              <a:buChar char="Ø"/>
            </a:pPr>
            <a:r>
              <a:rPr lang="es-ES" sz="3200" dirty="0">
                <a:solidFill>
                  <a:schemeClr val="bg1"/>
                </a:solidFill>
              </a:rPr>
              <a:t> Mecanismo de disparo independiente</a:t>
            </a:r>
          </a:p>
          <a:p>
            <a:r>
              <a:rPr lang="es-ES" sz="3200" dirty="0">
                <a:solidFill>
                  <a:schemeClr val="bg1"/>
                </a:solidFill>
              </a:rPr>
              <a:t>     del mecanismo de mando manual</a:t>
            </a:r>
          </a:p>
          <a:p>
            <a:endParaRPr lang="es-ES" sz="3200" dirty="0">
              <a:solidFill>
                <a:schemeClr val="bg1"/>
              </a:solidFill>
            </a:endParaRPr>
          </a:p>
          <a:p>
            <a:pPr marL="342900" indent="-342900">
              <a:buFont typeface="Wingdings" panose="05000000000000000000" pitchFamily="2" charset="2"/>
              <a:buChar char="Ø"/>
            </a:pPr>
            <a:r>
              <a:rPr lang="es-ES" sz="3200" dirty="0">
                <a:solidFill>
                  <a:schemeClr val="bg1"/>
                </a:solidFill>
              </a:rPr>
              <a:t> Recuperación inmediata</a:t>
            </a:r>
            <a:endParaRPr lang="es-PE" sz="3200" dirty="0">
              <a:solidFill>
                <a:schemeClr val="bg1"/>
              </a:solidFill>
            </a:endParaRPr>
          </a:p>
        </p:txBody>
      </p:sp>
      <p:pic>
        <p:nvPicPr>
          <p:cNvPr id="3" name="Imagen 2">
            <a:extLst>
              <a:ext uri="{FF2B5EF4-FFF2-40B4-BE49-F238E27FC236}">
                <a16:creationId xmlns:a16="http://schemas.microsoft.com/office/drawing/2014/main" id="{4CF742C2-20EE-5B4C-511A-34093F61E584}"/>
              </a:ext>
            </a:extLst>
          </p:cNvPr>
          <p:cNvPicPr>
            <a:picLocks noChangeAspect="1"/>
          </p:cNvPicPr>
          <p:nvPr/>
        </p:nvPicPr>
        <p:blipFill>
          <a:blip r:embed="rId3"/>
          <a:stretch>
            <a:fillRect/>
          </a:stretch>
        </p:blipFill>
        <p:spPr>
          <a:xfrm>
            <a:off x="7572572" y="2032000"/>
            <a:ext cx="3918388" cy="3596216"/>
          </a:xfrm>
          <a:prstGeom prst="rect">
            <a:avLst/>
          </a:prstGeom>
        </p:spPr>
      </p:pic>
    </p:spTree>
    <p:extLst>
      <p:ext uri="{BB962C8B-B14F-4D97-AF65-F5344CB8AC3E}">
        <p14:creationId xmlns:p14="http://schemas.microsoft.com/office/powerpoint/2010/main" val="34016816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Marcador de texto 8">
            <a:extLst>
              <a:ext uri="{FF2B5EF4-FFF2-40B4-BE49-F238E27FC236}">
                <a16:creationId xmlns:a16="http://schemas.microsoft.com/office/drawing/2014/main" id="{01256718-EABB-4FF2-C4E6-1736EED855D8}"/>
              </a:ext>
            </a:extLst>
          </p:cNvPr>
          <p:cNvSpPr>
            <a:spLocks noGrp="1"/>
          </p:cNvSpPr>
          <p:nvPr>
            <p:ph type="body" idx="1"/>
          </p:nvPr>
        </p:nvSpPr>
        <p:spPr>
          <a:xfrm>
            <a:off x="390144" y="2162995"/>
            <a:ext cx="4626482" cy="4187005"/>
          </a:xfrm>
        </p:spPr>
        <p:txBody>
          <a:bodyPr>
            <a:noAutofit/>
          </a:bodyPr>
          <a:lstStyle/>
          <a:p>
            <a:pPr>
              <a:lnSpc>
                <a:spcPct val="120000"/>
              </a:lnSpc>
            </a:pPr>
            <a:endParaRPr lang="es-ES" sz="2800" dirty="0">
              <a:solidFill>
                <a:schemeClr val="bg1"/>
              </a:solidFill>
            </a:endParaRPr>
          </a:p>
          <a:p>
            <a:pPr>
              <a:lnSpc>
                <a:spcPct val="120000"/>
              </a:lnSpc>
            </a:pPr>
            <a:br>
              <a:rPr lang="es-ES" sz="2800" dirty="0">
                <a:solidFill>
                  <a:schemeClr val="bg1"/>
                </a:solidFill>
                <a:latin typeface="CIDFont+F3"/>
              </a:rPr>
            </a:br>
            <a:br>
              <a:rPr lang="es-ES" sz="2800" dirty="0">
                <a:solidFill>
                  <a:schemeClr val="bg1"/>
                </a:solidFill>
              </a:rPr>
            </a:br>
            <a:br>
              <a:rPr lang="es-ES" sz="2800" dirty="0">
                <a:solidFill>
                  <a:schemeClr val="bg1"/>
                </a:solidFill>
              </a:rPr>
            </a:br>
            <a:br>
              <a:rPr lang="es-ES" sz="2800" dirty="0">
                <a:solidFill>
                  <a:schemeClr val="bg1"/>
                </a:solidFill>
              </a:rPr>
            </a:br>
            <a:br>
              <a:rPr lang="es-ES" sz="2800" dirty="0">
                <a:solidFill>
                  <a:schemeClr val="bg1"/>
                </a:solidFill>
              </a:rPr>
            </a:br>
            <a:endParaRPr lang="es-ES" sz="2800" dirty="0">
              <a:solidFill>
                <a:schemeClr val="bg1"/>
              </a:solidFill>
            </a:endParaRPr>
          </a:p>
        </p:txBody>
      </p:sp>
      <p:sp>
        <p:nvSpPr>
          <p:cNvPr id="2" name="CuadroTexto 1">
            <a:extLst>
              <a:ext uri="{FF2B5EF4-FFF2-40B4-BE49-F238E27FC236}">
                <a16:creationId xmlns:a16="http://schemas.microsoft.com/office/drawing/2014/main" id="{1B322A8E-966B-01BF-8AA8-EDF70C20441E}"/>
              </a:ext>
            </a:extLst>
          </p:cNvPr>
          <p:cNvSpPr txBox="1"/>
          <p:nvPr/>
        </p:nvSpPr>
        <p:spPr>
          <a:xfrm>
            <a:off x="7680960" y="2989250"/>
            <a:ext cx="3789680" cy="1077218"/>
          </a:xfrm>
          <a:prstGeom prst="rect">
            <a:avLst/>
          </a:prstGeom>
          <a:noFill/>
        </p:spPr>
        <p:txBody>
          <a:bodyPr wrap="square">
            <a:spAutoFit/>
          </a:bodyPr>
          <a:lstStyle/>
          <a:p>
            <a:r>
              <a:rPr lang="es-ES" sz="3200" b="1" dirty="0">
                <a:solidFill>
                  <a:srgbClr val="00F3B5"/>
                </a:solidFill>
              </a:rPr>
              <a:t>Ubicación de los </a:t>
            </a:r>
            <a:r>
              <a:rPr lang="es-ES" sz="3200" b="1" dirty="0" err="1">
                <a:solidFill>
                  <a:srgbClr val="00F3B5"/>
                </a:solidFill>
              </a:rPr>
              <a:t>itm</a:t>
            </a:r>
            <a:r>
              <a:rPr lang="es-ES" sz="3200" b="1" dirty="0">
                <a:solidFill>
                  <a:srgbClr val="00F3B5"/>
                </a:solidFill>
              </a:rPr>
              <a:t> en el uso domestico</a:t>
            </a:r>
          </a:p>
        </p:txBody>
      </p:sp>
      <p:pic>
        <p:nvPicPr>
          <p:cNvPr id="5" name="Imagen 4">
            <a:extLst>
              <a:ext uri="{FF2B5EF4-FFF2-40B4-BE49-F238E27FC236}">
                <a16:creationId xmlns:a16="http://schemas.microsoft.com/office/drawing/2014/main" id="{776441C4-14B9-4F70-7369-BB865024AD34}"/>
              </a:ext>
            </a:extLst>
          </p:cNvPr>
          <p:cNvPicPr>
            <a:picLocks noChangeAspect="1"/>
          </p:cNvPicPr>
          <p:nvPr/>
        </p:nvPicPr>
        <p:blipFill>
          <a:blip r:embed="rId3"/>
          <a:stretch>
            <a:fillRect/>
          </a:stretch>
        </p:blipFill>
        <p:spPr>
          <a:xfrm>
            <a:off x="222567" y="294640"/>
            <a:ext cx="7458393" cy="6299200"/>
          </a:xfrm>
          <a:prstGeom prst="rect">
            <a:avLst/>
          </a:prstGeom>
        </p:spPr>
      </p:pic>
    </p:spTree>
    <p:extLst>
      <p:ext uri="{BB962C8B-B14F-4D97-AF65-F5344CB8AC3E}">
        <p14:creationId xmlns:p14="http://schemas.microsoft.com/office/powerpoint/2010/main" val="1970206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ítulo 9">
            <a:extLst>
              <a:ext uri="{FF2B5EF4-FFF2-40B4-BE49-F238E27FC236}">
                <a16:creationId xmlns:a16="http://schemas.microsoft.com/office/drawing/2014/main" id="{7F24C32B-8D2F-4A91-81ED-EE5F9658276E}"/>
              </a:ext>
            </a:extLst>
          </p:cNvPr>
          <p:cNvSpPr>
            <a:spLocks noGrp="1"/>
          </p:cNvSpPr>
          <p:nvPr>
            <p:ph type="title"/>
          </p:nvPr>
        </p:nvSpPr>
        <p:spPr>
          <a:xfrm>
            <a:off x="298704" y="1930400"/>
            <a:ext cx="10613136" cy="4714240"/>
          </a:xfrm>
        </p:spPr>
        <p:txBody>
          <a:bodyPr>
            <a:noAutofit/>
          </a:bodyPr>
          <a:lstStyle/>
          <a:p>
            <a:r>
              <a:rPr lang="es-ES" sz="2800" dirty="0">
                <a:solidFill>
                  <a:schemeClr val="bg1"/>
                </a:solidFill>
              </a:rPr>
              <a:t>Las curvas de disparo muestran el tiempo de disparo en función de la</a:t>
            </a:r>
            <a:br>
              <a:rPr lang="es-ES" sz="2800" dirty="0">
                <a:solidFill>
                  <a:schemeClr val="bg1"/>
                </a:solidFill>
              </a:rPr>
            </a:br>
            <a:r>
              <a:rPr lang="es-ES" sz="2800" dirty="0">
                <a:solidFill>
                  <a:schemeClr val="bg1"/>
                </a:solidFill>
              </a:rPr>
              <a:t>intensidad de defecto en amperios. Las curvas de disparo de los</a:t>
            </a:r>
            <a:br>
              <a:rPr lang="es-ES" sz="2800" dirty="0">
                <a:solidFill>
                  <a:schemeClr val="bg1"/>
                </a:solidFill>
              </a:rPr>
            </a:br>
            <a:r>
              <a:rPr lang="es-ES" sz="2800" dirty="0">
                <a:solidFill>
                  <a:schemeClr val="bg1"/>
                </a:solidFill>
              </a:rPr>
              <a:t>interruptores automáticos constan de dos partes:</a:t>
            </a:r>
            <a:br>
              <a:rPr lang="es-ES" sz="2800" dirty="0">
                <a:solidFill>
                  <a:schemeClr val="bg1"/>
                </a:solidFill>
              </a:rPr>
            </a:br>
            <a:br>
              <a:rPr lang="es-ES" sz="2800" dirty="0">
                <a:solidFill>
                  <a:schemeClr val="bg1"/>
                </a:solidFill>
              </a:rPr>
            </a:br>
            <a:r>
              <a:rPr lang="es-ES" sz="2800" dirty="0">
                <a:solidFill>
                  <a:srgbClr val="00F3B5"/>
                </a:solidFill>
              </a:rPr>
              <a:t>Disparo de protección contra sobrecarga (dispositivo de disparo</a:t>
            </a:r>
            <a:br>
              <a:rPr lang="es-ES" sz="2800" dirty="0">
                <a:solidFill>
                  <a:srgbClr val="00F3B5"/>
                </a:solidFill>
              </a:rPr>
            </a:br>
            <a:r>
              <a:rPr lang="es-ES" sz="2800" dirty="0">
                <a:solidFill>
                  <a:srgbClr val="00F3B5"/>
                </a:solidFill>
              </a:rPr>
              <a:t>térmico): </a:t>
            </a:r>
            <a:r>
              <a:rPr lang="es-ES" sz="2800" dirty="0">
                <a:solidFill>
                  <a:schemeClr val="bg1"/>
                </a:solidFill>
              </a:rPr>
              <a:t>cuanto más alta sea la corriente, más corto será el tiempo de</a:t>
            </a:r>
            <a:br>
              <a:rPr lang="es-ES" sz="2800" dirty="0">
                <a:solidFill>
                  <a:schemeClr val="bg1"/>
                </a:solidFill>
              </a:rPr>
            </a:br>
            <a:r>
              <a:rPr lang="es-ES" sz="2800" dirty="0">
                <a:solidFill>
                  <a:schemeClr val="bg1"/>
                </a:solidFill>
              </a:rPr>
              <a:t>disparo.</a:t>
            </a:r>
            <a:br>
              <a:rPr lang="es-ES" sz="2800" dirty="0">
                <a:solidFill>
                  <a:schemeClr val="bg1"/>
                </a:solidFill>
              </a:rPr>
            </a:br>
            <a:br>
              <a:rPr lang="es-ES" sz="2800" dirty="0">
                <a:solidFill>
                  <a:schemeClr val="bg1"/>
                </a:solidFill>
              </a:rPr>
            </a:br>
            <a:r>
              <a:rPr lang="es-ES" sz="2800" dirty="0">
                <a:solidFill>
                  <a:srgbClr val="00F3B5"/>
                </a:solidFill>
              </a:rPr>
              <a:t>Disparo de protección contra cortocircuitos (dispositivo de disparo</a:t>
            </a:r>
            <a:br>
              <a:rPr lang="es-ES" sz="2800" dirty="0">
                <a:solidFill>
                  <a:srgbClr val="00F3B5"/>
                </a:solidFill>
              </a:rPr>
            </a:br>
            <a:r>
              <a:rPr lang="es-ES" sz="2800" dirty="0">
                <a:solidFill>
                  <a:srgbClr val="00F3B5"/>
                </a:solidFill>
              </a:rPr>
              <a:t>magnético): </a:t>
            </a:r>
            <a:r>
              <a:rPr lang="es-ES" sz="2800" dirty="0">
                <a:solidFill>
                  <a:schemeClr val="bg1"/>
                </a:solidFill>
              </a:rPr>
              <a:t>si la corriente supera el umbral de su dispositivo de</a:t>
            </a:r>
            <a:br>
              <a:rPr lang="es-ES" sz="2800" dirty="0">
                <a:solidFill>
                  <a:schemeClr val="bg1"/>
                </a:solidFill>
              </a:rPr>
            </a:br>
            <a:r>
              <a:rPr lang="es-ES" sz="2800" dirty="0">
                <a:solidFill>
                  <a:schemeClr val="bg1"/>
                </a:solidFill>
              </a:rPr>
              <a:t>protección, el tiempo de corte será inferior a 10 milisegundos.</a:t>
            </a:r>
            <a:br>
              <a:rPr lang="es-ES" sz="2800" dirty="0">
                <a:solidFill>
                  <a:schemeClr val="bg1"/>
                </a:solidFill>
              </a:rPr>
            </a:br>
            <a:endParaRPr lang="es-PE" sz="4000" dirty="0">
              <a:solidFill>
                <a:schemeClr val="bg1"/>
              </a:solidFill>
            </a:endParaRPr>
          </a:p>
        </p:txBody>
      </p:sp>
      <p:sp>
        <p:nvSpPr>
          <p:cNvPr id="2" name="CuadroTexto 1">
            <a:extLst>
              <a:ext uri="{FF2B5EF4-FFF2-40B4-BE49-F238E27FC236}">
                <a16:creationId xmlns:a16="http://schemas.microsoft.com/office/drawing/2014/main" id="{1B322A8E-966B-01BF-8AA8-EDF70C20441E}"/>
              </a:ext>
            </a:extLst>
          </p:cNvPr>
          <p:cNvSpPr txBox="1"/>
          <p:nvPr/>
        </p:nvSpPr>
        <p:spPr>
          <a:xfrm>
            <a:off x="207264" y="314960"/>
            <a:ext cx="8266176" cy="1077218"/>
          </a:xfrm>
          <a:prstGeom prst="rect">
            <a:avLst/>
          </a:prstGeom>
          <a:noFill/>
        </p:spPr>
        <p:txBody>
          <a:bodyPr wrap="square">
            <a:spAutoFit/>
          </a:bodyPr>
          <a:lstStyle/>
          <a:p>
            <a:r>
              <a:rPr lang="es-ES" sz="3200" b="1" dirty="0">
                <a:solidFill>
                  <a:srgbClr val="00F3B5"/>
                </a:solidFill>
              </a:rPr>
              <a:t>Curvas de disparo de los</a:t>
            </a:r>
          </a:p>
          <a:p>
            <a:r>
              <a:rPr lang="es-ES" sz="3200" b="1" dirty="0">
                <a:solidFill>
                  <a:srgbClr val="00F3B5"/>
                </a:solidFill>
              </a:rPr>
              <a:t>interruptores para montaje en riel:</a:t>
            </a:r>
          </a:p>
        </p:txBody>
      </p:sp>
    </p:spTree>
    <p:extLst>
      <p:ext uri="{BB962C8B-B14F-4D97-AF65-F5344CB8AC3E}">
        <p14:creationId xmlns:p14="http://schemas.microsoft.com/office/powerpoint/2010/main" val="26744085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ítulo 9">
            <a:extLst>
              <a:ext uri="{FF2B5EF4-FFF2-40B4-BE49-F238E27FC236}">
                <a16:creationId xmlns:a16="http://schemas.microsoft.com/office/drawing/2014/main" id="{7F24C32B-8D2F-4A91-81ED-EE5F9658276E}"/>
              </a:ext>
            </a:extLst>
          </p:cNvPr>
          <p:cNvSpPr>
            <a:spLocks noGrp="1"/>
          </p:cNvSpPr>
          <p:nvPr>
            <p:ph type="title"/>
          </p:nvPr>
        </p:nvSpPr>
        <p:spPr>
          <a:xfrm>
            <a:off x="5387340" y="1950720"/>
            <a:ext cx="3086100" cy="741680"/>
          </a:xfrm>
        </p:spPr>
        <p:txBody>
          <a:bodyPr>
            <a:noAutofit/>
          </a:bodyPr>
          <a:lstStyle/>
          <a:p>
            <a:r>
              <a:rPr lang="es-PE" sz="2400" b="1" i="0" dirty="0">
                <a:solidFill>
                  <a:srgbClr val="00F3B5"/>
                </a:solidFill>
                <a:effectLst/>
                <a:latin typeface="Ubuntu-Bold"/>
              </a:rPr>
              <a:t>Curva B</a:t>
            </a:r>
            <a:r>
              <a:rPr lang="es-PE" sz="1400" b="1" dirty="0">
                <a:solidFill>
                  <a:srgbClr val="00F3B5"/>
                </a:solidFill>
              </a:rPr>
              <a:t> </a:t>
            </a:r>
            <a:br>
              <a:rPr lang="es-PE" sz="1100" dirty="0"/>
            </a:br>
            <a:endParaRPr lang="es-PE" sz="4000" dirty="0">
              <a:solidFill>
                <a:schemeClr val="bg1"/>
              </a:solidFill>
            </a:endParaRPr>
          </a:p>
        </p:txBody>
      </p:sp>
      <p:sp>
        <p:nvSpPr>
          <p:cNvPr id="7" name="Marcador de posición de imagen 6">
            <a:extLst>
              <a:ext uri="{FF2B5EF4-FFF2-40B4-BE49-F238E27FC236}">
                <a16:creationId xmlns:a16="http://schemas.microsoft.com/office/drawing/2014/main" id="{E21E9DA9-7316-6880-2FC5-BF0C68C153DC}"/>
              </a:ext>
            </a:extLst>
          </p:cNvPr>
          <p:cNvSpPr>
            <a:spLocks noGrp="1"/>
          </p:cNvSpPr>
          <p:nvPr>
            <p:ph type="pic" idx="1"/>
          </p:nvPr>
        </p:nvSpPr>
        <p:spPr>
          <a:xfrm>
            <a:off x="5387340" y="2428240"/>
            <a:ext cx="6172200" cy="3791585"/>
          </a:xfrm>
        </p:spPr>
        <p:txBody>
          <a:bodyPr>
            <a:normAutofit fontScale="92500" lnSpcReduction="10000"/>
          </a:bodyPr>
          <a:lstStyle/>
          <a:p>
            <a:r>
              <a:rPr lang="es-ES" sz="2400" dirty="0">
                <a:solidFill>
                  <a:schemeClr val="bg1"/>
                </a:solidFill>
              </a:rPr>
              <a:t>Protección de generadores, de personas y</a:t>
            </a:r>
          </a:p>
          <a:p>
            <a:r>
              <a:rPr lang="es-ES" sz="2400" dirty="0">
                <a:solidFill>
                  <a:schemeClr val="bg1"/>
                </a:solidFill>
              </a:rPr>
              <a:t>grandes longitudes de cable (en régimen TN</a:t>
            </a:r>
          </a:p>
          <a:p>
            <a:r>
              <a:rPr lang="es-ES" sz="2400" dirty="0">
                <a:solidFill>
                  <a:schemeClr val="bg1"/>
                </a:solidFill>
              </a:rPr>
              <a:t>e IT).</a:t>
            </a:r>
          </a:p>
          <a:p>
            <a:r>
              <a:rPr lang="es-ES" sz="2400" dirty="0">
                <a:solidFill>
                  <a:schemeClr val="bg1"/>
                </a:solidFill>
              </a:rPr>
              <a:t>Sobrecarga: térmico estándar.</a:t>
            </a:r>
          </a:p>
          <a:p>
            <a:r>
              <a:rPr lang="es-ES" sz="2400" b="1" dirty="0">
                <a:solidFill>
                  <a:schemeClr val="accent1">
                    <a:lumMod val="60000"/>
                    <a:lumOff val="40000"/>
                  </a:schemeClr>
                </a:solidFill>
              </a:rPr>
              <a:t>Cortocircuito: umbrales magnéticos</a:t>
            </a:r>
          </a:p>
          <a:p>
            <a:r>
              <a:rPr lang="es-ES" sz="2400" b="1" dirty="0">
                <a:solidFill>
                  <a:schemeClr val="accent1">
                    <a:lumMod val="60000"/>
                    <a:lumOff val="40000"/>
                  </a:schemeClr>
                </a:solidFill>
              </a:rPr>
              <a:t>fijados por curva B (</a:t>
            </a:r>
            <a:r>
              <a:rPr lang="es-ES" sz="2400" b="1" dirty="0" err="1">
                <a:solidFill>
                  <a:schemeClr val="accent1">
                    <a:lumMod val="60000"/>
                    <a:lumOff val="40000"/>
                  </a:schemeClr>
                </a:solidFill>
              </a:rPr>
              <a:t>Im</a:t>
            </a:r>
            <a:r>
              <a:rPr lang="es-ES" sz="2400" b="1" dirty="0">
                <a:solidFill>
                  <a:schemeClr val="accent1">
                    <a:lumMod val="60000"/>
                    <a:lumOff val="40000"/>
                  </a:schemeClr>
                </a:solidFill>
              </a:rPr>
              <a:t> entre 3 y 5 In o 3,2</a:t>
            </a:r>
          </a:p>
          <a:p>
            <a:r>
              <a:rPr lang="es-ES" sz="2400" b="1" dirty="0">
                <a:solidFill>
                  <a:schemeClr val="accent1">
                    <a:lumMod val="60000"/>
                    <a:lumOff val="40000"/>
                  </a:schemeClr>
                </a:solidFill>
              </a:rPr>
              <a:t>y 4,8 In)</a:t>
            </a:r>
          </a:p>
          <a:p>
            <a:r>
              <a:rPr lang="es-ES" sz="2400" dirty="0">
                <a:solidFill>
                  <a:schemeClr val="bg1"/>
                </a:solidFill>
              </a:rPr>
              <a:t>Se utilizan para protección de generadores</a:t>
            </a:r>
          </a:p>
          <a:p>
            <a:r>
              <a:rPr lang="es-ES" sz="2400" dirty="0">
                <a:solidFill>
                  <a:schemeClr val="bg1"/>
                </a:solidFill>
              </a:rPr>
              <a:t>y grandes longitudes de cable.</a:t>
            </a:r>
            <a:endParaRPr lang="es-PE" sz="2400" dirty="0">
              <a:solidFill>
                <a:schemeClr val="bg1"/>
              </a:solidFill>
            </a:endParaRPr>
          </a:p>
        </p:txBody>
      </p:sp>
      <p:sp>
        <p:nvSpPr>
          <p:cNvPr id="2" name="CuadroTexto 1">
            <a:extLst>
              <a:ext uri="{FF2B5EF4-FFF2-40B4-BE49-F238E27FC236}">
                <a16:creationId xmlns:a16="http://schemas.microsoft.com/office/drawing/2014/main" id="{1B322A8E-966B-01BF-8AA8-EDF70C20441E}"/>
              </a:ext>
            </a:extLst>
          </p:cNvPr>
          <p:cNvSpPr txBox="1"/>
          <p:nvPr/>
        </p:nvSpPr>
        <p:spPr>
          <a:xfrm>
            <a:off x="207264" y="314960"/>
            <a:ext cx="8266176" cy="1077218"/>
          </a:xfrm>
          <a:prstGeom prst="rect">
            <a:avLst/>
          </a:prstGeom>
          <a:noFill/>
        </p:spPr>
        <p:txBody>
          <a:bodyPr wrap="square">
            <a:spAutoFit/>
          </a:bodyPr>
          <a:lstStyle/>
          <a:p>
            <a:r>
              <a:rPr lang="es-ES" sz="3200" b="1" dirty="0">
                <a:solidFill>
                  <a:srgbClr val="00F3B5"/>
                </a:solidFill>
              </a:rPr>
              <a:t>Curvas de disparo de los</a:t>
            </a:r>
          </a:p>
          <a:p>
            <a:r>
              <a:rPr lang="es-ES" sz="3200" b="1" dirty="0">
                <a:solidFill>
                  <a:srgbClr val="00F3B5"/>
                </a:solidFill>
              </a:rPr>
              <a:t>interruptores para montaje en riel:</a:t>
            </a:r>
          </a:p>
        </p:txBody>
      </p:sp>
      <p:pic>
        <p:nvPicPr>
          <p:cNvPr id="6" name="Imagen 5">
            <a:extLst>
              <a:ext uri="{FF2B5EF4-FFF2-40B4-BE49-F238E27FC236}">
                <a16:creationId xmlns:a16="http://schemas.microsoft.com/office/drawing/2014/main" id="{3EF3E64C-D8FE-B02F-D2DE-BD9CFBC2D519}"/>
              </a:ext>
            </a:extLst>
          </p:cNvPr>
          <p:cNvPicPr>
            <a:picLocks noChangeAspect="1"/>
          </p:cNvPicPr>
          <p:nvPr/>
        </p:nvPicPr>
        <p:blipFill>
          <a:blip r:embed="rId3"/>
          <a:stretch>
            <a:fillRect/>
          </a:stretch>
        </p:blipFill>
        <p:spPr>
          <a:xfrm>
            <a:off x="507244" y="1443236"/>
            <a:ext cx="3476231" cy="5150862"/>
          </a:xfrm>
          <a:prstGeom prst="rect">
            <a:avLst/>
          </a:prstGeom>
        </p:spPr>
      </p:pic>
    </p:spTree>
    <p:extLst>
      <p:ext uri="{BB962C8B-B14F-4D97-AF65-F5344CB8AC3E}">
        <p14:creationId xmlns:p14="http://schemas.microsoft.com/office/powerpoint/2010/main" val="12342206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ítulo 9">
            <a:extLst>
              <a:ext uri="{FF2B5EF4-FFF2-40B4-BE49-F238E27FC236}">
                <a16:creationId xmlns:a16="http://schemas.microsoft.com/office/drawing/2014/main" id="{7F24C32B-8D2F-4A91-81ED-EE5F9658276E}"/>
              </a:ext>
            </a:extLst>
          </p:cNvPr>
          <p:cNvSpPr>
            <a:spLocks noGrp="1"/>
          </p:cNvSpPr>
          <p:nvPr>
            <p:ph type="title"/>
          </p:nvPr>
        </p:nvSpPr>
        <p:spPr>
          <a:xfrm>
            <a:off x="5387340" y="1950720"/>
            <a:ext cx="3086100" cy="741680"/>
          </a:xfrm>
        </p:spPr>
        <p:txBody>
          <a:bodyPr>
            <a:noAutofit/>
          </a:bodyPr>
          <a:lstStyle/>
          <a:p>
            <a:r>
              <a:rPr lang="es-PE" sz="2400" b="1" i="0" dirty="0">
                <a:solidFill>
                  <a:srgbClr val="00F3B5"/>
                </a:solidFill>
                <a:effectLst/>
                <a:latin typeface="Ubuntu-Bold"/>
              </a:rPr>
              <a:t>Curva C</a:t>
            </a:r>
            <a:r>
              <a:rPr lang="es-PE" sz="1400" b="1" dirty="0">
                <a:solidFill>
                  <a:srgbClr val="00F3B5"/>
                </a:solidFill>
              </a:rPr>
              <a:t> </a:t>
            </a:r>
            <a:br>
              <a:rPr lang="es-PE" sz="1100" dirty="0"/>
            </a:br>
            <a:endParaRPr lang="es-PE" sz="4000" dirty="0">
              <a:solidFill>
                <a:schemeClr val="bg1"/>
              </a:solidFill>
            </a:endParaRPr>
          </a:p>
        </p:txBody>
      </p:sp>
      <p:sp>
        <p:nvSpPr>
          <p:cNvPr id="7" name="Marcador de posición de imagen 6">
            <a:extLst>
              <a:ext uri="{FF2B5EF4-FFF2-40B4-BE49-F238E27FC236}">
                <a16:creationId xmlns:a16="http://schemas.microsoft.com/office/drawing/2014/main" id="{E21E9DA9-7316-6880-2FC5-BF0C68C153DC}"/>
              </a:ext>
            </a:extLst>
          </p:cNvPr>
          <p:cNvSpPr>
            <a:spLocks noGrp="1"/>
          </p:cNvSpPr>
          <p:nvPr>
            <p:ph type="pic" idx="1"/>
          </p:nvPr>
        </p:nvSpPr>
        <p:spPr>
          <a:xfrm>
            <a:off x="5387339" y="2428240"/>
            <a:ext cx="6597395" cy="3791585"/>
          </a:xfrm>
        </p:spPr>
        <p:txBody>
          <a:bodyPr>
            <a:normAutofit fontScale="92500" lnSpcReduction="10000"/>
          </a:bodyPr>
          <a:lstStyle/>
          <a:p>
            <a:pPr algn="just"/>
            <a:r>
              <a:rPr lang="es-ES" sz="2400" dirty="0">
                <a:solidFill>
                  <a:schemeClr val="bg1"/>
                </a:solidFill>
              </a:rPr>
              <a:t>Protección de cables alimentando receptores</a:t>
            </a:r>
          </a:p>
          <a:p>
            <a:pPr algn="just"/>
            <a:r>
              <a:rPr lang="es-ES" sz="2400" dirty="0">
                <a:solidFill>
                  <a:schemeClr val="bg1"/>
                </a:solidFill>
              </a:rPr>
              <a:t>clásicos.</a:t>
            </a:r>
          </a:p>
          <a:p>
            <a:pPr algn="just"/>
            <a:r>
              <a:rPr lang="es-ES" sz="2400" dirty="0">
                <a:solidFill>
                  <a:schemeClr val="bg1"/>
                </a:solidFill>
              </a:rPr>
              <a:t>Sobrecarga: térmico estándar.</a:t>
            </a:r>
          </a:p>
          <a:p>
            <a:pPr algn="just"/>
            <a:r>
              <a:rPr lang="es-ES" sz="2400" b="1" dirty="0">
                <a:solidFill>
                  <a:schemeClr val="accent1">
                    <a:lumMod val="60000"/>
                    <a:lumOff val="40000"/>
                  </a:schemeClr>
                </a:solidFill>
              </a:rPr>
              <a:t>Cortocircuito: umbrales magnéticos fijados por</a:t>
            </a:r>
          </a:p>
          <a:p>
            <a:pPr algn="just"/>
            <a:r>
              <a:rPr lang="es-ES" sz="2400" b="1" dirty="0">
                <a:solidFill>
                  <a:schemeClr val="accent1">
                    <a:lumMod val="60000"/>
                    <a:lumOff val="40000"/>
                  </a:schemeClr>
                </a:solidFill>
              </a:rPr>
              <a:t>curva C (</a:t>
            </a:r>
            <a:r>
              <a:rPr lang="es-ES" sz="2400" b="1" dirty="0" err="1">
                <a:solidFill>
                  <a:schemeClr val="accent1">
                    <a:lumMod val="60000"/>
                    <a:lumOff val="40000"/>
                  </a:schemeClr>
                </a:solidFill>
              </a:rPr>
              <a:t>Im</a:t>
            </a:r>
            <a:r>
              <a:rPr lang="es-ES" sz="2400" b="1" dirty="0">
                <a:solidFill>
                  <a:schemeClr val="accent1">
                    <a:lumMod val="60000"/>
                    <a:lumOff val="40000"/>
                  </a:schemeClr>
                </a:solidFill>
              </a:rPr>
              <a:t> entre 5 y 10 In o 7 y 10 según los</a:t>
            </a:r>
          </a:p>
          <a:p>
            <a:pPr algn="just"/>
            <a:r>
              <a:rPr lang="es-ES" sz="2400" b="1" dirty="0">
                <a:solidFill>
                  <a:schemeClr val="accent1">
                    <a:lumMod val="60000"/>
                    <a:lumOff val="40000"/>
                  </a:schemeClr>
                </a:solidFill>
              </a:rPr>
              <a:t>aparatos)</a:t>
            </a:r>
          </a:p>
          <a:p>
            <a:pPr algn="just"/>
            <a:r>
              <a:rPr lang="es-ES" sz="2400" dirty="0">
                <a:solidFill>
                  <a:schemeClr val="bg1"/>
                </a:solidFill>
              </a:rPr>
              <a:t>Estos son los más utilizados. Son los utilizados en</a:t>
            </a:r>
          </a:p>
          <a:p>
            <a:pPr algn="just"/>
            <a:r>
              <a:rPr lang="es-ES" sz="2400" dirty="0">
                <a:solidFill>
                  <a:schemeClr val="bg1"/>
                </a:solidFill>
              </a:rPr>
              <a:t>las instalaciones domésticas, alumbrado, tomas de</a:t>
            </a:r>
          </a:p>
          <a:p>
            <a:pPr algn="just"/>
            <a:r>
              <a:rPr lang="es-ES" sz="2400" dirty="0">
                <a:solidFill>
                  <a:schemeClr val="bg1"/>
                </a:solidFill>
              </a:rPr>
              <a:t>corriente y usos generales.</a:t>
            </a:r>
            <a:endParaRPr lang="es-PE" sz="2400" dirty="0">
              <a:solidFill>
                <a:schemeClr val="bg1"/>
              </a:solidFill>
            </a:endParaRPr>
          </a:p>
        </p:txBody>
      </p:sp>
      <p:sp>
        <p:nvSpPr>
          <p:cNvPr id="2" name="CuadroTexto 1">
            <a:extLst>
              <a:ext uri="{FF2B5EF4-FFF2-40B4-BE49-F238E27FC236}">
                <a16:creationId xmlns:a16="http://schemas.microsoft.com/office/drawing/2014/main" id="{1B322A8E-966B-01BF-8AA8-EDF70C20441E}"/>
              </a:ext>
            </a:extLst>
          </p:cNvPr>
          <p:cNvSpPr txBox="1"/>
          <p:nvPr/>
        </p:nvSpPr>
        <p:spPr>
          <a:xfrm>
            <a:off x="207264" y="314960"/>
            <a:ext cx="8266176" cy="1077218"/>
          </a:xfrm>
          <a:prstGeom prst="rect">
            <a:avLst/>
          </a:prstGeom>
          <a:noFill/>
        </p:spPr>
        <p:txBody>
          <a:bodyPr wrap="square">
            <a:spAutoFit/>
          </a:bodyPr>
          <a:lstStyle/>
          <a:p>
            <a:r>
              <a:rPr lang="es-ES" sz="3200" b="1" dirty="0">
                <a:solidFill>
                  <a:srgbClr val="00F3B5"/>
                </a:solidFill>
              </a:rPr>
              <a:t>Curvas de disparo de los</a:t>
            </a:r>
          </a:p>
          <a:p>
            <a:r>
              <a:rPr lang="es-ES" sz="3200" b="1" dirty="0">
                <a:solidFill>
                  <a:srgbClr val="00F3B5"/>
                </a:solidFill>
              </a:rPr>
              <a:t>interruptores para montaje en riel:</a:t>
            </a:r>
          </a:p>
        </p:txBody>
      </p:sp>
      <p:pic>
        <p:nvPicPr>
          <p:cNvPr id="4" name="Imagen 3">
            <a:extLst>
              <a:ext uri="{FF2B5EF4-FFF2-40B4-BE49-F238E27FC236}">
                <a16:creationId xmlns:a16="http://schemas.microsoft.com/office/drawing/2014/main" id="{1E87C9AC-7D8C-ABB6-48DD-C5E9F85A353C}"/>
              </a:ext>
            </a:extLst>
          </p:cNvPr>
          <p:cNvPicPr>
            <a:picLocks noChangeAspect="1"/>
          </p:cNvPicPr>
          <p:nvPr/>
        </p:nvPicPr>
        <p:blipFill rotWithShape="1">
          <a:blip r:embed="rId3"/>
          <a:srcRect r="8081"/>
          <a:stretch/>
        </p:blipFill>
        <p:spPr>
          <a:xfrm>
            <a:off x="207265" y="1493520"/>
            <a:ext cx="3653535" cy="5049520"/>
          </a:xfrm>
          <a:prstGeom prst="rect">
            <a:avLst/>
          </a:prstGeom>
        </p:spPr>
      </p:pic>
    </p:spTree>
    <p:extLst>
      <p:ext uri="{BB962C8B-B14F-4D97-AF65-F5344CB8AC3E}">
        <p14:creationId xmlns:p14="http://schemas.microsoft.com/office/powerpoint/2010/main" val="21494091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ítulo 9">
            <a:extLst>
              <a:ext uri="{FF2B5EF4-FFF2-40B4-BE49-F238E27FC236}">
                <a16:creationId xmlns:a16="http://schemas.microsoft.com/office/drawing/2014/main" id="{7F24C32B-8D2F-4A91-81ED-EE5F9658276E}"/>
              </a:ext>
            </a:extLst>
          </p:cNvPr>
          <p:cNvSpPr>
            <a:spLocks noGrp="1"/>
          </p:cNvSpPr>
          <p:nvPr>
            <p:ph type="title"/>
          </p:nvPr>
        </p:nvSpPr>
        <p:spPr>
          <a:xfrm>
            <a:off x="5387340" y="1950720"/>
            <a:ext cx="3086100" cy="741680"/>
          </a:xfrm>
        </p:spPr>
        <p:txBody>
          <a:bodyPr>
            <a:noAutofit/>
          </a:bodyPr>
          <a:lstStyle/>
          <a:p>
            <a:r>
              <a:rPr lang="es-PE" sz="2400" b="1" i="0" dirty="0">
                <a:solidFill>
                  <a:srgbClr val="00F3B5"/>
                </a:solidFill>
                <a:effectLst/>
                <a:latin typeface="Ubuntu-Bold"/>
              </a:rPr>
              <a:t>Curva D</a:t>
            </a:r>
            <a:r>
              <a:rPr lang="es-PE" sz="1400" b="1" dirty="0">
                <a:solidFill>
                  <a:srgbClr val="00F3B5"/>
                </a:solidFill>
              </a:rPr>
              <a:t> </a:t>
            </a:r>
            <a:br>
              <a:rPr lang="es-PE" sz="1100" dirty="0"/>
            </a:br>
            <a:endParaRPr lang="es-PE" sz="4000" dirty="0">
              <a:solidFill>
                <a:schemeClr val="bg1"/>
              </a:solidFill>
            </a:endParaRPr>
          </a:p>
        </p:txBody>
      </p:sp>
      <p:sp>
        <p:nvSpPr>
          <p:cNvPr id="7" name="Marcador de posición de imagen 6">
            <a:extLst>
              <a:ext uri="{FF2B5EF4-FFF2-40B4-BE49-F238E27FC236}">
                <a16:creationId xmlns:a16="http://schemas.microsoft.com/office/drawing/2014/main" id="{E21E9DA9-7316-6880-2FC5-BF0C68C153DC}"/>
              </a:ext>
            </a:extLst>
          </p:cNvPr>
          <p:cNvSpPr>
            <a:spLocks noGrp="1"/>
          </p:cNvSpPr>
          <p:nvPr>
            <p:ph type="pic" idx="1"/>
          </p:nvPr>
        </p:nvSpPr>
        <p:spPr>
          <a:xfrm>
            <a:off x="5387339" y="2428240"/>
            <a:ext cx="6597395" cy="3791585"/>
          </a:xfrm>
        </p:spPr>
        <p:txBody>
          <a:bodyPr>
            <a:normAutofit/>
          </a:bodyPr>
          <a:lstStyle/>
          <a:p>
            <a:pPr algn="just"/>
            <a:r>
              <a:rPr lang="es-ES" sz="2400" dirty="0">
                <a:solidFill>
                  <a:schemeClr val="bg1"/>
                </a:solidFill>
              </a:rPr>
              <a:t>Protección de cables alimentando receptores</a:t>
            </a:r>
          </a:p>
          <a:p>
            <a:pPr algn="just"/>
            <a:r>
              <a:rPr lang="es-ES" sz="2400" dirty="0">
                <a:solidFill>
                  <a:schemeClr val="bg1"/>
                </a:solidFill>
              </a:rPr>
              <a:t>con fuertes puntas de arranque.</a:t>
            </a:r>
          </a:p>
          <a:p>
            <a:pPr algn="just"/>
            <a:r>
              <a:rPr lang="es-ES" sz="2400" dirty="0">
                <a:solidFill>
                  <a:schemeClr val="bg1"/>
                </a:solidFill>
              </a:rPr>
              <a:t>Sobrecarga: térmico estándar.</a:t>
            </a:r>
          </a:p>
          <a:p>
            <a:pPr algn="just"/>
            <a:r>
              <a:rPr lang="es-ES" sz="2400" b="1" dirty="0">
                <a:solidFill>
                  <a:schemeClr val="accent1">
                    <a:lumMod val="60000"/>
                    <a:lumOff val="40000"/>
                  </a:schemeClr>
                </a:solidFill>
              </a:rPr>
              <a:t>Cortocircuito: umbrales magnéticos fijados</a:t>
            </a:r>
          </a:p>
          <a:p>
            <a:pPr algn="just"/>
            <a:r>
              <a:rPr lang="es-ES" sz="2400" b="1" dirty="0">
                <a:solidFill>
                  <a:schemeClr val="accent1">
                    <a:lumMod val="60000"/>
                    <a:lumOff val="40000"/>
                  </a:schemeClr>
                </a:solidFill>
              </a:rPr>
              <a:t>por curva D (</a:t>
            </a:r>
            <a:r>
              <a:rPr lang="es-ES" sz="2400" b="1" dirty="0" err="1">
                <a:solidFill>
                  <a:schemeClr val="accent1">
                    <a:lumMod val="60000"/>
                    <a:lumOff val="40000"/>
                  </a:schemeClr>
                </a:solidFill>
              </a:rPr>
              <a:t>Im</a:t>
            </a:r>
            <a:r>
              <a:rPr lang="es-ES" sz="2400" b="1" dirty="0">
                <a:solidFill>
                  <a:schemeClr val="accent1">
                    <a:lumMod val="60000"/>
                    <a:lumOff val="40000"/>
                  </a:schemeClr>
                </a:solidFill>
              </a:rPr>
              <a:t> entre 10 y 14 In)</a:t>
            </a:r>
          </a:p>
          <a:p>
            <a:pPr algn="just"/>
            <a:r>
              <a:rPr lang="es-ES" sz="2400" dirty="0">
                <a:solidFill>
                  <a:schemeClr val="bg1"/>
                </a:solidFill>
              </a:rPr>
              <a:t>Receptores con fuertes puntas de arranque</a:t>
            </a:r>
          </a:p>
          <a:p>
            <a:pPr algn="just"/>
            <a:r>
              <a:rPr lang="es-ES" sz="2400" dirty="0">
                <a:solidFill>
                  <a:schemeClr val="bg1"/>
                </a:solidFill>
              </a:rPr>
              <a:t>como motores o transformadores.</a:t>
            </a:r>
            <a:endParaRPr lang="es-PE" sz="2400" dirty="0">
              <a:solidFill>
                <a:schemeClr val="bg1"/>
              </a:solidFill>
            </a:endParaRPr>
          </a:p>
        </p:txBody>
      </p:sp>
      <p:sp>
        <p:nvSpPr>
          <p:cNvPr id="2" name="CuadroTexto 1">
            <a:extLst>
              <a:ext uri="{FF2B5EF4-FFF2-40B4-BE49-F238E27FC236}">
                <a16:creationId xmlns:a16="http://schemas.microsoft.com/office/drawing/2014/main" id="{1B322A8E-966B-01BF-8AA8-EDF70C20441E}"/>
              </a:ext>
            </a:extLst>
          </p:cNvPr>
          <p:cNvSpPr txBox="1"/>
          <p:nvPr/>
        </p:nvSpPr>
        <p:spPr>
          <a:xfrm>
            <a:off x="207264" y="314960"/>
            <a:ext cx="8266176" cy="1077218"/>
          </a:xfrm>
          <a:prstGeom prst="rect">
            <a:avLst/>
          </a:prstGeom>
          <a:noFill/>
        </p:spPr>
        <p:txBody>
          <a:bodyPr wrap="square">
            <a:spAutoFit/>
          </a:bodyPr>
          <a:lstStyle/>
          <a:p>
            <a:r>
              <a:rPr lang="es-ES" sz="3200" b="1" dirty="0">
                <a:solidFill>
                  <a:srgbClr val="00F3B5"/>
                </a:solidFill>
              </a:rPr>
              <a:t>Curvas de disparo de los</a:t>
            </a:r>
          </a:p>
          <a:p>
            <a:r>
              <a:rPr lang="es-ES" sz="3200" b="1" dirty="0">
                <a:solidFill>
                  <a:srgbClr val="00F3B5"/>
                </a:solidFill>
              </a:rPr>
              <a:t>interruptores para montaje en riel:</a:t>
            </a:r>
          </a:p>
        </p:txBody>
      </p:sp>
      <p:pic>
        <p:nvPicPr>
          <p:cNvPr id="5" name="Imagen 4">
            <a:extLst>
              <a:ext uri="{FF2B5EF4-FFF2-40B4-BE49-F238E27FC236}">
                <a16:creationId xmlns:a16="http://schemas.microsoft.com/office/drawing/2014/main" id="{35D098D1-97D7-13EE-82CA-6D5BF2AEB426}"/>
              </a:ext>
            </a:extLst>
          </p:cNvPr>
          <p:cNvPicPr>
            <a:picLocks noChangeAspect="1"/>
          </p:cNvPicPr>
          <p:nvPr/>
        </p:nvPicPr>
        <p:blipFill rotWithShape="1">
          <a:blip r:embed="rId3"/>
          <a:srcRect r="14844"/>
          <a:stretch/>
        </p:blipFill>
        <p:spPr>
          <a:xfrm>
            <a:off x="295414" y="1392179"/>
            <a:ext cx="3839706" cy="5150862"/>
          </a:xfrm>
          <a:prstGeom prst="rect">
            <a:avLst/>
          </a:prstGeom>
        </p:spPr>
      </p:pic>
    </p:spTree>
    <p:extLst>
      <p:ext uri="{BB962C8B-B14F-4D97-AF65-F5344CB8AC3E}">
        <p14:creationId xmlns:p14="http://schemas.microsoft.com/office/powerpoint/2010/main" val="3751129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B322A8E-966B-01BF-8AA8-EDF70C20441E}"/>
              </a:ext>
            </a:extLst>
          </p:cNvPr>
          <p:cNvSpPr txBox="1"/>
          <p:nvPr/>
        </p:nvSpPr>
        <p:spPr>
          <a:xfrm>
            <a:off x="176784" y="314960"/>
            <a:ext cx="8266176" cy="1077218"/>
          </a:xfrm>
          <a:prstGeom prst="rect">
            <a:avLst/>
          </a:prstGeom>
          <a:noFill/>
        </p:spPr>
        <p:txBody>
          <a:bodyPr wrap="square">
            <a:spAutoFit/>
          </a:bodyPr>
          <a:lstStyle/>
          <a:p>
            <a:r>
              <a:rPr lang="es-ES" sz="3200" b="1" dirty="0">
                <a:solidFill>
                  <a:srgbClr val="00F3B5"/>
                </a:solidFill>
              </a:rPr>
              <a:t>Curvas de disparo de los</a:t>
            </a:r>
          </a:p>
          <a:p>
            <a:r>
              <a:rPr lang="es-ES" sz="3200" b="1" dirty="0">
                <a:solidFill>
                  <a:srgbClr val="00F3B5"/>
                </a:solidFill>
              </a:rPr>
              <a:t>interruptores para montaje en riel:</a:t>
            </a:r>
          </a:p>
        </p:txBody>
      </p:sp>
      <p:pic>
        <p:nvPicPr>
          <p:cNvPr id="16" name="Imagen 15">
            <a:extLst>
              <a:ext uri="{FF2B5EF4-FFF2-40B4-BE49-F238E27FC236}">
                <a16:creationId xmlns:a16="http://schemas.microsoft.com/office/drawing/2014/main" id="{B294E653-6EF0-F6C0-B8EE-2002A9923A38}"/>
              </a:ext>
            </a:extLst>
          </p:cNvPr>
          <p:cNvPicPr>
            <a:picLocks noChangeAspect="1"/>
          </p:cNvPicPr>
          <p:nvPr/>
        </p:nvPicPr>
        <p:blipFill>
          <a:blip r:embed="rId3"/>
          <a:stretch>
            <a:fillRect/>
          </a:stretch>
        </p:blipFill>
        <p:spPr>
          <a:xfrm>
            <a:off x="371157" y="1767841"/>
            <a:ext cx="9118283" cy="4612640"/>
          </a:xfrm>
          <a:prstGeom prst="rect">
            <a:avLst/>
          </a:prstGeom>
        </p:spPr>
      </p:pic>
    </p:spTree>
    <p:extLst>
      <p:ext uri="{BB962C8B-B14F-4D97-AF65-F5344CB8AC3E}">
        <p14:creationId xmlns:p14="http://schemas.microsoft.com/office/powerpoint/2010/main" val="29582975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B322A8E-966B-01BF-8AA8-EDF70C20441E}"/>
              </a:ext>
            </a:extLst>
          </p:cNvPr>
          <p:cNvSpPr txBox="1"/>
          <p:nvPr/>
        </p:nvSpPr>
        <p:spPr>
          <a:xfrm>
            <a:off x="207264" y="314960"/>
            <a:ext cx="8266176" cy="1077218"/>
          </a:xfrm>
          <a:prstGeom prst="rect">
            <a:avLst/>
          </a:prstGeom>
          <a:noFill/>
        </p:spPr>
        <p:txBody>
          <a:bodyPr wrap="square">
            <a:spAutoFit/>
          </a:bodyPr>
          <a:lstStyle/>
          <a:p>
            <a:r>
              <a:rPr lang="pt-BR" sz="3200" b="1" dirty="0">
                <a:solidFill>
                  <a:srgbClr val="00F3B5"/>
                </a:solidFill>
              </a:rPr>
              <a:t>INTERRUPTORES AUTOMATICOS PARA USO INDUSTRIAL:</a:t>
            </a:r>
          </a:p>
        </p:txBody>
      </p:sp>
      <p:sp>
        <p:nvSpPr>
          <p:cNvPr id="4" name="Marcador de contenido 3">
            <a:extLst>
              <a:ext uri="{FF2B5EF4-FFF2-40B4-BE49-F238E27FC236}">
                <a16:creationId xmlns:a16="http://schemas.microsoft.com/office/drawing/2014/main" id="{6F076C1E-EFB8-3F39-9616-AFB03BF4663E}"/>
              </a:ext>
            </a:extLst>
          </p:cNvPr>
          <p:cNvSpPr>
            <a:spLocks noGrp="1"/>
          </p:cNvSpPr>
          <p:nvPr>
            <p:ph idx="1"/>
          </p:nvPr>
        </p:nvSpPr>
        <p:spPr>
          <a:xfrm>
            <a:off x="309880" y="1524000"/>
            <a:ext cx="10515600" cy="4907279"/>
          </a:xfrm>
        </p:spPr>
        <p:txBody>
          <a:bodyPr>
            <a:normAutofit fontScale="92500" lnSpcReduction="10000"/>
          </a:bodyPr>
          <a:lstStyle/>
          <a:p>
            <a:pPr marL="0" indent="0">
              <a:buNone/>
            </a:pPr>
            <a:r>
              <a:rPr lang="es-PE" b="1" dirty="0">
                <a:solidFill>
                  <a:srgbClr val="00F3B5"/>
                </a:solidFill>
              </a:rPr>
              <a:t>Los </a:t>
            </a:r>
            <a:r>
              <a:rPr lang="es-PE" b="1" dirty="0" err="1">
                <a:solidFill>
                  <a:srgbClr val="00F3B5"/>
                </a:solidFill>
              </a:rPr>
              <a:t>itm</a:t>
            </a:r>
            <a:r>
              <a:rPr lang="es-PE" b="1" dirty="0">
                <a:solidFill>
                  <a:srgbClr val="00F3B5"/>
                </a:solidFill>
              </a:rPr>
              <a:t> que trabajan en la industria son los que tienen mayor capacidad de corriente de cortocircuito  y son diseñados bajo la norma IEC60947</a:t>
            </a:r>
          </a:p>
          <a:p>
            <a:endParaRPr lang="es-PE" b="1" dirty="0">
              <a:solidFill>
                <a:srgbClr val="00F3B5"/>
              </a:solidFill>
            </a:endParaRPr>
          </a:p>
          <a:p>
            <a:r>
              <a:rPr lang="es-PE" b="1" dirty="0">
                <a:solidFill>
                  <a:srgbClr val="00F3B5"/>
                </a:solidFill>
              </a:rPr>
              <a:t>Interruptores </a:t>
            </a:r>
            <a:r>
              <a:rPr lang="es-PE" b="1" dirty="0" err="1">
                <a:solidFill>
                  <a:srgbClr val="00F3B5"/>
                </a:solidFill>
              </a:rPr>
              <a:t>Automaticos</a:t>
            </a:r>
            <a:r>
              <a:rPr lang="es-PE" b="1" dirty="0">
                <a:solidFill>
                  <a:srgbClr val="00F3B5"/>
                </a:solidFill>
              </a:rPr>
              <a:t> industriales:</a:t>
            </a:r>
          </a:p>
          <a:p>
            <a:pPr marL="0" indent="0">
              <a:buNone/>
            </a:pPr>
            <a:r>
              <a:rPr lang="es-ES" dirty="0">
                <a:solidFill>
                  <a:schemeClr val="bg1"/>
                </a:solidFill>
              </a:rPr>
              <a:t>Están diseñados para circuitos eléctricos de gran potencia, donde solo pueden ser manipulados por personal autorizado con los conocimientos técnicos adecuados.</a:t>
            </a:r>
          </a:p>
          <a:p>
            <a:pPr marL="0" indent="0">
              <a:buNone/>
            </a:pPr>
            <a:r>
              <a:rPr lang="es-ES" dirty="0">
                <a:solidFill>
                  <a:schemeClr val="bg1"/>
                </a:solidFill>
              </a:rPr>
              <a:t>Suelen encontrarse ubicados en los cuadros generales de grandes instalaciones como naves industriales, hospitales, talleres, edificios de gran envergadura, etc.</a:t>
            </a:r>
          </a:p>
          <a:p>
            <a:pPr marL="0" indent="0">
              <a:buNone/>
            </a:pPr>
            <a:r>
              <a:rPr lang="es-PE" dirty="0">
                <a:solidFill>
                  <a:schemeClr val="bg1"/>
                </a:solidFill>
              </a:rPr>
              <a:t>También es frecuente su uso para alimentar maquinarias industriales cuya intensidad supera los 63A .</a:t>
            </a:r>
          </a:p>
        </p:txBody>
      </p:sp>
    </p:spTree>
    <p:extLst>
      <p:ext uri="{BB962C8B-B14F-4D97-AF65-F5344CB8AC3E}">
        <p14:creationId xmlns:p14="http://schemas.microsoft.com/office/powerpoint/2010/main" val="19896013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6F076C1E-EFB8-3F39-9616-AFB03BF4663E}"/>
              </a:ext>
            </a:extLst>
          </p:cNvPr>
          <p:cNvSpPr>
            <a:spLocks noGrp="1"/>
          </p:cNvSpPr>
          <p:nvPr>
            <p:ph idx="1"/>
          </p:nvPr>
        </p:nvSpPr>
        <p:spPr>
          <a:xfrm>
            <a:off x="309880" y="873760"/>
            <a:ext cx="8458200" cy="5557519"/>
          </a:xfrm>
        </p:spPr>
        <p:txBody>
          <a:bodyPr>
            <a:normAutofit/>
          </a:bodyPr>
          <a:lstStyle/>
          <a:p>
            <a:pPr marL="0" indent="0">
              <a:buNone/>
            </a:pPr>
            <a:r>
              <a:rPr lang="es-PE" sz="3600" b="1" dirty="0">
                <a:solidFill>
                  <a:srgbClr val="00F3B5"/>
                </a:solidFill>
              </a:rPr>
              <a:t>Los interruptores automáticos industriales pueden clasificarse en dos sub grupos:</a:t>
            </a:r>
          </a:p>
          <a:p>
            <a:pPr marL="0" indent="0">
              <a:buNone/>
            </a:pPr>
            <a:endParaRPr lang="es-PE" b="1" dirty="0">
              <a:solidFill>
                <a:srgbClr val="00F3B5"/>
              </a:solidFill>
            </a:endParaRPr>
          </a:p>
          <a:p>
            <a:r>
              <a:rPr lang="es-PE" sz="3200" b="1" dirty="0">
                <a:solidFill>
                  <a:schemeClr val="bg1"/>
                </a:solidFill>
              </a:rPr>
              <a:t>Interruptores caja moldeada.</a:t>
            </a:r>
          </a:p>
          <a:p>
            <a:endParaRPr lang="es-PE" sz="3200" b="1" dirty="0">
              <a:solidFill>
                <a:schemeClr val="bg1"/>
              </a:solidFill>
            </a:endParaRPr>
          </a:p>
          <a:p>
            <a:r>
              <a:rPr lang="es-PE" sz="3200" b="1" dirty="0">
                <a:solidFill>
                  <a:schemeClr val="bg1"/>
                </a:solidFill>
              </a:rPr>
              <a:t>Interruptores automáticos de bastidor abierto.</a:t>
            </a:r>
          </a:p>
        </p:txBody>
      </p:sp>
    </p:spTree>
    <p:extLst>
      <p:ext uri="{BB962C8B-B14F-4D97-AF65-F5344CB8AC3E}">
        <p14:creationId xmlns:p14="http://schemas.microsoft.com/office/powerpoint/2010/main" val="42840945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B322A8E-966B-01BF-8AA8-EDF70C20441E}"/>
              </a:ext>
            </a:extLst>
          </p:cNvPr>
          <p:cNvSpPr txBox="1"/>
          <p:nvPr/>
        </p:nvSpPr>
        <p:spPr>
          <a:xfrm>
            <a:off x="207264" y="314960"/>
            <a:ext cx="8266176" cy="1077218"/>
          </a:xfrm>
          <a:prstGeom prst="rect">
            <a:avLst/>
          </a:prstGeom>
          <a:noFill/>
        </p:spPr>
        <p:txBody>
          <a:bodyPr wrap="square">
            <a:spAutoFit/>
          </a:bodyPr>
          <a:lstStyle/>
          <a:p>
            <a:r>
              <a:rPr lang="pt-BR" sz="3200" b="1">
                <a:solidFill>
                  <a:srgbClr val="00F3B5"/>
                </a:solidFill>
              </a:rPr>
              <a:t>INTERRUPTORES AUTOMATICOS PARA USO INDUSTRIAL:</a:t>
            </a:r>
            <a:endParaRPr lang="pt-BR" sz="3200" b="1" dirty="0">
              <a:solidFill>
                <a:srgbClr val="00F3B5"/>
              </a:solidFill>
            </a:endParaRPr>
          </a:p>
        </p:txBody>
      </p:sp>
      <p:sp>
        <p:nvSpPr>
          <p:cNvPr id="4" name="Marcador de contenido 3">
            <a:extLst>
              <a:ext uri="{FF2B5EF4-FFF2-40B4-BE49-F238E27FC236}">
                <a16:creationId xmlns:a16="http://schemas.microsoft.com/office/drawing/2014/main" id="{6F076C1E-EFB8-3F39-9616-AFB03BF4663E}"/>
              </a:ext>
            </a:extLst>
          </p:cNvPr>
          <p:cNvSpPr>
            <a:spLocks noGrp="1"/>
          </p:cNvSpPr>
          <p:nvPr>
            <p:ph idx="1"/>
          </p:nvPr>
        </p:nvSpPr>
        <p:spPr>
          <a:xfrm>
            <a:off x="309880" y="1524000"/>
            <a:ext cx="5979160" cy="4907279"/>
          </a:xfrm>
        </p:spPr>
        <p:txBody>
          <a:bodyPr>
            <a:normAutofit/>
          </a:bodyPr>
          <a:lstStyle/>
          <a:p>
            <a:pPr marL="0" indent="0" algn="just">
              <a:buNone/>
            </a:pPr>
            <a:endParaRPr lang="es-PE" b="1" dirty="0">
              <a:solidFill>
                <a:srgbClr val="00F3B5"/>
              </a:solidFill>
            </a:endParaRPr>
          </a:p>
          <a:p>
            <a:pPr algn="just"/>
            <a:r>
              <a:rPr lang="es-PE" b="1" dirty="0">
                <a:solidFill>
                  <a:srgbClr val="00F3B5"/>
                </a:solidFill>
              </a:rPr>
              <a:t>Interruptores caja moldeada:</a:t>
            </a:r>
          </a:p>
          <a:p>
            <a:pPr marL="0" indent="0" algn="just">
              <a:buNone/>
            </a:pPr>
            <a:r>
              <a:rPr lang="es-ES" dirty="0">
                <a:solidFill>
                  <a:schemeClr val="bg1"/>
                </a:solidFill>
              </a:rPr>
              <a:t>Es un dispositivo diseñado para abrir y cerrar un circuito por medios no automáticos, y para abrir el circuito automáticamente en una sobrecarga de corriente predeterminada sin sufrir daño, cuando se aplica dentro de sus valores de operación o especificaciones.</a:t>
            </a:r>
          </a:p>
          <a:p>
            <a:pPr marL="0" indent="0" algn="just">
              <a:buNone/>
            </a:pPr>
            <a:r>
              <a:rPr lang="es-ES" dirty="0">
                <a:solidFill>
                  <a:schemeClr val="bg1"/>
                </a:solidFill>
              </a:rPr>
              <a:t>Tener en cuenta que existen </a:t>
            </a:r>
            <a:r>
              <a:rPr lang="es-ES" dirty="0" err="1">
                <a:solidFill>
                  <a:schemeClr val="bg1"/>
                </a:solidFill>
              </a:rPr>
              <a:t>itm</a:t>
            </a:r>
            <a:r>
              <a:rPr lang="es-ES" dirty="0">
                <a:solidFill>
                  <a:schemeClr val="bg1"/>
                </a:solidFill>
              </a:rPr>
              <a:t> caja moldea fijos, regulables y electrónicos.</a:t>
            </a:r>
          </a:p>
        </p:txBody>
      </p:sp>
      <p:pic>
        <p:nvPicPr>
          <p:cNvPr id="5" name="Imagen 4">
            <a:extLst>
              <a:ext uri="{FF2B5EF4-FFF2-40B4-BE49-F238E27FC236}">
                <a16:creationId xmlns:a16="http://schemas.microsoft.com/office/drawing/2014/main" id="{A12C005A-D213-195B-97CC-1372E45F6660}"/>
              </a:ext>
            </a:extLst>
          </p:cNvPr>
          <p:cNvPicPr>
            <a:picLocks noChangeAspect="1"/>
          </p:cNvPicPr>
          <p:nvPr/>
        </p:nvPicPr>
        <p:blipFill>
          <a:blip r:embed="rId3"/>
          <a:stretch>
            <a:fillRect/>
          </a:stretch>
        </p:blipFill>
        <p:spPr>
          <a:xfrm>
            <a:off x="6482080" y="2306320"/>
            <a:ext cx="5283200" cy="3016885"/>
          </a:xfrm>
          <a:prstGeom prst="rect">
            <a:avLst/>
          </a:prstGeom>
        </p:spPr>
      </p:pic>
    </p:spTree>
    <p:extLst>
      <p:ext uri="{BB962C8B-B14F-4D97-AF65-F5344CB8AC3E}">
        <p14:creationId xmlns:p14="http://schemas.microsoft.com/office/powerpoint/2010/main" val="36926936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B322A8E-966B-01BF-8AA8-EDF70C20441E}"/>
              </a:ext>
            </a:extLst>
          </p:cNvPr>
          <p:cNvSpPr txBox="1"/>
          <p:nvPr/>
        </p:nvSpPr>
        <p:spPr>
          <a:xfrm>
            <a:off x="207264" y="314960"/>
            <a:ext cx="8266176" cy="1077218"/>
          </a:xfrm>
          <a:prstGeom prst="rect">
            <a:avLst/>
          </a:prstGeom>
          <a:noFill/>
        </p:spPr>
        <p:txBody>
          <a:bodyPr wrap="square">
            <a:spAutoFit/>
          </a:bodyPr>
          <a:lstStyle/>
          <a:p>
            <a:r>
              <a:rPr lang="pt-BR" sz="3200" b="1" dirty="0">
                <a:solidFill>
                  <a:srgbClr val="00F3B5"/>
                </a:solidFill>
              </a:rPr>
              <a:t>INTERRUPTORES AUTOMATICOS PARA USO INDUSTRIAL:</a:t>
            </a:r>
          </a:p>
        </p:txBody>
      </p:sp>
      <p:sp>
        <p:nvSpPr>
          <p:cNvPr id="4" name="Marcador de contenido 3">
            <a:extLst>
              <a:ext uri="{FF2B5EF4-FFF2-40B4-BE49-F238E27FC236}">
                <a16:creationId xmlns:a16="http://schemas.microsoft.com/office/drawing/2014/main" id="{6F076C1E-EFB8-3F39-9616-AFB03BF4663E}"/>
              </a:ext>
            </a:extLst>
          </p:cNvPr>
          <p:cNvSpPr>
            <a:spLocks noGrp="1"/>
          </p:cNvSpPr>
          <p:nvPr>
            <p:ph idx="1"/>
          </p:nvPr>
        </p:nvSpPr>
        <p:spPr>
          <a:xfrm>
            <a:off x="309880" y="1524000"/>
            <a:ext cx="5979160" cy="4907279"/>
          </a:xfrm>
        </p:spPr>
        <p:txBody>
          <a:bodyPr>
            <a:normAutofit/>
          </a:bodyPr>
          <a:lstStyle/>
          <a:p>
            <a:pPr marL="0" indent="0" algn="just">
              <a:buNone/>
            </a:pPr>
            <a:endParaRPr lang="es-PE" b="1" dirty="0">
              <a:solidFill>
                <a:srgbClr val="00F3B5"/>
              </a:solidFill>
            </a:endParaRPr>
          </a:p>
          <a:p>
            <a:pPr algn="just"/>
            <a:r>
              <a:rPr lang="es-PE" b="1" dirty="0">
                <a:solidFill>
                  <a:srgbClr val="00F3B5"/>
                </a:solidFill>
              </a:rPr>
              <a:t>Interruptores de bastidor abierto:</a:t>
            </a:r>
          </a:p>
          <a:p>
            <a:pPr marL="0" indent="0" algn="just">
              <a:buNone/>
            </a:pPr>
            <a:r>
              <a:rPr lang="es-ES" dirty="0">
                <a:solidFill>
                  <a:schemeClr val="bg1"/>
                </a:solidFill>
              </a:rPr>
              <a:t>Es un dispositivo diseñado para maquinas de alta potencia o para la cabecera de los cuadros generales de las grandes instalaciones.</a:t>
            </a:r>
          </a:p>
          <a:p>
            <a:pPr marL="0" indent="0" algn="just">
              <a:buNone/>
            </a:pPr>
            <a:r>
              <a:rPr lang="es-ES" dirty="0">
                <a:solidFill>
                  <a:schemeClr val="bg1"/>
                </a:solidFill>
              </a:rPr>
              <a:t>Se fabrican de intensidades nominales que puedan llegar a los (6000A)</a:t>
            </a:r>
          </a:p>
        </p:txBody>
      </p:sp>
      <p:pic>
        <p:nvPicPr>
          <p:cNvPr id="3" name="Imagen 2">
            <a:extLst>
              <a:ext uri="{FF2B5EF4-FFF2-40B4-BE49-F238E27FC236}">
                <a16:creationId xmlns:a16="http://schemas.microsoft.com/office/drawing/2014/main" id="{25768210-0CA7-F79F-233C-876016164118}"/>
              </a:ext>
            </a:extLst>
          </p:cNvPr>
          <p:cNvPicPr>
            <a:picLocks noChangeAspect="1"/>
          </p:cNvPicPr>
          <p:nvPr/>
        </p:nvPicPr>
        <p:blipFill rotWithShape="1">
          <a:blip r:embed="rId3"/>
          <a:srcRect l="3819" t="2691" r="2420" b="3481"/>
          <a:stretch/>
        </p:blipFill>
        <p:spPr>
          <a:xfrm>
            <a:off x="6952070" y="2153919"/>
            <a:ext cx="4630329" cy="3647440"/>
          </a:xfrm>
          <a:prstGeom prst="rect">
            <a:avLst/>
          </a:prstGeom>
        </p:spPr>
      </p:pic>
    </p:spTree>
    <p:extLst>
      <p:ext uri="{BB962C8B-B14F-4D97-AF65-F5344CB8AC3E}">
        <p14:creationId xmlns:p14="http://schemas.microsoft.com/office/powerpoint/2010/main" val="40536777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B322A8E-966B-01BF-8AA8-EDF70C20441E}"/>
              </a:ext>
            </a:extLst>
          </p:cNvPr>
          <p:cNvSpPr txBox="1"/>
          <p:nvPr/>
        </p:nvSpPr>
        <p:spPr>
          <a:xfrm>
            <a:off x="207264" y="314960"/>
            <a:ext cx="8266176" cy="1077218"/>
          </a:xfrm>
          <a:prstGeom prst="rect">
            <a:avLst/>
          </a:prstGeom>
          <a:noFill/>
        </p:spPr>
        <p:txBody>
          <a:bodyPr wrap="square">
            <a:spAutoFit/>
          </a:bodyPr>
          <a:lstStyle/>
          <a:p>
            <a:r>
              <a:rPr lang="pt-BR" sz="3200" b="1" dirty="0">
                <a:solidFill>
                  <a:srgbClr val="00F3B5"/>
                </a:solidFill>
              </a:rPr>
              <a:t>INTERRUPTORES AUTOMATICOS PARA USO INDUSTRIAL:</a:t>
            </a:r>
          </a:p>
        </p:txBody>
      </p:sp>
      <p:pic>
        <p:nvPicPr>
          <p:cNvPr id="8" name="Marcador de contenido 7">
            <a:extLst>
              <a:ext uri="{FF2B5EF4-FFF2-40B4-BE49-F238E27FC236}">
                <a16:creationId xmlns:a16="http://schemas.microsoft.com/office/drawing/2014/main" id="{5E2054C0-7D5B-474C-D34F-348C9ECA5C36}"/>
              </a:ext>
            </a:extLst>
          </p:cNvPr>
          <p:cNvPicPr>
            <a:picLocks noGrp="1" noChangeAspect="1"/>
          </p:cNvPicPr>
          <p:nvPr>
            <p:ph idx="1"/>
          </p:nvPr>
        </p:nvPicPr>
        <p:blipFill>
          <a:blip r:embed="rId3"/>
          <a:stretch>
            <a:fillRect/>
          </a:stretch>
        </p:blipFill>
        <p:spPr>
          <a:xfrm>
            <a:off x="533400" y="1991360"/>
            <a:ext cx="10515600" cy="4287519"/>
          </a:xfrm>
        </p:spPr>
      </p:pic>
    </p:spTree>
    <p:extLst>
      <p:ext uri="{BB962C8B-B14F-4D97-AF65-F5344CB8AC3E}">
        <p14:creationId xmlns:p14="http://schemas.microsoft.com/office/powerpoint/2010/main" val="31676137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B322A8E-966B-01BF-8AA8-EDF70C20441E}"/>
              </a:ext>
            </a:extLst>
          </p:cNvPr>
          <p:cNvSpPr txBox="1"/>
          <p:nvPr/>
        </p:nvSpPr>
        <p:spPr>
          <a:xfrm>
            <a:off x="207264" y="314960"/>
            <a:ext cx="8266176" cy="1323439"/>
          </a:xfrm>
          <a:prstGeom prst="rect">
            <a:avLst/>
          </a:prstGeom>
          <a:noFill/>
        </p:spPr>
        <p:txBody>
          <a:bodyPr wrap="square">
            <a:spAutoFit/>
          </a:bodyPr>
          <a:lstStyle/>
          <a:p>
            <a:r>
              <a:rPr lang="es-ES" sz="4000" b="1" dirty="0">
                <a:solidFill>
                  <a:srgbClr val="00F3B5"/>
                </a:solidFill>
              </a:rPr>
              <a:t>Selectividad y filiación en baja tensión de interruptores automáticos.</a:t>
            </a:r>
          </a:p>
        </p:txBody>
      </p:sp>
      <p:sp>
        <p:nvSpPr>
          <p:cNvPr id="4" name="Marcador de contenido 3">
            <a:extLst>
              <a:ext uri="{FF2B5EF4-FFF2-40B4-BE49-F238E27FC236}">
                <a16:creationId xmlns:a16="http://schemas.microsoft.com/office/drawing/2014/main" id="{71F146A2-175F-231C-8013-45FE0E14582E}"/>
              </a:ext>
            </a:extLst>
          </p:cNvPr>
          <p:cNvSpPr>
            <a:spLocks noGrp="1"/>
          </p:cNvSpPr>
          <p:nvPr>
            <p:ph idx="1"/>
          </p:nvPr>
        </p:nvSpPr>
        <p:spPr>
          <a:xfrm>
            <a:off x="335280" y="2121763"/>
            <a:ext cx="11018520" cy="4055200"/>
          </a:xfrm>
        </p:spPr>
        <p:txBody>
          <a:bodyPr>
            <a:normAutofit/>
          </a:bodyPr>
          <a:lstStyle/>
          <a:p>
            <a:pPr marL="0" indent="0">
              <a:buNone/>
            </a:pPr>
            <a:r>
              <a:rPr lang="es-ES" sz="3600" dirty="0">
                <a:solidFill>
                  <a:schemeClr val="bg1"/>
                </a:solidFill>
              </a:rPr>
              <a:t>La selección del sistema de protección de una instalación eléctrica es un proceso fundamental para garantizar un servicio funcional y económico correcto de toda la instalación y para reducir al mínimo los problemas provocados por condiciones de servicio anómalas o por faltas reales.</a:t>
            </a:r>
            <a:endParaRPr lang="es-PE" sz="3600" dirty="0">
              <a:solidFill>
                <a:schemeClr val="bg1"/>
              </a:solidFill>
            </a:endParaRPr>
          </a:p>
        </p:txBody>
      </p:sp>
    </p:spTree>
    <p:extLst>
      <p:ext uri="{BB962C8B-B14F-4D97-AF65-F5344CB8AC3E}">
        <p14:creationId xmlns:p14="http://schemas.microsoft.com/office/powerpoint/2010/main" val="38937300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B322A8E-966B-01BF-8AA8-EDF70C20441E}"/>
              </a:ext>
            </a:extLst>
          </p:cNvPr>
          <p:cNvSpPr txBox="1"/>
          <p:nvPr/>
        </p:nvSpPr>
        <p:spPr>
          <a:xfrm>
            <a:off x="207264" y="314960"/>
            <a:ext cx="8266176" cy="1107996"/>
          </a:xfrm>
          <a:prstGeom prst="rect">
            <a:avLst/>
          </a:prstGeom>
          <a:noFill/>
        </p:spPr>
        <p:txBody>
          <a:bodyPr wrap="square">
            <a:spAutoFit/>
          </a:bodyPr>
          <a:lstStyle/>
          <a:p>
            <a:r>
              <a:rPr lang="es-ES" sz="3300" b="1" dirty="0">
                <a:solidFill>
                  <a:srgbClr val="00F3B5"/>
                </a:solidFill>
              </a:rPr>
              <a:t>Selectividad y filiación en baja tensión de interruptores automáticos.</a:t>
            </a:r>
          </a:p>
        </p:txBody>
      </p:sp>
      <p:sp>
        <p:nvSpPr>
          <p:cNvPr id="4" name="Marcador de contenido 3">
            <a:extLst>
              <a:ext uri="{FF2B5EF4-FFF2-40B4-BE49-F238E27FC236}">
                <a16:creationId xmlns:a16="http://schemas.microsoft.com/office/drawing/2014/main" id="{71F146A2-175F-231C-8013-45FE0E14582E}"/>
              </a:ext>
            </a:extLst>
          </p:cNvPr>
          <p:cNvSpPr>
            <a:spLocks noGrp="1"/>
          </p:cNvSpPr>
          <p:nvPr>
            <p:ph idx="1"/>
          </p:nvPr>
        </p:nvSpPr>
        <p:spPr>
          <a:xfrm>
            <a:off x="335279" y="1589102"/>
            <a:ext cx="11525287" cy="4820575"/>
          </a:xfrm>
        </p:spPr>
        <p:txBody>
          <a:bodyPr>
            <a:noAutofit/>
          </a:bodyPr>
          <a:lstStyle/>
          <a:p>
            <a:pPr marL="0" indent="0" algn="just">
              <a:buNone/>
            </a:pPr>
            <a:r>
              <a:rPr lang="es-ES" sz="2000" b="1" dirty="0">
                <a:solidFill>
                  <a:schemeClr val="bg1"/>
                </a:solidFill>
              </a:rPr>
              <a:t>Dentro del ámbito de este análisis, se estudia la coordinación entre los diversos dispositivos destinados a la protección de secciones de una instalación o de componentes específicos, con el objetivo de:</a:t>
            </a:r>
          </a:p>
          <a:p>
            <a:pPr algn="just">
              <a:buFont typeface="Wingdings" panose="05000000000000000000" pitchFamily="2" charset="2"/>
              <a:buChar char="Ø"/>
            </a:pPr>
            <a:r>
              <a:rPr lang="es-ES" sz="2000" dirty="0">
                <a:solidFill>
                  <a:schemeClr val="bg1"/>
                </a:solidFill>
              </a:rPr>
              <a:t>Garantizar la seguridad de la instalación y de las personas en todos los casos.</a:t>
            </a:r>
          </a:p>
          <a:p>
            <a:pPr algn="just">
              <a:buFont typeface="Wingdings" panose="05000000000000000000" pitchFamily="2" charset="2"/>
              <a:buChar char="Ø"/>
            </a:pPr>
            <a:r>
              <a:rPr lang="es-ES" sz="2000" dirty="0">
                <a:solidFill>
                  <a:schemeClr val="bg1"/>
                </a:solidFill>
              </a:rPr>
              <a:t> Identificar y excluir rápidamente sólo el área implicada en el problema, sin disparos indiscriminados que reducen la disponibilidad de energía en áreas no implicadas en el defecto.</a:t>
            </a:r>
          </a:p>
          <a:p>
            <a:pPr algn="just">
              <a:buFont typeface="Wingdings" panose="05000000000000000000" pitchFamily="2" charset="2"/>
              <a:buChar char="Ø"/>
            </a:pPr>
            <a:r>
              <a:rPr lang="es-ES" sz="2000" dirty="0">
                <a:solidFill>
                  <a:schemeClr val="bg1"/>
                </a:solidFill>
              </a:rPr>
              <a:t>Reducir los efectos de la falta en otras partes integrales de la instalación (reducción del valor de la tensión y pérdida de estabilidad en máquinas rotatorias).</a:t>
            </a:r>
          </a:p>
          <a:p>
            <a:pPr algn="just">
              <a:buFont typeface="Wingdings" panose="05000000000000000000" pitchFamily="2" charset="2"/>
              <a:buChar char="Ø"/>
            </a:pPr>
            <a:r>
              <a:rPr lang="es-ES" sz="2000" dirty="0">
                <a:solidFill>
                  <a:schemeClr val="bg1"/>
                </a:solidFill>
              </a:rPr>
              <a:t>Reducir la solicitación mecánica de los componentes y los daños del área implicada.</a:t>
            </a:r>
          </a:p>
          <a:p>
            <a:pPr algn="just">
              <a:buFont typeface="Wingdings" panose="05000000000000000000" pitchFamily="2" charset="2"/>
              <a:buChar char="Ø"/>
            </a:pPr>
            <a:r>
              <a:rPr lang="es-ES" sz="2000" dirty="0">
                <a:solidFill>
                  <a:schemeClr val="bg1"/>
                </a:solidFill>
              </a:rPr>
              <a:t>Garantizar la continuidad del servicio con una tensión de alimentación de buena calidad.</a:t>
            </a:r>
          </a:p>
          <a:p>
            <a:pPr algn="just">
              <a:buFont typeface="Wingdings" panose="05000000000000000000" pitchFamily="2" charset="2"/>
              <a:buChar char="Ø"/>
            </a:pPr>
            <a:r>
              <a:rPr lang="es-ES" sz="2000" dirty="0">
                <a:solidFill>
                  <a:schemeClr val="bg1"/>
                </a:solidFill>
              </a:rPr>
              <a:t>Garantizar un respaldo adecuado en caso de falta de la protección destinada a la apertura.</a:t>
            </a:r>
          </a:p>
          <a:p>
            <a:pPr algn="just">
              <a:buFont typeface="Wingdings" panose="05000000000000000000" pitchFamily="2" charset="2"/>
              <a:buChar char="Ø"/>
            </a:pPr>
            <a:r>
              <a:rPr lang="es-ES" sz="2000" dirty="0">
                <a:solidFill>
                  <a:schemeClr val="bg1"/>
                </a:solidFill>
              </a:rPr>
              <a:t>Proporcionar el personal responsable del mantenimiento y el sistema de gestión la información necesaria para restaurar el servicio al resto de la red lo más rápidamente posible y con las menores     interferencias.</a:t>
            </a:r>
          </a:p>
          <a:p>
            <a:pPr algn="just">
              <a:buFont typeface="Wingdings" panose="05000000000000000000" pitchFamily="2" charset="2"/>
              <a:buChar char="Ø"/>
            </a:pPr>
            <a:r>
              <a:rPr lang="es-ES" sz="2000" dirty="0">
                <a:solidFill>
                  <a:schemeClr val="bg1"/>
                </a:solidFill>
              </a:rPr>
              <a:t>Lograr un buen compromiso entre fiabilidad, simplicidad y rentabilidad.</a:t>
            </a:r>
            <a:endParaRPr lang="es-PE" sz="2000" dirty="0">
              <a:solidFill>
                <a:schemeClr val="bg1"/>
              </a:solidFill>
            </a:endParaRPr>
          </a:p>
        </p:txBody>
      </p:sp>
    </p:spTree>
    <p:extLst>
      <p:ext uri="{BB962C8B-B14F-4D97-AF65-F5344CB8AC3E}">
        <p14:creationId xmlns:p14="http://schemas.microsoft.com/office/powerpoint/2010/main" val="16998221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B322A8E-966B-01BF-8AA8-EDF70C20441E}"/>
              </a:ext>
            </a:extLst>
          </p:cNvPr>
          <p:cNvSpPr txBox="1"/>
          <p:nvPr/>
        </p:nvSpPr>
        <p:spPr>
          <a:xfrm>
            <a:off x="207264" y="314960"/>
            <a:ext cx="8266176" cy="1107996"/>
          </a:xfrm>
          <a:prstGeom prst="rect">
            <a:avLst/>
          </a:prstGeom>
          <a:noFill/>
        </p:spPr>
        <p:txBody>
          <a:bodyPr wrap="square">
            <a:spAutoFit/>
          </a:bodyPr>
          <a:lstStyle/>
          <a:p>
            <a:r>
              <a:rPr lang="es-ES" sz="3300" b="1" dirty="0">
                <a:solidFill>
                  <a:srgbClr val="00F3B5"/>
                </a:solidFill>
              </a:rPr>
              <a:t>Selectividad y filiación en baja tensión de interruptores automáticos.</a:t>
            </a:r>
          </a:p>
        </p:txBody>
      </p:sp>
      <p:sp>
        <p:nvSpPr>
          <p:cNvPr id="4" name="Marcador de contenido 3">
            <a:extLst>
              <a:ext uri="{FF2B5EF4-FFF2-40B4-BE49-F238E27FC236}">
                <a16:creationId xmlns:a16="http://schemas.microsoft.com/office/drawing/2014/main" id="{71F146A2-175F-231C-8013-45FE0E14582E}"/>
              </a:ext>
            </a:extLst>
          </p:cNvPr>
          <p:cNvSpPr>
            <a:spLocks noGrp="1"/>
          </p:cNvSpPr>
          <p:nvPr>
            <p:ph idx="1"/>
          </p:nvPr>
        </p:nvSpPr>
        <p:spPr>
          <a:xfrm>
            <a:off x="335279" y="1589102"/>
            <a:ext cx="11525287" cy="4820575"/>
          </a:xfrm>
        </p:spPr>
        <p:txBody>
          <a:bodyPr>
            <a:noAutofit/>
          </a:bodyPr>
          <a:lstStyle/>
          <a:p>
            <a:pPr marL="0" indent="0" algn="just">
              <a:buNone/>
            </a:pPr>
            <a:r>
              <a:rPr lang="es-ES" b="1" dirty="0">
                <a:solidFill>
                  <a:schemeClr val="bg1"/>
                </a:solidFill>
              </a:rPr>
              <a:t>En concreto, un buen sistema de protección debe ser capaz de:</a:t>
            </a:r>
          </a:p>
          <a:p>
            <a:pPr algn="just">
              <a:buFont typeface="Wingdings" panose="05000000000000000000" pitchFamily="2" charset="2"/>
              <a:buChar char="Ø"/>
            </a:pPr>
            <a:r>
              <a:rPr lang="es-ES" dirty="0">
                <a:solidFill>
                  <a:schemeClr val="bg1"/>
                </a:solidFill>
              </a:rPr>
              <a:t>Detectar qué es lo que ha sucedido y dónde, con una buena discriminación entre situaciones anómalas pero tolerables y situaciones de defecto dentro de su ámbito de competencia, así como evitar disparos no deseados que provoquen la detención injustificada de una parte en buenas condiciones de la instalación.</a:t>
            </a:r>
          </a:p>
          <a:p>
            <a:pPr algn="just">
              <a:buFont typeface="Wingdings" panose="05000000000000000000" pitchFamily="2" charset="2"/>
              <a:buChar char="Ø"/>
            </a:pPr>
            <a:r>
              <a:rPr lang="es-ES" dirty="0">
                <a:solidFill>
                  <a:schemeClr val="bg1"/>
                </a:solidFill>
              </a:rPr>
              <a:t>Actuar lo más rápidamente posible para limitar los daños (destrucción, envejecimiento acelerado, etc.), con atención a la continuidad y estabilidad de la alimentación.</a:t>
            </a:r>
          </a:p>
        </p:txBody>
      </p:sp>
    </p:spTree>
    <p:extLst>
      <p:ext uri="{BB962C8B-B14F-4D97-AF65-F5344CB8AC3E}">
        <p14:creationId xmlns:p14="http://schemas.microsoft.com/office/powerpoint/2010/main" val="31629293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B322A8E-966B-01BF-8AA8-EDF70C20441E}"/>
              </a:ext>
            </a:extLst>
          </p:cNvPr>
          <p:cNvSpPr txBox="1"/>
          <p:nvPr/>
        </p:nvSpPr>
        <p:spPr>
          <a:xfrm>
            <a:off x="207264" y="314960"/>
            <a:ext cx="8266176" cy="1107996"/>
          </a:xfrm>
          <a:prstGeom prst="rect">
            <a:avLst/>
          </a:prstGeom>
          <a:noFill/>
        </p:spPr>
        <p:txBody>
          <a:bodyPr wrap="square">
            <a:spAutoFit/>
          </a:bodyPr>
          <a:lstStyle/>
          <a:p>
            <a:r>
              <a:rPr lang="es-ES" sz="3300" b="1" dirty="0">
                <a:solidFill>
                  <a:srgbClr val="00F3B5"/>
                </a:solidFill>
              </a:rPr>
              <a:t>Selectividad y filiación en baja tensión de interruptores automáticos.</a:t>
            </a:r>
          </a:p>
        </p:txBody>
      </p:sp>
      <p:sp>
        <p:nvSpPr>
          <p:cNvPr id="4" name="Marcador de contenido 3">
            <a:extLst>
              <a:ext uri="{FF2B5EF4-FFF2-40B4-BE49-F238E27FC236}">
                <a16:creationId xmlns:a16="http://schemas.microsoft.com/office/drawing/2014/main" id="{71F146A2-175F-231C-8013-45FE0E14582E}"/>
              </a:ext>
            </a:extLst>
          </p:cNvPr>
          <p:cNvSpPr>
            <a:spLocks noGrp="1"/>
          </p:cNvSpPr>
          <p:nvPr>
            <p:ph idx="1"/>
          </p:nvPr>
        </p:nvSpPr>
        <p:spPr>
          <a:xfrm>
            <a:off x="335279" y="1589102"/>
            <a:ext cx="11525287" cy="4820575"/>
          </a:xfrm>
        </p:spPr>
        <p:txBody>
          <a:bodyPr>
            <a:noAutofit/>
          </a:bodyPr>
          <a:lstStyle/>
          <a:p>
            <a:pPr marL="0" indent="0" algn="just">
              <a:buNone/>
            </a:pPr>
            <a:r>
              <a:rPr lang="es-ES" b="1" dirty="0">
                <a:solidFill>
                  <a:schemeClr val="bg1"/>
                </a:solidFill>
              </a:rPr>
              <a:t>Las soluciones se obtienen a partir de un compromiso entre dos requisitos contrapuestos (una identificación precisa de falta y un rápido disparo) y se definen según cuál de ellos se privilegia.</a:t>
            </a:r>
          </a:p>
          <a:p>
            <a:pPr marL="0" indent="0" algn="just">
              <a:buNone/>
            </a:pPr>
            <a:r>
              <a:rPr lang="es-ES" b="1" dirty="0">
                <a:solidFill>
                  <a:srgbClr val="FF0000"/>
                </a:solidFill>
              </a:rPr>
              <a:t>Por ejemplo: </a:t>
            </a:r>
            <a:r>
              <a:rPr lang="es-ES" dirty="0">
                <a:solidFill>
                  <a:schemeClr val="bg1"/>
                </a:solidFill>
              </a:rPr>
              <a:t>En el caso en que sea más importante evitar disparos no deseados, se acostumbra a preferir un sistema de protección indirecta, basado en bloqueos y transmisión de datos entre dispositivos diferentes que miden valores eléctricos localmente, mientras que la velocidad y la limitación de los efectos destructivos del cortocircuito exigen sistemas de acción directa, con relés de protección integrados directamente en los dispositivos.</a:t>
            </a:r>
          </a:p>
        </p:txBody>
      </p:sp>
    </p:spTree>
    <p:extLst>
      <p:ext uri="{BB962C8B-B14F-4D97-AF65-F5344CB8AC3E}">
        <p14:creationId xmlns:p14="http://schemas.microsoft.com/office/powerpoint/2010/main" val="40919665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B322A8E-966B-01BF-8AA8-EDF70C20441E}"/>
              </a:ext>
            </a:extLst>
          </p:cNvPr>
          <p:cNvSpPr txBox="1"/>
          <p:nvPr/>
        </p:nvSpPr>
        <p:spPr>
          <a:xfrm>
            <a:off x="207264" y="314960"/>
            <a:ext cx="8266176" cy="1107996"/>
          </a:xfrm>
          <a:prstGeom prst="rect">
            <a:avLst/>
          </a:prstGeom>
          <a:noFill/>
        </p:spPr>
        <p:txBody>
          <a:bodyPr wrap="square">
            <a:spAutoFit/>
          </a:bodyPr>
          <a:lstStyle/>
          <a:p>
            <a:r>
              <a:rPr lang="es-ES" sz="3300" b="1" dirty="0">
                <a:solidFill>
                  <a:srgbClr val="00F3B5"/>
                </a:solidFill>
              </a:rPr>
              <a:t>Selectividad y filiación en baja tensión de interruptores automáticos.</a:t>
            </a:r>
          </a:p>
        </p:txBody>
      </p:sp>
      <p:sp>
        <p:nvSpPr>
          <p:cNvPr id="4" name="Marcador de contenido 3">
            <a:extLst>
              <a:ext uri="{FF2B5EF4-FFF2-40B4-BE49-F238E27FC236}">
                <a16:creationId xmlns:a16="http://schemas.microsoft.com/office/drawing/2014/main" id="{71F146A2-175F-231C-8013-45FE0E14582E}"/>
              </a:ext>
            </a:extLst>
          </p:cNvPr>
          <p:cNvSpPr>
            <a:spLocks noGrp="1"/>
          </p:cNvSpPr>
          <p:nvPr>
            <p:ph idx="1"/>
          </p:nvPr>
        </p:nvSpPr>
        <p:spPr>
          <a:xfrm>
            <a:off x="335279" y="1589102"/>
            <a:ext cx="11525287" cy="4820575"/>
          </a:xfrm>
        </p:spPr>
        <p:txBody>
          <a:bodyPr>
            <a:noAutofit/>
          </a:bodyPr>
          <a:lstStyle/>
          <a:p>
            <a:pPr marL="0" indent="0" algn="just">
              <a:buNone/>
            </a:pPr>
            <a:r>
              <a:rPr lang="es-ES" dirty="0">
                <a:solidFill>
                  <a:schemeClr val="bg1"/>
                </a:solidFill>
              </a:rPr>
              <a:t>La definición de selectividad aparece en la norma IEC 60947-1 “Equipos de baja tensión - Parte 1: reglas generales para equipos de baja tensión”</a:t>
            </a:r>
          </a:p>
          <a:p>
            <a:pPr algn="just">
              <a:buFont typeface="Wingdings" panose="05000000000000000000" pitchFamily="2" charset="2"/>
              <a:buChar char="Ø"/>
            </a:pPr>
            <a:r>
              <a:rPr lang="es-ES" b="1" dirty="0">
                <a:solidFill>
                  <a:srgbClr val="FF0000"/>
                </a:solidFill>
              </a:rPr>
              <a:t>Selectividad de disparo (para sobreintensidad) :</a:t>
            </a:r>
          </a:p>
          <a:p>
            <a:pPr marL="0" indent="0" algn="just">
              <a:buNone/>
            </a:pPr>
            <a:r>
              <a:rPr lang="es-ES" dirty="0">
                <a:solidFill>
                  <a:schemeClr val="bg1"/>
                </a:solidFill>
              </a:rPr>
              <a:t>Es la coordinación entre las características de funcionamiento de dos o más dispositivos de protección contra sobreintensidad tal que, al verificarse una sobreintensidad dentro de los límites establecidos, actúa sólo el dispositivo destinado a funcionar dentro de esos límites y los demás no intervienen (Norma IEC 60947-1).</a:t>
            </a:r>
          </a:p>
          <a:p>
            <a:pPr marL="0" indent="0" algn="just">
              <a:buNone/>
            </a:pPr>
            <a:r>
              <a:rPr lang="es-ES" dirty="0">
                <a:solidFill>
                  <a:schemeClr val="bg1"/>
                </a:solidFill>
              </a:rPr>
              <a:t>Donde se entiende por sobreintensidad una intensidad de valor superior a la intensidad nominal, debida a una causa cualquiera (sobrecarga, cortocircuito, etc.).</a:t>
            </a:r>
          </a:p>
        </p:txBody>
      </p:sp>
    </p:spTree>
    <p:extLst>
      <p:ext uri="{BB962C8B-B14F-4D97-AF65-F5344CB8AC3E}">
        <p14:creationId xmlns:p14="http://schemas.microsoft.com/office/powerpoint/2010/main" val="439414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B322A8E-966B-01BF-8AA8-EDF70C20441E}"/>
              </a:ext>
            </a:extLst>
          </p:cNvPr>
          <p:cNvSpPr txBox="1"/>
          <p:nvPr/>
        </p:nvSpPr>
        <p:spPr>
          <a:xfrm>
            <a:off x="207264" y="314960"/>
            <a:ext cx="8266176" cy="1107996"/>
          </a:xfrm>
          <a:prstGeom prst="rect">
            <a:avLst/>
          </a:prstGeom>
          <a:noFill/>
        </p:spPr>
        <p:txBody>
          <a:bodyPr wrap="square">
            <a:spAutoFit/>
          </a:bodyPr>
          <a:lstStyle/>
          <a:p>
            <a:r>
              <a:rPr lang="es-ES" sz="3300" b="1" dirty="0">
                <a:solidFill>
                  <a:srgbClr val="00F3B5"/>
                </a:solidFill>
              </a:rPr>
              <a:t>Selectividad y filiación en baja tensión de interruptores automáticos.</a:t>
            </a:r>
          </a:p>
        </p:txBody>
      </p:sp>
      <p:sp>
        <p:nvSpPr>
          <p:cNvPr id="4" name="Marcador de contenido 3">
            <a:extLst>
              <a:ext uri="{FF2B5EF4-FFF2-40B4-BE49-F238E27FC236}">
                <a16:creationId xmlns:a16="http://schemas.microsoft.com/office/drawing/2014/main" id="{71F146A2-175F-231C-8013-45FE0E14582E}"/>
              </a:ext>
            </a:extLst>
          </p:cNvPr>
          <p:cNvSpPr>
            <a:spLocks noGrp="1"/>
          </p:cNvSpPr>
          <p:nvPr>
            <p:ph idx="1"/>
          </p:nvPr>
        </p:nvSpPr>
        <p:spPr>
          <a:xfrm>
            <a:off x="335279" y="1589102"/>
            <a:ext cx="11525287" cy="4820575"/>
          </a:xfrm>
        </p:spPr>
        <p:txBody>
          <a:bodyPr>
            <a:noAutofit/>
          </a:bodyPr>
          <a:lstStyle/>
          <a:p>
            <a:pPr marL="0" indent="0" algn="just">
              <a:buNone/>
            </a:pPr>
            <a:r>
              <a:rPr lang="es-ES" dirty="0">
                <a:solidFill>
                  <a:schemeClr val="bg1"/>
                </a:solidFill>
              </a:rPr>
              <a:t>las definiciones de selectividad total y de selectividad parcial se presentan en la Parte 2 de la misma norma IEC 60947-2 “Equipos de baja tensión - Parte interruptores automáticos””</a:t>
            </a:r>
          </a:p>
          <a:p>
            <a:pPr algn="just">
              <a:buFont typeface="Wingdings" panose="05000000000000000000" pitchFamily="2" charset="2"/>
              <a:buChar char="Ø"/>
            </a:pPr>
            <a:r>
              <a:rPr lang="es-ES" b="1" dirty="0">
                <a:solidFill>
                  <a:srgbClr val="FF0000"/>
                </a:solidFill>
              </a:rPr>
              <a:t>Selectividad total:</a:t>
            </a:r>
          </a:p>
          <a:p>
            <a:pPr marL="0" indent="0" algn="just">
              <a:buNone/>
            </a:pPr>
            <a:r>
              <a:rPr lang="es-ES" dirty="0">
                <a:solidFill>
                  <a:schemeClr val="bg1"/>
                </a:solidFill>
              </a:rPr>
              <a:t>Selectividad en el caso de una sobreintensidad en la cual, en presencia de dos dispositivos de protección de  máxima intensidad, colocados en serie, el dispositivo de protección aguas abajo asegura la protección sin provocar el funcionamiento del otro dispositivo de protección.”</a:t>
            </a:r>
          </a:p>
          <a:p>
            <a:pPr marL="0" indent="0" algn="just">
              <a:buNone/>
            </a:pPr>
            <a:r>
              <a:rPr lang="es-ES" dirty="0">
                <a:solidFill>
                  <a:schemeClr val="bg1"/>
                </a:solidFill>
              </a:rPr>
              <a:t>Se habla de selectividad total cuando existe selectividad para cualquier valor posible de sobreintensidad en la instalación.</a:t>
            </a:r>
          </a:p>
        </p:txBody>
      </p:sp>
    </p:spTree>
    <p:extLst>
      <p:ext uri="{BB962C8B-B14F-4D97-AF65-F5344CB8AC3E}">
        <p14:creationId xmlns:p14="http://schemas.microsoft.com/office/powerpoint/2010/main" val="11494711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B322A8E-966B-01BF-8AA8-EDF70C20441E}"/>
              </a:ext>
            </a:extLst>
          </p:cNvPr>
          <p:cNvSpPr txBox="1"/>
          <p:nvPr/>
        </p:nvSpPr>
        <p:spPr>
          <a:xfrm>
            <a:off x="207264" y="314960"/>
            <a:ext cx="8266176" cy="1107996"/>
          </a:xfrm>
          <a:prstGeom prst="rect">
            <a:avLst/>
          </a:prstGeom>
          <a:noFill/>
        </p:spPr>
        <p:txBody>
          <a:bodyPr wrap="square">
            <a:spAutoFit/>
          </a:bodyPr>
          <a:lstStyle/>
          <a:p>
            <a:r>
              <a:rPr lang="es-ES" sz="3300" b="1" dirty="0">
                <a:solidFill>
                  <a:srgbClr val="00F3B5"/>
                </a:solidFill>
              </a:rPr>
              <a:t>Selectividad y filiación en baja tensión de interruptores automáticos.</a:t>
            </a:r>
          </a:p>
        </p:txBody>
      </p:sp>
      <p:sp>
        <p:nvSpPr>
          <p:cNvPr id="4" name="Marcador de contenido 3">
            <a:extLst>
              <a:ext uri="{FF2B5EF4-FFF2-40B4-BE49-F238E27FC236}">
                <a16:creationId xmlns:a16="http://schemas.microsoft.com/office/drawing/2014/main" id="{71F146A2-175F-231C-8013-45FE0E14582E}"/>
              </a:ext>
            </a:extLst>
          </p:cNvPr>
          <p:cNvSpPr>
            <a:spLocks noGrp="1"/>
          </p:cNvSpPr>
          <p:nvPr>
            <p:ph idx="1"/>
          </p:nvPr>
        </p:nvSpPr>
        <p:spPr>
          <a:xfrm>
            <a:off x="335279" y="1589102"/>
            <a:ext cx="11525287" cy="4820575"/>
          </a:xfrm>
        </p:spPr>
        <p:txBody>
          <a:bodyPr>
            <a:noAutofit/>
          </a:bodyPr>
          <a:lstStyle/>
          <a:p>
            <a:pPr marL="0" indent="0" algn="just">
              <a:buNone/>
            </a:pPr>
            <a:r>
              <a:rPr lang="es-ES" sz="2600" dirty="0">
                <a:solidFill>
                  <a:schemeClr val="bg1"/>
                </a:solidFill>
              </a:rPr>
              <a:t>las definiciones de selectividad total y de selectividad parcial se presentan en la Parte 2 de la misma norma IEC 60947-2 “Equipos de baja tensión - Parte interruptores automáticos””</a:t>
            </a:r>
          </a:p>
          <a:p>
            <a:pPr algn="just">
              <a:buFont typeface="Wingdings" panose="05000000000000000000" pitchFamily="2" charset="2"/>
              <a:buChar char="Ø"/>
            </a:pPr>
            <a:r>
              <a:rPr lang="es-ES" sz="2600" b="1" dirty="0">
                <a:solidFill>
                  <a:srgbClr val="FF0000"/>
                </a:solidFill>
              </a:rPr>
              <a:t>Selectividad Parcial o filiación:</a:t>
            </a:r>
          </a:p>
          <a:p>
            <a:pPr marL="0" indent="0" algn="just">
              <a:buNone/>
            </a:pPr>
            <a:r>
              <a:rPr lang="es-ES" sz="2600" dirty="0">
                <a:solidFill>
                  <a:schemeClr val="bg1"/>
                </a:solidFill>
              </a:rPr>
              <a:t>Selectividad en el caso de una sobreintensidad en la cual, en presencia de dos dispositivos de protección de máxima intensidad colocados en serie, el dispositivo de protección aguas abajo asegura la protección hasta un nivel dado de sobreintensidad sin provocar el funcionamiento del otro dispositivo de protección.”</a:t>
            </a:r>
          </a:p>
          <a:p>
            <a:pPr marL="0" indent="0" algn="just">
              <a:buNone/>
            </a:pPr>
            <a:r>
              <a:rPr lang="es-ES" sz="2600" dirty="0">
                <a:solidFill>
                  <a:schemeClr val="bg1"/>
                </a:solidFill>
              </a:rPr>
              <a:t>Se habla de selectividad parcial cuando sólo existe selectividad hasta un determinado valor de intensidad </a:t>
            </a:r>
            <a:r>
              <a:rPr lang="es-ES" sz="2600" dirty="0" err="1">
                <a:solidFill>
                  <a:schemeClr val="bg1"/>
                </a:solidFill>
              </a:rPr>
              <a:t>Is</a:t>
            </a:r>
            <a:r>
              <a:rPr lang="es-ES" sz="2600" dirty="0">
                <a:solidFill>
                  <a:schemeClr val="bg1"/>
                </a:solidFill>
              </a:rPr>
              <a:t> (límite de selectividad). Si la intensidad supera este valor ya no se garantiza la selectividad entre los dos interruptores automáticos.</a:t>
            </a:r>
          </a:p>
        </p:txBody>
      </p:sp>
    </p:spTree>
    <p:extLst>
      <p:ext uri="{BB962C8B-B14F-4D97-AF65-F5344CB8AC3E}">
        <p14:creationId xmlns:p14="http://schemas.microsoft.com/office/powerpoint/2010/main" val="28155733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B322A8E-966B-01BF-8AA8-EDF70C20441E}"/>
              </a:ext>
            </a:extLst>
          </p:cNvPr>
          <p:cNvSpPr txBox="1"/>
          <p:nvPr/>
        </p:nvSpPr>
        <p:spPr>
          <a:xfrm>
            <a:off x="246174" y="315833"/>
            <a:ext cx="8266176" cy="1107996"/>
          </a:xfrm>
          <a:prstGeom prst="rect">
            <a:avLst/>
          </a:prstGeom>
          <a:noFill/>
        </p:spPr>
        <p:txBody>
          <a:bodyPr wrap="square">
            <a:spAutoFit/>
          </a:bodyPr>
          <a:lstStyle/>
          <a:p>
            <a:r>
              <a:rPr lang="es-ES" sz="3300" b="1" dirty="0">
                <a:solidFill>
                  <a:srgbClr val="00F3B5"/>
                </a:solidFill>
              </a:rPr>
              <a:t>Selectividad y filiación en baja tensión de interruptores automáticos.</a:t>
            </a:r>
          </a:p>
        </p:txBody>
      </p:sp>
      <p:sp>
        <p:nvSpPr>
          <p:cNvPr id="4" name="Marcador de contenido 3">
            <a:extLst>
              <a:ext uri="{FF2B5EF4-FFF2-40B4-BE49-F238E27FC236}">
                <a16:creationId xmlns:a16="http://schemas.microsoft.com/office/drawing/2014/main" id="{71F146A2-175F-231C-8013-45FE0E14582E}"/>
              </a:ext>
            </a:extLst>
          </p:cNvPr>
          <p:cNvSpPr>
            <a:spLocks noGrp="1"/>
          </p:cNvSpPr>
          <p:nvPr>
            <p:ph idx="1"/>
          </p:nvPr>
        </p:nvSpPr>
        <p:spPr>
          <a:xfrm>
            <a:off x="335280" y="1589102"/>
            <a:ext cx="6941010" cy="4820575"/>
          </a:xfrm>
        </p:spPr>
        <p:txBody>
          <a:bodyPr>
            <a:noAutofit/>
          </a:bodyPr>
          <a:lstStyle/>
          <a:p>
            <a:pPr marL="0" indent="0" algn="just">
              <a:buNone/>
            </a:pPr>
            <a:r>
              <a:rPr lang="es-ES" sz="2600" b="1" dirty="0">
                <a:solidFill>
                  <a:srgbClr val="FF0000"/>
                </a:solidFill>
              </a:rPr>
              <a:t>Ejemplo:</a:t>
            </a:r>
          </a:p>
          <a:p>
            <a:pPr marL="0" indent="0" algn="just">
              <a:buNone/>
            </a:pPr>
            <a:r>
              <a:rPr lang="es-ES" sz="2400" b="1" dirty="0">
                <a:solidFill>
                  <a:schemeClr val="bg1"/>
                </a:solidFill>
              </a:rPr>
              <a:t>Considérense los dos interruptores automáticos siguientes:</a:t>
            </a:r>
          </a:p>
          <a:p>
            <a:pPr marL="0" indent="0" algn="just">
              <a:buNone/>
            </a:pPr>
            <a:r>
              <a:rPr lang="es-ES" sz="2000" dirty="0">
                <a:solidFill>
                  <a:schemeClr val="bg1"/>
                </a:solidFill>
              </a:rPr>
              <a:t>Lado de la alimentación T4N250 PR221 In250 (</a:t>
            </a:r>
            <a:r>
              <a:rPr lang="es-ES" sz="2000" dirty="0" err="1">
                <a:solidFill>
                  <a:schemeClr val="bg1"/>
                </a:solidFill>
              </a:rPr>
              <a:t>Icu</a:t>
            </a:r>
            <a:r>
              <a:rPr lang="es-ES" sz="2000" dirty="0">
                <a:solidFill>
                  <a:schemeClr val="bg1"/>
                </a:solidFill>
              </a:rPr>
              <a:t> = 36 </a:t>
            </a:r>
            <a:r>
              <a:rPr lang="es-ES" sz="2000" dirty="0" err="1">
                <a:solidFill>
                  <a:schemeClr val="bg1"/>
                </a:solidFill>
              </a:rPr>
              <a:t>kA</a:t>
            </a:r>
            <a:r>
              <a:rPr lang="es-ES" sz="2000" dirty="0">
                <a:solidFill>
                  <a:schemeClr val="bg1"/>
                </a:solidFill>
              </a:rPr>
              <a:t>)</a:t>
            </a:r>
          </a:p>
          <a:p>
            <a:pPr marL="0" indent="0">
              <a:buNone/>
            </a:pPr>
            <a:r>
              <a:rPr lang="es-ES" sz="2000" dirty="0">
                <a:solidFill>
                  <a:schemeClr val="bg1"/>
                </a:solidFill>
              </a:rPr>
              <a:t>Lado de la carga                 S294 C 100                 (</a:t>
            </a:r>
            <a:r>
              <a:rPr lang="es-ES" sz="2000" dirty="0" err="1">
                <a:solidFill>
                  <a:schemeClr val="bg1"/>
                </a:solidFill>
              </a:rPr>
              <a:t>Icu</a:t>
            </a:r>
            <a:r>
              <a:rPr lang="es-ES" sz="2000" dirty="0">
                <a:solidFill>
                  <a:schemeClr val="bg1"/>
                </a:solidFill>
              </a:rPr>
              <a:t> = 15 </a:t>
            </a:r>
            <a:r>
              <a:rPr lang="es-ES" sz="2000" dirty="0" err="1">
                <a:solidFill>
                  <a:schemeClr val="bg1"/>
                </a:solidFill>
              </a:rPr>
              <a:t>kA</a:t>
            </a:r>
            <a:r>
              <a:rPr lang="es-ES" sz="2000" dirty="0">
                <a:solidFill>
                  <a:schemeClr val="bg1"/>
                </a:solidFill>
              </a:rPr>
              <a:t>)</a:t>
            </a:r>
          </a:p>
          <a:p>
            <a:pPr marL="0" indent="0">
              <a:buNone/>
            </a:pPr>
            <a:r>
              <a:rPr lang="es-ES" sz="2000" dirty="0">
                <a:solidFill>
                  <a:schemeClr val="bg1"/>
                </a:solidFill>
              </a:rPr>
              <a:t> A partir de la publicación “Tablas de coordinación” se puede ver que existe selectividad total (T) entre ambos interruptores automáticos.	</a:t>
            </a:r>
          </a:p>
          <a:p>
            <a:pPr marL="0" indent="0">
              <a:buNone/>
            </a:pPr>
            <a:r>
              <a:rPr lang="es-ES" sz="2000" dirty="0">
                <a:solidFill>
                  <a:schemeClr val="bg1"/>
                </a:solidFill>
              </a:rPr>
              <a:t>Significa que existe selectividad hasta 15 </a:t>
            </a:r>
            <a:r>
              <a:rPr lang="es-ES" sz="2000" dirty="0" err="1">
                <a:solidFill>
                  <a:schemeClr val="bg1"/>
                </a:solidFill>
              </a:rPr>
              <a:t>kA</a:t>
            </a:r>
            <a:r>
              <a:rPr lang="es-ES" sz="2000" dirty="0">
                <a:solidFill>
                  <a:schemeClr val="bg1"/>
                </a:solidFill>
              </a:rPr>
              <a:t>, es decir, el menor de los dos valores </a:t>
            </a:r>
            <a:r>
              <a:rPr lang="es-ES" sz="2000" dirty="0" err="1">
                <a:solidFill>
                  <a:schemeClr val="bg1"/>
                </a:solidFill>
              </a:rPr>
              <a:t>Icu</a:t>
            </a:r>
            <a:r>
              <a:rPr lang="es-ES" sz="2000" dirty="0">
                <a:solidFill>
                  <a:schemeClr val="bg1"/>
                </a:solidFill>
              </a:rPr>
              <a:t>.</a:t>
            </a:r>
          </a:p>
          <a:p>
            <a:pPr marL="0" indent="0">
              <a:buNone/>
            </a:pPr>
            <a:r>
              <a:rPr lang="es-ES" sz="2000" dirty="0">
                <a:solidFill>
                  <a:schemeClr val="bg1"/>
                </a:solidFill>
              </a:rPr>
              <a:t>Evidentemente, la intensidad máxima de cortocircuito posible en el punto de la instalación del interruptor S294 C 100 será inferior o igual a 15 </a:t>
            </a:r>
            <a:r>
              <a:rPr lang="es-ES" sz="2000" dirty="0" err="1">
                <a:solidFill>
                  <a:schemeClr val="bg1"/>
                </a:solidFill>
              </a:rPr>
              <a:t>kA</a:t>
            </a:r>
            <a:r>
              <a:rPr lang="es-ES" sz="2000" dirty="0">
                <a:solidFill>
                  <a:schemeClr val="bg1"/>
                </a:solidFill>
              </a:rPr>
              <a:t>.</a:t>
            </a:r>
          </a:p>
        </p:txBody>
      </p:sp>
      <p:pic>
        <p:nvPicPr>
          <p:cNvPr id="5" name="Imagen 4">
            <a:extLst>
              <a:ext uri="{FF2B5EF4-FFF2-40B4-BE49-F238E27FC236}">
                <a16:creationId xmlns:a16="http://schemas.microsoft.com/office/drawing/2014/main" id="{47B72035-82B5-623C-5EDB-F7F1C1B92292}"/>
              </a:ext>
            </a:extLst>
          </p:cNvPr>
          <p:cNvPicPr>
            <a:picLocks noChangeAspect="1"/>
          </p:cNvPicPr>
          <p:nvPr/>
        </p:nvPicPr>
        <p:blipFill rotWithShape="1">
          <a:blip r:embed="rId3"/>
          <a:srcRect l="3133" t="2612" r="9427"/>
          <a:stretch/>
        </p:blipFill>
        <p:spPr>
          <a:xfrm>
            <a:off x="7276290" y="1919649"/>
            <a:ext cx="4580430" cy="4490028"/>
          </a:xfrm>
          <a:prstGeom prst="rect">
            <a:avLst/>
          </a:prstGeom>
        </p:spPr>
      </p:pic>
    </p:spTree>
    <p:extLst>
      <p:ext uri="{BB962C8B-B14F-4D97-AF65-F5344CB8AC3E}">
        <p14:creationId xmlns:p14="http://schemas.microsoft.com/office/powerpoint/2010/main" val="21961140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B322A8E-966B-01BF-8AA8-EDF70C20441E}"/>
              </a:ext>
            </a:extLst>
          </p:cNvPr>
          <p:cNvSpPr txBox="1"/>
          <p:nvPr/>
        </p:nvSpPr>
        <p:spPr>
          <a:xfrm>
            <a:off x="246174" y="315833"/>
            <a:ext cx="8266176" cy="1107996"/>
          </a:xfrm>
          <a:prstGeom prst="rect">
            <a:avLst/>
          </a:prstGeom>
          <a:noFill/>
        </p:spPr>
        <p:txBody>
          <a:bodyPr wrap="square">
            <a:spAutoFit/>
          </a:bodyPr>
          <a:lstStyle/>
          <a:p>
            <a:r>
              <a:rPr lang="es-ES" sz="3300" b="1" dirty="0">
                <a:solidFill>
                  <a:srgbClr val="00F3B5"/>
                </a:solidFill>
              </a:rPr>
              <a:t>Selectividad y filiación en baja tensión de interruptores automáticos.</a:t>
            </a:r>
          </a:p>
        </p:txBody>
      </p:sp>
      <p:sp>
        <p:nvSpPr>
          <p:cNvPr id="4" name="Marcador de contenido 3">
            <a:extLst>
              <a:ext uri="{FF2B5EF4-FFF2-40B4-BE49-F238E27FC236}">
                <a16:creationId xmlns:a16="http://schemas.microsoft.com/office/drawing/2014/main" id="{71F146A2-175F-231C-8013-45FE0E14582E}"/>
              </a:ext>
            </a:extLst>
          </p:cNvPr>
          <p:cNvSpPr>
            <a:spLocks noGrp="1"/>
          </p:cNvSpPr>
          <p:nvPr>
            <p:ph idx="1"/>
          </p:nvPr>
        </p:nvSpPr>
        <p:spPr>
          <a:xfrm>
            <a:off x="335280" y="1589102"/>
            <a:ext cx="6941010" cy="4820575"/>
          </a:xfrm>
        </p:spPr>
        <p:txBody>
          <a:bodyPr>
            <a:noAutofit/>
          </a:bodyPr>
          <a:lstStyle/>
          <a:p>
            <a:pPr marL="0" indent="0" algn="just">
              <a:buNone/>
            </a:pPr>
            <a:r>
              <a:rPr lang="es-ES" sz="2600" b="1" dirty="0">
                <a:solidFill>
                  <a:srgbClr val="FF0000"/>
                </a:solidFill>
              </a:rPr>
              <a:t>Ejemplo:</a:t>
            </a:r>
          </a:p>
          <a:p>
            <a:pPr marL="0" indent="0" algn="just">
              <a:buNone/>
            </a:pPr>
            <a:r>
              <a:rPr lang="es-ES" sz="2400" b="1" dirty="0">
                <a:solidFill>
                  <a:schemeClr val="bg1"/>
                </a:solidFill>
              </a:rPr>
              <a:t>Considérense los dos interruptores automáticos siguientes:</a:t>
            </a:r>
          </a:p>
          <a:p>
            <a:pPr marL="0" indent="0" algn="just">
              <a:buNone/>
            </a:pPr>
            <a:r>
              <a:rPr lang="es-ES" sz="2000" dirty="0">
                <a:solidFill>
                  <a:schemeClr val="bg1"/>
                </a:solidFill>
              </a:rPr>
              <a:t>Lado de la alimentación T4N250 PR221 In160 (</a:t>
            </a:r>
            <a:r>
              <a:rPr lang="es-ES" sz="2000" dirty="0" err="1">
                <a:solidFill>
                  <a:schemeClr val="bg1"/>
                </a:solidFill>
              </a:rPr>
              <a:t>Icu</a:t>
            </a:r>
            <a:r>
              <a:rPr lang="es-ES" sz="2000" dirty="0">
                <a:solidFill>
                  <a:schemeClr val="bg1"/>
                </a:solidFill>
              </a:rPr>
              <a:t> = 36 </a:t>
            </a:r>
            <a:r>
              <a:rPr lang="es-ES" sz="2000" dirty="0" err="1">
                <a:solidFill>
                  <a:schemeClr val="bg1"/>
                </a:solidFill>
              </a:rPr>
              <a:t>kA</a:t>
            </a:r>
            <a:r>
              <a:rPr lang="es-ES" sz="2000" dirty="0">
                <a:solidFill>
                  <a:schemeClr val="bg1"/>
                </a:solidFill>
              </a:rPr>
              <a:t>)</a:t>
            </a:r>
          </a:p>
          <a:p>
            <a:pPr marL="0" indent="0" algn="just">
              <a:buNone/>
            </a:pPr>
            <a:r>
              <a:rPr lang="es-ES" sz="2000" dirty="0">
                <a:solidFill>
                  <a:schemeClr val="bg1"/>
                </a:solidFill>
              </a:rPr>
              <a:t>Lado de la carga                   S294 C 100              (</a:t>
            </a:r>
            <a:r>
              <a:rPr lang="es-ES" sz="2000" dirty="0" err="1">
                <a:solidFill>
                  <a:schemeClr val="bg1"/>
                </a:solidFill>
              </a:rPr>
              <a:t>Icu</a:t>
            </a:r>
            <a:r>
              <a:rPr lang="es-ES" sz="2000" dirty="0">
                <a:solidFill>
                  <a:schemeClr val="bg1"/>
                </a:solidFill>
              </a:rPr>
              <a:t> = 15 </a:t>
            </a:r>
            <a:r>
              <a:rPr lang="es-ES" sz="2000" dirty="0" err="1">
                <a:solidFill>
                  <a:schemeClr val="bg1"/>
                </a:solidFill>
              </a:rPr>
              <a:t>kA</a:t>
            </a:r>
            <a:r>
              <a:rPr lang="es-ES" sz="2000" dirty="0">
                <a:solidFill>
                  <a:schemeClr val="bg1"/>
                </a:solidFill>
              </a:rPr>
              <a:t>)</a:t>
            </a:r>
          </a:p>
          <a:p>
            <a:pPr marL="0" indent="0" algn="just">
              <a:buNone/>
            </a:pPr>
            <a:r>
              <a:rPr lang="es-ES" sz="2000" dirty="0">
                <a:solidFill>
                  <a:schemeClr val="bg1"/>
                </a:solidFill>
              </a:rPr>
              <a:t>A partir de la publicación “Tablas de coordinación” se puede ver que el límite de selectividad es </a:t>
            </a:r>
            <a:r>
              <a:rPr lang="es-ES" sz="2000" b="1" dirty="0" err="1">
                <a:solidFill>
                  <a:srgbClr val="FFFF00"/>
                </a:solidFill>
              </a:rPr>
              <a:t>Is</a:t>
            </a:r>
            <a:r>
              <a:rPr lang="es-ES" sz="2000" b="1" dirty="0">
                <a:solidFill>
                  <a:srgbClr val="FFFF00"/>
                </a:solidFill>
              </a:rPr>
              <a:t> = 12 </a:t>
            </a:r>
            <a:r>
              <a:rPr lang="es-ES" sz="2000" b="1" dirty="0" err="1">
                <a:solidFill>
                  <a:srgbClr val="FFFF00"/>
                </a:solidFill>
              </a:rPr>
              <a:t>kA</a:t>
            </a:r>
            <a:r>
              <a:rPr lang="es-ES" sz="2000" b="1" dirty="0">
                <a:solidFill>
                  <a:srgbClr val="FFFF00"/>
                </a:solidFill>
              </a:rPr>
              <a:t> </a:t>
            </a:r>
            <a:r>
              <a:rPr lang="es-ES" sz="2000" dirty="0">
                <a:solidFill>
                  <a:schemeClr val="bg1"/>
                </a:solidFill>
              </a:rPr>
              <a:t>entre ambos interruptores automáticos.</a:t>
            </a:r>
          </a:p>
          <a:p>
            <a:pPr marL="0" indent="0" algn="just">
              <a:buNone/>
            </a:pPr>
            <a:r>
              <a:rPr lang="es-ES" sz="2000" dirty="0">
                <a:solidFill>
                  <a:schemeClr val="bg1"/>
                </a:solidFill>
              </a:rPr>
              <a:t>Significa que, si la intensidad de cortocircuito máxima supuesta en el lado de la carga del interruptor S294 C 100 es inferior a 12 </a:t>
            </a:r>
            <a:r>
              <a:rPr lang="es-ES" sz="2000" dirty="0" err="1">
                <a:solidFill>
                  <a:schemeClr val="bg1"/>
                </a:solidFill>
              </a:rPr>
              <a:t>kA</a:t>
            </a:r>
            <a:r>
              <a:rPr lang="es-ES" sz="2000" dirty="0">
                <a:solidFill>
                  <a:schemeClr val="bg1"/>
                </a:solidFill>
              </a:rPr>
              <a:t>, existirá selectividad total, mientras que para fallos entre 12 y 15 </a:t>
            </a:r>
            <a:r>
              <a:rPr lang="es-ES" sz="2000" dirty="0" err="1">
                <a:solidFill>
                  <a:schemeClr val="bg1"/>
                </a:solidFill>
              </a:rPr>
              <a:t>kA</a:t>
            </a:r>
            <a:r>
              <a:rPr lang="es-ES" sz="2000" dirty="0">
                <a:solidFill>
                  <a:schemeClr val="bg1"/>
                </a:solidFill>
              </a:rPr>
              <a:t> no se garantiza el no disparo del interruptor del lado de la alimentación.</a:t>
            </a:r>
          </a:p>
        </p:txBody>
      </p:sp>
      <p:pic>
        <p:nvPicPr>
          <p:cNvPr id="5" name="Imagen 4">
            <a:extLst>
              <a:ext uri="{FF2B5EF4-FFF2-40B4-BE49-F238E27FC236}">
                <a16:creationId xmlns:a16="http://schemas.microsoft.com/office/drawing/2014/main" id="{47B72035-82B5-623C-5EDB-F7F1C1B92292}"/>
              </a:ext>
            </a:extLst>
          </p:cNvPr>
          <p:cNvPicPr>
            <a:picLocks noChangeAspect="1"/>
          </p:cNvPicPr>
          <p:nvPr/>
        </p:nvPicPr>
        <p:blipFill rotWithShape="1">
          <a:blip r:embed="rId3"/>
          <a:srcRect l="3133" t="2612" r="9427"/>
          <a:stretch/>
        </p:blipFill>
        <p:spPr>
          <a:xfrm>
            <a:off x="7276290" y="1919649"/>
            <a:ext cx="4580430" cy="4490028"/>
          </a:xfrm>
          <a:prstGeom prst="rect">
            <a:avLst/>
          </a:prstGeom>
        </p:spPr>
      </p:pic>
    </p:spTree>
    <p:extLst>
      <p:ext uri="{BB962C8B-B14F-4D97-AF65-F5344CB8AC3E}">
        <p14:creationId xmlns:p14="http://schemas.microsoft.com/office/powerpoint/2010/main" val="51864682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5485</TotalTime>
  <Words>2579</Words>
  <Application>Microsoft Office PowerPoint</Application>
  <PresentationFormat>Panorámica</PresentationFormat>
  <Paragraphs>229</Paragraphs>
  <Slides>38</Slides>
  <Notes>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38</vt:i4>
      </vt:variant>
    </vt:vector>
  </HeadingPairs>
  <TitlesOfParts>
    <vt:vector size="47" baseType="lpstr">
      <vt:lpstr>Aptos Display</vt:lpstr>
      <vt:lpstr>Arial</vt:lpstr>
      <vt:lpstr>Calibri</vt:lpstr>
      <vt:lpstr>Calibri Light</vt:lpstr>
      <vt:lpstr>CIDFont+F3</vt:lpstr>
      <vt:lpstr>Prompt</vt:lpstr>
      <vt:lpstr>Ubuntu-Bold</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Las curvas de disparo muestran el tiempo de disparo en función de la intensidad de defecto en amperios. Las curvas de disparo de los interruptores automáticos constan de dos partes:  Disparo de protección contra sobrecarga (dispositivo de disparo térmico): cuanto más alta sea la corriente, más corto será el tiempo de disparo.  Disparo de protección contra cortocircuitos (dispositivo de disparo magnético): si la corriente supera el umbral de su dispositivo de protección, el tiempo de corte será inferior a 10 milisegundos. </vt:lpstr>
      <vt:lpstr>Curva B  </vt:lpstr>
      <vt:lpstr>Curva C  </vt:lpstr>
      <vt:lpstr>Curva D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Ci5D2</dc:creator>
  <cp:lastModifiedBy>premium</cp:lastModifiedBy>
  <cp:revision>18</cp:revision>
  <dcterms:created xsi:type="dcterms:W3CDTF">2022-04-19T18:02:09Z</dcterms:created>
  <dcterms:modified xsi:type="dcterms:W3CDTF">2024-06-06T03:19:38Z</dcterms:modified>
</cp:coreProperties>
</file>