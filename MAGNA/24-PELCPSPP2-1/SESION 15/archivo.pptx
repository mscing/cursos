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74" r:id="rId5"/>
    <p:sldId id="296" r:id="rId6"/>
    <p:sldId id="276" r:id="rId7"/>
    <p:sldId id="277" r:id="rId8"/>
    <p:sldId id="294" r:id="rId9"/>
    <p:sldId id="278" r:id="rId10"/>
    <p:sldId id="286" r:id="rId11"/>
    <p:sldId id="297" r:id="rId12"/>
    <p:sldId id="298" r:id="rId13"/>
    <p:sldId id="279" r:id="rId14"/>
    <p:sldId id="299" r:id="rId15"/>
    <p:sldId id="300" r:id="rId16"/>
    <p:sldId id="301" r:id="rId17"/>
    <p:sldId id="304" r:id="rId18"/>
    <p:sldId id="302" r:id="rId19"/>
    <p:sldId id="303" r:id="rId20"/>
    <p:sldId id="305" r:id="rId21"/>
    <p:sldId id="306" r:id="rId22"/>
    <p:sldId id="307" r:id="rId23"/>
    <p:sldId id="308" r:id="rId24"/>
    <p:sldId id="309" r:id="rId25"/>
    <p:sldId id="290" r:id="rId26"/>
    <p:sldId id="260"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25/04/2024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25/04/2024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25/04/2024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25/04/2024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25/04/2024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25/04/2024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25/04/2024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25/04/2024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25/04/2024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25/04/2024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25/04/2024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25/04/2024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hyperlink" Target="https://www.wowcx.com/4-maneras-en-las-que-ux-ayuda-al-onboarding/"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819658" cy="1107996"/>
          </a:xfrm>
          <a:prstGeom prst="rect">
            <a:avLst/>
          </a:prstGeom>
        </p:spPr>
        <p:txBody>
          <a:bodyPr wrap="square">
            <a:spAutoFit/>
          </a:bodyPr>
          <a:lstStyle/>
          <a:p>
            <a:r>
              <a:rPr lang="es-ES" sz="6600" dirty="0" smtClean="0">
                <a:solidFill>
                  <a:srgbClr val="00F3B5"/>
                </a:solidFill>
                <a:latin typeface="Prompt" panose="00000800000000000000" pitchFamily="2" charset="-34"/>
                <a:cs typeface="Prompt" panose="00000800000000000000" pitchFamily="2" charset="-34"/>
              </a:rPr>
              <a:t>Lean construction </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2" name="Rectángulo 1"/>
          <p:cNvSpPr/>
          <p:nvPr/>
        </p:nvSpPr>
        <p:spPr>
          <a:xfrm>
            <a:off x="1613057" y="3815697"/>
            <a:ext cx="5237331" cy="369332"/>
          </a:xfrm>
          <a:prstGeom prst="rect">
            <a:avLst/>
          </a:prstGeom>
        </p:spPr>
        <p:txBody>
          <a:bodyPr wrap="none">
            <a:spAutoFit/>
          </a:bodyPr>
          <a:lstStyle/>
          <a:p>
            <a:r>
              <a:rPr lang="es-MX" b="1" dirty="0" smtClean="0">
                <a:solidFill>
                  <a:schemeClr val="bg1"/>
                </a:solidFill>
                <a:latin typeface="var(--heading-font-family)"/>
              </a:rPr>
              <a:t>DOCENTE: Mg. Ing. Francisco Lopez Bejarano</a:t>
            </a:r>
            <a:endParaRPr lang="es-MX" b="1" i="0" dirty="0">
              <a:solidFill>
                <a:schemeClr val="bg1"/>
              </a:solidFill>
              <a:effectLst/>
              <a:latin typeface="var(--heading-font-family)"/>
            </a:endParaRPr>
          </a:p>
        </p:txBody>
      </p:sp>
    </p:spTree>
    <p:extLst>
      <p:ext uri="{BB962C8B-B14F-4D97-AF65-F5344CB8AC3E}">
        <p14:creationId xmlns:p14="http://schemas.microsoft.com/office/powerpoint/2010/main" val="1825619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968450" y="2183845"/>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a:t>
            </a:r>
            <a:r>
              <a:rPr lang="es-ES" dirty="0" smtClean="0">
                <a:solidFill>
                  <a:srgbClr val="00F3B5"/>
                </a:solidFill>
                <a:latin typeface="Prompt" panose="00000800000000000000" pitchFamily="2" charset="-34"/>
                <a:cs typeface="Prompt" panose="00000800000000000000" pitchFamily="2" charset="-34"/>
              </a:rPr>
              <a:t>9</a:t>
            </a:r>
            <a:endParaRPr lang="es-ES" dirty="0">
              <a:solidFill>
                <a:srgbClr val="00F3B5"/>
              </a:solidFill>
              <a:latin typeface="Prompt" panose="00000800000000000000" pitchFamily="2" charset="-34"/>
              <a:cs typeface="Prompt" panose="00000800000000000000" pitchFamily="2" charset="-34"/>
            </a:endParaRPr>
          </a:p>
        </p:txBody>
      </p:sp>
      <p:sp>
        <p:nvSpPr>
          <p:cNvPr id="5" name="CuadroTexto 4"/>
          <p:cNvSpPr txBox="1"/>
          <p:nvPr/>
        </p:nvSpPr>
        <p:spPr>
          <a:xfrm>
            <a:off x="755374" y="2888974"/>
            <a:ext cx="10853530" cy="1938992"/>
          </a:xfrm>
          <a:prstGeom prst="rect">
            <a:avLst/>
          </a:prstGeom>
          <a:noFill/>
        </p:spPr>
        <p:txBody>
          <a:bodyPr wrap="square" rtlCol="0">
            <a:spAutoFit/>
          </a:bodyPr>
          <a:lstStyle/>
          <a:p>
            <a:r>
              <a:rPr lang="es-MX" sz="2400" dirty="0">
                <a:solidFill>
                  <a:schemeClr val="bg1"/>
                </a:solidFill>
              </a:rPr>
              <a:t>*</a:t>
            </a:r>
            <a:r>
              <a:rPr lang="es-MX" sz="2400" dirty="0" smtClean="0">
                <a:solidFill>
                  <a:schemeClr val="bg1"/>
                </a:solidFill>
              </a:rPr>
              <a:t>Total </a:t>
            </a:r>
            <a:r>
              <a:rPr lang="es-MX" sz="2400" dirty="0" err="1">
                <a:solidFill>
                  <a:schemeClr val="bg1"/>
                </a:solidFill>
              </a:rPr>
              <a:t>Quality</a:t>
            </a:r>
            <a:r>
              <a:rPr lang="es-MX" sz="2400" dirty="0">
                <a:solidFill>
                  <a:schemeClr val="bg1"/>
                </a:solidFill>
              </a:rPr>
              <a:t> Management (TQM). </a:t>
            </a:r>
            <a:endParaRPr lang="es-MX" sz="2400" dirty="0" smtClean="0">
              <a:solidFill>
                <a:schemeClr val="bg1"/>
              </a:solidFill>
            </a:endParaRPr>
          </a:p>
          <a:p>
            <a:r>
              <a:rPr lang="es-MX" sz="2400" dirty="0">
                <a:solidFill>
                  <a:schemeClr val="bg1"/>
                </a:solidFill>
              </a:rPr>
              <a:t>*</a:t>
            </a:r>
            <a:r>
              <a:rPr lang="es-MX" sz="2400" dirty="0" smtClean="0">
                <a:solidFill>
                  <a:schemeClr val="bg1"/>
                </a:solidFill>
              </a:rPr>
              <a:t>Aplicación </a:t>
            </a:r>
            <a:r>
              <a:rPr lang="es-MX" sz="2400" dirty="0">
                <a:solidFill>
                  <a:schemeClr val="bg1"/>
                </a:solidFill>
              </a:rPr>
              <a:t>de Diagramas de Causa y Efecto en Problemas Comunes. </a:t>
            </a:r>
            <a:endParaRPr lang="es-MX" sz="2400" dirty="0" smtClean="0">
              <a:solidFill>
                <a:schemeClr val="bg1"/>
              </a:solidFill>
            </a:endParaRPr>
          </a:p>
          <a:p>
            <a:r>
              <a:rPr lang="es-MX" sz="2400" dirty="0">
                <a:solidFill>
                  <a:schemeClr val="bg1"/>
                </a:solidFill>
              </a:rPr>
              <a:t>*</a:t>
            </a:r>
            <a:r>
              <a:rPr lang="es-MX" sz="2400" dirty="0" smtClean="0">
                <a:solidFill>
                  <a:schemeClr val="bg1"/>
                </a:solidFill>
              </a:rPr>
              <a:t>Uso </a:t>
            </a:r>
            <a:r>
              <a:rPr lang="es-MX" sz="2400" dirty="0">
                <a:solidFill>
                  <a:schemeClr val="bg1"/>
                </a:solidFill>
              </a:rPr>
              <a:t>de Tablas de Control Estadístico en Construcción</a:t>
            </a:r>
            <a:r>
              <a:rPr lang="es-MX" sz="2400" dirty="0" smtClean="0">
                <a:solidFill>
                  <a:schemeClr val="bg1"/>
                </a:solidFill>
              </a:rPr>
              <a:t>.</a:t>
            </a:r>
          </a:p>
          <a:p>
            <a:r>
              <a:rPr lang="es-MX" sz="2400" dirty="0" smtClean="0">
                <a:solidFill>
                  <a:schemeClr val="bg1"/>
                </a:solidFill>
              </a:rPr>
              <a:t>*Integración </a:t>
            </a:r>
            <a:r>
              <a:rPr lang="es-MX" sz="2400" dirty="0">
                <a:solidFill>
                  <a:schemeClr val="bg1"/>
                </a:solidFill>
              </a:rPr>
              <a:t>de Herramientas Estadísticas en Proyectos Reales. </a:t>
            </a:r>
            <a:endParaRPr lang="es-MX" sz="2400" dirty="0" smtClean="0">
              <a:solidFill>
                <a:schemeClr val="bg1"/>
              </a:solidFill>
            </a:endParaRPr>
          </a:p>
          <a:p>
            <a:r>
              <a:rPr lang="es-MX" sz="2400" dirty="0" smtClean="0">
                <a:solidFill>
                  <a:schemeClr val="bg1"/>
                </a:solidFill>
              </a:rPr>
              <a:t>*Lecciones </a:t>
            </a:r>
            <a:r>
              <a:rPr lang="es-MX" sz="2400" dirty="0">
                <a:solidFill>
                  <a:schemeClr val="bg1"/>
                </a:solidFill>
              </a:rPr>
              <a:t>Aprendidas y Mejora Continua con Herramientas TQM.</a:t>
            </a:r>
            <a:endParaRPr lang="es-MX" sz="2400" dirty="0" smtClean="0">
              <a:solidFill>
                <a:schemeClr val="bg1"/>
              </a:solidFill>
            </a:endParaRPr>
          </a:p>
        </p:txBody>
      </p:sp>
    </p:spTree>
    <p:extLst>
      <p:ext uri="{BB962C8B-B14F-4D97-AF65-F5344CB8AC3E}">
        <p14:creationId xmlns:p14="http://schemas.microsoft.com/office/powerpoint/2010/main" val="1071336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192697" y="2729948"/>
            <a:ext cx="7673008" cy="369332"/>
          </a:xfrm>
          <a:prstGeom prst="rect">
            <a:avLst/>
          </a:prstGeom>
        </p:spPr>
        <p:txBody>
          <a:bodyPr wrap="square">
            <a:spAutoFit/>
          </a:bodyPr>
          <a:lstStyle/>
          <a:p>
            <a:pPr algn="just"/>
            <a:endParaRPr lang="es-PE" dirty="0"/>
          </a:p>
        </p:txBody>
      </p:sp>
      <p:sp>
        <p:nvSpPr>
          <p:cNvPr id="7" name="Rectángulo 6"/>
          <p:cNvSpPr/>
          <p:nvPr/>
        </p:nvSpPr>
        <p:spPr>
          <a:xfrm>
            <a:off x="1192697" y="3785799"/>
            <a:ext cx="8799444" cy="369332"/>
          </a:xfrm>
          <a:prstGeom prst="rect">
            <a:avLst/>
          </a:prstGeom>
        </p:spPr>
        <p:txBody>
          <a:bodyPr wrap="square">
            <a:spAutoFit/>
          </a:bodyPr>
          <a:lstStyle/>
          <a:p>
            <a:pPr algn="just"/>
            <a:endParaRPr lang="es-MX" i="0" dirty="0">
              <a:solidFill>
                <a:srgbClr val="212529"/>
              </a:solidFill>
              <a:effectLst/>
            </a:endParaRPr>
          </a:p>
        </p:txBody>
      </p:sp>
      <p:sp>
        <p:nvSpPr>
          <p:cNvPr id="2" name="Rectángulo 1"/>
          <p:cNvSpPr/>
          <p:nvPr/>
        </p:nvSpPr>
        <p:spPr>
          <a:xfrm>
            <a:off x="2067339" y="461377"/>
            <a:ext cx="6930887" cy="400110"/>
          </a:xfrm>
          <a:prstGeom prst="rect">
            <a:avLst/>
          </a:prstGeom>
        </p:spPr>
        <p:txBody>
          <a:bodyPr wrap="square">
            <a:spAutoFit/>
          </a:bodyPr>
          <a:lstStyle/>
          <a:p>
            <a:pPr algn="ctr"/>
            <a:r>
              <a:rPr lang="es-MX" sz="2000" b="1" dirty="0"/>
              <a:t>Total </a:t>
            </a:r>
            <a:r>
              <a:rPr lang="es-MX" sz="2000" b="1" dirty="0" err="1"/>
              <a:t>Quality</a:t>
            </a:r>
            <a:r>
              <a:rPr lang="es-MX" sz="2000" b="1" dirty="0"/>
              <a:t> Management (TQM</a:t>
            </a:r>
            <a:r>
              <a:rPr lang="es-MX" sz="2000" b="1" dirty="0" smtClean="0"/>
              <a:t>) </a:t>
            </a:r>
            <a:endParaRPr lang="es-PE" sz="2000" b="1" dirty="0"/>
          </a:p>
        </p:txBody>
      </p:sp>
      <p:sp>
        <p:nvSpPr>
          <p:cNvPr id="6" name="Rectángulo 5"/>
          <p:cNvSpPr/>
          <p:nvPr/>
        </p:nvSpPr>
        <p:spPr>
          <a:xfrm>
            <a:off x="477077" y="1351722"/>
            <a:ext cx="9515063" cy="2862322"/>
          </a:xfrm>
          <a:prstGeom prst="rect">
            <a:avLst/>
          </a:prstGeom>
        </p:spPr>
        <p:txBody>
          <a:bodyPr wrap="square">
            <a:spAutoFit/>
          </a:bodyPr>
          <a:lstStyle/>
          <a:p>
            <a:r>
              <a:rPr lang="es-MX" dirty="0"/>
              <a:t>La gestión de calidad (QM) implica todas las actividades y medidas coordinadas para aumentar la calidad de los productos o servicios en una empresa. El objetivo de QM es controlar y optimizar la calidad del producto o servicio y la satisfacción del cliente.</a:t>
            </a:r>
            <a:br>
              <a:rPr lang="es-MX" dirty="0"/>
            </a:br>
            <a:r>
              <a:rPr lang="es-MX" dirty="0"/>
              <a:t/>
            </a:r>
            <a:br>
              <a:rPr lang="es-MX" dirty="0"/>
            </a:br>
            <a:r>
              <a:rPr lang="es-MX" dirty="0"/>
              <a:t>La gestión de calidad total (TQM) es un método de gestión de calidad con un enfoque holístico y considera tanto los objetivos corporativos como los requisitos legales en todos los niveles de una empresa con la participación de todos los empleados.</a:t>
            </a:r>
            <a:br>
              <a:rPr lang="es-MX" dirty="0"/>
            </a:br>
            <a:r>
              <a:rPr lang="es-MX" dirty="0"/>
              <a:t/>
            </a:r>
            <a:br>
              <a:rPr lang="es-MX" dirty="0"/>
            </a:br>
            <a:r>
              <a:rPr lang="es-MX" dirty="0"/>
              <a:t>Hasta principios del siglo XX, la opinión predominante era que la gestión podía limitarse a definir y controlar los procesos de calidad, pero esto cambió con el concepto de TQM.</a:t>
            </a:r>
            <a:endParaRPr lang="es-PE" dirty="0"/>
          </a:p>
        </p:txBody>
      </p:sp>
      <p:sp>
        <p:nvSpPr>
          <p:cNvPr id="9" name="Rectángulo 8"/>
          <p:cNvSpPr/>
          <p:nvPr/>
        </p:nvSpPr>
        <p:spPr>
          <a:xfrm>
            <a:off x="477077" y="4214044"/>
            <a:ext cx="9515063" cy="1477328"/>
          </a:xfrm>
          <a:prstGeom prst="rect">
            <a:avLst/>
          </a:prstGeom>
        </p:spPr>
        <p:txBody>
          <a:bodyPr wrap="square">
            <a:spAutoFit/>
          </a:bodyPr>
          <a:lstStyle/>
          <a:p>
            <a:pPr algn="just"/>
            <a:r>
              <a:rPr lang="es-MX" dirty="0"/>
              <a:t>La base de TQM es el concepto de que la calidad no solo está presente en una capa de una corporación, sino que todos en la organización contribuyen a ella. En consecuencia, TQM amplía la importancia de la gestión de la calidad en una empresa y, al mismo tiempo, sitúa al cliente en el centro de todas las consideraciones. Con TQM, las empresas se concentran en la QM integrada y centrada en procesos, la mejora continua y la toma de decisiones basada en hechos.</a:t>
            </a:r>
            <a:endParaRPr lang="es-PE" dirty="0"/>
          </a:p>
        </p:txBody>
      </p:sp>
    </p:spTree>
    <p:extLst>
      <p:ext uri="{BB962C8B-B14F-4D97-AF65-F5344CB8AC3E}">
        <p14:creationId xmlns:p14="http://schemas.microsoft.com/office/powerpoint/2010/main" val="75721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596348" y="516835"/>
            <a:ext cx="8547652" cy="1477328"/>
          </a:xfrm>
          <a:prstGeom prst="rect">
            <a:avLst/>
          </a:prstGeom>
        </p:spPr>
        <p:txBody>
          <a:bodyPr wrap="square">
            <a:spAutoFit/>
          </a:bodyPr>
          <a:lstStyle/>
          <a:p>
            <a:pPr algn="just"/>
            <a:r>
              <a:rPr lang="es-MX" dirty="0"/>
              <a:t>TQM se puede dividir en dos secciones principales: </a:t>
            </a:r>
            <a:r>
              <a:rPr lang="es-MX" b="1" dirty="0"/>
              <a:t>Garantía de calidad y control de calidad. </a:t>
            </a:r>
            <a:r>
              <a:rPr lang="es-MX" dirty="0"/>
              <a:t>La garantía de la calidad se ocupa principalmente de la documentación y los informes. Ayuda a las empresas a obtener y mantener certificaciones de acuerdo con las normas y reglamentos de QM. El control de calidad, por otra parte, se centra en la medición del proceso y el análisis de datos para garantizar la calidad.</a:t>
            </a:r>
            <a:endParaRPr lang="es-PE" dirty="0"/>
          </a:p>
        </p:txBody>
      </p:sp>
      <p:pic>
        <p:nvPicPr>
          <p:cNvPr id="4" name="Imagen 3"/>
          <p:cNvPicPr>
            <a:picLocks noChangeAspect="1"/>
          </p:cNvPicPr>
          <p:nvPr/>
        </p:nvPicPr>
        <p:blipFill>
          <a:blip r:embed="rId2"/>
          <a:stretch>
            <a:fillRect/>
          </a:stretch>
        </p:blipFill>
        <p:spPr>
          <a:xfrm>
            <a:off x="596348" y="2331269"/>
            <a:ext cx="9364382" cy="4077269"/>
          </a:xfrm>
          <a:prstGeom prst="rect">
            <a:avLst/>
          </a:prstGeom>
        </p:spPr>
      </p:pic>
    </p:spTree>
    <p:extLst>
      <p:ext uri="{BB962C8B-B14F-4D97-AF65-F5344CB8AC3E}">
        <p14:creationId xmlns:p14="http://schemas.microsoft.com/office/powerpoint/2010/main" val="36339414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3564835" y="5976730"/>
            <a:ext cx="1192695" cy="357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Rectángulo 2"/>
          <p:cNvSpPr/>
          <p:nvPr/>
        </p:nvSpPr>
        <p:spPr>
          <a:xfrm>
            <a:off x="887895" y="583095"/>
            <a:ext cx="8454887" cy="1754326"/>
          </a:xfrm>
          <a:prstGeom prst="rect">
            <a:avLst/>
          </a:prstGeom>
        </p:spPr>
        <p:txBody>
          <a:bodyPr wrap="square">
            <a:spAutoFit/>
          </a:bodyPr>
          <a:lstStyle/>
          <a:p>
            <a:pPr algn="ctr"/>
            <a:r>
              <a:rPr lang="es-MX" b="1" dirty="0"/>
              <a:t>¿Cuáles son los 8 principios de TQM?</a:t>
            </a:r>
          </a:p>
          <a:p>
            <a:r>
              <a:rPr lang="es-MX" dirty="0"/>
              <a:t>Los principios de TQM son un conjunto de enfoques de gestión para una organización orientada al cliente que integra a todos los empleados en la mejora continua. Utiliza estrategia, datos y comunicación eficiente para integrar la disciplina de calidad en la cultura y las actividades corporativas. Se pueden encontrar múltiples conceptos de TQM en los sistemas QM modernos. En resumen, hay ocho principios de TQM:</a:t>
            </a:r>
            <a:endParaRPr lang="es-MX" b="0" i="0" dirty="0">
              <a:effectLst/>
            </a:endParaRPr>
          </a:p>
        </p:txBody>
      </p:sp>
      <p:pic>
        <p:nvPicPr>
          <p:cNvPr id="4" name="Imagen 3"/>
          <p:cNvPicPr>
            <a:picLocks noChangeAspect="1"/>
          </p:cNvPicPr>
          <p:nvPr/>
        </p:nvPicPr>
        <p:blipFill>
          <a:blip r:embed="rId2"/>
          <a:stretch>
            <a:fillRect/>
          </a:stretch>
        </p:blipFill>
        <p:spPr>
          <a:xfrm>
            <a:off x="3140765" y="2550026"/>
            <a:ext cx="4497208" cy="3993969"/>
          </a:xfrm>
          <a:prstGeom prst="rect">
            <a:avLst/>
          </a:prstGeom>
        </p:spPr>
      </p:pic>
    </p:spTree>
    <p:extLst>
      <p:ext uri="{BB962C8B-B14F-4D97-AF65-F5344CB8AC3E}">
        <p14:creationId xmlns:p14="http://schemas.microsoft.com/office/powerpoint/2010/main" val="8102938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821635" y="1046922"/>
            <a:ext cx="8759687" cy="4247317"/>
          </a:xfrm>
          <a:prstGeom prst="rect">
            <a:avLst/>
          </a:prstGeom>
        </p:spPr>
        <p:txBody>
          <a:bodyPr wrap="square">
            <a:spAutoFit/>
          </a:bodyPr>
          <a:lstStyle/>
          <a:p>
            <a:pPr>
              <a:buFont typeface="+mj-lt"/>
              <a:buAutoNum type="arabicPeriod"/>
            </a:pPr>
            <a:r>
              <a:rPr lang="es-MX" b="1" dirty="0">
                <a:latin typeface="Titillium"/>
              </a:rPr>
              <a:t>Centrarse en el cliente</a:t>
            </a:r>
            <a:r>
              <a:rPr lang="es-MX" dirty="0">
                <a:latin typeface="Titillium"/>
              </a:rPr>
              <a:t/>
            </a:r>
            <a:br>
              <a:rPr lang="es-MX" dirty="0">
                <a:latin typeface="Titillium"/>
              </a:rPr>
            </a:br>
            <a:r>
              <a:rPr lang="es-MX" dirty="0">
                <a:latin typeface="Titillium"/>
              </a:rPr>
              <a:t>El cliente determina el nivel de calidad. Si los clientes están satisfechos, las mejoras son efectivas.</a:t>
            </a:r>
          </a:p>
          <a:p>
            <a:pPr>
              <a:buFont typeface="+mj-lt"/>
              <a:buAutoNum type="arabicPeriod"/>
            </a:pPr>
            <a:r>
              <a:rPr lang="es-MX" b="1" dirty="0">
                <a:latin typeface="Titillium"/>
              </a:rPr>
              <a:t>Participación del empleado</a:t>
            </a:r>
            <a:r>
              <a:rPr lang="es-MX" dirty="0">
                <a:latin typeface="Titillium"/>
              </a:rPr>
              <a:t/>
            </a:r>
            <a:br>
              <a:rPr lang="es-MX" dirty="0">
                <a:latin typeface="Titillium"/>
              </a:rPr>
            </a:br>
            <a:r>
              <a:rPr lang="es-MX" dirty="0">
                <a:latin typeface="Titillium"/>
              </a:rPr>
              <a:t>Todos los empleados (todas las funciones en todos los niveles) están involucrados en los objetivos de la organización y la mejora continua.</a:t>
            </a:r>
          </a:p>
          <a:p>
            <a:pPr>
              <a:buFont typeface="+mj-lt"/>
              <a:buAutoNum type="arabicPeriod"/>
            </a:pPr>
            <a:r>
              <a:rPr lang="es-MX" b="1" dirty="0">
                <a:latin typeface="Titillium"/>
              </a:rPr>
              <a:t>Orientado a los procesos</a:t>
            </a:r>
            <a:r>
              <a:rPr lang="es-MX" dirty="0">
                <a:latin typeface="Titillium"/>
              </a:rPr>
              <a:t/>
            </a:r>
            <a:br>
              <a:rPr lang="es-MX" dirty="0">
                <a:latin typeface="Titillium"/>
              </a:rPr>
            </a:br>
            <a:r>
              <a:rPr lang="es-MX" dirty="0">
                <a:latin typeface="Titillium"/>
              </a:rPr>
              <a:t>Concéntrese en los procesos comerciales, incluidos todos los pasos de trabajo individuales y el monitoreo persistente.</a:t>
            </a:r>
          </a:p>
          <a:p>
            <a:pPr>
              <a:buFont typeface="+mj-lt"/>
              <a:buAutoNum type="arabicPeriod"/>
            </a:pPr>
            <a:r>
              <a:rPr lang="es-MX" b="1" dirty="0">
                <a:latin typeface="Titillium"/>
              </a:rPr>
              <a:t>Sistema integrado</a:t>
            </a:r>
            <a:r>
              <a:rPr lang="es-MX" dirty="0">
                <a:latin typeface="Titillium"/>
              </a:rPr>
              <a:t/>
            </a:r>
            <a:br>
              <a:rPr lang="es-MX" dirty="0">
                <a:latin typeface="Titillium"/>
              </a:rPr>
            </a:br>
            <a:r>
              <a:rPr lang="es-MX" dirty="0">
                <a:latin typeface="Titillium"/>
              </a:rPr>
              <a:t>Los departamentos estructurados verticalmente se relacionan con los procesos comerciales horizontales.</a:t>
            </a:r>
          </a:p>
          <a:p>
            <a:pPr>
              <a:buFont typeface="+mj-lt"/>
              <a:buAutoNum type="arabicPeriod"/>
            </a:pPr>
            <a:r>
              <a:rPr lang="es-MX" b="1" dirty="0">
                <a:latin typeface="Titillium"/>
              </a:rPr>
              <a:t>Enfoque estratégico y sistemático</a:t>
            </a:r>
            <a:r>
              <a:rPr lang="es-MX" dirty="0">
                <a:latin typeface="Titillium"/>
              </a:rPr>
              <a:t/>
            </a:r>
            <a:br>
              <a:rPr lang="es-MX" dirty="0">
                <a:latin typeface="Titillium"/>
              </a:rPr>
            </a:br>
            <a:r>
              <a:rPr lang="es-MX" dirty="0">
                <a:latin typeface="Titillium"/>
              </a:rPr>
              <a:t>Combinación de un enfoque estratégico y sistemático para hacer realidad las visiones y los objetivos de una empresa.</a:t>
            </a:r>
            <a:endParaRPr lang="es-MX" b="0" i="0" dirty="0">
              <a:effectLst/>
              <a:latin typeface="Titillium"/>
            </a:endParaRPr>
          </a:p>
        </p:txBody>
      </p:sp>
    </p:spTree>
    <p:extLst>
      <p:ext uri="{BB962C8B-B14F-4D97-AF65-F5344CB8AC3E}">
        <p14:creationId xmlns:p14="http://schemas.microsoft.com/office/powerpoint/2010/main" val="19699306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96348" y="967410"/>
            <a:ext cx="8547652" cy="3416320"/>
          </a:xfrm>
          <a:prstGeom prst="rect">
            <a:avLst/>
          </a:prstGeom>
        </p:spPr>
        <p:txBody>
          <a:bodyPr wrap="square">
            <a:spAutoFit/>
          </a:bodyPr>
          <a:lstStyle/>
          <a:p>
            <a:pPr>
              <a:buFont typeface="+mj-lt"/>
              <a:buAutoNum type="arabicPeriod"/>
            </a:pPr>
            <a:r>
              <a:rPr lang="es-MX" b="1" dirty="0"/>
              <a:t>Toma de decisiones basada en hechos</a:t>
            </a:r>
            <a:r>
              <a:rPr lang="es-MX" dirty="0"/>
              <a:t/>
            </a:r>
            <a:br>
              <a:rPr lang="es-MX" dirty="0"/>
            </a:br>
            <a:r>
              <a:rPr lang="es-MX" dirty="0"/>
              <a:t>TQM requiere que una organización recopile y analice datos continuamente para aumentar la precisión de las decisiones, generar consenso y hacer predicciones basadas en el pasado.</a:t>
            </a:r>
          </a:p>
          <a:p>
            <a:pPr>
              <a:buFont typeface="+mj-lt"/>
              <a:buAutoNum type="arabicPeriod"/>
            </a:pPr>
            <a:r>
              <a:rPr lang="es-MX" b="1" dirty="0"/>
              <a:t>Comunicación</a:t>
            </a:r>
            <a:r>
              <a:rPr lang="es-MX" dirty="0"/>
              <a:t/>
            </a:r>
            <a:br>
              <a:rPr lang="es-MX" dirty="0"/>
            </a:br>
            <a:r>
              <a:rPr lang="es-MX" dirty="0"/>
              <a:t>Comunicación</a:t>
            </a:r>
            <a:r>
              <a:rPr lang="es-MX" dirty="0"/>
              <a:t> eficaz para mantener la moral y la motivación de los empleados en todos los niveles. La comunicación implica, estrategias, métodos e información siempre actualizada.</a:t>
            </a:r>
          </a:p>
          <a:p>
            <a:pPr>
              <a:buFont typeface="+mj-lt"/>
              <a:buAutoNum type="arabicPeriod"/>
            </a:pPr>
            <a:r>
              <a:rPr lang="es-MX" b="1" dirty="0"/>
              <a:t>Mejora continua</a:t>
            </a:r>
            <a:r>
              <a:rPr lang="es-MX" dirty="0"/>
              <a:t/>
            </a:r>
            <a:br>
              <a:rPr lang="es-MX" dirty="0"/>
            </a:br>
            <a:r>
              <a:rPr lang="es-MX" dirty="0"/>
              <a:t>La mejora continua impulsa a una empresa a ser tanto analítica como creativa para volverse más competitiva y eficiente en el cumplimiento de las expectativas de las partes interesadas.</a:t>
            </a:r>
            <a:endParaRPr lang="es-MX" b="0" i="0" dirty="0">
              <a:effectLst/>
            </a:endParaRPr>
          </a:p>
        </p:txBody>
      </p:sp>
    </p:spTree>
    <p:extLst>
      <p:ext uri="{BB962C8B-B14F-4D97-AF65-F5344CB8AC3E}">
        <p14:creationId xmlns:p14="http://schemas.microsoft.com/office/powerpoint/2010/main" val="18838732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107096" y="527638"/>
            <a:ext cx="5751443" cy="400110"/>
          </a:xfrm>
          <a:prstGeom prst="rect">
            <a:avLst/>
          </a:prstGeom>
        </p:spPr>
        <p:txBody>
          <a:bodyPr wrap="square">
            <a:spAutoFit/>
          </a:bodyPr>
          <a:lstStyle/>
          <a:p>
            <a:pPr algn="ctr"/>
            <a:r>
              <a:rPr lang="es-PE" sz="2000" b="1" dirty="0"/>
              <a:t>Implementación TQM</a:t>
            </a:r>
            <a:endParaRPr lang="es-PE" sz="2000" dirty="0"/>
          </a:p>
        </p:txBody>
      </p:sp>
      <p:sp>
        <p:nvSpPr>
          <p:cNvPr id="6" name="Rectángulo 5"/>
          <p:cNvSpPr/>
          <p:nvPr/>
        </p:nvSpPr>
        <p:spPr>
          <a:xfrm>
            <a:off x="583096" y="1046922"/>
            <a:ext cx="8560904" cy="923330"/>
          </a:xfrm>
          <a:prstGeom prst="rect">
            <a:avLst/>
          </a:prstGeom>
        </p:spPr>
        <p:txBody>
          <a:bodyPr wrap="square">
            <a:spAutoFit/>
          </a:bodyPr>
          <a:lstStyle/>
          <a:p>
            <a:pPr algn="just"/>
            <a:r>
              <a:rPr lang="es-MX" dirty="0"/>
              <a:t>La implementación de TQM requiere que la empresa y su gerencia estén comprometidas con la mejora continua. El éxito de TQM solo se puede lograr a través de la mejora constante y el aprendizaje continuo. </a:t>
            </a:r>
            <a:endParaRPr lang="es-PE" dirty="0"/>
          </a:p>
        </p:txBody>
      </p:sp>
      <p:pic>
        <p:nvPicPr>
          <p:cNvPr id="7" name="Imagen 6"/>
          <p:cNvPicPr>
            <a:picLocks noChangeAspect="1"/>
          </p:cNvPicPr>
          <p:nvPr/>
        </p:nvPicPr>
        <p:blipFill>
          <a:blip r:embed="rId2"/>
          <a:stretch>
            <a:fillRect/>
          </a:stretch>
        </p:blipFill>
        <p:spPr>
          <a:xfrm>
            <a:off x="3445035" y="2089426"/>
            <a:ext cx="4639322" cy="4210638"/>
          </a:xfrm>
          <a:prstGeom prst="rect">
            <a:avLst/>
          </a:prstGeom>
        </p:spPr>
      </p:pic>
    </p:spTree>
    <p:extLst>
      <p:ext uri="{BB962C8B-B14F-4D97-AF65-F5344CB8AC3E}">
        <p14:creationId xmlns:p14="http://schemas.microsoft.com/office/powerpoint/2010/main" val="12304144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97565" y="808383"/>
            <a:ext cx="8746435" cy="2585323"/>
          </a:xfrm>
          <a:prstGeom prst="rect">
            <a:avLst/>
          </a:prstGeom>
        </p:spPr>
        <p:txBody>
          <a:bodyPr wrap="square">
            <a:spAutoFit/>
          </a:bodyPr>
          <a:lstStyle/>
          <a:p>
            <a:pPr algn="just">
              <a:buFont typeface="Arial" panose="020B0604020202020204" pitchFamily="34" charset="0"/>
              <a:buChar char="•"/>
            </a:pPr>
            <a:r>
              <a:rPr lang="es-MX" dirty="0"/>
              <a:t>Determine su nivel de administración detrás del proceso de transformación.</a:t>
            </a:r>
          </a:p>
          <a:p>
            <a:pPr algn="just">
              <a:buFont typeface="Arial" panose="020B0604020202020204" pitchFamily="34" charset="0"/>
              <a:buChar char="•"/>
            </a:pPr>
            <a:r>
              <a:rPr lang="es-MX" dirty="0"/>
              <a:t>Proporcione todos los recursos necesarios y un entorno de trabajo en el que los empleados puedan participar en la consecución de los objetivos.</a:t>
            </a:r>
          </a:p>
          <a:p>
            <a:pPr algn="just">
              <a:buFont typeface="Arial" panose="020B0604020202020204" pitchFamily="34" charset="0"/>
              <a:buChar char="•"/>
            </a:pPr>
            <a:r>
              <a:rPr lang="es-MX" dirty="0"/>
              <a:t>Asegure un sentido de pertenencia compatible entre los empleados (elogio, reconocimiento, motivación).</a:t>
            </a:r>
          </a:p>
          <a:p>
            <a:pPr algn="just">
              <a:buFont typeface="Arial" panose="020B0604020202020204" pitchFamily="34" charset="0"/>
              <a:buChar char="•"/>
            </a:pPr>
            <a:r>
              <a:rPr lang="es-MX" dirty="0"/>
              <a:t>Establezca una línea de comunicación oficial para que todos los empleados estén al tanto de las actualizaciones, los cambios de política y los nuevos procesos.</a:t>
            </a:r>
          </a:p>
          <a:p>
            <a:pPr algn="just">
              <a:buFont typeface="Arial" panose="020B0604020202020204" pitchFamily="34" charset="0"/>
              <a:buChar char="•"/>
            </a:pPr>
            <a:r>
              <a:rPr lang="es-MX" dirty="0"/>
              <a:t>Proporcione capacitación a los empleados que necesitan aprender nuevos procesos y desean explorar nuevas oportunidades.</a:t>
            </a:r>
            <a:endParaRPr lang="es-MX" b="0" i="0" dirty="0">
              <a:effectLst/>
            </a:endParaRPr>
          </a:p>
        </p:txBody>
      </p:sp>
      <p:sp>
        <p:nvSpPr>
          <p:cNvPr id="3" name="Rectángulo 2"/>
          <p:cNvSpPr/>
          <p:nvPr/>
        </p:nvSpPr>
        <p:spPr>
          <a:xfrm>
            <a:off x="397565" y="3393706"/>
            <a:ext cx="8640418" cy="2031325"/>
          </a:xfrm>
          <a:prstGeom prst="rect">
            <a:avLst/>
          </a:prstGeom>
        </p:spPr>
        <p:txBody>
          <a:bodyPr wrap="square">
            <a:spAutoFit/>
          </a:bodyPr>
          <a:lstStyle/>
          <a:p>
            <a:pPr algn="just">
              <a:buFont typeface="Arial" panose="020B0604020202020204" pitchFamily="34" charset="0"/>
              <a:buChar char="•"/>
            </a:pPr>
            <a:r>
              <a:rPr lang="es-MX" dirty="0"/>
              <a:t>Obtenga habilidades metodológicas (por ejemplo, CIP, técnicas de gestión, gestión de proyectos).</a:t>
            </a:r>
          </a:p>
          <a:p>
            <a:pPr algn="just">
              <a:buFont typeface="Arial" panose="020B0604020202020204" pitchFamily="34" charset="0"/>
              <a:buChar char="•"/>
            </a:pPr>
            <a:r>
              <a:rPr lang="es-MX" dirty="0"/>
              <a:t>Implemente políticas para establecer mejoras de productos, procesos y sistemas como objetivos medibles para individuos, equipos y departamentos.</a:t>
            </a:r>
          </a:p>
          <a:p>
            <a:pPr algn="just">
              <a:buFont typeface="Arial" panose="020B0604020202020204" pitchFamily="34" charset="0"/>
              <a:buChar char="•"/>
            </a:pPr>
            <a:r>
              <a:rPr lang="es-MX" dirty="0"/>
              <a:t>Reúna, analice y revise los datos para asegurarse de que sean confiables y precisos.</a:t>
            </a:r>
          </a:p>
          <a:p>
            <a:pPr algn="just"/>
            <a:r>
              <a:rPr lang="es-MX" dirty="0"/>
              <a:t>Implementar TQM en una empresa es un paso complejo que requiere mucho esfuerzo. No obstante, a la larga, puede aumentar significativamente el éxito de una empresa.</a:t>
            </a:r>
            <a:endParaRPr lang="es-MX" b="0" i="0" dirty="0">
              <a:effectLst/>
            </a:endParaRPr>
          </a:p>
        </p:txBody>
      </p:sp>
    </p:spTree>
    <p:extLst>
      <p:ext uri="{BB962C8B-B14F-4D97-AF65-F5344CB8AC3E}">
        <p14:creationId xmlns:p14="http://schemas.microsoft.com/office/powerpoint/2010/main" val="2139870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83096" y="636104"/>
            <a:ext cx="8560904" cy="4247317"/>
          </a:xfrm>
          <a:prstGeom prst="rect">
            <a:avLst/>
          </a:prstGeom>
        </p:spPr>
        <p:txBody>
          <a:bodyPr wrap="square">
            <a:spAutoFit/>
          </a:bodyPr>
          <a:lstStyle/>
          <a:p>
            <a:pPr algn="just"/>
            <a:r>
              <a:rPr lang="es-MX" b="1" dirty="0"/>
              <a:t>Ventajas</a:t>
            </a:r>
          </a:p>
          <a:p>
            <a:pPr algn="just"/>
            <a:r>
              <a:rPr lang="es-MX" dirty="0"/>
              <a:t>Las ventajas de introducir un TQM son numerosas. Estas son los más críticas:</a:t>
            </a:r>
          </a:p>
          <a:p>
            <a:pPr algn="just">
              <a:buFont typeface="Arial" panose="020B0604020202020204" pitchFamily="34" charset="0"/>
              <a:buChar char="•"/>
            </a:pPr>
            <a:r>
              <a:rPr lang="es-MX" dirty="0"/>
              <a:t>Mayor rentabilidad y productividad.</a:t>
            </a:r>
          </a:p>
          <a:p>
            <a:pPr algn="just">
              <a:buFont typeface="Arial" panose="020B0604020202020204" pitchFamily="34" charset="0"/>
              <a:buChar char="•"/>
            </a:pPr>
            <a:r>
              <a:rPr lang="es-MX" dirty="0"/>
              <a:t>Reducción de costes y mejor gestión de costes.</a:t>
            </a:r>
          </a:p>
          <a:p>
            <a:pPr algn="just">
              <a:buFont typeface="Arial" panose="020B0604020202020204" pitchFamily="34" charset="0"/>
              <a:buChar char="•"/>
            </a:pPr>
            <a:r>
              <a:rPr lang="es-MX" dirty="0"/>
              <a:t>Posición competitiva fortalecida a través de un mejor desempeño en toda la organización.</a:t>
            </a:r>
          </a:p>
          <a:p>
            <a:pPr algn="just">
              <a:buFont typeface="Arial" panose="020B0604020202020204" pitchFamily="34" charset="0"/>
              <a:buChar char="•"/>
            </a:pPr>
            <a:r>
              <a:rPr lang="es-MX" dirty="0"/>
              <a:t>Adaptabilidad a condiciones cambiantes o emergentes del mercado, regulaciones ambientales o gubernamentales.</a:t>
            </a:r>
          </a:p>
          <a:p>
            <a:pPr algn="just">
              <a:buFont typeface="Arial" panose="020B0604020202020204" pitchFamily="34" charset="0"/>
              <a:buChar char="•"/>
            </a:pPr>
            <a:r>
              <a:rPr lang="es-MX" dirty="0"/>
              <a:t>Mayor orientación y satisfacción del cliente.</a:t>
            </a:r>
          </a:p>
          <a:p>
            <a:pPr algn="just">
              <a:buFont typeface="Arial" panose="020B0604020202020204" pitchFamily="34" charset="0"/>
              <a:buChar char="•"/>
            </a:pPr>
            <a:r>
              <a:rPr lang="es-MX" dirty="0"/>
              <a:t>Fortalecimiento de la lealtad y responsabilidad de los empleados (cada empleado es valioso).</a:t>
            </a:r>
          </a:p>
          <a:p>
            <a:pPr algn="just">
              <a:buFont typeface="Arial" panose="020B0604020202020204" pitchFamily="34" charset="0"/>
              <a:buChar char="•"/>
            </a:pPr>
            <a:r>
              <a:rPr lang="es-MX" dirty="0"/>
              <a:t>Mayor consistencia y resultados previsibles.</a:t>
            </a:r>
          </a:p>
          <a:p>
            <a:pPr algn="just"/>
            <a:r>
              <a:rPr lang="es-MX" dirty="0"/>
              <a:t>El enfoque TQM permite a las organizaciones centrarse en mejorar la calidad en todos los niveles organizativos de la empresa. Por lo tanto, TQM sirve como un enfoque para acelerar de manera sostenible el crecimiento empresarial y fomentar la innovación.</a:t>
            </a:r>
            <a:endParaRPr lang="es-MX" b="0" i="0" dirty="0">
              <a:effectLst/>
            </a:endParaRPr>
          </a:p>
        </p:txBody>
      </p:sp>
    </p:spTree>
    <p:extLst>
      <p:ext uri="{BB962C8B-B14F-4D97-AF65-F5344CB8AC3E}">
        <p14:creationId xmlns:p14="http://schemas.microsoft.com/office/powerpoint/2010/main" val="27056056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431235" y="415644"/>
            <a:ext cx="6096000" cy="707886"/>
          </a:xfrm>
          <a:prstGeom prst="rect">
            <a:avLst/>
          </a:prstGeom>
        </p:spPr>
        <p:txBody>
          <a:bodyPr>
            <a:spAutoFit/>
          </a:bodyPr>
          <a:lstStyle/>
          <a:p>
            <a:r>
              <a:rPr lang="es-MX" sz="2000" b="1" dirty="0"/>
              <a:t>Aplicación de Diagramas de Causa y Efecto en Problemas Comunes. </a:t>
            </a:r>
          </a:p>
        </p:txBody>
      </p:sp>
      <p:sp>
        <p:nvSpPr>
          <p:cNvPr id="3" name="Rectángulo 2"/>
          <p:cNvSpPr/>
          <p:nvPr/>
        </p:nvSpPr>
        <p:spPr>
          <a:xfrm>
            <a:off x="702365" y="1297260"/>
            <a:ext cx="8945218" cy="2308324"/>
          </a:xfrm>
          <a:prstGeom prst="rect">
            <a:avLst/>
          </a:prstGeom>
        </p:spPr>
        <p:txBody>
          <a:bodyPr wrap="square">
            <a:spAutoFit/>
          </a:bodyPr>
          <a:lstStyle/>
          <a:p>
            <a:pPr algn="just" fontAlgn="base"/>
            <a:r>
              <a:rPr lang="es-MX" b="1" dirty="0"/>
              <a:t>¿Qué es un «diagrama de causa y efecto»?</a:t>
            </a:r>
          </a:p>
          <a:p>
            <a:pPr algn="just" fontAlgn="base"/>
            <a:r>
              <a:rPr lang="es-MX" dirty="0"/>
              <a:t>Un diagrama de causa-efecto es una herramienta visual que se utiliza para organizar de forma lógica las posibles causas de un problema o efecto específico, mostrándolas gráficamente de forma cada vez más detallada, sugiriendo relaciones causales entre las distintas hipótesis. Otro tipo popular es el denominado diagrama de espina de pescado o de Ishikawa. El diagrama causa-efecto también se puede representar mediante un diagrama de árbol.</a:t>
            </a:r>
          </a:p>
          <a:p>
            <a:pPr algn="just" fontAlgn="base"/>
            <a:r>
              <a:rPr lang="es-MX" dirty="0"/>
              <a:t>A la hora de diagnosticar la causa de un problema, un diagrama de causa-efecto ayuda a organizar varias teorías sobre las causas fundamentales y las presenta gráficamente.</a:t>
            </a:r>
            <a:endParaRPr lang="es-MX" b="0" i="0" dirty="0">
              <a:effectLst/>
            </a:endParaRPr>
          </a:p>
        </p:txBody>
      </p:sp>
      <p:sp>
        <p:nvSpPr>
          <p:cNvPr id="4" name="Rectángulo 3"/>
          <p:cNvSpPr/>
          <p:nvPr/>
        </p:nvSpPr>
        <p:spPr>
          <a:xfrm>
            <a:off x="702365" y="3605584"/>
            <a:ext cx="9064487" cy="1477328"/>
          </a:xfrm>
          <a:prstGeom prst="rect">
            <a:avLst/>
          </a:prstGeom>
        </p:spPr>
        <p:txBody>
          <a:bodyPr wrap="square">
            <a:spAutoFit/>
          </a:bodyPr>
          <a:lstStyle/>
          <a:p>
            <a:pPr algn="just"/>
            <a:r>
              <a:rPr lang="es-MX" dirty="0"/>
              <a:t>El diagrama C-E es una herramienta fundamental que se utiliza en las primeras etapas de un equipo de trabajo para la mejora. </a:t>
            </a:r>
            <a:r>
              <a:rPr lang="es-MX" b="1" dirty="0">
                <a:hlinkClick r:id="rId2"/>
              </a:rPr>
              <a:t>Las ideas generadas durante un proceso de lluvia de ideas o de afinidad se utilizan para rellenar el diagrama</a:t>
            </a:r>
            <a:r>
              <a:rPr lang="es-MX" dirty="0"/>
              <a:t>. Dado que la lista de problemas en un C-E puede ser muy amplia, el equipo debe utilizar una técnica de priorización o de votación múltiple para reducir la lista de causas potenciales que desean investigar más a fondo.</a:t>
            </a:r>
            <a:endParaRPr lang="es-PE" dirty="0"/>
          </a:p>
        </p:txBody>
      </p:sp>
      <p:sp>
        <p:nvSpPr>
          <p:cNvPr id="5" name="Rectángulo 4"/>
          <p:cNvSpPr/>
          <p:nvPr/>
        </p:nvSpPr>
        <p:spPr>
          <a:xfrm>
            <a:off x="702365" y="5178353"/>
            <a:ext cx="9064488" cy="1200329"/>
          </a:xfrm>
          <a:prstGeom prst="rect">
            <a:avLst/>
          </a:prstGeom>
        </p:spPr>
        <p:txBody>
          <a:bodyPr wrap="square">
            <a:spAutoFit/>
          </a:bodyPr>
          <a:lstStyle/>
          <a:p>
            <a:r>
              <a:rPr lang="es-MX" dirty="0"/>
              <a:t>En la cabeza del diagrama se encuentra el «efecto» que el equipo está investigando. El equipo ha realizado una lluvia de ideas sobre las posibles causas de este efecto. El esqueleto se convierte en las distintas causas potenciales y los encabezados son los de las columnas del diagrama de afinidad.</a:t>
            </a:r>
            <a:endParaRPr lang="es-PE" dirty="0"/>
          </a:p>
        </p:txBody>
      </p:sp>
    </p:spTree>
    <p:extLst>
      <p:ext uri="{BB962C8B-B14F-4D97-AF65-F5344CB8AC3E}">
        <p14:creationId xmlns:p14="http://schemas.microsoft.com/office/powerpoint/2010/main" val="3361245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887481" y="381865"/>
            <a:ext cx="6593910" cy="400110"/>
          </a:xfrm>
          <a:prstGeom prst="rect">
            <a:avLst/>
          </a:prstGeom>
        </p:spPr>
        <p:txBody>
          <a:bodyPr wrap="square">
            <a:spAutoFit/>
          </a:bodyPr>
          <a:lstStyle/>
          <a:p>
            <a:pPr algn="ctr" fontAlgn="base"/>
            <a:r>
              <a:rPr lang="es-MX" sz="2000" b="1" dirty="0">
                <a:solidFill>
                  <a:srgbClr val="333333"/>
                </a:solidFill>
              </a:rPr>
              <a:t>Ejemplos de diagramas de causa y efecto</a:t>
            </a:r>
            <a:endParaRPr lang="es-MX" sz="2000" b="1" i="0" dirty="0">
              <a:solidFill>
                <a:srgbClr val="333333"/>
              </a:solidFill>
              <a:effectLst/>
            </a:endParaRPr>
          </a:p>
        </p:txBody>
      </p:sp>
      <p:sp>
        <p:nvSpPr>
          <p:cNvPr id="4" name="Rectángulo 3"/>
          <p:cNvSpPr/>
          <p:nvPr/>
        </p:nvSpPr>
        <p:spPr>
          <a:xfrm>
            <a:off x="344557" y="980661"/>
            <a:ext cx="9515060" cy="2585323"/>
          </a:xfrm>
          <a:prstGeom prst="rect">
            <a:avLst/>
          </a:prstGeom>
        </p:spPr>
        <p:txBody>
          <a:bodyPr wrap="square">
            <a:spAutoFit/>
          </a:bodyPr>
          <a:lstStyle/>
          <a:p>
            <a:pPr algn="just"/>
            <a:r>
              <a:rPr lang="es-MX" dirty="0"/>
              <a:t>En la figura se muestra un diagrama simple de causa-efecto. El fenómeno a explicar es «Pérdida de control del auto». Algunos de los posibles factores principales que contribuyen a esa pérdida de control son una llanta desinflada, una carretera resbalosa, fallas mecánicas y un error del conductor. Cada una de estas grandes categorías de causas puede, a su vez, tener múltiples causas. Una rueda pinchada puede producirse por un clavo, una piedra, un cristal o un reventón por un fallo del material. La relación causal puede remontarse a más pasos en la cadena causal si es necesario o apropiado. La pérdida de control puede deberse a un fallo mecánico; ese fallo puede ser una avería de los frenos, que, a su vez, puede provenir de la pérdida de líquido o del desgaste de las pastillas. Probablemente se te ocurran otros factores que añadir a este diagrama.</a:t>
            </a:r>
            <a:endParaRPr lang="es-PE" dirty="0"/>
          </a:p>
        </p:txBody>
      </p:sp>
      <p:pic>
        <p:nvPicPr>
          <p:cNvPr id="5" name="Imagen 4"/>
          <p:cNvPicPr>
            <a:picLocks noChangeAspect="1"/>
          </p:cNvPicPr>
          <p:nvPr/>
        </p:nvPicPr>
        <p:blipFill>
          <a:blip r:embed="rId2"/>
          <a:stretch>
            <a:fillRect/>
          </a:stretch>
        </p:blipFill>
        <p:spPr>
          <a:xfrm>
            <a:off x="2082049" y="3565985"/>
            <a:ext cx="5801535" cy="3007094"/>
          </a:xfrm>
          <a:prstGeom prst="rect">
            <a:avLst/>
          </a:prstGeom>
        </p:spPr>
      </p:pic>
    </p:spTree>
    <p:extLst>
      <p:ext uri="{BB962C8B-B14F-4D97-AF65-F5344CB8AC3E}">
        <p14:creationId xmlns:p14="http://schemas.microsoft.com/office/powerpoint/2010/main" val="541383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71059" y="1053411"/>
            <a:ext cx="9780105" cy="5632311"/>
          </a:xfrm>
          <a:prstGeom prst="rect">
            <a:avLst/>
          </a:prstGeom>
        </p:spPr>
        <p:txBody>
          <a:bodyPr wrap="square">
            <a:spAutoFit/>
          </a:bodyPr>
          <a:lstStyle/>
          <a:p>
            <a:pPr algn="just" fontAlgn="base"/>
            <a:r>
              <a:rPr lang="es-MX" dirty="0">
                <a:latin typeface="Open Sans"/>
              </a:rPr>
              <a:t>Como puedes ver en la Figura esta herramienta tiene tres características básicas destacadas:</a:t>
            </a:r>
          </a:p>
          <a:p>
            <a:pPr algn="just" fontAlgn="base">
              <a:buFont typeface="Arial" panose="020B0604020202020204" pitchFamily="34" charset="0"/>
              <a:buChar char="•"/>
            </a:pPr>
            <a:r>
              <a:rPr lang="es-MX" dirty="0">
                <a:latin typeface="Open Sans"/>
              </a:rPr>
              <a:t>Es una representación visual de los factores que podrían contribuir a un efecto o fenómeno observado que se está examinando.</a:t>
            </a:r>
          </a:p>
          <a:p>
            <a:pPr algn="just" fontAlgn="base">
              <a:buFont typeface="Arial" panose="020B0604020202020204" pitchFamily="34" charset="0"/>
              <a:buChar char="•"/>
            </a:pPr>
            <a:r>
              <a:rPr lang="es-MX" dirty="0">
                <a:latin typeface="Open Sans"/>
              </a:rPr>
              <a:t>Las interrelaciones entre los posibles factores causales se muestran claramente. Un factor causal puede aparecer en varios lugares del diagrama. Por ejemplo, si la temperatura afecta tanto al contenido de humedad como a las dimensiones físicas, la temperatura aparecerá en ambos lugares.</a:t>
            </a:r>
          </a:p>
          <a:p>
            <a:pPr algn="just" fontAlgn="base">
              <a:buFont typeface="Arial" panose="020B0604020202020204" pitchFamily="34" charset="0"/>
              <a:buChar char="•"/>
            </a:pPr>
            <a:r>
              <a:rPr lang="es-MX" dirty="0">
                <a:latin typeface="Open Sans"/>
              </a:rPr>
              <a:t>Las interrelaciones suelen ser cualitativas e hipotéticas.</a:t>
            </a:r>
          </a:p>
          <a:p>
            <a:pPr algn="just" fontAlgn="base">
              <a:buFont typeface="Arial" panose="020B0604020202020204" pitchFamily="34" charset="0"/>
              <a:buChar char="•"/>
            </a:pPr>
            <a:r>
              <a:rPr lang="es-MX" dirty="0">
                <a:latin typeface="Open Sans"/>
              </a:rPr>
              <a:t>Un diagrama causa-efecto suele prepararse como preludio a la elaboración de los datos necesarios para establecer la causalidad de forma empírica.</a:t>
            </a:r>
          </a:p>
          <a:p>
            <a:pPr algn="just" fontAlgn="base"/>
            <a:r>
              <a:rPr lang="es-MX" dirty="0">
                <a:latin typeface="Open Sans"/>
              </a:rPr>
              <a:t>Conceptos claves del diagrama causa-efecto</a:t>
            </a:r>
          </a:p>
          <a:p>
            <a:pPr algn="just" fontAlgn="base"/>
            <a:r>
              <a:rPr lang="es-MX" dirty="0">
                <a:latin typeface="Open Sans"/>
              </a:rPr>
              <a:t>Un diagrama de causa-efecto no puede identificar una causa raíz; presenta gráficamente las numerosas causas que podrían contribuir al efecto observado.</a:t>
            </a:r>
          </a:p>
          <a:p>
            <a:pPr algn="just" fontAlgn="base"/>
            <a:r>
              <a:rPr lang="es-MX" dirty="0">
                <a:latin typeface="Open Sans"/>
              </a:rPr>
              <a:t>Es una representación visual de los factores que podrían contribuir a un efecto observado que se está examinando.</a:t>
            </a:r>
          </a:p>
          <a:p>
            <a:pPr algn="just" fontAlgn="base"/>
            <a:r>
              <a:rPr lang="es-MX" dirty="0">
                <a:latin typeface="Open Sans"/>
              </a:rPr>
              <a:t>Las interrelaciones entre los posibles factores causales se muestran claramente. Un factor causal puede aparecer en varios lugares del diagrama.</a:t>
            </a:r>
          </a:p>
          <a:p>
            <a:pPr algn="just" fontAlgn="base"/>
            <a:r>
              <a:rPr lang="es-MX" dirty="0">
                <a:latin typeface="Open Sans"/>
              </a:rPr>
              <a:t>Las interrelaciones son generalmente cualitativas e hipotéticas.</a:t>
            </a:r>
          </a:p>
          <a:p>
            <a:pPr algn="just" fontAlgn="base"/>
            <a:r>
              <a:rPr lang="es-MX" dirty="0">
                <a:latin typeface="Open Sans"/>
              </a:rPr>
              <a:t>Centra la atención de todos los miembros del equipo en el problema concreto de forma estructurada y sistemática.</a:t>
            </a:r>
            <a:endParaRPr lang="es-MX" b="0" i="0" dirty="0">
              <a:effectLst/>
              <a:latin typeface="Open Sans"/>
            </a:endParaRPr>
          </a:p>
        </p:txBody>
      </p:sp>
    </p:spTree>
    <p:extLst>
      <p:ext uri="{BB962C8B-B14F-4D97-AF65-F5344CB8AC3E}">
        <p14:creationId xmlns:p14="http://schemas.microsoft.com/office/powerpoint/2010/main" val="1872852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616765" y="746948"/>
            <a:ext cx="6096000" cy="646331"/>
          </a:xfrm>
          <a:prstGeom prst="rect">
            <a:avLst/>
          </a:prstGeom>
        </p:spPr>
        <p:txBody>
          <a:bodyPr>
            <a:spAutoFit/>
          </a:bodyPr>
          <a:lstStyle/>
          <a:p>
            <a:pPr algn="ctr" fontAlgn="base"/>
            <a:r>
              <a:rPr lang="es-MX" b="1" dirty="0">
                <a:solidFill>
                  <a:srgbClr val="333333"/>
                </a:solidFill>
              </a:rPr>
              <a:t>Puntos fuertes de la herramienta de diagrama de causa y efecto</a:t>
            </a:r>
            <a:endParaRPr lang="es-MX" b="1" i="0" dirty="0">
              <a:solidFill>
                <a:srgbClr val="333333"/>
              </a:solidFill>
              <a:effectLst/>
            </a:endParaRPr>
          </a:p>
        </p:txBody>
      </p:sp>
      <p:sp>
        <p:nvSpPr>
          <p:cNvPr id="3" name="Rectángulo 2"/>
          <p:cNvSpPr/>
          <p:nvPr/>
        </p:nvSpPr>
        <p:spPr>
          <a:xfrm>
            <a:off x="887895" y="1630017"/>
            <a:ext cx="8613913" cy="3416320"/>
          </a:xfrm>
          <a:prstGeom prst="rect">
            <a:avLst/>
          </a:prstGeom>
        </p:spPr>
        <p:txBody>
          <a:bodyPr wrap="square">
            <a:spAutoFit/>
          </a:bodyPr>
          <a:lstStyle/>
          <a:p>
            <a:pPr fontAlgn="base"/>
            <a:r>
              <a:rPr lang="es-MX" dirty="0">
                <a:latin typeface="Open Sans"/>
              </a:rPr>
              <a:t>La principal ventaja de esta herramienta reside en que centra la atención de todas las personas implicadas en el problema concreto de forma estructurada y sistemática. Fomenta el pensamiento innovador y sigue manteniendo al equipo en el camino de forma ordenada. Los 5 porqués pueden aplicarse a las teorías de la lluvia de ideas para llegar a las presuntas causas raíz.</a:t>
            </a:r>
          </a:p>
          <a:p>
            <a:pPr fontAlgn="base"/>
            <a:r>
              <a:rPr lang="es-MX" dirty="0">
                <a:latin typeface="Open Sans"/>
              </a:rPr>
              <a:t>El segundo punto fuerte de esta herramienta es que su representación gráfica permite presentar situaciones muy complejas, mostrando relaciones claras entre los elementos. Cuando un problema está potencialmente afectado por interacciones complejas entre muchas causas, el diagrama causa-efecto proporciona el medio de documentarlas y organizarlas todas.</a:t>
            </a:r>
          </a:p>
          <a:p>
            <a:pPr fontAlgn="base"/>
            <a:r>
              <a:rPr lang="es-MX" dirty="0">
                <a:latin typeface="Open Sans"/>
              </a:rPr>
              <a:t>Por la misma razón, el diagrama C-E tiene una enorme capacidad de comunicación a los demás.</a:t>
            </a:r>
            <a:endParaRPr lang="es-MX" b="0" i="0" dirty="0">
              <a:effectLst/>
              <a:latin typeface="Open Sans"/>
            </a:endParaRPr>
          </a:p>
        </p:txBody>
      </p:sp>
    </p:spTree>
    <p:extLst>
      <p:ext uri="{BB962C8B-B14F-4D97-AF65-F5344CB8AC3E}">
        <p14:creationId xmlns:p14="http://schemas.microsoft.com/office/powerpoint/2010/main" val="1578404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498804" y="501134"/>
            <a:ext cx="4587666" cy="369332"/>
          </a:xfrm>
          <a:prstGeom prst="rect">
            <a:avLst/>
          </a:prstGeom>
        </p:spPr>
        <p:txBody>
          <a:bodyPr wrap="none">
            <a:spAutoFit/>
          </a:bodyPr>
          <a:lstStyle/>
          <a:p>
            <a:pPr fontAlgn="base"/>
            <a:r>
              <a:rPr lang="es-MX" b="1" dirty="0"/>
              <a:t>Cómo construir un diagrama de causa y efecto</a:t>
            </a:r>
            <a:endParaRPr lang="es-MX" b="1" i="0" dirty="0">
              <a:effectLst/>
            </a:endParaRPr>
          </a:p>
        </p:txBody>
      </p:sp>
      <p:sp>
        <p:nvSpPr>
          <p:cNvPr id="3" name="Rectángulo 2"/>
          <p:cNvSpPr/>
          <p:nvPr/>
        </p:nvSpPr>
        <p:spPr>
          <a:xfrm>
            <a:off x="530087" y="1073426"/>
            <a:ext cx="8613913" cy="2031325"/>
          </a:xfrm>
          <a:prstGeom prst="rect">
            <a:avLst/>
          </a:prstGeom>
        </p:spPr>
        <p:txBody>
          <a:bodyPr wrap="square">
            <a:spAutoFit/>
          </a:bodyPr>
          <a:lstStyle/>
          <a:p>
            <a:pPr algn="just" fontAlgn="base"/>
            <a:r>
              <a:rPr lang="es-MX" dirty="0"/>
              <a:t>Preparación</a:t>
            </a:r>
          </a:p>
          <a:p>
            <a:pPr algn="just" fontAlgn="base"/>
            <a:r>
              <a:rPr lang="es-MX" dirty="0"/>
              <a:t>Se construye un diagrama de causa-efecto cuando se ha llegado al punto de desarrollar teorías para guiar el paso de caracterización. Los conocimientos que se utilizarán para construir el diagrama causa-efecto proceden de las personas familiarizadas con el problema y de los datos que se han recopilado hasta ese momento.</a:t>
            </a:r>
          </a:p>
          <a:p>
            <a:pPr algn="just" fontAlgn="base"/>
            <a:r>
              <a:rPr lang="es-MX" dirty="0"/>
              <a:t>Parte del poder de un diagrama causa-efecto reside en su impacto visual. El cumplimiento de unas sencillas reglas que se exponen a continuación potenciará ese impacto.</a:t>
            </a:r>
            <a:endParaRPr lang="es-MX" b="0" i="0" dirty="0">
              <a:effectLst/>
            </a:endParaRPr>
          </a:p>
        </p:txBody>
      </p:sp>
      <p:sp>
        <p:nvSpPr>
          <p:cNvPr id="4" name="Rectángulo 3"/>
          <p:cNvSpPr/>
          <p:nvPr/>
        </p:nvSpPr>
        <p:spPr>
          <a:xfrm>
            <a:off x="530086" y="3307711"/>
            <a:ext cx="8613913" cy="1200329"/>
          </a:xfrm>
          <a:prstGeom prst="rect">
            <a:avLst/>
          </a:prstGeom>
        </p:spPr>
        <p:txBody>
          <a:bodyPr wrap="square">
            <a:spAutoFit/>
          </a:bodyPr>
          <a:lstStyle/>
          <a:p>
            <a:pPr fontAlgn="base"/>
            <a:r>
              <a:rPr lang="es-MX" b="1" dirty="0"/>
              <a:t>Paso 1: Definir el efecto</a:t>
            </a:r>
          </a:p>
          <a:p>
            <a:pPr fontAlgn="base"/>
            <a:r>
              <a:rPr lang="es-MX" dirty="0"/>
              <a:t>Defina claramente el efecto o síntoma para el que hay que identificar las causas. El «efecto» debe definirse por escrito. Para mayor claridad, puede ser aconsejable detallar lo que se incluye y lo que se excluye.</a:t>
            </a:r>
            <a:endParaRPr lang="es-MX" b="0" i="0" dirty="0">
              <a:effectLst/>
            </a:endParaRPr>
          </a:p>
        </p:txBody>
      </p:sp>
      <p:pic>
        <p:nvPicPr>
          <p:cNvPr id="8" name="Imagen 7"/>
          <p:cNvPicPr>
            <a:picLocks noChangeAspect="1"/>
          </p:cNvPicPr>
          <p:nvPr/>
        </p:nvPicPr>
        <p:blipFill>
          <a:blip r:embed="rId2"/>
          <a:stretch>
            <a:fillRect/>
          </a:stretch>
        </p:blipFill>
        <p:spPr>
          <a:xfrm>
            <a:off x="530086" y="4711000"/>
            <a:ext cx="5792008" cy="1933845"/>
          </a:xfrm>
          <a:prstGeom prst="rect">
            <a:avLst/>
          </a:prstGeom>
        </p:spPr>
      </p:pic>
    </p:spTree>
    <p:extLst>
      <p:ext uri="{BB962C8B-B14F-4D97-AF65-F5344CB8AC3E}">
        <p14:creationId xmlns:p14="http://schemas.microsoft.com/office/powerpoint/2010/main" val="3441234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49356" y="125994"/>
            <a:ext cx="8931966" cy="923330"/>
          </a:xfrm>
          <a:prstGeom prst="rect">
            <a:avLst/>
          </a:prstGeom>
        </p:spPr>
        <p:txBody>
          <a:bodyPr wrap="square">
            <a:spAutoFit/>
          </a:bodyPr>
          <a:lstStyle/>
          <a:p>
            <a:pPr algn="just" fontAlgn="base"/>
            <a:r>
              <a:rPr lang="es-MX" b="1" dirty="0">
                <a:latin typeface="Open Sans"/>
              </a:rPr>
              <a:t>Paso 2: Colocar el efecto</a:t>
            </a:r>
          </a:p>
          <a:p>
            <a:pPr algn="just" fontAlgn="base"/>
            <a:r>
              <a:rPr lang="es-MX" dirty="0">
                <a:latin typeface="Open Sans"/>
              </a:rPr>
              <a:t>Coloca el efecto o síntoma a la derecha, encerrado en un recuadro. Dibuje la espina central como una línea más gruesa que apunte hacia ella.</a:t>
            </a:r>
            <a:endParaRPr lang="es-MX" b="0" i="0" dirty="0">
              <a:effectLst/>
              <a:latin typeface="Open Sans"/>
            </a:endParaRPr>
          </a:p>
        </p:txBody>
      </p:sp>
      <p:pic>
        <p:nvPicPr>
          <p:cNvPr id="3" name="Imagen 2"/>
          <p:cNvPicPr>
            <a:picLocks noChangeAspect="1"/>
          </p:cNvPicPr>
          <p:nvPr/>
        </p:nvPicPr>
        <p:blipFill>
          <a:blip r:embed="rId2"/>
          <a:stretch>
            <a:fillRect/>
          </a:stretch>
        </p:blipFill>
        <p:spPr>
          <a:xfrm>
            <a:off x="2257440" y="1204687"/>
            <a:ext cx="5715798" cy="1905266"/>
          </a:xfrm>
          <a:prstGeom prst="rect">
            <a:avLst/>
          </a:prstGeom>
        </p:spPr>
      </p:pic>
      <p:sp>
        <p:nvSpPr>
          <p:cNvPr id="4" name="Rectángulo 3"/>
          <p:cNvSpPr/>
          <p:nvPr/>
        </p:nvSpPr>
        <p:spPr>
          <a:xfrm>
            <a:off x="649356" y="3323922"/>
            <a:ext cx="8931966" cy="1477328"/>
          </a:xfrm>
          <a:prstGeom prst="rect">
            <a:avLst/>
          </a:prstGeom>
        </p:spPr>
        <p:txBody>
          <a:bodyPr wrap="square">
            <a:spAutoFit/>
          </a:bodyPr>
          <a:lstStyle/>
          <a:p>
            <a:pPr algn="just" fontAlgn="base"/>
            <a:r>
              <a:rPr lang="es-MX" b="1" dirty="0"/>
              <a:t>Paso 3: Identificar posibles causas</a:t>
            </a:r>
          </a:p>
          <a:p>
            <a:pPr algn="just" fontAlgn="base"/>
            <a:r>
              <a:rPr lang="es-MX" dirty="0"/>
              <a:t>Haz una lluvia de ideas o un enfoque racional paso a paso para identificar las posibles causas. Hay dos enfoques posibles para obtener contribuciones para las causas que se colocarán en el diagrama: una lluvia de ideas y un enfoque racional paso a paso. El equipo o su dirección deberán elegir en función de la evaluación de la preparación.</a:t>
            </a:r>
            <a:endParaRPr lang="es-MX" b="0" i="0" dirty="0">
              <a:effectLst/>
            </a:endParaRPr>
          </a:p>
        </p:txBody>
      </p:sp>
      <p:sp>
        <p:nvSpPr>
          <p:cNvPr id="6" name="Rectángulo 5"/>
          <p:cNvSpPr/>
          <p:nvPr/>
        </p:nvSpPr>
        <p:spPr>
          <a:xfrm>
            <a:off x="649356" y="4801250"/>
            <a:ext cx="9859618" cy="1477328"/>
          </a:xfrm>
          <a:prstGeom prst="rect">
            <a:avLst/>
          </a:prstGeom>
        </p:spPr>
        <p:txBody>
          <a:bodyPr wrap="square">
            <a:spAutoFit/>
          </a:bodyPr>
          <a:lstStyle/>
          <a:p>
            <a:pPr algn="just"/>
            <a:r>
              <a:rPr lang="es-MX" dirty="0">
                <a:latin typeface="Open Sans"/>
              </a:rPr>
              <a:t>La lluvia de ideas sería normalmente indicada para un equipo con unos pocos individuos que probablemente dominen la conversación de forma destructiva o para un equipo con unos pocos individuos que probablemente sean excesivamente reservados y no hagan contribuciones. Además, la lluvia de ideas puede ser mejor para tratar problemas muy inusuales en los que primará la creatividad.</a:t>
            </a:r>
            <a:endParaRPr lang="es-PE" dirty="0"/>
          </a:p>
        </p:txBody>
      </p:sp>
    </p:spTree>
    <p:extLst>
      <p:ext uri="{BB962C8B-B14F-4D97-AF65-F5344CB8AC3E}">
        <p14:creationId xmlns:p14="http://schemas.microsoft.com/office/powerpoint/2010/main" val="176087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44557" y="371061"/>
            <a:ext cx="9422295" cy="2308324"/>
          </a:xfrm>
          <a:prstGeom prst="rect">
            <a:avLst/>
          </a:prstGeom>
        </p:spPr>
        <p:txBody>
          <a:bodyPr wrap="square">
            <a:spAutoFit/>
          </a:bodyPr>
          <a:lstStyle/>
          <a:p>
            <a:pPr fontAlgn="base"/>
            <a:r>
              <a:rPr lang="es-MX" b="1" dirty="0"/>
              <a:t>Paso 4: Colocar las causas principales</a:t>
            </a:r>
          </a:p>
          <a:p>
            <a:pPr fontAlgn="base"/>
            <a:r>
              <a:rPr lang="es-MX" dirty="0"/>
              <a:t>Cada una de las causas principales (no menos de dos y, normalmente, no más de seis) debe colocarse en un recuadro y conectarse con la columna vertebral central mediante una línea con un ángulo de unos 70 grados. Aquí, al igual que en los pasos posteriores, ha resultado útil utilizar notas adhesivas para colocar las causas principales y subsidiarias individuales sobre la columna vertebral principal. Dado que estas notas pueden fijarse y moverse fácilmente, el proceso será más flexible y el resultado más fácil de visualizar para los participantes. La figura 36 generaliza el diagrama hasta este punto.</a:t>
            </a:r>
            <a:endParaRPr lang="es-MX" b="0" i="0" dirty="0">
              <a:effectLst/>
            </a:endParaRPr>
          </a:p>
        </p:txBody>
      </p:sp>
      <p:pic>
        <p:nvPicPr>
          <p:cNvPr id="3" name="Imagen 2"/>
          <p:cNvPicPr>
            <a:picLocks noChangeAspect="1"/>
          </p:cNvPicPr>
          <p:nvPr/>
        </p:nvPicPr>
        <p:blipFill>
          <a:blip r:embed="rId2"/>
          <a:stretch>
            <a:fillRect/>
          </a:stretch>
        </p:blipFill>
        <p:spPr>
          <a:xfrm>
            <a:off x="2366146" y="2679385"/>
            <a:ext cx="5763429" cy="3296110"/>
          </a:xfrm>
          <a:prstGeom prst="rect">
            <a:avLst/>
          </a:prstGeom>
        </p:spPr>
      </p:pic>
    </p:spTree>
    <p:extLst>
      <p:ext uri="{BB962C8B-B14F-4D97-AF65-F5344CB8AC3E}">
        <p14:creationId xmlns:p14="http://schemas.microsoft.com/office/powerpoint/2010/main" val="2810342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0573" y="172279"/>
            <a:ext cx="9342783" cy="1754326"/>
          </a:xfrm>
          <a:prstGeom prst="rect">
            <a:avLst/>
          </a:prstGeom>
        </p:spPr>
        <p:txBody>
          <a:bodyPr wrap="square">
            <a:spAutoFit/>
          </a:bodyPr>
          <a:lstStyle/>
          <a:p>
            <a:pPr fontAlgn="base"/>
            <a:r>
              <a:rPr lang="es-MX" b="1" dirty="0"/>
              <a:t>Paso 5: añadir causas al área principal</a:t>
            </a:r>
          </a:p>
          <a:p>
            <a:pPr fontAlgn="base"/>
            <a:r>
              <a:rPr lang="es-MX" dirty="0"/>
              <a:t>Agrega las causas de cada área principal. Cada factor que es una causa de un área principal se coloca al final de una línea que se dibuja de manera que se conecta con la línea del área principal apropiada y es paralela a la columna vertebral central. La Figura 37 muestra cómo mostrar una serie de posibles causas de problemas derivados de un motor, que es un área principal para algún síntoma más grande que se está explicando.</a:t>
            </a:r>
            <a:endParaRPr lang="es-MX" b="0" i="0" dirty="0">
              <a:effectLst/>
            </a:endParaRPr>
          </a:p>
        </p:txBody>
      </p:sp>
      <p:pic>
        <p:nvPicPr>
          <p:cNvPr id="3" name="Imagen 2"/>
          <p:cNvPicPr>
            <a:picLocks noChangeAspect="1"/>
          </p:cNvPicPr>
          <p:nvPr/>
        </p:nvPicPr>
        <p:blipFill>
          <a:blip r:embed="rId2"/>
          <a:stretch>
            <a:fillRect/>
          </a:stretch>
        </p:blipFill>
        <p:spPr>
          <a:xfrm>
            <a:off x="2311697" y="2317869"/>
            <a:ext cx="5620534" cy="3229426"/>
          </a:xfrm>
          <a:prstGeom prst="rect">
            <a:avLst/>
          </a:prstGeom>
        </p:spPr>
      </p:pic>
    </p:spTree>
    <p:extLst>
      <p:ext uri="{BB962C8B-B14F-4D97-AF65-F5344CB8AC3E}">
        <p14:creationId xmlns:p14="http://schemas.microsoft.com/office/powerpoint/2010/main" val="2859329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38539" y="304801"/>
            <a:ext cx="9409044" cy="2308324"/>
          </a:xfrm>
          <a:prstGeom prst="rect">
            <a:avLst/>
          </a:prstGeom>
        </p:spPr>
        <p:txBody>
          <a:bodyPr wrap="square">
            <a:spAutoFit/>
          </a:bodyPr>
          <a:lstStyle/>
          <a:p>
            <a:pPr algn="just" fontAlgn="base"/>
            <a:r>
              <a:rPr lang="es-MX" b="1" dirty="0"/>
              <a:t>Paso 6: Añadir causas subsidiarias para cada causa</a:t>
            </a:r>
          </a:p>
          <a:p>
            <a:pPr algn="just" fontAlgn="base"/>
            <a:r>
              <a:rPr lang="es-MX" dirty="0"/>
              <a:t>Agrega causas subsidiarias para cada causa ya introducida. Cada una de estas causas se coloca al final de una línea que se dibuja, para conectar con la línea asociada al factor que causa y paralela a la línea del área principal o a la columna vertebral central. La figura 39 es una ampliación de la parte de un diagrama C-E introducida en el paso 5. Observa cómo se han añadido el regulador y el acelerador como posibles causas de la velocidad inadecuada del motor. El mal funcionamiento del acelerador puede deberse a una de las dos causas siguientes Calibración defectuosa o acoplamiento defectuoso.</a:t>
            </a:r>
            <a:endParaRPr lang="es-MX" b="0" i="0" dirty="0">
              <a:effectLst/>
            </a:endParaRPr>
          </a:p>
        </p:txBody>
      </p:sp>
      <p:pic>
        <p:nvPicPr>
          <p:cNvPr id="3" name="Imagen 2"/>
          <p:cNvPicPr>
            <a:picLocks noChangeAspect="1"/>
          </p:cNvPicPr>
          <p:nvPr/>
        </p:nvPicPr>
        <p:blipFill>
          <a:blip r:embed="rId2"/>
          <a:stretch>
            <a:fillRect/>
          </a:stretch>
        </p:blipFill>
        <p:spPr>
          <a:xfrm>
            <a:off x="3028564" y="2717509"/>
            <a:ext cx="5525271" cy="3172268"/>
          </a:xfrm>
          <a:prstGeom prst="rect">
            <a:avLst/>
          </a:prstGeom>
        </p:spPr>
      </p:pic>
    </p:spTree>
    <p:extLst>
      <p:ext uri="{BB962C8B-B14F-4D97-AF65-F5344CB8AC3E}">
        <p14:creationId xmlns:p14="http://schemas.microsoft.com/office/powerpoint/2010/main" val="3651424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25287" y="331304"/>
            <a:ext cx="9462052" cy="2585323"/>
          </a:xfrm>
          <a:prstGeom prst="rect">
            <a:avLst/>
          </a:prstGeom>
        </p:spPr>
        <p:txBody>
          <a:bodyPr wrap="square">
            <a:spAutoFit/>
          </a:bodyPr>
          <a:lstStyle/>
          <a:p>
            <a:pPr algn="just" fontAlgn="base"/>
            <a:r>
              <a:rPr lang="es-MX" b="1" dirty="0"/>
              <a:t>Paso 7: Comprobar la validez lógica de cada cadena causal</a:t>
            </a:r>
          </a:p>
          <a:p>
            <a:pPr algn="just" fontAlgn="base"/>
            <a:r>
              <a:rPr lang="es-MX" dirty="0"/>
              <a:t>Comprobar la validez lógica de cada cadena causal. Una vez completado todo el diagrama C-E, es conveniente empezar por cada causa raíz potencial y «leer» el diagrama hacia delante hasta el efecto que se está explicando. Asegúrese de que cada cadena causal tiene sentido lógico y operativo. Considere el siguiente ejemplo, que es una parte de un diagrama C-E que pretende explicar los errores en un proceso de entrada de pedidos. Un área principal de errores se refiere a los errores en los números de pieza. Los representantes de ventas buscan la pieza en un catálogo e introducen el número de pieza en un formulario de pedido. A continuación, la información del formulario se introduce en una base de datos.</a:t>
            </a:r>
            <a:endParaRPr lang="es-MX" b="0" i="0" dirty="0">
              <a:effectLst/>
            </a:endParaRPr>
          </a:p>
        </p:txBody>
      </p:sp>
      <p:pic>
        <p:nvPicPr>
          <p:cNvPr id="6" name="Imagen 5"/>
          <p:cNvPicPr>
            <a:picLocks noChangeAspect="1"/>
          </p:cNvPicPr>
          <p:nvPr/>
        </p:nvPicPr>
        <p:blipFill>
          <a:blip r:embed="rId2"/>
          <a:stretch>
            <a:fillRect/>
          </a:stretch>
        </p:blipFill>
        <p:spPr>
          <a:xfrm>
            <a:off x="2475276" y="3097059"/>
            <a:ext cx="5677692" cy="3181794"/>
          </a:xfrm>
          <a:prstGeom prst="rect">
            <a:avLst/>
          </a:prstGeom>
        </p:spPr>
      </p:pic>
    </p:spTree>
    <p:extLst>
      <p:ext uri="{BB962C8B-B14F-4D97-AF65-F5344CB8AC3E}">
        <p14:creationId xmlns:p14="http://schemas.microsoft.com/office/powerpoint/2010/main" val="3199210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583095" y="1524001"/>
            <a:ext cx="9144000" cy="3139321"/>
          </a:xfrm>
          <a:prstGeom prst="rect">
            <a:avLst/>
          </a:prstGeom>
        </p:spPr>
        <p:txBody>
          <a:bodyPr wrap="square">
            <a:spAutoFit/>
          </a:bodyPr>
          <a:lstStyle/>
          <a:p>
            <a:pPr algn="just" fontAlgn="base"/>
            <a:r>
              <a:rPr lang="es-MX" b="1" dirty="0"/>
              <a:t>Paso 8: Comprobar la integridad</a:t>
            </a:r>
          </a:p>
          <a:p>
            <a:pPr algn="just" fontAlgn="base"/>
            <a:r>
              <a:rPr lang="es-MX" dirty="0"/>
              <a:t>Como se explica con más detalle en la sección de interpretación, hay que comprobar lo siguiente:</a:t>
            </a:r>
          </a:p>
          <a:p>
            <a:pPr algn="just" fontAlgn="base">
              <a:buFont typeface="Arial" panose="020B0604020202020204" pitchFamily="34" charset="0"/>
              <a:buChar char="•"/>
            </a:pPr>
            <a:r>
              <a:rPr lang="es-MX" dirty="0"/>
              <a:t>Ramas principales con menos de tres causas</a:t>
            </a:r>
          </a:p>
          <a:p>
            <a:pPr algn="just" fontAlgn="base">
              <a:buFont typeface="Arial" panose="020B0604020202020204" pitchFamily="34" charset="0"/>
              <a:buChar char="•"/>
            </a:pPr>
            <a:r>
              <a:rPr lang="es-MX" dirty="0"/>
              <a:t>Ramas principales con muchas menos causas que la mayoría de las demás</a:t>
            </a:r>
          </a:p>
          <a:p>
            <a:pPr algn="just" fontAlgn="base">
              <a:buFont typeface="Arial" panose="020B0604020202020204" pitchFamily="34" charset="0"/>
              <a:buChar char="•"/>
            </a:pPr>
            <a:r>
              <a:rPr lang="es-MX" dirty="0"/>
              <a:t>Ramas principales que entran en menos detalle, con menos niveles de causas subsidiarias que las demás</a:t>
            </a:r>
          </a:p>
          <a:p>
            <a:pPr algn="just" fontAlgn="base">
              <a:buFont typeface="Arial" panose="020B0604020202020204" pitchFamily="34" charset="0"/>
              <a:buChar char="•"/>
            </a:pPr>
            <a:r>
              <a:rPr lang="es-MX" dirty="0"/>
              <a:t>Ramas principales que tienen muchas más causas que la mayoría de las demás</a:t>
            </a:r>
          </a:p>
          <a:p>
            <a:pPr algn="just" fontAlgn="base"/>
            <a:r>
              <a:rPr lang="es-MX" dirty="0"/>
              <a:t>La existencia de una de estas condiciones no significa automáticamente que el diagrama sea defectuoso, sino que simplemente sugiere que está justificado seguir investigando. En este punto, también es bueno comprobar que las 4 W, las 5 M y/o las 5 P se consideran adecuadas.</a:t>
            </a:r>
            <a:endParaRPr lang="es-MX" b="0" i="0" dirty="0">
              <a:effectLst/>
            </a:endParaRPr>
          </a:p>
        </p:txBody>
      </p:sp>
    </p:spTree>
    <p:extLst>
      <p:ext uri="{BB962C8B-B14F-4D97-AF65-F5344CB8AC3E}">
        <p14:creationId xmlns:p14="http://schemas.microsoft.com/office/powerpoint/2010/main" val="4215590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618502" y="607152"/>
            <a:ext cx="5025799" cy="400110"/>
          </a:xfrm>
          <a:prstGeom prst="rect">
            <a:avLst/>
          </a:prstGeom>
        </p:spPr>
        <p:txBody>
          <a:bodyPr wrap="none">
            <a:spAutoFit/>
          </a:bodyPr>
          <a:lstStyle/>
          <a:p>
            <a:pPr fontAlgn="base"/>
            <a:r>
              <a:rPr lang="es-MX" sz="2000" b="1" dirty="0"/>
              <a:t>¿Cuándo usar un diagrama de causa y efecto?</a:t>
            </a:r>
            <a:endParaRPr lang="es-MX" sz="2000" b="1" i="0" dirty="0">
              <a:effectLst/>
            </a:endParaRPr>
          </a:p>
        </p:txBody>
      </p:sp>
      <p:sp>
        <p:nvSpPr>
          <p:cNvPr id="6" name="Rectángulo 5"/>
          <p:cNvSpPr/>
          <p:nvPr/>
        </p:nvSpPr>
        <p:spPr>
          <a:xfrm>
            <a:off x="463825" y="1417982"/>
            <a:ext cx="9727096" cy="2862322"/>
          </a:xfrm>
          <a:prstGeom prst="rect">
            <a:avLst/>
          </a:prstGeom>
        </p:spPr>
        <p:txBody>
          <a:bodyPr wrap="square">
            <a:spAutoFit/>
          </a:bodyPr>
          <a:lstStyle/>
          <a:p>
            <a:pPr fontAlgn="base"/>
            <a:r>
              <a:rPr lang="es-MX" dirty="0"/>
              <a:t>La principal aplicación del diagrama causa-efecto es la disposición ordenada de las teorías sobre las causas del problema de calidad observado que el equipo debe resolver. Una vez que las teorías están bien entendidas y ordenadas, el equipo utilizará su mejor juicio colectivo para identificar las teorías que deben ser probadas. El objetivo final del paso de caracterización es la identificación de la causa o causas primarias del problema del equipo.</a:t>
            </a:r>
          </a:p>
          <a:p>
            <a:pPr fontAlgn="base"/>
            <a:r>
              <a:rPr lang="es-MX" dirty="0"/>
              <a:t>También hay otras oportunidades para organizar las teorías. El equipo puede querer saber por qué alguna parte del proceso funciona mejor que otras. Por ejemplo:</a:t>
            </a:r>
          </a:p>
          <a:p>
            <a:pPr fontAlgn="base"/>
            <a:r>
              <a:rPr lang="es-MX" dirty="0"/>
              <a:t>¿Por qué el vehículo A obtiene un diez por ciento más de kilometraje por galón que todos los demás vehículos similares probados?</a:t>
            </a:r>
          </a:p>
          <a:p>
            <a:pPr fontAlgn="base"/>
            <a:r>
              <a:rPr lang="es-MX" dirty="0"/>
              <a:t>¿Por qué la productividad de la línea de montaje B es siempre superior a la de las demás líneas?</a:t>
            </a:r>
            <a:endParaRPr lang="es-MX" b="0" i="0" dirty="0">
              <a:effectLst/>
            </a:endParaRPr>
          </a:p>
        </p:txBody>
      </p:sp>
    </p:spTree>
    <p:extLst>
      <p:ext uri="{BB962C8B-B14F-4D97-AF65-F5344CB8AC3E}">
        <p14:creationId xmlns:p14="http://schemas.microsoft.com/office/powerpoint/2010/main" val="922861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1151767" y="580647"/>
            <a:ext cx="8456059" cy="400110"/>
          </a:xfrm>
          <a:prstGeom prst="rect">
            <a:avLst/>
          </a:prstGeom>
        </p:spPr>
        <p:txBody>
          <a:bodyPr wrap="square">
            <a:spAutoFit/>
          </a:bodyPr>
          <a:lstStyle/>
          <a:p>
            <a:pPr algn="ctr"/>
            <a:r>
              <a:rPr lang="es-MX" sz="2000" b="1" dirty="0"/>
              <a:t>Uso de Tablas de Control Estadístico en Construcción</a:t>
            </a:r>
            <a:endParaRPr lang="es-PE" sz="2000" b="1" dirty="0"/>
          </a:p>
        </p:txBody>
      </p:sp>
      <p:sp>
        <p:nvSpPr>
          <p:cNvPr id="6" name="Rectángulo 5"/>
          <p:cNvSpPr/>
          <p:nvPr/>
        </p:nvSpPr>
        <p:spPr>
          <a:xfrm>
            <a:off x="702365" y="1179442"/>
            <a:ext cx="9197009" cy="3139321"/>
          </a:xfrm>
          <a:prstGeom prst="rect">
            <a:avLst/>
          </a:prstGeom>
        </p:spPr>
        <p:txBody>
          <a:bodyPr wrap="square">
            <a:spAutoFit/>
          </a:bodyPr>
          <a:lstStyle/>
          <a:p>
            <a:pPr algn="just"/>
            <a:r>
              <a:rPr lang="es-MX" dirty="0"/>
              <a:t>Las estadísticas se pueden utilizar para mejorar la gestión de la construcción de varias maneras. En primer lugar, el análisis estadístico se puede aplicar a la gestión de costos del proyecto, lo que permite una estimación y predicción rápidas de la cantidad y el costo de ingeniería . En segundo lugar, se pueden utilizar métodos estadísticos para medir la productividad real de la mano de obra y el equipo, identificando los factores que conducen a la pérdida de productividad y eliminándolos . Además, los análisis estadísticos pueden ayudar a analizar e interpretar datos basados ​​en opiniones recopilados en la industria de la construcción, garantizando que se utilicen pruebas estadísticas apropiadas para datos categóricos y ordinales . Al utilizar técnicas estadísticas, los gerentes de construcción y los tomadores de decisiones pueden tomar decisiones más informadas, mejorar la gestión de costos y mejorar la validez y confiabilidad de los estudios de investigación en el campo de la ingeniería y gestión de la construcción.</a:t>
            </a:r>
            <a:endParaRPr lang="es-PE" dirty="0"/>
          </a:p>
        </p:txBody>
      </p:sp>
    </p:spTree>
    <p:extLst>
      <p:ext uri="{BB962C8B-B14F-4D97-AF65-F5344CB8AC3E}">
        <p14:creationId xmlns:p14="http://schemas.microsoft.com/office/powerpoint/2010/main" val="2709044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4001332" y="2820265"/>
            <a:ext cx="4003788" cy="1323439"/>
          </a:xfrm>
          <a:prstGeom prst="rect">
            <a:avLst/>
          </a:prstGeom>
        </p:spPr>
        <p:txBody>
          <a:bodyPr wrap="none">
            <a:spAutoFit/>
          </a:bodyPr>
          <a:lstStyle/>
          <a:p>
            <a:pPr algn="just"/>
            <a:r>
              <a:rPr lang="es-MX" sz="8000" b="1" dirty="0" smtClean="0">
                <a:solidFill>
                  <a:srgbClr val="0D0E10"/>
                </a:solidFill>
              </a:rPr>
              <a:t>GRACIAS</a:t>
            </a:r>
            <a:r>
              <a:rPr lang="es-MX" b="1" dirty="0" smtClean="0">
                <a:solidFill>
                  <a:srgbClr val="0D0E10"/>
                </a:solidFill>
              </a:rPr>
              <a:t> </a:t>
            </a:r>
            <a:endParaRPr lang="es-MX" b="1" dirty="0">
              <a:solidFill>
                <a:srgbClr val="0D0E10"/>
              </a:solidFill>
            </a:endParaRPr>
          </a:p>
        </p:txBody>
      </p:sp>
    </p:spTree>
    <p:extLst>
      <p:ext uri="{BB962C8B-B14F-4D97-AF65-F5344CB8AC3E}">
        <p14:creationId xmlns:p14="http://schemas.microsoft.com/office/powerpoint/2010/main" val="38830327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13160</TotalTime>
  <Words>2352</Words>
  <Application>Microsoft Office PowerPoint</Application>
  <PresentationFormat>Panorámica</PresentationFormat>
  <Paragraphs>101</Paragraphs>
  <Slides>26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26</vt:i4>
      </vt:variant>
    </vt:vector>
  </HeadingPairs>
  <TitlesOfParts>
    <vt:vector size="34" baseType="lpstr">
      <vt:lpstr>Arial</vt:lpstr>
      <vt:lpstr>Calibri</vt:lpstr>
      <vt:lpstr>Calibri Light</vt:lpstr>
      <vt:lpstr>Open Sans</vt:lpstr>
      <vt:lpstr>Prompt</vt:lpstr>
      <vt:lpstr>Titillium</vt:lpstr>
      <vt:lpstr>var(--heading-font-family)</vt:lpstr>
      <vt:lpstr>Tema de Office</vt:lpstr>
      <vt:lpstr>Presentación de PowerPoint</vt:lpstr>
      <vt:lpstr>Presentación de PowerPoint</vt:lpstr>
      <vt:lpstr>Módulo 9</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Francisco Lopez</cp:lastModifiedBy>
  <cp:revision>156</cp:revision>
  <dcterms:created xsi:type="dcterms:W3CDTF">2022-04-19T18:02:09Z</dcterms:created>
  <dcterms:modified xsi:type="dcterms:W3CDTF">2024-04-26T00:43:13Z</dcterms:modified>
</cp:coreProperties>
</file>