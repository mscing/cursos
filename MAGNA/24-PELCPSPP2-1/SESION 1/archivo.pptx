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59" r:id="rId5"/>
    <p:sldId id="265" r:id="rId6"/>
    <p:sldId id="261" r:id="rId7"/>
    <p:sldId id="257" r:id="rId8"/>
    <p:sldId id="264" r:id="rId9"/>
    <p:sldId id="267" r:id="rId10"/>
    <p:sldId id="268" r:id="rId11"/>
    <p:sldId id="269" r:id="rId12"/>
    <p:sldId id="266" r:id="rId13"/>
    <p:sldId id="260" r:id="rId1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26/02/2024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26/02/2024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26/02/2024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26/02/2024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26/02/2024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26/02/2024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26/02/2024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26/02/2024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26/02/2024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26/02/2024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26/02/2024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26/02/2024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819658" cy="1107996"/>
          </a:xfrm>
          <a:prstGeom prst="rect">
            <a:avLst/>
          </a:prstGeom>
        </p:spPr>
        <p:txBody>
          <a:bodyPr wrap="square">
            <a:spAutoFit/>
          </a:bodyPr>
          <a:lstStyle/>
          <a:p>
            <a:r>
              <a:rPr lang="es-ES" sz="6600" dirty="0" smtClean="0">
                <a:solidFill>
                  <a:srgbClr val="00F3B5"/>
                </a:solidFill>
                <a:latin typeface="Prompt" panose="00000800000000000000" pitchFamily="2" charset="-34"/>
                <a:cs typeface="Prompt" panose="00000800000000000000" pitchFamily="2" charset="-34"/>
              </a:rPr>
              <a:t>Lean construction </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2" name="Rectángulo 1"/>
          <p:cNvSpPr/>
          <p:nvPr/>
        </p:nvSpPr>
        <p:spPr>
          <a:xfrm>
            <a:off x="1613057" y="3815697"/>
            <a:ext cx="5237331" cy="369332"/>
          </a:xfrm>
          <a:prstGeom prst="rect">
            <a:avLst/>
          </a:prstGeom>
        </p:spPr>
        <p:txBody>
          <a:bodyPr wrap="none">
            <a:spAutoFit/>
          </a:bodyPr>
          <a:lstStyle/>
          <a:p>
            <a:r>
              <a:rPr lang="es-MX" b="1" dirty="0" smtClean="0">
                <a:solidFill>
                  <a:schemeClr val="bg1"/>
                </a:solidFill>
                <a:latin typeface="var(--heading-font-family)"/>
              </a:rPr>
              <a:t>DOCENTE: Mg. Ing. Francisco Lopez Bejarano</a:t>
            </a:r>
            <a:endParaRPr lang="es-MX" b="1" i="0" dirty="0">
              <a:solidFill>
                <a:schemeClr val="bg1"/>
              </a:solidFill>
              <a:effectLst/>
              <a:latin typeface="var(--heading-font-family)"/>
            </a:endParaRPr>
          </a:p>
        </p:txBody>
      </p:sp>
    </p:spTree>
    <p:extLst>
      <p:ext uri="{BB962C8B-B14F-4D97-AF65-F5344CB8AC3E}">
        <p14:creationId xmlns:p14="http://schemas.microsoft.com/office/powerpoint/2010/main" val="1825619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1</a:t>
            </a:r>
          </a:p>
        </p:txBody>
      </p:sp>
      <p:sp>
        <p:nvSpPr>
          <p:cNvPr id="5" name="CuadroTexto 4"/>
          <p:cNvSpPr txBox="1"/>
          <p:nvPr/>
        </p:nvSpPr>
        <p:spPr>
          <a:xfrm>
            <a:off x="1087719" y="3611490"/>
            <a:ext cx="6691357" cy="1323439"/>
          </a:xfrm>
          <a:prstGeom prst="rect">
            <a:avLst/>
          </a:prstGeom>
          <a:noFill/>
        </p:spPr>
        <p:txBody>
          <a:bodyPr wrap="square" rtlCol="0">
            <a:spAutoFit/>
          </a:bodyPr>
          <a:lstStyle/>
          <a:p>
            <a:r>
              <a:rPr lang="es-ES" sz="4000" dirty="0" smtClean="0">
                <a:solidFill>
                  <a:schemeClr val="bg1"/>
                </a:solidFill>
                <a:latin typeface="Prompt" panose="00000800000000000000" pitchFamily="2" charset="-34"/>
                <a:cs typeface="Prompt" panose="00000800000000000000" pitchFamily="2" charset="-34"/>
              </a:rPr>
              <a:t>Introducción a la teoría lean</a:t>
            </a:r>
            <a:r>
              <a:rPr lang="es-ES" sz="4000" dirty="0" smtClean="0">
                <a:latin typeface="Prompt" panose="00000800000000000000" pitchFamily="2" charset="-34"/>
                <a:cs typeface="Prompt" panose="00000800000000000000" pitchFamily="2" charset="-34"/>
              </a:rPr>
              <a:t> </a:t>
            </a:r>
            <a:r>
              <a:rPr lang="es-ES" dirty="0"/>
              <a:t>Conceptos Generales</a:t>
            </a:r>
          </a:p>
        </p:txBody>
      </p:sp>
    </p:spTree>
    <p:extLst>
      <p:ext uri="{BB962C8B-B14F-4D97-AF65-F5344CB8AC3E}">
        <p14:creationId xmlns:p14="http://schemas.microsoft.com/office/powerpoint/2010/main" val="1071336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301806" y="470807"/>
            <a:ext cx="4470219" cy="1697083"/>
          </a:xfrm>
          <a:prstGeom prst="rect">
            <a:avLst/>
          </a:prstGeom>
        </p:spPr>
      </p:pic>
      <p:sp>
        <p:nvSpPr>
          <p:cNvPr id="5" name="Marcador de contenido 4"/>
          <p:cNvSpPr>
            <a:spLocks noGrp="1"/>
          </p:cNvSpPr>
          <p:nvPr>
            <p:ph idx="1"/>
          </p:nvPr>
        </p:nvSpPr>
        <p:spPr>
          <a:xfrm>
            <a:off x="5183188" y="1319349"/>
            <a:ext cx="6172200" cy="4541701"/>
          </a:xfrm>
        </p:spPr>
        <p:txBody>
          <a:bodyPr/>
          <a:lstStyle/>
          <a:p>
            <a:pPr marL="0" indent="0" algn="just">
              <a:buNone/>
            </a:pPr>
            <a:r>
              <a:rPr lang="es-MX" dirty="0"/>
              <a:t>Los principios del concepto “LEAN” se fundamentan en que no hay “desperdicios”, y aparecen dos palabras que definen el enfoque de administración de proyectos: “valor” y “desperdicios”. Se pretende maximizar el valor de los proyectos y eliminar los desperdicios que existen en ellos. </a:t>
            </a:r>
            <a:endParaRPr lang="es-ES" dirty="0"/>
          </a:p>
        </p:txBody>
      </p:sp>
      <p:sp>
        <p:nvSpPr>
          <p:cNvPr id="6" name="Marcador de texto 5"/>
          <p:cNvSpPr>
            <a:spLocks noGrp="1"/>
          </p:cNvSpPr>
          <p:nvPr>
            <p:ph type="body" sz="half" idx="2"/>
          </p:nvPr>
        </p:nvSpPr>
        <p:spPr>
          <a:xfrm>
            <a:off x="839788" y="2690948"/>
            <a:ext cx="3932237" cy="3178039"/>
          </a:xfrm>
        </p:spPr>
        <p:txBody>
          <a:bodyPr>
            <a:normAutofit/>
          </a:bodyPr>
          <a:lstStyle/>
          <a:p>
            <a:pPr algn="just"/>
            <a:r>
              <a:rPr lang="es-MX" sz="2000" dirty="0"/>
              <a:t>Desde la década de 1950 la industria automotriz Toyota ha implementado con éxito el “pensamiento LEAN” por Toyota Motor Company </a:t>
            </a:r>
            <a:r>
              <a:rPr lang="es-MX" sz="2000" dirty="0" smtClean="0"/>
              <a:t>. </a:t>
            </a:r>
            <a:r>
              <a:rPr lang="es-MX" sz="2000" dirty="0"/>
              <a:t>Este pensamiento define técnicas modernas para hacer eficientes los proyectos teniendo una misma filosofía de gestión. El objetivo es eliminar actividades que no generan valor en la línea de </a:t>
            </a:r>
            <a:r>
              <a:rPr lang="es-MX" sz="2000" dirty="0" smtClean="0"/>
              <a:t>producción.</a:t>
            </a:r>
            <a:endParaRPr lang="es-ES" sz="2000" dirty="0"/>
          </a:p>
        </p:txBody>
      </p:sp>
    </p:spTree>
    <p:extLst>
      <p:ext uri="{BB962C8B-B14F-4D97-AF65-F5344CB8AC3E}">
        <p14:creationId xmlns:p14="http://schemas.microsoft.com/office/powerpoint/2010/main" val="400865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345474" y="1672046"/>
            <a:ext cx="10009914" cy="4189004"/>
          </a:xfrm>
        </p:spPr>
        <p:txBody>
          <a:bodyPr>
            <a:normAutofit fontScale="70000" lnSpcReduction="20000"/>
          </a:bodyPr>
          <a:lstStyle/>
          <a:p>
            <a:r>
              <a:rPr lang="es-MX" dirty="0"/>
              <a:t>La idea central alrededor de la que gira el enfoque </a:t>
            </a:r>
            <a:r>
              <a:rPr lang="es-MX" b="1" dirty="0"/>
              <a:t>Lean</a:t>
            </a:r>
            <a:r>
              <a:rPr lang="es-MX" dirty="0"/>
              <a:t> es </a:t>
            </a:r>
            <a:r>
              <a:rPr lang="es-MX" b="1" dirty="0"/>
              <a:t>maximizar el valor de cara al cliente y minimizar el desperdicio</a:t>
            </a:r>
            <a:r>
              <a:rPr lang="es-MX" dirty="0"/>
              <a:t> o lo que es lo mismo, crear más valor con menos recursos.</a:t>
            </a:r>
          </a:p>
          <a:p>
            <a:r>
              <a:rPr lang="es-MX" b="1" dirty="0"/>
              <a:t>Una organización Lean enfoca sus procesos clave hacia el aumento de valor de forma continua.</a:t>
            </a:r>
            <a:r>
              <a:rPr lang="es-MX" dirty="0"/>
              <a:t> El objetivo final es proporcionar un valor perfecto para el cliente, a través de un proceso de creación donde no existe el desperdicio. Para lograr esto, el pensamiento </a:t>
            </a:r>
            <a:r>
              <a:rPr lang="es-MX" b="1" dirty="0"/>
              <a:t>Lean</a:t>
            </a:r>
            <a:r>
              <a:rPr lang="es-MX" dirty="0"/>
              <a:t> cambia el enfoque de gestión desde la optimización de tecnologías, activos y departamentos verticales separados hasta la </a:t>
            </a:r>
            <a:r>
              <a:rPr lang="es-MX" b="1" dirty="0"/>
              <a:t>optimización del flujo de productos y servicios a través de corrientes horizontales de valor que fluyen a través de tecnologías, activos y departamentos en dirección hacia los clientes.</a:t>
            </a:r>
            <a:endParaRPr lang="es-MX" dirty="0"/>
          </a:p>
          <a:p>
            <a:r>
              <a:rPr lang="es-MX" dirty="0"/>
              <a:t>Eliminar desechos a lo largo de flujos de valor completos, en lugar de puntos aislados, crea procesos que requieren menos esfuerzo humano, menos espacio, menos capital y menos tiempo para fabricar productos y servicios, algo que se consigue con costes mucho menores y con muchos menos defectos, en comparación con los sistemas tradicionales.</a:t>
            </a:r>
          </a:p>
          <a:p>
            <a:endParaRPr lang="es-PE" dirty="0"/>
          </a:p>
        </p:txBody>
      </p:sp>
      <p:sp>
        <p:nvSpPr>
          <p:cNvPr id="5" name="Rectángulo 4"/>
          <p:cNvSpPr/>
          <p:nvPr/>
        </p:nvSpPr>
        <p:spPr>
          <a:xfrm>
            <a:off x="2116183" y="984460"/>
            <a:ext cx="6400800" cy="461665"/>
          </a:xfrm>
          <a:prstGeom prst="rect">
            <a:avLst/>
          </a:prstGeom>
        </p:spPr>
        <p:txBody>
          <a:bodyPr wrap="square">
            <a:spAutoFit/>
          </a:bodyPr>
          <a:lstStyle/>
          <a:p>
            <a:pPr algn="ctr"/>
            <a:r>
              <a:rPr lang="es-MX" sz="2400" b="1" dirty="0">
                <a:solidFill>
                  <a:srgbClr val="1A1A1A"/>
                </a:solidFill>
                <a:latin typeface="var(--heading-font-family)"/>
              </a:rPr>
              <a:t>¿Qué es la metodología Lean?</a:t>
            </a:r>
            <a:endParaRPr lang="es-MX" sz="2400" b="1" i="0" dirty="0">
              <a:solidFill>
                <a:srgbClr val="1A1A1A"/>
              </a:solidFill>
              <a:effectLst/>
              <a:latin typeface="var(--heading-font-family)"/>
            </a:endParaRPr>
          </a:p>
        </p:txBody>
      </p:sp>
    </p:spTree>
    <p:extLst>
      <p:ext uri="{BB962C8B-B14F-4D97-AF65-F5344CB8AC3E}">
        <p14:creationId xmlns:p14="http://schemas.microsoft.com/office/powerpoint/2010/main" val="37268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839789" y="740637"/>
            <a:ext cx="5157787" cy="823912"/>
          </a:xfrm>
        </p:spPr>
        <p:txBody>
          <a:bodyPr/>
          <a:lstStyle/>
          <a:p>
            <a:r>
              <a:rPr lang="es-PE" dirty="0"/>
              <a:t>El pensamiento “LEAN”</a:t>
            </a:r>
            <a:endParaRPr lang="es-ES" dirty="0"/>
          </a:p>
        </p:txBody>
      </p:sp>
      <p:sp>
        <p:nvSpPr>
          <p:cNvPr id="4" name="Marcador de contenido 3"/>
          <p:cNvSpPr>
            <a:spLocks noGrp="1"/>
          </p:cNvSpPr>
          <p:nvPr>
            <p:ph sz="half" idx="2"/>
          </p:nvPr>
        </p:nvSpPr>
        <p:spPr>
          <a:xfrm>
            <a:off x="627018" y="1681163"/>
            <a:ext cx="4519748" cy="4508500"/>
          </a:xfrm>
        </p:spPr>
        <p:txBody>
          <a:bodyPr/>
          <a:lstStyle/>
          <a:p>
            <a:r>
              <a:rPr lang="es-MX" dirty="0"/>
              <a:t>Eliminar pérdidas por demoras e ineficiencias en los procesos internos de la </a:t>
            </a:r>
            <a:r>
              <a:rPr lang="es-MX" dirty="0" smtClean="0"/>
              <a:t>organización</a:t>
            </a:r>
          </a:p>
          <a:p>
            <a:pPr marL="0" indent="0">
              <a:buNone/>
            </a:pPr>
            <a:r>
              <a:rPr lang="es-MX" dirty="0" smtClean="0"/>
              <a:t> </a:t>
            </a:r>
            <a:r>
              <a:rPr lang="es-MX" dirty="0"/>
              <a:t>• Prevenir y eliminar fallas de equipos, interrupciones y pérdidas de producción </a:t>
            </a:r>
            <a:endParaRPr lang="es-MX" dirty="0" smtClean="0"/>
          </a:p>
          <a:p>
            <a:pPr marL="0" indent="0">
              <a:buNone/>
            </a:pPr>
            <a:r>
              <a:rPr lang="es-MX" dirty="0" smtClean="0"/>
              <a:t>• </a:t>
            </a:r>
            <a:r>
              <a:rPr lang="es-MX" dirty="0"/>
              <a:t>Buscar siempre la perfección y mejoras de calidad</a:t>
            </a:r>
            <a:endParaRPr lang="es-ES" dirty="0"/>
          </a:p>
        </p:txBody>
      </p:sp>
      <p:pic>
        <p:nvPicPr>
          <p:cNvPr id="7" name="Imagen 6"/>
          <p:cNvPicPr>
            <a:picLocks noChangeAspect="1"/>
          </p:cNvPicPr>
          <p:nvPr/>
        </p:nvPicPr>
        <p:blipFill>
          <a:blip r:embed="rId2"/>
          <a:stretch>
            <a:fillRect/>
          </a:stretch>
        </p:blipFill>
        <p:spPr>
          <a:xfrm>
            <a:off x="5408024" y="1293222"/>
            <a:ext cx="6259650" cy="4741817"/>
          </a:xfrm>
          <a:prstGeom prst="rect">
            <a:avLst/>
          </a:prstGeom>
        </p:spPr>
      </p:pic>
    </p:spTree>
    <p:extLst>
      <p:ext uri="{BB962C8B-B14F-4D97-AF65-F5344CB8AC3E}">
        <p14:creationId xmlns:p14="http://schemas.microsoft.com/office/powerpoint/2010/main" val="237692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arcador de contenido 1"/>
          <p:cNvPicPr>
            <a:picLocks noGrp="1" noChangeAspect="1"/>
          </p:cNvPicPr>
          <p:nvPr>
            <p:ph sz="half" idx="2"/>
          </p:nvPr>
        </p:nvPicPr>
        <p:blipFill>
          <a:blip r:embed="rId2"/>
          <a:stretch>
            <a:fillRect/>
          </a:stretch>
        </p:blipFill>
        <p:spPr>
          <a:xfrm>
            <a:off x="1541417" y="1267097"/>
            <a:ext cx="8543109" cy="4859383"/>
          </a:xfrm>
          <a:prstGeom prst="rect">
            <a:avLst/>
          </a:prstGeom>
        </p:spPr>
      </p:pic>
    </p:spTree>
    <p:extLst>
      <p:ext uri="{BB962C8B-B14F-4D97-AF65-F5344CB8AC3E}">
        <p14:creationId xmlns:p14="http://schemas.microsoft.com/office/powerpoint/2010/main" val="307470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1084217" y="1711234"/>
            <a:ext cx="9627326" cy="3970318"/>
          </a:xfrm>
          <a:prstGeom prst="rect">
            <a:avLst/>
          </a:prstGeom>
        </p:spPr>
        <p:txBody>
          <a:bodyPr wrap="square">
            <a:spAutoFit/>
          </a:bodyPr>
          <a:lstStyle/>
          <a:p>
            <a:r>
              <a:rPr lang="es-MX" b="1" dirty="0">
                <a:solidFill>
                  <a:srgbClr val="1A1A1A"/>
                </a:solidFill>
                <a:latin typeface="Assistant"/>
              </a:rPr>
              <a:t>Lean</a:t>
            </a:r>
            <a:r>
              <a:rPr lang="es-MX" dirty="0">
                <a:solidFill>
                  <a:srgbClr val="1A1A1A"/>
                </a:solidFill>
                <a:latin typeface="Assistant"/>
              </a:rPr>
              <a:t> busca mejorar continuamente los procesos de trabajo, los propósitos y las personas. En lugar de tratar de mantener el control total de los procesos de trabajo y ponerlos en el centro del foco</a:t>
            </a:r>
            <a:r>
              <a:rPr lang="es-MX" b="1" dirty="0">
                <a:solidFill>
                  <a:srgbClr val="1A1A1A"/>
                </a:solidFill>
                <a:latin typeface="Assistant"/>
              </a:rPr>
              <a:t>, Lean </a:t>
            </a:r>
            <a:r>
              <a:rPr lang="es-MX" b="1" dirty="0" err="1">
                <a:solidFill>
                  <a:srgbClr val="1A1A1A"/>
                </a:solidFill>
                <a:latin typeface="Assistant"/>
              </a:rPr>
              <a:t>management</a:t>
            </a:r>
            <a:r>
              <a:rPr lang="es-MX" b="1" dirty="0">
                <a:solidFill>
                  <a:srgbClr val="1A1A1A"/>
                </a:solidFill>
                <a:latin typeface="Assistant"/>
              </a:rPr>
              <a:t> fomenta la responsabilidad y el liderazgo compartidos.</a:t>
            </a:r>
            <a:endParaRPr lang="es-MX" dirty="0">
              <a:solidFill>
                <a:srgbClr val="1A1A1A"/>
              </a:solidFill>
              <a:latin typeface="Assistant"/>
            </a:endParaRPr>
          </a:p>
          <a:p>
            <a:r>
              <a:rPr lang="es-MX" dirty="0">
                <a:solidFill>
                  <a:srgbClr val="1A1A1A"/>
                </a:solidFill>
                <a:latin typeface="Assistant"/>
              </a:rPr>
              <a:t>Esta es la razón por la que, además de la mejora continua, el respeto por las personas se considera uno de los pilares de esta forma de gestión, que confía en las personas que están haciendo el trabajo para tomar decisiones, independientemente de la jerarquía.</a:t>
            </a:r>
          </a:p>
          <a:p>
            <a:r>
              <a:rPr lang="es-MX" dirty="0">
                <a:solidFill>
                  <a:srgbClr val="1A1A1A"/>
                </a:solidFill>
                <a:latin typeface="Assistant"/>
              </a:rPr>
              <a:t>Actualmente, la gestión </a:t>
            </a:r>
            <a:r>
              <a:rPr lang="es-MX" b="1" dirty="0">
                <a:solidFill>
                  <a:srgbClr val="1A1A1A"/>
                </a:solidFill>
                <a:latin typeface="Assistant"/>
              </a:rPr>
              <a:t>Lean</a:t>
            </a:r>
            <a:r>
              <a:rPr lang="es-MX" dirty="0">
                <a:solidFill>
                  <a:srgbClr val="1A1A1A"/>
                </a:solidFill>
                <a:latin typeface="Assistant"/>
              </a:rPr>
              <a:t> es un concepto ampliamente adoptado en diversas industrias, </a:t>
            </a:r>
            <a:r>
              <a:rPr lang="es-MX" b="1" dirty="0">
                <a:solidFill>
                  <a:srgbClr val="1A1A1A"/>
                </a:solidFill>
                <a:latin typeface="Assistant"/>
              </a:rPr>
              <a:t>derivado del sistema de producción de Toyota.</a:t>
            </a:r>
            <a:endParaRPr lang="es-MX" dirty="0">
              <a:solidFill>
                <a:srgbClr val="1A1A1A"/>
              </a:solidFill>
              <a:latin typeface="Assistant"/>
            </a:endParaRPr>
          </a:p>
          <a:p>
            <a:r>
              <a:rPr lang="es-MX" dirty="0">
                <a:solidFill>
                  <a:srgbClr val="1A1A1A"/>
                </a:solidFill>
                <a:latin typeface="Assistant"/>
              </a:rPr>
              <a:t>A fines de la década de 1940, cuando Toyota puso los cimientos de la fabricación ajustada, su objetivo era reducir los procesos que no aportaban valor al producto final. Al hacerlo, lograron lograr mejoras significativas en productividad, eficiencia, tiempo de ciclo y costes.</a:t>
            </a:r>
          </a:p>
          <a:p>
            <a:r>
              <a:rPr lang="es-MX" dirty="0">
                <a:solidFill>
                  <a:srgbClr val="1A1A1A"/>
                </a:solidFill>
                <a:latin typeface="Assistant"/>
              </a:rPr>
              <a:t>Gracias a este impacto notable, </a:t>
            </a:r>
            <a:r>
              <a:rPr lang="es-MX" b="1" dirty="0">
                <a:solidFill>
                  <a:srgbClr val="1A1A1A"/>
                </a:solidFill>
                <a:latin typeface="Assistant"/>
              </a:rPr>
              <a:t>el pensamiento Lean se ha extendido a muchas industrias y evolucionado a 5 principios básicos de gestión Lean.</a:t>
            </a:r>
            <a:endParaRPr lang="es-MX" b="0" i="0" dirty="0">
              <a:solidFill>
                <a:srgbClr val="1A1A1A"/>
              </a:solidFill>
              <a:effectLst/>
              <a:latin typeface="Assistant"/>
            </a:endParaRPr>
          </a:p>
        </p:txBody>
      </p:sp>
      <p:sp>
        <p:nvSpPr>
          <p:cNvPr id="6" name="Rectángulo 5"/>
          <p:cNvSpPr/>
          <p:nvPr/>
        </p:nvSpPr>
        <p:spPr>
          <a:xfrm>
            <a:off x="2120537" y="1041904"/>
            <a:ext cx="6709954" cy="369332"/>
          </a:xfrm>
          <a:prstGeom prst="rect">
            <a:avLst/>
          </a:prstGeom>
        </p:spPr>
        <p:txBody>
          <a:bodyPr wrap="square">
            <a:spAutoFit/>
          </a:bodyPr>
          <a:lstStyle/>
          <a:p>
            <a:r>
              <a:rPr lang="es-MX" b="1" dirty="0">
                <a:solidFill>
                  <a:srgbClr val="1A1A1A"/>
                </a:solidFill>
                <a:latin typeface="var(--heading-font-family)"/>
              </a:rPr>
              <a:t>¿Qué es Lean </a:t>
            </a:r>
            <a:r>
              <a:rPr lang="es-MX" b="1" dirty="0" err="1">
                <a:solidFill>
                  <a:srgbClr val="1A1A1A"/>
                </a:solidFill>
                <a:latin typeface="var(--heading-font-family)"/>
              </a:rPr>
              <a:t>management</a:t>
            </a:r>
            <a:r>
              <a:rPr lang="es-MX" b="1" dirty="0">
                <a:solidFill>
                  <a:srgbClr val="1A1A1A"/>
                </a:solidFill>
                <a:latin typeface="var(--heading-font-family)"/>
              </a:rPr>
              <a:t> y cuáles fueron sus orígenes?</a:t>
            </a:r>
            <a:endParaRPr lang="es-MX" b="1" i="0" dirty="0">
              <a:solidFill>
                <a:srgbClr val="1A1A1A"/>
              </a:solidFill>
              <a:effectLst/>
              <a:latin typeface="var(--heading-font-family)"/>
            </a:endParaRPr>
          </a:p>
        </p:txBody>
      </p:sp>
    </p:spTree>
    <p:extLst>
      <p:ext uri="{BB962C8B-B14F-4D97-AF65-F5344CB8AC3E}">
        <p14:creationId xmlns:p14="http://schemas.microsoft.com/office/powerpoint/2010/main" val="22780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2264228" y="519390"/>
            <a:ext cx="6096000" cy="830997"/>
          </a:xfrm>
          <a:prstGeom prst="rect">
            <a:avLst/>
          </a:prstGeom>
        </p:spPr>
        <p:txBody>
          <a:bodyPr>
            <a:spAutoFit/>
          </a:bodyPr>
          <a:lstStyle/>
          <a:p>
            <a:r>
              <a:rPr lang="es-MX" sz="2400" b="1" dirty="0">
                <a:solidFill>
                  <a:srgbClr val="1A1A1A"/>
                </a:solidFill>
              </a:rPr>
              <a:t>¿Cuáles son los principios básicos del Lean </a:t>
            </a:r>
            <a:r>
              <a:rPr lang="es-MX" sz="2400" b="1" dirty="0" err="1">
                <a:solidFill>
                  <a:srgbClr val="1A1A1A"/>
                </a:solidFill>
              </a:rPr>
              <a:t>management</a:t>
            </a:r>
            <a:r>
              <a:rPr lang="es-MX" sz="2400" b="1" dirty="0">
                <a:solidFill>
                  <a:srgbClr val="1A1A1A"/>
                </a:solidFill>
              </a:rPr>
              <a:t>?</a:t>
            </a:r>
            <a:endParaRPr lang="es-MX" sz="2400" b="1" i="0" dirty="0">
              <a:solidFill>
                <a:srgbClr val="1A1A1A"/>
              </a:solidFill>
              <a:effectLst/>
            </a:endParaRPr>
          </a:p>
        </p:txBody>
      </p:sp>
      <p:sp>
        <p:nvSpPr>
          <p:cNvPr id="6" name="Rectángulo 5"/>
          <p:cNvSpPr/>
          <p:nvPr/>
        </p:nvSpPr>
        <p:spPr>
          <a:xfrm>
            <a:off x="653141" y="1753549"/>
            <a:ext cx="10829109" cy="677108"/>
          </a:xfrm>
          <a:prstGeom prst="rect">
            <a:avLst/>
          </a:prstGeom>
        </p:spPr>
        <p:txBody>
          <a:bodyPr wrap="square">
            <a:spAutoFit/>
          </a:bodyPr>
          <a:lstStyle/>
          <a:p>
            <a:r>
              <a:rPr lang="es-MX" sz="2000" dirty="0">
                <a:solidFill>
                  <a:srgbClr val="1A1A1A"/>
                </a:solidFill>
              </a:rPr>
              <a:t>Los </a:t>
            </a:r>
            <a:r>
              <a:rPr lang="es-MX" sz="2000" b="1" dirty="0">
                <a:solidFill>
                  <a:srgbClr val="1A1A1A"/>
                </a:solidFill>
              </a:rPr>
              <a:t>principios del</a:t>
            </a:r>
            <a:r>
              <a:rPr lang="es-MX" sz="2000" dirty="0">
                <a:solidFill>
                  <a:srgbClr val="1A1A1A"/>
                </a:solidFill>
              </a:rPr>
              <a:t> </a:t>
            </a:r>
            <a:r>
              <a:rPr lang="es-MX" sz="2000" b="1" dirty="0">
                <a:solidFill>
                  <a:srgbClr val="1A1A1A"/>
                </a:solidFill>
              </a:rPr>
              <a:t>Lean </a:t>
            </a:r>
            <a:r>
              <a:rPr lang="es-MX" sz="2000" b="1" dirty="0" err="1">
                <a:solidFill>
                  <a:srgbClr val="1A1A1A"/>
                </a:solidFill>
              </a:rPr>
              <a:t>management</a:t>
            </a:r>
            <a:r>
              <a:rPr lang="es-MX" sz="2000" dirty="0">
                <a:solidFill>
                  <a:srgbClr val="1A1A1A"/>
                </a:solidFill>
              </a:rPr>
              <a:t> son cinco. Se trata de los siguientes</a:t>
            </a:r>
            <a:r>
              <a:rPr lang="es-MX" sz="2000" dirty="0" smtClean="0">
                <a:solidFill>
                  <a:srgbClr val="1A1A1A"/>
                </a:solidFill>
              </a:rPr>
              <a:t>:</a:t>
            </a:r>
          </a:p>
          <a:p>
            <a:endParaRPr lang="es-MX" dirty="0">
              <a:solidFill>
                <a:srgbClr val="1A1A1A"/>
              </a:solidFill>
              <a:latin typeface="Assistant"/>
            </a:endParaRPr>
          </a:p>
        </p:txBody>
      </p:sp>
      <p:sp>
        <p:nvSpPr>
          <p:cNvPr id="7" name="Rectángulo 6"/>
          <p:cNvSpPr/>
          <p:nvPr/>
        </p:nvSpPr>
        <p:spPr>
          <a:xfrm>
            <a:off x="653141" y="2413338"/>
            <a:ext cx="10633168" cy="1631216"/>
          </a:xfrm>
          <a:prstGeom prst="rect">
            <a:avLst/>
          </a:prstGeom>
        </p:spPr>
        <p:txBody>
          <a:bodyPr wrap="square">
            <a:spAutoFit/>
          </a:bodyPr>
          <a:lstStyle/>
          <a:p>
            <a:r>
              <a:rPr lang="es-MX" sz="2000" b="1" dirty="0" smtClean="0">
                <a:solidFill>
                  <a:srgbClr val="1A1A1A"/>
                </a:solidFill>
              </a:rPr>
              <a:t>1. Identificación </a:t>
            </a:r>
            <a:r>
              <a:rPr lang="es-MX" sz="2000" b="1" dirty="0">
                <a:solidFill>
                  <a:srgbClr val="1A1A1A"/>
                </a:solidFill>
              </a:rPr>
              <a:t>del valor</a:t>
            </a:r>
            <a:r>
              <a:rPr lang="es-MX" sz="2000" dirty="0">
                <a:solidFill>
                  <a:srgbClr val="1A1A1A"/>
                </a:solidFill>
              </a:rPr>
              <a:t>. El valor radica en el problema que está tratando de resolver para el cliente. Más específicamente en la parte de la solución que su cliente está dispuesto a pagar activamente. Cualquier actividad o proceso que no aporte valor al producto final se considera desperdicio. Por lo tanto, primero debe identificar el valor que desea entregar y luego pasar al siguiente paso.</a:t>
            </a:r>
            <a:endParaRPr lang="es-PE" sz="2000" dirty="0"/>
          </a:p>
        </p:txBody>
      </p:sp>
      <p:sp>
        <p:nvSpPr>
          <p:cNvPr id="8" name="Rectángulo 7"/>
          <p:cNvSpPr/>
          <p:nvPr/>
        </p:nvSpPr>
        <p:spPr>
          <a:xfrm>
            <a:off x="653141" y="4014877"/>
            <a:ext cx="9993088" cy="1323439"/>
          </a:xfrm>
          <a:prstGeom prst="rect">
            <a:avLst/>
          </a:prstGeom>
        </p:spPr>
        <p:txBody>
          <a:bodyPr wrap="square">
            <a:spAutoFit/>
          </a:bodyPr>
          <a:lstStyle/>
          <a:p>
            <a:r>
              <a:rPr lang="es-MX" sz="2000" b="1" dirty="0" smtClean="0">
                <a:solidFill>
                  <a:srgbClr val="1A1A1A"/>
                </a:solidFill>
              </a:rPr>
              <a:t>2. Asignación </a:t>
            </a:r>
            <a:r>
              <a:rPr lang="es-MX" sz="2000" b="1" dirty="0">
                <a:solidFill>
                  <a:srgbClr val="1A1A1A"/>
                </a:solidFill>
              </a:rPr>
              <a:t>del flujo de valor</a:t>
            </a:r>
            <a:r>
              <a:rPr lang="es-MX" sz="2000" dirty="0">
                <a:solidFill>
                  <a:srgbClr val="1A1A1A"/>
                </a:solidFill>
              </a:rPr>
              <a:t>. Consiste en el mapeo de los flujos de trabajo, incluyendo todas las acciones y personas involucradas en el proceso de entrega del producto final al cliente. Gracias a esta visión, se pueden identificar las partes del proceso que no aportan ningún valor para eliminarlas.</a:t>
            </a:r>
            <a:endParaRPr lang="es-PE" sz="2000" dirty="0"/>
          </a:p>
        </p:txBody>
      </p:sp>
    </p:spTree>
    <p:extLst>
      <p:ext uri="{BB962C8B-B14F-4D97-AF65-F5344CB8AC3E}">
        <p14:creationId xmlns:p14="http://schemas.microsoft.com/office/powerpoint/2010/main" val="50490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1153885" y="1261128"/>
            <a:ext cx="9675223" cy="1631216"/>
          </a:xfrm>
          <a:prstGeom prst="rect">
            <a:avLst/>
          </a:prstGeom>
        </p:spPr>
        <p:txBody>
          <a:bodyPr wrap="square">
            <a:spAutoFit/>
          </a:bodyPr>
          <a:lstStyle/>
          <a:p>
            <a:r>
              <a:rPr lang="es-MX" sz="2000" b="1" dirty="0" smtClean="0">
                <a:solidFill>
                  <a:srgbClr val="1A1A1A"/>
                </a:solidFill>
              </a:rPr>
              <a:t>3. Creación </a:t>
            </a:r>
            <a:r>
              <a:rPr lang="es-MX" sz="2000" b="1" dirty="0">
                <a:solidFill>
                  <a:srgbClr val="1A1A1A"/>
                </a:solidFill>
              </a:rPr>
              <a:t>de un flujo de trabajo continuo.</a:t>
            </a:r>
            <a:r>
              <a:rPr lang="es-MX" sz="2000" dirty="0">
                <a:solidFill>
                  <a:srgbClr val="1A1A1A"/>
                </a:solidFill>
              </a:rPr>
              <a:t> Una vez identificado, hay que velar por el mantenimiento del flujo de trabajo de cada equipo.  A este respecto, </a:t>
            </a:r>
            <a:r>
              <a:rPr lang="es-MX" sz="2000" b="1" dirty="0">
                <a:solidFill>
                  <a:srgbClr val="1A1A1A"/>
                </a:solidFill>
              </a:rPr>
              <a:t>el mayor reto del Lean </a:t>
            </a:r>
            <a:r>
              <a:rPr lang="es-MX" sz="2000" b="1" dirty="0" err="1">
                <a:solidFill>
                  <a:srgbClr val="1A1A1A"/>
                </a:solidFill>
              </a:rPr>
              <a:t>management</a:t>
            </a:r>
            <a:r>
              <a:rPr lang="es-MX" sz="2000" b="1" dirty="0">
                <a:solidFill>
                  <a:srgbClr val="1A1A1A"/>
                </a:solidFill>
              </a:rPr>
              <a:t> es evitar los cuellos de botella y las interrupciones</a:t>
            </a:r>
            <a:r>
              <a:rPr lang="es-MX" sz="2000" dirty="0">
                <a:solidFill>
                  <a:srgbClr val="1A1A1A"/>
                </a:solidFill>
              </a:rPr>
              <a:t>, aunque puede lograrse de forma más sencilla dividiendo el trabajo en lotes más pequeños para que, con su visualización se puedan detectar y eliminar los inconvenientes que vayan surgiendo.</a:t>
            </a:r>
            <a:endParaRPr lang="es-PE" sz="2000" dirty="0"/>
          </a:p>
        </p:txBody>
      </p:sp>
      <p:sp>
        <p:nvSpPr>
          <p:cNvPr id="6" name="Rectángulo 5"/>
          <p:cNvSpPr/>
          <p:nvPr/>
        </p:nvSpPr>
        <p:spPr>
          <a:xfrm rot="10800000" flipV="1">
            <a:off x="1153885" y="2839198"/>
            <a:ext cx="10054046" cy="1631216"/>
          </a:xfrm>
          <a:prstGeom prst="rect">
            <a:avLst/>
          </a:prstGeom>
        </p:spPr>
        <p:txBody>
          <a:bodyPr wrap="square">
            <a:spAutoFit/>
          </a:bodyPr>
          <a:lstStyle/>
          <a:p>
            <a:r>
              <a:rPr lang="es-MX" sz="2000" b="1" dirty="0" smtClean="0">
                <a:solidFill>
                  <a:srgbClr val="1A1A1A"/>
                </a:solidFill>
              </a:rPr>
              <a:t>4. Creación </a:t>
            </a:r>
            <a:r>
              <a:rPr lang="es-MX" sz="2000" b="1" dirty="0">
                <a:solidFill>
                  <a:srgbClr val="1A1A1A"/>
                </a:solidFill>
              </a:rPr>
              <a:t>de un sistema de trabajo específico.</a:t>
            </a:r>
            <a:r>
              <a:rPr lang="es-MX" sz="2000" dirty="0">
                <a:solidFill>
                  <a:srgbClr val="1A1A1A"/>
                </a:solidFill>
              </a:rPr>
              <a:t> Es la forma de asegurar un flujo de trabajo estable y una garantía de que los equipos pueden entregar tareas de trabajo mucho más rápido con menos esfuerzo. La base de este sistema es que los procesos de trabajo sólo dan inicio si existe una demanda. Esto permite optimizar la capacidad de los recursos y entregar productos / servicios solo si existe una necesidad real.</a:t>
            </a:r>
            <a:endParaRPr lang="es-PE" sz="2000" dirty="0"/>
          </a:p>
        </p:txBody>
      </p:sp>
      <p:sp>
        <p:nvSpPr>
          <p:cNvPr id="7" name="Rectángulo 6"/>
          <p:cNvSpPr/>
          <p:nvPr/>
        </p:nvSpPr>
        <p:spPr>
          <a:xfrm>
            <a:off x="1153885" y="4549676"/>
            <a:ext cx="9675222" cy="1631216"/>
          </a:xfrm>
          <a:prstGeom prst="rect">
            <a:avLst/>
          </a:prstGeom>
        </p:spPr>
        <p:txBody>
          <a:bodyPr wrap="square">
            <a:spAutoFit/>
          </a:bodyPr>
          <a:lstStyle/>
          <a:p>
            <a:r>
              <a:rPr lang="es-MX" sz="2000" b="1" dirty="0" smtClean="0">
                <a:solidFill>
                  <a:srgbClr val="1A1A1A"/>
                </a:solidFill>
              </a:rPr>
              <a:t>5. Mejora </a:t>
            </a:r>
            <a:r>
              <a:rPr lang="es-MX" sz="2000" b="1" dirty="0">
                <a:solidFill>
                  <a:srgbClr val="1A1A1A"/>
                </a:solidFill>
              </a:rPr>
              <a:t>continua. Una vez aplicados todos los pasos previos, puede hablarse ya </a:t>
            </a:r>
            <a:r>
              <a:rPr lang="es-MX" sz="2000" b="1" dirty="0" smtClean="0">
                <a:solidFill>
                  <a:srgbClr val="1A1A1A"/>
                </a:solidFill>
              </a:rPr>
              <a:t>de Lean </a:t>
            </a:r>
            <a:r>
              <a:rPr lang="es-MX" sz="2000" b="1" dirty="0" err="1">
                <a:solidFill>
                  <a:srgbClr val="1A1A1A"/>
                </a:solidFill>
              </a:rPr>
              <a:t>management</a:t>
            </a:r>
            <a:r>
              <a:rPr lang="es-MX" sz="2000" dirty="0">
                <a:solidFill>
                  <a:srgbClr val="1A1A1A"/>
                </a:solidFill>
              </a:rPr>
              <a:t>. Sin embargo, para mantener este enfoque de gestión hay que prestar atención a este paso. Como el sistema ni está aislado ni es estático, pueden surgir problemas en cualquiera de los pasos anteriores, por lo que hay que asegurarse de que los empleados, a todos los niveles, participen en la mejora continua del proceso.</a:t>
            </a:r>
            <a:endParaRPr lang="es-PE" sz="2000" dirty="0"/>
          </a:p>
        </p:txBody>
      </p:sp>
    </p:spTree>
    <p:extLst>
      <p:ext uri="{BB962C8B-B14F-4D97-AF65-F5344CB8AC3E}">
        <p14:creationId xmlns:p14="http://schemas.microsoft.com/office/powerpoint/2010/main" val="49892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770709" y="2159620"/>
            <a:ext cx="10280469" cy="2585323"/>
          </a:xfrm>
          <a:prstGeom prst="rect">
            <a:avLst/>
          </a:prstGeom>
        </p:spPr>
        <p:txBody>
          <a:bodyPr wrap="square">
            <a:spAutoFit/>
          </a:bodyPr>
          <a:lstStyle/>
          <a:p>
            <a:r>
              <a:rPr lang="es-MX" b="1" dirty="0">
                <a:solidFill>
                  <a:srgbClr val="1A1A1A"/>
                </a:solidFill>
                <a:latin typeface="Assistant"/>
              </a:rPr>
              <a:t>La práctica de los principios de gestión Lean requiere un cambio en la mentalidad</a:t>
            </a:r>
            <a:r>
              <a:rPr lang="es-MX" dirty="0">
                <a:solidFill>
                  <a:srgbClr val="1A1A1A"/>
                </a:solidFill>
                <a:latin typeface="Assistant"/>
              </a:rPr>
              <a:t>: de un supervisor, a un maestro y un entrenador. Los líderes Lean deben </a:t>
            </a:r>
            <a:r>
              <a:rPr lang="es-MX" b="1" dirty="0">
                <a:solidFill>
                  <a:srgbClr val="1A1A1A"/>
                </a:solidFill>
                <a:latin typeface="Assistant"/>
              </a:rPr>
              <a:t>asegurarse de que los principios Lean se apliquen con el objetivo correcto en mente: maximizar de forma sostenible la entrega de valor al cliente.</a:t>
            </a:r>
            <a:endParaRPr lang="es-MX" dirty="0">
              <a:solidFill>
                <a:srgbClr val="1A1A1A"/>
              </a:solidFill>
              <a:latin typeface="Assistant"/>
            </a:endParaRPr>
          </a:p>
          <a:p>
            <a:r>
              <a:rPr lang="es-MX" dirty="0">
                <a:solidFill>
                  <a:srgbClr val="1A1A1A"/>
                </a:solidFill>
                <a:latin typeface="Assistant"/>
              </a:rPr>
              <a:t>De la misma manera que </a:t>
            </a:r>
            <a:r>
              <a:rPr lang="es-MX" b="1" dirty="0">
                <a:solidFill>
                  <a:srgbClr val="1A1A1A"/>
                </a:solidFill>
                <a:latin typeface="Assistant"/>
              </a:rPr>
              <a:t>no hay dos transformaciones</a:t>
            </a:r>
            <a:r>
              <a:rPr lang="es-MX" dirty="0">
                <a:solidFill>
                  <a:srgbClr val="1A1A1A"/>
                </a:solidFill>
                <a:latin typeface="Assistant"/>
              </a:rPr>
              <a:t> </a:t>
            </a:r>
            <a:r>
              <a:rPr lang="es-MX" b="1" dirty="0">
                <a:solidFill>
                  <a:srgbClr val="1A1A1A"/>
                </a:solidFill>
                <a:latin typeface="Assistant"/>
              </a:rPr>
              <a:t>Lean</a:t>
            </a:r>
            <a:r>
              <a:rPr lang="es-MX" dirty="0">
                <a:solidFill>
                  <a:srgbClr val="1A1A1A"/>
                </a:solidFill>
                <a:latin typeface="Assistant"/>
              </a:rPr>
              <a:t> exactamente iguales, no hay dos </a:t>
            </a:r>
            <a:r>
              <a:rPr lang="es-MX" b="1" dirty="0">
                <a:solidFill>
                  <a:srgbClr val="1A1A1A"/>
                </a:solidFill>
                <a:latin typeface="Assistant"/>
              </a:rPr>
              <a:t>aplicaciones de principios de Lean </a:t>
            </a:r>
            <a:r>
              <a:rPr lang="es-MX" b="1" dirty="0" err="1">
                <a:solidFill>
                  <a:srgbClr val="1A1A1A"/>
                </a:solidFill>
                <a:latin typeface="Assistant"/>
              </a:rPr>
              <a:t>management</a:t>
            </a:r>
            <a:r>
              <a:rPr lang="es-MX" dirty="0">
                <a:solidFill>
                  <a:srgbClr val="1A1A1A"/>
                </a:solidFill>
                <a:latin typeface="Assistant"/>
              </a:rPr>
              <a:t> que se lleven a cabo de la misma forma. La gestión Lean no es un conjunto de métodos, herramientas o prácticas definidos, sino una filosofía de gestión, un enfoque a largo plazo que sistemáticamente busca mejorar los procesos y productos a través de cambios graduales y que cada líder interpretará y ejecutará a su manera.</a:t>
            </a:r>
            <a:endParaRPr lang="es-MX" b="0" i="0" dirty="0">
              <a:solidFill>
                <a:srgbClr val="1A1A1A"/>
              </a:solidFill>
              <a:effectLst/>
              <a:latin typeface="Assistant"/>
            </a:endParaRPr>
          </a:p>
        </p:txBody>
      </p:sp>
      <p:sp>
        <p:nvSpPr>
          <p:cNvPr id="7" name="Rectángulo 6"/>
          <p:cNvSpPr/>
          <p:nvPr/>
        </p:nvSpPr>
        <p:spPr>
          <a:xfrm>
            <a:off x="2650421" y="797511"/>
            <a:ext cx="4978287" cy="523220"/>
          </a:xfrm>
          <a:prstGeom prst="rect">
            <a:avLst/>
          </a:prstGeom>
        </p:spPr>
        <p:txBody>
          <a:bodyPr wrap="square">
            <a:spAutoFit/>
          </a:bodyPr>
          <a:lstStyle/>
          <a:p>
            <a:pPr algn="ctr"/>
            <a:r>
              <a:rPr lang="es-MX" sz="2800" b="1" dirty="0" smtClean="0">
                <a:solidFill>
                  <a:srgbClr val="1A1A1A"/>
                </a:solidFill>
              </a:rPr>
              <a:t>CONCLUSION</a:t>
            </a:r>
            <a:r>
              <a:rPr lang="es-MX" b="1" dirty="0" smtClean="0">
                <a:solidFill>
                  <a:srgbClr val="1A1A1A"/>
                </a:solidFill>
              </a:rPr>
              <a:t> </a:t>
            </a:r>
            <a:endParaRPr lang="es-MX" b="1" dirty="0">
              <a:solidFill>
                <a:srgbClr val="1A1A1A"/>
              </a:solidFill>
            </a:endParaRPr>
          </a:p>
        </p:txBody>
      </p:sp>
    </p:spTree>
    <p:extLst>
      <p:ext uri="{BB962C8B-B14F-4D97-AF65-F5344CB8AC3E}">
        <p14:creationId xmlns:p14="http://schemas.microsoft.com/office/powerpoint/2010/main" val="398907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912120" y="2303808"/>
            <a:ext cx="3634328" cy="1200329"/>
          </a:xfrm>
          <a:prstGeom prst="rect">
            <a:avLst/>
          </a:prstGeom>
        </p:spPr>
        <p:txBody>
          <a:bodyPr wrap="none">
            <a:spAutoFit/>
          </a:bodyPr>
          <a:lstStyle/>
          <a:p>
            <a:r>
              <a:rPr lang="es-MX" sz="7200" b="1" dirty="0" smtClean="0">
                <a:solidFill>
                  <a:srgbClr val="1A1A1A"/>
                </a:solidFill>
                <a:latin typeface="var(--heading-font-family)"/>
              </a:rPr>
              <a:t>Gracias</a:t>
            </a:r>
            <a:r>
              <a:rPr lang="es-MX" b="1" dirty="0" smtClean="0">
                <a:solidFill>
                  <a:srgbClr val="1A1A1A"/>
                </a:solidFill>
                <a:latin typeface="var(--heading-font-family)"/>
              </a:rPr>
              <a:t> </a:t>
            </a:r>
            <a:endParaRPr lang="es-MX" b="1" i="0" dirty="0">
              <a:solidFill>
                <a:srgbClr val="1A1A1A"/>
              </a:solidFill>
              <a:effectLst/>
              <a:latin typeface="var(--heading-font-family)"/>
            </a:endParaRPr>
          </a:p>
        </p:txBody>
      </p:sp>
    </p:spTree>
    <p:extLst>
      <p:ext uri="{BB962C8B-B14F-4D97-AF65-F5344CB8AC3E}">
        <p14:creationId xmlns:p14="http://schemas.microsoft.com/office/powerpoint/2010/main" val="13008900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1512</TotalTime>
  <Words>473</Words>
  <Application>Microsoft Office PowerPoint</Application>
  <PresentationFormat>Panorámica</PresentationFormat>
  <Paragraphs>32</Paragraphs>
  <Slides>13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Arial</vt:lpstr>
      <vt:lpstr>Assistant</vt:lpstr>
      <vt:lpstr>Calibri</vt:lpstr>
      <vt:lpstr>Calibri Light</vt:lpstr>
      <vt:lpstr>Prompt</vt:lpstr>
      <vt:lpstr>var(--heading-font-family)</vt:lpstr>
      <vt:lpstr>Tema de Office</vt:lpstr>
      <vt:lpstr>Presentación de PowerPoint</vt:lpstr>
      <vt:lpstr>Presentación de PowerPoint</vt:lpstr>
      <vt:lpstr>Módulo 1</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Francisco Lopez</cp:lastModifiedBy>
  <cp:revision>19</cp:revision>
  <dcterms:created xsi:type="dcterms:W3CDTF">2022-04-19T18:02:09Z</dcterms:created>
  <dcterms:modified xsi:type="dcterms:W3CDTF">2024-02-26T15:55:19Z</dcterms:modified>
</cp:coreProperties>
</file>