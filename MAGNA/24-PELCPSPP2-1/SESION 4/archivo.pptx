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2" r:id="rId3"/>
    <p:sldId id="263" r:id="rId4"/>
    <p:sldId id="274" r:id="rId5"/>
    <p:sldId id="276" r:id="rId6"/>
    <p:sldId id="277" r:id="rId7"/>
    <p:sldId id="278" r:id="rId8"/>
    <p:sldId id="286" r:id="rId9"/>
    <p:sldId id="279" r:id="rId10"/>
    <p:sldId id="287" r:id="rId11"/>
    <p:sldId id="280" r:id="rId12"/>
    <p:sldId id="281" r:id="rId13"/>
    <p:sldId id="282" r:id="rId14"/>
    <p:sldId id="288" r:id="rId15"/>
    <p:sldId id="289" r:id="rId16"/>
    <p:sldId id="290" r:id="rId17"/>
    <p:sldId id="291" r:id="rId18"/>
    <p:sldId id="266" r:id="rId19"/>
    <p:sldId id="260" r:id="rId20"/>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3B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73" d="100"/>
          <a:sy n="73" d="100"/>
        </p:scale>
        <p:origin x="58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editar el estilo de subtítulo del patrón</a:t>
            </a:r>
          </a:p>
        </p:txBody>
      </p:sp>
      <p:sp>
        <p:nvSpPr>
          <p:cNvPr id="4" name="Marcador de fecha 3"/>
          <p:cNvSpPr>
            <a:spLocks noGrp="1"/>
          </p:cNvSpPr>
          <p:nvPr>
            <p:ph type="dt" sz="half" idx="10"/>
          </p:nvPr>
        </p:nvSpPr>
        <p:spPr/>
        <p:txBody>
          <a:bodyPr/>
          <a:lstStyle/>
          <a:p>
            <a:fld id="{CC231CB2-8F63-4ACB-AA28-38CB9C3B0788}" type="datetimeFigureOut">
              <a:rPr lang="es-ES" smtClean="0"/>
              <a:t>02/04/2024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91815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CC231CB2-8F63-4ACB-AA28-38CB9C3B0788}" type="datetimeFigureOut">
              <a:rPr lang="es-ES" smtClean="0"/>
              <a:t>02/04/2024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8945228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Marcador de fecha 3"/>
          <p:cNvSpPr>
            <a:spLocks noGrp="1"/>
          </p:cNvSpPr>
          <p:nvPr>
            <p:ph type="dt" sz="half" idx="10"/>
          </p:nvPr>
        </p:nvSpPr>
        <p:spPr/>
        <p:txBody>
          <a:bodyPr/>
          <a:lstStyle/>
          <a:p>
            <a:fld id="{CC231CB2-8F63-4ACB-AA28-38CB9C3B0788}" type="datetimeFigureOut">
              <a:rPr lang="es-ES" smtClean="0"/>
              <a:t>02/04/2024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35937309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sz="half" idx="1"/>
          </p:nvPr>
        </p:nvSpPr>
        <p:spPr>
          <a:xfrm>
            <a:off x="838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p:cNvSpPr>
            <a:spLocks noGrp="1"/>
          </p:cNvSpPr>
          <p:nvPr>
            <p:ph sz="half" idx="2"/>
          </p:nvPr>
        </p:nvSpPr>
        <p:spPr>
          <a:xfrm>
            <a:off x="6172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p:cNvSpPr>
            <a:spLocks noGrp="1"/>
          </p:cNvSpPr>
          <p:nvPr>
            <p:ph type="dt" sz="half" idx="10"/>
          </p:nvPr>
        </p:nvSpPr>
        <p:spPr/>
        <p:txBody>
          <a:bodyPr/>
          <a:lstStyle/>
          <a:p>
            <a:fld id="{CC231CB2-8F63-4ACB-AA28-38CB9C3B0788}" type="datetimeFigureOut">
              <a:rPr lang="es-ES" smtClean="0"/>
              <a:t>02/04/2024</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3646244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p:cNvSpPr>
            <a:spLocks noGrp="1"/>
          </p:cNvSpPr>
          <p:nvPr>
            <p:ph type="dt" sz="half" idx="10"/>
          </p:nvPr>
        </p:nvSpPr>
        <p:spPr/>
        <p:txBody>
          <a:bodyPr/>
          <a:lstStyle/>
          <a:p>
            <a:fld id="{CC231CB2-8F63-4ACB-AA28-38CB9C3B0788}" type="datetimeFigureOut">
              <a:rPr lang="es-ES" smtClean="0"/>
              <a:t>02/04/2024</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4962326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fecha 2"/>
          <p:cNvSpPr>
            <a:spLocks noGrp="1"/>
          </p:cNvSpPr>
          <p:nvPr>
            <p:ph type="dt" sz="half" idx="10"/>
          </p:nvPr>
        </p:nvSpPr>
        <p:spPr/>
        <p:txBody>
          <a:bodyPr/>
          <a:lstStyle/>
          <a:p>
            <a:fld id="{CC231CB2-8F63-4ACB-AA28-38CB9C3B0788}" type="datetimeFigureOut">
              <a:rPr lang="es-ES" smtClean="0"/>
              <a:t>02/04/2024</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19899152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CC231CB2-8F63-4ACB-AA28-38CB9C3B0788}" type="datetimeFigureOut">
              <a:rPr lang="es-ES" smtClean="0"/>
              <a:t>02/04/2024</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11624063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CC231CB2-8F63-4ACB-AA28-38CB9C3B0788}" type="datetimeFigureOut">
              <a:rPr lang="es-ES" smtClean="0"/>
              <a:t>02/04/2024</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1999809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CC231CB2-8F63-4ACB-AA28-38CB9C3B0788}" type="datetimeFigureOut">
              <a:rPr lang="es-ES" smtClean="0"/>
              <a:t>02/04/2024</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2196911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CC231CB2-8F63-4ACB-AA28-38CB9C3B0788}" type="datetimeFigureOut">
              <a:rPr lang="es-ES" smtClean="0"/>
              <a:t>02/04/2024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27292735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CC231CB2-8F63-4ACB-AA28-38CB9C3B0788}" type="datetimeFigureOut">
              <a:rPr lang="es-ES" smtClean="0"/>
              <a:t>02/04/2024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20731078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231CB2-8F63-4ACB-AA28-38CB9C3B0788}" type="datetimeFigureOut">
              <a:rPr lang="es-ES" smtClean="0"/>
              <a:t>02/04/2024</a:t>
            </a:fld>
            <a:endParaRPr lang="es-E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A79FA8-4D08-4E50-BBA2-D88CCB263461}" type="slidenum">
              <a:rPr lang="es-ES" smtClean="0"/>
              <a:t>‹Nº›</a:t>
            </a:fld>
            <a:endParaRPr lang="es-ES"/>
          </a:p>
        </p:txBody>
      </p:sp>
    </p:spTree>
    <p:extLst>
      <p:ext uri="{BB962C8B-B14F-4D97-AF65-F5344CB8AC3E}">
        <p14:creationId xmlns:p14="http://schemas.microsoft.com/office/powerpoint/2010/main" val="2980819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0580279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Rectángulo 5"/>
          <p:cNvSpPr/>
          <p:nvPr/>
        </p:nvSpPr>
        <p:spPr>
          <a:xfrm>
            <a:off x="1904948" y="2423937"/>
            <a:ext cx="8819658" cy="1107996"/>
          </a:xfrm>
          <a:prstGeom prst="rect">
            <a:avLst/>
          </a:prstGeom>
        </p:spPr>
        <p:txBody>
          <a:bodyPr wrap="square">
            <a:spAutoFit/>
          </a:bodyPr>
          <a:lstStyle/>
          <a:p>
            <a:r>
              <a:rPr lang="es-ES" sz="6600" dirty="0" smtClean="0">
                <a:solidFill>
                  <a:srgbClr val="00F3B5"/>
                </a:solidFill>
                <a:latin typeface="Prompt" panose="00000800000000000000" pitchFamily="2" charset="-34"/>
                <a:cs typeface="Prompt" panose="00000800000000000000" pitchFamily="2" charset="-34"/>
              </a:rPr>
              <a:t>Lean construction </a:t>
            </a:r>
          </a:p>
        </p:txBody>
      </p:sp>
      <p:sp>
        <p:nvSpPr>
          <p:cNvPr id="7" name="CuadroTexto 6"/>
          <p:cNvSpPr txBox="1"/>
          <p:nvPr/>
        </p:nvSpPr>
        <p:spPr>
          <a:xfrm>
            <a:off x="1726249" y="1401509"/>
            <a:ext cx="3811425" cy="369332"/>
          </a:xfrm>
          <a:prstGeom prst="rect">
            <a:avLst/>
          </a:prstGeom>
          <a:noFill/>
        </p:spPr>
        <p:txBody>
          <a:bodyPr wrap="square" rtlCol="0">
            <a:spAutoFit/>
          </a:bodyPr>
          <a:lstStyle/>
          <a:p>
            <a:r>
              <a:rPr lang="es-ES" dirty="0">
                <a:solidFill>
                  <a:schemeClr val="bg1"/>
                </a:solidFill>
                <a:latin typeface="Prompt" panose="00000800000000000000" pitchFamily="2" charset="-34"/>
                <a:cs typeface="Prompt" panose="00000800000000000000" pitchFamily="2" charset="-34"/>
              </a:rPr>
              <a:t>CURSO DE FORMACIÓN</a:t>
            </a:r>
          </a:p>
        </p:txBody>
      </p:sp>
      <p:sp>
        <p:nvSpPr>
          <p:cNvPr id="2" name="Rectángulo 1"/>
          <p:cNvSpPr/>
          <p:nvPr/>
        </p:nvSpPr>
        <p:spPr>
          <a:xfrm>
            <a:off x="1613057" y="3815697"/>
            <a:ext cx="5237331" cy="369332"/>
          </a:xfrm>
          <a:prstGeom prst="rect">
            <a:avLst/>
          </a:prstGeom>
        </p:spPr>
        <p:txBody>
          <a:bodyPr wrap="none">
            <a:spAutoFit/>
          </a:bodyPr>
          <a:lstStyle/>
          <a:p>
            <a:r>
              <a:rPr lang="es-MX" b="1" dirty="0" smtClean="0">
                <a:solidFill>
                  <a:schemeClr val="bg1"/>
                </a:solidFill>
                <a:latin typeface="var(--heading-font-family)"/>
              </a:rPr>
              <a:t>DOCENTE: Mg. Ing. Francisco Lopez Bejarano</a:t>
            </a:r>
            <a:endParaRPr lang="es-MX" b="1" i="0" dirty="0">
              <a:solidFill>
                <a:schemeClr val="bg1"/>
              </a:solidFill>
              <a:effectLst/>
              <a:latin typeface="var(--heading-font-family)"/>
            </a:endParaRPr>
          </a:p>
        </p:txBody>
      </p:sp>
    </p:spTree>
    <p:extLst>
      <p:ext uri="{BB962C8B-B14F-4D97-AF65-F5344CB8AC3E}">
        <p14:creationId xmlns:p14="http://schemas.microsoft.com/office/powerpoint/2010/main" val="182561975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1087719" y="2766940"/>
            <a:ext cx="6667500" cy="844550"/>
          </a:xfrm>
        </p:spPr>
        <p:txBody>
          <a:bodyPr/>
          <a:lstStyle/>
          <a:p>
            <a:r>
              <a:rPr lang="es-ES" dirty="0">
                <a:solidFill>
                  <a:srgbClr val="00F3B5"/>
                </a:solidFill>
                <a:latin typeface="Prompt" panose="00000800000000000000" pitchFamily="2" charset="-34"/>
                <a:cs typeface="Prompt" panose="00000800000000000000" pitchFamily="2" charset="-34"/>
              </a:rPr>
              <a:t>Módulo </a:t>
            </a:r>
            <a:r>
              <a:rPr lang="es-ES" dirty="0">
                <a:solidFill>
                  <a:srgbClr val="00F3B5"/>
                </a:solidFill>
                <a:latin typeface="Prompt" panose="00000800000000000000" pitchFamily="2" charset="-34"/>
                <a:cs typeface="Prompt" panose="00000800000000000000" pitchFamily="2" charset="-34"/>
              </a:rPr>
              <a:t>2</a:t>
            </a:r>
            <a:endParaRPr lang="es-ES" dirty="0">
              <a:solidFill>
                <a:srgbClr val="00F3B5"/>
              </a:solidFill>
              <a:latin typeface="Prompt" panose="00000800000000000000" pitchFamily="2" charset="-34"/>
              <a:cs typeface="Prompt" panose="00000800000000000000" pitchFamily="2" charset="-34"/>
            </a:endParaRPr>
          </a:p>
        </p:txBody>
      </p:sp>
      <p:sp>
        <p:nvSpPr>
          <p:cNvPr id="5" name="CuadroTexto 4"/>
          <p:cNvSpPr txBox="1"/>
          <p:nvPr/>
        </p:nvSpPr>
        <p:spPr>
          <a:xfrm>
            <a:off x="1087719" y="3611490"/>
            <a:ext cx="6691357" cy="1569660"/>
          </a:xfrm>
          <a:prstGeom prst="rect">
            <a:avLst/>
          </a:prstGeom>
          <a:noFill/>
        </p:spPr>
        <p:txBody>
          <a:bodyPr wrap="square" rtlCol="0">
            <a:spAutoFit/>
          </a:bodyPr>
          <a:lstStyle/>
          <a:p>
            <a:r>
              <a:rPr lang="es-PE" sz="2400" dirty="0">
                <a:solidFill>
                  <a:schemeClr val="bg1"/>
                </a:solidFill>
              </a:rPr>
              <a:t>*</a:t>
            </a:r>
            <a:r>
              <a:rPr lang="es-PE" sz="2400" dirty="0" smtClean="0">
                <a:solidFill>
                  <a:schemeClr val="bg1"/>
                </a:solidFill>
              </a:rPr>
              <a:t>Estrategias </a:t>
            </a:r>
            <a:r>
              <a:rPr lang="es-PE" sz="2400" dirty="0">
                <a:solidFill>
                  <a:schemeClr val="bg1"/>
                </a:solidFill>
              </a:rPr>
              <a:t>para Implementar Lean </a:t>
            </a:r>
            <a:r>
              <a:rPr lang="es-PE" sz="2400" dirty="0" err="1">
                <a:solidFill>
                  <a:schemeClr val="bg1"/>
                </a:solidFill>
              </a:rPr>
              <a:t>Construction</a:t>
            </a:r>
            <a:r>
              <a:rPr lang="es-PE" sz="2400" dirty="0">
                <a:solidFill>
                  <a:schemeClr val="bg1"/>
                </a:solidFill>
              </a:rPr>
              <a:t>. </a:t>
            </a:r>
            <a:endParaRPr lang="es-PE" sz="2400" dirty="0" smtClean="0">
              <a:solidFill>
                <a:schemeClr val="bg1"/>
              </a:solidFill>
            </a:endParaRPr>
          </a:p>
          <a:p>
            <a:r>
              <a:rPr lang="es-PE" sz="2400" dirty="0" smtClean="0">
                <a:solidFill>
                  <a:schemeClr val="bg1"/>
                </a:solidFill>
              </a:rPr>
              <a:t>*Ventajas </a:t>
            </a:r>
            <a:r>
              <a:rPr lang="es-PE" sz="2400" dirty="0">
                <a:solidFill>
                  <a:schemeClr val="bg1"/>
                </a:solidFill>
              </a:rPr>
              <a:t>y Desafíos de Lean </a:t>
            </a:r>
            <a:r>
              <a:rPr lang="es-PE" sz="2400" dirty="0" err="1">
                <a:solidFill>
                  <a:schemeClr val="bg1"/>
                </a:solidFill>
              </a:rPr>
              <a:t>Construction</a:t>
            </a:r>
            <a:r>
              <a:rPr lang="es-PE" sz="2400" dirty="0">
                <a:solidFill>
                  <a:schemeClr val="bg1"/>
                </a:solidFill>
              </a:rPr>
              <a:t>. </a:t>
            </a:r>
            <a:endParaRPr lang="es-PE" sz="2400" dirty="0" smtClean="0">
              <a:solidFill>
                <a:schemeClr val="bg1"/>
              </a:solidFill>
            </a:endParaRPr>
          </a:p>
          <a:p>
            <a:r>
              <a:rPr lang="es-PE" sz="2400" dirty="0" smtClean="0">
                <a:solidFill>
                  <a:schemeClr val="bg1"/>
                </a:solidFill>
              </a:rPr>
              <a:t>*Integración </a:t>
            </a:r>
            <a:r>
              <a:rPr lang="es-PE" sz="2400" dirty="0">
                <a:solidFill>
                  <a:schemeClr val="bg1"/>
                </a:solidFill>
              </a:rPr>
              <a:t>de Lean </a:t>
            </a:r>
            <a:r>
              <a:rPr lang="es-PE" sz="2400" dirty="0" err="1">
                <a:solidFill>
                  <a:schemeClr val="bg1"/>
                </a:solidFill>
              </a:rPr>
              <a:t>Construction</a:t>
            </a:r>
            <a:r>
              <a:rPr lang="es-PE" sz="2400" dirty="0">
                <a:solidFill>
                  <a:schemeClr val="bg1"/>
                </a:solidFill>
              </a:rPr>
              <a:t> en el Ciclo de Vida del </a:t>
            </a:r>
            <a:r>
              <a:rPr lang="es-PE" sz="2400" dirty="0" smtClean="0">
                <a:solidFill>
                  <a:schemeClr val="bg1"/>
                </a:solidFill>
              </a:rPr>
              <a:t>Proyecto</a:t>
            </a:r>
            <a:r>
              <a:rPr lang="es-ES" dirty="0" smtClean="0"/>
              <a:t>ales</a:t>
            </a:r>
            <a:endParaRPr lang="es-ES" dirty="0"/>
          </a:p>
        </p:txBody>
      </p:sp>
    </p:spTree>
    <p:extLst>
      <p:ext uri="{BB962C8B-B14F-4D97-AF65-F5344CB8AC3E}">
        <p14:creationId xmlns:p14="http://schemas.microsoft.com/office/powerpoint/2010/main" val="107133684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p:cNvSpPr/>
          <p:nvPr/>
        </p:nvSpPr>
        <p:spPr>
          <a:xfrm>
            <a:off x="3723387" y="752118"/>
            <a:ext cx="6096000" cy="1384995"/>
          </a:xfrm>
          <a:prstGeom prst="rect">
            <a:avLst/>
          </a:prstGeom>
        </p:spPr>
        <p:txBody>
          <a:bodyPr>
            <a:spAutoFit/>
          </a:bodyPr>
          <a:lstStyle/>
          <a:p>
            <a:r>
              <a:rPr lang="es-PE" sz="2800" b="1" dirty="0"/>
              <a:t>Estrategias para Implementar Lean </a:t>
            </a:r>
            <a:r>
              <a:rPr lang="es-PE" sz="2800" b="1" dirty="0" err="1"/>
              <a:t>Construction</a:t>
            </a:r>
            <a:r>
              <a:rPr lang="es-PE" sz="2800" b="1" dirty="0" smtClean="0"/>
              <a:t> </a:t>
            </a:r>
            <a:endParaRPr lang="es-PE" sz="2800" b="1" dirty="0"/>
          </a:p>
          <a:p>
            <a:endParaRPr lang="es-PE" sz="2800" b="1" dirty="0"/>
          </a:p>
        </p:txBody>
      </p:sp>
      <p:pic>
        <p:nvPicPr>
          <p:cNvPr id="5" name="Imagen 4"/>
          <p:cNvPicPr>
            <a:picLocks noChangeAspect="1"/>
          </p:cNvPicPr>
          <p:nvPr/>
        </p:nvPicPr>
        <p:blipFill>
          <a:blip r:embed="rId2"/>
          <a:stretch>
            <a:fillRect/>
          </a:stretch>
        </p:blipFill>
        <p:spPr>
          <a:xfrm>
            <a:off x="348143" y="439215"/>
            <a:ext cx="3375244" cy="1363459"/>
          </a:xfrm>
          <a:prstGeom prst="rect">
            <a:avLst/>
          </a:prstGeom>
        </p:spPr>
      </p:pic>
      <p:sp>
        <p:nvSpPr>
          <p:cNvPr id="3" name="Rectángulo 2"/>
          <p:cNvSpPr/>
          <p:nvPr/>
        </p:nvSpPr>
        <p:spPr>
          <a:xfrm>
            <a:off x="770707" y="2137113"/>
            <a:ext cx="10607041" cy="4985980"/>
          </a:xfrm>
          <a:prstGeom prst="rect">
            <a:avLst/>
          </a:prstGeom>
        </p:spPr>
        <p:txBody>
          <a:bodyPr wrap="square">
            <a:spAutoFit/>
          </a:bodyPr>
          <a:lstStyle/>
          <a:p>
            <a:pPr algn="just"/>
            <a:r>
              <a:rPr lang="es-PE" sz="2000" dirty="0"/>
              <a:t>La teoría es sencilla, pero la clave está en aplicar correctamente la metodología Lean a tu negocio en el día a día. Los pasos que puedes seguir son los siguientes</a:t>
            </a:r>
            <a:r>
              <a:rPr lang="es-PE" sz="2000" dirty="0" smtClean="0"/>
              <a:t>:</a:t>
            </a:r>
          </a:p>
          <a:p>
            <a:pPr algn="just"/>
            <a:endParaRPr lang="es-PE" sz="2000" dirty="0"/>
          </a:p>
          <a:p>
            <a:pPr algn="just"/>
            <a:r>
              <a:rPr lang="es-PE" sz="2000" b="1" dirty="0"/>
              <a:t>1. Analiza los procesos de tu empresa</a:t>
            </a:r>
            <a:endParaRPr lang="es-PE" sz="2000" dirty="0"/>
          </a:p>
          <a:p>
            <a:pPr algn="just"/>
            <a:r>
              <a:rPr lang="es-PE" sz="2000" dirty="0"/>
              <a:t>Lo primero que vas a tener que hacer es analizar qué procesos se realizan en cada departamento de tu empresa para ver qué pasos le siguen y qué se puede mejorar en cada uno de ellos. Por ejemplo, cuando llega una factura de un proveedor, ¿qué pasos se siguen para procesarla y pagarla?</a:t>
            </a:r>
          </a:p>
          <a:p>
            <a:pPr algn="just"/>
            <a:r>
              <a:rPr lang="es-PE" sz="2000" dirty="0"/>
              <a:t>El análisis de los procesos empresariales se puede dividir en:</a:t>
            </a:r>
          </a:p>
          <a:p>
            <a:pPr algn="just">
              <a:buFont typeface="Arial" panose="020B0604020202020204" pitchFamily="34" charset="0"/>
              <a:buChar char="•"/>
            </a:pPr>
            <a:r>
              <a:rPr lang="es-PE" sz="2000" b="1" dirty="0"/>
              <a:t>Estratégico:</a:t>
            </a:r>
            <a:r>
              <a:rPr lang="es-PE" sz="2000" dirty="0"/>
              <a:t> consiste en identificar los recursos necesarios a largo plazo para cumplir con los objetivos de competitividad requeridos.</a:t>
            </a:r>
          </a:p>
          <a:p>
            <a:pPr algn="just">
              <a:buFont typeface="Arial" panose="020B0604020202020204" pitchFamily="34" charset="0"/>
              <a:buChar char="•"/>
            </a:pPr>
            <a:r>
              <a:rPr lang="es-PE" sz="2000" b="1" dirty="0"/>
              <a:t>Táctico:</a:t>
            </a:r>
            <a:r>
              <a:rPr lang="es-PE" sz="2000" dirty="0"/>
              <a:t> responde a un proceso metodológico que persigue comparar las distintas alternativas hasta seleccionar la más adecuada. El horizonte de previsión en este caso es a medio y corto plazo. </a:t>
            </a:r>
          </a:p>
          <a:p>
            <a:pPr algn="just">
              <a:buFont typeface="Arial" panose="020B0604020202020204" pitchFamily="34" charset="0"/>
              <a:buChar char="•"/>
            </a:pPr>
            <a:r>
              <a:rPr lang="es-PE" sz="2000" b="1" dirty="0"/>
              <a:t>Operativo:</a:t>
            </a:r>
            <a:r>
              <a:rPr lang="es-PE" sz="2000" dirty="0"/>
              <a:t> se basa en la utilización eficiente de los recursos. Requiere un estudio detallado de todas las operaciones que se llevan a cabo en el día a día (en términos de semanas, días y horas empleadas).</a:t>
            </a:r>
          </a:p>
          <a:p>
            <a:r>
              <a:rPr lang="es-PE" dirty="0">
                <a:solidFill>
                  <a:srgbClr val="002C52"/>
                </a:solidFill>
                <a:latin typeface="gelion-bold"/>
              </a:rPr>
              <a:t> </a:t>
            </a:r>
            <a:endParaRPr lang="es-PE" b="0" i="0" dirty="0">
              <a:solidFill>
                <a:srgbClr val="002C52"/>
              </a:solidFill>
              <a:effectLst/>
              <a:latin typeface="gelion-bold"/>
            </a:endParaRPr>
          </a:p>
        </p:txBody>
      </p:sp>
    </p:spTree>
    <p:extLst>
      <p:ext uri="{BB962C8B-B14F-4D97-AF65-F5344CB8AC3E}">
        <p14:creationId xmlns:p14="http://schemas.microsoft.com/office/powerpoint/2010/main" val="757216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457198" y="901338"/>
            <a:ext cx="9130937" cy="5940088"/>
          </a:xfrm>
          <a:prstGeom prst="rect">
            <a:avLst/>
          </a:prstGeom>
        </p:spPr>
        <p:txBody>
          <a:bodyPr wrap="square">
            <a:spAutoFit/>
          </a:bodyPr>
          <a:lstStyle/>
          <a:p>
            <a:pPr algn="just"/>
            <a:r>
              <a:rPr lang="es-PE" sz="2000" b="1" dirty="0"/>
              <a:t>2. Elabora la planificación </a:t>
            </a:r>
            <a:endParaRPr lang="es-PE" sz="2000" dirty="0"/>
          </a:p>
          <a:p>
            <a:pPr algn="just"/>
            <a:r>
              <a:rPr lang="es-PE" sz="2000" dirty="0"/>
              <a:t>Cualquier proyecto necesita una definición inicial, es decir, un diagnóstico. Lo mismo ocurre con la implantación de la metodología Lean, y eso es exactamente lo que hemos hecho en el primer paso.</a:t>
            </a:r>
          </a:p>
          <a:p>
            <a:pPr algn="just"/>
            <a:r>
              <a:rPr lang="es-PE" sz="2000" dirty="0"/>
              <a:t>A continuación, una vez que sepas cuáles son los procesos que se pueden mejorar en tu empresa, es el momento de establecer tres cosas: </a:t>
            </a:r>
          </a:p>
          <a:p>
            <a:pPr algn="just"/>
            <a:r>
              <a:rPr lang="es-PE" sz="2000" b="1" dirty="0"/>
              <a:t>#1 Los objetivos que quieres alcanzar:</a:t>
            </a:r>
            <a:r>
              <a:rPr lang="es-PE" sz="2000" dirty="0"/>
              <a:t> deben ser concretos (por ejemplo, aumentar la productividad un 10% en 3 meses), ambiciosos (pero alcanzables) y medibles (para poder cotejar el resultado con el objetivo inicial).</a:t>
            </a:r>
          </a:p>
          <a:p>
            <a:pPr algn="just"/>
            <a:r>
              <a:rPr lang="es-PE" sz="2000" dirty="0"/>
              <a:t> </a:t>
            </a:r>
          </a:p>
          <a:p>
            <a:pPr algn="just"/>
            <a:r>
              <a:rPr lang="es-PE" sz="2000" b="1" dirty="0"/>
              <a:t>#2 Los recursos que vas a necesitar:</a:t>
            </a:r>
            <a:r>
              <a:rPr lang="es-PE" sz="2000" dirty="0"/>
              <a:t> se requiere una definición completa de los recursos materiales y personales. ¿Cuántas personas se van a implicar en la aplicación de la metodología?, ¿qué tecnología necesitas? </a:t>
            </a:r>
            <a:r>
              <a:rPr lang="es-PE" sz="2000" dirty="0" smtClean="0"/>
              <a:t>pueden </a:t>
            </a:r>
            <a:r>
              <a:rPr lang="es-PE" sz="2000" dirty="0"/>
              <a:t>ser grandes aliados para la implantación. </a:t>
            </a:r>
          </a:p>
          <a:p>
            <a:pPr algn="just"/>
            <a:r>
              <a:rPr lang="es-PE" sz="2000" dirty="0"/>
              <a:t> </a:t>
            </a:r>
          </a:p>
          <a:p>
            <a:pPr algn="just"/>
            <a:r>
              <a:rPr lang="es-PE" sz="2000" b="1" dirty="0"/>
              <a:t>#3 Los plazos que se deben cumplir:</a:t>
            </a:r>
            <a:r>
              <a:rPr lang="es-PE" sz="2000" dirty="0"/>
              <a:t> para lograr el objetivo final tendrás que establecer metas. Los procesos operativos deben estar previstos para el corto plazo, mientras que la planificación estratégica deberá basarse en un horizonte temporal más dilatado. </a:t>
            </a:r>
            <a:endParaRPr lang="es-PE" sz="2000" b="0" i="0" dirty="0">
              <a:effectLst/>
            </a:endParaRPr>
          </a:p>
        </p:txBody>
      </p:sp>
    </p:spTree>
    <p:extLst>
      <p:ext uri="{BB962C8B-B14F-4D97-AF65-F5344CB8AC3E}">
        <p14:creationId xmlns:p14="http://schemas.microsoft.com/office/powerpoint/2010/main" val="81029388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613954" y="1149531"/>
            <a:ext cx="9562011" cy="4401205"/>
          </a:xfrm>
          <a:prstGeom prst="rect">
            <a:avLst/>
          </a:prstGeom>
        </p:spPr>
        <p:txBody>
          <a:bodyPr wrap="square">
            <a:spAutoFit/>
          </a:bodyPr>
          <a:lstStyle/>
          <a:p>
            <a:pPr algn="just"/>
            <a:r>
              <a:rPr lang="es-PE" sz="2000" b="1" dirty="0"/>
              <a:t>3. Involucra a tu equipo, clientes y proveedores</a:t>
            </a:r>
            <a:endParaRPr lang="es-PE" sz="2000" dirty="0"/>
          </a:p>
          <a:p>
            <a:pPr algn="just"/>
            <a:r>
              <a:rPr lang="es-PE" sz="2000" dirty="0"/>
              <a:t>¿Has preguntado a los distintos miembros de tu equipo qué se podría hacer para mejorar sus procesos? ¿Y a tus clientes y proveedores?  Sus respuestas te darán información muy valiosa. </a:t>
            </a:r>
          </a:p>
          <a:p>
            <a:pPr algn="just"/>
            <a:r>
              <a:rPr lang="es-PE" sz="2000" dirty="0"/>
              <a:t>Por ejemplo, ¿es posible recibir el material sobre pedido para ahorrar costes de almacenaje? En este caso se trata de una mejora en el proceso que requiere la colaboración de nuestros proveedores. A través de un sistema de comunicación eficaz se podrán acortar los tiempos de espera para la recepción del material y podremos llegar al objetivo de stock cero.</a:t>
            </a:r>
          </a:p>
          <a:p>
            <a:pPr algn="just"/>
            <a:r>
              <a:rPr lang="es-PE" sz="2000" dirty="0"/>
              <a:t>Otro ejemplo sería contar con información de los clientes, a través de una escucha activa, para ofrecer un producto adaptado a sus necesidades (como se ha dicho anteriormente, mejorar los sistemas de información es la base de implantación del Lean </a:t>
            </a:r>
            <a:r>
              <a:rPr lang="es-PE" sz="2000" dirty="0" err="1"/>
              <a:t>management</a:t>
            </a:r>
            <a:r>
              <a:rPr lang="es-PE" sz="2000" dirty="0"/>
              <a:t>).</a:t>
            </a:r>
          </a:p>
          <a:p>
            <a:pPr algn="just"/>
            <a:r>
              <a:rPr lang="es-PE" sz="2000" dirty="0"/>
              <a:t>Sea como fuere, es necesario estar conectado con todos los agentes que tienen alguna participación en el desarrollo del negocio.</a:t>
            </a:r>
            <a:endParaRPr lang="es-PE" sz="2000" b="0" i="0" dirty="0">
              <a:effectLst/>
            </a:endParaRPr>
          </a:p>
        </p:txBody>
      </p:sp>
    </p:spTree>
    <p:extLst>
      <p:ext uri="{BB962C8B-B14F-4D97-AF65-F5344CB8AC3E}">
        <p14:creationId xmlns:p14="http://schemas.microsoft.com/office/powerpoint/2010/main" val="196993064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535577" y="666206"/>
            <a:ext cx="8621486" cy="5940088"/>
          </a:xfrm>
          <a:prstGeom prst="rect">
            <a:avLst/>
          </a:prstGeom>
        </p:spPr>
        <p:txBody>
          <a:bodyPr wrap="square">
            <a:spAutoFit/>
          </a:bodyPr>
          <a:lstStyle/>
          <a:p>
            <a:pPr algn="just"/>
            <a:r>
              <a:rPr lang="es-PE" sz="2000" b="1" dirty="0"/>
              <a:t>4. Comienza por lo sencillo</a:t>
            </a:r>
            <a:endParaRPr lang="es-PE" sz="2000" dirty="0"/>
          </a:p>
          <a:p>
            <a:pPr algn="just"/>
            <a:r>
              <a:rPr lang="es-PE" sz="2000" dirty="0"/>
              <a:t>Antes de aplicar la metodología Lean a procesos complejos, comienza por uno que sea sencillo y ve progresando poco a poco. Sin prisa pero sin pausa.</a:t>
            </a:r>
          </a:p>
          <a:p>
            <a:pPr algn="just"/>
            <a:r>
              <a:rPr lang="es-PE" sz="2000" dirty="0"/>
              <a:t>Para evitar estrés en su implantación, la evolución de los procesos y la gestión operativa podrán pasar por diversas fases:</a:t>
            </a:r>
          </a:p>
          <a:p>
            <a:pPr algn="just">
              <a:buFont typeface="Arial" panose="020B0604020202020204" pitchFamily="34" charset="0"/>
              <a:buChar char="•"/>
            </a:pPr>
            <a:r>
              <a:rPr lang="es-PE" sz="2000" b="1" dirty="0"/>
              <a:t>Fase incipiente:</a:t>
            </a:r>
            <a:r>
              <a:rPr lang="es-PE" sz="2000" dirty="0"/>
              <a:t> comienzan las primeras pruebas sin que exista un procedimiento estándar. El seguimiento de los procesos es clave para obtener datos.</a:t>
            </a:r>
          </a:p>
          <a:p>
            <a:pPr algn="just">
              <a:buFont typeface="Arial" panose="020B0604020202020204" pitchFamily="34" charset="0"/>
              <a:buChar char="•"/>
            </a:pPr>
            <a:r>
              <a:rPr lang="es-PE" sz="2000" b="1" dirty="0"/>
              <a:t>Fase de evolución:</a:t>
            </a:r>
            <a:r>
              <a:rPr lang="es-PE" sz="2000" dirty="0"/>
              <a:t> los procesos comienzan a estandarizarse, así como las normas y responsabilidades asignadas a cada persona. La empresa va definiendo un cuadro de mando para monitorizar las variables a optimizar. Comienza a establecerse una mayor conexión entre todos los agentes internos y externos que intervienen en los procesos.</a:t>
            </a:r>
          </a:p>
          <a:p>
            <a:pPr algn="just">
              <a:buFont typeface="Arial" panose="020B0604020202020204" pitchFamily="34" charset="0"/>
              <a:buChar char="•"/>
            </a:pPr>
            <a:r>
              <a:rPr lang="es-PE" sz="2000" b="1" dirty="0"/>
              <a:t>Fase de madurez:</a:t>
            </a:r>
            <a:r>
              <a:rPr lang="es-PE" sz="2000" dirty="0"/>
              <a:t> se obtiene experiencia en la gestión de procesos. Se tiene formación técnica adecuada y se cuentan con las herramientas digitales adecuadas que permitan el desarrollo de la metodología Lean.</a:t>
            </a:r>
          </a:p>
          <a:p>
            <a:pPr algn="just">
              <a:buFont typeface="Arial" panose="020B0604020202020204" pitchFamily="34" charset="0"/>
              <a:buChar char="•"/>
            </a:pPr>
            <a:r>
              <a:rPr lang="es-PE" sz="2000" b="1" dirty="0"/>
              <a:t>Fase de integración</a:t>
            </a:r>
            <a:r>
              <a:rPr lang="es-PE" sz="2000" dirty="0"/>
              <a:t>: la empresa está totalmente gestionada dentro de la metodología Lean. Todos sus sistemas permiten relacionarse y compartir información con sus “</a:t>
            </a:r>
            <a:r>
              <a:rPr lang="es-PE" sz="2000" dirty="0" err="1"/>
              <a:t>partners</a:t>
            </a:r>
            <a:r>
              <a:rPr lang="es-PE" sz="2000" dirty="0"/>
              <a:t>” (tanto internos como externos).</a:t>
            </a:r>
            <a:endParaRPr lang="es-PE" sz="2000" b="0" i="0" dirty="0">
              <a:effectLst/>
            </a:endParaRPr>
          </a:p>
        </p:txBody>
      </p:sp>
    </p:spTree>
    <p:extLst>
      <p:ext uri="{BB962C8B-B14F-4D97-AF65-F5344CB8AC3E}">
        <p14:creationId xmlns:p14="http://schemas.microsoft.com/office/powerpoint/2010/main" val="123041445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52696" y="953589"/>
            <a:ext cx="9914709" cy="5016758"/>
          </a:xfrm>
          <a:prstGeom prst="rect">
            <a:avLst/>
          </a:prstGeom>
        </p:spPr>
        <p:txBody>
          <a:bodyPr wrap="square">
            <a:spAutoFit/>
          </a:bodyPr>
          <a:lstStyle/>
          <a:p>
            <a:r>
              <a:rPr lang="es-PE" sz="2000" b="1" dirty="0"/>
              <a:t>5. Haz seguimiento</a:t>
            </a:r>
            <a:endParaRPr lang="es-PE" sz="2000" dirty="0"/>
          </a:p>
          <a:p>
            <a:r>
              <a:rPr lang="es-PE" sz="2000" dirty="0"/>
              <a:t>De nada sirve implantar una mejora en los procesos y no controlar lo que ocurre después. La monitorización y el seguimiento deben ser continuos para detectar problemas y solucionarlos con rapidez.</a:t>
            </a:r>
          </a:p>
          <a:p>
            <a:r>
              <a:rPr lang="es-PE" sz="2000" dirty="0"/>
              <a:t>En este punto, la empresa también debe contar con herramientas y soluciones que le permitan configurar y mejorar el cuadro de mando del control de procesos.</a:t>
            </a:r>
          </a:p>
          <a:p>
            <a:r>
              <a:rPr lang="es-PE" sz="2000" dirty="0"/>
              <a:t>Básicamente, el seguimiento y control de procesos debe abarcar los siguientes puntos</a:t>
            </a:r>
            <a:r>
              <a:rPr lang="es-PE" sz="2000" dirty="0" smtClean="0"/>
              <a:t>:</a:t>
            </a:r>
          </a:p>
          <a:p>
            <a:endParaRPr lang="es-PE" sz="2000" dirty="0"/>
          </a:p>
          <a:p>
            <a:pPr>
              <a:buFont typeface="Arial" panose="020B0604020202020204" pitchFamily="34" charset="0"/>
              <a:buChar char="•"/>
            </a:pPr>
            <a:r>
              <a:rPr lang="es-PE" sz="2000" b="1" dirty="0"/>
              <a:t>Indicadores de gestión:</a:t>
            </a:r>
            <a:r>
              <a:rPr lang="es-PE" sz="2000" dirty="0"/>
              <a:t> con los correspondientes objetivos que se quieren lograr (por ejemplo, ratios de productividad, roturas y mermas, obsolescencia de productos, quejas, devoluciones, plazos, etc</a:t>
            </a:r>
            <a:r>
              <a:rPr lang="es-PE" sz="2000" dirty="0" smtClean="0"/>
              <a:t>.).</a:t>
            </a:r>
          </a:p>
          <a:p>
            <a:endParaRPr lang="es-PE" sz="2000" dirty="0"/>
          </a:p>
          <a:p>
            <a:pPr>
              <a:buFont typeface="Arial" panose="020B0604020202020204" pitchFamily="34" charset="0"/>
              <a:buChar char="•"/>
            </a:pPr>
            <a:r>
              <a:rPr lang="es-PE" sz="2000" b="1" dirty="0"/>
              <a:t>Costes:</a:t>
            </a:r>
            <a:r>
              <a:rPr lang="es-PE" sz="2000" dirty="0"/>
              <a:t> sistema de medición de contabilidad interna (contabilidad de gestión</a:t>
            </a:r>
            <a:r>
              <a:rPr lang="es-PE" sz="2000" dirty="0" smtClean="0"/>
              <a:t>).</a:t>
            </a:r>
          </a:p>
          <a:p>
            <a:pPr>
              <a:buFont typeface="Arial" panose="020B0604020202020204" pitchFamily="34" charset="0"/>
              <a:buChar char="•"/>
            </a:pPr>
            <a:endParaRPr lang="es-PE" sz="2000" dirty="0"/>
          </a:p>
          <a:p>
            <a:pPr>
              <a:buFont typeface="Arial" panose="020B0604020202020204" pitchFamily="34" charset="0"/>
              <a:buChar char="•"/>
            </a:pPr>
            <a:r>
              <a:rPr lang="es-PE" sz="2000" b="1" dirty="0"/>
              <a:t>Indicadores de resultados:</a:t>
            </a:r>
            <a:r>
              <a:rPr lang="es-PE" sz="2000" dirty="0"/>
              <a:t> índices de crecimiento en ventas, clientes, participación en el mercado, etc.</a:t>
            </a:r>
            <a:endParaRPr lang="es-PE" sz="2000" b="0" i="0" dirty="0">
              <a:effectLst/>
            </a:endParaRPr>
          </a:p>
        </p:txBody>
      </p:sp>
    </p:spTree>
    <p:extLst>
      <p:ext uri="{BB962C8B-B14F-4D97-AF65-F5344CB8AC3E}">
        <p14:creationId xmlns:p14="http://schemas.microsoft.com/office/powerpoint/2010/main" val="213987090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p:cNvSpPr/>
          <p:nvPr/>
        </p:nvSpPr>
        <p:spPr>
          <a:xfrm>
            <a:off x="2289547" y="723203"/>
            <a:ext cx="6227435" cy="461665"/>
          </a:xfrm>
          <a:prstGeom prst="rect">
            <a:avLst/>
          </a:prstGeom>
        </p:spPr>
        <p:txBody>
          <a:bodyPr wrap="square">
            <a:spAutoFit/>
          </a:bodyPr>
          <a:lstStyle/>
          <a:p>
            <a:pPr algn="ctr"/>
            <a:r>
              <a:rPr lang="es-PE" sz="2400" b="1" dirty="0"/>
              <a:t>Ventajas y Desafíos de Lean </a:t>
            </a:r>
            <a:r>
              <a:rPr lang="es-PE" sz="2400" b="1" dirty="0" err="1"/>
              <a:t>Construction</a:t>
            </a:r>
            <a:r>
              <a:rPr lang="es-PE" sz="2400" b="1" dirty="0"/>
              <a:t>. </a:t>
            </a:r>
          </a:p>
        </p:txBody>
      </p:sp>
      <p:sp>
        <p:nvSpPr>
          <p:cNvPr id="6" name="Rectángulo 5"/>
          <p:cNvSpPr/>
          <p:nvPr/>
        </p:nvSpPr>
        <p:spPr>
          <a:xfrm>
            <a:off x="431074" y="1410789"/>
            <a:ext cx="10450286" cy="5847755"/>
          </a:xfrm>
          <a:prstGeom prst="rect">
            <a:avLst/>
          </a:prstGeom>
        </p:spPr>
        <p:txBody>
          <a:bodyPr wrap="square">
            <a:spAutoFit/>
          </a:bodyPr>
          <a:lstStyle/>
          <a:p>
            <a:pPr fontAlgn="base"/>
            <a:r>
              <a:rPr lang="es-PE" sz="2000" dirty="0"/>
              <a:t>Una vez que se reducen residuos al aplicar la filosofía Lean </a:t>
            </a:r>
            <a:r>
              <a:rPr lang="es-PE" sz="2000" dirty="0" err="1"/>
              <a:t>Construction</a:t>
            </a:r>
            <a:r>
              <a:rPr lang="es-PE" sz="2000" dirty="0"/>
              <a:t>, aparecen los beneficios de este sistema:</a:t>
            </a:r>
          </a:p>
          <a:p>
            <a:pPr fontAlgn="base"/>
            <a:r>
              <a:rPr lang="es-PE" sz="2000" dirty="0"/>
              <a:t> </a:t>
            </a:r>
          </a:p>
          <a:p>
            <a:pPr fontAlgn="base"/>
            <a:r>
              <a:rPr lang="es-PE" sz="2000" b="1" dirty="0"/>
              <a:t>1 Entrega de obras en plazo</a:t>
            </a:r>
          </a:p>
          <a:p>
            <a:pPr fontAlgn="base"/>
            <a:r>
              <a:rPr lang="es-PE" sz="2000" dirty="0"/>
              <a:t>Las obras se entregan en la fecha acordada, incluso antes, gracias a la coordinación que existe entre todos los implicados en el proceso.</a:t>
            </a:r>
          </a:p>
          <a:p>
            <a:pPr fontAlgn="base"/>
            <a:r>
              <a:rPr lang="es-PE" sz="2000" dirty="0"/>
              <a:t> </a:t>
            </a:r>
          </a:p>
          <a:p>
            <a:pPr fontAlgn="base"/>
            <a:r>
              <a:rPr lang="es-PE" sz="2000" b="1" dirty="0"/>
              <a:t>2 Ahorro de tiempo</a:t>
            </a:r>
          </a:p>
          <a:p>
            <a:pPr fontAlgn="base"/>
            <a:r>
              <a:rPr lang="es-PE" sz="2000" dirty="0"/>
              <a:t>Para conseguirlo hay que actuar sobre todo en la fase de redacción de proyecto, donde se hace partícipes a los contratistas y subcontratistas. De este modo, la obra está definida y planificada en detalle, evitando luego los parones en la obra.</a:t>
            </a:r>
          </a:p>
          <a:p>
            <a:pPr fontAlgn="base"/>
            <a:r>
              <a:rPr lang="es-PE" sz="2000" dirty="0"/>
              <a:t> </a:t>
            </a:r>
          </a:p>
          <a:p>
            <a:pPr fontAlgn="base"/>
            <a:r>
              <a:rPr lang="es-PE" sz="2000" b="1" dirty="0"/>
              <a:t>3 Mejor gestión de los riesgos</a:t>
            </a:r>
          </a:p>
          <a:p>
            <a:pPr fontAlgn="base"/>
            <a:r>
              <a:rPr lang="es-PE" sz="2000" dirty="0"/>
              <a:t>Al diseñar el proyecto, se incluye la gestión de los riesgos y cómo manejarlos. Además, con una buena planificación se reducen los imprevistos y por tanto la improvisación por parte del personal, que suelen ser una de las fuentes de accidentes en una obra.</a:t>
            </a:r>
          </a:p>
          <a:p>
            <a:pPr fontAlgn="base"/>
            <a:r>
              <a:rPr lang="es-PE" dirty="0">
                <a:solidFill>
                  <a:srgbClr val="777777"/>
                </a:solidFill>
                <a:latin typeface="Muli"/>
              </a:rPr>
              <a:t> </a:t>
            </a:r>
          </a:p>
          <a:p>
            <a:r>
              <a:rPr lang="es-PE" dirty="0"/>
              <a:t/>
            </a:r>
            <a:br>
              <a:rPr lang="es-PE" dirty="0"/>
            </a:br>
            <a:endParaRPr lang="en-US" dirty="0"/>
          </a:p>
        </p:txBody>
      </p:sp>
    </p:spTree>
    <p:extLst>
      <p:ext uri="{BB962C8B-B14F-4D97-AF65-F5344CB8AC3E}">
        <p14:creationId xmlns:p14="http://schemas.microsoft.com/office/powerpoint/2010/main" val="54138342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522513" y="1136467"/>
            <a:ext cx="11443063" cy="5293757"/>
          </a:xfrm>
          <a:prstGeom prst="rect">
            <a:avLst/>
          </a:prstGeom>
        </p:spPr>
        <p:txBody>
          <a:bodyPr wrap="square">
            <a:spAutoFit/>
          </a:bodyPr>
          <a:lstStyle/>
          <a:p>
            <a:pPr fontAlgn="base"/>
            <a:r>
              <a:rPr lang="es-PE" sz="2000" b="1" dirty="0"/>
              <a:t>4 Aumento de la calidad de la edificación</a:t>
            </a:r>
          </a:p>
          <a:p>
            <a:pPr fontAlgn="base"/>
            <a:r>
              <a:rPr lang="es-PE" sz="2000" dirty="0"/>
              <a:t>En Lean </a:t>
            </a:r>
            <a:r>
              <a:rPr lang="es-PE" sz="2000" dirty="0" err="1"/>
              <a:t>Construction</a:t>
            </a:r>
            <a:r>
              <a:rPr lang="es-PE" sz="2000" dirty="0"/>
              <a:t> se busca la ausencia de error. Eso, sumado a la coordinación entre equipos y a una cuidada fase de diseño, consigue edificaciones que cumplen altos estándares de calidad.</a:t>
            </a:r>
          </a:p>
          <a:p>
            <a:pPr fontAlgn="base"/>
            <a:r>
              <a:rPr lang="es-PE" sz="2000" dirty="0"/>
              <a:t> </a:t>
            </a:r>
          </a:p>
          <a:p>
            <a:pPr fontAlgn="base"/>
            <a:r>
              <a:rPr lang="es-PE" sz="2000" b="1" dirty="0"/>
              <a:t>5 Correcta composición de equipos</a:t>
            </a:r>
          </a:p>
          <a:p>
            <a:pPr fontAlgn="base"/>
            <a:r>
              <a:rPr lang="es-PE" sz="2000" dirty="0"/>
              <a:t>Las cuadrillas de trabajo se crean de modo adecuado para su función, lo que las hace más eficientes. Y además, esto termina con la alta rotación de trabajadores.</a:t>
            </a:r>
          </a:p>
          <a:p>
            <a:pPr fontAlgn="base"/>
            <a:r>
              <a:rPr lang="es-PE" sz="2000" dirty="0"/>
              <a:t> </a:t>
            </a:r>
          </a:p>
          <a:p>
            <a:pPr fontAlgn="base"/>
            <a:r>
              <a:rPr lang="es-PE" sz="2000" b="1" dirty="0"/>
              <a:t>6 Equipos de trabajo motivados</a:t>
            </a:r>
          </a:p>
          <a:p>
            <a:pPr fontAlgn="base"/>
            <a:r>
              <a:rPr lang="es-PE" sz="2000" dirty="0"/>
              <a:t>Lean </a:t>
            </a:r>
            <a:r>
              <a:rPr lang="es-PE" sz="2000" dirty="0" err="1"/>
              <a:t>Construction</a:t>
            </a:r>
            <a:r>
              <a:rPr lang="es-PE" sz="2000" dirty="0"/>
              <a:t> tiene en cuenta los conocimientos y experiencia de cada persona, y además les hace partícipes de cada avance conseguido. Esto se traduce en miembros y equipos motivados.</a:t>
            </a:r>
          </a:p>
          <a:p>
            <a:pPr fontAlgn="base"/>
            <a:r>
              <a:rPr lang="es-PE" sz="2000" dirty="0"/>
              <a:t> </a:t>
            </a:r>
          </a:p>
          <a:p>
            <a:pPr fontAlgn="base"/>
            <a:r>
              <a:rPr lang="es-PE" sz="2000" b="1" dirty="0"/>
              <a:t>7 Datos que permiten mejorar</a:t>
            </a:r>
          </a:p>
          <a:p>
            <a:pPr fontAlgn="base"/>
            <a:r>
              <a:rPr lang="es-PE" sz="2000" dirty="0"/>
              <a:t>El proceso para implantar Lean </a:t>
            </a:r>
            <a:r>
              <a:rPr lang="es-PE" sz="2000" dirty="0" err="1"/>
              <a:t>Construction</a:t>
            </a:r>
            <a:r>
              <a:rPr lang="es-PE" sz="2000" dirty="0"/>
              <a:t> implica reuniones semanales con todos los jefes de equipo. Todo está documentado y medido, lo que aporta datos fiables e indicadores claves que se pueden usar para mejorar.</a:t>
            </a:r>
          </a:p>
          <a:p>
            <a:pPr fontAlgn="base"/>
            <a:r>
              <a:rPr lang="es-PE" dirty="0">
                <a:latin typeface="Muli"/>
              </a:rPr>
              <a:t> </a:t>
            </a:r>
          </a:p>
        </p:txBody>
      </p:sp>
    </p:spTree>
    <p:extLst>
      <p:ext uri="{BB962C8B-B14F-4D97-AF65-F5344CB8AC3E}">
        <p14:creationId xmlns:p14="http://schemas.microsoft.com/office/powerpoint/2010/main" val="319097390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ángulo 10"/>
          <p:cNvSpPr/>
          <p:nvPr/>
        </p:nvSpPr>
        <p:spPr>
          <a:xfrm>
            <a:off x="5588042" y="4969565"/>
            <a:ext cx="388688" cy="459944"/>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s-PE"/>
          </a:p>
        </p:txBody>
      </p:sp>
      <p:sp>
        <p:nvSpPr>
          <p:cNvPr id="5" name="Rectángulo 4"/>
          <p:cNvSpPr/>
          <p:nvPr/>
        </p:nvSpPr>
        <p:spPr>
          <a:xfrm>
            <a:off x="653143" y="1645920"/>
            <a:ext cx="10280468" cy="3477875"/>
          </a:xfrm>
          <a:prstGeom prst="rect">
            <a:avLst/>
          </a:prstGeom>
        </p:spPr>
        <p:txBody>
          <a:bodyPr wrap="square">
            <a:spAutoFit/>
          </a:bodyPr>
          <a:lstStyle/>
          <a:p>
            <a:pPr fontAlgn="base"/>
            <a:r>
              <a:rPr lang="es-PE" sz="2000" b="1" dirty="0"/>
              <a:t>La planificación, pieza clave en Lean </a:t>
            </a:r>
            <a:r>
              <a:rPr lang="es-PE" sz="2000" b="1" dirty="0" err="1"/>
              <a:t>Construction</a:t>
            </a:r>
            <a:endParaRPr lang="es-PE" sz="2000" b="1" dirty="0"/>
          </a:p>
          <a:p>
            <a:pPr fontAlgn="base"/>
            <a:r>
              <a:rPr lang="es-PE" sz="2000" dirty="0"/>
              <a:t>Para obtener los beneficios señalados, hay que poner en marcha una planificación detallada, usando determinadas herramientas afines a la metodología Lean.</a:t>
            </a:r>
          </a:p>
          <a:p>
            <a:pPr fontAlgn="base"/>
            <a:r>
              <a:rPr lang="es-PE" sz="2000" dirty="0"/>
              <a:t>Una de ellas es </a:t>
            </a:r>
            <a:r>
              <a:rPr lang="es-PE" sz="2000" dirty="0" err="1"/>
              <a:t>Last</a:t>
            </a:r>
            <a:r>
              <a:rPr lang="es-PE" sz="2000" dirty="0"/>
              <a:t> </a:t>
            </a:r>
            <a:r>
              <a:rPr lang="es-PE" sz="2000" dirty="0" err="1"/>
              <a:t>Planner</a:t>
            </a:r>
            <a:r>
              <a:rPr lang="es-PE" sz="2000" dirty="0"/>
              <a:t> </a:t>
            </a:r>
            <a:r>
              <a:rPr lang="es-PE" sz="2000" dirty="0" err="1"/>
              <a:t>System</a:t>
            </a:r>
            <a:r>
              <a:rPr lang="es-PE" sz="2000" dirty="0"/>
              <a:t>, un método que realiza una planificación inicial (</a:t>
            </a:r>
            <a:r>
              <a:rPr lang="es-PE" sz="2000" dirty="0" err="1"/>
              <a:t>Pull</a:t>
            </a:r>
            <a:r>
              <a:rPr lang="es-PE" sz="2000" dirty="0"/>
              <a:t> </a:t>
            </a:r>
            <a:r>
              <a:rPr lang="es-PE" sz="2000" dirty="0" err="1"/>
              <a:t>Session</a:t>
            </a:r>
            <a:r>
              <a:rPr lang="es-PE" sz="2000" dirty="0"/>
              <a:t>) en colaboración con todos los equipos que participan en la obra, y realiza semanalmente sesiones de seguimiento.</a:t>
            </a:r>
          </a:p>
          <a:p>
            <a:pPr fontAlgn="base"/>
            <a:r>
              <a:rPr lang="es-PE" sz="2000" dirty="0"/>
              <a:t>Bajo la batuta del Jefe de Obra, </a:t>
            </a:r>
            <a:r>
              <a:rPr lang="es-PE" sz="2000" b="1" dirty="0"/>
              <a:t>todos los participantes en la edificación se coordinan entre sí, </a:t>
            </a:r>
            <a:r>
              <a:rPr lang="es-PE" sz="2000" dirty="0"/>
              <a:t>desde la fase de redacción del proyecto. Esa implicación desde el inicio es la clave del éxito.</a:t>
            </a:r>
          </a:p>
          <a:p>
            <a:pPr fontAlgn="base"/>
            <a:r>
              <a:rPr lang="es-PE" sz="2000" dirty="0"/>
              <a:t>En ALTERTECNIA basamos todos nuestros proyectos por el filtro Lean, ya sea Lean </a:t>
            </a:r>
            <a:r>
              <a:rPr lang="es-PE" sz="2000" dirty="0" err="1"/>
              <a:t>Construction</a:t>
            </a:r>
            <a:r>
              <a:rPr lang="es-PE" sz="2000" dirty="0"/>
              <a:t> o Lean </a:t>
            </a:r>
            <a:r>
              <a:rPr lang="es-PE" sz="2000" dirty="0" err="1"/>
              <a:t>Manufacturing</a:t>
            </a:r>
            <a:r>
              <a:rPr lang="es-PE" sz="2000" dirty="0"/>
              <a:t>, dependiendo del cliente. Si quieres que te contemos más, puedes ponerte en contacto con nosotros y te explicamos cómo puedes conseguir estos beneficios en tu proyecto.</a:t>
            </a:r>
            <a:endParaRPr lang="es-PE" sz="2000" dirty="0"/>
          </a:p>
        </p:txBody>
      </p:sp>
    </p:spTree>
    <p:extLst>
      <p:ext uri="{BB962C8B-B14F-4D97-AF65-F5344CB8AC3E}">
        <p14:creationId xmlns:p14="http://schemas.microsoft.com/office/powerpoint/2010/main" val="382156261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966651" y="767583"/>
            <a:ext cx="8412480" cy="461665"/>
          </a:xfrm>
          <a:prstGeom prst="rect">
            <a:avLst/>
          </a:prstGeom>
        </p:spPr>
        <p:txBody>
          <a:bodyPr wrap="square">
            <a:spAutoFit/>
          </a:bodyPr>
          <a:lstStyle/>
          <a:p>
            <a:pPr algn="ctr"/>
            <a:r>
              <a:rPr lang="es-PE" sz="2400" b="1" dirty="0"/>
              <a:t>Integración de Lean </a:t>
            </a:r>
            <a:r>
              <a:rPr lang="es-PE" sz="2400" b="1" dirty="0" err="1"/>
              <a:t>Construction</a:t>
            </a:r>
            <a:r>
              <a:rPr lang="es-PE" sz="2400" b="1" dirty="0"/>
              <a:t> en el Ciclo de Vida del Proyecto</a:t>
            </a:r>
            <a:endParaRPr lang="en-US" sz="2400" b="1" dirty="0"/>
          </a:p>
        </p:txBody>
      </p:sp>
      <p:sp>
        <p:nvSpPr>
          <p:cNvPr id="5" name="Rectángulo 4"/>
          <p:cNvSpPr/>
          <p:nvPr/>
        </p:nvSpPr>
        <p:spPr>
          <a:xfrm>
            <a:off x="927462" y="1509487"/>
            <a:ext cx="8451669" cy="1200329"/>
          </a:xfrm>
          <a:prstGeom prst="rect">
            <a:avLst/>
          </a:prstGeom>
        </p:spPr>
        <p:txBody>
          <a:bodyPr wrap="square">
            <a:spAutoFit/>
          </a:bodyPr>
          <a:lstStyle/>
          <a:p>
            <a:r>
              <a:rPr lang="es-PE" dirty="0"/>
              <a:t>En el caso que nos ocupa, se trata de la aplicación de los principios Lean a las obras de construcción.</a:t>
            </a:r>
          </a:p>
          <a:p>
            <a:r>
              <a:rPr lang="es-PE" dirty="0"/>
              <a:t/>
            </a:r>
            <a:br>
              <a:rPr lang="es-PE" dirty="0"/>
            </a:br>
            <a:endParaRPr lang="en-US" dirty="0"/>
          </a:p>
        </p:txBody>
      </p:sp>
      <p:pic>
        <p:nvPicPr>
          <p:cNvPr id="1027" name="Picture 3" descr="No hay texto alternativo para esta image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0240" y="2341425"/>
            <a:ext cx="5617028" cy="33535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399961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stretch>
            <a:fillRect/>
          </a:stretch>
        </p:blipFill>
        <p:spPr>
          <a:xfrm>
            <a:off x="2505040" y="3773099"/>
            <a:ext cx="4839375" cy="2676899"/>
          </a:xfrm>
          <a:prstGeom prst="rect">
            <a:avLst/>
          </a:prstGeom>
        </p:spPr>
      </p:pic>
      <p:sp>
        <p:nvSpPr>
          <p:cNvPr id="6" name="Rectángulo 5"/>
          <p:cNvSpPr/>
          <p:nvPr/>
        </p:nvSpPr>
        <p:spPr>
          <a:xfrm>
            <a:off x="195944" y="1187776"/>
            <a:ext cx="11168742" cy="2585323"/>
          </a:xfrm>
          <a:prstGeom prst="rect">
            <a:avLst/>
          </a:prstGeom>
        </p:spPr>
        <p:txBody>
          <a:bodyPr wrap="square">
            <a:spAutoFit/>
          </a:bodyPr>
          <a:lstStyle/>
          <a:p>
            <a:r>
              <a:rPr lang="es-PE" dirty="0">
                <a:latin typeface="-apple-system"/>
              </a:rPr>
              <a:t>La primera cuestión que aborda la filosofía Lean es que, para crear valor, no hay que enfocarse solo en las actividades que lo crean sino también en las que no lo crean de manera que eliminemos las actividades que solo producen desperdicio y optimicemos aquellas que no añaden valor pero que nos son necesarias.</a:t>
            </a:r>
          </a:p>
          <a:p>
            <a:r>
              <a:rPr lang="es-PE" dirty="0">
                <a:latin typeface="-apple-system"/>
              </a:rPr>
              <a:t>En Lean </a:t>
            </a:r>
            <a:r>
              <a:rPr lang="es-PE" dirty="0" err="1">
                <a:latin typeface="-apple-system"/>
              </a:rPr>
              <a:t>Construction</a:t>
            </a:r>
            <a:r>
              <a:rPr lang="es-PE" dirty="0">
                <a:latin typeface="-apple-system"/>
              </a:rPr>
              <a:t>, se identifican las actividades que crean valor como las actividades de transformación.</a:t>
            </a:r>
          </a:p>
          <a:p>
            <a:r>
              <a:rPr lang="es-PE" dirty="0">
                <a:latin typeface="-apple-system"/>
              </a:rPr>
              <a:t>Se diferencian éstas de las actividades que no añaden valor pero son necesarias y que denominamos actividades de flujo. En la práctica, solo las actividades de transformación están en los cronogramas de las obras mientras que las actividades de flujo no aparecen y, al no gestionarse adecuadamente, acaban convirtiéndose en restricciones del proyecto.</a:t>
            </a:r>
            <a:endParaRPr lang="es-PE" b="0" i="0" dirty="0">
              <a:effectLst/>
              <a:latin typeface="-apple-system"/>
            </a:endParaRPr>
          </a:p>
        </p:txBody>
      </p:sp>
    </p:spTree>
    <p:extLst>
      <p:ext uri="{BB962C8B-B14F-4D97-AF65-F5344CB8AC3E}">
        <p14:creationId xmlns:p14="http://schemas.microsoft.com/office/powerpoint/2010/main" val="173093834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552994" y="242390"/>
            <a:ext cx="6096000" cy="1200329"/>
          </a:xfrm>
          <a:prstGeom prst="rect">
            <a:avLst/>
          </a:prstGeom>
        </p:spPr>
        <p:txBody>
          <a:bodyPr>
            <a:spAutoFit/>
          </a:bodyPr>
          <a:lstStyle/>
          <a:p>
            <a:r>
              <a:rPr lang="es-PE" b="1" dirty="0">
                <a:latin typeface="-apple-system"/>
              </a:rPr>
              <a:t>Las actividades de flujo se clasifican en los siguientes grupos:</a:t>
            </a:r>
          </a:p>
          <a:p>
            <a:r>
              <a:rPr lang="es-PE" dirty="0"/>
              <a:t/>
            </a:r>
            <a:br>
              <a:rPr lang="es-PE" dirty="0"/>
            </a:br>
            <a:endParaRPr lang="en-US" dirty="0"/>
          </a:p>
        </p:txBody>
      </p:sp>
      <p:sp>
        <p:nvSpPr>
          <p:cNvPr id="3" name="Rectángulo 2"/>
          <p:cNvSpPr/>
          <p:nvPr/>
        </p:nvSpPr>
        <p:spPr>
          <a:xfrm>
            <a:off x="313507" y="1038497"/>
            <a:ext cx="11364686" cy="2031325"/>
          </a:xfrm>
          <a:prstGeom prst="rect">
            <a:avLst/>
          </a:prstGeom>
        </p:spPr>
        <p:txBody>
          <a:bodyPr wrap="square">
            <a:spAutoFit/>
          </a:bodyPr>
          <a:lstStyle/>
          <a:p>
            <a:r>
              <a:rPr lang="es-PE" sz="1400" dirty="0"/>
              <a:t>-     Seguridad</a:t>
            </a:r>
          </a:p>
          <a:p>
            <a:r>
              <a:rPr lang="es-PE" sz="1400" dirty="0"/>
              <a:t>-     Información</a:t>
            </a:r>
          </a:p>
          <a:p>
            <a:r>
              <a:rPr lang="es-PE" sz="1400" dirty="0"/>
              <a:t>-     Espacio</a:t>
            </a:r>
          </a:p>
          <a:p>
            <a:r>
              <a:rPr lang="es-PE" sz="1400" dirty="0"/>
              <a:t>-     Materiales</a:t>
            </a:r>
          </a:p>
          <a:p>
            <a:r>
              <a:rPr lang="es-PE" sz="1400" dirty="0"/>
              <a:t>-     Personas</a:t>
            </a:r>
          </a:p>
          <a:p>
            <a:r>
              <a:rPr lang="es-PE" sz="1400" dirty="0"/>
              <a:t>-     Requisitos</a:t>
            </a:r>
          </a:p>
          <a:p>
            <a:r>
              <a:rPr lang="es-PE" sz="1400" dirty="0"/>
              <a:t>-     Equipos</a:t>
            </a:r>
          </a:p>
          <a:p>
            <a:r>
              <a:rPr lang="es-PE" sz="1400" dirty="0"/>
              <a:t>Estas restricciones se gestionan en la programación que se realiza a 4-6 semanas vista (Planificación Intermedia o </a:t>
            </a:r>
            <a:r>
              <a:rPr lang="es-PE" sz="1400" dirty="0" err="1"/>
              <a:t>Lookahead</a:t>
            </a:r>
            <a:r>
              <a:rPr lang="es-PE" sz="1400" dirty="0"/>
              <a:t>) y en la que se requiere la participación de las personas que conocen las tareas que se van a ejecutar y tienen autoridad para gestionarlas en campo.</a:t>
            </a:r>
            <a:endParaRPr lang="es-PE" sz="1400" b="0" i="0" dirty="0">
              <a:effectLst/>
            </a:endParaRPr>
          </a:p>
        </p:txBody>
      </p:sp>
      <p:pic>
        <p:nvPicPr>
          <p:cNvPr id="4" name="Imagen 3"/>
          <p:cNvPicPr>
            <a:picLocks noChangeAspect="1"/>
          </p:cNvPicPr>
          <p:nvPr/>
        </p:nvPicPr>
        <p:blipFill>
          <a:blip r:embed="rId2"/>
          <a:stretch>
            <a:fillRect/>
          </a:stretch>
        </p:blipFill>
        <p:spPr>
          <a:xfrm>
            <a:off x="2042022" y="3282314"/>
            <a:ext cx="7115175" cy="2987857"/>
          </a:xfrm>
          <a:prstGeom prst="rect">
            <a:avLst/>
          </a:prstGeom>
        </p:spPr>
      </p:pic>
    </p:spTree>
    <p:extLst>
      <p:ext uri="{BB962C8B-B14F-4D97-AF65-F5344CB8AC3E}">
        <p14:creationId xmlns:p14="http://schemas.microsoft.com/office/powerpoint/2010/main" val="198831117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431074" y="1162594"/>
            <a:ext cx="10881360" cy="3477875"/>
          </a:xfrm>
          <a:prstGeom prst="rect">
            <a:avLst/>
          </a:prstGeom>
        </p:spPr>
        <p:txBody>
          <a:bodyPr wrap="square">
            <a:spAutoFit/>
          </a:bodyPr>
          <a:lstStyle/>
          <a:p>
            <a:r>
              <a:rPr lang="es-PE" sz="2000" dirty="0"/>
              <a:t>Este sistema de trabajo que requiere la participación de estas personas (los últimos planificadores se articula a través del llamado </a:t>
            </a:r>
            <a:r>
              <a:rPr lang="es-PE" sz="2000" dirty="0" err="1"/>
              <a:t>Last</a:t>
            </a:r>
            <a:r>
              <a:rPr lang="es-PE" sz="2000" dirty="0"/>
              <a:t> </a:t>
            </a:r>
            <a:r>
              <a:rPr lang="es-PE" sz="2000" dirty="0" err="1"/>
              <a:t>Planner</a:t>
            </a:r>
            <a:r>
              <a:rPr lang="es-PE" sz="2000" dirty="0"/>
              <a:t>® </a:t>
            </a:r>
            <a:r>
              <a:rPr lang="es-PE" sz="2000" dirty="0" err="1"/>
              <a:t>System</a:t>
            </a:r>
            <a:r>
              <a:rPr lang="es-PE" sz="2000" dirty="0"/>
              <a:t>.</a:t>
            </a:r>
          </a:p>
          <a:p>
            <a:r>
              <a:rPr lang="es-PE" sz="2000" dirty="0"/>
              <a:t>Este sistema aumenta el compromiso de los involucrados lo cual es una de las premisas de la gestión Lean </a:t>
            </a:r>
            <a:r>
              <a:rPr lang="es-PE" sz="2000" dirty="0" err="1"/>
              <a:t>Construction</a:t>
            </a:r>
            <a:r>
              <a:rPr lang="es-PE" sz="2000" dirty="0"/>
              <a:t>. Para poder involucrar a todos en el momento adecuado (si no fuera así, estaríamos incurriendo en desperdicios), el proyecto se debe dividir en partes más manejables de manera que los asistentes a las reuniones de </a:t>
            </a:r>
            <a:r>
              <a:rPr lang="es-PE" sz="2000" dirty="0" err="1"/>
              <a:t>Last</a:t>
            </a:r>
            <a:r>
              <a:rPr lang="es-PE" sz="2000" dirty="0"/>
              <a:t> </a:t>
            </a:r>
            <a:r>
              <a:rPr lang="es-PE" sz="2000" dirty="0" err="1"/>
              <a:t>Planner</a:t>
            </a:r>
            <a:r>
              <a:rPr lang="es-PE" sz="2000" dirty="0"/>
              <a:t>® (Look </a:t>
            </a:r>
            <a:r>
              <a:rPr lang="es-PE" sz="2000" dirty="0" err="1"/>
              <a:t>Ahead</a:t>
            </a:r>
            <a:r>
              <a:rPr lang="es-PE" sz="2000" dirty="0"/>
              <a:t>, Semanal y Diaria) sean los adecuados y puedan participar activamente en las mismas.</a:t>
            </a:r>
          </a:p>
          <a:p>
            <a:r>
              <a:rPr lang="es-PE" sz="2000" dirty="0"/>
              <a:t>Como consecuencia de estas reuniones, se elabora un plan que se publica en tableros (Gestión Visual) en un lugar visible de la obra y así hacer más transparente la gestión del proyecto.</a:t>
            </a:r>
          </a:p>
          <a:p>
            <a:r>
              <a:rPr lang="es-PE" sz="2000" dirty="0"/>
              <a:t>Esta planificación intermedia es el motor de Lean </a:t>
            </a:r>
            <a:r>
              <a:rPr lang="es-PE" sz="2000" dirty="0" err="1"/>
              <a:t>Construction</a:t>
            </a:r>
            <a:r>
              <a:rPr lang="es-PE" sz="2000" dirty="0"/>
              <a:t>. Se mide el cumplimiento de la programación (PPC, Porcentaje del  Plan Completado) y se toman medidas para mejorarlo.</a:t>
            </a:r>
            <a:endParaRPr lang="es-PE" sz="2000" b="0" i="0" dirty="0">
              <a:effectLst/>
            </a:endParaRPr>
          </a:p>
        </p:txBody>
      </p:sp>
    </p:spTree>
    <p:extLst>
      <p:ext uri="{BB962C8B-B14F-4D97-AF65-F5344CB8AC3E}">
        <p14:creationId xmlns:p14="http://schemas.microsoft.com/office/powerpoint/2010/main" val="79234732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431075" y="731520"/>
            <a:ext cx="5172891" cy="4908096"/>
          </a:xfrm>
          <a:prstGeom prst="rect">
            <a:avLst/>
          </a:prstGeom>
        </p:spPr>
      </p:pic>
      <p:sp>
        <p:nvSpPr>
          <p:cNvPr id="3" name="Rectángulo 2"/>
          <p:cNvSpPr/>
          <p:nvPr/>
        </p:nvSpPr>
        <p:spPr>
          <a:xfrm>
            <a:off x="5817326" y="2308405"/>
            <a:ext cx="6096000" cy="1938992"/>
          </a:xfrm>
          <a:prstGeom prst="rect">
            <a:avLst/>
          </a:prstGeom>
        </p:spPr>
        <p:txBody>
          <a:bodyPr>
            <a:spAutoFit/>
          </a:bodyPr>
          <a:lstStyle/>
          <a:p>
            <a:r>
              <a:rPr lang="es-PE" sz="2000" dirty="0"/>
              <a:t>Cuando ocurren no conformidades o no cumplimiento de los compromisos, se identifican las causas mediante los análisis de tipo A3. Dichos análisis se completan en el espacio de una hoja de tamaño DIN-A3 y tienen su metodología particular que viene de los entornos Lean manufactureros</a:t>
            </a:r>
            <a:endParaRPr lang="en-US" sz="2000" dirty="0"/>
          </a:p>
        </p:txBody>
      </p:sp>
    </p:spTree>
    <p:extLst>
      <p:ext uri="{BB962C8B-B14F-4D97-AF65-F5344CB8AC3E}">
        <p14:creationId xmlns:p14="http://schemas.microsoft.com/office/powerpoint/2010/main" val="388303275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418012" y="1789612"/>
            <a:ext cx="9627326" cy="1631216"/>
          </a:xfrm>
          <a:prstGeom prst="rect">
            <a:avLst/>
          </a:prstGeom>
        </p:spPr>
        <p:txBody>
          <a:bodyPr wrap="square">
            <a:spAutoFit/>
          </a:bodyPr>
          <a:lstStyle/>
          <a:p>
            <a:r>
              <a:rPr lang="es-PE" sz="2000" dirty="0"/>
              <a:t>Finalmente, Lean </a:t>
            </a:r>
            <a:r>
              <a:rPr lang="es-PE" sz="2000" dirty="0" err="1"/>
              <a:t>Construction</a:t>
            </a:r>
            <a:r>
              <a:rPr lang="es-PE" sz="2000" dirty="0"/>
              <a:t> va empujando en la dirección de aumentar la colaboración entre los participantes e interesados en la obra y llega el punto en que la integración tiene que hacerse más arriba (Anticipada) y no solo en la planificación de la ejecución de la obra sino en el momento de la concepción del proyecto con el involucramiento anticipado de las partes interesadas. (Integración)</a:t>
            </a:r>
            <a:endParaRPr lang="en-US" sz="2000" dirty="0"/>
          </a:p>
        </p:txBody>
      </p:sp>
    </p:spTree>
    <p:extLst>
      <p:ext uri="{BB962C8B-B14F-4D97-AF65-F5344CB8AC3E}">
        <p14:creationId xmlns:p14="http://schemas.microsoft.com/office/powerpoint/2010/main" val="206974394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6"/>
          <p:cNvSpPr/>
          <p:nvPr/>
        </p:nvSpPr>
        <p:spPr>
          <a:xfrm>
            <a:off x="3912120" y="2303808"/>
            <a:ext cx="3634328" cy="1200329"/>
          </a:xfrm>
          <a:prstGeom prst="rect">
            <a:avLst/>
          </a:prstGeom>
        </p:spPr>
        <p:txBody>
          <a:bodyPr wrap="none">
            <a:spAutoFit/>
          </a:bodyPr>
          <a:lstStyle/>
          <a:p>
            <a:r>
              <a:rPr lang="es-MX" sz="7200" b="1" dirty="0" smtClean="0">
                <a:solidFill>
                  <a:srgbClr val="1A1A1A"/>
                </a:solidFill>
                <a:latin typeface="var(--heading-font-family)"/>
              </a:rPr>
              <a:t>Gracias</a:t>
            </a:r>
            <a:r>
              <a:rPr lang="es-MX" b="1" dirty="0" smtClean="0">
                <a:solidFill>
                  <a:srgbClr val="1A1A1A"/>
                </a:solidFill>
                <a:latin typeface="var(--heading-font-family)"/>
              </a:rPr>
              <a:t> </a:t>
            </a:r>
            <a:endParaRPr lang="es-MX" b="1" i="0" dirty="0">
              <a:solidFill>
                <a:srgbClr val="1A1A1A"/>
              </a:solidFill>
              <a:effectLst/>
              <a:latin typeface="var(--heading-font-family)"/>
            </a:endParaRPr>
          </a:p>
        </p:txBody>
      </p:sp>
    </p:spTree>
    <p:extLst>
      <p:ext uri="{BB962C8B-B14F-4D97-AF65-F5344CB8AC3E}">
        <p14:creationId xmlns:p14="http://schemas.microsoft.com/office/powerpoint/2010/main" val="130089003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5381496"/>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4668</TotalTime>
  <Words>852</Words>
  <Application>Microsoft Office PowerPoint</Application>
  <PresentationFormat>Panorámica</PresentationFormat>
  <Paragraphs>100</Paragraphs>
  <Slides>19</Slides>
  <Notes>0</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19</vt:i4>
      </vt:variant>
    </vt:vector>
  </HeadingPairs>
  <TitlesOfParts>
    <vt:vector size="28" baseType="lpstr">
      <vt:lpstr>-apple-system</vt:lpstr>
      <vt:lpstr>Arial</vt:lpstr>
      <vt:lpstr>Calibri</vt:lpstr>
      <vt:lpstr>Calibri Light</vt:lpstr>
      <vt:lpstr>gelion-bold</vt:lpstr>
      <vt:lpstr>Muli</vt:lpstr>
      <vt:lpstr>Prompt</vt:lpstr>
      <vt:lpstr>var(--heading-font-family)</vt:lpstr>
      <vt:lpstr>Tema de Office</vt:lpstr>
      <vt:lpstr>Presentación de PowerPoint</vt:lpstr>
      <vt:lpstr>Presentación de PowerPoint</vt:lpstr>
      <vt:lpstr>Módulo 2</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Ci5D2</dc:creator>
  <cp:lastModifiedBy>PREVENCIONISTA</cp:lastModifiedBy>
  <cp:revision>84</cp:revision>
  <dcterms:created xsi:type="dcterms:W3CDTF">2022-04-19T18:02:09Z</dcterms:created>
  <dcterms:modified xsi:type="dcterms:W3CDTF">2024-04-03T00:22:58Z</dcterms:modified>
</cp:coreProperties>
</file>