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63" r:id="rId4"/>
    <p:sldId id="274" r:id="rId5"/>
    <p:sldId id="276" r:id="rId6"/>
    <p:sldId id="277" r:id="rId7"/>
    <p:sldId id="294" r:id="rId8"/>
    <p:sldId id="278" r:id="rId9"/>
    <p:sldId id="286" r:id="rId10"/>
    <p:sldId id="279" r:id="rId11"/>
    <p:sldId id="287" r:id="rId12"/>
    <p:sldId id="280" r:id="rId13"/>
    <p:sldId id="281" r:id="rId14"/>
    <p:sldId id="292" r:id="rId15"/>
    <p:sldId id="293" r:id="rId16"/>
    <p:sldId id="295" r:id="rId17"/>
    <p:sldId id="282" r:id="rId18"/>
    <p:sldId id="288" r:id="rId19"/>
    <p:sldId id="289" r:id="rId20"/>
    <p:sldId id="290" r:id="rId21"/>
    <p:sldId id="260" r:id="rId22"/>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3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2" d="100"/>
          <a:sy n="72" d="100"/>
        </p:scale>
        <p:origin x="618"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p>
        </p:txBody>
      </p:sp>
      <p:sp>
        <p:nvSpPr>
          <p:cNvPr id="4" name="Marcador de fecha 3"/>
          <p:cNvSpPr>
            <a:spLocks noGrp="1"/>
          </p:cNvSpPr>
          <p:nvPr>
            <p:ph type="dt" sz="half" idx="10"/>
          </p:nvPr>
        </p:nvSpPr>
        <p:spPr/>
        <p:txBody>
          <a:bodyPr/>
          <a:lstStyle/>
          <a:p>
            <a:fld id="{CC231CB2-8F63-4ACB-AA28-38CB9C3B0788}" type="datetimeFigureOut">
              <a:rPr lang="es-ES" smtClean="0"/>
              <a:t>21/03/2024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91815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21/03/2024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8945228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CC231CB2-8F63-4ACB-AA28-38CB9C3B0788}" type="datetimeFigureOut">
              <a:rPr lang="es-ES" smtClean="0"/>
              <a:t>21/03/2024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3593730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CC231CB2-8F63-4ACB-AA28-38CB9C3B0788}" type="datetimeFigureOut">
              <a:rPr lang="es-ES" smtClean="0"/>
              <a:t>21/03/2024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3646244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CC231CB2-8F63-4ACB-AA28-38CB9C3B0788}" type="datetimeFigureOut">
              <a:rPr lang="es-ES" smtClean="0"/>
              <a:t>21/03/2024</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496232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CC231CB2-8F63-4ACB-AA28-38CB9C3B0788}" type="datetimeFigureOut">
              <a:rPr lang="es-ES" smtClean="0"/>
              <a:t>21/03/2024</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989915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CC231CB2-8F63-4ACB-AA28-38CB9C3B0788}" type="datetimeFigureOut">
              <a:rPr lang="es-ES" smtClean="0"/>
              <a:t>21/03/2024</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1624063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CC231CB2-8F63-4ACB-AA28-38CB9C3B0788}" type="datetimeFigureOut">
              <a:rPr lang="es-ES" smtClean="0"/>
              <a:t>21/03/2024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999809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CC231CB2-8F63-4ACB-AA28-38CB9C3B0788}" type="datetimeFigureOut">
              <a:rPr lang="es-ES" smtClean="0"/>
              <a:t>21/03/2024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196911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21/03/2024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729273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21/03/2024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073107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231CB2-8F63-4ACB-AA28-38CB9C3B0788}" type="datetimeFigureOut">
              <a:rPr lang="es-ES" smtClean="0"/>
              <a:t>21/03/2024</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A79FA8-4D08-4E50-BBA2-D88CCB263461}" type="slidenum">
              <a:rPr lang="es-ES" smtClean="0"/>
              <a:t>‹Nº›</a:t>
            </a:fld>
            <a:endParaRPr lang="es-ES"/>
          </a:p>
        </p:txBody>
      </p:sp>
    </p:spTree>
    <p:extLst>
      <p:ext uri="{BB962C8B-B14F-4D97-AF65-F5344CB8AC3E}">
        <p14:creationId xmlns:p14="http://schemas.microsoft.com/office/powerpoint/2010/main" val="2980819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580279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Rectángulo 5"/>
          <p:cNvSpPr/>
          <p:nvPr/>
        </p:nvSpPr>
        <p:spPr>
          <a:xfrm>
            <a:off x="1904948" y="2423937"/>
            <a:ext cx="8819658" cy="1107996"/>
          </a:xfrm>
          <a:prstGeom prst="rect">
            <a:avLst/>
          </a:prstGeom>
        </p:spPr>
        <p:txBody>
          <a:bodyPr wrap="square">
            <a:spAutoFit/>
          </a:bodyPr>
          <a:lstStyle/>
          <a:p>
            <a:r>
              <a:rPr lang="es-ES" sz="6600" dirty="0" smtClean="0">
                <a:solidFill>
                  <a:srgbClr val="00F3B5"/>
                </a:solidFill>
                <a:latin typeface="Prompt" panose="00000800000000000000" pitchFamily="2" charset="-34"/>
                <a:cs typeface="Prompt" panose="00000800000000000000" pitchFamily="2" charset="-34"/>
              </a:rPr>
              <a:t>Lean construction </a:t>
            </a:r>
          </a:p>
        </p:txBody>
      </p:sp>
      <p:sp>
        <p:nvSpPr>
          <p:cNvPr id="7" name="CuadroTexto 6"/>
          <p:cNvSpPr txBox="1"/>
          <p:nvPr/>
        </p:nvSpPr>
        <p:spPr>
          <a:xfrm>
            <a:off x="1726249" y="1401509"/>
            <a:ext cx="3811425" cy="369332"/>
          </a:xfrm>
          <a:prstGeom prst="rect">
            <a:avLst/>
          </a:prstGeom>
          <a:noFill/>
        </p:spPr>
        <p:txBody>
          <a:bodyPr wrap="square" rtlCol="0">
            <a:spAutoFit/>
          </a:bodyPr>
          <a:lstStyle/>
          <a:p>
            <a:r>
              <a:rPr lang="es-ES" dirty="0">
                <a:solidFill>
                  <a:schemeClr val="bg1"/>
                </a:solidFill>
                <a:latin typeface="Prompt" panose="00000800000000000000" pitchFamily="2" charset="-34"/>
                <a:cs typeface="Prompt" panose="00000800000000000000" pitchFamily="2" charset="-34"/>
              </a:rPr>
              <a:t>CURSO DE FORMACIÓN</a:t>
            </a:r>
          </a:p>
        </p:txBody>
      </p:sp>
      <p:sp>
        <p:nvSpPr>
          <p:cNvPr id="2" name="Rectángulo 1"/>
          <p:cNvSpPr/>
          <p:nvPr/>
        </p:nvSpPr>
        <p:spPr>
          <a:xfrm>
            <a:off x="1613057" y="3815697"/>
            <a:ext cx="5237331" cy="369332"/>
          </a:xfrm>
          <a:prstGeom prst="rect">
            <a:avLst/>
          </a:prstGeom>
        </p:spPr>
        <p:txBody>
          <a:bodyPr wrap="none">
            <a:spAutoFit/>
          </a:bodyPr>
          <a:lstStyle/>
          <a:p>
            <a:r>
              <a:rPr lang="es-MX" b="1" dirty="0" smtClean="0">
                <a:solidFill>
                  <a:schemeClr val="bg1"/>
                </a:solidFill>
                <a:latin typeface="var(--heading-font-family)"/>
              </a:rPr>
              <a:t>DOCENTE: Mg. Ing. Francisco Lopez Bejarano</a:t>
            </a:r>
            <a:endParaRPr lang="es-MX" b="1" i="0" dirty="0">
              <a:solidFill>
                <a:schemeClr val="bg1"/>
              </a:solidFill>
              <a:effectLst/>
              <a:latin typeface="var(--heading-font-family)"/>
            </a:endParaRPr>
          </a:p>
        </p:txBody>
      </p:sp>
    </p:spTree>
    <p:extLst>
      <p:ext uri="{BB962C8B-B14F-4D97-AF65-F5344CB8AC3E}">
        <p14:creationId xmlns:p14="http://schemas.microsoft.com/office/powerpoint/2010/main" val="182561975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1087719" y="2766940"/>
            <a:ext cx="6667500" cy="844550"/>
          </a:xfrm>
        </p:spPr>
        <p:txBody>
          <a:bodyPr/>
          <a:lstStyle/>
          <a:p>
            <a:r>
              <a:rPr lang="es-ES" dirty="0">
                <a:solidFill>
                  <a:srgbClr val="00F3B5"/>
                </a:solidFill>
                <a:latin typeface="Prompt" panose="00000800000000000000" pitchFamily="2" charset="-34"/>
                <a:cs typeface="Prompt" panose="00000800000000000000" pitchFamily="2" charset="-34"/>
              </a:rPr>
              <a:t>Módulo </a:t>
            </a:r>
            <a:r>
              <a:rPr lang="es-ES" dirty="0" smtClean="0">
                <a:solidFill>
                  <a:srgbClr val="00F3B5"/>
                </a:solidFill>
                <a:latin typeface="Prompt" panose="00000800000000000000" pitchFamily="2" charset="-34"/>
                <a:cs typeface="Prompt" panose="00000800000000000000" pitchFamily="2" charset="-34"/>
              </a:rPr>
              <a:t>2</a:t>
            </a:r>
            <a:endParaRPr lang="es-ES" dirty="0">
              <a:solidFill>
                <a:srgbClr val="00F3B5"/>
              </a:solidFill>
              <a:latin typeface="Prompt" panose="00000800000000000000" pitchFamily="2" charset="-34"/>
              <a:cs typeface="Prompt" panose="00000800000000000000" pitchFamily="2" charset="-34"/>
            </a:endParaRPr>
          </a:p>
        </p:txBody>
      </p:sp>
      <p:sp>
        <p:nvSpPr>
          <p:cNvPr id="5" name="CuadroTexto 4"/>
          <p:cNvSpPr txBox="1"/>
          <p:nvPr/>
        </p:nvSpPr>
        <p:spPr>
          <a:xfrm>
            <a:off x="1063862" y="3425960"/>
            <a:ext cx="6691357" cy="984885"/>
          </a:xfrm>
          <a:prstGeom prst="rect">
            <a:avLst/>
          </a:prstGeom>
          <a:noFill/>
        </p:spPr>
        <p:txBody>
          <a:bodyPr wrap="square" rtlCol="0">
            <a:spAutoFit/>
          </a:bodyPr>
          <a:lstStyle/>
          <a:p>
            <a:r>
              <a:rPr lang="es-PE" sz="4000" dirty="0" smtClean="0">
                <a:solidFill>
                  <a:schemeClr val="bg1"/>
                </a:solidFill>
              </a:rPr>
              <a:t>Principios de la filosofía Lean</a:t>
            </a:r>
            <a:endParaRPr lang="es-PE" sz="4000" dirty="0">
              <a:solidFill>
                <a:schemeClr val="bg1"/>
              </a:solidFill>
            </a:endParaRPr>
          </a:p>
          <a:p>
            <a:endParaRPr lang="es-PE" dirty="0"/>
          </a:p>
        </p:txBody>
      </p:sp>
    </p:spTree>
    <p:extLst>
      <p:ext uri="{BB962C8B-B14F-4D97-AF65-F5344CB8AC3E}">
        <p14:creationId xmlns:p14="http://schemas.microsoft.com/office/powerpoint/2010/main" val="107133684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p:cNvSpPr/>
          <p:nvPr/>
        </p:nvSpPr>
        <p:spPr>
          <a:xfrm>
            <a:off x="2305877" y="1010327"/>
            <a:ext cx="6096000" cy="523220"/>
          </a:xfrm>
          <a:prstGeom prst="rect">
            <a:avLst/>
          </a:prstGeom>
        </p:spPr>
        <p:txBody>
          <a:bodyPr>
            <a:spAutoFit/>
          </a:bodyPr>
          <a:lstStyle/>
          <a:p>
            <a:pPr algn="ctr"/>
            <a:r>
              <a:rPr lang="es-PE" sz="2800" b="1" dirty="0" smtClean="0"/>
              <a:t>Principios de la filosofía Lean</a:t>
            </a:r>
            <a:endParaRPr lang="es-PE" sz="2800" b="1" dirty="0"/>
          </a:p>
        </p:txBody>
      </p:sp>
      <p:sp>
        <p:nvSpPr>
          <p:cNvPr id="4" name="Rectángulo 3"/>
          <p:cNvSpPr/>
          <p:nvPr/>
        </p:nvSpPr>
        <p:spPr>
          <a:xfrm>
            <a:off x="1192697" y="2729948"/>
            <a:ext cx="7673008" cy="369332"/>
          </a:xfrm>
          <a:prstGeom prst="rect">
            <a:avLst/>
          </a:prstGeom>
        </p:spPr>
        <p:txBody>
          <a:bodyPr wrap="square">
            <a:spAutoFit/>
          </a:bodyPr>
          <a:lstStyle/>
          <a:p>
            <a:pPr algn="just"/>
            <a:endParaRPr lang="es-PE" dirty="0"/>
          </a:p>
        </p:txBody>
      </p:sp>
      <p:sp>
        <p:nvSpPr>
          <p:cNvPr id="7" name="Rectángulo 6"/>
          <p:cNvSpPr/>
          <p:nvPr/>
        </p:nvSpPr>
        <p:spPr>
          <a:xfrm>
            <a:off x="1192697" y="3785799"/>
            <a:ext cx="8799444" cy="369332"/>
          </a:xfrm>
          <a:prstGeom prst="rect">
            <a:avLst/>
          </a:prstGeom>
        </p:spPr>
        <p:txBody>
          <a:bodyPr wrap="square">
            <a:spAutoFit/>
          </a:bodyPr>
          <a:lstStyle/>
          <a:p>
            <a:pPr algn="just"/>
            <a:endParaRPr lang="es-MX" i="0" dirty="0">
              <a:solidFill>
                <a:srgbClr val="212529"/>
              </a:solidFill>
              <a:effectLst/>
            </a:endParaRPr>
          </a:p>
        </p:txBody>
      </p:sp>
      <p:pic>
        <p:nvPicPr>
          <p:cNvPr id="9" name="Imagen 8"/>
          <p:cNvPicPr>
            <a:picLocks noChangeAspect="1"/>
          </p:cNvPicPr>
          <p:nvPr/>
        </p:nvPicPr>
        <p:blipFill>
          <a:blip r:embed="rId2"/>
          <a:stretch>
            <a:fillRect/>
          </a:stretch>
        </p:blipFill>
        <p:spPr>
          <a:xfrm>
            <a:off x="688783" y="2220066"/>
            <a:ext cx="3234189" cy="2466881"/>
          </a:xfrm>
          <a:prstGeom prst="rect">
            <a:avLst/>
          </a:prstGeom>
        </p:spPr>
      </p:pic>
      <p:sp>
        <p:nvSpPr>
          <p:cNvPr id="12" name="Rectángulo 11"/>
          <p:cNvSpPr/>
          <p:nvPr/>
        </p:nvSpPr>
        <p:spPr>
          <a:xfrm>
            <a:off x="4400055" y="2576343"/>
            <a:ext cx="6096000" cy="1754326"/>
          </a:xfrm>
          <a:prstGeom prst="rect">
            <a:avLst/>
          </a:prstGeom>
        </p:spPr>
        <p:txBody>
          <a:bodyPr>
            <a:spAutoFit/>
          </a:bodyPr>
          <a:lstStyle/>
          <a:p>
            <a:pPr algn="just"/>
            <a:r>
              <a:rPr lang="es-MX" dirty="0"/>
              <a:t>La gestión de proyectos Lean es una metodología ágil que busca aumentar el valor para los clientes mediante la eliminación de los “desperdicios” de cada fase de un proyecto. En este artículo, explicaremos qué es la gestión de proyectos Lean y describiremos cómo aplicarla para mejorar la productividad.</a:t>
            </a:r>
            <a:endParaRPr lang="es-PE" dirty="0"/>
          </a:p>
        </p:txBody>
      </p:sp>
    </p:spTree>
    <p:extLst>
      <p:ext uri="{BB962C8B-B14F-4D97-AF65-F5344CB8AC3E}">
        <p14:creationId xmlns:p14="http://schemas.microsoft.com/office/powerpoint/2010/main" val="757216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nodePh="1">
                                  <p:stCondLst>
                                    <p:cond delay="0"/>
                                  </p:stCondLst>
                                  <p:endCondLst>
                                    <p:cond evt="begin" delay="0">
                                      <p:tn val="9"/>
                                    </p:cond>
                                  </p:end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nodePh="1">
                                  <p:stCondLst>
                                    <p:cond delay="0"/>
                                  </p:stCondLst>
                                  <p:endCondLst>
                                    <p:cond evt="begin" delay="0">
                                      <p:tn val="13"/>
                                    </p:cond>
                                  </p:end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 grpId="0"/>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2544417" y="845585"/>
            <a:ext cx="5420140" cy="1323439"/>
          </a:xfrm>
          <a:prstGeom prst="rect">
            <a:avLst/>
          </a:prstGeom>
        </p:spPr>
        <p:txBody>
          <a:bodyPr wrap="square">
            <a:spAutoFit/>
          </a:bodyPr>
          <a:lstStyle/>
          <a:p>
            <a:pPr algn="ctr"/>
            <a:r>
              <a:rPr lang="es-MX" sz="2800" b="1" dirty="0"/>
              <a:t>Los 5 principios de la gestión de proyectos Lean</a:t>
            </a:r>
          </a:p>
          <a:p>
            <a:pPr algn="ctr"/>
            <a:endParaRPr lang="es-MX" sz="2400" b="1" i="0" dirty="0">
              <a:effectLst/>
            </a:endParaRPr>
          </a:p>
        </p:txBody>
      </p:sp>
      <p:sp>
        <p:nvSpPr>
          <p:cNvPr id="8" name="Rectángulo 7"/>
          <p:cNvSpPr/>
          <p:nvPr/>
        </p:nvSpPr>
        <p:spPr>
          <a:xfrm>
            <a:off x="907774" y="2169024"/>
            <a:ext cx="8693426" cy="1631216"/>
          </a:xfrm>
          <a:prstGeom prst="rect">
            <a:avLst/>
          </a:prstGeom>
        </p:spPr>
        <p:txBody>
          <a:bodyPr wrap="square">
            <a:spAutoFit/>
          </a:bodyPr>
          <a:lstStyle/>
          <a:p>
            <a:r>
              <a:rPr lang="es-MX" sz="2000" dirty="0"/>
              <a:t>Los cinco principios de la gestión de proyectos Lean sirven como pasos para alcanzar la perfección en la satisfacción de los clientes. Aplica estos cinco pasos si quieres tener más posibilidades de reducir los “desperdicios” de producción, mantenerte dentro del alcance del proyecto y cumplir con los factores críticos de éxito.</a:t>
            </a:r>
            <a:endParaRPr lang="es-PE" sz="2000" dirty="0"/>
          </a:p>
        </p:txBody>
      </p:sp>
      <p:pic>
        <p:nvPicPr>
          <p:cNvPr id="11" name="Imagen 10"/>
          <p:cNvPicPr>
            <a:picLocks noChangeAspect="1"/>
          </p:cNvPicPr>
          <p:nvPr/>
        </p:nvPicPr>
        <p:blipFill>
          <a:blip r:embed="rId2"/>
          <a:stretch>
            <a:fillRect/>
          </a:stretch>
        </p:blipFill>
        <p:spPr>
          <a:xfrm>
            <a:off x="3136943" y="3644348"/>
            <a:ext cx="4235087" cy="3031775"/>
          </a:xfrm>
          <a:prstGeom prst="rect">
            <a:avLst/>
          </a:prstGeom>
        </p:spPr>
      </p:pic>
    </p:spTree>
    <p:extLst>
      <p:ext uri="{BB962C8B-B14F-4D97-AF65-F5344CB8AC3E}">
        <p14:creationId xmlns:p14="http://schemas.microsoft.com/office/powerpoint/2010/main" val="81029388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p:cNvSpPr/>
          <p:nvPr/>
        </p:nvSpPr>
        <p:spPr>
          <a:xfrm>
            <a:off x="689596" y="699917"/>
            <a:ext cx="2994508" cy="400110"/>
          </a:xfrm>
          <a:prstGeom prst="rect">
            <a:avLst/>
          </a:prstGeom>
        </p:spPr>
        <p:txBody>
          <a:bodyPr wrap="square">
            <a:spAutoFit/>
          </a:bodyPr>
          <a:lstStyle/>
          <a:p>
            <a:r>
              <a:rPr lang="es-PE" sz="2000" b="1" dirty="0">
                <a:solidFill>
                  <a:srgbClr val="0D0E10"/>
                </a:solidFill>
              </a:rPr>
              <a:t>1. Identifica el valor</a:t>
            </a:r>
            <a:endParaRPr lang="es-PE" sz="2000" b="1" i="0" dirty="0">
              <a:solidFill>
                <a:srgbClr val="0D0E10"/>
              </a:solidFill>
              <a:effectLst/>
            </a:endParaRPr>
          </a:p>
        </p:txBody>
      </p:sp>
      <p:sp>
        <p:nvSpPr>
          <p:cNvPr id="11" name="Rectángulo 10"/>
          <p:cNvSpPr/>
          <p:nvPr/>
        </p:nvSpPr>
        <p:spPr>
          <a:xfrm>
            <a:off x="689597" y="1563757"/>
            <a:ext cx="8984490" cy="4247317"/>
          </a:xfrm>
          <a:prstGeom prst="rect">
            <a:avLst/>
          </a:prstGeom>
        </p:spPr>
        <p:txBody>
          <a:bodyPr wrap="square">
            <a:spAutoFit/>
          </a:bodyPr>
          <a:lstStyle/>
          <a:p>
            <a:pPr algn="just"/>
            <a:r>
              <a:rPr lang="es-MX" dirty="0"/>
              <a:t>El principio inicial esencial de la gestión de proyectos Lean es identificar el valor de tu producto. Para lograrlo, debes conocer a las partes interesadas. A veces, los entregables del proyecto serán para partes interesadas internas, mientras que en otros casos el destinatario será una parte interesada externa</a:t>
            </a:r>
            <a:r>
              <a:rPr lang="es-MX" dirty="0" smtClean="0"/>
              <a:t>.</a:t>
            </a:r>
          </a:p>
          <a:p>
            <a:pPr algn="just"/>
            <a:endParaRPr lang="es-MX" dirty="0"/>
          </a:p>
          <a:p>
            <a:pPr algn="just">
              <a:buFont typeface="Arial" panose="020B0604020202020204" pitchFamily="34" charset="0"/>
              <a:buChar char="•"/>
            </a:pPr>
            <a:r>
              <a:rPr lang="es-MX" dirty="0"/>
              <a:t>Una parte interesada interna es una persona que participa en el proyecto y supervisa el desarrollo del producto, porque tiene interés real en obtener buenos resultados</a:t>
            </a:r>
            <a:r>
              <a:rPr lang="es-MX" dirty="0" smtClean="0"/>
              <a:t>.</a:t>
            </a:r>
          </a:p>
          <a:p>
            <a:pPr algn="just">
              <a:buFont typeface="Arial" panose="020B0604020202020204" pitchFamily="34" charset="0"/>
              <a:buChar char="•"/>
            </a:pPr>
            <a:endParaRPr lang="es-MX" dirty="0"/>
          </a:p>
          <a:p>
            <a:pPr algn="just">
              <a:buFont typeface="Arial" panose="020B0604020202020204" pitchFamily="34" charset="0"/>
              <a:buChar char="•"/>
            </a:pPr>
            <a:r>
              <a:rPr lang="es-MX" dirty="0"/>
              <a:t>Una parte interesada externa es un cliente que compra el producto o servicio y que se ve afectado por la calidad que tenga</a:t>
            </a:r>
            <a:r>
              <a:rPr lang="es-MX" dirty="0" smtClean="0"/>
              <a:t>.</a:t>
            </a:r>
          </a:p>
          <a:p>
            <a:pPr algn="just">
              <a:buFont typeface="Arial" panose="020B0604020202020204" pitchFamily="34" charset="0"/>
              <a:buChar char="•"/>
            </a:pPr>
            <a:endParaRPr lang="es-MX" dirty="0"/>
          </a:p>
          <a:p>
            <a:pPr algn="just"/>
            <a:r>
              <a:rPr lang="es-MX" dirty="0"/>
              <a:t>Una vez que sepas para quién desarrollas tu proyecto, podrás determinar mejor cómo hacer que sea valioso. Por ejemplo, el valor de un producto para una parte interesada interna puede consistir en satisfacer alguna necesidad operativa interna. El valor de un producto para un cliente puede residir en resolver un problema del cliente o hacerle la vida más fácil. </a:t>
            </a:r>
            <a:endParaRPr lang="es-MX" b="0" i="0" dirty="0">
              <a:effectLst/>
            </a:endParaRPr>
          </a:p>
        </p:txBody>
      </p:sp>
    </p:spTree>
    <p:extLst>
      <p:ext uri="{BB962C8B-B14F-4D97-AF65-F5344CB8AC3E}">
        <p14:creationId xmlns:p14="http://schemas.microsoft.com/office/powerpoint/2010/main" val="196993064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725946" y="673412"/>
            <a:ext cx="2931653" cy="400110"/>
          </a:xfrm>
          <a:prstGeom prst="rect">
            <a:avLst/>
          </a:prstGeom>
        </p:spPr>
        <p:txBody>
          <a:bodyPr wrap="square">
            <a:spAutoFit/>
          </a:bodyPr>
          <a:lstStyle/>
          <a:p>
            <a:r>
              <a:rPr lang="es-MX" sz="2000" b="1" dirty="0">
                <a:solidFill>
                  <a:srgbClr val="0D0E10"/>
                </a:solidFill>
              </a:rPr>
              <a:t>2. Mapea el flujo de valor</a:t>
            </a:r>
            <a:endParaRPr lang="es-MX" sz="2000" b="1" i="0" dirty="0">
              <a:solidFill>
                <a:srgbClr val="0D0E10"/>
              </a:solidFill>
              <a:effectLst/>
            </a:endParaRPr>
          </a:p>
        </p:txBody>
      </p:sp>
      <p:sp>
        <p:nvSpPr>
          <p:cNvPr id="3" name="Rectángulo 2"/>
          <p:cNvSpPr/>
          <p:nvPr/>
        </p:nvSpPr>
        <p:spPr>
          <a:xfrm>
            <a:off x="725946" y="1484244"/>
            <a:ext cx="8722854" cy="2308324"/>
          </a:xfrm>
          <a:prstGeom prst="rect">
            <a:avLst/>
          </a:prstGeom>
        </p:spPr>
        <p:txBody>
          <a:bodyPr wrap="square">
            <a:spAutoFit/>
          </a:bodyPr>
          <a:lstStyle/>
          <a:p>
            <a:pPr algn="just"/>
            <a:r>
              <a:rPr lang="es-MX" dirty="0"/>
              <a:t>El mapa del flujo de valor (VSM) es el principio que sigue en la gestión de proyectos Lean. El VSM es una herramienta visual que incluye la diagramación del flujo de trabajo actual y del ideal desde la iniciación del proyecto hasta que termina.</a:t>
            </a:r>
          </a:p>
          <a:p>
            <a:pPr algn="just"/>
            <a:r>
              <a:rPr lang="es-MX" dirty="0"/>
              <a:t>Al comparar los flujos de trabajo, puedes identificar los “desperdicios” de cada fase de la gestión del proyecto para maximizar la eficiencia. </a:t>
            </a:r>
          </a:p>
          <a:p>
            <a:pPr algn="just"/>
            <a:r>
              <a:rPr lang="es-MX" dirty="0"/>
              <a:t>En Toyota se identificaron los tipos de “desperdicios” que se pueden hallar con el VSM en la fabricación Lean; pero entre paréntesis, verás cómo estos mismos elementos se pueden trasladar a otros sectores del mercado:</a:t>
            </a:r>
            <a:endParaRPr lang="es-MX" i="0" dirty="0">
              <a:effectLst/>
            </a:endParaRPr>
          </a:p>
        </p:txBody>
      </p:sp>
      <p:sp>
        <p:nvSpPr>
          <p:cNvPr id="5" name="Rectángulo 4"/>
          <p:cNvSpPr/>
          <p:nvPr/>
        </p:nvSpPr>
        <p:spPr>
          <a:xfrm>
            <a:off x="725946" y="3972433"/>
            <a:ext cx="8600662" cy="923330"/>
          </a:xfrm>
          <a:prstGeom prst="rect">
            <a:avLst/>
          </a:prstGeom>
        </p:spPr>
        <p:txBody>
          <a:bodyPr wrap="square">
            <a:spAutoFit/>
          </a:bodyPr>
          <a:lstStyle/>
          <a:p>
            <a:r>
              <a:rPr lang="es-MX" b="1" dirty="0"/>
              <a:t>*</a:t>
            </a:r>
            <a:r>
              <a:rPr lang="es-MX" dirty="0" smtClean="0"/>
              <a:t>Sobreproducción </a:t>
            </a:r>
            <a:r>
              <a:rPr lang="es-MX" dirty="0"/>
              <a:t>(funciones innecesarias): El exceso de producción y de funciones de software innecesarias puede derivar en costos extra como los de mayor almacenamiento, materiales desperdiciados e inventarios inútiles</a:t>
            </a:r>
            <a:r>
              <a:rPr lang="es-MX" dirty="0" smtClean="0"/>
              <a:t>.</a:t>
            </a:r>
          </a:p>
        </p:txBody>
      </p:sp>
      <p:sp>
        <p:nvSpPr>
          <p:cNvPr id="6" name="Rectángulo 5"/>
          <p:cNvSpPr/>
          <p:nvPr/>
        </p:nvSpPr>
        <p:spPr>
          <a:xfrm>
            <a:off x="717857" y="5075628"/>
            <a:ext cx="9448801" cy="1200329"/>
          </a:xfrm>
          <a:prstGeom prst="rect">
            <a:avLst/>
          </a:prstGeom>
        </p:spPr>
        <p:txBody>
          <a:bodyPr wrap="square">
            <a:spAutoFit/>
          </a:bodyPr>
          <a:lstStyle/>
          <a:p>
            <a:pPr algn="just"/>
            <a:r>
              <a:rPr lang="es-MX" dirty="0" smtClean="0">
                <a:solidFill>
                  <a:srgbClr val="0D0E10"/>
                </a:solidFill>
              </a:rPr>
              <a:t>*Inventario </a:t>
            </a:r>
            <a:r>
              <a:rPr lang="es-MX" dirty="0">
                <a:solidFill>
                  <a:srgbClr val="0D0E10"/>
                </a:solidFill>
              </a:rPr>
              <a:t>(el ‘</a:t>
            </a:r>
            <a:r>
              <a:rPr lang="es-MX" dirty="0" err="1">
                <a:solidFill>
                  <a:srgbClr val="0D0E10"/>
                </a:solidFill>
              </a:rPr>
              <a:t>backlog</a:t>
            </a:r>
            <a:r>
              <a:rPr lang="es-MX" dirty="0">
                <a:solidFill>
                  <a:srgbClr val="0D0E10"/>
                </a:solidFill>
              </a:rPr>
              <a:t>’ mal gestionado): Los “desperdicios” del inventario, los de trabajos incompletos y el </a:t>
            </a:r>
            <a:r>
              <a:rPr lang="es-MX" i="1" dirty="0" err="1">
                <a:solidFill>
                  <a:srgbClr val="0D0E10"/>
                </a:solidFill>
              </a:rPr>
              <a:t>backlog</a:t>
            </a:r>
            <a:r>
              <a:rPr lang="es-MX" dirty="0">
                <a:solidFill>
                  <a:srgbClr val="0D0E10"/>
                </a:solidFill>
              </a:rPr>
              <a:t> mal gestionado, todos generan gastos innecesarios por el espacio de almacenamiento del inventario, gastos de transporte y costos extra destinados a realizar los trabajos.</a:t>
            </a:r>
            <a:endParaRPr lang="es-MX" b="0" i="0" dirty="0">
              <a:solidFill>
                <a:srgbClr val="0D0E10"/>
              </a:solidFill>
              <a:effectLst/>
            </a:endParaRPr>
          </a:p>
        </p:txBody>
      </p:sp>
    </p:spTree>
    <p:extLst>
      <p:ext uri="{BB962C8B-B14F-4D97-AF65-F5344CB8AC3E}">
        <p14:creationId xmlns:p14="http://schemas.microsoft.com/office/powerpoint/2010/main" val="188387325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p:cNvSpPr/>
          <p:nvPr/>
        </p:nvSpPr>
        <p:spPr>
          <a:xfrm>
            <a:off x="450574" y="901147"/>
            <a:ext cx="8468139" cy="1754326"/>
          </a:xfrm>
          <a:prstGeom prst="rect">
            <a:avLst/>
          </a:prstGeom>
        </p:spPr>
        <p:txBody>
          <a:bodyPr wrap="square">
            <a:spAutoFit/>
          </a:bodyPr>
          <a:lstStyle/>
          <a:p>
            <a:pPr algn="just"/>
            <a:r>
              <a:rPr lang="es-MX" b="1" dirty="0" smtClean="0"/>
              <a:t>*Movimiento </a:t>
            </a:r>
            <a:r>
              <a:rPr lang="es-MX" b="1" dirty="0"/>
              <a:t>(cambio entre tareas): </a:t>
            </a:r>
            <a:r>
              <a:rPr lang="es-MX" dirty="0"/>
              <a:t>Los “desperdicios” por movimiento son el costo innecesario en que se incurre por los movimientos internos de personas o máquinas. Puede notarse en los procesos redundantes o en el exceso de aplicaciones. De hecho, los trabajadores del conocimiento en promedio cambian entre 10 aplicaciones hasta 25 veces por día; y el 27 % manifiesta que al cambiar entre aplicaciones se pierden acciones y mensajes.</a:t>
            </a:r>
            <a:endParaRPr lang="es-PE" dirty="0"/>
          </a:p>
        </p:txBody>
      </p:sp>
      <p:sp>
        <p:nvSpPr>
          <p:cNvPr id="8" name="Rectángulo 7"/>
          <p:cNvSpPr/>
          <p:nvPr/>
        </p:nvSpPr>
        <p:spPr>
          <a:xfrm>
            <a:off x="450573" y="2914975"/>
            <a:ext cx="8468139" cy="923330"/>
          </a:xfrm>
          <a:prstGeom prst="rect">
            <a:avLst/>
          </a:prstGeom>
        </p:spPr>
        <p:txBody>
          <a:bodyPr wrap="square">
            <a:spAutoFit/>
          </a:bodyPr>
          <a:lstStyle/>
          <a:p>
            <a:pPr algn="just"/>
            <a:r>
              <a:rPr lang="es-MX" b="1" dirty="0" smtClean="0">
                <a:solidFill>
                  <a:srgbClr val="0D0E10"/>
                </a:solidFill>
              </a:rPr>
              <a:t>*Defectos </a:t>
            </a:r>
            <a:r>
              <a:rPr lang="es-MX" dirty="0">
                <a:solidFill>
                  <a:srgbClr val="0D0E10"/>
                </a:solidFill>
              </a:rPr>
              <a:t>(deuda técnica): Los defectos pueden resultar en reparaciones costosas y en la pérdida de materiales. La deuda técnica puede generar una pérdida también valiosa de tiempo.</a:t>
            </a:r>
            <a:endParaRPr lang="es-MX" b="0" i="0" dirty="0">
              <a:solidFill>
                <a:srgbClr val="0D0E10"/>
              </a:solidFill>
              <a:effectLst/>
            </a:endParaRPr>
          </a:p>
        </p:txBody>
      </p:sp>
      <p:sp>
        <p:nvSpPr>
          <p:cNvPr id="9" name="Rectángulo 8"/>
          <p:cNvSpPr/>
          <p:nvPr/>
        </p:nvSpPr>
        <p:spPr>
          <a:xfrm>
            <a:off x="450573" y="4097808"/>
            <a:ext cx="8468139" cy="1477328"/>
          </a:xfrm>
          <a:prstGeom prst="rect">
            <a:avLst/>
          </a:prstGeom>
        </p:spPr>
        <p:txBody>
          <a:bodyPr wrap="square">
            <a:spAutoFit/>
          </a:bodyPr>
          <a:lstStyle/>
          <a:p>
            <a:pPr algn="just"/>
            <a:r>
              <a:rPr lang="es-MX" b="1" dirty="0" smtClean="0">
                <a:solidFill>
                  <a:srgbClr val="0D0E10"/>
                </a:solidFill>
                <a:latin typeface="inherit"/>
              </a:rPr>
              <a:t>*Exceso </a:t>
            </a:r>
            <a:r>
              <a:rPr lang="es-MX" b="1" dirty="0">
                <a:solidFill>
                  <a:srgbClr val="0D0E10"/>
                </a:solidFill>
                <a:latin typeface="inherit"/>
              </a:rPr>
              <a:t>de procesos (herramientas caras):</a:t>
            </a:r>
            <a:r>
              <a:rPr lang="es-MX" dirty="0">
                <a:solidFill>
                  <a:srgbClr val="0D0E10"/>
                </a:solidFill>
                <a:latin typeface="inherit"/>
              </a:rPr>
              <a:t> El exceso de procesos puede derivar en costos innecesarios como el de pagar por la actualización de algún producto que los usuarios no hayan pedido o no necesiten. Del mismo modo, el dinero que se gasta en herramientas caras puede ser un desperdicio si esas herramientas no lo valen.</a:t>
            </a:r>
            <a:endParaRPr lang="es-MX" b="0" i="0" dirty="0">
              <a:solidFill>
                <a:srgbClr val="0D0E10"/>
              </a:solidFill>
              <a:effectLst/>
              <a:latin typeface="inherit"/>
            </a:endParaRPr>
          </a:p>
        </p:txBody>
      </p:sp>
    </p:spTree>
    <p:extLst>
      <p:ext uri="{BB962C8B-B14F-4D97-AF65-F5344CB8AC3E}">
        <p14:creationId xmlns:p14="http://schemas.microsoft.com/office/powerpoint/2010/main" val="123041445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609600" y="1112031"/>
            <a:ext cx="8653670" cy="646331"/>
          </a:xfrm>
          <a:prstGeom prst="rect">
            <a:avLst/>
          </a:prstGeom>
        </p:spPr>
        <p:txBody>
          <a:bodyPr wrap="square">
            <a:spAutoFit/>
          </a:bodyPr>
          <a:lstStyle/>
          <a:p>
            <a:pPr algn="just"/>
            <a:r>
              <a:rPr lang="es-MX" b="1" dirty="0" smtClean="0">
                <a:solidFill>
                  <a:srgbClr val="0D0E10"/>
                </a:solidFill>
                <a:latin typeface="inherit"/>
              </a:rPr>
              <a:t>*</a:t>
            </a:r>
            <a:r>
              <a:rPr lang="es-MX" b="1" dirty="0" smtClean="0">
                <a:solidFill>
                  <a:srgbClr val="0D0E10"/>
                </a:solidFill>
              </a:rPr>
              <a:t>Tiempo </a:t>
            </a:r>
            <a:r>
              <a:rPr lang="es-MX" b="1" dirty="0">
                <a:solidFill>
                  <a:srgbClr val="0D0E10"/>
                </a:solidFill>
              </a:rPr>
              <a:t>de espera</a:t>
            </a:r>
            <a:r>
              <a:rPr lang="es-MX" dirty="0">
                <a:solidFill>
                  <a:srgbClr val="0D0E10"/>
                </a:solidFill>
              </a:rPr>
              <a:t>: La espera es el costo resultante de los retrasos en los cronogramas de los entregables de los productos finales.</a:t>
            </a:r>
            <a:endParaRPr lang="es-MX" b="0" i="0" dirty="0">
              <a:solidFill>
                <a:srgbClr val="0D0E10"/>
              </a:solidFill>
              <a:effectLst/>
            </a:endParaRPr>
          </a:p>
        </p:txBody>
      </p:sp>
      <p:sp>
        <p:nvSpPr>
          <p:cNvPr id="4" name="Rectángulo 3"/>
          <p:cNvSpPr/>
          <p:nvPr/>
        </p:nvSpPr>
        <p:spPr>
          <a:xfrm>
            <a:off x="609600" y="2172205"/>
            <a:ext cx="8653670" cy="646331"/>
          </a:xfrm>
          <a:prstGeom prst="rect">
            <a:avLst/>
          </a:prstGeom>
        </p:spPr>
        <p:txBody>
          <a:bodyPr wrap="square">
            <a:spAutoFit/>
          </a:bodyPr>
          <a:lstStyle/>
          <a:p>
            <a:pPr algn="just"/>
            <a:r>
              <a:rPr lang="es-MX" b="1" dirty="0" smtClean="0">
                <a:solidFill>
                  <a:srgbClr val="0D0E10"/>
                </a:solidFill>
              </a:rPr>
              <a:t>*Transporte</a:t>
            </a:r>
            <a:r>
              <a:rPr lang="es-MX" b="1" dirty="0">
                <a:solidFill>
                  <a:srgbClr val="0D0E10"/>
                </a:solidFill>
              </a:rPr>
              <a:t>:</a:t>
            </a:r>
            <a:r>
              <a:rPr lang="es-MX" dirty="0">
                <a:solidFill>
                  <a:srgbClr val="0D0E10"/>
                </a:solidFill>
              </a:rPr>
              <a:t> El desperdicio de transporte es similar al de movimiento, pero se refiere al movimiento externo, como los traslados innecesarios de productos y materiales. </a:t>
            </a:r>
            <a:endParaRPr lang="es-MX" b="0" i="0" dirty="0">
              <a:solidFill>
                <a:srgbClr val="0D0E10"/>
              </a:solidFill>
              <a:effectLst/>
            </a:endParaRPr>
          </a:p>
        </p:txBody>
      </p:sp>
      <p:sp>
        <p:nvSpPr>
          <p:cNvPr id="6" name="Rectángulo 5"/>
          <p:cNvSpPr/>
          <p:nvPr/>
        </p:nvSpPr>
        <p:spPr>
          <a:xfrm>
            <a:off x="609600" y="3093880"/>
            <a:ext cx="8653670" cy="923330"/>
          </a:xfrm>
          <a:prstGeom prst="rect">
            <a:avLst/>
          </a:prstGeom>
        </p:spPr>
        <p:txBody>
          <a:bodyPr wrap="square">
            <a:spAutoFit/>
          </a:bodyPr>
          <a:lstStyle/>
          <a:p>
            <a:r>
              <a:rPr lang="es-MX" b="1" dirty="0" smtClean="0">
                <a:solidFill>
                  <a:srgbClr val="0D0E10"/>
                </a:solidFill>
              </a:rPr>
              <a:t>*Equipos </a:t>
            </a:r>
            <a:r>
              <a:rPr lang="es-MX" b="1" dirty="0">
                <a:solidFill>
                  <a:srgbClr val="0D0E10"/>
                </a:solidFill>
              </a:rPr>
              <a:t>fragmentados:</a:t>
            </a:r>
            <a:r>
              <a:rPr lang="es-MX" dirty="0">
                <a:solidFill>
                  <a:srgbClr val="0D0E10"/>
                </a:solidFill>
              </a:rPr>
              <a:t> Los equipos fragmentados pueden generar gastos desperdiciados debido a la falta de comunicación, las reuniones innecesarias y la falta de solidez en la colaboración.</a:t>
            </a:r>
            <a:endParaRPr lang="es-MX" b="0" i="0" dirty="0">
              <a:solidFill>
                <a:srgbClr val="0D0E10"/>
              </a:solidFill>
              <a:effectLst/>
            </a:endParaRPr>
          </a:p>
        </p:txBody>
      </p:sp>
      <p:sp>
        <p:nvSpPr>
          <p:cNvPr id="7" name="Rectángulo 6"/>
          <p:cNvSpPr/>
          <p:nvPr/>
        </p:nvSpPr>
        <p:spPr>
          <a:xfrm>
            <a:off x="609600" y="4292554"/>
            <a:ext cx="8653670" cy="1200329"/>
          </a:xfrm>
          <a:prstGeom prst="rect">
            <a:avLst/>
          </a:prstGeom>
        </p:spPr>
        <p:txBody>
          <a:bodyPr wrap="square">
            <a:spAutoFit/>
          </a:bodyPr>
          <a:lstStyle/>
          <a:p>
            <a:r>
              <a:rPr lang="es-MX" dirty="0">
                <a:solidFill>
                  <a:srgbClr val="2A2B2C"/>
                </a:solidFill>
              </a:rPr>
              <a:t>El VSM es el paso más importante de la gestión de proyectos Lean. Sin esta etapa, no tendrás la visualización que necesitas para notar los defectos del ciclo de vida del proyecto; en consecuencia, no será posible mejorar ese ciclo de vida ni la calidad de los productos para los clientes.</a:t>
            </a:r>
            <a:endParaRPr lang="es-PE" dirty="0"/>
          </a:p>
        </p:txBody>
      </p:sp>
    </p:spTree>
    <p:extLst>
      <p:ext uri="{BB962C8B-B14F-4D97-AF65-F5344CB8AC3E}">
        <p14:creationId xmlns:p14="http://schemas.microsoft.com/office/powerpoint/2010/main" val="213987090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p:cNvSpPr/>
          <p:nvPr/>
        </p:nvSpPr>
        <p:spPr>
          <a:xfrm>
            <a:off x="689158" y="1057725"/>
            <a:ext cx="2597381" cy="400110"/>
          </a:xfrm>
          <a:prstGeom prst="rect">
            <a:avLst/>
          </a:prstGeom>
        </p:spPr>
        <p:txBody>
          <a:bodyPr wrap="square">
            <a:spAutoFit/>
          </a:bodyPr>
          <a:lstStyle/>
          <a:p>
            <a:r>
              <a:rPr lang="es-PE" sz="2000" b="1" dirty="0">
                <a:solidFill>
                  <a:srgbClr val="0D0E10"/>
                </a:solidFill>
              </a:rPr>
              <a:t>3. Crea un flujo</a:t>
            </a:r>
            <a:endParaRPr lang="es-PE" sz="2000" b="1" i="0" dirty="0">
              <a:solidFill>
                <a:srgbClr val="0D0E10"/>
              </a:solidFill>
              <a:effectLst/>
            </a:endParaRPr>
          </a:p>
        </p:txBody>
      </p:sp>
      <p:sp>
        <p:nvSpPr>
          <p:cNvPr id="9" name="Rectángulo 8"/>
          <p:cNvSpPr/>
          <p:nvPr/>
        </p:nvSpPr>
        <p:spPr>
          <a:xfrm>
            <a:off x="689158" y="1762540"/>
            <a:ext cx="8454842" cy="1477328"/>
          </a:xfrm>
          <a:prstGeom prst="rect">
            <a:avLst/>
          </a:prstGeom>
        </p:spPr>
        <p:txBody>
          <a:bodyPr wrap="square">
            <a:spAutoFit/>
          </a:bodyPr>
          <a:lstStyle/>
          <a:p>
            <a:pPr algn="just"/>
            <a:r>
              <a:rPr lang="es-MX" dirty="0"/>
              <a:t>En este paso, </a:t>
            </a:r>
            <a:r>
              <a:rPr lang="es-MX" dirty="0" err="1"/>
              <a:t>retrabajarás</a:t>
            </a:r>
            <a:r>
              <a:rPr lang="es-MX" dirty="0"/>
              <a:t> el plan de gestión de proyectos para que sea más eficiente. Se eliminarán los “desperdicios” identificados en el paso dos. Para lograrlo, desglosa cada etapa del desarrollo de productos y reconfigura los pasos según sea necesario. Usa los hitos de los proyectos como puntos de referencia para garantizar que no se generen “desperdicios” nuevos a medida que progresa el proyecto. </a:t>
            </a:r>
            <a:endParaRPr lang="es-PE" dirty="0"/>
          </a:p>
        </p:txBody>
      </p:sp>
      <p:sp>
        <p:nvSpPr>
          <p:cNvPr id="10" name="Rectángulo 9"/>
          <p:cNvSpPr/>
          <p:nvPr/>
        </p:nvSpPr>
        <p:spPr>
          <a:xfrm>
            <a:off x="689158" y="3544573"/>
            <a:ext cx="8852407" cy="1200329"/>
          </a:xfrm>
          <a:prstGeom prst="rect">
            <a:avLst/>
          </a:prstGeom>
        </p:spPr>
        <p:txBody>
          <a:bodyPr wrap="square">
            <a:spAutoFit/>
          </a:bodyPr>
          <a:lstStyle/>
          <a:p>
            <a:pPr algn="just"/>
            <a:r>
              <a:rPr lang="es-MX" dirty="0">
                <a:solidFill>
                  <a:srgbClr val="2A2B2C"/>
                </a:solidFill>
              </a:rPr>
              <a:t>Por ejemplo, imagina que has identificado en el paso dos el </a:t>
            </a:r>
            <a:r>
              <a:rPr lang="es-MX" i="1" dirty="0" err="1">
                <a:solidFill>
                  <a:srgbClr val="2A2B2C"/>
                </a:solidFill>
              </a:rPr>
              <a:t>backlog</a:t>
            </a:r>
            <a:r>
              <a:rPr lang="es-MX" dirty="0">
                <a:solidFill>
                  <a:srgbClr val="2A2B2C"/>
                </a:solidFill>
              </a:rPr>
              <a:t> mal gestionado y que lo programado en el cronograma se ha retrasado a causa de un cuello de botella que se generó por las asignaciones a cargo de un miembro del equipo. Este es el caso en que determinas cómo eliminar esos puntos débiles y cómo se rearmará el plan del proyecto.</a:t>
            </a:r>
            <a:endParaRPr lang="es-PE" dirty="0"/>
          </a:p>
        </p:txBody>
      </p:sp>
      <p:sp>
        <p:nvSpPr>
          <p:cNvPr id="11" name="Rectángulo 10"/>
          <p:cNvSpPr/>
          <p:nvPr/>
        </p:nvSpPr>
        <p:spPr>
          <a:xfrm>
            <a:off x="689157" y="4940735"/>
            <a:ext cx="8852407" cy="1200329"/>
          </a:xfrm>
          <a:prstGeom prst="rect">
            <a:avLst/>
          </a:prstGeom>
        </p:spPr>
        <p:txBody>
          <a:bodyPr wrap="square">
            <a:spAutoFit/>
          </a:bodyPr>
          <a:lstStyle/>
          <a:p>
            <a:pPr algn="just"/>
            <a:r>
              <a:rPr lang="es-MX" dirty="0">
                <a:solidFill>
                  <a:srgbClr val="2A2B2C"/>
                </a:solidFill>
              </a:rPr>
              <a:t>La mejor manera de garantizar que el VSM valga la pena es con </a:t>
            </a:r>
            <a:r>
              <a:rPr lang="es-MX" dirty="0"/>
              <a:t>comunicaciones abiertas</a:t>
            </a:r>
            <a:r>
              <a:rPr lang="es-MX" dirty="0">
                <a:solidFill>
                  <a:srgbClr val="2A2B2C"/>
                </a:solidFill>
              </a:rPr>
              <a:t>. Una vez que te hayas tomado el tiempo para identificar y eliminar los “desperdicios”, el equipo podrá trabajar unido para evitar cualquier ineficiencia futura y para evitar que se vuelvan a generar “desperdicios”. </a:t>
            </a:r>
            <a:endParaRPr lang="es-PE" dirty="0"/>
          </a:p>
        </p:txBody>
      </p:sp>
    </p:spTree>
    <p:extLst>
      <p:ext uri="{BB962C8B-B14F-4D97-AF65-F5344CB8AC3E}">
        <p14:creationId xmlns:p14="http://schemas.microsoft.com/office/powerpoint/2010/main" val="54138342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707293" y="845691"/>
            <a:ext cx="4818863" cy="400110"/>
          </a:xfrm>
          <a:prstGeom prst="rect">
            <a:avLst/>
          </a:prstGeom>
        </p:spPr>
        <p:txBody>
          <a:bodyPr wrap="square">
            <a:spAutoFit/>
          </a:bodyPr>
          <a:lstStyle/>
          <a:p>
            <a:r>
              <a:rPr lang="es-MX" sz="2000" dirty="0"/>
              <a:t>4. </a:t>
            </a:r>
            <a:r>
              <a:rPr lang="es-MX" sz="2000" b="1" dirty="0"/>
              <a:t>Establece un sistema “</a:t>
            </a:r>
            <a:r>
              <a:rPr lang="es-MX" sz="2000" b="1" dirty="0" err="1"/>
              <a:t>pull</a:t>
            </a:r>
            <a:r>
              <a:rPr lang="es-MX" sz="2000" b="1" dirty="0"/>
              <a:t>”</a:t>
            </a:r>
            <a:endParaRPr lang="es-PE" sz="2000" b="1" dirty="0"/>
          </a:p>
        </p:txBody>
      </p:sp>
      <p:sp>
        <p:nvSpPr>
          <p:cNvPr id="8" name="Rectángulo 7"/>
          <p:cNvSpPr/>
          <p:nvPr/>
        </p:nvSpPr>
        <p:spPr>
          <a:xfrm>
            <a:off x="707293" y="1669775"/>
            <a:ext cx="8728255" cy="1754326"/>
          </a:xfrm>
          <a:prstGeom prst="rect">
            <a:avLst/>
          </a:prstGeom>
        </p:spPr>
        <p:txBody>
          <a:bodyPr wrap="square">
            <a:spAutoFit/>
          </a:bodyPr>
          <a:lstStyle/>
          <a:p>
            <a:pPr algn="just"/>
            <a:r>
              <a:rPr lang="es-MX" dirty="0"/>
              <a:t>Se trata de establecer un sistema (“</a:t>
            </a:r>
            <a:r>
              <a:rPr lang="es-MX" dirty="0" err="1"/>
              <a:t>pull</a:t>
            </a:r>
            <a:r>
              <a:rPr lang="es-MX" dirty="0"/>
              <a:t>”) con el que se incorporan trabajos al proceso a medida que otros trabajos se van terminando en etapas anteriores. Este concepto tiene su origen en la fabricación. Se originó con el objetivo de que las fábricas cumplieran con las demandas exactas de sus clientes con un sistema de inventarios “justo a tiempo”. Sin embargo, un sistema “</a:t>
            </a:r>
            <a:r>
              <a:rPr lang="es-MX" dirty="0" err="1"/>
              <a:t>pull</a:t>
            </a:r>
            <a:r>
              <a:rPr lang="es-MX" dirty="0"/>
              <a:t>” también es útil para otro tipo de empresas porque mantiene a los flujos de trabajo en movimiento con eficiencia.</a:t>
            </a:r>
            <a:endParaRPr lang="es-PE" dirty="0"/>
          </a:p>
        </p:txBody>
      </p:sp>
      <p:sp>
        <p:nvSpPr>
          <p:cNvPr id="9" name="Rectángulo 8"/>
          <p:cNvSpPr/>
          <p:nvPr/>
        </p:nvSpPr>
        <p:spPr>
          <a:xfrm>
            <a:off x="771089" y="3534445"/>
            <a:ext cx="8600661" cy="2585323"/>
          </a:xfrm>
          <a:prstGeom prst="rect">
            <a:avLst/>
          </a:prstGeom>
        </p:spPr>
        <p:txBody>
          <a:bodyPr wrap="square">
            <a:spAutoFit/>
          </a:bodyPr>
          <a:lstStyle/>
          <a:p>
            <a:pPr algn="just"/>
            <a:r>
              <a:rPr lang="es-MX" b="1" dirty="0">
                <a:solidFill>
                  <a:srgbClr val="2A2B2C"/>
                </a:solidFill>
              </a:rPr>
              <a:t>Ejemplo de sistema “</a:t>
            </a:r>
            <a:r>
              <a:rPr lang="es-MX" b="1" dirty="0" err="1">
                <a:solidFill>
                  <a:srgbClr val="2A2B2C"/>
                </a:solidFill>
              </a:rPr>
              <a:t>pull</a:t>
            </a:r>
            <a:r>
              <a:rPr lang="es-MX" b="1" dirty="0">
                <a:solidFill>
                  <a:srgbClr val="2A2B2C"/>
                </a:solidFill>
              </a:rPr>
              <a:t>” en desarrollo de software</a:t>
            </a:r>
            <a:r>
              <a:rPr lang="es-MX" b="1" dirty="0" smtClean="0">
                <a:solidFill>
                  <a:srgbClr val="2A2B2C"/>
                </a:solidFill>
              </a:rPr>
              <a:t>:</a:t>
            </a:r>
          </a:p>
          <a:p>
            <a:pPr algn="just"/>
            <a:endParaRPr lang="es-MX" dirty="0">
              <a:solidFill>
                <a:srgbClr val="2A2B2C"/>
              </a:solidFill>
            </a:endParaRPr>
          </a:p>
          <a:p>
            <a:pPr algn="just">
              <a:buFont typeface="+mj-lt"/>
              <a:buAutoNum type="arabicPeriod"/>
            </a:pPr>
            <a:r>
              <a:rPr lang="es-MX" dirty="0">
                <a:solidFill>
                  <a:srgbClr val="0D0E10"/>
                </a:solidFill>
              </a:rPr>
              <a:t>El diseñador técnico termina su tarea y marca el producto para revisión.</a:t>
            </a:r>
          </a:p>
          <a:p>
            <a:pPr algn="just">
              <a:buFont typeface="+mj-lt"/>
              <a:buAutoNum type="arabicPeriod"/>
            </a:pPr>
            <a:r>
              <a:rPr lang="es-MX" dirty="0">
                <a:solidFill>
                  <a:srgbClr val="0D0E10"/>
                </a:solidFill>
              </a:rPr>
              <a:t>La marca de revisión indica que debe comenzar la etapa de codificación.</a:t>
            </a:r>
          </a:p>
          <a:p>
            <a:pPr algn="just">
              <a:buFont typeface="+mj-lt"/>
              <a:buAutoNum type="arabicPeriod"/>
            </a:pPr>
            <a:r>
              <a:rPr lang="es-MX" dirty="0">
                <a:solidFill>
                  <a:srgbClr val="0D0E10"/>
                </a:solidFill>
              </a:rPr>
              <a:t>El codificador termina su tarea y marca el producto para revisión.</a:t>
            </a:r>
          </a:p>
          <a:p>
            <a:pPr algn="just">
              <a:buFont typeface="+mj-lt"/>
              <a:buAutoNum type="arabicPeriod"/>
            </a:pPr>
            <a:r>
              <a:rPr lang="es-MX" dirty="0">
                <a:solidFill>
                  <a:srgbClr val="0D0E10"/>
                </a:solidFill>
              </a:rPr>
              <a:t>La marca de revisión indica que debe comenzar la etapa de pruebas.</a:t>
            </a:r>
          </a:p>
          <a:p>
            <a:pPr algn="just">
              <a:buFont typeface="+mj-lt"/>
              <a:buAutoNum type="arabicPeriod"/>
            </a:pPr>
            <a:r>
              <a:rPr lang="es-MX" dirty="0">
                <a:solidFill>
                  <a:srgbClr val="0D0E10"/>
                </a:solidFill>
              </a:rPr>
              <a:t>El responsable de las pruebas de productos termina su tarea y lo marca como listo para revisión.</a:t>
            </a:r>
          </a:p>
          <a:p>
            <a:pPr algn="just">
              <a:buFont typeface="+mj-lt"/>
              <a:buAutoNum type="arabicPeriod"/>
            </a:pPr>
            <a:r>
              <a:rPr lang="es-MX" dirty="0">
                <a:solidFill>
                  <a:srgbClr val="0D0E10"/>
                </a:solidFill>
              </a:rPr>
              <a:t>Llevas a cabo la revisión final del producto.</a:t>
            </a:r>
            <a:endParaRPr lang="es-MX" b="0" i="0" dirty="0">
              <a:solidFill>
                <a:srgbClr val="0D0E10"/>
              </a:solidFill>
              <a:effectLst/>
            </a:endParaRPr>
          </a:p>
        </p:txBody>
      </p:sp>
    </p:spTree>
    <p:extLst>
      <p:ext uri="{BB962C8B-B14F-4D97-AF65-F5344CB8AC3E}">
        <p14:creationId xmlns:p14="http://schemas.microsoft.com/office/powerpoint/2010/main" val="319097390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ángulo 10"/>
          <p:cNvSpPr/>
          <p:nvPr/>
        </p:nvSpPr>
        <p:spPr>
          <a:xfrm>
            <a:off x="5588042" y="4969565"/>
            <a:ext cx="388688" cy="459944"/>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s-PE"/>
          </a:p>
        </p:txBody>
      </p:sp>
      <p:sp>
        <p:nvSpPr>
          <p:cNvPr id="7" name="Rectángulo 6"/>
          <p:cNvSpPr/>
          <p:nvPr/>
        </p:nvSpPr>
        <p:spPr>
          <a:xfrm>
            <a:off x="649356" y="1205948"/>
            <a:ext cx="8945218" cy="1477328"/>
          </a:xfrm>
          <a:prstGeom prst="rect">
            <a:avLst/>
          </a:prstGeom>
        </p:spPr>
        <p:txBody>
          <a:bodyPr wrap="square">
            <a:spAutoFit/>
          </a:bodyPr>
          <a:lstStyle/>
          <a:p>
            <a:pPr algn="just"/>
            <a:r>
              <a:rPr lang="es-MX" dirty="0">
                <a:solidFill>
                  <a:srgbClr val="2A2B2C"/>
                </a:solidFill>
                <a:latin typeface="gordita"/>
              </a:rPr>
              <a:t>Este paso puede ser muy útil para equipos de varios sectores diferentes, porque el trabajo avanza a la perfección a través del ciclo de vida de cada proyecto. Los sectores que producen para el consumidor final obtendrán mejores beneficios si usan las señas del sistema “</a:t>
            </a:r>
            <a:r>
              <a:rPr lang="es-MX" dirty="0" err="1">
                <a:solidFill>
                  <a:srgbClr val="2A2B2C"/>
                </a:solidFill>
                <a:latin typeface="gordita"/>
              </a:rPr>
              <a:t>pull</a:t>
            </a:r>
            <a:r>
              <a:rPr lang="es-MX" dirty="0">
                <a:solidFill>
                  <a:srgbClr val="2A2B2C"/>
                </a:solidFill>
                <a:latin typeface="gordita"/>
              </a:rPr>
              <a:t>” para trabajar en retrospectiva. De este modo, el equipo solamente producirá inventario cuando lo necesite.</a:t>
            </a:r>
            <a:endParaRPr lang="es-PE" dirty="0"/>
          </a:p>
        </p:txBody>
      </p:sp>
      <p:pic>
        <p:nvPicPr>
          <p:cNvPr id="8" name="Imagen 7"/>
          <p:cNvPicPr>
            <a:picLocks noChangeAspect="1"/>
          </p:cNvPicPr>
          <p:nvPr/>
        </p:nvPicPr>
        <p:blipFill>
          <a:blip r:embed="rId2"/>
          <a:stretch>
            <a:fillRect/>
          </a:stretch>
        </p:blipFill>
        <p:spPr>
          <a:xfrm>
            <a:off x="2107096" y="2928730"/>
            <a:ext cx="7275443" cy="3472070"/>
          </a:xfrm>
          <a:prstGeom prst="rect">
            <a:avLst/>
          </a:prstGeom>
        </p:spPr>
      </p:pic>
      <p:sp>
        <p:nvSpPr>
          <p:cNvPr id="10" name="Rectángulo 9"/>
          <p:cNvSpPr/>
          <p:nvPr/>
        </p:nvSpPr>
        <p:spPr>
          <a:xfrm>
            <a:off x="2107096" y="5711687"/>
            <a:ext cx="490330" cy="58309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382156261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609447" y="938455"/>
            <a:ext cx="2902379" cy="400110"/>
          </a:xfrm>
          <a:prstGeom prst="rect">
            <a:avLst/>
          </a:prstGeom>
        </p:spPr>
        <p:txBody>
          <a:bodyPr wrap="square">
            <a:spAutoFit/>
          </a:bodyPr>
          <a:lstStyle/>
          <a:p>
            <a:r>
              <a:rPr lang="es-PE" sz="2000" b="1" dirty="0"/>
              <a:t>5. Mejora continua</a:t>
            </a:r>
          </a:p>
        </p:txBody>
      </p:sp>
      <p:sp>
        <p:nvSpPr>
          <p:cNvPr id="6" name="Rectángulo 5"/>
          <p:cNvSpPr/>
          <p:nvPr/>
        </p:nvSpPr>
        <p:spPr>
          <a:xfrm>
            <a:off x="742122" y="1656522"/>
            <a:ext cx="9183756" cy="2031325"/>
          </a:xfrm>
          <a:prstGeom prst="rect">
            <a:avLst/>
          </a:prstGeom>
        </p:spPr>
        <p:txBody>
          <a:bodyPr wrap="square">
            <a:spAutoFit/>
          </a:bodyPr>
          <a:lstStyle/>
          <a:p>
            <a:pPr algn="just"/>
            <a:r>
              <a:rPr lang="es-MX" dirty="0"/>
              <a:t>La gestión de proyectos Lean no es algo que se haga una sola vez, más bien, se trata de un proceso iterativo. La búsqueda de la perfección es el quinto principio, que implica hacer mejoras continuas al flujo de trabajo. </a:t>
            </a:r>
          </a:p>
          <a:p>
            <a:pPr algn="just"/>
            <a:endParaRPr lang="es-MX" dirty="0"/>
          </a:p>
          <a:p>
            <a:pPr algn="just"/>
            <a:r>
              <a:rPr lang="es-MX" dirty="0"/>
              <a:t>Independientemente de que las partes interesadas sean internas o externas, lo que pidan siempre variará. Es decir, de vez en cuando deberás evaluar el valor de tu producto y analizar el flujo de trabajo con regularidad para detectar posibles “desperdicios”.</a:t>
            </a:r>
            <a:endParaRPr lang="es-PE" dirty="0"/>
          </a:p>
        </p:txBody>
      </p:sp>
    </p:spTree>
    <p:extLst>
      <p:ext uri="{BB962C8B-B14F-4D97-AF65-F5344CB8AC3E}">
        <p14:creationId xmlns:p14="http://schemas.microsoft.com/office/powerpoint/2010/main" val="413399961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2295869" y="660162"/>
            <a:ext cx="5234382" cy="400110"/>
          </a:xfrm>
          <a:prstGeom prst="rect">
            <a:avLst/>
          </a:prstGeom>
        </p:spPr>
        <p:txBody>
          <a:bodyPr wrap="none">
            <a:spAutoFit/>
          </a:bodyPr>
          <a:lstStyle/>
          <a:p>
            <a:pPr algn="ctr"/>
            <a:r>
              <a:rPr lang="es-MX" sz="2000" b="1" dirty="0"/>
              <a:t>Herramientas para la gestión de proyectos Lean</a:t>
            </a:r>
            <a:endParaRPr lang="es-PE" sz="2000" b="1" dirty="0"/>
          </a:p>
        </p:txBody>
      </p:sp>
      <p:sp>
        <p:nvSpPr>
          <p:cNvPr id="7" name="Rectángulo 6"/>
          <p:cNvSpPr/>
          <p:nvPr/>
        </p:nvSpPr>
        <p:spPr>
          <a:xfrm>
            <a:off x="689113" y="1325265"/>
            <a:ext cx="9316278" cy="1200329"/>
          </a:xfrm>
          <a:prstGeom prst="rect">
            <a:avLst/>
          </a:prstGeom>
        </p:spPr>
        <p:txBody>
          <a:bodyPr wrap="square">
            <a:spAutoFit/>
          </a:bodyPr>
          <a:lstStyle/>
          <a:p>
            <a:pPr algn="just"/>
            <a:r>
              <a:rPr lang="es-MX" dirty="0"/>
              <a:t>Para mejorar el flujo de trabajo de desarrollo del producto puedes usar las herramientas que te mostramos a continuación. En la búsqueda de la mejora continua, estas herramientas pueden resultar muy útiles para que con tu equipo reduzcas la cantidad de “desperdicios”, mejoren la productividad y aumenten el valor para los clientes.</a:t>
            </a:r>
            <a:endParaRPr lang="es-PE" dirty="0"/>
          </a:p>
        </p:txBody>
      </p:sp>
      <p:pic>
        <p:nvPicPr>
          <p:cNvPr id="8" name="Imagen 7"/>
          <p:cNvPicPr>
            <a:picLocks noChangeAspect="1"/>
          </p:cNvPicPr>
          <p:nvPr/>
        </p:nvPicPr>
        <p:blipFill>
          <a:blip r:embed="rId2"/>
          <a:stretch>
            <a:fillRect/>
          </a:stretch>
        </p:blipFill>
        <p:spPr>
          <a:xfrm>
            <a:off x="3352799" y="2896935"/>
            <a:ext cx="4691695" cy="3540763"/>
          </a:xfrm>
          <a:prstGeom prst="rect">
            <a:avLst/>
          </a:prstGeom>
        </p:spPr>
      </p:pic>
    </p:spTree>
    <p:extLst>
      <p:ext uri="{BB962C8B-B14F-4D97-AF65-F5344CB8AC3E}">
        <p14:creationId xmlns:p14="http://schemas.microsoft.com/office/powerpoint/2010/main" val="14730264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p:cNvSpPr/>
          <p:nvPr/>
        </p:nvSpPr>
        <p:spPr>
          <a:xfrm>
            <a:off x="278297" y="1140845"/>
            <a:ext cx="10827026" cy="5355312"/>
          </a:xfrm>
          <a:prstGeom prst="rect">
            <a:avLst/>
          </a:prstGeom>
        </p:spPr>
        <p:txBody>
          <a:bodyPr wrap="square">
            <a:spAutoFit/>
          </a:bodyPr>
          <a:lstStyle/>
          <a:p>
            <a:pPr algn="ctr"/>
            <a:r>
              <a:rPr lang="es-MX" sz="2000" b="1" dirty="0"/>
              <a:t>El ciclo de Deming (PHVA</a:t>
            </a:r>
            <a:r>
              <a:rPr lang="es-MX" sz="2000" b="1" dirty="0" smtClean="0"/>
              <a:t>)</a:t>
            </a:r>
          </a:p>
          <a:p>
            <a:pPr algn="ctr"/>
            <a:endParaRPr lang="es-MX" b="1" dirty="0"/>
          </a:p>
          <a:p>
            <a:pPr algn="just"/>
            <a:r>
              <a:rPr lang="es-MX" dirty="0"/>
              <a:t>El Dr. W. Edwards Deming desarrolló el ciclo de Deming en la década de 1950. Su método, también conocido como el ciclo Planificar-Hacer-Verificar-Actuar (PHVA en español o PDCA en inglés) era la corrección de otro método anterior de tres pasos para la resolución de problemas creado en la década de 1920 por el Dr. Walter </a:t>
            </a:r>
            <a:r>
              <a:rPr lang="es-MX" dirty="0" err="1"/>
              <a:t>Shewhart</a:t>
            </a:r>
            <a:r>
              <a:rPr lang="es-MX" dirty="0"/>
              <a:t>. </a:t>
            </a:r>
          </a:p>
          <a:p>
            <a:pPr algn="just"/>
            <a:endParaRPr lang="es-MX" dirty="0"/>
          </a:p>
          <a:p>
            <a:pPr algn="just"/>
            <a:r>
              <a:rPr lang="es-MX" b="1" dirty="0"/>
              <a:t>El ciclo PHVA cuenta con cuatro pasos:</a:t>
            </a:r>
          </a:p>
          <a:p>
            <a:pPr algn="just"/>
            <a:endParaRPr lang="es-MX" dirty="0"/>
          </a:p>
          <a:p>
            <a:pPr algn="just"/>
            <a:r>
              <a:rPr lang="es-MX" b="1" dirty="0"/>
              <a:t>Planificar: </a:t>
            </a:r>
            <a:r>
              <a:rPr lang="es-MX" dirty="0"/>
              <a:t>Investiga tu flujo de trabajo e identifica los problemas que haya que resolver.</a:t>
            </a:r>
          </a:p>
          <a:p>
            <a:pPr algn="just"/>
            <a:endParaRPr lang="es-MX" dirty="0"/>
          </a:p>
          <a:p>
            <a:pPr algn="just"/>
            <a:r>
              <a:rPr lang="es-MX" b="1" dirty="0"/>
              <a:t>Hacer: </a:t>
            </a:r>
            <a:r>
              <a:rPr lang="es-MX" dirty="0"/>
              <a:t>Busca las soluciones posibles al problema mediante el análisis de datos o la colaboración con otros miembros del equipo. </a:t>
            </a:r>
          </a:p>
          <a:p>
            <a:pPr algn="just"/>
            <a:endParaRPr lang="es-MX" dirty="0"/>
          </a:p>
          <a:p>
            <a:pPr algn="just"/>
            <a:r>
              <a:rPr lang="es-MX" b="1" dirty="0"/>
              <a:t>Verificar: </a:t>
            </a:r>
            <a:r>
              <a:rPr lang="es-MX" dirty="0"/>
              <a:t>Supervisa que las soluciones sean efectivas y mejora el plan en caso de que sea necesario.</a:t>
            </a:r>
          </a:p>
          <a:p>
            <a:pPr algn="just"/>
            <a:endParaRPr lang="es-MX" dirty="0"/>
          </a:p>
          <a:p>
            <a:pPr algn="just"/>
            <a:r>
              <a:rPr lang="es-MX" b="1" dirty="0"/>
              <a:t>Actuar: </a:t>
            </a:r>
            <a:r>
              <a:rPr lang="es-MX" dirty="0"/>
              <a:t>Implementa soluciones revisadas y evalúa lo que has aprendido.</a:t>
            </a:r>
          </a:p>
          <a:p>
            <a:pPr algn="just"/>
            <a:endParaRPr lang="es-MX" dirty="0"/>
          </a:p>
          <a:p>
            <a:pPr algn="just"/>
            <a:r>
              <a:rPr lang="es-MX" dirty="0"/>
              <a:t>El ciclo de Deming es un proceso simple que puedes aplicar a varios procesos organizacionales. Cuando se implementa como es debido, este proceso puede generar un impacto importante en el valor de los productos.</a:t>
            </a:r>
            <a:endParaRPr lang="es-PE" dirty="0"/>
          </a:p>
        </p:txBody>
      </p:sp>
    </p:spTree>
    <p:extLst>
      <p:ext uri="{BB962C8B-B14F-4D97-AF65-F5344CB8AC3E}">
        <p14:creationId xmlns:p14="http://schemas.microsoft.com/office/powerpoint/2010/main" val="427737945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p:cNvSpPr/>
          <p:nvPr/>
        </p:nvSpPr>
        <p:spPr>
          <a:xfrm>
            <a:off x="331304" y="583097"/>
            <a:ext cx="8812696" cy="4585871"/>
          </a:xfrm>
          <a:prstGeom prst="rect">
            <a:avLst/>
          </a:prstGeom>
        </p:spPr>
        <p:txBody>
          <a:bodyPr wrap="square">
            <a:spAutoFit/>
          </a:bodyPr>
          <a:lstStyle/>
          <a:p>
            <a:pPr algn="ctr"/>
            <a:r>
              <a:rPr lang="es-MX" sz="2000" b="1" dirty="0">
                <a:solidFill>
                  <a:srgbClr val="0D0E10"/>
                </a:solidFill>
              </a:rPr>
              <a:t>Gestión de proyectos Lean </a:t>
            </a:r>
            <a:r>
              <a:rPr lang="es-MX" sz="2000" b="1" dirty="0" err="1">
                <a:solidFill>
                  <a:srgbClr val="0D0E10"/>
                </a:solidFill>
              </a:rPr>
              <a:t>Six</a:t>
            </a:r>
            <a:r>
              <a:rPr lang="es-MX" sz="2000" b="1" dirty="0">
                <a:solidFill>
                  <a:srgbClr val="0D0E10"/>
                </a:solidFill>
              </a:rPr>
              <a:t> Sigma (DMEDI</a:t>
            </a:r>
            <a:r>
              <a:rPr lang="es-MX" sz="2000" b="1" dirty="0" smtClean="0">
                <a:solidFill>
                  <a:srgbClr val="0D0E10"/>
                </a:solidFill>
              </a:rPr>
              <a:t>)</a:t>
            </a:r>
          </a:p>
          <a:p>
            <a:pPr algn="ctr"/>
            <a:endParaRPr lang="es-MX" sz="2000" b="1" dirty="0">
              <a:solidFill>
                <a:srgbClr val="0D0E10"/>
              </a:solidFill>
            </a:endParaRPr>
          </a:p>
          <a:p>
            <a:r>
              <a:rPr lang="es-MX" dirty="0">
                <a:solidFill>
                  <a:srgbClr val="2A2B2C"/>
                </a:solidFill>
              </a:rPr>
              <a:t>La gestión Lean </a:t>
            </a:r>
            <a:r>
              <a:rPr lang="es-MX" dirty="0" err="1">
                <a:solidFill>
                  <a:srgbClr val="2A2B2C"/>
                </a:solidFill>
              </a:rPr>
              <a:t>Six</a:t>
            </a:r>
            <a:r>
              <a:rPr lang="es-MX" dirty="0">
                <a:solidFill>
                  <a:srgbClr val="2A2B2C"/>
                </a:solidFill>
              </a:rPr>
              <a:t> Sigma es una herramienta de gestión Lean que se puede utilizar para identificar problemas en los flujos de trabajo. Esta herramienta cuenta con pasos, al igual que el ciclo de Deming, y también tiene métodos de análisis que se pueden aplicar juntos. Los pasos de Lean </a:t>
            </a:r>
            <a:r>
              <a:rPr lang="es-MX" dirty="0" err="1">
                <a:solidFill>
                  <a:srgbClr val="2A2B2C"/>
                </a:solidFill>
              </a:rPr>
              <a:t>Six</a:t>
            </a:r>
            <a:r>
              <a:rPr lang="es-MX" dirty="0">
                <a:solidFill>
                  <a:srgbClr val="2A2B2C"/>
                </a:solidFill>
              </a:rPr>
              <a:t> Sigma, también conocidos como DMEDI, son los siguientes</a:t>
            </a:r>
            <a:r>
              <a:rPr lang="es-MX" dirty="0" smtClean="0">
                <a:solidFill>
                  <a:srgbClr val="2A2B2C"/>
                </a:solidFill>
              </a:rPr>
              <a:t>:</a:t>
            </a:r>
          </a:p>
          <a:p>
            <a:endParaRPr lang="es-MX" dirty="0">
              <a:solidFill>
                <a:srgbClr val="2A2B2C"/>
              </a:solidFill>
            </a:endParaRPr>
          </a:p>
          <a:p>
            <a:pPr>
              <a:buFont typeface="Arial" panose="020B0604020202020204" pitchFamily="34" charset="0"/>
              <a:buChar char="•"/>
            </a:pPr>
            <a:r>
              <a:rPr lang="es-MX" b="1" dirty="0">
                <a:solidFill>
                  <a:srgbClr val="0D0E10"/>
                </a:solidFill>
              </a:rPr>
              <a:t>Definir: </a:t>
            </a:r>
            <a:r>
              <a:rPr lang="es-MX" dirty="0">
                <a:solidFill>
                  <a:srgbClr val="0D0E10"/>
                </a:solidFill>
              </a:rPr>
              <a:t>Define el alcance del proyecto y planifica los objetivos</a:t>
            </a:r>
            <a:r>
              <a:rPr lang="es-MX" dirty="0" smtClean="0">
                <a:solidFill>
                  <a:srgbClr val="0D0E10"/>
                </a:solidFill>
              </a:rPr>
              <a:t>.</a:t>
            </a:r>
          </a:p>
          <a:p>
            <a:endParaRPr lang="es-MX" dirty="0">
              <a:solidFill>
                <a:srgbClr val="0D0E10"/>
              </a:solidFill>
            </a:endParaRPr>
          </a:p>
          <a:p>
            <a:pPr>
              <a:buFont typeface="Arial" panose="020B0604020202020204" pitchFamily="34" charset="0"/>
              <a:buChar char="•"/>
            </a:pPr>
            <a:r>
              <a:rPr lang="es-MX" b="1" dirty="0">
                <a:solidFill>
                  <a:srgbClr val="0D0E10"/>
                </a:solidFill>
              </a:rPr>
              <a:t>Medir:</a:t>
            </a:r>
            <a:r>
              <a:rPr lang="es-MX" dirty="0">
                <a:solidFill>
                  <a:srgbClr val="0D0E10"/>
                </a:solidFill>
              </a:rPr>
              <a:t> Determina cómo medirás el éxito del proyecto</a:t>
            </a:r>
            <a:r>
              <a:rPr lang="es-MX" dirty="0" smtClean="0">
                <a:solidFill>
                  <a:srgbClr val="0D0E10"/>
                </a:solidFill>
              </a:rPr>
              <a:t>.</a:t>
            </a:r>
          </a:p>
          <a:p>
            <a:endParaRPr lang="es-MX" dirty="0">
              <a:solidFill>
                <a:srgbClr val="0D0E10"/>
              </a:solidFill>
            </a:endParaRPr>
          </a:p>
          <a:p>
            <a:pPr>
              <a:buFont typeface="Arial" panose="020B0604020202020204" pitchFamily="34" charset="0"/>
              <a:buChar char="•"/>
            </a:pPr>
            <a:r>
              <a:rPr lang="es-MX" b="1" dirty="0">
                <a:solidFill>
                  <a:srgbClr val="0D0E10"/>
                </a:solidFill>
              </a:rPr>
              <a:t>Explorar</a:t>
            </a:r>
            <a:r>
              <a:rPr lang="es-MX" dirty="0">
                <a:solidFill>
                  <a:srgbClr val="0D0E10"/>
                </a:solidFill>
              </a:rPr>
              <a:t>: Explora formas nuevas de mejorar el proceso del proyecto</a:t>
            </a:r>
            <a:r>
              <a:rPr lang="es-MX" dirty="0" smtClean="0">
                <a:solidFill>
                  <a:srgbClr val="0D0E10"/>
                </a:solidFill>
              </a:rPr>
              <a:t>.</a:t>
            </a:r>
          </a:p>
          <a:p>
            <a:endParaRPr lang="es-MX" dirty="0">
              <a:solidFill>
                <a:srgbClr val="0D0E10"/>
              </a:solidFill>
            </a:endParaRPr>
          </a:p>
          <a:p>
            <a:pPr>
              <a:buFont typeface="Arial" panose="020B0604020202020204" pitchFamily="34" charset="0"/>
              <a:buChar char="•"/>
            </a:pPr>
            <a:r>
              <a:rPr lang="es-MX" b="1" dirty="0">
                <a:solidFill>
                  <a:srgbClr val="0D0E10"/>
                </a:solidFill>
              </a:rPr>
              <a:t>Desarrollar:</a:t>
            </a:r>
            <a:r>
              <a:rPr lang="es-MX" dirty="0">
                <a:solidFill>
                  <a:srgbClr val="0D0E10"/>
                </a:solidFill>
              </a:rPr>
              <a:t> Desarrolla un plan del proyecto que sea infalible</a:t>
            </a:r>
            <a:r>
              <a:rPr lang="es-MX" dirty="0" smtClean="0">
                <a:solidFill>
                  <a:srgbClr val="0D0E10"/>
                </a:solidFill>
              </a:rPr>
              <a:t>.</a:t>
            </a:r>
          </a:p>
          <a:p>
            <a:endParaRPr lang="es-MX" dirty="0">
              <a:solidFill>
                <a:srgbClr val="0D0E10"/>
              </a:solidFill>
            </a:endParaRPr>
          </a:p>
          <a:p>
            <a:pPr>
              <a:buFont typeface="Arial" panose="020B0604020202020204" pitchFamily="34" charset="0"/>
              <a:buChar char="•"/>
            </a:pPr>
            <a:r>
              <a:rPr lang="es-MX" b="1" dirty="0">
                <a:solidFill>
                  <a:srgbClr val="0D0E10"/>
                </a:solidFill>
              </a:rPr>
              <a:t>Implementar:</a:t>
            </a:r>
            <a:r>
              <a:rPr lang="es-MX" dirty="0">
                <a:solidFill>
                  <a:srgbClr val="0D0E10"/>
                </a:solidFill>
              </a:rPr>
              <a:t> Implementa el plan del proyecto.</a:t>
            </a:r>
            <a:endParaRPr lang="es-MX" b="0" i="0" dirty="0">
              <a:solidFill>
                <a:srgbClr val="0D0E10"/>
              </a:solidFill>
              <a:effectLst/>
            </a:endParaRPr>
          </a:p>
        </p:txBody>
      </p:sp>
    </p:spTree>
    <p:extLst>
      <p:ext uri="{BB962C8B-B14F-4D97-AF65-F5344CB8AC3E}">
        <p14:creationId xmlns:p14="http://schemas.microsoft.com/office/powerpoint/2010/main" val="4367141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p:cNvSpPr/>
          <p:nvPr/>
        </p:nvSpPr>
        <p:spPr>
          <a:xfrm>
            <a:off x="198783" y="569843"/>
            <a:ext cx="9475304" cy="5909310"/>
          </a:xfrm>
          <a:prstGeom prst="rect">
            <a:avLst/>
          </a:prstGeom>
        </p:spPr>
        <p:txBody>
          <a:bodyPr wrap="square">
            <a:spAutoFit/>
          </a:bodyPr>
          <a:lstStyle/>
          <a:p>
            <a:pPr algn="just"/>
            <a:r>
              <a:rPr lang="es-MX" dirty="0">
                <a:solidFill>
                  <a:srgbClr val="2A2B2C"/>
                </a:solidFill>
              </a:rPr>
              <a:t>Entre los métodos de análisis que puedes usar con Lean </a:t>
            </a:r>
            <a:r>
              <a:rPr lang="es-MX" dirty="0" err="1">
                <a:solidFill>
                  <a:srgbClr val="2A2B2C"/>
                </a:solidFill>
              </a:rPr>
              <a:t>Six</a:t>
            </a:r>
            <a:r>
              <a:rPr lang="es-MX" dirty="0">
                <a:solidFill>
                  <a:srgbClr val="2A2B2C"/>
                </a:solidFill>
              </a:rPr>
              <a:t> Sigma se incluyen los siguientes</a:t>
            </a:r>
            <a:r>
              <a:rPr lang="es-MX" dirty="0" smtClean="0">
                <a:solidFill>
                  <a:srgbClr val="2A2B2C"/>
                </a:solidFill>
              </a:rPr>
              <a:t>:</a:t>
            </a:r>
          </a:p>
          <a:p>
            <a:pPr algn="just"/>
            <a:endParaRPr lang="es-MX" dirty="0">
              <a:solidFill>
                <a:srgbClr val="2A2B2C"/>
              </a:solidFill>
            </a:endParaRPr>
          </a:p>
          <a:p>
            <a:pPr algn="just">
              <a:buFont typeface="Arial" panose="020B0604020202020204" pitchFamily="34" charset="0"/>
              <a:buChar char="•"/>
            </a:pPr>
            <a:r>
              <a:rPr lang="es-MX" b="1" dirty="0">
                <a:solidFill>
                  <a:srgbClr val="0D0E10"/>
                </a:solidFill>
              </a:rPr>
              <a:t>Mapa de flujo de valor:</a:t>
            </a:r>
            <a:r>
              <a:rPr lang="es-MX" dirty="0">
                <a:solidFill>
                  <a:srgbClr val="0D0E10"/>
                </a:solidFill>
              </a:rPr>
              <a:t> Tal como lo mencionamos antes, el VSM puede ser muy útil para visualizar las fases del plan de gestión del proyecto y para identificar áreas de “desperdicio</a:t>
            </a:r>
            <a:r>
              <a:rPr lang="es-MX" dirty="0" smtClean="0">
                <a:solidFill>
                  <a:srgbClr val="0D0E10"/>
                </a:solidFill>
              </a:rPr>
              <a:t>”.</a:t>
            </a:r>
          </a:p>
          <a:p>
            <a:pPr algn="just"/>
            <a:endParaRPr lang="es-MX" dirty="0">
              <a:solidFill>
                <a:srgbClr val="0D0E10"/>
              </a:solidFill>
            </a:endParaRPr>
          </a:p>
          <a:p>
            <a:pPr algn="just">
              <a:buFont typeface="Arial" panose="020B0604020202020204" pitchFamily="34" charset="0"/>
              <a:buChar char="•"/>
            </a:pPr>
            <a:r>
              <a:rPr lang="es-MX" b="1" dirty="0">
                <a:solidFill>
                  <a:srgbClr val="0D0E10"/>
                </a:solidFill>
              </a:rPr>
              <a:t>Encuestas de opinión para clientes: </a:t>
            </a:r>
            <a:r>
              <a:rPr lang="es-MX" dirty="0">
                <a:solidFill>
                  <a:srgbClr val="0D0E10"/>
                </a:solidFill>
              </a:rPr>
              <a:t>Conocer la opinión de los clientes es una excelente elección para evaluar los posibles problemas del proyecto y aumentar el valor de los productos</a:t>
            </a:r>
            <a:r>
              <a:rPr lang="es-MX" dirty="0" smtClean="0">
                <a:solidFill>
                  <a:srgbClr val="0D0E10"/>
                </a:solidFill>
              </a:rPr>
              <a:t>.</a:t>
            </a:r>
          </a:p>
          <a:p>
            <a:pPr algn="just"/>
            <a:endParaRPr lang="es-MX" dirty="0">
              <a:solidFill>
                <a:srgbClr val="0D0E10"/>
              </a:solidFill>
            </a:endParaRPr>
          </a:p>
          <a:p>
            <a:pPr algn="just">
              <a:buFont typeface="Arial" panose="020B0604020202020204" pitchFamily="34" charset="0"/>
              <a:buChar char="•"/>
            </a:pPr>
            <a:r>
              <a:rPr lang="es-MX" b="1" dirty="0">
                <a:solidFill>
                  <a:srgbClr val="0D0E10"/>
                </a:solidFill>
              </a:rPr>
              <a:t>Diagramas de Gantt:</a:t>
            </a:r>
            <a:r>
              <a:rPr lang="es-MX" dirty="0">
                <a:solidFill>
                  <a:srgbClr val="0D0E10"/>
                </a:solidFill>
              </a:rPr>
              <a:t> Los diagramas de Gantt son como gráficos de barras muy útiles para visualizar los hitos del proyecto</a:t>
            </a:r>
            <a:r>
              <a:rPr lang="es-MX" dirty="0" smtClean="0">
                <a:solidFill>
                  <a:srgbClr val="0D0E10"/>
                </a:solidFill>
              </a:rPr>
              <a:t>.</a:t>
            </a:r>
          </a:p>
          <a:p>
            <a:pPr algn="just"/>
            <a:endParaRPr lang="es-MX" dirty="0">
              <a:solidFill>
                <a:srgbClr val="0D0E10"/>
              </a:solidFill>
            </a:endParaRPr>
          </a:p>
          <a:p>
            <a:pPr algn="just">
              <a:buFont typeface="Arial" panose="020B0604020202020204" pitchFamily="34" charset="0"/>
              <a:buChar char="•"/>
            </a:pPr>
            <a:r>
              <a:rPr lang="es-MX" b="1" dirty="0" err="1">
                <a:solidFill>
                  <a:srgbClr val="0D0E10"/>
                </a:solidFill>
              </a:rPr>
              <a:t>Anáisis</a:t>
            </a:r>
            <a:r>
              <a:rPr lang="es-MX" b="1" dirty="0">
                <a:solidFill>
                  <a:srgbClr val="0D0E10"/>
                </a:solidFill>
              </a:rPr>
              <a:t> de causa </a:t>
            </a:r>
            <a:r>
              <a:rPr lang="es-MX" b="1" dirty="0" err="1">
                <a:solidFill>
                  <a:srgbClr val="0D0E10"/>
                </a:solidFill>
              </a:rPr>
              <a:t>raiz</a:t>
            </a:r>
            <a:r>
              <a:rPr lang="es-MX" b="1" dirty="0">
                <a:solidFill>
                  <a:srgbClr val="0D0E10"/>
                </a:solidFill>
              </a:rPr>
              <a:t> (RCA):</a:t>
            </a:r>
            <a:r>
              <a:rPr lang="es-MX" dirty="0">
                <a:solidFill>
                  <a:srgbClr val="0D0E10"/>
                </a:solidFill>
              </a:rPr>
              <a:t> Usa el RCA para descubrir las causas de origen de los problemas y hallar las soluciones</a:t>
            </a:r>
            <a:r>
              <a:rPr lang="es-MX" dirty="0" smtClean="0">
                <a:solidFill>
                  <a:srgbClr val="0D0E10"/>
                </a:solidFill>
              </a:rPr>
              <a:t>.</a:t>
            </a:r>
          </a:p>
          <a:p>
            <a:pPr algn="just"/>
            <a:endParaRPr lang="es-MX" dirty="0">
              <a:solidFill>
                <a:srgbClr val="0D0E10"/>
              </a:solidFill>
            </a:endParaRPr>
          </a:p>
          <a:p>
            <a:pPr algn="just">
              <a:buFont typeface="Arial" panose="020B0604020202020204" pitchFamily="34" charset="0"/>
              <a:buChar char="•"/>
            </a:pPr>
            <a:r>
              <a:rPr lang="es-MX" b="1" dirty="0" err="1">
                <a:solidFill>
                  <a:srgbClr val="0D0E10"/>
                </a:solidFill>
              </a:rPr>
              <a:t>Kanban</a:t>
            </a:r>
            <a:r>
              <a:rPr lang="es-MX" b="1" dirty="0">
                <a:solidFill>
                  <a:srgbClr val="0D0E10"/>
                </a:solidFill>
              </a:rPr>
              <a:t>: </a:t>
            </a:r>
            <a:r>
              <a:rPr lang="es-MX" dirty="0">
                <a:solidFill>
                  <a:srgbClr val="0D0E10"/>
                </a:solidFill>
              </a:rPr>
              <a:t>Si observas las tareas y limitas el trabajo en curso, los tableros </a:t>
            </a:r>
            <a:r>
              <a:rPr lang="es-MX" dirty="0" err="1">
                <a:solidFill>
                  <a:srgbClr val="0D0E10"/>
                </a:solidFill>
              </a:rPr>
              <a:t>Kanban</a:t>
            </a:r>
            <a:r>
              <a:rPr lang="es-MX" dirty="0">
                <a:solidFill>
                  <a:srgbClr val="0D0E10"/>
                </a:solidFill>
              </a:rPr>
              <a:t> pueden servirte para ver cómo funciona el trabajo. </a:t>
            </a:r>
          </a:p>
          <a:p>
            <a:pPr algn="just"/>
            <a:r>
              <a:rPr lang="es-MX" dirty="0">
                <a:solidFill>
                  <a:srgbClr val="2A2B2C"/>
                </a:solidFill>
              </a:rPr>
              <a:t>Puedes decidir qué tipo de método de gestión Lean probar según el sector, el producto o el equipo del que se trate. También puedes probar con distintos métodos de gestión Lean aplicados a diferentes iniciativas de los proyectos y ver cuál funciona mejor. Independientemente del método que implementes, siempre asegúrate de contar con un software para gestión de proyectos con el que sea posible implementar fácilmente estos métodos de análisis.</a:t>
            </a:r>
            <a:endParaRPr lang="es-MX" b="0" i="0" dirty="0">
              <a:solidFill>
                <a:srgbClr val="2A2B2C"/>
              </a:solidFill>
              <a:effectLst/>
            </a:endParaRPr>
          </a:p>
        </p:txBody>
      </p:sp>
    </p:spTree>
    <p:extLst>
      <p:ext uri="{BB962C8B-B14F-4D97-AF65-F5344CB8AC3E}">
        <p14:creationId xmlns:p14="http://schemas.microsoft.com/office/powerpoint/2010/main" val="173093834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477078" y="848139"/>
            <a:ext cx="10402957" cy="5139869"/>
          </a:xfrm>
          <a:prstGeom prst="rect">
            <a:avLst/>
          </a:prstGeom>
        </p:spPr>
        <p:txBody>
          <a:bodyPr wrap="square">
            <a:spAutoFit/>
          </a:bodyPr>
          <a:lstStyle/>
          <a:p>
            <a:pPr algn="ctr"/>
            <a:r>
              <a:rPr lang="es-MX" sz="2000" b="1" dirty="0">
                <a:solidFill>
                  <a:srgbClr val="0D0E10"/>
                </a:solidFill>
              </a:rPr>
              <a:t>Por qué es tan importante la gestión </a:t>
            </a:r>
            <a:r>
              <a:rPr lang="es-MX" sz="2000" b="1" dirty="0" smtClean="0">
                <a:solidFill>
                  <a:srgbClr val="0D0E10"/>
                </a:solidFill>
              </a:rPr>
              <a:t>Lean</a:t>
            </a:r>
          </a:p>
          <a:p>
            <a:pPr algn="ctr"/>
            <a:endParaRPr lang="es-MX" sz="2000" b="1" dirty="0">
              <a:solidFill>
                <a:srgbClr val="0D0E10"/>
              </a:solidFill>
            </a:endParaRPr>
          </a:p>
          <a:p>
            <a:r>
              <a:rPr lang="es-MX" dirty="0">
                <a:solidFill>
                  <a:srgbClr val="2A2B2C"/>
                </a:solidFill>
                <a:latin typeface="gordita"/>
              </a:rPr>
              <a:t>Los sectores como el de TI, la construcción y la educación han adoptado metodologías Lean por los beneficios que ofrecen. La gestión Lean de proyectos puede mejorar el valor de los productos con procesos simplificados.</a:t>
            </a:r>
          </a:p>
          <a:p>
            <a:r>
              <a:rPr lang="es-MX" dirty="0">
                <a:solidFill>
                  <a:srgbClr val="2A2B2C"/>
                </a:solidFill>
                <a:latin typeface="gordita"/>
              </a:rPr>
              <a:t>Otros beneficios de la gestión Lean:</a:t>
            </a:r>
          </a:p>
          <a:p>
            <a:pPr>
              <a:buFont typeface="Arial" panose="020B0604020202020204" pitchFamily="34" charset="0"/>
              <a:buChar char="•"/>
            </a:pPr>
            <a:r>
              <a:rPr lang="es-MX" b="1" dirty="0">
                <a:solidFill>
                  <a:srgbClr val="0D0E10"/>
                </a:solidFill>
                <a:latin typeface="inherit"/>
              </a:rPr>
              <a:t>Mayor innovación: </a:t>
            </a:r>
            <a:r>
              <a:rPr lang="es-MX" dirty="0">
                <a:solidFill>
                  <a:srgbClr val="0D0E10"/>
                </a:solidFill>
                <a:latin typeface="inherit"/>
              </a:rPr>
              <a:t>Los proyectos mejoran gracias a la creatividad.</a:t>
            </a:r>
          </a:p>
          <a:p>
            <a:pPr>
              <a:buFont typeface="Arial" panose="020B0604020202020204" pitchFamily="34" charset="0"/>
              <a:buChar char="•"/>
            </a:pPr>
            <a:r>
              <a:rPr lang="es-MX" b="1" dirty="0">
                <a:solidFill>
                  <a:srgbClr val="0D0E10"/>
                </a:solidFill>
                <a:latin typeface="inherit"/>
              </a:rPr>
              <a:t>Menos “desperdicios”: </a:t>
            </a:r>
            <a:r>
              <a:rPr lang="es-MX" dirty="0">
                <a:solidFill>
                  <a:srgbClr val="0D0E10"/>
                </a:solidFill>
                <a:latin typeface="inherit"/>
              </a:rPr>
              <a:t>Se reducen tanto los “desperdicios” físicos como los tiempos de espera entre las etapas de producción. Y, a la vez, se minimiza la posibilidad de sobreproducción o el exceso de procesos.</a:t>
            </a:r>
          </a:p>
          <a:p>
            <a:pPr>
              <a:buFont typeface="Arial" panose="020B0604020202020204" pitchFamily="34" charset="0"/>
              <a:buChar char="•"/>
            </a:pPr>
            <a:r>
              <a:rPr lang="es-MX" b="1" dirty="0">
                <a:solidFill>
                  <a:srgbClr val="0D0E10"/>
                </a:solidFill>
                <a:latin typeface="inherit"/>
              </a:rPr>
              <a:t>Mejora de la atención al cliente:</a:t>
            </a:r>
            <a:r>
              <a:rPr lang="es-MX" dirty="0">
                <a:solidFill>
                  <a:srgbClr val="0D0E10"/>
                </a:solidFill>
                <a:latin typeface="inherit"/>
              </a:rPr>
              <a:t> Se les brinda a los clientes lo que necesitan, ni más ni menos.</a:t>
            </a:r>
          </a:p>
          <a:p>
            <a:pPr>
              <a:buFont typeface="Arial" panose="020B0604020202020204" pitchFamily="34" charset="0"/>
              <a:buChar char="•"/>
            </a:pPr>
            <a:r>
              <a:rPr lang="es-MX" b="1" dirty="0">
                <a:solidFill>
                  <a:srgbClr val="0D0E10"/>
                </a:solidFill>
                <a:latin typeface="inherit"/>
              </a:rPr>
              <a:t>Mejores plazos de ejecución:</a:t>
            </a:r>
            <a:r>
              <a:rPr lang="es-MX" dirty="0">
                <a:solidFill>
                  <a:srgbClr val="0D0E10"/>
                </a:solidFill>
                <a:latin typeface="inherit"/>
              </a:rPr>
              <a:t> El resultado son respuestas más rápidas y menos demoras.</a:t>
            </a:r>
          </a:p>
          <a:p>
            <a:pPr>
              <a:buFont typeface="Arial" panose="020B0604020202020204" pitchFamily="34" charset="0"/>
              <a:buChar char="•"/>
            </a:pPr>
            <a:r>
              <a:rPr lang="es-MX" b="1" dirty="0">
                <a:solidFill>
                  <a:srgbClr val="0D0E10"/>
                </a:solidFill>
                <a:latin typeface="inherit"/>
              </a:rPr>
              <a:t>Productos de mejor calidad: </a:t>
            </a:r>
            <a:r>
              <a:rPr lang="es-MX" dirty="0">
                <a:solidFill>
                  <a:srgbClr val="0D0E10"/>
                </a:solidFill>
                <a:latin typeface="inherit"/>
              </a:rPr>
              <a:t>Se minimizan los defectos del producto debido a los controles de calidad.</a:t>
            </a:r>
          </a:p>
          <a:p>
            <a:pPr>
              <a:buFont typeface="Arial" panose="020B0604020202020204" pitchFamily="34" charset="0"/>
              <a:buChar char="•"/>
            </a:pPr>
            <a:r>
              <a:rPr lang="es-MX" b="1" dirty="0">
                <a:solidFill>
                  <a:srgbClr val="0D0E10"/>
                </a:solidFill>
                <a:latin typeface="inherit"/>
              </a:rPr>
              <a:t>Mejor gestión de inventarios:</a:t>
            </a:r>
            <a:r>
              <a:rPr lang="es-MX" dirty="0">
                <a:solidFill>
                  <a:srgbClr val="0D0E10"/>
                </a:solidFill>
                <a:latin typeface="inherit"/>
              </a:rPr>
              <a:t> Con la monitorización del inventario, se evitan los contratiempos.</a:t>
            </a:r>
          </a:p>
          <a:p>
            <a:r>
              <a:rPr lang="es-MX" dirty="0">
                <a:solidFill>
                  <a:srgbClr val="2A2B2C"/>
                </a:solidFill>
                <a:latin typeface="gordita"/>
              </a:rPr>
              <a:t>Independientemente de que las partes interesadas seas internas o externas, el cambio al pensamiento Lean puede simplificar los procesos de trabajo y generar una mayor eficiencia en el equipo del proyecto.</a:t>
            </a:r>
            <a:endParaRPr lang="es-MX" b="0" i="0" dirty="0">
              <a:solidFill>
                <a:srgbClr val="2A2B2C"/>
              </a:solidFill>
              <a:effectLst/>
              <a:latin typeface="gordita"/>
            </a:endParaRPr>
          </a:p>
        </p:txBody>
      </p:sp>
    </p:spTree>
    <p:extLst>
      <p:ext uri="{BB962C8B-B14F-4D97-AF65-F5344CB8AC3E}">
        <p14:creationId xmlns:p14="http://schemas.microsoft.com/office/powerpoint/2010/main" val="198831117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p:cNvSpPr/>
          <p:nvPr/>
        </p:nvSpPr>
        <p:spPr>
          <a:xfrm>
            <a:off x="596348" y="874644"/>
            <a:ext cx="8547652" cy="2893100"/>
          </a:xfrm>
          <a:prstGeom prst="rect">
            <a:avLst/>
          </a:prstGeom>
        </p:spPr>
        <p:txBody>
          <a:bodyPr wrap="square">
            <a:spAutoFit/>
          </a:bodyPr>
          <a:lstStyle/>
          <a:p>
            <a:pPr algn="just"/>
            <a:r>
              <a:rPr lang="es-MX" sz="2000" b="1" dirty="0">
                <a:solidFill>
                  <a:srgbClr val="0D0E10"/>
                </a:solidFill>
              </a:rPr>
              <a:t>Mejora los flujos de trabajo con la gestión de proyectos </a:t>
            </a:r>
            <a:r>
              <a:rPr lang="es-MX" sz="2000" b="1" dirty="0" smtClean="0">
                <a:solidFill>
                  <a:srgbClr val="0D0E10"/>
                </a:solidFill>
              </a:rPr>
              <a:t>Lean</a:t>
            </a:r>
          </a:p>
          <a:p>
            <a:pPr algn="just"/>
            <a:endParaRPr lang="es-MX" dirty="0">
              <a:solidFill>
                <a:srgbClr val="0D0E10"/>
              </a:solidFill>
            </a:endParaRPr>
          </a:p>
          <a:p>
            <a:pPr algn="just"/>
            <a:r>
              <a:rPr lang="es-MX" dirty="0">
                <a:solidFill>
                  <a:srgbClr val="2A2B2C"/>
                </a:solidFill>
              </a:rPr>
              <a:t>Hay empresas en las que se trabaja mucho para lograr productos de gran calidad y para satisfacer a los clientes. Lo que se hace con las metodologías Lean es facilitar el logro de esos objetivos, ya que se eliminan los cuellos de botella y la producción se depura.</a:t>
            </a:r>
          </a:p>
          <a:p>
            <a:pPr algn="just"/>
            <a:r>
              <a:rPr lang="es-MX" dirty="0">
                <a:solidFill>
                  <a:srgbClr val="2A2B2C"/>
                </a:solidFill>
              </a:rPr>
              <a:t>Más allá del sistema de gestión de proyectos que uses, el software para gestión de proyectos que implementes puede ayudarte con las mejoras de los procesos. Cuando uses un software para simplificar los procesos, será mejor que sea uno con el que puedas visualizar mejor los cronogramas de los proyectos, comunicarte de forma óptima con los demás miembros del equipo y cumplir con los requisitos de los clientes.</a:t>
            </a:r>
            <a:endParaRPr lang="es-MX" b="0" i="0" dirty="0">
              <a:solidFill>
                <a:srgbClr val="2A2B2C"/>
              </a:solidFill>
              <a:effectLst/>
            </a:endParaRPr>
          </a:p>
        </p:txBody>
      </p:sp>
      <p:pic>
        <p:nvPicPr>
          <p:cNvPr id="8" name="Imagen 7"/>
          <p:cNvPicPr>
            <a:picLocks noChangeAspect="1"/>
          </p:cNvPicPr>
          <p:nvPr/>
        </p:nvPicPr>
        <p:blipFill>
          <a:blip r:embed="rId2"/>
          <a:stretch>
            <a:fillRect/>
          </a:stretch>
        </p:blipFill>
        <p:spPr>
          <a:xfrm>
            <a:off x="2782957" y="3988904"/>
            <a:ext cx="4617197" cy="2598634"/>
          </a:xfrm>
          <a:prstGeom prst="rect">
            <a:avLst/>
          </a:prstGeom>
        </p:spPr>
      </p:pic>
    </p:spTree>
    <p:extLst>
      <p:ext uri="{BB962C8B-B14F-4D97-AF65-F5344CB8AC3E}">
        <p14:creationId xmlns:p14="http://schemas.microsoft.com/office/powerpoint/2010/main" val="79234732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4001332" y="2820265"/>
            <a:ext cx="4003788" cy="1323439"/>
          </a:xfrm>
          <a:prstGeom prst="rect">
            <a:avLst/>
          </a:prstGeom>
        </p:spPr>
        <p:txBody>
          <a:bodyPr wrap="none">
            <a:spAutoFit/>
          </a:bodyPr>
          <a:lstStyle/>
          <a:p>
            <a:pPr algn="just"/>
            <a:r>
              <a:rPr lang="es-MX" sz="8000" b="1" dirty="0" smtClean="0">
                <a:solidFill>
                  <a:srgbClr val="0D0E10"/>
                </a:solidFill>
              </a:rPr>
              <a:t>GRACIAS</a:t>
            </a:r>
            <a:r>
              <a:rPr lang="es-MX" b="1" dirty="0" smtClean="0">
                <a:solidFill>
                  <a:srgbClr val="0D0E10"/>
                </a:solidFill>
              </a:rPr>
              <a:t> </a:t>
            </a:r>
            <a:endParaRPr lang="es-MX" b="1" dirty="0">
              <a:solidFill>
                <a:srgbClr val="0D0E10"/>
              </a:solidFill>
            </a:endParaRPr>
          </a:p>
        </p:txBody>
      </p:sp>
    </p:spTree>
    <p:extLst>
      <p:ext uri="{BB962C8B-B14F-4D97-AF65-F5344CB8AC3E}">
        <p14:creationId xmlns:p14="http://schemas.microsoft.com/office/powerpoint/2010/main" val="388303275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5381496"/>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12017</TotalTime>
  <Words>1325</Words>
  <Application>Microsoft Office PowerPoint</Application>
  <PresentationFormat>Panorámica</PresentationFormat>
  <Paragraphs>107</Paragraphs>
  <Slides>21</Slides>
  <Notes>0</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21</vt:i4>
      </vt:variant>
    </vt:vector>
  </HeadingPairs>
  <TitlesOfParts>
    <vt:vector size="29" baseType="lpstr">
      <vt:lpstr>Arial</vt:lpstr>
      <vt:lpstr>Calibri</vt:lpstr>
      <vt:lpstr>Calibri Light</vt:lpstr>
      <vt:lpstr>gordita</vt:lpstr>
      <vt:lpstr>inherit</vt:lpstr>
      <vt:lpstr>Prompt</vt:lpstr>
      <vt:lpstr>var(--heading-font-family)</vt:lpstr>
      <vt:lpstr>Tema de Office</vt:lpstr>
      <vt:lpstr>Presentación de PowerPoint</vt:lpstr>
      <vt:lpstr>Presentación de PowerPoint</vt:lpstr>
      <vt:lpstr>Módulo 2</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Ci5D2</dc:creator>
  <cp:lastModifiedBy>Francisco Lopez</cp:lastModifiedBy>
  <cp:revision>106</cp:revision>
  <dcterms:created xsi:type="dcterms:W3CDTF">2022-04-19T18:02:09Z</dcterms:created>
  <dcterms:modified xsi:type="dcterms:W3CDTF">2024-03-26T18:11:00Z</dcterms:modified>
</cp:coreProperties>
</file>