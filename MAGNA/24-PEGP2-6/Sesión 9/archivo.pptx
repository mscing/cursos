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80" r:id="rId4"/>
    <p:sldId id="326" r:id="rId5"/>
    <p:sldId id="357" r:id="rId6"/>
    <p:sldId id="358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1" r:id="rId15"/>
    <p:sldId id="419" r:id="rId16"/>
    <p:sldId id="420" r:id="rId17"/>
    <p:sldId id="421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432" r:id="rId26"/>
    <p:sldId id="433" r:id="rId27"/>
    <p:sldId id="434" r:id="rId28"/>
    <p:sldId id="435" r:id="rId29"/>
    <p:sldId id="430" r:id="rId30"/>
    <p:sldId id="431" r:id="rId31"/>
    <p:sldId id="429" r:id="rId32"/>
    <p:sldId id="436" r:id="rId33"/>
    <p:sldId id="437" r:id="rId34"/>
    <p:sldId id="438" r:id="rId35"/>
    <p:sldId id="260" r:id="rId3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03/09/2024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rompt" panose="00000500000000000000" pitchFamily="2" charset="-34"/>
          <a:ea typeface="+mj-ea"/>
          <a:cs typeface="Prompt" panose="00000500000000000000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utfi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utfi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utfi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utfi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881271" y="2551837"/>
            <a:ext cx="1042945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5400" b="1" dirty="0">
                <a:solidFill>
                  <a:srgbClr val="00F3B5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ESPECIALIZACION EN  </a:t>
            </a:r>
          </a:p>
          <a:p>
            <a:pPr algn="ctr"/>
            <a:r>
              <a:rPr lang="es-ES" sz="5400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GESTION DE GAS Y PETROLEO</a:t>
            </a: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C7009-B4AD-8BBA-4EE5-7DE0D730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7" y="2865729"/>
            <a:ext cx="10515600" cy="1325563"/>
          </a:xfrm>
        </p:spPr>
        <p:txBody>
          <a:bodyPr/>
          <a:lstStyle/>
          <a:p>
            <a:r>
              <a:rPr lang="es-ES" dirty="0"/>
              <a:t>DOWNSTREAM</a:t>
            </a:r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3653071-40EA-CFBA-6A3F-E65A5E1FB43D}"/>
              </a:ext>
            </a:extLst>
          </p:cNvPr>
          <p:cNvSpPr txBox="1">
            <a:spLocks/>
          </p:cNvSpPr>
          <p:nvPr/>
        </p:nvSpPr>
        <p:spPr>
          <a:xfrm>
            <a:off x="838200" y="10750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mpt" panose="00000500000000000000" pitchFamily="2" charset="-34"/>
                <a:ea typeface="+mj-ea"/>
                <a:cs typeface="Prompt" panose="00000500000000000000" pitchFamily="2" charset="-34"/>
              </a:defRPr>
            </a:lvl1pPr>
          </a:lstStyle>
          <a:p>
            <a:r>
              <a:rPr lang="es-ES" dirty="0"/>
              <a:t>MODULO V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141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DOWNSTREAM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En el sector de petróleo y gas, el </a:t>
            </a:r>
            <a:r>
              <a:rPr lang="es-ES" b="1" dirty="0"/>
              <a:t>downstream</a:t>
            </a:r>
            <a:r>
              <a:rPr lang="es-ES" dirty="0"/>
              <a:t> se refiere a las actividades relacionadas con el procesamiento, la comercialización y la distribución de productos derivados del crudo y el gas natural. A diferencia del upstream (exploración y producción) y del midstream (transporte y almacenamiento), el downstream se enfoca en la parte final de la cadena de valor.</a:t>
            </a:r>
          </a:p>
        </p:txBody>
      </p:sp>
    </p:spTree>
    <p:extLst>
      <p:ext uri="{BB962C8B-B14F-4D97-AF65-F5344CB8AC3E}">
        <p14:creationId xmlns:p14="http://schemas.microsoft.com/office/powerpoint/2010/main" val="388554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53143"/>
            <a:ext cx="11032671" cy="58456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Distribución y Almacenamiento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Almacenamiento</a:t>
            </a:r>
            <a:r>
              <a:rPr lang="es-ES" dirty="0"/>
              <a:t>: Los productos refinados y procesados se almacenan en tanques o depósitos antes de su distribución. Este almacenamiento puede ser en instalaciones especializadas o en centros de distribución regionales.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Transporte</a:t>
            </a:r>
            <a:r>
              <a:rPr lang="es-ES" dirty="0"/>
              <a:t>: Se realiza mediante oleoductos, gasoductos, camiones cisterna, trenes o barcos, dependiendo del tipo de producto y la ubicación.</a:t>
            </a:r>
          </a:p>
          <a:p>
            <a:pPr marL="0" indent="0">
              <a:buNone/>
            </a:pPr>
            <a:r>
              <a:rPr lang="es-ES" b="1" dirty="0"/>
              <a:t>Comercialización y Venta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Estaciones de Servicio</a:t>
            </a:r>
            <a:r>
              <a:rPr lang="es-ES" dirty="0"/>
              <a:t>: Los productos como la gasolina y el diésel se venden al por menor en estaciones de servicio. Algunas estaciones también ofrecen combustibles alternativos como el gas licuado de petróleo (GLP).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Distribuidores Mayoristas</a:t>
            </a:r>
            <a:r>
              <a:rPr lang="es-ES" dirty="0"/>
              <a:t>: Suministran grandes volúmenes de productos a estaciones de servicio y otros clientes comerciales e industriales.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Gas Licuado de Petróleo (GLP)</a:t>
            </a:r>
            <a:r>
              <a:rPr lang="es-ES" dirty="0"/>
              <a:t>: Se distribuye en cilindros para uso doméstico o en forma a granel para aplicaciones industriales.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5857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947067"/>
          </a:xfrm>
        </p:spPr>
        <p:txBody>
          <a:bodyPr>
            <a:normAutofit fontScale="90000"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r>
              <a:rPr lang="es-ES" sz="3100" dirty="0"/>
              <a:t>Canales de Comercialización</a:t>
            </a: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Combustibles Líquidos (Gasolina, Diésel, etc.)</a:t>
            </a:r>
            <a:r>
              <a:rPr lang="es-ES" dirty="0"/>
              <a:t>:Se comercializan a través de estaciones de servicio para el consumidor final.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Distribuidores mayoristas abastecen a estaciones de servicio y consumidores industriales.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Gas Licuado de Petróleo (GLP)</a:t>
            </a:r>
            <a:r>
              <a:rPr lang="es-ES" dirty="0"/>
              <a:t>:</a:t>
            </a:r>
            <a:r>
              <a:rPr lang="es-ES" b="1" dirty="0"/>
              <a:t>Distribuidores y Envasadores</a:t>
            </a:r>
            <a:r>
              <a:rPr lang="es-ES" dirty="0"/>
              <a:t>: Procesan y envasan GLP en cilindros o en formato a granel.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Estaciones de Servicio</a:t>
            </a:r>
            <a:r>
              <a:rPr lang="es-ES" dirty="0"/>
              <a:t>: Algunas estaciones también ofrecen GLP para vehículos adaptados.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Gas Natural: Estaciones de Carga de GNV</a:t>
            </a:r>
            <a:r>
              <a:rPr lang="es-ES" dirty="0"/>
              <a:t>: Para vehículos que usan gas natural comprimido.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Distribución Residencial y Comercial</a:t>
            </a:r>
            <a:r>
              <a:rPr lang="es-ES" dirty="0"/>
              <a:t>: Entrega directa a hogares y negocios para calefacción y cocina.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427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881753"/>
          </a:xfrm>
        </p:spPr>
        <p:txBody>
          <a:bodyPr>
            <a:normAutofit fontScale="90000"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r>
              <a:rPr lang="es-ES" sz="3100" dirty="0"/>
              <a:t>Cadena de suministro de combustibles</a:t>
            </a: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La cadena de suministro de combustibles es un proceso complejo y multidimensional que asegura que los productos energéticos lleguen desde su producción hasta el consumidor final.</a:t>
            </a:r>
          </a:p>
          <a:p>
            <a:pPr marL="0" indent="0" algn="just">
              <a:buNone/>
            </a:pPr>
            <a:r>
              <a:rPr lang="es-ES" b="1" dirty="0"/>
              <a:t>Producción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Extracción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Petróleo Crudo</a:t>
            </a:r>
            <a:r>
              <a:rPr lang="es-ES" dirty="0"/>
              <a:t>: La extracción del petróleo crudo se realiza mediante perforación en campos petroleros. Este crudo es la materia prima básica para muchos combustibles.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Gas Natural</a:t>
            </a:r>
            <a:r>
              <a:rPr lang="es-ES" dirty="0"/>
              <a:t>: El gas natural se extrae a través de perforaciones en yacimientos subterráneos y se puede encontrar junto con el petróleo crudo o en depósitos independientes.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603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Refinación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Refinerías</a:t>
            </a:r>
            <a:r>
              <a:rPr lang="es-ES" dirty="0"/>
              <a:t>: El crudo y el gas natural se llevan a refinerías donde se procesan para obtener productos finales. Los procesos de refinación incluyen la destilación, el craqueo (rompimiento de moléculas grandes), la hidrotratamiento (eliminación de impurezas) y el reformado (mejora de la calidad del producto).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5338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9" y="718457"/>
            <a:ext cx="11283041" cy="57150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b="1" dirty="0"/>
              <a:t>Transporte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Oleoductos y Gasoductos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Oleoductos</a:t>
            </a:r>
            <a:r>
              <a:rPr lang="es-ES" dirty="0"/>
              <a:t>: Transportan petróleo crudo y productos refinados a través de largas distancias, desde las áreas de producción hasta refinerías o centros de distribución.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Gasoductos</a:t>
            </a:r>
            <a:r>
              <a:rPr lang="es-ES" dirty="0"/>
              <a:t>: Llevan gas natural desde los yacimientos hasta las plantas de procesamiento y distribución.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Transporte Marítimo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Petroleros</a:t>
            </a:r>
            <a:r>
              <a:rPr lang="es-ES" dirty="0"/>
              <a:t>: Barcos diseñados para transportar grandes cantidades de petróleo crudo o productos refinados a nivel internacional.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Buques de Gas Natural Licuado (GNL)</a:t>
            </a:r>
            <a:r>
              <a:rPr lang="es-ES" dirty="0"/>
              <a:t>: Transportan gas natural que ha sido licuado para facilitar su transporte por mar.</a:t>
            </a:r>
          </a:p>
          <a:p>
            <a:pPr algn="just"/>
            <a:r>
              <a:rPr lang="es-ES" b="1" dirty="0"/>
              <a:t>Transporte Terrestre</a:t>
            </a:r>
            <a:r>
              <a:rPr lang="es-ES" dirty="0"/>
              <a:t>:</a:t>
            </a:r>
          </a:p>
          <a:p>
            <a:pPr lvl="1" algn="just"/>
            <a:r>
              <a:rPr lang="es-ES" b="1" dirty="0"/>
              <a:t>Camiones Cisterna</a:t>
            </a:r>
            <a:r>
              <a:rPr lang="es-ES" dirty="0"/>
              <a:t>: Utilizados para transportar combustibles refinados como gasolina, diésel y GLP desde refinerías y depósitos hasta estaciones de servicio y consumidores industriales.</a:t>
            </a:r>
          </a:p>
          <a:p>
            <a:pPr lvl="1" algn="just"/>
            <a:r>
              <a:rPr lang="es-ES" b="1" dirty="0"/>
              <a:t>Trenes</a:t>
            </a:r>
            <a:r>
              <a:rPr lang="es-ES" dirty="0"/>
              <a:t>: También se utilizan para transportar productos derivados del petróleo a largas distancias, especialmente en regiones sin infraestructura de oleoductos.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468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89" y="1126673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Almacenamiento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Depósitos de Combustibles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Tanques de Almacenamiento</a:t>
            </a:r>
            <a:r>
              <a:rPr lang="es-ES" dirty="0"/>
              <a:t>: Grandes tanques en refinerías, centros de distribución y estaciones de servicio donde se almacena el combustible antes de ser distribuido.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Terminales de Almacenamiento</a:t>
            </a:r>
            <a:r>
              <a:rPr lang="es-ES" dirty="0"/>
              <a:t>: Instalaciones que actúan como puntos intermedios en la cadena de suministro, donde se almacenan y redistribuyen los combustibles.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Silos para Gas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Almacenamiento de GLP</a:t>
            </a:r>
            <a:r>
              <a:rPr lang="es-ES" dirty="0"/>
              <a:t>: Cilindros o tanques a presión para el gas licuado de petróleo.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Almacenamiento de GNV</a:t>
            </a:r>
            <a:r>
              <a:rPr lang="es-ES" dirty="0"/>
              <a:t>: Tanques de alta presión para gas natural comprimido.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2775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4988"/>
            <a:ext cx="11032671" cy="49919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Distribución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Distribuidores Mayoristas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Mayoristas de Combustibles</a:t>
            </a:r>
            <a:r>
              <a:rPr lang="es-ES" dirty="0"/>
              <a:t>: Empresas que compran grandes volúmenes de productos refinados y los venden a estaciones de servicio y otros grandes consumidores industriales.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Canales de Venta Minorista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Estaciones de Servicio</a:t>
            </a:r>
            <a:r>
              <a:rPr lang="es-ES" dirty="0"/>
              <a:t>: Venden combustibles líquidos como gasolina y diésel al consumidor final. Algunas estaciones también ofrecen GLP para vehículos.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Distribuidores de GLP</a:t>
            </a:r>
            <a:r>
              <a:rPr lang="es-ES" dirty="0"/>
              <a:t>: Entregan cilindros de gas licuado de petróleo a hogares y negocios.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391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Venta y Consumo Final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Estaciones de Servicio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Ventas al Público</a:t>
            </a:r>
            <a:r>
              <a:rPr lang="es-ES" dirty="0"/>
              <a:t>: Venta de gasolina, diésel y, en algunos casos, GLP a los propietarios de vehículos.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Servicios Adicionales</a:t>
            </a:r>
            <a:r>
              <a:rPr lang="es-ES" dirty="0"/>
              <a:t>: Muchas estaciones ofrecen servicios adicionales como lubricantes, lavado de autos, y conveniencia en el lugar.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Usuarios Industriales y Comerciales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Industria</a:t>
            </a:r>
            <a:r>
              <a:rPr lang="es-ES" dirty="0"/>
              <a:t>: Empresas que utilizan combustibles como diésel para maquinaria y procesos industriales.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Comercio</a:t>
            </a:r>
            <a:r>
              <a:rPr lang="es-ES" dirty="0"/>
              <a:t>: Negocios que usan combustibles para operaciones y calefacción.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4814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pPr marL="0" indent="0"/>
            <a:br>
              <a:rPr lang="es-ES" sz="1600" dirty="0"/>
            </a:br>
            <a:br>
              <a:rPr lang="es-ES" sz="1600" dirty="0"/>
            </a:br>
            <a:endParaRPr lang="es-ES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2980"/>
            <a:ext cx="11032671" cy="496398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Aspectos Regulatorios y Ambientales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Regulación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Normas de Seguridad</a:t>
            </a:r>
            <a:r>
              <a:rPr lang="es-ES" dirty="0"/>
              <a:t>: Regulaciones que aseguran el manejo seguro del petróleo y gas a lo largo de toda la cadena de suministro, incluyendo estándares de seguridad para el transporte, almacenamiento y venta.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Cumplimiento Ambiental</a:t>
            </a:r>
            <a:r>
              <a:rPr lang="es-ES" dirty="0"/>
              <a:t>: Normativas para minimizar el impacto ambiental de las operaciones, como el control de emisiones, la gestión de derrames y la reducción de residuos.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Impacto Ambiental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Reducción de Emisiones</a:t>
            </a:r>
            <a:r>
              <a:rPr lang="es-ES" dirty="0"/>
              <a:t>: Implementación de tecnologías y prácticas para reducir la liberación de gases contaminantes y mejorar la eficiencia energética.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Gestión de Residuos</a:t>
            </a:r>
            <a:r>
              <a:rPr lang="es-ES" dirty="0"/>
              <a:t>: Manejo adecuado de los residuos generados en las etapas de refinación, almacenamiento y transporte.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4163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343"/>
            <a:ext cx="11032671" cy="5066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Tendencias y Desafíos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Transición Energética</a:t>
            </a:r>
            <a:r>
              <a:rPr lang="es-ES" dirty="0"/>
              <a:t>: La industria está en un proceso de cambio hacia fuentes de energía más limpias y sostenibles, como la energía renovable y los combustibles alternativos.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Digitalización</a:t>
            </a:r>
            <a:r>
              <a:rPr lang="es-ES" dirty="0"/>
              <a:t>: Uso de tecnologías avanzadas como el Internet de las Cosas y la inteligencia artificial para mejorar la eficiencia y la seguridad en la cadena de suministro.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Resiliencia de la Cadena de Suministro</a:t>
            </a:r>
            <a:r>
              <a:rPr lang="es-ES" dirty="0"/>
              <a:t>: Adaptación a eventos disruptivos como desastres naturales, conflictos y cambios en la demanda del mercado.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739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8685526" cy="1325563"/>
          </a:xfrm>
        </p:spPr>
        <p:txBody>
          <a:bodyPr>
            <a:normAutofit/>
          </a:bodyPr>
          <a:lstStyle/>
          <a:p>
            <a:r>
              <a:rPr lang="es-ES" sz="2800" dirty="0"/>
              <a:t>Canales de Comercialización de Combustibles Líquidos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29"/>
            <a:ext cx="11032671" cy="52741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ES" b="1" dirty="0"/>
              <a:t>Gasolina y Diésel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Estaciones de Servicio</a:t>
            </a:r>
            <a:r>
              <a:rPr lang="es-E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3000" b="1" dirty="0"/>
              <a:t>Descripción</a:t>
            </a:r>
            <a:r>
              <a:rPr lang="es-ES" sz="3000" dirty="0"/>
              <a:t>: </a:t>
            </a:r>
            <a:r>
              <a:rPr lang="es-ES" sz="2800" dirty="0"/>
              <a:t>Son el canal principal para la venta de gasolina y diésel al consumidor final. Ofrecen combustibles para vehículos de motor y, a veces, servicios adicionales como lubricantes, lavado de autos, y tiendas de conveniencia</a:t>
            </a:r>
            <a:r>
              <a:rPr lang="es-ES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3000" b="1" dirty="0"/>
              <a:t>Infraestructura</a:t>
            </a:r>
            <a:r>
              <a:rPr lang="es-ES" sz="3000" dirty="0"/>
              <a:t>:</a:t>
            </a:r>
            <a:r>
              <a:rPr lang="es-ES" sz="2800" dirty="0"/>
              <a:t> Incluyen bombas de combustible, tanques de almacenamiento subterráneos y sistemas de gestión de inventario.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800" b="1" dirty="0"/>
              <a:t>Ejemplos</a:t>
            </a:r>
            <a:r>
              <a:rPr lang="es-ES" sz="2800" dirty="0"/>
              <a:t>: Redes de estaciones como Shell, BP, ExxonMobil, entre otras</a:t>
            </a:r>
            <a:r>
              <a:rPr lang="es-ES" sz="3300" dirty="0"/>
              <a:t>.</a:t>
            </a:r>
          </a:p>
          <a:p>
            <a:pPr marL="0" indent="0" algn="just">
              <a:buNone/>
            </a:pPr>
            <a:r>
              <a:rPr lang="es-ES" b="1" dirty="0"/>
              <a:t>Distribuidores Mayoristas</a:t>
            </a:r>
            <a:r>
              <a:rPr lang="es-E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Empresas que compran grandes volúmenes de combustibles refinados y los venden a estaciones de servicio y consumidores industriales.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Operación</a:t>
            </a:r>
            <a:r>
              <a:rPr lang="es-ES" dirty="0"/>
              <a:t>: Compran de las refinerías y distribuyen a través de su propia red de transporte y almacenamiento.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Ejemplos</a:t>
            </a:r>
            <a:r>
              <a:rPr lang="es-ES" dirty="0"/>
              <a:t>: Empresas de distribución como Petroamazonas en Ecuador, o PBF Energy en EE.UU.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2265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55781"/>
            <a:ext cx="11032671" cy="5421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Clientes Industriales y Comerciales:</a:t>
            </a:r>
          </a:p>
          <a:p>
            <a:r>
              <a:rPr lang="es-ES" b="1" dirty="0"/>
              <a:t>Descripción: </a:t>
            </a:r>
            <a:r>
              <a:rPr lang="es-ES" dirty="0"/>
              <a:t>Empresas que utilizan grandes cantidades de combustibles líquidos para sus operaciones, como transporte comercial, maquinaria y calefacción.</a:t>
            </a:r>
          </a:p>
          <a:p>
            <a:r>
              <a:rPr lang="es-ES" b="1" dirty="0"/>
              <a:t>Sector: </a:t>
            </a:r>
            <a:r>
              <a:rPr lang="es-ES" dirty="0"/>
              <a:t>Puede incluir transporte de mercancías, empresas de construcción, y fábricas.</a:t>
            </a:r>
          </a:p>
          <a:p>
            <a:pPr marL="0" indent="0">
              <a:buNone/>
            </a:pPr>
            <a:r>
              <a:rPr lang="es-ES" b="1" dirty="0"/>
              <a:t>Redes de Distribución y Almacenamiento:</a:t>
            </a:r>
          </a:p>
          <a:p>
            <a:r>
              <a:rPr lang="es-ES" b="1" dirty="0"/>
              <a:t>Descripción</a:t>
            </a:r>
            <a:r>
              <a:rPr lang="es-ES" dirty="0"/>
              <a:t>: Incluyen terminales de distribución y almacenes que sirven como puntos intermedios para el almacenamiento y redistribución de combustibles líquidos.</a:t>
            </a:r>
          </a:p>
          <a:p>
            <a:r>
              <a:rPr lang="es-ES" b="1" dirty="0"/>
              <a:t>Infraestructura: </a:t>
            </a:r>
            <a:r>
              <a:rPr lang="es-ES" dirty="0"/>
              <a:t>Tanques de almacenamiento, sistemas de bombeo y control de calidad.</a:t>
            </a:r>
          </a:p>
        </p:txBody>
      </p:sp>
    </p:spTree>
    <p:extLst>
      <p:ext uri="{BB962C8B-B14F-4D97-AF65-F5344CB8AC3E}">
        <p14:creationId xmlns:p14="http://schemas.microsoft.com/office/powerpoint/2010/main" val="1397124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8473254" cy="1325563"/>
          </a:xfrm>
        </p:spPr>
        <p:txBody>
          <a:bodyPr>
            <a:normAutofit/>
          </a:bodyPr>
          <a:lstStyle/>
          <a:p>
            <a:r>
              <a:rPr lang="es-ES" sz="2800" dirty="0"/>
              <a:t>Canales de Comercialización de Gas Licuado de Petróleo (GLP)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b="1" dirty="0"/>
              <a:t>Distribuidores y Envasadores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Empresas que procesan y envasan GLP en cilindros o en formato a granel. Distribuyen el GLP a usuarios residenciales e industriales.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Operación</a:t>
            </a:r>
            <a:r>
              <a:rPr lang="es-ES" dirty="0"/>
              <a:t>: Incluye el llenado de cilindros, transporte y entrega a puntos de venta o directamente a clientes.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Ejemplos</a:t>
            </a:r>
            <a:r>
              <a:rPr lang="es-ES" dirty="0"/>
              <a:t>: Empresas como Repsol, YPF y Gas Natural Fenosa.</a:t>
            </a:r>
          </a:p>
          <a:p>
            <a:pPr marL="0" indent="0">
              <a:buNone/>
            </a:pPr>
            <a:r>
              <a:rPr lang="es-ES" b="1" dirty="0"/>
              <a:t>Estaciones de Servicio GLP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Algunas estaciones de servicio también ofrecen GLP, especialmente en regiones donde se utiliza como combustible para vehículos.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Infraestructura</a:t>
            </a:r>
            <a:r>
              <a:rPr lang="es-ES" dirty="0"/>
              <a:t>: Equipos para el repostaje de GLP, incluyendo compresores y sistemas de almacenamiento a presión.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422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Distribución Residencial y Comercial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El GLP se distribuye en cilindros o en forma de tanques a hogares y negocios para usos como calefacción, cocina y procesos industriales.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Clientes</a:t>
            </a:r>
            <a:r>
              <a:rPr lang="es-ES" dirty="0"/>
              <a:t>: Hogares, restaurantes, y empresas que requieren GLP para operaciones.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7927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8832483" cy="1325563"/>
          </a:xfrm>
        </p:spPr>
        <p:txBody>
          <a:bodyPr>
            <a:normAutofit/>
          </a:bodyPr>
          <a:lstStyle/>
          <a:p>
            <a:r>
              <a:rPr lang="es-ES" sz="2800" dirty="0"/>
              <a:t>Canales de Comercialización de Gas Natural Vehicular (GNV)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Estaciones de Carga de GNV</a:t>
            </a:r>
            <a:r>
              <a:rPr lang="es-E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Instalaciones especializadas en la venta de gas natural comprimido (GNC) para vehículos adaptados. Ofrecen un servicio similar a las estaciones de servicio tradicionales pero para GNV.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Infraestructura</a:t>
            </a:r>
            <a:r>
              <a:rPr lang="es-ES" dirty="0"/>
              <a:t>: Compresores de gas, tanques de almacenamiento a alta presión y sistemas de dispensación.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Ejemplos</a:t>
            </a:r>
            <a:r>
              <a:rPr lang="es-ES" dirty="0"/>
              <a:t>: Red de estaciones GNV en países como Argentina, Brasil y Colombia.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0185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343"/>
            <a:ext cx="11032671" cy="50666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Infraestructura de Carga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Incluye el equipamiento necesario para el almacenamiento, compresión y distribución del GNV en estaciones de carga.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Operación</a:t>
            </a:r>
            <a:r>
              <a:rPr lang="es-ES" dirty="0"/>
              <a:t>: Maneja la conversión del gas natural de su forma gaseosa a una comprimida para el uso en vehículos.</a:t>
            </a:r>
          </a:p>
          <a:p>
            <a:pPr marL="0" indent="0">
              <a:buNone/>
            </a:pPr>
            <a:r>
              <a:rPr lang="es-ES" b="1" dirty="0"/>
              <a:t>Clientes Comerciales y de Transporte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Empresas y operadores de flotas de vehículos que utilizan GNV como una alternativa más económica y ecológica al diésel o gasolina.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Sector</a:t>
            </a:r>
            <a:r>
              <a:rPr lang="es-ES" dirty="0"/>
              <a:t>: Transporte de mercancías, transporte público, y flotas corporativas.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503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Aspectos Comunes en Todos los Canales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2939"/>
            <a:ext cx="11032671" cy="482402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endParaRPr lang="es-ES" b="1" dirty="0"/>
          </a:p>
          <a:p>
            <a:pPr marL="0" indent="0" algn="just">
              <a:buNone/>
            </a:pPr>
            <a:r>
              <a:rPr lang="es-ES" b="1" dirty="0"/>
              <a:t>Regulación y Normativa</a:t>
            </a:r>
            <a:r>
              <a:rPr lang="es-E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Cada tipo de combustible está sujeto a regulaciones que garantizan la seguridad, calidad y eficacia del servicio. Esto incluye normas para el manejo, almacenamiento, transporte y venta.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Ejemplos</a:t>
            </a:r>
            <a:r>
              <a:rPr lang="es-ES" dirty="0"/>
              <a:t>: Normas sobre el contenido de aditivos en combustibles líquidos, regulaciones para la presión de almacenamiento en GLP, y requisitos de seguridad en estaciones de GNV.</a:t>
            </a:r>
          </a:p>
          <a:p>
            <a:pPr marL="0" indent="0" algn="just">
              <a:buNone/>
            </a:pPr>
            <a:r>
              <a:rPr lang="es-ES" b="1" dirty="0"/>
              <a:t>Impacto Ambiental</a:t>
            </a:r>
            <a:r>
              <a:rPr lang="es-E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La comercialización de combustibles implica consideraciones ambientales, incluyendo la gestión de emisiones, el manejo de residuos y la implementación de prácticas sostenibles.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Prácticas</a:t>
            </a:r>
            <a:r>
              <a:rPr lang="es-ES" dirty="0"/>
              <a:t>: Mejoras en la eficiencia energética, uso de tecnologías de reducción de emisiones, y programas de reciclaje y manejo de residuos.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01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860" y="1789146"/>
            <a:ext cx="11032671" cy="2726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Evolución Tecnológica</a:t>
            </a:r>
            <a:r>
              <a:rPr lang="es-E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Descripción</a:t>
            </a:r>
            <a:r>
              <a:rPr lang="es-ES" dirty="0"/>
              <a:t>: La industria está adoptando nuevas tecnologías para mejorar la eficiencia en la distribución y comercialización de combustibles. Esto incluye sistemas de gestión digital, estaciones de carga automatizadas y tecnologías avanzadas de monitoreo.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5087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Visión desde el Estado del Sector Energético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660" y="2122716"/>
            <a:ext cx="10515600" cy="3587620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La visión del estado en el sector energético se refiere a cómo los gobiernos y las autoridades reguladoras abordan, supervisan y planifican las actividades relacionadas con la energía. Esta visión está orientada a garantizar un suministro seguro, sostenible y eficiente de energía, al mismo tiempo que se protege el medio ambiente y se promueve el desarrollo económico.</a:t>
            </a:r>
          </a:p>
        </p:txBody>
      </p:sp>
    </p:spTree>
    <p:extLst>
      <p:ext uri="{BB962C8B-B14F-4D97-AF65-F5344CB8AC3E}">
        <p14:creationId xmlns:p14="http://schemas.microsoft.com/office/powerpoint/2010/main" val="122147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Políticas Energéticas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Seguridad Energética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Garantizar un suministro continuo y fiable de energía para evitar interrupciones que puedan afectar a la economía y al bienestar de los ciudadanos.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Diversificación de las fuentes de energía, desarrollo de infraestructura crítica (oleoductos, gasoductos, redes eléctricas) y establecimiento de reservas estratégicas de energía.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0565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Diversificación de Fuentes de Energía</a:t>
            </a:r>
          </a:p>
          <a:p>
            <a:pPr marL="0" indent="0">
              <a:buNone/>
            </a:pPr>
            <a:endParaRPr lang="es-E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Reducir la dependencia de una sola fuente de energía y fomentar el uso de energías renovables.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Incentivos para el desarrollo de fuentes de energía renovables (solar, eólica, biomasa), apoyo a la investigación en nuevas tecnologías energéticas y promoción de la eficiencia energética.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7299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Regulación de Precios y Subsidios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Asegurar que los precios de la energía sean justos y accesibles para los consumidores, mientras se promueve una inversión adecuada en el sector.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Establecimiento de tarifas reguladas, subsidios para energías renovables y ajustes en los precios de los combustibles según los cambios en el mercado global.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61609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5569"/>
            <a:ext cx="10515600" cy="916742"/>
          </a:xfrm>
        </p:spPr>
        <p:txBody>
          <a:bodyPr>
            <a:normAutofit/>
          </a:bodyPr>
          <a:lstStyle/>
          <a:p>
            <a:r>
              <a:rPr lang="es-ES" sz="2800" dirty="0"/>
              <a:t>Regulación y Supervisión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2310"/>
            <a:ext cx="11032671" cy="4954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Normativas Ambientales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Minimizar el impacto ambiental de las actividades energéticas y promover prácticas sostenibles.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Implementación de estándares de emisión, regulaciones sobre el manejo de residuos y políticas de conservación de recursos.</a:t>
            </a:r>
          </a:p>
          <a:p>
            <a:pPr marL="0" indent="0" algn="just">
              <a:buNone/>
            </a:pPr>
            <a:r>
              <a:rPr lang="es-ES" b="1" dirty="0"/>
              <a:t>Seguridad y Salud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Proteger a los trabajadores y al público en general de los riesgos asociados con la producción, transporte y uso de energía.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Establecimiento de normas de seguridad en la construcción y operación de instalaciones energéticas, auditorías regulares y capacitación en seguridad.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9211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Transparencia y Anticorrupción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Garantizar una gestión transparente y justa del sector energético, evitando la corrupción y el mal uso de recursos.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Auditorías independientes, regulación estricta sobre licitaciones y contratos, y mecanismos de denuncia y supervisión.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383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Planificación y Desarrollo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3519972"/>
          </a:xfrm>
        </p:spPr>
        <p:txBody>
          <a:bodyPr>
            <a:normAutofit/>
          </a:bodyPr>
          <a:lstStyle/>
          <a:p>
            <a:pPr algn="just"/>
            <a:r>
              <a:rPr lang="es-ES" b="1" dirty="0"/>
              <a:t>Planificación Energética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Desarrollar una estrategia a largo plazo para el sector energético que considere la demanda futura, la disponibilidad de recursos y el impacto ambiental.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Creación de planes nacionales de energía, estudios de viabilidad para proyectos energéticos y evaluación de la infraestructura existente.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0930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46" y="1082351"/>
            <a:ext cx="11032671" cy="4954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Fomento a la Innovación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Impulsar el desarrollo y la adopción de nuevas tecnologías que mejoren la eficiencia y sostenibilidad del sector energético.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Subvenciones para investigación y desarrollo, colaboración con instituciones académicas y apoyo a startups tecnológicas en el sector energético.</a:t>
            </a:r>
          </a:p>
          <a:p>
            <a:pPr marL="0" indent="0" algn="just">
              <a:buNone/>
            </a:pPr>
            <a:r>
              <a:rPr lang="es-ES" b="1" dirty="0"/>
              <a:t>Desarrollo de Infraestructura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Asegurar que la infraestructura energética sea moderna, eficiente y capaz de satisfacer las demandas futuras.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Inversión en redes de transmisión y distribución, construcción de nuevas plantas de energía y modernización de las existentes.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149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Impacto en la Economía y el Empleo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ES" b="1" dirty="0"/>
              <a:t>Desarrollo Económico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Utilizar el sector energético como motor para el crecimiento económico, creando empleo y generando ingresos.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Inversión en proyectos energéticos que estimulen la economía local, incentivos para empresas del sector y desarrollo de cadenas de suministro locales.</a:t>
            </a:r>
          </a:p>
          <a:p>
            <a:pPr marL="0" indent="0" algn="just">
              <a:buNone/>
            </a:pPr>
            <a:r>
              <a:rPr lang="es-ES" b="1" dirty="0"/>
              <a:t>Creación de Empleo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Generar empleo en el sector energético y en áreas relacionadas.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Capacitación y educación en habilidades energéticas, apoyo a programas de formación técnica y promoción de oportunidades de empleo en el sector.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0664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660" y="277576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b="1" dirty="0"/>
              <a:t>Desafíos y Tendencias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ES" b="1" dirty="0"/>
              <a:t>Transición Energética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Adaptarse a una transición global hacia fuentes de energía más limpias y sostenibles.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Reducción gradual del uso de combustibles fósiles, incentivos para la adopción de energías renovables y políticas de eficiencia energética.</a:t>
            </a:r>
          </a:p>
          <a:p>
            <a:pPr marL="0" indent="0" algn="just">
              <a:buNone/>
            </a:pPr>
            <a:r>
              <a:rPr lang="es-ES" b="1" dirty="0"/>
              <a:t>Cambio Climático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Mitigar los efectos del cambio climático mediante la reducción de las emisiones de gases de efecto invernadero.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Implementación de acuerdos internacionales sobre cambio climático, promoción de tecnologías bajas en carbono y desarrollo de estrategias de adaptación y resiliencia.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407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b="1" dirty="0"/>
              <a:t>Seguridad Energética Global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Abordar las preocupaciones sobre la seguridad del suministro energético en un contexto global interconectado.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Cooperación internacional en materia de seguridad energética, desarrollo de redes de energía interconectadas y gestión de riesgos asociados con la geopolítica energética.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95123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9E6F5-05DC-9995-611E-161294A54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33" y="314898"/>
            <a:ext cx="10515600" cy="1325563"/>
          </a:xfrm>
        </p:spPr>
        <p:txBody>
          <a:bodyPr>
            <a:normAutofit/>
          </a:bodyPr>
          <a:lstStyle/>
          <a:p>
            <a:r>
              <a:rPr lang="es-ES" sz="2800" dirty="0"/>
              <a:t>Participación Ciudadana y Transparencia</a:t>
            </a:r>
            <a:endParaRPr lang="es-ES" sz="6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A338C-2F44-961B-B316-9D3B1B33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7930"/>
            <a:ext cx="11032671" cy="478903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/>
              <a:t>Participación Ciudadana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Involucrar a la ciudadanía en la toma de decisiones relacionadas con la energía y garantizar que sus preocupaciones sean escuchadas.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Consultas públicas, audiencias sobre proyectos energéticos y mecanismos de participación en la formulación de políticas.</a:t>
            </a:r>
          </a:p>
          <a:p>
            <a:pPr marL="0" indent="0" algn="just">
              <a:buNone/>
            </a:pPr>
            <a:r>
              <a:rPr lang="es-ES" b="1" dirty="0"/>
              <a:t>Transparencia en la Gestión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Objetivo</a:t>
            </a:r>
            <a:r>
              <a:rPr lang="es-ES" dirty="0"/>
              <a:t>: Asegurar una gestión abierta y accesible del sector energético.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Medidas</a:t>
            </a:r>
            <a:r>
              <a:rPr lang="es-ES" dirty="0"/>
              <a:t>: Publicación de informes y datos sobre el sector, acceso a información sobre proyectos y políticas, y promoción de la rendición de cuentas.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6000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21348</TotalTime>
  <Words>2651</Words>
  <Application>Microsoft Office PowerPoint</Application>
  <PresentationFormat>Panorámica</PresentationFormat>
  <Paragraphs>183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Outfit</vt:lpstr>
      <vt:lpstr>Prompt</vt:lpstr>
      <vt:lpstr>Tema de Office</vt:lpstr>
      <vt:lpstr>Presentación de PowerPoint</vt:lpstr>
      <vt:lpstr>Presentación de PowerPoint</vt:lpstr>
      <vt:lpstr>DOWNSTREAM</vt:lpstr>
      <vt:lpstr>DOWNSTREAM</vt:lpstr>
      <vt:lpstr>Presentación de PowerPoint</vt:lpstr>
      <vt:lpstr>  Canales de Comercialización</vt:lpstr>
      <vt:lpstr>  Cadena de suministro de combustibles</vt:lpstr>
      <vt:lpstr>  </vt:lpstr>
      <vt:lpstr>  </vt:lpstr>
      <vt:lpstr>  </vt:lpstr>
      <vt:lpstr>  </vt:lpstr>
      <vt:lpstr>  </vt:lpstr>
      <vt:lpstr>  </vt:lpstr>
      <vt:lpstr>Presentación de PowerPoint</vt:lpstr>
      <vt:lpstr>Canales de Comercialización de Combustibles Líquidos</vt:lpstr>
      <vt:lpstr>Presentación de PowerPoint</vt:lpstr>
      <vt:lpstr>Canales de Comercialización de Gas Licuado de Petróleo (GLP)</vt:lpstr>
      <vt:lpstr>Presentación de PowerPoint</vt:lpstr>
      <vt:lpstr>Canales de Comercialización de Gas Natural Vehicular (GNV)</vt:lpstr>
      <vt:lpstr>Presentación de PowerPoint</vt:lpstr>
      <vt:lpstr>Aspectos Comunes en Todos los Canales</vt:lpstr>
      <vt:lpstr>Presentación de PowerPoint</vt:lpstr>
      <vt:lpstr>Visión desde el Estado del Sector Energético</vt:lpstr>
      <vt:lpstr>Políticas Energéticas</vt:lpstr>
      <vt:lpstr>Presentación de PowerPoint</vt:lpstr>
      <vt:lpstr>Presentación de PowerPoint</vt:lpstr>
      <vt:lpstr>Regulación y Supervisión</vt:lpstr>
      <vt:lpstr>Presentación de PowerPoint</vt:lpstr>
      <vt:lpstr>Planificación y Desarrollo</vt:lpstr>
      <vt:lpstr>Presentación de PowerPoint</vt:lpstr>
      <vt:lpstr>Impacto en la Economía y el Empleo</vt:lpstr>
      <vt:lpstr>Desafíos y Tendencias</vt:lpstr>
      <vt:lpstr>Presentación de PowerPoint</vt:lpstr>
      <vt:lpstr>Participación Ciudadana y Transparencia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Benji Jonathan Cruzate Contreras</cp:lastModifiedBy>
  <cp:revision>39</cp:revision>
  <dcterms:created xsi:type="dcterms:W3CDTF">2022-04-19T18:02:09Z</dcterms:created>
  <dcterms:modified xsi:type="dcterms:W3CDTF">2024-09-04T02:33:27Z</dcterms:modified>
</cp:coreProperties>
</file>