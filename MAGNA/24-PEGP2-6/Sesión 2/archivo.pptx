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80" r:id="rId4"/>
    <p:sldId id="264" r:id="rId5"/>
    <p:sldId id="265" r:id="rId6"/>
    <p:sldId id="266" r:id="rId7"/>
    <p:sldId id="272" r:id="rId8"/>
    <p:sldId id="273" r:id="rId9"/>
    <p:sldId id="267" r:id="rId10"/>
    <p:sldId id="274" r:id="rId11"/>
    <p:sldId id="268" r:id="rId12"/>
    <p:sldId id="275" r:id="rId13"/>
    <p:sldId id="276" r:id="rId14"/>
    <p:sldId id="277" r:id="rId15"/>
    <p:sldId id="270" r:id="rId16"/>
    <p:sldId id="278" r:id="rId17"/>
    <p:sldId id="279" r:id="rId18"/>
    <p:sldId id="271" r:id="rId19"/>
    <p:sldId id="281" r:id="rId20"/>
    <p:sldId id="282" r:id="rId21"/>
    <p:sldId id="283" r:id="rId22"/>
    <p:sldId id="286" r:id="rId23"/>
    <p:sldId id="284" r:id="rId24"/>
    <p:sldId id="285" r:id="rId25"/>
    <p:sldId id="287" r:id="rId26"/>
    <p:sldId id="288" r:id="rId27"/>
    <p:sldId id="289"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7" r:id="rId54"/>
    <p:sldId id="318" r:id="rId55"/>
    <p:sldId id="319" r:id="rId56"/>
    <p:sldId id="316" r:id="rId57"/>
    <p:sldId id="320" r:id="rId58"/>
    <p:sldId id="260" r:id="rId5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23/07/2024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23/07/2024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23/07/2024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23/07/2024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23/07/2024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23/07/2024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23/07/2024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23/07/2024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23/07/2024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23/07/2024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23/07/2024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23/07/2024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881271" y="2551837"/>
            <a:ext cx="10429458" cy="1754326"/>
          </a:xfrm>
          <a:prstGeom prst="rect">
            <a:avLst/>
          </a:prstGeom>
        </p:spPr>
        <p:txBody>
          <a:bodyPr wrap="none">
            <a:spAutoFit/>
          </a:bodyPr>
          <a:lstStyle/>
          <a:p>
            <a:pPr algn="ctr"/>
            <a:r>
              <a:rPr lang="es-ES" sz="5400" b="1" dirty="0">
                <a:solidFill>
                  <a:srgbClr val="00F3B5"/>
                </a:solidFill>
                <a:latin typeface="Prompt" panose="00000500000000000000" pitchFamily="2" charset="-34"/>
                <a:cs typeface="Prompt" panose="00000500000000000000" pitchFamily="2" charset="-34"/>
              </a:rPr>
              <a:t>ESPECIALIZACION EN  </a:t>
            </a:r>
          </a:p>
          <a:p>
            <a:pPr algn="ctr"/>
            <a:r>
              <a:rPr lang="es-ES" sz="5400" dirty="0">
                <a:solidFill>
                  <a:schemeClr val="bg1"/>
                </a:solidFill>
                <a:latin typeface="Prompt" panose="00000800000000000000" pitchFamily="2" charset="-34"/>
                <a:cs typeface="Prompt" panose="00000800000000000000" pitchFamily="2" charset="-34"/>
              </a:rPr>
              <a:t>GESTION DE GAS Y PETROLEO</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4C7009-B4AD-8BBA-4EE5-7DE0D730117F}"/>
              </a:ext>
            </a:extLst>
          </p:cNvPr>
          <p:cNvSpPr>
            <a:spLocks noGrp="1"/>
          </p:cNvSpPr>
          <p:nvPr>
            <p:ph type="title"/>
          </p:nvPr>
        </p:nvSpPr>
        <p:spPr/>
        <p:txBody>
          <a:bodyPr/>
          <a:lstStyle/>
          <a:p>
            <a:r>
              <a:rPr lang="es-ES" dirty="0"/>
              <a:t>Información del Docente</a:t>
            </a:r>
            <a:endParaRPr lang="es-PE" dirty="0"/>
          </a:p>
        </p:txBody>
      </p:sp>
      <p:sp>
        <p:nvSpPr>
          <p:cNvPr id="3" name="Marcador de contenido 2">
            <a:extLst>
              <a:ext uri="{FF2B5EF4-FFF2-40B4-BE49-F238E27FC236}">
                <a16:creationId xmlns:a16="http://schemas.microsoft.com/office/drawing/2014/main" id="{30185DBA-D222-F28A-1478-09EC169BD0DB}"/>
              </a:ext>
            </a:extLst>
          </p:cNvPr>
          <p:cNvSpPr>
            <a:spLocks noGrp="1"/>
          </p:cNvSpPr>
          <p:nvPr>
            <p:ph idx="1"/>
          </p:nvPr>
        </p:nvSpPr>
        <p:spPr/>
        <p:txBody>
          <a:bodyPr/>
          <a:lstStyle/>
          <a:p>
            <a:r>
              <a:rPr lang="es-ES" dirty="0"/>
              <a:t>Completar</a:t>
            </a:r>
            <a:endParaRPr lang="es-PE" dirty="0"/>
          </a:p>
        </p:txBody>
      </p:sp>
    </p:spTree>
    <p:extLst>
      <p:ext uri="{BB962C8B-B14F-4D97-AF65-F5344CB8AC3E}">
        <p14:creationId xmlns:p14="http://schemas.microsoft.com/office/powerpoint/2010/main" val="3161412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CE3D09-3D91-0291-5411-7FB67FECAF92}"/>
              </a:ext>
            </a:extLst>
          </p:cNvPr>
          <p:cNvSpPr>
            <a:spLocks noGrp="1"/>
          </p:cNvSpPr>
          <p:nvPr>
            <p:ph type="title"/>
          </p:nvPr>
        </p:nvSpPr>
        <p:spPr>
          <a:xfrm>
            <a:off x="838200" y="681038"/>
            <a:ext cx="10515600" cy="1325563"/>
          </a:xfrm>
        </p:spPr>
        <p:txBody>
          <a:bodyPr>
            <a:noAutofit/>
          </a:bodyPr>
          <a:lstStyle/>
          <a:p>
            <a:r>
              <a:rPr lang="es-PE" sz="2800" dirty="0"/>
              <a:t>MODULO 1 : INDUSTRIA DEL GAS Y PETROLEO : FUNCIONAMIENTO Y PERSPECTIVAS</a:t>
            </a:r>
          </a:p>
        </p:txBody>
      </p:sp>
      <p:sp>
        <p:nvSpPr>
          <p:cNvPr id="3" name="Marcador de contenido 2">
            <a:extLst>
              <a:ext uri="{FF2B5EF4-FFF2-40B4-BE49-F238E27FC236}">
                <a16:creationId xmlns:a16="http://schemas.microsoft.com/office/drawing/2014/main" id="{92253A65-493C-4AFE-7C52-2265D4FA9BF0}"/>
              </a:ext>
            </a:extLst>
          </p:cNvPr>
          <p:cNvSpPr>
            <a:spLocks noGrp="1"/>
          </p:cNvSpPr>
          <p:nvPr>
            <p:ph idx="1"/>
          </p:nvPr>
        </p:nvSpPr>
        <p:spPr>
          <a:xfrm>
            <a:off x="1099930" y="2584173"/>
            <a:ext cx="10253870" cy="3592789"/>
          </a:xfrm>
        </p:spPr>
        <p:txBody>
          <a:bodyPr/>
          <a:lstStyle/>
          <a:p>
            <a:pPr>
              <a:buFontTx/>
              <a:buChar char="-"/>
            </a:pPr>
            <a:r>
              <a:rPr lang="es-ES" dirty="0"/>
              <a:t>Situación actual y funcionamiento general de las industrias de gas y petróleo</a:t>
            </a:r>
            <a:r>
              <a:rPr lang="es-PE" dirty="0"/>
              <a:t>.</a:t>
            </a:r>
          </a:p>
          <a:p>
            <a:pPr>
              <a:buFontTx/>
              <a:buChar char="-"/>
            </a:pPr>
            <a:r>
              <a:rPr lang="es-ES" dirty="0"/>
              <a:t>Introducción al conocimiento del gas natural: características</a:t>
            </a:r>
            <a:r>
              <a:rPr lang="es-PE" dirty="0"/>
              <a:t>.</a:t>
            </a:r>
          </a:p>
          <a:p>
            <a:pPr>
              <a:buFontTx/>
              <a:buChar char="-"/>
            </a:pPr>
            <a:r>
              <a:rPr lang="es-ES" dirty="0"/>
              <a:t>Introducción al conocimiento del Petróleo: características.</a:t>
            </a:r>
          </a:p>
          <a:p>
            <a:pPr marL="0" indent="0">
              <a:buNone/>
            </a:pPr>
            <a:r>
              <a:rPr lang="es-ES" dirty="0"/>
              <a:t>- Legislación internacional relativa a la prospección, producción,                                      transporte y distribución de Gas y petróleo.</a:t>
            </a:r>
            <a:endParaRPr lang="es-PE" dirty="0"/>
          </a:p>
        </p:txBody>
      </p:sp>
    </p:spTree>
    <p:extLst>
      <p:ext uri="{BB962C8B-B14F-4D97-AF65-F5344CB8AC3E}">
        <p14:creationId xmlns:p14="http://schemas.microsoft.com/office/powerpoint/2010/main" val="3748907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E72945-ECD4-A98C-A4CC-7A9097C97C79}"/>
              </a:ext>
            </a:extLst>
          </p:cNvPr>
          <p:cNvSpPr>
            <a:spLocks noGrp="1"/>
          </p:cNvSpPr>
          <p:nvPr>
            <p:ph type="title"/>
          </p:nvPr>
        </p:nvSpPr>
        <p:spPr>
          <a:xfrm>
            <a:off x="1257300" y="365125"/>
            <a:ext cx="10515600" cy="1325563"/>
          </a:xfrm>
        </p:spPr>
        <p:txBody>
          <a:bodyPr/>
          <a:lstStyle/>
          <a:p>
            <a:r>
              <a:rPr lang="es-PE" dirty="0"/>
              <a:t>Situación Actual :</a:t>
            </a:r>
          </a:p>
        </p:txBody>
      </p:sp>
      <p:sp>
        <p:nvSpPr>
          <p:cNvPr id="3" name="Marcador de contenido 2">
            <a:extLst>
              <a:ext uri="{FF2B5EF4-FFF2-40B4-BE49-F238E27FC236}">
                <a16:creationId xmlns:a16="http://schemas.microsoft.com/office/drawing/2014/main" id="{D5EADF94-6534-1EE4-CAD8-1FF5362427B8}"/>
              </a:ext>
            </a:extLst>
          </p:cNvPr>
          <p:cNvSpPr>
            <a:spLocks noGrp="1"/>
          </p:cNvSpPr>
          <p:nvPr>
            <p:ph idx="1"/>
          </p:nvPr>
        </p:nvSpPr>
        <p:spPr>
          <a:xfrm>
            <a:off x="838200" y="1690688"/>
            <a:ext cx="10934700" cy="4720648"/>
          </a:xfrm>
        </p:spPr>
        <p:txBody>
          <a:bodyPr>
            <a:normAutofit lnSpcReduction="10000"/>
          </a:bodyPr>
          <a:lstStyle/>
          <a:p>
            <a:r>
              <a:rPr lang="es-ES" dirty="0"/>
              <a:t>Perú es un país con recursos significativos de gas natural y petróleo, y la industria de hidrocarburos juega un papel crucial en su economía. A continuación, se destacan algunos puntos clave:</a:t>
            </a:r>
            <a:br>
              <a:rPr lang="es-ES" dirty="0"/>
            </a:br>
            <a:endParaRPr lang="es-ES" dirty="0"/>
          </a:p>
          <a:p>
            <a:r>
              <a:rPr lang="es-ES" b="1" dirty="0"/>
              <a:t>Producción y Reservas: </a:t>
            </a:r>
            <a:r>
              <a:rPr lang="es-ES" dirty="0"/>
              <a:t>Perú tiene importantes reservas de gas natural y petróleo. La producción de gas natural ha crecido en las últimas décadas, especialmente con el desarrollo de proyectos en la región de Camisea, que es la principal zona productora del país.</a:t>
            </a:r>
            <a:br>
              <a:rPr lang="es-ES" dirty="0"/>
            </a:br>
            <a:br>
              <a:rPr lang="es-ES" dirty="0"/>
            </a:br>
            <a:r>
              <a:rPr lang="es-ES" dirty="0"/>
              <a:t>Infraestructura: La infraestructura de transporte y distribución de gas natural se ha desarrollado para conectar las áreas productoras con los consumidores en todo el país. Existen gasoductos que transportan gas desde Camisea hasta Lima y otras regiones del Perú.</a:t>
            </a:r>
            <a:endParaRPr lang="es-PE" dirty="0"/>
          </a:p>
        </p:txBody>
      </p:sp>
      <p:sp>
        <p:nvSpPr>
          <p:cNvPr id="5" name="Marcador de contenido 2">
            <a:extLst>
              <a:ext uri="{FF2B5EF4-FFF2-40B4-BE49-F238E27FC236}">
                <a16:creationId xmlns:a16="http://schemas.microsoft.com/office/drawing/2014/main" id="{469588C0-4A61-8250-7088-FD811ABA4C66}"/>
              </a:ext>
            </a:extLst>
          </p:cNvPr>
          <p:cNvSpPr txBox="1">
            <a:spLocks/>
          </p:cNvSpPr>
          <p:nvPr/>
        </p:nvSpPr>
        <p:spPr>
          <a:xfrm>
            <a:off x="838200" y="4942898"/>
            <a:ext cx="10515600" cy="1603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endParaRPr lang="es-PE" dirty="0"/>
          </a:p>
        </p:txBody>
      </p:sp>
    </p:spTree>
    <p:extLst>
      <p:ext uri="{BB962C8B-B14F-4D97-AF65-F5344CB8AC3E}">
        <p14:creationId xmlns:p14="http://schemas.microsoft.com/office/powerpoint/2010/main" val="4141598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20822E5-D986-47B3-FF35-A1A192D482B4}"/>
              </a:ext>
            </a:extLst>
          </p:cNvPr>
          <p:cNvSpPr>
            <a:spLocks noGrp="1"/>
          </p:cNvSpPr>
          <p:nvPr>
            <p:ph idx="1"/>
          </p:nvPr>
        </p:nvSpPr>
        <p:spPr>
          <a:xfrm>
            <a:off x="903632" y="1616765"/>
            <a:ext cx="10384735" cy="4300330"/>
          </a:xfrm>
        </p:spPr>
        <p:txBody>
          <a:bodyPr>
            <a:normAutofit lnSpcReduction="10000"/>
          </a:bodyPr>
          <a:lstStyle/>
          <a:p>
            <a:pPr algn="just"/>
            <a:r>
              <a:rPr lang="es-ES" dirty="0"/>
              <a:t>Empresas Operadoras: Empresas como Pluspetrol, Repsol, Petroperú, Hunt Oil, entre otras, tienen presencia en el sector y juegan un papel importante en la exploración, producción y distribución de hidrocarburos.</a:t>
            </a:r>
          </a:p>
          <a:p>
            <a:pPr algn="just"/>
            <a:r>
              <a:rPr lang="es-ES" dirty="0"/>
              <a:t>Regulación: El sector está regulado por el Ministerio de Energía y Minas (MINEM) y supervisado por la Agencia Perúana de Energía (Osinergmin), que emite las normativas y licencias necesarias para la exploración y explotación.</a:t>
            </a:r>
          </a:p>
          <a:p>
            <a:pPr algn="just"/>
            <a:r>
              <a:rPr lang="es-ES" dirty="0"/>
              <a:t>Impacto Económico: La industria de hidrocarburos contribuye significativamente al Producto Interno Bruto (PIB) de Perú y es una fuente importante de ingresos fiscales para el gobierno.</a:t>
            </a:r>
            <a:endParaRPr lang="es-PE" dirty="0"/>
          </a:p>
          <a:p>
            <a:endParaRPr lang="es-ES" dirty="0"/>
          </a:p>
          <a:p>
            <a:pPr marL="0" indent="0">
              <a:buNone/>
            </a:pPr>
            <a:endParaRPr lang="es-ES" dirty="0"/>
          </a:p>
          <a:p>
            <a:endParaRPr lang="es-ES" dirty="0"/>
          </a:p>
        </p:txBody>
      </p:sp>
    </p:spTree>
    <p:extLst>
      <p:ext uri="{BB962C8B-B14F-4D97-AF65-F5344CB8AC3E}">
        <p14:creationId xmlns:p14="http://schemas.microsoft.com/office/powerpoint/2010/main" val="3607525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E67FBC-74DF-38D1-A312-E07AF299FF57}"/>
              </a:ext>
            </a:extLst>
          </p:cNvPr>
          <p:cNvSpPr>
            <a:spLocks noGrp="1"/>
          </p:cNvSpPr>
          <p:nvPr>
            <p:ph type="title"/>
          </p:nvPr>
        </p:nvSpPr>
        <p:spPr>
          <a:xfrm>
            <a:off x="904461" y="681038"/>
            <a:ext cx="8403771" cy="1218746"/>
          </a:xfrm>
        </p:spPr>
        <p:txBody>
          <a:bodyPr>
            <a:normAutofit/>
          </a:bodyPr>
          <a:lstStyle/>
          <a:p>
            <a:r>
              <a:rPr lang="es-ES" sz="2800" dirty="0"/>
              <a:t>Perspectivas de la Industria de Gas y Petróleo en el Perú</a:t>
            </a:r>
          </a:p>
        </p:txBody>
      </p:sp>
      <p:sp>
        <p:nvSpPr>
          <p:cNvPr id="3" name="Marcador de contenido 2">
            <a:extLst>
              <a:ext uri="{FF2B5EF4-FFF2-40B4-BE49-F238E27FC236}">
                <a16:creationId xmlns:a16="http://schemas.microsoft.com/office/drawing/2014/main" id="{97DF9198-57CE-711C-80A4-5B8A76C532DC}"/>
              </a:ext>
            </a:extLst>
          </p:cNvPr>
          <p:cNvSpPr>
            <a:spLocks noGrp="1"/>
          </p:cNvSpPr>
          <p:nvPr>
            <p:ph idx="1"/>
          </p:nvPr>
        </p:nvSpPr>
        <p:spPr>
          <a:xfrm>
            <a:off x="1205948" y="2107095"/>
            <a:ext cx="10147852" cy="4069867"/>
          </a:xfrm>
        </p:spPr>
        <p:txBody>
          <a:bodyPr/>
          <a:lstStyle/>
          <a:p>
            <a:pPr algn="just"/>
            <a:r>
              <a:rPr lang="es-ES" dirty="0"/>
              <a:t>Exploración y Expansión: Perú sigue explorando nuevas áreas potenciales tanto en tierra como en mar. Hay un potencial considerable en la zona marina frente a la costa norte y en la selva.</a:t>
            </a:r>
          </a:p>
          <a:p>
            <a:pPr algn="just"/>
            <a:r>
              <a:rPr lang="es-ES" dirty="0"/>
              <a:t>Inversiones y Desarrollo: Se esperan inversiones en infraestructura para mejorar la capacidad de producción y transporte, así como en tecnologías para la extracción más eficiente y sostenible.</a:t>
            </a:r>
          </a:p>
          <a:p>
            <a:pPr algn="just"/>
            <a:r>
              <a:rPr lang="es-ES" dirty="0"/>
              <a:t>Mercado Interno y Exportación: Además de satisfacer la demanda interna de energía, Perú también exporta gas natural licuado (GNL) y petróleo crudo a mercados internacionales.</a:t>
            </a:r>
          </a:p>
        </p:txBody>
      </p:sp>
    </p:spTree>
    <p:extLst>
      <p:ext uri="{BB962C8B-B14F-4D97-AF65-F5344CB8AC3E}">
        <p14:creationId xmlns:p14="http://schemas.microsoft.com/office/powerpoint/2010/main" val="3409742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6273620-2CBE-3D51-6A1E-675B27B35B49}"/>
              </a:ext>
            </a:extLst>
          </p:cNvPr>
          <p:cNvSpPr>
            <a:spLocks noGrp="1"/>
          </p:cNvSpPr>
          <p:nvPr>
            <p:ph idx="1"/>
          </p:nvPr>
        </p:nvSpPr>
        <p:spPr>
          <a:xfrm>
            <a:off x="967408" y="1391479"/>
            <a:ext cx="9975574" cy="4599954"/>
          </a:xfrm>
        </p:spPr>
        <p:txBody>
          <a:bodyPr>
            <a:normAutofit fontScale="92500" lnSpcReduction="10000"/>
          </a:bodyPr>
          <a:lstStyle/>
          <a:p>
            <a:pPr algn="just"/>
            <a:r>
              <a:rPr lang="es-ES" b="1" dirty="0"/>
              <a:t>Sostenibilidad y Medio Ambiente</a:t>
            </a:r>
            <a:r>
              <a:rPr lang="es-ES" dirty="0"/>
              <a:t>: Hay un creciente enfoque en desarrollar prácticas sostenibles y mitigar los impactos ambientales asociados con la extracción y producción de hidrocarburos.</a:t>
            </a:r>
          </a:p>
          <a:p>
            <a:pPr algn="just"/>
            <a:r>
              <a:rPr lang="es-ES" b="1" dirty="0"/>
              <a:t>Política Energética</a:t>
            </a:r>
            <a:r>
              <a:rPr lang="es-ES" dirty="0"/>
              <a:t>: El gobierno peruano ha estado promoviendo políticas para diversificar la matriz energética del país, incluyendo la promoción de energías renovables y la eficiencia energética, lo cual podría influir en la dirección futura del sector de gas y petróleo.</a:t>
            </a:r>
          </a:p>
          <a:p>
            <a:pPr algn="just"/>
            <a:r>
              <a:rPr lang="es-ES" b="1" dirty="0"/>
              <a:t>Diversificación Energética: </a:t>
            </a:r>
            <a:r>
              <a:rPr lang="es-ES" dirty="0"/>
              <a:t>A pesar de la importancia actual del gas y petróleo, Perú también está trabajando en diversificar su matriz energética. Esto incluye el desarrollo de energías renovables como la energía hidroeléctrica, solar y eólica, así como la promoción de la eficiencia energética.</a:t>
            </a:r>
          </a:p>
        </p:txBody>
      </p:sp>
    </p:spTree>
    <p:extLst>
      <p:ext uri="{BB962C8B-B14F-4D97-AF65-F5344CB8AC3E}">
        <p14:creationId xmlns:p14="http://schemas.microsoft.com/office/powerpoint/2010/main" val="991275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79940C-ECCF-1394-0831-77A74000F312}"/>
              </a:ext>
            </a:extLst>
          </p:cNvPr>
          <p:cNvSpPr>
            <a:spLocks noGrp="1"/>
          </p:cNvSpPr>
          <p:nvPr>
            <p:ph type="title"/>
          </p:nvPr>
        </p:nvSpPr>
        <p:spPr/>
        <p:txBody>
          <a:bodyPr>
            <a:normAutofit/>
          </a:bodyPr>
          <a:lstStyle/>
          <a:p>
            <a:r>
              <a:rPr lang="es-PE" sz="2800" dirty="0"/>
              <a:t>Introducción al Conocimiento del Gas Natural – Características.</a:t>
            </a:r>
          </a:p>
        </p:txBody>
      </p:sp>
      <p:sp>
        <p:nvSpPr>
          <p:cNvPr id="3" name="Marcador de contenido 2">
            <a:extLst>
              <a:ext uri="{FF2B5EF4-FFF2-40B4-BE49-F238E27FC236}">
                <a16:creationId xmlns:a16="http://schemas.microsoft.com/office/drawing/2014/main" id="{B7BAC538-9A58-1CAA-46E0-C2C6FEF0AA3B}"/>
              </a:ext>
            </a:extLst>
          </p:cNvPr>
          <p:cNvSpPr>
            <a:spLocks noGrp="1"/>
          </p:cNvSpPr>
          <p:nvPr>
            <p:ph idx="1"/>
          </p:nvPr>
        </p:nvSpPr>
        <p:spPr>
          <a:xfrm>
            <a:off x="1285461" y="1895060"/>
            <a:ext cx="9242918" cy="4485625"/>
          </a:xfrm>
        </p:spPr>
        <p:txBody>
          <a:bodyPr>
            <a:normAutofit fontScale="55000" lnSpcReduction="20000"/>
          </a:bodyPr>
          <a:lstStyle/>
          <a:p>
            <a:r>
              <a:rPr lang="es-ES" sz="4200" dirty="0"/>
              <a:t>El gas natural es una mezcla de hidrocarburos gaseosos que se encuentra en formaciones subterráneas junto con el petróleo. Sus características incluyen:</a:t>
            </a:r>
            <a:br>
              <a:rPr lang="es-ES" sz="4200" dirty="0"/>
            </a:br>
            <a:br>
              <a:rPr lang="es-ES" sz="4200" b="1" dirty="0"/>
            </a:br>
            <a:r>
              <a:rPr lang="es-ES" sz="4200" b="1" dirty="0"/>
              <a:t>Composición</a:t>
            </a:r>
            <a:r>
              <a:rPr lang="es-ES" sz="4200" dirty="0"/>
              <a:t>: Principalmente compuesto por metano (CH4), pero también puede contener etano, propano, butano y trazas de otros gases.</a:t>
            </a:r>
            <a:br>
              <a:rPr lang="es-ES" sz="4200" dirty="0"/>
            </a:br>
            <a:br>
              <a:rPr lang="es-ES" sz="4200" dirty="0"/>
            </a:br>
            <a:r>
              <a:rPr lang="es-ES" sz="4200" b="1" dirty="0"/>
              <a:t>Origen y Formación</a:t>
            </a:r>
            <a:r>
              <a:rPr lang="es-ES" sz="4200" dirty="0"/>
              <a:t>: Se forma a partir de la descomposición de materia orgánica en condiciones geológicas específicas durante millones de años. Se encuentra generalmente en yacimientos subterráneos junto con depósitos de petróleo.</a:t>
            </a:r>
          </a:p>
          <a:p>
            <a:endParaRPr lang="es-ES" sz="4200" dirty="0"/>
          </a:p>
          <a:p>
            <a:r>
              <a:rPr lang="es-ES" sz="4200" b="1" dirty="0"/>
              <a:t>Usos</a:t>
            </a:r>
            <a:r>
              <a:rPr lang="es-ES" sz="4200" dirty="0"/>
              <a:t>: Es utilizado como combustible para generación de electricidad, calefacción     residencial e industrial, y como materia prima en la producción</a:t>
            </a:r>
            <a:r>
              <a:rPr lang="es-ES" sz="4500" dirty="0"/>
              <a:t> de productos químicos</a:t>
            </a:r>
            <a:br>
              <a:rPr lang="es-ES" sz="4500" dirty="0"/>
            </a:br>
            <a:endParaRPr lang="es-PE" sz="4500" dirty="0"/>
          </a:p>
          <a:p>
            <a:endParaRPr lang="es-PE" dirty="0"/>
          </a:p>
        </p:txBody>
      </p:sp>
    </p:spTree>
    <p:extLst>
      <p:ext uri="{BB962C8B-B14F-4D97-AF65-F5344CB8AC3E}">
        <p14:creationId xmlns:p14="http://schemas.microsoft.com/office/powerpoint/2010/main" val="2917649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33AA17B-0A0C-0F12-4799-DC5BE74C8A78}"/>
              </a:ext>
            </a:extLst>
          </p:cNvPr>
          <p:cNvSpPr>
            <a:spLocks noGrp="1"/>
          </p:cNvSpPr>
          <p:nvPr>
            <p:ph idx="1"/>
          </p:nvPr>
        </p:nvSpPr>
        <p:spPr>
          <a:xfrm>
            <a:off x="980660" y="1272208"/>
            <a:ext cx="9964807" cy="5217570"/>
          </a:xfrm>
        </p:spPr>
        <p:txBody>
          <a:bodyPr>
            <a:normAutofit fontScale="92500" lnSpcReduction="20000"/>
          </a:bodyPr>
          <a:lstStyle/>
          <a:p>
            <a:r>
              <a:rPr lang="es-ES" b="1" dirty="0"/>
              <a:t>Color y Olor</a:t>
            </a:r>
            <a:r>
              <a:rPr lang="es-ES" dirty="0"/>
              <a:t>: El gas natural es incoloro y generalmente inodoro en su estado natural. Sin embargo, en ocasiones se le añade un compuesto de azufre (mercaptano) para detectar fugas, dándole un olor distintivo.</a:t>
            </a:r>
          </a:p>
          <a:p>
            <a:r>
              <a:rPr lang="es-ES" b="1" dirty="0"/>
              <a:t>Energía</a:t>
            </a:r>
            <a:r>
              <a:rPr lang="es-ES" dirty="0"/>
              <a:t>: Es una fuente de energía limpia y versátil. Cuando se quema, produce principalmente dióxido de carbono (CO₂) y vapor de agua, generando una cantidad significativamente menor de emisiones de contaminantes atmosféricos en comparación con otros combustibles fósiles.</a:t>
            </a:r>
          </a:p>
          <a:p>
            <a:r>
              <a:rPr lang="es-ES" b="1" dirty="0"/>
              <a:t>Aplicaciones</a:t>
            </a:r>
            <a:r>
              <a:rPr lang="es-ES" dirty="0"/>
              <a:t>: Se utiliza ampliamente como combustible para calefacción residencial y comercial, generación de electricidad, y como materia prima en la industria petroquímica para la producción de fertilizantes, plásticos y otros productos químicos.</a:t>
            </a:r>
          </a:p>
          <a:p>
            <a:r>
              <a:rPr lang="es-ES" b="1" dirty="0"/>
              <a:t>Transporte</a:t>
            </a:r>
            <a:r>
              <a:rPr lang="es-ES" dirty="0"/>
              <a:t>: Se transporta a través de gasoductos y en forma líquida como Gas Natural Licuado (GNL) para facilitar su almacenamiento y transporte a largas distancias.</a:t>
            </a:r>
          </a:p>
        </p:txBody>
      </p:sp>
    </p:spTree>
    <p:extLst>
      <p:ext uri="{BB962C8B-B14F-4D97-AF65-F5344CB8AC3E}">
        <p14:creationId xmlns:p14="http://schemas.microsoft.com/office/powerpoint/2010/main" val="2181961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002640-9164-9710-86FD-E41C6FCB93C3}"/>
              </a:ext>
            </a:extLst>
          </p:cNvPr>
          <p:cNvSpPr>
            <a:spLocks noGrp="1"/>
          </p:cNvSpPr>
          <p:nvPr>
            <p:ph type="title"/>
          </p:nvPr>
        </p:nvSpPr>
        <p:spPr/>
        <p:txBody>
          <a:bodyPr>
            <a:normAutofit/>
          </a:bodyPr>
          <a:lstStyle/>
          <a:p>
            <a:r>
              <a:rPr lang="es-PE" sz="2800" dirty="0"/>
              <a:t>Introducción al conocimiento del petróleo –Características.</a:t>
            </a:r>
          </a:p>
        </p:txBody>
      </p:sp>
      <p:sp>
        <p:nvSpPr>
          <p:cNvPr id="3" name="Marcador de contenido 2">
            <a:extLst>
              <a:ext uri="{FF2B5EF4-FFF2-40B4-BE49-F238E27FC236}">
                <a16:creationId xmlns:a16="http://schemas.microsoft.com/office/drawing/2014/main" id="{B70A823B-5B0F-F1CA-954A-158DAD485683}"/>
              </a:ext>
            </a:extLst>
          </p:cNvPr>
          <p:cNvSpPr>
            <a:spLocks noGrp="1"/>
          </p:cNvSpPr>
          <p:nvPr>
            <p:ph idx="1"/>
          </p:nvPr>
        </p:nvSpPr>
        <p:spPr>
          <a:xfrm>
            <a:off x="1364974" y="2146852"/>
            <a:ext cx="9684026" cy="3950598"/>
          </a:xfrm>
        </p:spPr>
        <p:txBody>
          <a:bodyPr>
            <a:normAutofit fontScale="92500" lnSpcReduction="10000"/>
          </a:bodyPr>
          <a:lstStyle/>
          <a:p>
            <a:r>
              <a:rPr lang="es-ES" dirty="0"/>
              <a:t>El petróleo es una mezcla compleja de hidrocarburos líquidos que se extrae de reservorios subterráneos. Sus características incluyen:</a:t>
            </a:r>
          </a:p>
          <a:p>
            <a:r>
              <a:rPr lang="es-ES" dirty="0"/>
              <a:t>Composición: Principalmente compuesto por hidrocarburos como el petróleo crudo, que varía en densidad y contenido de azufre.</a:t>
            </a:r>
          </a:p>
          <a:p>
            <a:r>
              <a:rPr lang="es-ES" dirty="0"/>
              <a:t>Refinación: El petróleo crudo se refina para producir productos derivados como gasolina, </a:t>
            </a:r>
            <a:r>
              <a:rPr lang="es-ES" dirty="0" err="1"/>
              <a:t>diesel</a:t>
            </a:r>
            <a:r>
              <a:rPr lang="es-ES" dirty="0"/>
              <a:t>, queroseno, lubricantes y productos petroquímicos.</a:t>
            </a:r>
          </a:p>
          <a:p>
            <a:r>
              <a:rPr lang="es-ES" dirty="0"/>
              <a:t>Usos: Es una fuente clave de energía para transporte, industria y generación de electricidad, además de ser fundamental en la fabricación de productos derivados.</a:t>
            </a:r>
            <a:endParaRPr lang="es-PE" dirty="0"/>
          </a:p>
        </p:txBody>
      </p:sp>
    </p:spTree>
    <p:extLst>
      <p:ext uri="{BB962C8B-B14F-4D97-AF65-F5344CB8AC3E}">
        <p14:creationId xmlns:p14="http://schemas.microsoft.com/office/powerpoint/2010/main" val="3656010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19B033-B0A6-1EE8-5F3E-3F67C4C08F4C}"/>
              </a:ext>
            </a:extLst>
          </p:cNvPr>
          <p:cNvSpPr>
            <a:spLocks noGrp="1"/>
          </p:cNvSpPr>
          <p:nvPr>
            <p:ph type="title"/>
          </p:nvPr>
        </p:nvSpPr>
        <p:spPr/>
        <p:txBody>
          <a:bodyPr/>
          <a:lstStyle/>
          <a:p>
            <a:r>
              <a:rPr lang="es-ES" dirty="0"/>
              <a:t>Situación del Petróleo en Perú</a:t>
            </a:r>
          </a:p>
        </p:txBody>
      </p:sp>
      <p:sp>
        <p:nvSpPr>
          <p:cNvPr id="3" name="Marcador de contenido 2">
            <a:extLst>
              <a:ext uri="{FF2B5EF4-FFF2-40B4-BE49-F238E27FC236}">
                <a16:creationId xmlns:a16="http://schemas.microsoft.com/office/drawing/2014/main" id="{D85AD19A-D36B-7797-A03F-2E3CAE7A5FC8}"/>
              </a:ext>
            </a:extLst>
          </p:cNvPr>
          <p:cNvSpPr>
            <a:spLocks noGrp="1"/>
          </p:cNvSpPr>
          <p:nvPr>
            <p:ph idx="1"/>
          </p:nvPr>
        </p:nvSpPr>
        <p:spPr>
          <a:xfrm>
            <a:off x="1537252" y="2146852"/>
            <a:ext cx="9379226" cy="3937346"/>
          </a:xfrm>
        </p:spPr>
        <p:txBody>
          <a:bodyPr>
            <a:normAutofit fontScale="85000" lnSpcReduction="10000"/>
          </a:bodyPr>
          <a:lstStyle/>
          <a:p>
            <a:r>
              <a:rPr lang="es-ES" dirty="0"/>
              <a:t>Producción: Perú tiene reservas de petróleo significativas, concentradas principalmente en la Amazonía y en la costa norte del país. La producción petrolera ha fluctuado debido a factores como la inversión en exploración, la madurez de los campos y los precios globales del petróleo</a:t>
            </a:r>
          </a:p>
          <a:p>
            <a:r>
              <a:rPr lang="es-ES" dirty="0"/>
              <a:t>.Empresas Operadoras: Petroperú es la principal empresa estatal involucrada en la exploración, producción y refinación de petróleo en Perú. Además, existen empresas privadas nacionales e internacionales que tienen concesiones para operar en diferentes áreas del país.</a:t>
            </a:r>
          </a:p>
          <a:p>
            <a:r>
              <a:rPr lang="es-ES" dirty="0"/>
              <a:t>Infraestructura: Perú cuenta con una red de oleoductos y terminales de exportación que transportan el petróleo desde los yacimientos hasta las refinerías y los puntos de exportación.</a:t>
            </a:r>
          </a:p>
        </p:txBody>
      </p:sp>
    </p:spTree>
    <p:extLst>
      <p:ext uri="{BB962C8B-B14F-4D97-AF65-F5344CB8AC3E}">
        <p14:creationId xmlns:p14="http://schemas.microsoft.com/office/powerpoint/2010/main" val="2351650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4441F28-BEAC-020C-9A79-ABB3597EB806}"/>
              </a:ext>
            </a:extLst>
          </p:cNvPr>
          <p:cNvSpPr>
            <a:spLocks noGrp="1"/>
          </p:cNvSpPr>
          <p:nvPr>
            <p:ph idx="1"/>
          </p:nvPr>
        </p:nvSpPr>
        <p:spPr/>
        <p:txBody>
          <a:bodyPr/>
          <a:lstStyle/>
          <a:p>
            <a:r>
              <a:rPr lang="es-ES" dirty="0"/>
              <a:t>Regulación: El sector está regulado por el Ministerio de Energía y Minas (MINEM) y supervisado por la Agencia Perúana de Energía (Osinergmin), que establecen normativas y condiciones para la exploración y producción de petróleo.</a:t>
            </a:r>
          </a:p>
          <a:p>
            <a:r>
              <a:rPr lang="es-ES" dirty="0"/>
              <a:t>Impacto Económico y Social: La industria petrolera en Perú es una fuente importante de ingresos y empleo, especialmente en las regiones donde se encuentran los yacimientos. Contribuye significativamente al producto interno bruto (PIB) nacional y al desarrollo económico regional.</a:t>
            </a:r>
          </a:p>
          <a:p>
            <a:pPr marL="0" indent="0">
              <a:buNone/>
            </a:pPr>
            <a:endParaRPr lang="es-ES" dirty="0"/>
          </a:p>
        </p:txBody>
      </p:sp>
    </p:spTree>
    <p:extLst>
      <p:ext uri="{BB962C8B-B14F-4D97-AF65-F5344CB8AC3E}">
        <p14:creationId xmlns:p14="http://schemas.microsoft.com/office/powerpoint/2010/main" val="3684828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2253E8-2552-3495-0472-8ED09B41CB5E}"/>
              </a:ext>
            </a:extLst>
          </p:cNvPr>
          <p:cNvSpPr>
            <a:spLocks noGrp="1"/>
          </p:cNvSpPr>
          <p:nvPr>
            <p:ph type="title"/>
          </p:nvPr>
        </p:nvSpPr>
        <p:spPr>
          <a:xfrm>
            <a:off x="838200" y="365125"/>
            <a:ext cx="8975271" cy="1333046"/>
          </a:xfrm>
        </p:spPr>
        <p:txBody>
          <a:bodyPr>
            <a:noAutofit/>
          </a:bodyPr>
          <a:lstStyle/>
          <a:p>
            <a:r>
              <a:rPr lang="es-PE" sz="2800" dirty="0"/>
              <a:t>Legislación Internacional relativa a la prospección , producción , Transporte y Distribución de Gas y Petróleo.</a:t>
            </a:r>
            <a:endParaRPr lang="es-ES" sz="2800" dirty="0"/>
          </a:p>
        </p:txBody>
      </p:sp>
      <p:sp>
        <p:nvSpPr>
          <p:cNvPr id="3" name="Marcador de contenido 2">
            <a:extLst>
              <a:ext uri="{FF2B5EF4-FFF2-40B4-BE49-F238E27FC236}">
                <a16:creationId xmlns:a16="http://schemas.microsoft.com/office/drawing/2014/main" id="{79D6587B-8D88-BDBE-7AE3-3EDBA35B0DE3}"/>
              </a:ext>
            </a:extLst>
          </p:cNvPr>
          <p:cNvSpPr>
            <a:spLocks noGrp="1"/>
          </p:cNvSpPr>
          <p:nvPr>
            <p:ph idx="1"/>
          </p:nvPr>
        </p:nvSpPr>
        <p:spPr>
          <a:xfrm>
            <a:off x="1431234" y="2372139"/>
            <a:ext cx="9922565" cy="3979674"/>
          </a:xfrm>
        </p:spPr>
        <p:txBody>
          <a:bodyPr>
            <a:normAutofit lnSpcReduction="10000"/>
          </a:bodyPr>
          <a:lstStyle/>
          <a:p>
            <a:pPr algn="just"/>
            <a:r>
              <a:rPr lang="es-ES" dirty="0"/>
              <a:t>Marco Legal: En Perú, la legislación relacionada con la prospección, producción, transporte y distribución de gas y petróleo está principalmente regulada por el Ministerio de Energía y Minas (MINEM) y supervisada por la Agencia Perúana de Energía (Osinergmin).</a:t>
            </a:r>
          </a:p>
          <a:p>
            <a:pPr algn="just"/>
            <a:r>
              <a:rPr lang="es-ES" dirty="0"/>
              <a:t>Licencias y Permisos: La exploración y explotación de recursos energéticos requiere de concesiones y licencias emitidas por el MINEM. Estos permisos especifican las áreas geográficas, los derechos y las obligaciones de las empresas involucradas en actividades energéticas.</a:t>
            </a:r>
          </a:p>
        </p:txBody>
      </p:sp>
    </p:spTree>
    <p:extLst>
      <p:ext uri="{BB962C8B-B14F-4D97-AF65-F5344CB8AC3E}">
        <p14:creationId xmlns:p14="http://schemas.microsoft.com/office/powerpoint/2010/main" val="2732837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B6F1C38-6D61-A492-AF7E-13085AAC7286}"/>
              </a:ext>
            </a:extLst>
          </p:cNvPr>
          <p:cNvSpPr>
            <a:spLocks noGrp="1"/>
          </p:cNvSpPr>
          <p:nvPr>
            <p:ph idx="1"/>
          </p:nvPr>
        </p:nvSpPr>
        <p:spPr>
          <a:xfrm>
            <a:off x="1523999" y="1616764"/>
            <a:ext cx="10068339" cy="4189137"/>
          </a:xfrm>
        </p:spPr>
        <p:txBody>
          <a:bodyPr>
            <a:normAutofit fontScale="92500" lnSpcReduction="10000"/>
          </a:bodyPr>
          <a:lstStyle/>
          <a:p>
            <a:r>
              <a:rPr lang="es-ES" dirty="0"/>
              <a:t>Regulación Nacional: Cada país tiene su propia legislación nacional que regula las actividades de la industria de hidrocarburos, incluyendo permisos de exploración, contratos de producción, regalías y protección ambiental.</a:t>
            </a:r>
          </a:p>
          <a:p>
            <a:r>
              <a:rPr lang="es-ES" dirty="0"/>
              <a:t>Normativas de Seguridad y Ambientales: La legislación internacional y nacional establece estándares para la seguridad operacional y la protección ambiental durante todas las fases de las operaciones de hidrocarburos.</a:t>
            </a:r>
          </a:p>
          <a:p>
            <a:r>
              <a:rPr lang="es-ES" dirty="0"/>
              <a:t>Transparencia y Buen Gobierno: Muchos países han adoptado normativas que promueven la transparencia en los contratos y la gestión de recursos naturales, con el fin de evitar la corrupción y promover un uso responsable de los recursos.</a:t>
            </a:r>
            <a:endParaRPr lang="es-PE" dirty="0"/>
          </a:p>
        </p:txBody>
      </p:sp>
    </p:spTree>
    <p:extLst>
      <p:ext uri="{BB962C8B-B14F-4D97-AF65-F5344CB8AC3E}">
        <p14:creationId xmlns:p14="http://schemas.microsoft.com/office/powerpoint/2010/main" val="3380901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899FCE-DE58-7650-4D55-CFCA3304CF93}"/>
              </a:ext>
            </a:extLst>
          </p:cNvPr>
          <p:cNvSpPr>
            <a:spLocks noGrp="1"/>
          </p:cNvSpPr>
          <p:nvPr>
            <p:ph type="title"/>
          </p:nvPr>
        </p:nvSpPr>
        <p:spPr>
          <a:xfrm>
            <a:off x="838200" y="365126"/>
            <a:ext cx="8860971" cy="1300388"/>
          </a:xfrm>
        </p:spPr>
        <p:txBody>
          <a:bodyPr>
            <a:normAutofit fontScale="90000"/>
          </a:bodyPr>
          <a:lstStyle/>
          <a:p>
            <a:r>
              <a:rPr lang="es-ES" dirty="0"/>
              <a:t>Normas Internacionales Relevantes </a:t>
            </a:r>
          </a:p>
        </p:txBody>
      </p:sp>
      <p:sp>
        <p:nvSpPr>
          <p:cNvPr id="3" name="Marcador de contenido 2">
            <a:extLst>
              <a:ext uri="{FF2B5EF4-FFF2-40B4-BE49-F238E27FC236}">
                <a16:creationId xmlns:a16="http://schemas.microsoft.com/office/drawing/2014/main" id="{A7DF06CF-3B2A-8D40-D005-D0FA5A7BB1E1}"/>
              </a:ext>
            </a:extLst>
          </p:cNvPr>
          <p:cNvSpPr>
            <a:spLocks noGrp="1"/>
          </p:cNvSpPr>
          <p:nvPr>
            <p:ph idx="1"/>
          </p:nvPr>
        </p:nvSpPr>
        <p:spPr>
          <a:xfrm>
            <a:off x="1484242" y="2120347"/>
            <a:ext cx="9869557" cy="4056615"/>
          </a:xfrm>
        </p:spPr>
        <p:txBody>
          <a:bodyPr>
            <a:normAutofit/>
          </a:bodyPr>
          <a:lstStyle/>
          <a:p>
            <a:r>
              <a:rPr lang="es-ES" dirty="0"/>
              <a:t>Convenio de las Naciones Unidas sobre el Derecho del Mar (UNCLOS): Define los derechos y responsabilidades de los Estados en la gestión de los recursos marinos, incluidos los yacimientos submarinos de gas y petróleo.</a:t>
            </a:r>
          </a:p>
          <a:p>
            <a:r>
              <a:rPr lang="es-ES" dirty="0"/>
              <a:t>Convención Marco de las Naciones Unidas sobre el Cambio Climático (CMNUCC): Promueve la acción internacional para combatir el cambio climático, influyendo en las políticas energéticas y ambientales de los países, incluido Perú.</a:t>
            </a:r>
          </a:p>
        </p:txBody>
      </p:sp>
    </p:spTree>
    <p:extLst>
      <p:ext uri="{BB962C8B-B14F-4D97-AF65-F5344CB8AC3E}">
        <p14:creationId xmlns:p14="http://schemas.microsoft.com/office/powerpoint/2010/main" val="1424939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0D3B959-F3CC-0537-8D85-A259AA860092}"/>
              </a:ext>
            </a:extLst>
          </p:cNvPr>
          <p:cNvSpPr>
            <a:spLocks noGrp="1"/>
          </p:cNvSpPr>
          <p:nvPr>
            <p:ph idx="1"/>
          </p:nvPr>
        </p:nvSpPr>
        <p:spPr>
          <a:xfrm>
            <a:off x="1775790" y="2186609"/>
            <a:ext cx="9578009" cy="3990354"/>
          </a:xfrm>
        </p:spPr>
        <p:txBody>
          <a:bodyPr/>
          <a:lstStyle/>
          <a:p>
            <a:r>
              <a:rPr lang="es-ES" dirty="0"/>
              <a:t>Directrices de la Organización Internacional del Trabajo (OIT): Aseguran condiciones laborales seguras y justas para los trabajadores en la industria extractiva, incluyendo la prospección y producción de gas y petróleo.</a:t>
            </a:r>
          </a:p>
          <a:p>
            <a:r>
              <a:rPr lang="es-ES" dirty="0"/>
              <a:t>Estándares de la Organización de Países Exportadores de Petróleo (OPEP): Aunque Perú no es miembro de la OPEP, los estándares y decisiones de esta organización pueden influir en los precios y políticas globales de petróleo.</a:t>
            </a:r>
          </a:p>
          <a:p>
            <a:endParaRPr lang="es-ES" dirty="0"/>
          </a:p>
        </p:txBody>
      </p:sp>
    </p:spTree>
    <p:extLst>
      <p:ext uri="{BB962C8B-B14F-4D97-AF65-F5344CB8AC3E}">
        <p14:creationId xmlns:p14="http://schemas.microsoft.com/office/powerpoint/2010/main" val="2494097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B9FA8EC-1F1D-5623-B2A7-0F57BA344266}"/>
              </a:ext>
            </a:extLst>
          </p:cNvPr>
          <p:cNvSpPr>
            <a:spLocks noGrp="1"/>
          </p:cNvSpPr>
          <p:nvPr>
            <p:ph idx="1"/>
          </p:nvPr>
        </p:nvSpPr>
        <p:spPr>
          <a:xfrm>
            <a:off x="1802296" y="2358887"/>
            <a:ext cx="9284804" cy="3339784"/>
          </a:xfrm>
        </p:spPr>
        <p:txBody>
          <a:bodyPr/>
          <a:lstStyle/>
          <a:p>
            <a:pPr algn="just"/>
            <a:r>
              <a:rPr lang="es-ES" dirty="0"/>
              <a:t>En resumen, Perú posee recursos significativos de gas natural y petróleo, con una industria de hidrocarburos bien desarrollada que contribuye de manera importante a su economía. La regulación y legislación tanto a nivel nacional como internacional juegan un papel crucial en la gestión y desarrollo sostenible de estos recursos.</a:t>
            </a:r>
          </a:p>
        </p:txBody>
      </p:sp>
    </p:spTree>
    <p:extLst>
      <p:ext uri="{BB962C8B-B14F-4D97-AF65-F5344CB8AC3E}">
        <p14:creationId xmlns:p14="http://schemas.microsoft.com/office/powerpoint/2010/main" val="2258738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D8DC89-0316-8FFF-1ED1-CC170E3C4C02}"/>
              </a:ext>
            </a:extLst>
          </p:cNvPr>
          <p:cNvSpPr>
            <a:spLocks noGrp="1"/>
          </p:cNvSpPr>
          <p:nvPr>
            <p:ph type="title"/>
          </p:nvPr>
        </p:nvSpPr>
        <p:spPr>
          <a:xfrm>
            <a:off x="838200" y="365125"/>
            <a:ext cx="8651033" cy="1361038"/>
          </a:xfrm>
        </p:spPr>
        <p:txBody>
          <a:bodyPr>
            <a:normAutofit/>
          </a:bodyPr>
          <a:lstStyle/>
          <a:p>
            <a:r>
              <a:rPr lang="es-ES" sz="2400" dirty="0"/>
              <a:t>Análisis del DS-040-2008 EM y sus Modificaciones </a:t>
            </a:r>
          </a:p>
        </p:txBody>
      </p:sp>
      <p:sp>
        <p:nvSpPr>
          <p:cNvPr id="3" name="Marcador de contenido 2">
            <a:extLst>
              <a:ext uri="{FF2B5EF4-FFF2-40B4-BE49-F238E27FC236}">
                <a16:creationId xmlns:a16="http://schemas.microsoft.com/office/drawing/2014/main" id="{CB8FC143-C9B0-7FBB-126E-88ECE0BB2112}"/>
              </a:ext>
            </a:extLst>
          </p:cNvPr>
          <p:cNvSpPr>
            <a:spLocks noGrp="1"/>
          </p:cNvSpPr>
          <p:nvPr>
            <p:ph idx="1"/>
          </p:nvPr>
        </p:nvSpPr>
        <p:spPr/>
        <p:txBody>
          <a:bodyPr/>
          <a:lstStyle/>
          <a:p>
            <a:pPr marL="0" indent="0" algn="l">
              <a:buNone/>
            </a:pPr>
            <a:r>
              <a:rPr lang="es-ES" b="1" i="0" dirty="0">
                <a:effectLst/>
                <a:highlight>
                  <a:srgbClr val="F9F9FE"/>
                </a:highlight>
                <a:latin typeface="-apple-system"/>
              </a:rPr>
              <a:t>1. Introducción</a:t>
            </a:r>
          </a:p>
          <a:p>
            <a:pPr algn="just"/>
            <a:r>
              <a:rPr lang="es-ES" b="0" i="0" dirty="0">
                <a:effectLst/>
                <a:highlight>
                  <a:srgbClr val="F9F9FE"/>
                </a:highlight>
                <a:latin typeface="-apple-system"/>
              </a:rPr>
              <a:t>El "TEXTO ÚNICO ORDENADO DEL REGLAMENTO DE DISTRIBUCIÓN DE GAS NATURAL POR RED DE DUCTOS" es un documento fundamental que regula la distribución de gas natural en Perú. Este reglamento se enmarca en la Ley Orgánica de Hidrocarburos y busca establecer un marco normativo claro y coherente que garantice la seguridad, eficiencia y sostenibilidad del servicio de distribución de gas natural</a:t>
            </a:r>
          </a:p>
          <a:p>
            <a:pPr algn="l"/>
            <a:br>
              <a:rPr lang="es-ES" dirty="0"/>
            </a:br>
            <a:endParaRPr lang="es-ES" dirty="0"/>
          </a:p>
        </p:txBody>
      </p:sp>
    </p:spTree>
    <p:extLst>
      <p:ext uri="{BB962C8B-B14F-4D97-AF65-F5344CB8AC3E}">
        <p14:creationId xmlns:p14="http://schemas.microsoft.com/office/powerpoint/2010/main" val="1571274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2A1F39-01B6-B2E1-70C0-153CD5E552AC}"/>
              </a:ext>
            </a:extLst>
          </p:cNvPr>
          <p:cNvSpPr>
            <a:spLocks noGrp="1"/>
          </p:cNvSpPr>
          <p:nvPr>
            <p:ph type="title"/>
          </p:nvPr>
        </p:nvSpPr>
        <p:spPr/>
        <p:txBody>
          <a:bodyPr/>
          <a:lstStyle/>
          <a:p>
            <a:endParaRPr lang="es-ES" dirty="0"/>
          </a:p>
        </p:txBody>
      </p:sp>
      <p:sp>
        <p:nvSpPr>
          <p:cNvPr id="3" name="Marcador de contenido 2">
            <a:extLst>
              <a:ext uri="{FF2B5EF4-FFF2-40B4-BE49-F238E27FC236}">
                <a16:creationId xmlns:a16="http://schemas.microsoft.com/office/drawing/2014/main" id="{3E3C677D-F25B-3978-D50E-05A30F92F7CB}"/>
              </a:ext>
            </a:extLst>
          </p:cNvPr>
          <p:cNvSpPr>
            <a:spLocks noGrp="1"/>
          </p:cNvSpPr>
          <p:nvPr>
            <p:ph idx="1"/>
          </p:nvPr>
        </p:nvSpPr>
        <p:spPr/>
        <p:txBody>
          <a:bodyPr/>
          <a:lstStyle/>
          <a:p>
            <a:pPr marL="0" indent="0" algn="l">
              <a:buNone/>
            </a:pPr>
            <a:r>
              <a:rPr lang="es-ES" b="1" i="0" dirty="0">
                <a:effectLst/>
                <a:highlight>
                  <a:srgbClr val="F9F9FE"/>
                </a:highlight>
                <a:latin typeface="-apple-system"/>
              </a:rPr>
              <a:t>2. Marco Normativo</a:t>
            </a:r>
          </a:p>
          <a:p>
            <a:pPr algn="just"/>
            <a:r>
              <a:rPr lang="es-ES" b="0" i="0" dirty="0">
                <a:effectLst/>
                <a:highlight>
                  <a:srgbClr val="F9F9FE"/>
                </a:highlight>
                <a:latin typeface="-apple-system"/>
              </a:rPr>
              <a:t>El reglamento se basa en la Ley Nº 26221 y ha sido modificado por varios decretos a lo largo de los años. La consolidación de estas normativas en un solo texto busca facilitar su comprensión y aplicación, asegurando que todos los actores del sector energético operen bajo las mismas reglas</a:t>
            </a:r>
          </a:p>
          <a:p>
            <a:endParaRPr lang="es-ES" dirty="0"/>
          </a:p>
        </p:txBody>
      </p:sp>
    </p:spTree>
    <p:extLst>
      <p:ext uri="{BB962C8B-B14F-4D97-AF65-F5344CB8AC3E}">
        <p14:creationId xmlns:p14="http://schemas.microsoft.com/office/powerpoint/2010/main" val="2408616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76E75A-C931-AF8B-3F59-764E05BD507D}"/>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85BB9E02-61CC-125A-AE97-7A9D6AD5BD2C}"/>
              </a:ext>
            </a:extLst>
          </p:cNvPr>
          <p:cNvSpPr>
            <a:spLocks noGrp="1"/>
          </p:cNvSpPr>
          <p:nvPr>
            <p:ph idx="1"/>
          </p:nvPr>
        </p:nvSpPr>
        <p:spPr/>
        <p:txBody>
          <a:bodyPr/>
          <a:lstStyle/>
          <a:p>
            <a:pPr algn="l"/>
            <a:r>
              <a:rPr lang="es-ES" b="1" i="0" dirty="0">
                <a:effectLst/>
                <a:highlight>
                  <a:srgbClr val="F9F9FE"/>
                </a:highlight>
                <a:latin typeface="-apple-system"/>
              </a:rPr>
              <a:t>3. Estructura del Reglamento</a:t>
            </a:r>
          </a:p>
          <a:p>
            <a:pPr algn="just"/>
            <a:r>
              <a:rPr lang="es-ES" b="0" i="0" dirty="0">
                <a:effectLst/>
                <a:highlight>
                  <a:srgbClr val="F9F9FE"/>
                </a:highlight>
                <a:latin typeface="-apple-system"/>
              </a:rPr>
              <a:t>El reglamento se organiza en ocho títulos, cada uno abordando diferentes aspectos de la distribución de gas natural. Cada título contiene artículos que detallan las normativas específicas que deben seguir los concesionarios y otros actores involucrados.</a:t>
            </a:r>
          </a:p>
          <a:p>
            <a:endParaRPr lang="es-ES" dirty="0"/>
          </a:p>
        </p:txBody>
      </p:sp>
    </p:spTree>
    <p:extLst>
      <p:ext uri="{BB962C8B-B14F-4D97-AF65-F5344CB8AC3E}">
        <p14:creationId xmlns:p14="http://schemas.microsoft.com/office/powerpoint/2010/main" val="4113080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A555C3-00B9-CDFC-3034-DB54CA3281FE}"/>
              </a:ext>
            </a:extLst>
          </p:cNvPr>
          <p:cNvSpPr>
            <a:spLocks noGrp="1"/>
          </p:cNvSpPr>
          <p:nvPr>
            <p:ph type="title"/>
          </p:nvPr>
        </p:nvSpPr>
        <p:spPr>
          <a:xfrm>
            <a:off x="838200" y="365125"/>
            <a:ext cx="8464420" cy="1370369"/>
          </a:xfrm>
        </p:spPr>
        <p:txBody>
          <a:bodyPr>
            <a:normAutofit/>
          </a:bodyPr>
          <a:lstStyle/>
          <a:p>
            <a:r>
              <a:rPr lang="es-ES" sz="3200" dirty="0"/>
              <a:t>TITULO 1 – DISPOSICIONES GENERALES.</a:t>
            </a:r>
            <a:br>
              <a:rPr lang="es-ES" dirty="0"/>
            </a:br>
            <a:endParaRPr lang="es-ES" dirty="0"/>
          </a:p>
        </p:txBody>
      </p:sp>
      <p:sp>
        <p:nvSpPr>
          <p:cNvPr id="3" name="Marcador de contenido 2">
            <a:extLst>
              <a:ext uri="{FF2B5EF4-FFF2-40B4-BE49-F238E27FC236}">
                <a16:creationId xmlns:a16="http://schemas.microsoft.com/office/drawing/2014/main" id="{596830E0-459D-18B4-1320-BDA95CE479E2}"/>
              </a:ext>
            </a:extLst>
          </p:cNvPr>
          <p:cNvSpPr>
            <a:spLocks noGrp="1"/>
          </p:cNvSpPr>
          <p:nvPr>
            <p:ph idx="1"/>
          </p:nvPr>
        </p:nvSpPr>
        <p:spPr>
          <a:xfrm>
            <a:off x="922176" y="1573699"/>
            <a:ext cx="10515600" cy="4351338"/>
          </a:xfrm>
        </p:spPr>
        <p:txBody>
          <a:bodyPr>
            <a:normAutofit fontScale="92500"/>
          </a:bodyPr>
          <a:lstStyle/>
          <a:p>
            <a:pPr marL="0" indent="0">
              <a:buNone/>
            </a:pPr>
            <a:endParaRPr lang="es-ES" dirty="0"/>
          </a:p>
          <a:p>
            <a:pPr algn="just"/>
            <a:r>
              <a:rPr lang="es-ES" b="0" i="0" dirty="0">
                <a:effectLst/>
                <a:highlight>
                  <a:srgbClr val="F9F9FE"/>
                </a:highlight>
                <a:latin typeface="-apple-system"/>
              </a:rPr>
              <a:t>Las disposiciones generales establecen definiciones clave que son fundamentales para la comprensión y aplicación del reglamento. Enfatiza la importancia de la seguridad y la protección del consumidor, así como la necesidad de un servicio eficiente y accesible.</a:t>
            </a:r>
          </a:p>
          <a:p>
            <a:pPr algn="just"/>
            <a:endParaRPr lang="es-ES" b="0" i="0" dirty="0">
              <a:effectLst/>
              <a:highlight>
                <a:srgbClr val="F9F9FE"/>
              </a:highlight>
              <a:latin typeface="-apple-system"/>
            </a:endParaRPr>
          </a:p>
          <a:p>
            <a:pPr algn="just"/>
            <a:r>
              <a:rPr lang="es-ES" b="1" i="0" dirty="0">
                <a:effectLst/>
                <a:highlight>
                  <a:srgbClr val="F9F9FE"/>
                </a:highlight>
                <a:latin typeface="-apple-system"/>
              </a:rPr>
              <a:t>Definiciones</a:t>
            </a:r>
            <a:r>
              <a:rPr lang="es-ES" b="0" i="0" dirty="0">
                <a:effectLst/>
                <a:highlight>
                  <a:srgbClr val="F9F9FE"/>
                </a:highlight>
                <a:latin typeface="-apple-system"/>
              </a:rPr>
              <a:t>: Se presentan definiciones de términos clave utilizados en el reglamento, como "Concesionario", "Sistema de Distribución", "Suministro", "Tarifa", entre otros. Estas definiciones son esenciales para asegurar una interpretación uniforme de las disposiciones del reglamento.</a:t>
            </a:r>
          </a:p>
          <a:p>
            <a:pPr algn="just"/>
            <a:endParaRPr lang="es-ES" b="0" i="0" dirty="0">
              <a:effectLst/>
              <a:highlight>
                <a:srgbClr val="F9F9FE"/>
              </a:highlight>
              <a:latin typeface="-apple-system"/>
            </a:endParaRPr>
          </a:p>
        </p:txBody>
      </p:sp>
    </p:spTree>
    <p:extLst>
      <p:ext uri="{BB962C8B-B14F-4D97-AF65-F5344CB8AC3E}">
        <p14:creationId xmlns:p14="http://schemas.microsoft.com/office/powerpoint/2010/main" val="2834716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F8250CF-AC14-87DB-B663-F2EFEF9AEF3F}"/>
              </a:ext>
            </a:extLst>
          </p:cNvPr>
          <p:cNvSpPr>
            <a:spLocks noGrp="1"/>
          </p:cNvSpPr>
          <p:nvPr>
            <p:ph idx="1"/>
          </p:nvPr>
        </p:nvSpPr>
        <p:spPr>
          <a:xfrm>
            <a:off x="838200" y="1480392"/>
            <a:ext cx="10515600" cy="4351338"/>
          </a:xfrm>
        </p:spPr>
        <p:txBody>
          <a:bodyPr/>
          <a:lstStyle/>
          <a:p>
            <a:pPr algn="just"/>
            <a:r>
              <a:rPr lang="es-ES" b="1" i="0" dirty="0">
                <a:effectLst/>
                <a:highlight>
                  <a:srgbClr val="F9F9FE"/>
                </a:highlight>
                <a:latin typeface="-apple-system"/>
              </a:rPr>
              <a:t>Ámbito de Aplicación</a:t>
            </a:r>
            <a:r>
              <a:rPr lang="es-ES" b="0" i="0" dirty="0">
                <a:effectLst/>
                <a:highlight>
                  <a:srgbClr val="F9F9FE"/>
                </a:highlight>
                <a:latin typeface="-apple-system"/>
              </a:rPr>
              <a:t>: Se especifica el alcance del reglamento, indicando a quiénes se aplica y en qué contextos. Esto puede incluir la regulación de la distribución de gas natural a consumidores residenciales, comerciales e industriales.</a:t>
            </a:r>
          </a:p>
          <a:p>
            <a:pPr marL="0" indent="0" algn="just">
              <a:buNone/>
            </a:pPr>
            <a:endParaRPr lang="es-ES" b="0" i="0" dirty="0">
              <a:effectLst/>
              <a:highlight>
                <a:srgbClr val="F9F9FE"/>
              </a:highlight>
              <a:latin typeface="-apple-system"/>
            </a:endParaRPr>
          </a:p>
          <a:p>
            <a:pPr algn="just"/>
            <a:r>
              <a:rPr lang="es-ES" b="1" i="0" dirty="0">
                <a:effectLst/>
                <a:highlight>
                  <a:srgbClr val="F9F9FE"/>
                </a:highlight>
                <a:latin typeface="-apple-system"/>
              </a:rPr>
              <a:t>Objetivos del Reglamento</a:t>
            </a:r>
            <a:r>
              <a:rPr lang="es-ES" b="0" i="0" dirty="0">
                <a:effectLst/>
                <a:highlight>
                  <a:srgbClr val="F9F9FE"/>
                </a:highlight>
                <a:latin typeface="-apple-system"/>
              </a:rPr>
              <a:t>: Se pueden establecer los objetivos que se buscan alcanzar con la implementación del reglamento, como garantizar la seguridad en la distribución de gas, promover la competencia, y proteger los derechos de los consumidores.</a:t>
            </a:r>
          </a:p>
          <a:p>
            <a:endParaRPr lang="es-ES" dirty="0"/>
          </a:p>
        </p:txBody>
      </p:sp>
    </p:spTree>
    <p:extLst>
      <p:ext uri="{BB962C8B-B14F-4D97-AF65-F5344CB8AC3E}">
        <p14:creationId xmlns:p14="http://schemas.microsoft.com/office/powerpoint/2010/main" val="3173164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CDF8269-4F23-B4BE-1941-67526BBD568D}"/>
              </a:ext>
            </a:extLst>
          </p:cNvPr>
          <p:cNvSpPr>
            <a:spLocks noGrp="1"/>
          </p:cNvSpPr>
          <p:nvPr>
            <p:ph idx="1"/>
          </p:nvPr>
        </p:nvSpPr>
        <p:spPr>
          <a:xfrm>
            <a:off x="1080018" y="2422784"/>
            <a:ext cx="10031963" cy="2354489"/>
          </a:xfrm>
        </p:spPr>
        <p:txBody>
          <a:bodyPr/>
          <a:lstStyle/>
          <a:p>
            <a:pPr algn="just"/>
            <a:r>
              <a:rPr lang="es-ES" b="0" i="0" dirty="0">
                <a:effectLst/>
                <a:highlight>
                  <a:srgbClr val="F9F9FE"/>
                </a:highlight>
                <a:latin typeface="-apple-system"/>
              </a:rPr>
              <a:t>Este título es fundamental para establecer las bases sobre las cuales se desarrollan los capítulos posteriores del reglamento, asegurando que todos los actores involucrados en la distribución de gas natural operen bajo un marco normativo claro y coherente.</a:t>
            </a:r>
            <a:endParaRPr lang="es-ES" dirty="0"/>
          </a:p>
        </p:txBody>
      </p:sp>
    </p:spTree>
    <p:extLst>
      <p:ext uri="{BB962C8B-B14F-4D97-AF65-F5344CB8AC3E}">
        <p14:creationId xmlns:p14="http://schemas.microsoft.com/office/powerpoint/2010/main" val="1375664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47F35D-E167-8D4A-E200-088D4395B173}"/>
              </a:ext>
            </a:extLst>
          </p:cNvPr>
          <p:cNvSpPr>
            <a:spLocks noGrp="1"/>
          </p:cNvSpPr>
          <p:nvPr>
            <p:ph type="title"/>
          </p:nvPr>
        </p:nvSpPr>
        <p:spPr>
          <a:xfrm>
            <a:off x="838200" y="365125"/>
            <a:ext cx="8296469" cy="1398361"/>
          </a:xfrm>
        </p:spPr>
        <p:txBody>
          <a:bodyPr>
            <a:normAutofit/>
          </a:bodyPr>
          <a:lstStyle/>
          <a:p>
            <a:r>
              <a:rPr lang="es-ES" sz="2800" dirty="0"/>
              <a:t>TITULO II – CONCESIÓN DE LA DISTRIBUCION</a:t>
            </a:r>
            <a:br>
              <a:rPr lang="es-ES" dirty="0"/>
            </a:br>
            <a:endParaRPr lang="es-ES" dirty="0"/>
          </a:p>
        </p:txBody>
      </p:sp>
      <p:sp>
        <p:nvSpPr>
          <p:cNvPr id="3" name="Marcador de contenido 2">
            <a:extLst>
              <a:ext uri="{FF2B5EF4-FFF2-40B4-BE49-F238E27FC236}">
                <a16:creationId xmlns:a16="http://schemas.microsoft.com/office/drawing/2014/main" id="{7037F8DA-6B6C-C9F1-29B3-75560E0E7886}"/>
              </a:ext>
            </a:extLst>
          </p:cNvPr>
          <p:cNvSpPr>
            <a:spLocks noGrp="1"/>
          </p:cNvSpPr>
          <p:nvPr>
            <p:ph idx="1"/>
          </p:nvPr>
        </p:nvSpPr>
        <p:spPr>
          <a:xfrm>
            <a:off x="2163148" y="2058889"/>
            <a:ext cx="8641702" cy="3222236"/>
          </a:xfrm>
        </p:spPr>
        <p:txBody>
          <a:bodyPr/>
          <a:lstStyle/>
          <a:p>
            <a:pPr marL="0" indent="0">
              <a:buNone/>
            </a:pPr>
            <a:endParaRPr lang="es-ES" dirty="0"/>
          </a:p>
          <a:p>
            <a:pPr algn="just">
              <a:buFont typeface="Arial" panose="020B0604020202020204" pitchFamily="34" charset="0"/>
              <a:buChar char="•"/>
            </a:pPr>
            <a:r>
              <a:rPr lang="es-ES" b="1" dirty="0">
                <a:highlight>
                  <a:srgbClr val="F9F9FE"/>
                </a:highlight>
                <a:latin typeface="-apple-system"/>
              </a:rPr>
              <a:t>C</a:t>
            </a:r>
            <a:r>
              <a:rPr lang="es-ES" b="1" i="0" dirty="0">
                <a:effectLst/>
                <a:highlight>
                  <a:srgbClr val="F9F9FE"/>
                </a:highlight>
                <a:latin typeface="-apple-system"/>
              </a:rPr>
              <a:t>apítulo Primero: </a:t>
            </a:r>
            <a:r>
              <a:rPr lang="es-ES" b="0" i="0" dirty="0">
                <a:effectLst/>
                <a:highlight>
                  <a:srgbClr val="F9F9FE"/>
                </a:highlight>
                <a:latin typeface="-apple-system"/>
              </a:rPr>
              <a:t>Exclusividad - Acceso Abierto.</a:t>
            </a:r>
          </a:p>
          <a:p>
            <a:pPr algn="just">
              <a:buFont typeface="Arial" panose="020B0604020202020204" pitchFamily="34" charset="0"/>
              <a:buChar char="•"/>
            </a:pPr>
            <a:r>
              <a:rPr lang="es-ES" b="1" dirty="0">
                <a:highlight>
                  <a:srgbClr val="F9F9FE"/>
                </a:highlight>
                <a:latin typeface="-apple-system"/>
              </a:rPr>
              <a:t>C</a:t>
            </a:r>
            <a:r>
              <a:rPr lang="es-ES" b="1" i="0" dirty="0">
                <a:effectLst/>
                <a:highlight>
                  <a:srgbClr val="F9F9FE"/>
                </a:highlight>
                <a:latin typeface="-apple-system"/>
              </a:rPr>
              <a:t>apítulo Segundo</a:t>
            </a:r>
            <a:r>
              <a:rPr lang="es-ES" b="0" i="0" dirty="0">
                <a:effectLst/>
                <a:highlight>
                  <a:srgbClr val="F9F9FE"/>
                </a:highlight>
                <a:latin typeface="-apple-system"/>
              </a:rPr>
              <a:t>: Otorgamiento de la Concesión.</a:t>
            </a:r>
          </a:p>
          <a:p>
            <a:pPr algn="just">
              <a:buFont typeface="Arial" panose="020B0604020202020204" pitchFamily="34" charset="0"/>
              <a:buChar char="•"/>
            </a:pPr>
            <a:r>
              <a:rPr lang="es-ES" b="1" i="0" dirty="0">
                <a:effectLst/>
                <a:highlight>
                  <a:srgbClr val="F9F9FE"/>
                </a:highlight>
                <a:latin typeface="-apple-system"/>
              </a:rPr>
              <a:t>Capítulo Tercero: </a:t>
            </a:r>
            <a:r>
              <a:rPr lang="es-ES" b="0" i="0" dirty="0">
                <a:effectLst/>
                <a:highlight>
                  <a:srgbClr val="F9F9FE"/>
                </a:highlight>
                <a:latin typeface="-apple-system"/>
              </a:rPr>
              <a:t>Obligaciones del Concesionario.</a:t>
            </a:r>
          </a:p>
          <a:p>
            <a:pPr algn="just">
              <a:buFont typeface="Arial" panose="020B0604020202020204" pitchFamily="34" charset="0"/>
              <a:buChar char="•"/>
            </a:pPr>
            <a:r>
              <a:rPr lang="es-ES" b="1" i="0" dirty="0">
                <a:effectLst/>
                <a:highlight>
                  <a:srgbClr val="F9F9FE"/>
                </a:highlight>
                <a:latin typeface="-apple-system"/>
              </a:rPr>
              <a:t>Capítulo Cuarto: </a:t>
            </a:r>
            <a:r>
              <a:rPr lang="es-ES" b="0" i="0" dirty="0">
                <a:effectLst/>
                <a:highlight>
                  <a:srgbClr val="F9F9FE"/>
                </a:highlight>
                <a:latin typeface="-apple-system"/>
              </a:rPr>
              <a:t>Terminación de la Concesión.</a:t>
            </a:r>
          </a:p>
          <a:p>
            <a:endParaRPr lang="es-ES" dirty="0"/>
          </a:p>
        </p:txBody>
      </p:sp>
    </p:spTree>
    <p:extLst>
      <p:ext uri="{BB962C8B-B14F-4D97-AF65-F5344CB8AC3E}">
        <p14:creationId xmlns:p14="http://schemas.microsoft.com/office/powerpoint/2010/main" val="1754989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4E03D4-990D-789C-48E8-A50E337DA119}"/>
              </a:ext>
            </a:extLst>
          </p:cNvPr>
          <p:cNvSpPr>
            <a:spLocks noGrp="1"/>
          </p:cNvSpPr>
          <p:nvPr>
            <p:ph type="title"/>
          </p:nvPr>
        </p:nvSpPr>
        <p:spPr>
          <a:xfrm>
            <a:off x="1006151" y="934292"/>
            <a:ext cx="7223449" cy="1034467"/>
          </a:xfrm>
        </p:spPr>
        <p:txBody>
          <a:bodyPr>
            <a:normAutofit fontScale="90000"/>
          </a:bodyPr>
          <a:lstStyle/>
          <a:p>
            <a:r>
              <a:rPr lang="es-ES" sz="2800" b="1" dirty="0"/>
              <a:t>Capitulo Primero - </a:t>
            </a:r>
            <a:r>
              <a:rPr lang="es-ES" sz="2800" b="1" i="0" dirty="0">
                <a:effectLst/>
                <a:highlight>
                  <a:srgbClr val="F9F9FE"/>
                </a:highlight>
                <a:latin typeface="-apple-system"/>
              </a:rPr>
              <a:t>Exclusividad - Acceso Abierto.</a:t>
            </a:r>
            <a:br>
              <a:rPr lang="es-ES" b="1" i="0" dirty="0">
                <a:effectLst/>
                <a:highlight>
                  <a:srgbClr val="F9F9FE"/>
                </a:highlight>
                <a:latin typeface="-apple-system"/>
              </a:rPr>
            </a:br>
            <a:endParaRPr lang="es-ES" dirty="0"/>
          </a:p>
        </p:txBody>
      </p:sp>
      <p:sp>
        <p:nvSpPr>
          <p:cNvPr id="3" name="Marcador de contenido 2">
            <a:extLst>
              <a:ext uri="{FF2B5EF4-FFF2-40B4-BE49-F238E27FC236}">
                <a16:creationId xmlns:a16="http://schemas.microsoft.com/office/drawing/2014/main" id="{80A1E466-2E24-3331-CF52-3356B9E02348}"/>
              </a:ext>
            </a:extLst>
          </p:cNvPr>
          <p:cNvSpPr>
            <a:spLocks noGrp="1"/>
          </p:cNvSpPr>
          <p:nvPr>
            <p:ph idx="1"/>
          </p:nvPr>
        </p:nvSpPr>
        <p:spPr/>
        <p:txBody>
          <a:bodyPr/>
          <a:lstStyle/>
          <a:p>
            <a:pPr algn="just"/>
            <a:r>
              <a:rPr lang="es-ES" b="0" i="0" dirty="0">
                <a:effectLst/>
                <a:highlight>
                  <a:srgbClr val="F9F9FE"/>
                </a:highlight>
                <a:latin typeface="-apple-system"/>
              </a:rPr>
              <a:t>Este capítulo establece las condiciones bajo las cuales se otorgan concesiones exclusivas para la distribución de gas natural y las disposiciones relacionadas con el acceso abierto a la infraestructura de distribución</a:t>
            </a:r>
          </a:p>
          <a:p>
            <a:pPr marL="0" indent="0" algn="just">
              <a:buNone/>
            </a:pPr>
            <a:endParaRPr lang="es-ES" b="0" i="0" dirty="0">
              <a:effectLst/>
              <a:highlight>
                <a:srgbClr val="F9F9FE"/>
              </a:highlight>
              <a:latin typeface="-apple-system"/>
            </a:endParaRPr>
          </a:p>
          <a:p>
            <a:pPr marL="0" indent="0" algn="just">
              <a:buNone/>
            </a:pPr>
            <a:r>
              <a:rPr lang="es-ES" b="1" dirty="0">
                <a:highlight>
                  <a:srgbClr val="F9F9FE"/>
                </a:highlight>
                <a:latin typeface="-apple-system"/>
              </a:rPr>
              <a:t> C</a:t>
            </a:r>
            <a:r>
              <a:rPr lang="es-ES" b="1" i="0" dirty="0">
                <a:effectLst/>
                <a:highlight>
                  <a:srgbClr val="F9F9FE"/>
                </a:highlight>
                <a:latin typeface="-apple-system"/>
              </a:rPr>
              <a:t>apítulo Segundo</a:t>
            </a:r>
            <a:r>
              <a:rPr lang="es-ES" b="0" i="0" dirty="0">
                <a:effectLst/>
                <a:highlight>
                  <a:srgbClr val="F9F9FE"/>
                </a:highlight>
                <a:latin typeface="-apple-system"/>
              </a:rPr>
              <a:t>: Otorgamiento de la Concesión.</a:t>
            </a:r>
          </a:p>
          <a:p>
            <a:pPr algn="just"/>
            <a:r>
              <a:rPr lang="es-ES" b="0" i="0" dirty="0">
                <a:effectLst/>
                <a:highlight>
                  <a:srgbClr val="F9F9FE"/>
                </a:highlight>
                <a:latin typeface="-apple-system"/>
              </a:rPr>
              <a:t>Aquí se detallan los procedimientos y requisitos necesarios para la obtención de una concesión de distribución, incluyendo la documentación que debe presentarse y los criterios de evaluación</a:t>
            </a:r>
            <a:endParaRPr lang="es-ES" dirty="0"/>
          </a:p>
        </p:txBody>
      </p:sp>
    </p:spTree>
    <p:extLst>
      <p:ext uri="{BB962C8B-B14F-4D97-AF65-F5344CB8AC3E}">
        <p14:creationId xmlns:p14="http://schemas.microsoft.com/office/powerpoint/2010/main" val="2024092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A59C039-967B-0BEC-3770-A1F08E9A98F2}"/>
              </a:ext>
            </a:extLst>
          </p:cNvPr>
          <p:cNvSpPr>
            <a:spLocks noGrp="1"/>
          </p:cNvSpPr>
          <p:nvPr>
            <p:ph idx="1"/>
          </p:nvPr>
        </p:nvSpPr>
        <p:spPr>
          <a:xfrm>
            <a:off x="716902" y="774442"/>
            <a:ext cx="10515600" cy="5775648"/>
          </a:xfrm>
        </p:spPr>
        <p:txBody>
          <a:bodyPr>
            <a:normAutofit fontScale="92500" lnSpcReduction="10000"/>
          </a:bodyPr>
          <a:lstStyle/>
          <a:p>
            <a:pPr marL="0" indent="0">
              <a:buNone/>
            </a:pPr>
            <a:r>
              <a:rPr lang="es-ES" b="1" i="0" dirty="0">
                <a:effectLst/>
                <a:highlight>
                  <a:srgbClr val="F9F9FE"/>
                </a:highlight>
                <a:latin typeface="-apple-system"/>
              </a:rPr>
              <a:t>Capítulo Tercero: </a:t>
            </a:r>
            <a:r>
              <a:rPr lang="es-ES" b="0" i="0" dirty="0">
                <a:effectLst/>
                <a:highlight>
                  <a:srgbClr val="F9F9FE"/>
                </a:highlight>
                <a:latin typeface="-apple-system"/>
              </a:rPr>
              <a:t>Obligaciones del Concesionario.</a:t>
            </a:r>
          </a:p>
          <a:p>
            <a:pPr marL="0" indent="0">
              <a:buNone/>
            </a:pPr>
            <a:endParaRPr lang="es-ES" dirty="0"/>
          </a:p>
          <a:p>
            <a:pPr algn="just"/>
            <a:r>
              <a:rPr lang="es-ES" b="0" i="0" dirty="0">
                <a:effectLst/>
                <a:highlight>
                  <a:srgbClr val="F9F9FE"/>
                </a:highlight>
                <a:latin typeface="-apple-system"/>
              </a:rPr>
              <a:t>Este capítulo especifica las responsabilidades y obligaciones que deben cumplir los concesionarios en la prestación del servicio de distribución de gas natural, incluyendo aspectos técnicos, de seguridad y de atención al consumidor.</a:t>
            </a:r>
          </a:p>
          <a:p>
            <a:pPr marL="0" indent="0" algn="just">
              <a:buNone/>
            </a:pPr>
            <a:endParaRPr lang="es-ES" b="0" i="0" dirty="0">
              <a:effectLst/>
              <a:highlight>
                <a:srgbClr val="F9F9FE"/>
              </a:highlight>
              <a:latin typeface="-apple-system"/>
            </a:endParaRPr>
          </a:p>
          <a:p>
            <a:pPr marL="0" indent="0">
              <a:buNone/>
            </a:pPr>
            <a:r>
              <a:rPr lang="es-ES" b="1" i="0" dirty="0">
                <a:effectLst/>
                <a:highlight>
                  <a:srgbClr val="F9F9FE"/>
                </a:highlight>
                <a:latin typeface="-apple-system"/>
              </a:rPr>
              <a:t>Capítulo Cuarto: </a:t>
            </a:r>
            <a:r>
              <a:rPr lang="es-ES" b="0" i="0" dirty="0">
                <a:effectLst/>
                <a:highlight>
                  <a:srgbClr val="F9F9FE"/>
                </a:highlight>
                <a:latin typeface="-apple-system"/>
              </a:rPr>
              <a:t>Terminación de la Concesión.</a:t>
            </a:r>
          </a:p>
          <a:p>
            <a:pPr marL="0" indent="0">
              <a:buNone/>
            </a:pPr>
            <a:endParaRPr lang="es-ES" b="0" i="0" dirty="0">
              <a:effectLst/>
              <a:highlight>
                <a:srgbClr val="F9F9FE"/>
              </a:highlight>
              <a:latin typeface="-apple-system"/>
            </a:endParaRPr>
          </a:p>
          <a:p>
            <a:pPr algn="just"/>
            <a:r>
              <a:rPr lang="es-ES" b="0" i="0" dirty="0">
                <a:effectLst/>
                <a:highlight>
                  <a:srgbClr val="F9F9FE"/>
                </a:highlight>
                <a:latin typeface="-apple-system"/>
              </a:rPr>
              <a:t>Se abordan las condiciones y procedimientos bajo los cuales puede terminarse una concesión de distribución, así como las consecuencias de dicha terminación para el concesionario y los consumidores.</a:t>
            </a:r>
          </a:p>
          <a:p>
            <a:pPr algn="just"/>
            <a:r>
              <a:rPr lang="es-ES" b="0" i="0" dirty="0">
                <a:effectLst/>
                <a:highlight>
                  <a:srgbClr val="F9F9FE"/>
                </a:highlight>
                <a:latin typeface="-apple-system"/>
              </a:rPr>
              <a:t>Estos capítulos regulan de manera integral el marco de concesiones para la distribución de gas natural, asegurando tanto la legalidad como la eficiencia en el servicio</a:t>
            </a:r>
          </a:p>
          <a:p>
            <a:pPr algn="just"/>
            <a:endParaRPr lang="es-ES" b="0" i="0" dirty="0">
              <a:effectLst/>
              <a:highlight>
                <a:srgbClr val="F9F9FE"/>
              </a:highlight>
              <a:latin typeface="-apple-system"/>
            </a:endParaRPr>
          </a:p>
          <a:p>
            <a:endParaRPr lang="es-ES" dirty="0"/>
          </a:p>
        </p:txBody>
      </p:sp>
    </p:spTree>
    <p:extLst>
      <p:ext uri="{BB962C8B-B14F-4D97-AF65-F5344CB8AC3E}">
        <p14:creationId xmlns:p14="http://schemas.microsoft.com/office/powerpoint/2010/main" val="549904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487A7C7-897E-E049-FFE3-1E8C309927BB}"/>
              </a:ext>
            </a:extLst>
          </p:cNvPr>
          <p:cNvSpPr>
            <a:spLocks noGrp="1"/>
          </p:cNvSpPr>
          <p:nvPr>
            <p:ph idx="1"/>
          </p:nvPr>
        </p:nvSpPr>
        <p:spPr>
          <a:xfrm>
            <a:off x="912067" y="802433"/>
            <a:ext cx="10367865" cy="5691673"/>
          </a:xfrm>
        </p:spPr>
        <p:txBody>
          <a:bodyPr>
            <a:normAutofit/>
          </a:bodyPr>
          <a:lstStyle/>
          <a:p>
            <a:r>
              <a:rPr lang="es-ES" b="1" dirty="0"/>
              <a:t>TITULO III- SERVICION DE DISTRIBUCION</a:t>
            </a:r>
          </a:p>
          <a:p>
            <a:pPr marL="0" indent="0">
              <a:buNone/>
            </a:pPr>
            <a:endParaRPr lang="es-ES" b="1" dirty="0"/>
          </a:p>
          <a:p>
            <a:pPr algn="just"/>
            <a:r>
              <a:rPr lang="es-ES" dirty="0">
                <a:highlight>
                  <a:srgbClr val="F9F9FE"/>
                </a:highlight>
                <a:latin typeface="-apple-system"/>
              </a:rPr>
              <a:t>S</a:t>
            </a:r>
            <a:r>
              <a:rPr lang="es-ES" b="0" i="0" dirty="0">
                <a:effectLst/>
                <a:highlight>
                  <a:srgbClr val="F9F9FE"/>
                </a:highlight>
                <a:latin typeface="-apple-system"/>
              </a:rPr>
              <a:t>e centra en la prestación efectiva del servicio de distribución de gas natural. Se establecen requisitos para las instalaciones y obras en vías públicas, así como procedimientos de fiscalización para asegurar el cumplimiento de las normativas.</a:t>
            </a:r>
          </a:p>
          <a:p>
            <a:pPr marL="0" indent="0">
              <a:buNone/>
            </a:pPr>
            <a:endParaRPr lang="es-ES" dirty="0"/>
          </a:p>
        </p:txBody>
      </p:sp>
    </p:spTree>
    <p:extLst>
      <p:ext uri="{BB962C8B-B14F-4D97-AF65-F5344CB8AC3E}">
        <p14:creationId xmlns:p14="http://schemas.microsoft.com/office/powerpoint/2010/main" val="299291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F7B5B6E-566A-960F-3290-35B18C71274E}"/>
              </a:ext>
            </a:extLst>
          </p:cNvPr>
          <p:cNvSpPr>
            <a:spLocks noGrp="1"/>
          </p:cNvSpPr>
          <p:nvPr>
            <p:ph idx="1"/>
          </p:nvPr>
        </p:nvSpPr>
        <p:spPr>
          <a:xfrm>
            <a:off x="838200" y="1259634"/>
            <a:ext cx="10515600" cy="4917330"/>
          </a:xfrm>
        </p:spPr>
        <p:txBody>
          <a:bodyPr>
            <a:normAutofit fontScale="92500" lnSpcReduction="10000"/>
          </a:bodyPr>
          <a:lstStyle/>
          <a:p>
            <a:pPr marL="0" indent="0">
              <a:buNone/>
            </a:pPr>
            <a:r>
              <a:rPr lang="es-ES" sz="3000" b="1" i="0" dirty="0">
                <a:effectLst/>
                <a:highlight>
                  <a:srgbClr val="F9F9FE"/>
                </a:highlight>
                <a:latin typeface="-apple-system"/>
              </a:rPr>
              <a:t>Capítulo Primero</a:t>
            </a:r>
            <a:r>
              <a:rPr lang="es-ES" b="1" i="0" dirty="0">
                <a:effectLst/>
                <a:highlight>
                  <a:srgbClr val="F9F9FE"/>
                </a:highlight>
                <a:latin typeface="-apple-system"/>
              </a:rPr>
              <a:t>: Prestación del Servicio de Distribución</a:t>
            </a:r>
          </a:p>
          <a:p>
            <a:pPr marL="0" indent="0">
              <a:buNone/>
            </a:pPr>
            <a:endParaRPr lang="es-ES" b="1" i="0" dirty="0">
              <a:effectLst/>
              <a:highlight>
                <a:srgbClr val="F9F9FE"/>
              </a:highlight>
              <a:latin typeface="-apple-system"/>
            </a:endParaRPr>
          </a:p>
          <a:p>
            <a:pPr algn="l">
              <a:buFont typeface="Arial" panose="020B0604020202020204" pitchFamily="34" charset="0"/>
              <a:buChar char="•"/>
            </a:pPr>
            <a:r>
              <a:rPr lang="es-ES" b="1" i="0" dirty="0">
                <a:effectLst/>
                <a:highlight>
                  <a:srgbClr val="F9F9FE"/>
                </a:highlight>
                <a:latin typeface="-apple-system"/>
              </a:rPr>
              <a:t>Objetivo: </a:t>
            </a:r>
            <a:r>
              <a:rPr lang="es-ES" b="0" i="0" dirty="0">
                <a:effectLst/>
                <a:highlight>
                  <a:srgbClr val="F9F9FE"/>
                </a:highlight>
                <a:latin typeface="-apple-system"/>
              </a:rPr>
              <a:t>Este capítulo establece las condiciones bajo las cuales se debe prestar el servicio de distribución de gas natural a los consumidores.</a:t>
            </a:r>
          </a:p>
          <a:p>
            <a:pPr algn="l">
              <a:buFont typeface="Arial" panose="020B0604020202020204" pitchFamily="34" charset="0"/>
              <a:buChar char="•"/>
            </a:pPr>
            <a:r>
              <a:rPr lang="es-ES" b="1" i="0" dirty="0">
                <a:effectLst/>
                <a:highlight>
                  <a:srgbClr val="F9F9FE"/>
                </a:highlight>
                <a:latin typeface="-apple-system"/>
              </a:rPr>
              <a:t>Obligaciones del Concesionario: </a:t>
            </a:r>
            <a:r>
              <a:rPr lang="es-ES" b="0" i="0" dirty="0">
                <a:effectLst/>
                <a:highlight>
                  <a:srgbClr val="F9F9FE"/>
                </a:highlight>
                <a:latin typeface="-apple-system"/>
              </a:rPr>
              <a:t>Se detallan las responsabilidades del concesionario, que incluyen garantizar la continuidad y calidad del suministro, así como cumplir con los estándares de seguridad y eficiencia.</a:t>
            </a:r>
          </a:p>
          <a:p>
            <a:pPr algn="l">
              <a:buFont typeface="Arial" panose="020B0604020202020204" pitchFamily="34" charset="0"/>
              <a:buChar char="•"/>
            </a:pPr>
            <a:r>
              <a:rPr lang="es-ES" b="1" i="0" dirty="0">
                <a:effectLst/>
                <a:highlight>
                  <a:srgbClr val="F9F9FE"/>
                </a:highlight>
                <a:latin typeface="-apple-system"/>
              </a:rPr>
              <a:t>Atención al Consumidor</a:t>
            </a:r>
            <a:r>
              <a:rPr lang="es-ES" b="0" i="0" dirty="0">
                <a:effectLst/>
                <a:highlight>
                  <a:srgbClr val="F9F9FE"/>
                </a:highlight>
                <a:latin typeface="-apple-system"/>
              </a:rPr>
              <a:t>: Se establecen disposiciones sobre la atención al cliente, incluyendo la obligación de informar a los consumidores sobre sus derechos y los procedimientos para presentar quejas o reclamos.</a:t>
            </a:r>
          </a:p>
          <a:p>
            <a:pPr algn="l">
              <a:buFont typeface="Arial" panose="020B0604020202020204" pitchFamily="34" charset="0"/>
              <a:buChar char="•"/>
            </a:pPr>
            <a:r>
              <a:rPr lang="es-ES" b="1" i="0" dirty="0">
                <a:effectLst/>
                <a:highlight>
                  <a:srgbClr val="F9F9FE"/>
                </a:highlight>
                <a:latin typeface="-apple-system"/>
              </a:rPr>
              <a:t>Condiciones de Suministro</a:t>
            </a:r>
            <a:r>
              <a:rPr lang="es-ES" b="0" i="0" dirty="0">
                <a:effectLst/>
                <a:highlight>
                  <a:srgbClr val="F9F9FE"/>
                </a:highlight>
                <a:latin typeface="-apple-system"/>
              </a:rPr>
              <a:t>: Se especifican las características del suministro, como la capacidad contratada, el plazo de vigencia del contrato y las tarifas aplicables.</a:t>
            </a:r>
          </a:p>
          <a:p>
            <a:endParaRPr lang="es-ES" dirty="0"/>
          </a:p>
        </p:txBody>
      </p:sp>
    </p:spTree>
    <p:extLst>
      <p:ext uri="{BB962C8B-B14F-4D97-AF65-F5344CB8AC3E}">
        <p14:creationId xmlns:p14="http://schemas.microsoft.com/office/powerpoint/2010/main" val="33986082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C3399D5-F650-B07A-B7F8-675D577ED12A}"/>
              </a:ext>
            </a:extLst>
          </p:cNvPr>
          <p:cNvSpPr>
            <a:spLocks noGrp="1"/>
          </p:cNvSpPr>
          <p:nvPr>
            <p:ph idx="1"/>
          </p:nvPr>
        </p:nvSpPr>
        <p:spPr>
          <a:xfrm>
            <a:off x="838200" y="1082352"/>
            <a:ext cx="10515600" cy="5094612"/>
          </a:xfrm>
        </p:spPr>
        <p:txBody>
          <a:bodyPr>
            <a:normAutofit lnSpcReduction="10000"/>
          </a:bodyPr>
          <a:lstStyle/>
          <a:p>
            <a:pPr marL="0" indent="0" algn="l">
              <a:buNone/>
            </a:pPr>
            <a:r>
              <a:rPr lang="es-ES" b="1" i="0" dirty="0">
                <a:effectLst/>
                <a:highlight>
                  <a:srgbClr val="F9F9FE"/>
                </a:highlight>
                <a:latin typeface="-apple-system"/>
              </a:rPr>
              <a:t>Capítulo Segundo: Áreas para Instalaciones y Obras en Vías Públicas</a:t>
            </a:r>
          </a:p>
          <a:p>
            <a:pPr marL="0" indent="0" algn="l">
              <a:buNone/>
            </a:pPr>
            <a:endParaRPr lang="es-ES" b="1" i="0" dirty="0">
              <a:effectLst/>
              <a:highlight>
                <a:srgbClr val="F9F9FE"/>
              </a:highlight>
              <a:latin typeface="-apple-system"/>
            </a:endParaRPr>
          </a:p>
          <a:p>
            <a:pPr algn="l">
              <a:buFont typeface="Arial" panose="020B0604020202020204" pitchFamily="34" charset="0"/>
              <a:buChar char="•"/>
            </a:pPr>
            <a:r>
              <a:rPr lang="es-ES" b="1" i="0" dirty="0">
                <a:effectLst/>
                <a:highlight>
                  <a:srgbClr val="F9F9FE"/>
                </a:highlight>
                <a:latin typeface="-apple-system"/>
              </a:rPr>
              <a:t>Uso de Espacios Públicos</a:t>
            </a:r>
            <a:r>
              <a:rPr lang="es-ES" b="0" i="0" dirty="0">
                <a:effectLst/>
                <a:highlight>
                  <a:srgbClr val="F9F9FE"/>
                </a:highlight>
                <a:latin typeface="-apple-system"/>
              </a:rPr>
              <a:t>: Este capítulo regula el uso de bienes públicos y la realización de obras necesarias para la instalación de la infraestructura de distribución de gas natural.</a:t>
            </a:r>
          </a:p>
          <a:p>
            <a:pPr algn="l">
              <a:buFont typeface="Arial" panose="020B0604020202020204" pitchFamily="34" charset="0"/>
              <a:buChar char="•"/>
            </a:pPr>
            <a:r>
              <a:rPr lang="es-ES" b="1" i="0" dirty="0">
                <a:effectLst/>
                <a:highlight>
                  <a:srgbClr val="F9F9FE"/>
                </a:highlight>
                <a:latin typeface="-apple-system"/>
              </a:rPr>
              <a:t>Permisos y Autorizaciones</a:t>
            </a:r>
            <a:r>
              <a:rPr lang="es-ES" b="0" i="0" dirty="0">
                <a:effectLst/>
                <a:highlight>
                  <a:srgbClr val="F9F9FE"/>
                </a:highlight>
                <a:latin typeface="-apple-system"/>
              </a:rPr>
              <a:t>: Se establecen los procedimientos que deben seguir los concesionarios para obtener los permisos necesarios para realizar obras en vías públicas, asegurando que se respeten las normativas locales y se minimicen las molestias a la comunidad.</a:t>
            </a:r>
          </a:p>
          <a:p>
            <a:pPr algn="l">
              <a:buFont typeface="Arial" panose="020B0604020202020204" pitchFamily="34" charset="0"/>
              <a:buChar char="•"/>
            </a:pPr>
            <a:r>
              <a:rPr lang="es-ES" b="1" i="0" dirty="0">
                <a:effectLst/>
                <a:highlight>
                  <a:srgbClr val="F9F9FE"/>
                </a:highlight>
                <a:latin typeface="-apple-system"/>
              </a:rPr>
              <a:t>Responsabilidades en Obras</a:t>
            </a:r>
            <a:r>
              <a:rPr lang="es-ES" b="0" i="0" dirty="0">
                <a:effectLst/>
                <a:highlight>
                  <a:srgbClr val="F9F9FE"/>
                </a:highlight>
                <a:latin typeface="-apple-system"/>
              </a:rPr>
              <a:t>: Se detallan las responsabilidades del concesionario en relación con la ejecución de obras, incluyendo la obligación de restaurar el espacio público una vez finalizadas las obras.</a:t>
            </a:r>
          </a:p>
          <a:p>
            <a:endParaRPr lang="es-ES" dirty="0"/>
          </a:p>
        </p:txBody>
      </p:sp>
    </p:spTree>
    <p:extLst>
      <p:ext uri="{BB962C8B-B14F-4D97-AF65-F5344CB8AC3E}">
        <p14:creationId xmlns:p14="http://schemas.microsoft.com/office/powerpoint/2010/main" val="30493954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BD526E-6551-0C32-958C-A725400FA07F}"/>
              </a:ext>
            </a:extLst>
          </p:cNvPr>
          <p:cNvSpPr>
            <a:spLocks noGrp="1"/>
          </p:cNvSpPr>
          <p:nvPr>
            <p:ph idx="1"/>
          </p:nvPr>
        </p:nvSpPr>
        <p:spPr>
          <a:xfrm>
            <a:off x="838200" y="942392"/>
            <a:ext cx="10515600" cy="5309118"/>
          </a:xfrm>
        </p:spPr>
        <p:txBody>
          <a:bodyPr>
            <a:normAutofit lnSpcReduction="10000"/>
          </a:bodyPr>
          <a:lstStyle/>
          <a:p>
            <a:pPr marL="0" indent="0" algn="l">
              <a:buNone/>
            </a:pPr>
            <a:r>
              <a:rPr lang="es-ES" b="1" i="0" dirty="0">
                <a:effectLst/>
                <a:highlight>
                  <a:srgbClr val="F9F9FE"/>
                </a:highlight>
                <a:latin typeface="-apple-system"/>
              </a:rPr>
              <a:t>Capítulo Tercero: Fiscalización</a:t>
            </a:r>
          </a:p>
          <a:p>
            <a:pPr marL="0" indent="0" algn="l">
              <a:buNone/>
            </a:pPr>
            <a:endParaRPr lang="es-ES" b="1" i="0" dirty="0">
              <a:effectLst/>
              <a:highlight>
                <a:srgbClr val="F9F9FE"/>
              </a:highlight>
              <a:latin typeface="-apple-system"/>
            </a:endParaRPr>
          </a:p>
          <a:p>
            <a:pPr algn="l">
              <a:buFont typeface="Arial" panose="020B0604020202020204" pitchFamily="34" charset="0"/>
              <a:buChar char="•"/>
            </a:pPr>
            <a:r>
              <a:rPr lang="es-ES" b="1" i="0" dirty="0">
                <a:effectLst/>
                <a:highlight>
                  <a:srgbClr val="F9F9FE"/>
                </a:highlight>
                <a:latin typeface="-apple-system"/>
              </a:rPr>
              <a:t>Supervisión del Servicio</a:t>
            </a:r>
            <a:r>
              <a:rPr lang="es-ES" b="0" i="0" dirty="0">
                <a:effectLst/>
                <a:highlight>
                  <a:srgbClr val="F9F9FE"/>
                </a:highlight>
                <a:latin typeface="-apple-system"/>
              </a:rPr>
              <a:t>: Este capítulo aborda las funciones de las autoridades competentes en la supervisión y fiscalización del servicio de distribución de gas natural.</a:t>
            </a:r>
          </a:p>
          <a:p>
            <a:pPr algn="l">
              <a:buFont typeface="Arial" panose="020B0604020202020204" pitchFamily="34" charset="0"/>
              <a:buChar char="•"/>
            </a:pPr>
            <a:r>
              <a:rPr lang="es-ES" b="1" i="0" dirty="0">
                <a:effectLst/>
                <a:highlight>
                  <a:srgbClr val="F9F9FE"/>
                </a:highlight>
                <a:latin typeface="-apple-system"/>
              </a:rPr>
              <a:t>Inspecciones y Auditorías</a:t>
            </a:r>
            <a:r>
              <a:rPr lang="es-ES" b="0" i="0" dirty="0">
                <a:effectLst/>
                <a:highlight>
                  <a:srgbClr val="F9F9FE"/>
                </a:highlight>
                <a:latin typeface="-apple-system"/>
              </a:rPr>
              <a:t>: Se establecen las disposiciones para la realización de inspecciones y auditorías a los concesionarios, con el fin de verificar el cumplimiento de las normativas y estándares establecidos en el reglamento.</a:t>
            </a:r>
          </a:p>
          <a:p>
            <a:pPr algn="l">
              <a:buFont typeface="Arial" panose="020B0604020202020204" pitchFamily="34" charset="0"/>
              <a:buChar char="•"/>
            </a:pPr>
            <a:r>
              <a:rPr lang="es-ES" b="1" i="0" dirty="0">
                <a:effectLst/>
                <a:highlight>
                  <a:srgbClr val="F9F9FE"/>
                </a:highlight>
                <a:latin typeface="-apple-system"/>
              </a:rPr>
              <a:t>Sanciones</a:t>
            </a:r>
            <a:r>
              <a:rPr lang="es-ES" b="0" i="0" dirty="0">
                <a:effectLst/>
                <a:highlight>
                  <a:srgbClr val="F9F9FE"/>
                </a:highlight>
                <a:latin typeface="-apple-system"/>
              </a:rPr>
              <a:t>: Se detallan las posibles sanciones que pueden imponerse a los concesionarios en caso de incumplimiento de las disposiciones del reglamento, así como los procedimientos para la imposición de dichas sanciones</a:t>
            </a:r>
          </a:p>
          <a:p>
            <a:endParaRPr lang="es-ES" dirty="0"/>
          </a:p>
        </p:txBody>
      </p:sp>
    </p:spTree>
    <p:extLst>
      <p:ext uri="{BB962C8B-B14F-4D97-AF65-F5344CB8AC3E}">
        <p14:creationId xmlns:p14="http://schemas.microsoft.com/office/powerpoint/2010/main" val="2423523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4BF6357F-EE88-C439-7EAB-8E314E069198}"/>
              </a:ext>
            </a:extLst>
          </p:cNvPr>
          <p:cNvSpPr>
            <a:spLocks noGrp="1"/>
          </p:cNvSpPr>
          <p:nvPr>
            <p:ph idx="1"/>
          </p:nvPr>
        </p:nvSpPr>
        <p:spPr>
          <a:xfrm>
            <a:off x="781439" y="1788303"/>
            <a:ext cx="10629122" cy="2727714"/>
          </a:xfrm>
        </p:spPr>
        <p:txBody>
          <a:bodyPr/>
          <a:lstStyle/>
          <a:p>
            <a:pPr algn="just"/>
            <a:r>
              <a:rPr lang="es-ES" b="0" i="0" dirty="0">
                <a:effectLst/>
                <a:highlight>
                  <a:srgbClr val="F9F9FE"/>
                </a:highlight>
                <a:latin typeface="-apple-system"/>
              </a:rPr>
              <a:t>Esta parte es  fundamental para garantizar que el servicio de distribución de gas natural se preste de manera eficiente, segura y conforme a las normativas vigentes. A través de sus capítulos, se busca proteger los derechos de los consumidores, asegurar la calidad del servicio y establecer un marco claro para la fiscalización y supervisión de las actividades de los concesionarios.</a:t>
            </a:r>
            <a:endParaRPr lang="es-ES" dirty="0"/>
          </a:p>
        </p:txBody>
      </p:sp>
    </p:spTree>
    <p:extLst>
      <p:ext uri="{BB962C8B-B14F-4D97-AF65-F5344CB8AC3E}">
        <p14:creationId xmlns:p14="http://schemas.microsoft.com/office/powerpoint/2010/main" val="2569112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9742FD-DFDF-4D19-9BD2-53B34CD0489D}"/>
              </a:ext>
            </a:extLst>
          </p:cNvPr>
          <p:cNvSpPr>
            <a:spLocks noGrp="1"/>
          </p:cNvSpPr>
          <p:nvPr>
            <p:ph type="title"/>
          </p:nvPr>
        </p:nvSpPr>
        <p:spPr/>
        <p:txBody>
          <a:bodyPr/>
          <a:lstStyle/>
          <a:p>
            <a:r>
              <a:rPr lang="es-ES" b="0" i="0" dirty="0">
                <a:effectLst/>
                <a:highlight>
                  <a:srgbClr val="F9F9FE"/>
                </a:highlight>
                <a:latin typeface="-apple-system"/>
              </a:rPr>
              <a:t> </a:t>
            </a:r>
            <a:r>
              <a:rPr lang="es-ES" sz="3200" b="1" i="0" dirty="0">
                <a:effectLst/>
                <a:highlight>
                  <a:srgbClr val="F9F9FE"/>
                </a:highlight>
                <a:latin typeface="-apple-system"/>
              </a:rPr>
              <a:t>Título IV: Uso de Bienes Públicos y de Terceros</a:t>
            </a:r>
            <a:endParaRPr lang="es-ES" dirty="0"/>
          </a:p>
        </p:txBody>
      </p:sp>
      <p:sp>
        <p:nvSpPr>
          <p:cNvPr id="3" name="Marcador de contenido 2">
            <a:extLst>
              <a:ext uri="{FF2B5EF4-FFF2-40B4-BE49-F238E27FC236}">
                <a16:creationId xmlns:a16="http://schemas.microsoft.com/office/drawing/2014/main" id="{E2C0488C-7244-F8D6-827E-E06019CDD35A}"/>
              </a:ext>
            </a:extLst>
          </p:cNvPr>
          <p:cNvSpPr>
            <a:spLocks noGrp="1"/>
          </p:cNvSpPr>
          <p:nvPr>
            <p:ph idx="1"/>
          </p:nvPr>
        </p:nvSpPr>
        <p:spPr>
          <a:xfrm>
            <a:off x="838199" y="1902831"/>
            <a:ext cx="10638453" cy="4124746"/>
          </a:xfrm>
        </p:spPr>
        <p:txBody>
          <a:bodyPr/>
          <a:lstStyle/>
          <a:p>
            <a:pPr algn="just"/>
            <a:r>
              <a:rPr lang="es-ES" b="0" i="0" dirty="0">
                <a:effectLst/>
                <a:highlight>
                  <a:srgbClr val="F9F9FE"/>
                </a:highlight>
                <a:latin typeface="-apple-system"/>
              </a:rPr>
              <a:t>Regula las condiciones bajo las cuales los concesionarios pueden hacer uso de infraestructuras públicas para la distribución de gas natural, estableciendo derechos y obligaciones tanto para los concesionarios como para el Estado.</a:t>
            </a:r>
          </a:p>
          <a:p>
            <a:pPr algn="just"/>
            <a:r>
              <a:rPr lang="es-ES" dirty="0">
                <a:highlight>
                  <a:srgbClr val="F9F9FE"/>
                </a:highlight>
                <a:latin typeface="-apple-system"/>
              </a:rPr>
              <a:t>E</a:t>
            </a:r>
            <a:r>
              <a:rPr lang="es-ES" b="0" i="0" dirty="0">
                <a:effectLst/>
                <a:highlight>
                  <a:srgbClr val="F9F9FE"/>
                </a:highlight>
                <a:latin typeface="-apple-system"/>
              </a:rPr>
              <a:t>stablecer un marco normativo que permita a los concesionarios gestionar el uso de bienes públicos y de terceros de manera legal y ordenada, garantizando que se respeten los derechos de propiedad y se minimicen las afectaciones a la comunidad y al medio ambiente</a:t>
            </a:r>
            <a:endParaRPr lang="es-ES" dirty="0">
              <a:highlight>
                <a:srgbClr val="F9F9FE"/>
              </a:highlight>
              <a:latin typeface="-apple-system"/>
            </a:endParaRPr>
          </a:p>
        </p:txBody>
      </p:sp>
    </p:spTree>
    <p:extLst>
      <p:ext uri="{BB962C8B-B14F-4D97-AF65-F5344CB8AC3E}">
        <p14:creationId xmlns:p14="http://schemas.microsoft.com/office/powerpoint/2010/main" val="35428658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3EEAAA-FD2F-783B-4FFC-D31AD4EFE0C9}"/>
              </a:ext>
            </a:extLst>
          </p:cNvPr>
          <p:cNvSpPr>
            <a:spLocks noGrp="1"/>
          </p:cNvSpPr>
          <p:nvPr>
            <p:ph type="title"/>
          </p:nvPr>
        </p:nvSpPr>
        <p:spPr/>
        <p:txBody>
          <a:bodyPr>
            <a:normAutofit/>
          </a:bodyPr>
          <a:lstStyle/>
          <a:p>
            <a:r>
              <a:rPr lang="es-ES" sz="2800" dirty="0"/>
              <a:t>ARTICULOS CLAVE</a:t>
            </a:r>
          </a:p>
        </p:txBody>
      </p:sp>
      <p:sp>
        <p:nvSpPr>
          <p:cNvPr id="3" name="Marcador de contenido 2">
            <a:extLst>
              <a:ext uri="{FF2B5EF4-FFF2-40B4-BE49-F238E27FC236}">
                <a16:creationId xmlns:a16="http://schemas.microsoft.com/office/drawing/2014/main" id="{BDEFC7B9-49BB-9841-14F8-48477274CC7A}"/>
              </a:ext>
            </a:extLst>
          </p:cNvPr>
          <p:cNvSpPr>
            <a:spLocks noGrp="1"/>
          </p:cNvSpPr>
          <p:nvPr>
            <p:ph idx="1"/>
          </p:nvPr>
        </p:nvSpPr>
        <p:spPr>
          <a:xfrm>
            <a:off x="838200" y="1825625"/>
            <a:ext cx="10515600" cy="4108644"/>
          </a:xfrm>
        </p:spPr>
        <p:txBody>
          <a:bodyPr/>
          <a:lstStyle/>
          <a:p>
            <a:pPr marL="0" indent="0" algn="l">
              <a:buNone/>
            </a:pPr>
            <a:r>
              <a:rPr lang="es-ES" b="1" i="0" dirty="0">
                <a:effectLst/>
                <a:highlight>
                  <a:srgbClr val="F9F9FE"/>
                </a:highlight>
                <a:latin typeface="-apple-system"/>
              </a:rPr>
              <a:t>Derechos de Uso y Servidumbre</a:t>
            </a:r>
            <a:r>
              <a:rPr lang="es-ES" b="0" i="0" dirty="0">
                <a:effectLst/>
                <a:highlight>
                  <a:srgbClr val="F9F9FE"/>
                </a:highlight>
                <a:latin typeface="-apple-system"/>
              </a:rPr>
              <a:t>:</a:t>
            </a:r>
            <a:br>
              <a:rPr lang="es-ES" b="0" i="0" dirty="0">
                <a:effectLst/>
                <a:highlight>
                  <a:srgbClr val="F9F9FE"/>
                </a:highlight>
                <a:latin typeface="-apple-system"/>
              </a:rPr>
            </a:br>
            <a:endParaRPr lang="es-ES" b="0" i="0" dirty="0">
              <a:effectLst/>
              <a:highlight>
                <a:srgbClr val="F9F9FE"/>
              </a:highlight>
              <a:latin typeface="-apple-system"/>
            </a:endParaRPr>
          </a:p>
          <a:p>
            <a:pPr marL="742950" lvl="1" indent="-285750" algn="just">
              <a:buFont typeface="+mj-lt"/>
              <a:buAutoNum type="arabicPeriod"/>
            </a:pPr>
            <a:r>
              <a:rPr lang="es-ES" b="0" i="0" dirty="0">
                <a:effectLst/>
                <a:highlight>
                  <a:srgbClr val="F9F9FE"/>
                </a:highlight>
                <a:latin typeface="-apple-system"/>
              </a:rPr>
              <a:t>Se establece que los concesionarios tienen derecho a gestionar permisos y derechos de uso sobre bienes públicos, así como a solicitar servidumbres sobre propiedades privadas necesarias para la instalación de sus redes de distribución.</a:t>
            </a:r>
          </a:p>
          <a:p>
            <a:pPr marL="742950" lvl="1" indent="-285750" algn="just">
              <a:buFont typeface="+mj-lt"/>
              <a:buAutoNum type="arabicPeriod"/>
            </a:pPr>
            <a:r>
              <a:rPr lang="es-ES" b="0" i="0" dirty="0">
                <a:effectLst/>
                <a:highlight>
                  <a:srgbClr val="F9F9FE"/>
                </a:highlight>
                <a:latin typeface="-apple-system"/>
              </a:rPr>
              <a:t>Se especifican los procedimientos que deben seguir los concesionarios para obtener estos derechos, asegurando que se cumplan las normativas pertinentes.</a:t>
            </a:r>
          </a:p>
          <a:p>
            <a:endParaRPr lang="es-ES" dirty="0"/>
          </a:p>
        </p:txBody>
      </p:sp>
    </p:spTree>
    <p:extLst>
      <p:ext uri="{BB962C8B-B14F-4D97-AF65-F5344CB8AC3E}">
        <p14:creationId xmlns:p14="http://schemas.microsoft.com/office/powerpoint/2010/main" val="20493726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46A10C8-2CDB-B317-CA52-D476D9021042}"/>
              </a:ext>
            </a:extLst>
          </p:cNvPr>
          <p:cNvSpPr>
            <a:spLocks noGrp="1"/>
          </p:cNvSpPr>
          <p:nvPr>
            <p:ph idx="1"/>
          </p:nvPr>
        </p:nvSpPr>
        <p:spPr>
          <a:xfrm>
            <a:off x="763555" y="1396417"/>
            <a:ext cx="10515600" cy="4351338"/>
          </a:xfrm>
        </p:spPr>
        <p:txBody>
          <a:bodyPr/>
          <a:lstStyle/>
          <a:p>
            <a:pPr marL="0" indent="0" algn="l">
              <a:buNone/>
            </a:pPr>
            <a:r>
              <a:rPr lang="es-ES" b="1" i="0" dirty="0">
                <a:effectLst/>
                <a:highlight>
                  <a:srgbClr val="F9F9FE"/>
                </a:highlight>
                <a:latin typeface="-apple-system"/>
              </a:rPr>
              <a:t>Expropiación</a:t>
            </a:r>
            <a:r>
              <a:rPr lang="es-ES" b="0" i="0" dirty="0">
                <a:effectLst/>
                <a:highlight>
                  <a:srgbClr val="F9F9FE"/>
                </a:highlight>
                <a:latin typeface="-apple-system"/>
              </a:rPr>
              <a:t>:</a:t>
            </a:r>
            <a:br>
              <a:rPr lang="es-ES" b="0" i="0" dirty="0">
                <a:effectLst/>
                <a:highlight>
                  <a:srgbClr val="F9F9FE"/>
                </a:highlight>
                <a:latin typeface="-apple-system"/>
              </a:rPr>
            </a:br>
            <a:endParaRPr lang="es-ES" b="0" i="0" dirty="0">
              <a:effectLst/>
              <a:highlight>
                <a:srgbClr val="F9F9FE"/>
              </a:highlight>
              <a:latin typeface="-apple-system"/>
            </a:endParaRPr>
          </a:p>
          <a:p>
            <a:pPr marL="0" indent="0" algn="l">
              <a:buNone/>
            </a:pPr>
            <a:endParaRPr lang="es-ES" dirty="0">
              <a:highlight>
                <a:srgbClr val="F9F9FE"/>
              </a:highlight>
              <a:latin typeface="-apple-system"/>
            </a:endParaRPr>
          </a:p>
          <a:p>
            <a:pPr marL="0" indent="0" algn="just">
              <a:buNone/>
            </a:pPr>
            <a:r>
              <a:rPr lang="es-ES" b="0" i="0" dirty="0">
                <a:effectLst/>
                <a:highlight>
                  <a:srgbClr val="F9F9FE"/>
                </a:highlight>
                <a:latin typeface="-apple-system"/>
              </a:rPr>
              <a:t>	1.En caso de que no se pueda llegar a un acuerdo con los 	propietarios de los terrenos necesarios, se establece la 	posibilidad de expropiación, siempre respetando los 	procedimientos legales establecidos y garantizando una 	compensación justa a los propietarios afectados</a:t>
            </a:r>
          </a:p>
          <a:p>
            <a:endParaRPr lang="es-ES" dirty="0"/>
          </a:p>
        </p:txBody>
      </p:sp>
    </p:spTree>
    <p:extLst>
      <p:ext uri="{BB962C8B-B14F-4D97-AF65-F5344CB8AC3E}">
        <p14:creationId xmlns:p14="http://schemas.microsoft.com/office/powerpoint/2010/main" val="3559714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8D49283-375A-F464-CAD6-F17CF467BF98}"/>
              </a:ext>
            </a:extLst>
          </p:cNvPr>
          <p:cNvSpPr>
            <a:spLocks noGrp="1"/>
          </p:cNvSpPr>
          <p:nvPr>
            <p:ph idx="1"/>
          </p:nvPr>
        </p:nvSpPr>
        <p:spPr>
          <a:xfrm>
            <a:off x="838200" y="1253331"/>
            <a:ext cx="10515600" cy="4351338"/>
          </a:xfrm>
        </p:spPr>
        <p:txBody>
          <a:bodyPr/>
          <a:lstStyle/>
          <a:p>
            <a:pPr marL="0" indent="0" algn="l">
              <a:buNone/>
            </a:pPr>
            <a:r>
              <a:rPr lang="es-ES" b="1" i="0" dirty="0">
                <a:effectLst/>
                <a:highlight>
                  <a:srgbClr val="F9F9FE"/>
                </a:highlight>
                <a:latin typeface="-apple-system"/>
              </a:rPr>
              <a:t>Uso de Espacios Públicos</a:t>
            </a:r>
            <a:r>
              <a:rPr lang="es-ES" b="0" i="0" dirty="0">
                <a:effectLst/>
                <a:highlight>
                  <a:srgbClr val="F9F9FE"/>
                </a:highlight>
                <a:latin typeface="-apple-system"/>
              </a:rPr>
              <a:t>:</a:t>
            </a:r>
          </a:p>
          <a:p>
            <a:pPr marL="0" indent="0" algn="l">
              <a:buNone/>
            </a:pPr>
            <a:endParaRPr lang="es-ES" b="0" i="0" dirty="0">
              <a:effectLst/>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Se regula el uso de espacios públicos, como calles, plazas y caminos, para la instalación de infraestructuras de distribución de gas natural. Los concesionarios deben obtener los permisos correspondientes y cumplir con las normativas locales.</a:t>
            </a:r>
          </a:p>
          <a:p>
            <a:pPr marL="742950" lvl="1" indent="-285750" algn="l">
              <a:buFont typeface="+mj-lt"/>
              <a:buAutoNum type="arabicPeriod"/>
            </a:pPr>
            <a:r>
              <a:rPr lang="es-ES" b="0" i="0" dirty="0">
                <a:effectLst/>
                <a:highlight>
                  <a:srgbClr val="F9F9FE"/>
                </a:highlight>
                <a:latin typeface="-apple-system"/>
              </a:rPr>
              <a:t>Se establece la obligación de restaurar el espacio público una vez finalizadas las obras, minimizando las molestias a la comunidad.</a:t>
            </a:r>
          </a:p>
          <a:p>
            <a:endParaRPr lang="es-ES" dirty="0"/>
          </a:p>
        </p:txBody>
      </p:sp>
    </p:spTree>
    <p:extLst>
      <p:ext uri="{BB962C8B-B14F-4D97-AF65-F5344CB8AC3E}">
        <p14:creationId xmlns:p14="http://schemas.microsoft.com/office/powerpoint/2010/main" val="2437347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FB3432E-11DD-3895-E1D1-5594B4F90DF3}"/>
              </a:ext>
            </a:extLst>
          </p:cNvPr>
          <p:cNvSpPr>
            <a:spLocks noGrp="1"/>
          </p:cNvSpPr>
          <p:nvPr>
            <p:ph idx="1"/>
          </p:nvPr>
        </p:nvSpPr>
        <p:spPr>
          <a:xfrm>
            <a:off x="838200" y="1253331"/>
            <a:ext cx="10515600" cy="5194122"/>
          </a:xfrm>
        </p:spPr>
        <p:txBody>
          <a:bodyPr>
            <a:normAutofit fontScale="92500" lnSpcReduction="20000"/>
          </a:bodyPr>
          <a:lstStyle/>
          <a:p>
            <a:pPr marL="0" indent="0" algn="l">
              <a:buNone/>
            </a:pPr>
            <a:r>
              <a:rPr lang="es-ES" b="1" i="0" dirty="0">
                <a:effectLst/>
                <a:highlight>
                  <a:srgbClr val="F9F9FE"/>
                </a:highlight>
                <a:latin typeface="-apple-system"/>
              </a:rPr>
              <a:t>Responsabilidades del Concesionario</a:t>
            </a:r>
            <a:r>
              <a:rPr lang="es-ES" b="0" i="0" dirty="0">
                <a:effectLst/>
                <a:highlight>
                  <a:srgbClr val="F9F9FE"/>
                </a:highlight>
                <a:latin typeface="-apple-system"/>
              </a:rPr>
              <a:t>:</a:t>
            </a:r>
            <a:br>
              <a:rPr lang="es-ES" b="0" i="0" dirty="0">
                <a:effectLst/>
                <a:highlight>
                  <a:srgbClr val="F9F9FE"/>
                </a:highlight>
                <a:latin typeface="-apple-system"/>
              </a:rPr>
            </a:br>
            <a:endParaRPr lang="es-ES" b="0" i="0" dirty="0">
              <a:effectLst/>
              <a:highlight>
                <a:srgbClr val="F9F9FE"/>
              </a:highlight>
              <a:latin typeface="-apple-system"/>
            </a:endParaRPr>
          </a:p>
          <a:p>
            <a:pPr marL="742950" lvl="1" indent="-285750" algn="just">
              <a:buFont typeface="+mj-lt"/>
              <a:buAutoNum type="arabicPeriod"/>
            </a:pPr>
            <a:r>
              <a:rPr lang="es-ES" b="0" i="0" dirty="0">
                <a:effectLst/>
                <a:highlight>
                  <a:srgbClr val="F9F9FE"/>
                </a:highlight>
                <a:latin typeface="-apple-system"/>
              </a:rPr>
              <a:t>Se detallan las responsabilidades de los concesionarios en relación con el uso de bienes públicos y de terceros, incluyendo la obligación de respetar los derechos de propiedad y de indemnizar a los propietarios en caso de daños causados durante la instalación o mantenimiento de las infraestructuras.</a:t>
            </a:r>
          </a:p>
          <a:p>
            <a:pPr marL="457200" lvl="1" indent="0" algn="just">
              <a:buNone/>
            </a:pPr>
            <a:endParaRPr lang="es-ES" b="0" i="0" dirty="0">
              <a:effectLst/>
              <a:highlight>
                <a:srgbClr val="F9F9FE"/>
              </a:highlight>
              <a:latin typeface="-apple-system"/>
            </a:endParaRPr>
          </a:p>
          <a:p>
            <a:pPr marL="457200" lvl="1" indent="0" algn="just">
              <a:buNone/>
            </a:pPr>
            <a:endParaRPr lang="es-ES" b="0" i="0" dirty="0">
              <a:effectLst/>
              <a:highlight>
                <a:srgbClr val="F9F9FE"/>
              </a:highlight>
              <a:latin typeface="-apple-system"/>
            </a:endParaRPr>
          </a:p>
          <a:p>
            <a:pPr marL="0" indent="0" algn="l">
              <a:buNone/>
            </a:pPr>
            <a:r>
              <a:rPr lang="es-ES" b="1" i="0" dirty="0">
                <a:effectLst/>
                <a:highlight>
                  <a:srgbClr val="F9F9FE"/>
                </a:highlight>
                <a:latin typeface="-apple-system"/>
              </a:rPr>
              <a:t>Fiscalización y Supervisión</a:t>
            </a:r>
            <a:r>
              <a:rPr lang="es-ES" b="0" i="0" dirty="0">
                <a:effectLst/>
                <a:highlight>
                  <a:srgbClr val="F9F9FE"/>
                </a:highlight>
                <a:latin typeface="-apple-system"/>
              </a:rPr>
              <a:t>:</a:t>
            </a:r>
          </a:p>
          <a:p>
            <a:pPr marL="0" indent="0" algn="l">
              <a:buNone/>
            </a:pPr>
            <a:endParaRPr lang="es-ES" b="0" i="0" dirty="0">
              <a:effectLst/>
              <a:highlight>
                <a:srgbClr val="F9F9FE"/>
              </a:highlight>
              <a:latin typeface="-apple-system"/>
            </a:endParaRPr>
          </a:p>
          <a:p>
            <a:pPr marL="742950" lvl="1" indent="-285750" algn="just">
              <a:buFont typeface="+mj-lt"/>
              <a:buAutoNum type="arabicPeriod"/>
            </a:pPr>
            <a:r>
              <a:rPr lang="es-ES" b="0" i="0" dirty="0">
                <a:effectLst/>
                <a:highlight>
                  <a:srgbClr val="F9F9FE"/>
                </a:highlight>
                <a:latin typeface="-apple-system"/>
              </a:rPr>
              <a:t>Se establece que las autoridades competentes tienen la facultad de supervisar el cumplimiento de las disposiciones relacionadas con el uso de bienes públicos y de terceros, asegurando que los concesionarios actúen de acuerdo con la ley y respeten los derechos de los ciudadanos.</a:t>
            </a:r>
          </a:p>
          <a:p>
            <a:pPr marL="0" indent="0">
              <a:buNone/>
            </a:pPr>
            <a:br>
              <a:rPr lang="es-ES" dirty="0"/>
            </a:br>
            <a:endParaRPr lang="es-ES" dirty="0"/>
          </a:p>
        </p:txBody>
      </p:sp>
    </p:spTree>
    <p:extLst>
      <p:ext uri="{BB962C8B-B14F-4D97-AF65-F5344CB8AC3E}">
        <p14:creationId xmlns:p14="http://schemas.microsoft.com/office/powerpoint/2010/main" val="2050821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956DFCA-F216-D5AC-E48D-FF23C3197E3D}"/>
              </a:ext>
            </a:extLst>
          </p:cNvPr>
          <p:cNvSpPr>
            <a:spLocks noGrp="1"/>
          </p:cNvSpPr>
          <p:nvPr>
            <p:ph idx="1"/>
          </p:nvPr>
        </p:nvSpPr>
        <p:spPr/>
        <p:txBody>
          <a:bodyPr/>
          <a:lstStyle/>
          <a:p>
            <a:pPr algn="just"/>
            <a:r>
              <a:rPr lang="es-ES" b="0" i="0" dirty="0">
                <a:effectLst/>
                <a:highlight>
                  <a:srgbClr val="F9F9FE"/>
                </a:highlight>
                <a:latin typeface="-apple-system"/>
              </a:rPr>
              <a:t>Es esencial para regular la interacción entre los concesionarios de gas natural y los bienes públicos y privados, asegurando que la expansión de la infraestructura de distribución se realice de manera ordenada y respetuosa con los derechos de propiedad y el bienestar de la comunidad. Este marco normativo busca facilitar el desarrollo de la red de distribución de gas natural, al tiempo que protege los intereses de los propietarios y la integridad del espacio público.</a:t>
            </a:r>
            <a:endParaRPr lang="es-ES" dirty="0"/>
          </a:p>
          <a:p>
            <a:endParaRPr lang="es-ES" dirty="0"/>
          </a:p>
        </p:txBody>
      </p:sp>
    </p:spTree>
    <p:extLst>
      <p:ext uri="{BB962C8B-B14F-4D97-AF65-F5344CB8AC3E}">
        <p14:creationId xmlns:p14="http://schemas.microsoft.com/office/powerpoint/2010/main" val="37299882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B1FE12-5749-3397-AFD2-8F280534A53F}"/>
              </a:ext>
            </a:extLst>
          </p:cNvPr>
          <p:cNvSpPr>
            <a:spLocks noGrp="1"/>
          </p:cNvSpPr>
          <p:nvPr>
            <p:ph type="title"/>
          </p:nvPr>
        </p:nvSpPr>
        <p:spPr/>
        <p:txBody>
          <a:bodyPr/>
          <a:lstStyle/>
          <a:p>
            <a:r>
              <a:rPr lang="es-ES" b="0" i="0" dirty="0">
                <a:effectLst/>
                <a:highlight>
                  <a:srgbClr val="F9F9FE"/>
                </a:highlight>
                <a:latin typeface="-apple-system"/>
              </a:rPr>
              <a:t> </a:t>
            </a:r>
            <a:r>
              <a:rPr lang="es-ES" sz="2800" b="1" i="0" dirty="0">
                <a:effectLst/>
                <a:highlight>
                  <a:srgbClr val="F9F9FE"/>
                </a:highlight>
                <a:latin typeface="-apple-system"/>
              </a:rPr>
              <a:t>Título V: Tarifas de Distribución</a:t>
            </a:r>
            <a:endParaRPr lang="es-ES" sz="2800" dirty="0"/>
          </a:p>
        </p:txBody>
      </p:sp>
      <p:sp>
        <p:nvSpPr>
          <p:cNvPr id="3" name="Marcador de contenido 2">
            <a:extLst>
              <a:ext uri="{FF2B5EF4-FFF2-40B4-BE49-F238E27FC236}">
                <a16:creationId xmlns:a16="http://schemas.microsoft.com/office/drawing/2014/main" id="{DA0B243F-D8D7-8058-0D9A-CB6149318E66}"/>
              </a:ext>
            </a:extLst>
          </p:cNvPr>
          <p:cNvSpPr>
            <a:spLocks noGrp="1"/>
          </p:cNvSpPr>
          <p:nvPr>
            <p:ph idx="1"/>
          </p:nvPr>
        </p:nvSpPr>
        <p:spPr>
          <a:xfrm>
            <a:off x="838200" y="1690688"/>
            <a:ext cx="10515600" cy="4351338"/>
          </a:xfrm>
        </p:spPr>
        <p:txBody>
          <a:bodyPr/>
          <a:lstStyle/>
          <a:p>
            <a:pPr algn="just"/>
            <a:r>
              <a:rPr lang="es-ES" dirty="0">
                <a:highlight>
                  <a:srgbClr val="F9F9FE"/>
                </a:highlight>
                <a:latin typeface="-apple-system"/>
              </a:rPr>
              <a:t>E</a:t>
            </a:r>
            <a:r>
              <a:rPr lang="es-ES" b="0" i="0" dirty="0">
                <a:effectLst/>
                <a:highlight>
                  <a:srgbClr val="F9F9FE"/>
                </a:highlight>
                <a:latin typeface="-apple-system"/>
              </a:rPr>
              <a:t>stablece las normas y procedimientos relacionados con la fijación y aplicación de las tarifas que los concesionarios pueden cobrar a los consumidores por el servicio de distribución de gas natural. </a:t>
            </a:r>
          </a:p>
          <a:p>
            <a:pPr marL="0" indent="0" algn="just">
              <a:buNone/>
            </a:pPr>
            <a:endParaRPr lang="es-ES" b="0" i="0" dirty="0">
              <a:effectLst/>
              <a:highlight>
                <a:srgbClr val="F9F9FE"/>
              </a:highlight>
              <a:latin typeface="-apple-system"/>
            </a:endParaRPr>
          </a:p>
          <a:p>
            <a:pPr algn="just"/>
            <a:r>
              <a:rPr lang="es-ES" b="0" i="0" dirty="0">
                <a:effectLst/>
                <a:highlight>
                  <a:srgbClr val="F9F9FE"/>
                </a:highlight>
                <a:latin typeface="-apple-system"/>
              </a:rPr>
              <a:t> Regula la  estructura tarifaria que los concesionarios deben seguir para garantizar que las tarifas sean justas, transparentes y reflejen los costos reales de la prestación del servicio de distribución de gas natural.</a:t>
            </a:r>
            <a:endParaRPr lang="es-ES" dirty="0"/>
          </a:p>
        </p:txBody>
      </p:sp>
    </p:spTree>
    <p:extLst>
      <p:ext uri="{BB962C8B-B14F-4D97-AF65-F5344CB8AC3E}">
        <p14:creationId xmlns:p14="http://schemas.microsoft.com/office/powerpoint/2010/main" val="24869688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C253A16-62B0-579A-E713-7B04FC128085}"/>
              </a:ext>
            </a:extLst>
          </p:cNvPr>
          <p:cNvSpPr>
            <a:spLocks noGrp="1"/>
          </p:cNvSpPr>
          <p:nvPr>
            <p:ph idx="1"/>
          </p:nvPr>
        </p:nvSpPr>
        <p:spPr>
          <a:xfrm>
            <a:off x="838200" y="1371600"/>
            <a:ext cx="10515600" cy="5121275"/>
          </a:xfrm>
        </p:spPr>
        <p:txBody>
          <a:bodyPr>
            <a:normAutofit fontScale="92500" lnSpcReduction="20000"/>
          </a:bodyPr>
          <a:lstStyle/>
          <a:p>
            <a:pPr marL="0" indent="0" algn="l">
              <a:buNone/>
            </a:pPr>
            <a:r>
              <a:rPr lang="es-ES" b="1" i="0" dirty="0">
                <a:effectLst/>
                <a:highlight>
                  <a:srgbClr val="F9F9FE"/>
                </a:highlight>
                <a:latin typeface="-apple-system"/>
              </a:rPr>
              <a:t>Estructura de la Tarifa de Distribución</a:t>
            </a:r>
            <a:r>
              <a:rPr lang="es-ES" b="0" i="0" dirty="0">
                <a:effectLst/>
                <a:highlight>
                  <a:srgbClr val="F9F9FE"/>
                </a:highlight>
                <a:latin typeface="-apple-system"/>
              </a:rPr>
              <a:t>:</a:t>
            </a:r>
          </a:p>
          <a:p>
            <a:pPr marL="0" indent="0" algn="l">
              <a:buNone/>
            </a:pPr>
            <a:endParaRPr lang="es-ES" b="0" i="0" dirty="0">
              <a:effectLst/>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La tarifa de distribución se define como la retribución máxima que recibirá el concesionario por el servicio prestado. Esta tarifa debe cubrir los costos eficientes de operación y mantenimiento del servicio.</a:t>
            </a:r>
          </a:p>
          <a:p>
            <a:pPr marL="742950" lvl="1" indent="-285750" algn="l">
              <a:buFont typeface="+mj-lt"/>
              <a:buAutoNum type="arabicPeriod"/>
            </a:pPr>
            <a:r>
              <a:rPr lang="es-ES" b="0" i="0" dirty="0">
                <a:effectLst/>
                <a:highlight>
                  <a:srgbClr val="F9F9FE"/>
                </a:highlight>
                <a:latin typeface="-apple-system"/>
              </a:rPr>
              <a:t>Se especifica que la tarifa de distribución está compuesta por varios elementos, incluyendo el margen de distribución, el margen comercial y el costo de las acometidas.</a:t>
            </a:r>
          </a:p>
          <a:p>
            <a:pPr marL="0" indent="0" algn="l">
              <a:buNone/>
            </a:pPr>
            <a:r>
              <a:rPr lang="es-ES" b="1" i="0" dirty="0">
                <a:effectLst/>
                <a:highlight>
                  <a:srgbClr val="F9F9FE"/>
                </a:highlight>
                <a:latin typeface="-apple-system"/>
              </a:rPr>
              <a:t>Componentes de la Factura</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La factura que reciben los consumidores incluye varios cargos, tales como:</a:t>
            </a:r>
          </a:p>
          <a:p>
            <a:pPr marL="457200" lvl="1" indent="0" algn="l">
              <a:buNone/>
            </a:pPr>
            <a:endParaRPr lang="es-ES" b="0" i="0" dirty="0">
              <a:effectLst/>
              <a:highlight>
                <a:srgbClr val="F9F9FE"/>
              </a:highlight>
              <a:latin typeface="-apple-system"/>
            </a:endParaRPr>
          </a:p>
          <a:p>
            <a:pPr marL="1143000" lvl="2" indent="-228600" algn="l">
              <a:buFont typeface="+mj-lt"/>
              <a:buAutoNum type="arabicPeriod"/>
            </a:pPr>
            <a:r>
              <a:rPr lang="es-ES" b="0" i="0" dirty="0">
                <a:effectLst/>
                <a:highlight>
                  <a:srgbClr val="F9F9FE"/>
                </a:highlight>
                <a:latin typeface="-apple-system"/>
              </a:rPr>
              <a:t>El precio del gas natural.</a:t>
            </a:r>
          </a:p>
          <a:p>
            <a:pPr marL="1143000" lvl="2" indent="-228600" algn="l">
              <a:buFont typeface="+mj-lt"/>
              <a:buAutoNum type="arabicPeriod"/>
            </a:pPr>
            <a:r>
              <a:rPr lang="es-ES" b="0" i="0" dirty="0">
                <a:effectLst/>
                <a:highlight>
                  <a:srgbClr val="F9F9FE"/>
                </a:highlight>
                <a:latin typeface="-apple-system"/>
              </a:rPr>
              <a:t>La tarifa por transporte.</a:t>
            </a:r>
          </a:p>
          <a:p>
            <a:pPr marL="1143000" lvl="2" indent="-228600" algn="l">
              <a:buFont typeface="+mj-lt"/>
              <a:buAutoNum type="arabicPeriod"/>
            </a:pPr>
            <a:r>
              <a:rPr lang="es-ES" b="0" i="0" dirty="0">
                <a:effectLst/>
                <a:highlight>
                  <a:srgbClr val="F9F9FE"/>
                </a:highlight>
                <a:latin typeface="-apple-system"/>
              </a:rPr>
              <a:t>La tarifa de distribución.</a:t>
            </a:r>
          </a:p>
          <a:p>
            <a:pPr marL="1143000" lvl="2" indent="-228600" algn="l">
              <a:buFont typeface="+mj-lt"/>
              <a:buAutoNum type="arabicPeriod"/>
            </a:pPr>
            <a:r>
              <a:rPr lang="es-ES" b="0" i="0" dirty="0">
                <a:effectLst/>
                <a:highlight>
                  <a:srgbClr val="F9F9FE"/>
                </a:highlight>
                <a:latin typeface="-apple-system"/>
              </a:rPr>
              <a:t>Cualquier costo adicional relacionado con acometidas y tributos que no estén incluidos en la tarifa de distribución.</a:t>
            </a:r>
          </a:p>
          <a:p>
            <a:pPr marL="457200" lvl="1" indent="0" algn="l">
              <a:buNone/>
            </a:pPr>
            <a:r>
              <a:rPr lang="es-ES" b="0" i="0" dirty="0">
                <a:effectLst/>
                <a:highlight>
                  <a:srgbClr val="F9F9FE"/>
                </a:highlight>
                <a:latin typeface="-apple-system"/>
              </a:rPr>
              <a:t>2. Se establece que los consumidores deben ser informados de manera clara sobre la composición de su factura.</a:t>
            </a:r>
          </a:p>
          <a:p>
            <a:pPr algn="just"/>
            <a:endParaRPr lang="es-ES" dirty="0"/>
          </a:p>
        </p:txBody>
      </p:sp>
      <p:sp>
        <p:nvSpPr>
          <p:cNvPr id="4" name="Título 1">
            <a:extLst>
              <a:ext uri="{FF2B5EF4-FFF2-40B4-BE49-F238E27FC236}">
                <a16:creationId xmlns:a16="http://schemas.microsoft.com/office/drawing/2014/main" id="{10B21C2D-179D-9F44-3BFB-599339A9247F}"/>
              </a:ext>
            </a:extLst>
          </p:cNvPr>
          <p:cNvSpPr>
            <a:spLocks noGrp="1"/>
          </p:cNvSpPr>
          <p:nvPr>
            <p:ph type="title"/>
          </p:nvPr>
        </p:nvSpPr>
        <p:spPr>
          <a:xfrm>
            <a:off x="838200" y="215836"/>
            <a:ext cx="10515600" cy="1325563"/>
          </a:xfrm>
        </p:spPr>
        <p:txBody>
          <a:bodyPr/>
          <a:lstStyle/>
          <a:p>
            <a:r>
              <a:rPr lang="es-ES" b="0" i="0" dirty="0">
                <a:effectLst/>
                <a:highlight>
                  <a:srgbClr val="F9F9FE"/>
                </a:highlight>
                <a:latin typeface="-apple-system"/>
              </a:rPr>
              <a:t> </a:t>
            </a:r>
            <a:r>
              <a:rPr lang="es-ES" sz="2800" dirty="0">
                <a:highlight>
                  <a:srgbClr val="F9F9FE"/>
                </a:highlight>
                <a:latin typeface="-apple-system"/>
              </a:rPr>
              <a:t>Artículos Clave.</a:t>
            </a:r>
            <a:endParaRPr lang="es-ES" sz="2800" dirty="0"/>
          </a:p>
        </p:txBody>
      </p:sp>
    </p:spTree>
    <p:extLst>
      <p:ext uri="{BB962C8B-B14F-4D97-AF65-F5344CB8AC3E}">
        <p14:creationId xmlns:p14="http://schemas.microsoft.com/office/powerpoint/2010/main" val="40071232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FEB545F-B187-4393-7B19-9047C36EC42E}"/>
              </a:ext>
            </a:extLst>
          </p:cNvPr>
          <p:cNvSpPr>
            <a:spLocks noGrp="1"/>
          </p:cNvSpPr>
          <p:nvPr>
            <p:ph idx="1"/>
          </p:nvPr>
        </p:nvSpPr>
        <p:spPr>
          <a:xfrm>
            <a:off x="838200" y="849086"/>
            <a:ext cx="10515600" cy="5327877"/>
          </a:xfrm>
        </p:spPr>
        <p:txBody>
          <a:bodyPr>
            <a:normAutofit/>
          </a:bodyPr>
          <a:lstStyle/>
          <a:p>
            <a:pPr marL="0" indent="0" algn="l">
              <a:buNone/>
            </a:pPr>
            <a:r>
              <a:rPr lang="es-ES" b="1" i="0" dirty="0">
                <a:effectLst/>
                <a:highlight>
                  <a:srgbClr val="F9F9FE"/>
                </a:highlight>
                <a:latin typeface="-apple-system"/>
              </a:rPr>
              <a:t>Revisión y Ajuste de Tarifas</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establece un procedimiento para la revisión y ajuste de las tarifas de distribución, que debe ser realizado por la Comisión de Tarifas de Energía (CTE). Este proceso busca asegurar que las tarifas se mantengan actualizadas y reflejen los costos reales del servicio.</a:t>
            </a:r>
          </a:p>
          <a:p>
            <a:pPr marL="742950" lvl="1" indent="-285750" algn="l">
              <a:buFont typeface="+mj-lt"/>
              <a:buAutoNum type="arabicPeriod"/>
            </a:pPr>
            <a:r>
              <a:rPr lang="es-ES" b="0" i="0" dirty="0">
                <a:effectLst/>
                <a:highlight>
                  <a:srgbClr val="F9F9FE"/>
                </a:highlight>
                <a:latin typeface="-apple-system"/>
              </a:rPr>
              <a:t>La CTE tiene la responsabilidad de definir las categorías de consumidores y los procedimientos de asignación de tarifas, promoviendo la eficiencia en el sector.</a:t>
            </a:r>
          </a:p>
          <a:p>
            <a:pPr marL="0" indent="0" algn="l">
              <a:buNone/>
            </a:pPr>
            <a:r>
              <a:rPr lang="es-ES" b="1" i="0" dirty="0">
                <a:effectLst/>
                <a:highlight>
                  <a:srgbClr val="F9F9FE"/>
                </a:highlight>
                <a:latin typeface="-apple-system"/>
              </a:rPr>
              <a:t>Transparencia y Publicidad</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enfatiza la importancia de la transparencia en la fijación de tarifas. Los concesionarios deben publicar información clara y accesible sobre las tarifas aplicables y cualquier cambio que se realice en ellas.</a:t>
            </a:r>
          </a:p>
          <a:p>
            <a:pPr marL="742950" lvl="1" indent="-285750" algn="l">
              <a:buFont typeface="+mj-lt"/>
              <a:buAutoNum type="arabicPeriod"/>
            </a:pPr>
            <a:r>
              <a:rPr lang="es-ES" b="0" i="0" dirty="0">
                <a:effectLst/>
                <a:highlight>
                  <a:srgbClr val="F9F9FE"/>
                </a:highlight>
                <a:latin typeface="-apple-system"/>
              </a:rPr>
              <a:t>Se establece que los consumidores tienen derecho a recibir información sobre cómo se calculan las tarifas y los criterios utilizados para su fijación.</a:t>
            </a:r>
          </a:p>
          <a:p>
            <a:endParaRPr lang="es-ES" dirty="0"/>
          </a:p>
        </p:txBody>
      </p:sp>
    </p:spTree>
    <p:extLst>
      <p:ext uri="{BB962C8B-B14F-4D97-AF65-F5344CB8AC3E}">
        <p14:creationId xmlns:p14="http://schemas.microsoft.com/office/powerpoint/2010/main" val="3966003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138316D-F57F-204D-9C5A-54DCEDB0388C}"/>
              </a:ext>
            </a:extLst>
          </p:cNvPr>
          <p:cNvSpPr>
            <a:spLocks noGrp="1"/>
          </p:cNvSpPr>
          <p:nvPr>
            <p:ph idx="1"/>
          </p:nvPr>
        </p:nvSpPr>
        <p:spPr>
          <a:xfrm>
            <a:off x="838200" y="1045028"/>
            <a:ext cx="10515600" cy="4002833"/>
          </a:xfrm>
        </p:spPr>
        <p:txBody>
          <a:bodyPr>
            <a:normAutofit/>
          </a:bodyPr>
          <a:lstStyle/>
          <a:p>
            <a:pPr marL="0" indent="0" algn="l">
              <a:buNone/>
            </a:pPr>
            <a:r>
              <a:rPr lang="es-ES" b="1" i="0" dirty="0">
                <a:effectLst/>
                <a:highlight>
                  <a:srgbClr val="F9F9FE"/>
                </a:highlight>
                <a:latin typeface="-apple-system"/>
              </a:rPr>
              <a:t>Protección al Consumidor</a:t>
            </a:r>
            <a:r>
              <a:rPr lang="es-ES" b="0" i="0" dirty="0">
                <a:effectLst/>
                <a:highlight>
                  <a:srgbClr val="F9F9FE"/>
                </a:highlight>
                <a:latin typeface="-apple-system"/>
              </a:rPr>
              <a:t>:</a:t>
            </a:r>
          </a:p>
          <a:p>
            <a:pPr marL="0" indent="0" algn="l">
              <a:buNone/>
            </a:pPr>
            <a:endParaRPr lang="es-ES" b="0" i="0" dirty="0">
              <a:effectLst/>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Se incluyen disposiciones para proteger los derechos de los consumidores, asegurando que no se impongan tarifas abusivas o injustas.</a:t>
            </a:r>
          </a:p>
          <a:p>
            <a:pPr marL="457200" lvl="1" indent="0" algn="l">
              <a:buNone/>
            </a:pPr>
            <a:endParaRPr lang="es-ES" b="0" i="0" dirty="0">
              <a:effectLst/>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Se establece un mecanismo para que los consumidores puedan presentar reclamaciones en caso de discrepancias en la facturación o en la aplicación de tarifas.</a:t>
            </a:r>
          </a:p>
        </p:txBody>
      </p:sp>
    </p:spTree>
    <p:extLst>
      <p:ext uri="{BB962C8B-B14F-4D97-AF65-F5344CB8AC3E}">
        <p14:creationId xmlns:p14="http://schemas.microsoft.com/office/powerpoint/2010/main" val="6695255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14537B-399A-42E2-DB6B-573AFC98B29D}"/>
              </a:ext>
            </a:extLst>
          </p:cNvPr>
          <p:cNvSpPr>
            <a:spLocks noGrp="1"/>
          </p:cNvSpPr>
          <p:nvPr>
            <p:ph type="title"/>
          </p:nvPr>
        </p:nvSpPr>
        <p:spPr/>
        <p:txBody>
          <a:bodyPr>
            <a:normAutofit/>
          </a:bodyPr>
          <a:lstStyle/>
          <a:p>
            <a:r>
              <a:rPr lang="es-ES" sz="2800" b="0" i="0" dirty="0">
                <a:effectLst/>
                <a:highlight>
                  <a:srgbClr val="F9F9FE"/>
                </a:highlight>
                <a:latin typeface="-apple-system"/>
              </a:rPr>
              <a:t> </a:t>
            </a:r>
            <a:r>
              <a:rPr lang="es-ES" sz="2800" b="1" i="0" dirty="0">
                <a:effectLst/>
                <a:highlight>
                  <a:srgbClr val="F9F9FE"/>
                </a:highlight>
                <a:latin typeface="-apple-system"/>
              </a:rPr>
              <a:t>Título VI: Protección Ambiental</a:t>
            </a:r>
            <a:endParaRPr lang="es-ES" sz="2800" dirty="0"/>
          </a:p>
        </p:txBody>
      </p:sp>
      <p:sp>
        <p:nvSpPr>
          <p:cNvPr id="3" name="Marcador de contenido 2">
            <a:extLst>
              <a:ext uri="{FF2B5EF4-FFF2-40B4-BE49-F238E27FC236}">
                <a16:creationId xmlns:a16="http://schemas.microsoft.com/office/drawing/2014/main" id="{AA0859AF-F637-79C5-BD5A-509FA65D5E6B}"/>
              </a:ext>
            </a:extLst>
          </p:cNvPr>
          <p:cNvSpPr>
            <a:spLocks noGrp="1"/>
          </p:cNvSpPr>
          <p:nvPr>
            <p:ph idx="1"/>
          </p:nvPr>
        </p:nvSpPr>
        <p:spPr/>
        <p:txBody>
          <a:bodyPr/>
          <a:lstStyle/>
          <a:p>
            <a:pPr algn="just"/>
            <a:r>
              <a:rPr lang="es-ES" dirty="0">
                <a:highlight>
                  <a:srgbClr val="F9F9FE"/>
                </a:highlight>
                <a:latin typeface="-apple-system"/>
              </a:rPr>
              <a:t>E</a:t>
            </a:r>
            <a:r>
              <a:rPr lang="es-ES" b="0" i="0" dirty="0">
                <a:effectLst/>
                <a:highlight>
                  <a:srgbClr val="F9F9FE"/>
                </a:highlight>
                <a:latin typeface="-apple-system"/>
              </a:rPr>
              <a:t>stablece las normas y directrices que deben seguir los concesionarios para garantizar la protección del medio ambiente en el contexto de la distribución de gas natural.</a:t>
            </a:r>
          </a:p>
          <a:p>
            <a:pPr algn="just"/>
            <a:endParaRPr lang="es-ES" dirty="0">
              <a:highlight>
                <a:srgbClr val="F9F9FE"/>
              </a:highlight>
              <a:latin typeface="-apple-system"/>
            </a:endParaRPr>
          </a:p>
          <a:p>
            <a:pPr algn="just"/>
            <a:r>
              <a:rPr lang="es-ES" dirty="0">
                <a:highlight>
                  <a:srgbClr val="F9F9FE"/>
                </a:highlight>
                <a:latin typeface="-apple-system"/>
              </a:rPr>
              <a:t>E</a:t>
            </a:r>
            <a:r>
              <a:rPr lang="es-ES" b="0" i="0" dirty="0">
                <a:effectLst/>
                <a:highlight>
                  <a:srgbClr val="F9F9FE"/>
                </a:highlight>
                <a:latin typeface="-apple-system"/>
              </a:rPr>
              <a:t>s asegurar que las actividades relacionadas con la distribución de gas natural se realicen de manera que se minimicen los impactos negativos sobre el medio ambiente, promoviendo prácticas sostenibles y el cumplimiento de la normativa ambiental vigente.</a:t>
            </a:r>
            <a:endParaRPr lang="es-ES" dirty="0"/>
          </a:p>
        </p:txBody>
      </p:sp>
    </p:spTree>
    <p:extLst>
      <p:ext uri="{BB962C8B-B14F-4D97-AF65-F5344CB8AC3E}">
        <p14:creationId xmlns:p14="http://schemas.microsoft.com/office/powerpoint/2010/main" val="17765445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7FB2C8-CDDF-536D-BCAE-A8032F48C4E4}"/>
              </a:ext>
            </a:extLst>
          </p:cNvPr>
          <p:cNvSpPr>
            <a:spLocks noGrp="1"/>
          </p:cNvSpPr>
          <p:nvPr>
            <p:ph type="title"/>
          </p:nvPr>
        </p:nvSpPr>
        <p:spPr/>
        <p:txBody>
          <a:bodyPr>
            <a:normAutofit/>
          </a:bodyPr>
          <a:lstStyle/>
          <a:p>
            <a:r>
              <a:rPr lang="es-ES" sz="2800" dirty="0"/>
              <a:t>ARTICULOS CLAVE</a:t>
            </a:r>
          </a:p>
        </p:txBody>
      </p:sp>
      <p:sp>
        <p:nvSpPr>
          <p:cNvPr id="3" name="Marcador de contenido 2">
            <a:extLst>
              <a:ext uri="{FF2B5EF4-FFF2-40B4-BE49-F238E27FC236}">
                <a16:creationId xmlns:a16="http://schemas.microsoft.com/office/drawing/2014/main" id="{9659EDBD-CE55-BB11-728E-C9EAFC0026C6}"/>
              </a:ext>
            </a:extLst>
          </p:cNvPr>
          <p:cNvSpPr>
            <a:spLocks noGrp="1"/>
          </p:cNvSpPr>
          <p:nvPr>
            <p:ph idx="1"/>
          </p:nvPr>
        </p:nvSpPr>
        <p:spPr>
          <a:xfrm>
            <a:off x="838200" y="1399592"/>
            <a:ext cx="10515600" cy="4777371"/>
          </a:xfrm>
        </p:spPr>
        <p:txBody>
          <a:bodyPr>
            <a:normAutofit fontScale="92500" lnSpcReduction="10000"/>
          </a:bodyPr>
          <a:lstStyle/>
          <a:p>
            <a:pPr marL="0" indent="0" algn="l">
              <a:buNone/>
            </a:pPr>
            <a:r>
              <a:rPr lang="es-ES" b="1" i="0" dirty="0">
                <a:effectLst/>
                <a:highlight>
                  <a:srgbClr val="F9F9FE"/>
                </a:highlight>
                <a:latin typeface="-apple-system"/>
              </a:rPr>
              <a:t>Normativa Aplicable</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establece que la protección del medio ambiente en la distribución de gas natural se rige por la </a:t>
            </a:r>
            <a:r>
              <a:rPr lang="es-ES" b="1" i="0" dirty="0">
                <a:effectLst/>
                <a:highlight>
                  <a:srgbClr val="F9F9FE"/>
                </a:highlight>
                <a:latin typeface="-apple-system"/>
              </a:rPr>
              <a:t>Ley Nº 28611</a:t>
            </a:r>
            <a:r>
              <a:rPr lang="es-ES" b="0" i="0" dirty="0">
                <a:effectLst/>
                <a:highlight>
                  <a:srgbClr val="F9F9FE"/>
                </a:highlight>
                <a:latin typeface="-apple-system"/>
              </a:rPr>
              <a:t>, que es la Ley General del Ambiente, así como por el </a:t>
            </a:r>
            <a:r>
              <a:rPr lang="es-ES" b="1" i="0" dirty="0">
                <a:effectLst/>
                <a:highlight>
                  <a:srgbClr val="F9F9FE"/>
                </a:highlight>
                <a:latin typeface="-apple-system"/>
              </a:rPr>
              <a:t>Reglamento para la Protección Ambiental en Actividades de Hidrocarburos</a:t>
            </a:r>
            <a:r>
              <a:rPr lang="es-ES" b="0" i="0" dirty="0">
                <a:effectLst/>
                <a:highlight>
                  <a:srgbClr val="F9F9FE"/>
                </a:highlight>
                <a:latin typeface="-apple-system"/>
              </a:rPr>
              <a:t>, aprobado por el </a:t>
            </a:r>
            <a:r>
              <a:rPr lang="es-ES" b="1" i="0" dirty="0">
                <a:effectLst/>
                <a:highlight>
                  <a:srgbClr val="F9F9FE"/>
                </a:highlight>
                <a:latin typeface="-apple-system"/>
              </a:rPr>
              <a:t>Decreto Supremo Nº 015-2006-EM</a:t>
            </a:r>
            <a:r>
              <a:rPr lang="es-ES" b="0" i="0" dirty="0">
                <a:effectLst/>
                <a:highlight>
                  <a:srgbClr val="F9F9FE"/>
                </a:highlight>
                <a:latin typeface="-apple-system"/>
              </a:rPr>
              <a:t>.</a:t>
            </a:r>
          </a:p>
          <a:p>
            <a:pPr marL="457200" lvl="1" indent="0" algn="l">
              <a:buNone/>
            </a:pPr>
            <a:endParaRPr lang="es-ES" b="0" i="0" dirty="0">
              <a:effectLst/>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Los concesionarios deben cumplir con todas las normas ambientales pertinentes, incluidas las modificaciones y disposiciones conexas que puedan surgir.</a:t>
            </a:r>
          </a:p>
          <a:p>
            <a:pPr marL="0" indent="0" algn="l">
              <a:buNone/>
            </a:pPr>
            <a:r>
              <a:rPr lang="es-ES" b="1" i="0" dirty="0">
                <a:effectLst/>
                <a:highlight>
                  <a:srgbClr val="F9F9FE"/>
                </a:highlight>
                <a:latin typeface="-apple-system"/>
              </a:rPr>
              <a:t>Responsabilidades de los Concesionarios</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Los concesionarios son responsables de implementar medidas adecuadas para prevenir, mitigar y remediar cualquier impacto ambiental que pueda resultar de sus actividades de distribución.</a:t>
            </a:r>
          </a:p>
          <a:p>
            <a:pPr marL="457200" lvl="1" indent="0" algn="l">
              <a:buNone/>
            </a:pPr>
            <a:endParaRPr lang="es-ES" b="0" i="0" dirty="0">
              <a:effectLst/>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Se les exige realizar evaluaciones de impacto ambiental (EIA) para identificar y gestionar los riesgos asociados con sus operaciones.</a:t>
            </a:r>
          </a:p>
          <a:p>
            <a:endParaRPr lang="es-ES" dirty="0"/>
          </a:p>
        </p:txBody>
      </p:sp>
    </p:spTree>
    <p:extLst>
      <p:ext uri="{BB962C8B-B14F-4D97-AF65-F5344CB8AC3E}">
        <p14:creationId xmlns:p14="http://schemas.microsoft.com/office/powerpoint/2010/main" val="25456296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4C3D24C-32D9-943C-1AB3-22C8160F66AC}"/>
              </a:ext>
            </a:extLst>
          </p:cNvPr>
          <p:cNvSpPr>
            <a:spLocks noGrp="1"/>
          </p:cNvSpPr>
          <p:nvPr>
            <p:ph idx="1"/>
          </p:nvPr>
        </p:nvSpPr>
        <p:spPr>
          <a:xfrm>
            <a:off x="838200" y="793101"/>
            <a:ext cx="10515600" cy="5654351"/>
          </a:xfrm>
        </p:spPr>
        <p:txBody>
          <a:bodyPr>
            <a:normAutofit/>
          </a:bodyPr>
          <a:lstStyle/>
          <a:p>
            <a:pPr marL="0" indent="0" algn="l">
              <a:buNone/>
            </a:pPr>
            <a:r>
              <a:rPr lang="es-ES" b="1" i="0" dirty="0">
                <a:effectLst/>
                <a:highlight>
                  <a:srgbClr val="F9F9FE"/>
                </a:highlight>
                <a:latin typeface="-apple-system"/>
              </a:rPr>
              <a:t>Prácticas de Manejo Ambiental</a:t>
            </a:r>
            <a:r>
              <a:rPr lang="es-ES" b="0" i="0" dirty="0">
                <a:effectLst/>
                <a:highlight>
                  <a:srgbClr val="F9F9FE"/>
                </a:highlight>
                <a:latin typeface="-apple-system"/>
              </a:rPr>
              <a:t>:</a:t>
            </a:r>
          </a:p>
          <a:p>
            <a:pPr marL="0" indent="0" algn="l">
              <a:buNone/>
            </a:pPr>
            <a:endParaRPr lang="es-ES" b="0" i="0" dirty="0">
              <a:effectLst/>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Se promueve la adopción de prácticas de manejo ambiental que incluyan la gestión adecuada de residuos, el control de emisiones y la protección de recursos hídricos y de la biodiversidad.</a:t>
            </a:r>
          </a:p>
          <a:p>
            <a:pPr marL="742950" lvl="1" indent="-285750" algn="l">
              <a:buFont typeface="+mj-lt"/>
              <a:buAutoNum type="arabicPeriod"/>
            </a:pPr>
            <a:r>
              <a:rPr lang="es-ES" b="0" i="0" dirty="0">
                <a:effectLst/>
                <a:highlight>
                  <a:srgbClr val="F9F9FE"/>
                </a:highlight>
                <a:latin typeface="-apple-system"/>
              </a:rPr>
              <a:t>Los concesionarios deben establecer programas de capacitación para su personal en temas de protección ambiental y manejo sostenible.</a:t>
            </a:r>
          </a:p>
          <a:p>
            <a:pPr marL="457200" lvl="1" indent="0" algn="l">
              <a:buNone/>
            </a:pPr>
            <a:endParaRPr lang="es-ES" b="0" i="0" dirty="0">
              <a:effectLst/>
              <a:highlight>
                <a:srgbClr val="F9F9FE"/>
              </a:highlight>
              <a:latin typeface="-apple-system"/>
            </a:endParaRPr>
          </a:p>
          <a:p>
            <a:pPr marL="0" indent="0" algn="l">
              <a:buNone/>
            </a:pPr>
            <a:r>
              <a:rPr lang="es-ES" b="1" i="0" dirty="0">
                <a:effectLst/>
                <a:highlight>
                  <a:srgbClr val="F9F9FE"/>
                </a:highlight>
                <a:latin typeface="-apple-system"/>
              </a:rPr>
              <a:t>Monitoreo y Fiscalización</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establece la obligación de realizar un monitoreo continuo de las actividades y sus impactos ambientales, así como de reportar los resultados a las autoridades competentes.</a:t>
            </a:r>
          </a:p>
          <a:p>
            <a:pPr marL="742950" lvl="1" indent="-285750" algn="l">
              <a:buFont typeface="+mj-lt"/>
              <a:buAutoNum type="arabicPeriod"/>
            </a:pPr>
            <a:r>
              <a:rPr lang="es-ES" b="0" i="0" dirty="0">
                <a:effectLst/>
                <a:highlight>
                  <a:srgbClr val="F9F9FE"/>
                </a:highlight>
                <a:latin typeface="-apple-system"/>
              </a:rPr>
              <a:t>Las autoridades tienen la facultad de fiscalizar el cumplimiento de las normas ambientales y pueden imponer sanciones en caso de incumplimiento.</a:t>
            </a:r>
          </a:p>
          <a:p>
            <a:endParaRPr lang="es-ES" dirty="0"/>
          </a:p>
        </p:txBody>
      </p:sp>
    </p:spTree>
    <p:extLst>
      <p:ext uri="{BB962C8B-B14F-4D97-AF65-F5344CB8AC3E}">
        <p14:creationId xmlns:p14="http://schemas.microsoft.com/office/powerpoint/2010/main" val="41765831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1430573-C685-F40D-D640-8B79095D2609}"/>
              </a:ext>
            </a:extLst>
          </p:cNvPr>
          <p:cNvSpPr>
            <a:spLocks noGrp="1"/>
          </p:cNvSpPr>
          <p:nvPr>
            <p:ph idx="1"/>
          </p:nvPr>
        </p:nvSpPr>
        <p:spPr>
          <a:xfrm>
            <a:off x="735563" y="1107168"/>
            <a:ext cx="10515600" cy="4351338"/>
          </a:xfrm>
        </p:spPr>
        <p:txBody>
          <a:bodyPr>
            <a:normAutofit fontScale="92500" lnSpcReduction="20000"/>
          </a:bodyPr>
          <a:lstStyle/>
          <a:p>
            <a:pPr marL="0" indent="0" algn="l">
              <a:buNone/>
            </a:pPr>
            <a:r>
              <a:rPr lang="es-ES" b="1" i="0" dirty="0">
                <a:effectLst/>
                <a:highlight>
                  <a:srgbClr val="F9F9FE"/>
                </a:highlight>
                <a:latin typeface="-apple-system"/>
              </a:rPr>
              <a:t>Aplicación de Normas Internacionales</a:t>
            </a:r>
            <a:r>
              <a:rPr lang="es-ES" b="0" i="0" dirty="0">
                <a:effectLst/>
                <a:highlight>
                  <a:srgbClr val="F9F9FE"/>
                </a:highlight>
                <a:latin typeface="-apple-system"/>
              </a:rPr>
              <a:t>:</a:t>
            </a:r>
          </a:p>
          <a:p>
            <a:pPr marL="0" indent="0" algn="l">
              <a:buNone/>
            </a:pPr>
            <a:endParaRPr lang="es-ES" b="0" i="0" dirty="0">
              <a:effectLst/>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Se permite que los concesionarios apliquen normas y disposiciones más exigentes que las nacionales, siempre que sean aceptadas por la industria internacional de hidrocarburos, para asegurar un nivel de protección ambiental adecuado.</a:t>
            </a:r>
          </a:p>
          <a:p>
            <a:pPr marL="0" indent="0" algn="l">
              <a:buNone/>
            </a:pPr>
            <a:endParaRPr lang="es-ES" b="1" i="0" dirty="0">
              <a:effectLst/>
              <a:highlight>
                <a:srgbClr val="F9F9FE"/>
              </a:highlight>
              <a:latin typeface="-apple-system"/>
            </a:endParaRPr>
          </a:p>
          <a:p>
            <a:pPr marL="0" indent="0" algn="l">
              <a:buNone/>
            </a:pPr>
            <a:r>
              <a:rPr lang="es-ES" b="1" i="0" dirty="0">
                <a:effectLst/>
                <a:highlight>
                  <a:srgbClr val="F9F9FE"/>
                </a:highlight>
                <a:latin typeface="-apple-system"/>
              </a:rPr>
              <a:t>Participación de la Comunidad</a:t>
            </a:r>
            <a:r>
              <a:rPr lang="es-ES" b="0" i="0" dirty="0">
                <a:effectLst/>
                <a:highlight>
                  <a:srgbClr val="F9F9FE"/>
                </a:highlight>
                <a:latin typeface="-apple-system"/>
              </a:rPr>
              <a:t>:</a:t>
            </a:r>
          </a:p>
          <a:p>
            <a:pPr marL="0" indent="0" algn="l">
              <a:buNone/>
            </a:pPr>
            <a:endParaRPr lang="es-ES" b="0" i="0" dirty="0">
              <a:effectLst/>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Se fomenta la participación de las comunidades locales en la identificación de problemas ambientales y en la toma de decisiones relacionadas con la gestión ambiental de las actividades de distribución de gas natural.</a:t>
            </a:r>
          </a:p>
          <a:p>
            <a:pPr marL="742950" lvl="1" indent="-285750" algn="l">
              <a:buFont typeface="+mj-lt"/>
              <a:buAutoNum type="arabicPeriod"/>
            </a:pPr>
            <a:r>
              <a:rPr lang="es-ES" b="0" i="0" dirty="0">
                <a:effectLst/>
                <a:highlight>
                  <a:srgbClr val="F9F9FE"/>
                </a:highlight>
                <a:latin typeface="-apple-system"/>
              </a:rPr>
              <a:t>Los concesionarios deben establecer canales de comunicación con las comunidades para informarles sobre las medidas de protección ambiental que están implementando.</a:t>
            </a:r>
          </a:p>
          <a:p>
            <a:endParaRPr lang="es-ES" dirty="0"/>
          </a:p>
        </p:txBody>
      </p:sp>
    </p:spTree>
    <p:extLst>
      <p:ext uri="{BB962C8B-B14F-4D97-AF65-F5344CB8AC3E}">
        <p14:creationId xmlns:p14="http://schemas.microsoft.com/office/powerpoint/2010/main" val="3324106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EADEBCC-A671-993E-BCAF-198E9F98099A}"/>
              </a:ext>
            </a:extLst>
          </p:cNvPr>
          <p:cNvSpPr>
            <a:spLocks noGrp="1"/>
          </p:cNvSpPr>
          <p:nvPr>
            <p:ph idx="1"/>
          </p:nvPr>
        </p:nvSpPr>
        <p:spPr>
          <a:xfrm>
            <a:off x="838200" y="2236171"/>
            <a:ext cx="10265229" cy="3128930"/>
          </a:xfrm>
        </p:spPr>
        <p:txBody>
          <a:bodyPr>
            <a:normAutofit lnSpcReduction="10000"/>
          </a:bodyPr>
          <a:lstStyle/>
          <a:p>
            <a:pPr algn="just"/>
            <a:r>
              <a:rPr lang="es-ES" b="0" i="0" dirty="0">
                <a:effectLst/>
                <a:highlight>
                  <a:srgbClr val="F9F9FE"/>
                </a:highlight>
                <a:latin typeface="-apple-system"/>
              </a:rPr>
              <a:t>El Título VI establece un marco normativo robusto para la protección del medio ambiente en la distribución de gas natural, enfatizando la responsabilidad de los concesionarios en la prevención y mitigación de impactos ambientales. A través de la regulación de prácticas de manejo ambiental, la fiscalización y la promoción de la participación comunitaria, se busca garantizar que las actividades de distribución se realicen de manera sostenible y respetuosa con el entorno</a:t>
            </a:r>
            <a:endParaRPr lang="es-ES" dirty="0"/>
          </a:p>
        </p:txBody>
      </p:sp>
    </p:spTree>
    <p:extLst>
      <p:ext uri="{BB962C8B-B14F-4D97-AF65-F5344CB8AC3E}">
        <p14:creationId xmlns:p14="http://schemas.microsoft.com/office/powerpoint/2010/main" val="39132589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6408EB-C8D4-3731-9963-8AAC688EBC51}"/>
              </a:ext>
            </a:extLst>
          </p:cNvPr>
          <p:cNvSpPr>
            <a:spLocks noGrp="1"/>
          </p:cNvSpPr>
          <p:nvPr>
            <p:ph type="title"/>
          </p:nvPr>
        </p:nvSpPr>
        <p:spPr/>
        <p:txBody>
          <a:bodyPr>
            <a:normAutofit/>
          </a:bodyPr>
          <a:lstStyle/>
          <a:p>
            <a:r>
              <a:rPr lang="es-ES" sz="2800" b="0" i="0" dirty="0">
                <a:effectLst/>
                <a:highlight>
                  <a:srgbClr val="F9F9FE"/>
                </a:highlight>
                <a:latin typeface="-apple-system"/>
              </a:rPr>
              <a:t>El </a:t>
            </a:r>
            <a:r>
              <a:rPr lang="es-ES" sz="2800" b="1" i="0" dirty="0">
                <a:effectLst/>
                <a:highlight>
                  <a:srgbClr val="F9F9FE"/>
                </a:highlight>
                <a:latin typeface="-apple-system"/>
              </a:rPr>
              <a:t>Título VII: Disposiciones Transitorias</a:t>
            </a:r>
            <a:endParaRPr lang="es-ES" sz="2800" dirty="0"/>
          </a:p>
        </p:txBody>
      </p:sp>
      <p:sp>
        <p:nvSpPr>
          <p:cNvPr id="3" name="Marcador de contenido 2">
            <a:extLst>
              <a:ext uri="{FF2B5EF4-FFF2-40B4-BE49-F238E27FC236}">
                <a16:creationId xmlns:a16="http://schemas.microsoft.com/office/drawing/2014/main" id="{64FB06E3-EC25-0A34-D40E-933D5C56BDA7}"/>
              </a:ext>
            </a:extLst>
          </p:cNvPr>
          <p:cNvSpPr>
            <a:spLocks noGrp="1"/>
          </p:cNvSpPr>
          <p:nvPr>
            <p:ph idx="1"/>
          </p:nvPr>
        </p:nvSpPr>
        <p:spPr/>
        <p:txBody>
          <a:bodyPr/>
          <a:lstStyle/>
          <a:p>
            <a:pPr algn="just"/>
            <a:r>
              <a:rPr lang="es-ES" b="0" i="0" dirty="0">
                <a:effectLst/>
                <a:highlight>
                  <a:srgbClr val="F9F9FE"/>
                </a:highlight>
                <a:latin typeface="-apple-system"/>
              </a:rPr>
              <a:t>Establece una serie de normas y condiciones que son aplicables durante un período de transición tras la implementación del reglamento. </a:t>
            </a:r>
          </a:p>
          <a:p>
            <a:pPr marL="0" indent="0" algn="just">
              <a:buNone/>
            </a:pPr>
            <a:endParaRPr lang="es-ES" b="0" i="0" dirty="0">
              <a:effectLst/>
              <a:highlight>
                <a:srgbClr val="F9F9FE"/>
              </a:highlight>
              <a:latin typeface="-apple-system"/>
            </a:endParaRPr>
          </a:p>
          <a:p>
            <a:pPr algn="just"/>
            <a:r>
              <a:rPr lang="es-ES" b="0" i="0" dirty="0">
                <a:effectLst/>
                <a:highlight>
                  <a:srgbClr val="F9F9FE"/>
                </a:highlight>
                <a:latin typeface="-apple-system"/>
              </a:rPr>
              <a:t> Es regular aspectos específicos que deben ser considerados durante la transición hacia la aplicación completa del nuevo reglamento, asegurando que las disposiciones anteriores se integren adecuadamente y que se manejen las situaciones que puedan surgir en el proceso de adaptación.</a:t>
            </a:r>
            <a:endParaRPr lang="es-ES" dirty="0"/>
          </a:p>
        </p:txBody>
      </p:sp>
    </p:spTree>
    <p:extLst>
      <p:ext uri="{BB962C8B-B14F-4D97-AF65-F5344CB8AC3E}">
        <p14:creationId xmlns:p14="http://schemas.microsoft.com/office/powerpoint/2010/main" val="16390154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3217DA-371F-8076-D451-8656B7F4D277}"/>
              </a:ext>
            </a:extLst>
          </p:cNvPr>
          <p:cNvSpPr>
            <a:spLocks noGrp="1"/>
          </p:cNvSpPr>
          <p:nvPr>
            <p:ph type="title"/>
          </p:nvPr>
        </p:nvSpPr>
        <p:spPr/>
        <p:txBody>
          <a:bodyPr/>
          <a:lstStyle/>
          <a:p>
            <a:r>
              <a:rPr lang="es-ES" dirty="0"/>
              <a:t>ARTICULOS CLAVE</a:t>
            </a:r>
          </a:p>
        </p:txBody>
      </p:sp>
      <p:sp>
        <p:nvSpPr>
          <p:cNvPr id="3" name="Marcador de contenido 2">
            <a:extLst>
              <a:ext uri="{FF2B5EF4-FFF2-40B4-BE49-F238E27FC236}">
                <a16:creationId xmlns:a16="http://schemas.microsoft.com/office/drawing/2014/main" id="{9CFB064A-28A8-3CEC-8A89-42708EECE2E1}"/>
              </a:ext>
            </a:extLst>
          </p:cNvPr>
          <p:cNvSpPr>
            <a:spLocks noGrp="1"/>
          </p:cNvSpPr>
          <p:nvPr>
            <p:ph idx="1"/>
          </p:nvPr>
        </p:nvSpPr>
        <p:spPr>
          <a:xfrm>
            <a:off x="838200" y="1343609"/>
            <a:ext cx="10515600" cy="5149266"/>
          </a:xfrm>
        </p:spPr>
        <p:txBody>
          <a:bodyPr>
            <a:normAutofit fontScale="85000" lnSpcReduction="20000"/>
          </a:bodyPr>
          <a:lstStyle/>
          <a:p>
            <a:pPr marL="0" indent="0" algn="l">
              <a:buNone/>
            </a:pPr>
            <a:r>
              <a:rPr lang="es-ES" b="1" i="0" dirty="0">
                <a:effectLst/>
                <a:highlight>
                  <a:srgbClr val="F9F9FE"/>
                </a:highlight>
                <a:latin typeface="-apple-system"/>
              </a:rPr>
              <a:t>Primera Disposición Transitoria</a:t>
            </a:r>
            <a:r>
              <a:rPr lang="es-ES" b="0" i="0" dirty="0">
                <a:effectLst/>
                <a:highlight>
                  <a:srgbClr val="F9F9FE"/>
                </a:highlight>
                <a:latin typeface="-apple-system"/>
              </a:rPr>
              <a:t>:</a:t>
            </a:r>
          </a:p>
          <a:p>
            <a:pPr marL="0" indent="0" algn="l">
              <a:buNone/>
            </a:pPr>
            <a:endParaRPr lang="es-ES" b="0" i="0" dirty="0">
              <a:effectLst/>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Se establece que, dentro de un plazo de cinco (5) años a partir de la publicación del reglamento, no se admitirán solicitudes de parte para el otorgamiento de concesiones en ciertos departamentos, específicamente en Lima, Ica, Arequipa, Cusco, Ayacucho y Junín. Esta medida busca evitar la saturación del mercado y asegurar una gestión ordenada de las concesiones en estas áreas.</a:t>
            </a:r>
          </a:p>
          <a:p>
            <a:pPr marL="742950" lvl="1" indent="-285750" algn="l">
              <a:buFont typeface="+mj-lt"/>
              <a:buAutoNum type="arabicPeriod"/>
            </a:pPr>
            <a:r>
              <a:rPr lang="es-ES" b="0" i="0" dirty="0">
                <a:effectLst/>
                <a:highlight>
                  <a:srgbClr val="F9F9FE"/>
                </a:highlight>
                <a:latin typeface="-apple-system"/>
              </a:rPr>
              <a:t>Esta disposición fue dejada sin efecto por el Artículo 2 del Decreto Supremo Nº 003-2003-EM, lo que indica que la restricción temporal fue posteriormente modificada.</a:t>
            </a:r>
          </a:p>
          <a:p>
            <a:pPr marL="457200" lvl="1" indent="0" algn="l">
              <a:buNone/>
            </a:pPr>
            <a:endParaRPr lang="es-ES" b="0" i="0" dirty="0">
              <a:effectLst/>
              <a:highlight>
                <a:srgbClr val="F9F9FE"/>
              </a:highlight>
              <a:latin typeface="-apple-system"/>
            </a:endParaRPr>
          </a:p>
          <a:p>
            <a:pPr marL="0" lvl="1" indent="0">
              <a:spcBef>
                <a:spcPts val="1000"/>
              </a:spcBef>
              <a:buNone/>
            </a:pPr>
            <a:r>
              <a:rPr lang="es-ES" sz="2800" b="1" dirty="0">
                <a:highlight>
                  <a:srgbClr val="F9F9FE"/>
                </a:highlight>
                <a:latin typeface="-apple-system"/>
              </a:rPr>
              <a:t>Segunda Disposición Transitoria:</a:t>
            </a:r>
          </a:p>
          <a:p>
            <a:pPr marL="0" lvl="1" indent="0">
              <a:spcBef>
                <a:spcPts val="1000"/>
              </a:spcBef>
              <a:buNone/>
            </a:pPr>
            <a:endParaRPr lang="es-ES" sz="2800" b="1" dirty="0">
              <a:highlight>
                <a:srgbClr val="F9F9FE"/>
              </a:highlight>
              <a:latin typeface="-apple-system"/>
            </a:endParaRPr>
          </a:p>
          <a:p>
            <a:pPr marL="742950" lvl="1" indent="-285750" algn="l">
              <a:buFont typeface="+mj-lt"/>
              <a:buAutoNum type="arabicPeriod"/>
            </a:pPr>
            <a:r>
              <a:rPr lang="es-ES" b="0" i="0" dirty="0">
                <a:effectLst/>
                <a:highlight>
                  <a:srgbClr val="F9F9FE"/>
                </a:highlight>
                <a:latin typeface="-apple-system"/>
              </a:rPr>
              <a:t>Los contratos de concesión que fueron suscritos antes de la entrada en vigor del reglamento se regirán por las disposiciones que estaban vigentes en el momento de su firma. Sin embargo, el nuevo reglamento se aplicará en todo lo que sea pertinente y no contradictorio con los contratos existentes.</a:t>
            </a:r>
          </a:p>
          <a:p>
            <a:pPr marL="742950" lvl="1" indent="-285750" algn="l">
              <a:buFont typeface="+mj-lt"/>
              <a:buAutoNum type="arabicPeriod"/>
            </a:pPr>
            <a:r>
              <a:rPr lang="es-ES" b="0" i="0" dirty="0">
                <a:effectLst/>
                <a:highlight>
                  <a:srgbClr val="F9F9FE"/>
                </a:highlight>
                <a:latin typeface="-apple-system"/>
              </a:rPr>
              <a:t>Esto asegura que los derechos y obligaciones previamente establecidos en los contratos no se vean afectados negativamente por la nueva normativa, permitiendo una transición más fluida.</a:t>
            </a:r>
          </a:p>
          <a:p>
            <a:endParaRPr lang="es-ES" dirty="0"/>
          </a:p>
        </p:txBody>
      </p:sp>
    </p:spTree>
    <p:extLst>
      <p:ext uri="{BB962C8B-B14F-4D97-AF65-F5344CB8AC3E}">
        <p14:creationId xmlns:p14="http://schemas.microsoft.com/office/powerpoint/2010/main" val="40832215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3CE46A2-ADFC-208B-A48B-EBCCC196C315}"/>
              </a:ext>
            </a:extLst>
          </p:cNvPr>
          <p:cNvSpPr>
            <a:spLocks noGrp="1"/>
          </p:cNvSpPr>
          <p:nvPr>
            <p:ph idx="1"/>
          </p:nvPr>
        </p:nvSpPr>
        <p:spPr>
          <a:xfrm>
            <a:off x="838200" y="858416"/>
            <a:ext cx="10515600" cy="5206482"/>
          </a:xfrm>
        </p:spPr>
        <p:txBody>
          <a:bodyPr>
            <a:normAutofit/>
          </a:bodyPr>
          <a:lstStyle/>
          <a:p>
            <a:pPr marL="0" indent="0" algn="l">
              <a:buNone/>
            </a:pPr>
            <a:r>
              <a:rPr lang="es-ES" b="1" i="0" dirty="0">
                <a:effectLst/>
                <a:highlight>
                  <a:srgbClr val="F9F9FE"/>
                </a:highlight>
                <a:latin typeface="-apple-system"/>
              </a:rPr>
              <a:t>Adaptación a Nuevas Normas</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establece un marco para que los concesionarios se adapten a las nuevas normas y procedimientos establecidos en el reglamento, permitiendo un tiempo razonable para la implementación de cambios necesarios en sus operaciones y prácticas.</a:t>
            </a:r>
          </a:p>
          <a:p>
            <a:pPr marL="0" indent="0" algn="l">
              <a:buNone/>
            </a:pPr>
            <a:r>
              <a:rPr lang="es-ES" b="1" i="0" dirty="0">
                <a:effectLst/>
                <a:highlight>
                  <a:srgbClr val="F9F9FE"/>
                </a:highlight>
                <a:latin typeface="-apple-system"/>
              </a:rPr>
              <a:t>Fiscalización y Cumplimiento</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Durante el período de transición, las autoridades competentes continuarán fiscalizando el cumplimiento de las disposiciones anteriores y las nuevas, asegurando que los concesionarios se ajusten a las normativas en vigor.</a:t>
            </a:r>
          </a:p>
          <a:p>
            <a:pPr marL="0" indent="0" algn="l">
              <a:buNone/>
            </a:pPr>
            <a:r>
              <a:rPr lang="es-ES" b="1" i="0" dirty="0">
                <a:effectLst/>
                <a:highlight>
                  <a:srgbClr val="F9F9FE"/>
                </a:highlight>
                <a:latin typeface="-apple-system"/>
              </a:rPr>
              <a:t>Revisión de Normativas</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contempla la posibilidad de revisar y ajustar las normativas en función de la experiencia adquirida durante el período de transición, lo que permite una mejora continua en la regulación de la distribución de gas natural.</a:t>
            </a:r>
          </a:p>
          <a:p>
            <a:endParaRPr lang="es-ES" dirty="0"/>
          </a:p>
        </p:txBody>
      </p:sp>
    </p:spTree>
    <p:extLst>
      <p:ext uri="{BB962C8B-B14F-4D97-AF65-F5344CB8AC3E}">
        <p14:creationId xmlns:p14="http://schemas.microsoft.com/office/powerpoint/2010/main" val="26544179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AE0E040-71F1-42F6-291A-9264FFFC5E27}"/>
              </a:ext>
            </a:extLst>
          </p:cNvPr>
          <p:cNvSpPr>
            <a:spLocks noGrp="1"/>
          </p:cNvSpPr>
          <p:nvPr>
            <p:ph idx="1"/>
          </p:nvPr>
        </p:nvSpPr>
        <p:spPr/>
        <p:txBody>
          <a:bodyPr/>
          <a:lstStyle/>
          <a:p>
            <a:pPr algn="just"/>
            <a:r>
              <a:rPr lang="es-ES" b="0" i="0" dirty="0">
                <a:effectLst/>
                <a:highlight>
                  <a:srgbClr val="F9F9FE"/>
                </a:highlight>
                <a:latin typeface="-apple-system"/>
              </a:rPr>
              <a:t>El Título VII establece un marco transitorio que permite la adaptación gradual a las nuevas disposiciones del reglamento de distribución de gas natural. Al regular la concesión de nuevas solicitudes y al asegurar que los contratos existentes se respeten, se busca facilitar una transición ordenada y efectiva hacia la implementación completa del nuevo marco normativo. Esto es crucial para mantener la estabilidad en el sector y garantizar que las operaciones de distribución se realicen de manera eficiente y conforme a las nuevas exigencias regulatoria</a:t>
            </a:r>
            <a:endParaRPr lang="es-ES" dirty="0"/>
          </a:p>
        </p:txBody>
      </p:sp>
    </p:spTree>
    <p:extLst>
      <p:ext uri="{BB962C8B-B14F-4D97-AF65-F5344CB8AC3E}">
        <p14:creationId xmlns:p14="http://schemas.microsoft.com/office/powerpoint/2010/main" val="33903355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4EDE88-A603-D2F7-9BA6-F408C7E1E52C}"/>
              </a:ext>
            </a:extLst>
          </p:cNvPr>
          <p:cNvSpPr>
            <a:spLocks noGrp="1"/>
          </p:cNvSpPr>
          <p:nvPr>
            <p:ph type="title"/>
          </p:nvPr>
        </p:nvSpPr>
        <p:spPr/>
        <p:txBody>
          <a:bodyPr>
            <a:normAutofit/>
          </a:bodyPr>
          <a:lstStyle/>
          <a:p>
            <a:r>
              <a:rPr lang="es-ES" sz="2400" b="1" i="0" dirty="0">
                <a:effectLst/>
                <a:highlight>
                  <a:srgbClr val="F9F9FE"/>
                </a:highlight>
                <a:latin typeface="-apple-system"/>
              </a:rPr>
              <a:t>Título VIII: Disposiciones Complementarias</a:t>
            </a:r>
            <a:endParaRPr lang="es-ES" sz="2400" dirty="0"/>
          </a:p>
        </p:txBody>
      </p:sp>
      <p:sp>
        <p:nvSpPr>
          <p:cNvPr id="3" name="Marcador de contenido 2">
            <a:extLst>
              <a:ext uri="{FF2B5EF4-FFF2-40B4-BE49-F238E27FC236}">
                <a16:creationId xmlns:a16="http://schemas.microsoft.com/office/drawing/2014/main" id="{7CB14E58-9F0F-9B64-9E5D-5B51E8D2CD63}"/>
              </a:ext>
            </a:extLst>
          </p:cNvPr>
          <p:cNvSpPr>
            <a:spLocks noGrp="1"/>
          </p:cNvSpPr>
          <p:nvPr>
            <p:ph idx="1"/>
          </p:nvPr>
        </p:nvSpPr>
        <p:spPr/>
        <p:txBody>
          <a:bodyPr/>
          <a:lstStyle/>
          <a:p>
            <a:r>
              <a:rPr lang="es-ES" dirty="0">
                <a:highlight>
                  <a:srgbClr val="F9F9FE"/>
                </a:highlight>
                <a:latin typeface="-apple-system"/>
              </a:rPr>
              <a:t>I</a:t>
            </a:r>
            <a:r>
              <a:rPr lang="es-ES" b="0" i="0" dirty="0">
                <a:effectLst/>
                <a:highlight>
                  <a:srgbClr val="F9F9FE"/>
                </a:highlight>
                <a:latin typeface="-apple-system"/>
              </a:rPr>
              <a:t>ncluye una serie de normas y directrices adicionales que complementan las disposiciones principales del reglamento</a:t>
            </a:r>
          </a:p>
          <a:p>
            <a:r>
              <a:rPr lang="es-ES" b="0" i="0" dirty="0">
                <a:effectLst/>
                <a:highlight>
                  <a:srgbClr val="F9F9FE"/>
                </a:highlight>
                <a:latin typeface="-apple-system"/>
              </a:rPr>
              <a:t> Es proporcionar un marco adicional que aborde aspectos específicos que no se detallan en los títulos anteriores, asegurando así una regulación más completa y efectiva de la distribución de gas natural.</a:t>
            </a:r>
            <a:endParaRPr lang="es-ES" dirty="0"/>
          </a:p>
        </p:txBody>
      </p:sp>
    </p:spTree>
    <p:extLst>
      <p:ext uri="{BB962C8B-B14F-4D97-AF65-F5344CB8AC3E}">
        <p14:creationId xmlns:p14="http://schemas.microsoft.com/office/powerpoint/2010/main" val="20982745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508982-EB59-59A9-C859-0B3B11B6F8C2}"/>
              </a:ext>
            </a:extLst>
          </p:cNvPr>
          <p:cNvSpPr>
            <a:spLocks noGrp="1"/>
          </p:cNvSpPr>
          <p:nvPr>
            <p:ph type="title"/>
          </p:nvPr>
        </p:nvSpPr>
        <p:spPr/>
        <p:txBody>
          <a:bodyPr>
            <a:normAutofit/>
          </a:bodyPr>
          <a:lstStyle/>
          <a:p>
            <a:r>
              <a:rPr lang="es-ES" sz="2800" dirty="0"/>
              <a:t>CONTENIDO DEL TITULO</a:t>
            </a:r>
          </a:p>
        </p:txBody>
      </p:sp>
      <p:sp>
        <p:nvSpPr>
          <p:cNvPr id="3" name="Marcador de contenido 2">
            <a:extLst>
              <a:ext uri="{FF2B5EF4-FFF2-40B4-BE49-F238E27FC236}">
                <a16:creationId xmlns:a16="http://schemas.microsoft.com/office/drawing/2014/main" id="{DC0A7E1D-3FE3-B986-4778-A4AB13DA2FF0}"/>
              </a:ext>
            </a:extLst>
          </p:cNvPr>
          <p:cNvSpPr>
            <a:spLocks noGrp="1"/>
          </p:cNvSpPr>
          <p:nvPr>
            <p:ph idx="1"/>
          </p:nvPr>
        </p:nvSpPr>
        <p:spPr>
          <a:xfrm>
            <a:off x="838200" y="1502229"/>
            <a:ext cx="10515600" cy="4833257"/>
          </a:xfrm>
        </p:spPr>
        <p:txBody>
          <a:bodyPr>
            <a:normAutofit fontScale="92500" lnSpcReduction="20000"/>
          </a:bodyPr>
          <a:lstStyle/>
          <a:p>
            <a:pPr marL="0" indent="0" algn="l">
              <a:buNone/>
            </a:pPr>
            <a:endParaRPr lang="es-ES" b="1" i="0" dirty="0">
              <a:effectLst/>
              <a:highlight>
                <a:srgbClr val="F9F9FE"/>
              </a:highlight>
              <a:latin typeface="-apple-system"/>
            </a:endParaRPr>
          </a:p>
          <a:p>
            <a:pPr marL="0" indent="0" algn="l">
              <a:buNone/>
            </a:pPr>
            <a:r>
              <a:rPr lang="es-ES" b="1" i="0" dirty="0">
                <a:effectLst/>
                <a:highlight>
                  <a:srgbClr val="F9F9FE"/>
                </a:highlight>
                <a:latin typeface="-apple-system"/>
              </a:rPr>
              <a:t>Normas de Seguridad</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enfatiza la importancia de las normas de seguridad en la distribución de gas natural. Estas normas son fundamentales para garantizar la integridad de las instalaciones y la seguridad de los usuarios y del medio ambiente.</a:t>
            </a:r>
          </a:p>
          <a:p>
            <a:pPr marL="742950" lvl="1" indent="-285750" algn="l">
              <a:buFont typeface="+mj-lt"/>
              <a:buAutoNum type="arabicPeriod"/>
            </a:pPr>
            <a:r>
              <a:rPr lang="es-ES" b="0" i="0" dirty="0">
                <a:effectLst/>
                <a:highlight>
                  <a:srgbClr val="F9F9FE"/>
                </a:highlight>
                <a:latin typeface="-apple-system"/>
              </a:rPr>
              <a:t>Se espera que los concesionarios implementen y cumplan con las normas de seguridad establecidas, que pueden incluir procedimientos de operación, mantenimiento y emergencias.</a:t>
            </a:r>
          </a:p>
          <a:p>
            <a:pPr marL="0" indent="0" algn="l">
              <a:buNone/>
            </a:pPr>
            <a:r>
              <a:rPr lang="es-ES" b="1" i="0" dirty="0">
                <a:effectLst/>
                <a:highlight>
                  <a:srgbClr val="F9F9FE"/>
                </a:highlight>
                <a:latin typeface="-apple-system"/>
              </a:rPr>
              <a:t>Protección Ambiental</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establece que las actividades de distribución de gas natural deben realizarse en conformidad con las leyes y regulaciones ambientales pertinentes. Esto incluye la Ley General del Ambiente y el Reglamento para la Protección Ambiental en Actividades de Hidrocarburos.</a:t>
            </a:r>
          </a:p>
          <a:p>
            <a:pPr marL="742950" lvl="1" indent="-285750" algn="l">
              <a:buFont typeface="+mj-lt"/>
              <a:buAutoNum type="arabicPeriod"/>
            </a:pPr>
            <a:r>
              <a:rPr lang="es-ES" b="0" i="0" dirty="0">
                <a:effectLst/>
                <a:highlight>
                  <a:srgbClr val="F9F9FE"/>
                </a:highlight>
                <a:latin typeface="-apple-system"/>
              </a:rPr>
              <a:t>Los concesionarios deben adoptar medidas para minimizar el impacto ambiental de sus operaciones, lo que incluye la gestión adecuada de residuos y la prevención de contaminación.</a:t>
            </a:r>
          </a:p>
          <a:p>
            <a:endParaRPr lang="es-ES" dirty="0"/>
          </a:p>
        </p:txBody>
      </p:sp>
    </p:spTree>
    <p:extLst>
      <p:ext uri="{BB962C8B-B14F-4D97-AF65-F5344CB8AC3E}">
        <p14:creationId xmlns:p14="http://schemas.microsoft.com/office/powerpoint/2010/main" val="41990242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8906C4E-37E8-CE42-A3AE-8DE65D07AD5B}"/>
              </a:ext>
            </a:extLst>
          </p:cNvPr>
          <p:cNvSpPr>
            <a:spLocks noGrp="1"/>
          </p:cNvSpPr>
          <p:nvPr>
            <p:ph idx="1"/>
          </p:nvPr>
        </p:nvSpPr>
        <p:spPr/>
        <p:txBody>
          <a:bodyPr>
            <a:normAutofit/>
          </a:bodyPr>
          <a:lstStyle/>
          <a:p>
            <a:pPr marL="0" indent="0" algn="l">
              <a:buNone/>
            </a:pPr>
            <a:r>
              <a:rPr lang="es-ES" b="1" i="0" dirty="0">
                <a:effectLst/>
                <a:highlight>
                  <a:srgbClr val="F9F9FE"/>
                </a:highlight>
                <a:latin typeface="-apple-system"/>
              </a:rPr>
              <a:t>Procedimientos Administrativos</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detallan los procedimientos administrativos que deben seguir los concesionarios para la obtención de permisos y autorizaciones necesarias para operar. Esto incluye la presentación de planes y estudios que demuestren el cumplimiento de las normativas vigentes.</a:t>
            </a:r>
          </a:p>
          <a:p>
            <a:pPr marL="0" indent="0" algn="l">
              <a:buNone/>
            </a:pPr>
            <a:r>
              <a:rPr lang="es-ES" b="1" i="0" dirty="0">
                <a:effectLst/>
                <a:highlight>
                  <a:srgbClr val="F9F9FE"/>
                </a:highlight>
                <a:latin typeface="-apple-system"/>
              </a:rPr>
              <a:t>Coordinación con Autoridades</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establece la necesidad de coordinación entre los concesionarios y las autoridades competentes, como OSINERGMIN y la DGH, para asegurar que se cumplan todas las regulaciones y se resuelvan adecuadamente las solicitudes y requerimientos.</a:t>
            </a:r>
          </a:p>
          <a:p>
            <a:endParaRPr lang="es-ES" dirty="0"/>
          </a:p>
        </p:txBody>
      </p:sp>
    </p:spTree>
    <p:extLst>
      <p:ext uri="{BB962C8B-B14F-4D97-AF65-F5344CB8AC3E}">
        <p14:creationId xmlns:p14="http://schemas.microsoft.com/office/powerpoint/2010/main" val="36206007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7D88283-734D-9C4E-1435-B985333830B5}"/>
              </a:ext>
            </a:extLst>
          </p:cNvPr>
          <p:cNvSpPr>
            <a:spLocks noGrp="1"/>
          </p:cNvSpPr>
          <p:nvPr>
            <p:ph idx="1"/>
          </p:nvPr>
        </p:nvSpPr>
        <p:spPr>
          <a:xfrm>
            <a:off x="838200" y="1688841"/>
            <a:ext cx="10515600" cy="4488122"/>
          </a:xfrm>
        </p:spPr>
        <p:txBody>
          <a:bodyPr/>
          <a:lstStyle/>
          <a:p>
            <a:pPr marL="0" indent="0" algn="l">
              <a:buNone/>
            </a:pPr>
            <a:r>
              <a:rPr lang="es-ES" b="1" i="0" dirty="0">
                <a:effectLst/>
                <a:highlight>
                  <a:srgbClr val="F9F9FE"/>
                </a:highlight>
                <a:latin typeface="-apple-system"/>
              </a:rPr>
              <a:t>Disposiciones sobre Tarifas</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pueden incluir directrices sobre la fijación de tarifas, asegurando que estas sean justas y reflejen los costos reales de operación, así como las inversiones realizadas por los concesionarios.</a:t>
            </a:r>
          </a:p>
          <a:p>
            <a:pPr marL="742950" lvl="1" indent="-285750" algn="l">
              <a:buFont typeface="+mj-lt"/>
              <a:buAutoNum type="arabicPeriod"/>
            </a:pPr>
            <a:endParaRPr lang="es-ES" b="0" i="0" dirty="0">
              <a:effectLst/>
              <a:highlight>
                <a:srgbClr val="F9F9FE"/>
              </a:highlight>
              <a:latin typeface="-apple-system"/>
            </a:endParaRPr>
          </a:p>
          <a:p>
            <a:pPr marL="0" indent="0" algn="l">
              <a:buNone/>
            </a:pPr>
            <a:r>
              <a:rPr lang="es-ES" b="1" i="0" dirty="0">
                <a:effectLst/>
                <a:highlight>
                  <a:srgbClr val="F9F9FE"/>
                </a:highlight>
                <a:latin typeface="-apple-system"/>
              </a:rPr>
              <a:t>Capacitación y Formación</a:t>
            </a:r>
            <a:r>
              <a:rPr lang="es-ES" b="0" i="0" dirty="0">
                <a:effectLst/>
                <a:highlight>
                  <a:srgbClr val="F9F9FE"/>
                </a:highlight>
                <a:latin typeface="-apple-system"/>
              </a:rPr>
              <a:t>:</a:t>
            </a:r>
          </a:p>
          <a:p>
            <a:pPr marL="742950" lvl="1" indent="-285750" algn="l">
              <a:buFont typeface="+mj-lt"/>
              <a:buAutoNum type="arabicPeriod"/>
            </a:pPr>
            <a:r>
              <a:rPr lang="es-ES" b="0" i="0" dirty="0">
                <a:effectLst/>
                <a:highlight>
                  <a:srgbClr val="F9F9FE"/>
                </a:highlight>
                <a:latin typeface="-apple-system"/>
              </a:rPr>
              <a:t>Se puede hacer hincapié en la necesidad de capacitación y formación continua para el personal de los concesionarios, asegurando que estén al tanto de las mejores prácticas y de las normativas vigentes.</a:t>
            </a:r>
          </a:p>
          <a:p>
            <a:endParaRPr lang="es-ES" dirty="0"/>
          </a:p>
        </p:txBody>
      </p:sp>
    </p:spTree>
    <p:extLst>
      <p:ext uri="{BB962C8B-B14F-4D97-AF65-F5344CB8AC3E}">
        <p14:creationId xmlns:p14="http://schemas.microsoft.com/office/powerpoint/2010/main" val="10337771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FBE38A4-BFA5-125C-E4CF-8A57EA14FF05}"/>
              </a:ext>
            </a:extLst>
          </p:cNvPr>
          <p:cNvSpPr>
            <a:spLocks noGrp="1"/>
          </p:cNvSpPr>
          <p:nvPr>
            <p:ph idx="1"/>
          </p:nvPr>
        </p:nvSpPr>
        <p:spPr>
          <a:xfrm>
            <a:off x="838200" y="933061"/>
            <a:ext cx="10515600" cy="5243902"/>
          </a:xfrm>
        </p:spPr>
        <p:txBody>
          <a:bodyPr>
            <a:normAutofit fontScale="70000" lnSpcReduction="20000"/>
          </a:bodyPr>
          <a:lstStyle/>
          <a:p>
            <a:pPr marL="0" indent="0" algn="l">
              <a:buNone/>
            </a:pPr>
            <a:r>
              <a:rPr lang="es-ES" b="1" i="0" dirty="0">
                <a:effectLst/>
                <a:highlight>
                  <a:srgbClr val="F9F9FE"/>
                </a:highlight>
                <a:latin typeface="-apple-system"/>
              </a:rPr>
              <a:t>Anexo 1: Normas de Seguridad para la Distribución de Gas Natural por Red de Ductos</a:t>
            </a:r>
          </a:p>
          <a:p>
            <a:pPr marL="0" indent="0" algn="l">
              <a:buNone/>
            </a:pPr>
            <a:endParaRPr lang="es-ES" b="1" i="0" dirty="0">
              <a:effectLst/>
              <a:highlight>
                <a:srgbClr val="F9F9FE"/>
              </a:highlight>
              <a:latin typeface="-apple-system"/>
            </a:endParaRPr>
          </a:p>
          <a:p>
            <a:pPr algn="l">
              <a:buFont typeface="Arial" panose="020B0604020202020204" pitchFamily="34" charset="0"/>
              <a:buChar char="•"/>
            </a:pPr>
            <a:r>
              <a:rPr lang="es-ES" b="1" i="0" dirty="0">
                <a:effectLst/>
                <a:highlight>
                  <a:srgbClr val="F9F9FE"/>
                </a:highlight>
                <a:latin typeface="-apple-system"/>
              </a:rPr>
              <a:t>Objetivo</a:t>
            </a:r>
            <a:r>
              <a:rPr lang="es-ES" b="0" i="0" dirty="0">
                <a:effectLst/>
                <a:highlight>
                  <a:srgbClr val="F9F9FE"/>
                </a:highlight>
                <a:latin typeface="-apple-system"/>
              </a:rPr>
              <a:t>: Establecer un conjunto de normas de seguridad que deben ser cumplidas por las empresas concesionarias en la distribución de gas natural.</a:t>
            </a:r>
          </a:p>
          <a:p>
            <a:pPr algn="l">
              <a:buFont typeface="Arial" panose="020B0604020202020204" pitchFamily="34" charset="0"/>
              <a:buChar char="•"/>
            </a:pPr>
            <a:r>
              <a:rPr lang="es-ES" b="1" i="0" dirty="0">
                <a:effectLst/>
                <a:highlight>
                  <a:srgbClr val="F9F9FE"/>
                </a:highlight>
                <a:latin typeface="-apple-system"/>
              </a:rPr>
              <a:t>Contenido</a:t>
            </a:r>
            <a:r>
              <a:rPr lang="es-ES" b="0" i="0" dirty="0">
                <a:effectLst/>
                <a:highlight>
                  <a:srgbClr val="F9F9FE"/>
                </a:highlight>
                <a:latin typeface="-apple-system"/>
              </a:rPr>
              <a:t>:</a:t>
            </a:r>
          </a:p>
          <a:p>
            <a:pPr marL="742950" lvl="1" indent="-285750" algn="l">
              <a:buFont typeface="Arial" panose="020B0604020202020204" pitchFamily="34" charset="0"/>
              <a:buChar char="•"/>
            </a:pPr>
            <a:r>
              <a:rPr lang="es-ES" b="1" i="0" dirty="0">
                <a:effectLst/>
                <a:highlight>
                  <a:srgbClr val="F9F9FE"/>
                </a:highlight>
                <a:latin typeface="-apple-system"/>
              </a:rPr>
              <a:t>Diseño y Construcción</a:t>
            </a:r>
            <a:r>
              <a:rPr lang="es-ES" b="0" i="0" dirty="0">
                <a:effectLst/>
                <a:highlight>
                  <a:srgbClr val="F9F9FE"/>
                </a:highlight>
                <a:latin typeface="-apple-system"/>
              </a:rPr>
              <a:t>: Normas que regulan el diseño seguro de las instalaciones y la construcción de infraestructuras de gas.</a:t>
            </a:r>
          </a:p>
          <a:p>
            <a:pPr marL="742950" lvl="1" indent="-285750" algn="l">
              <a:buFont typeface="Arial" panose="020B0604020202020204" pitchFamily="34" charset="0"/>
              <a:buChar char="•"/>
            </a:pPr>
            <a:r>
              <a:rPr lang="es-ES" b="1" i="0" dirty="0">
                <a:effectLst/>
                <a:highlight>
                  <a:srgbClr val="F9F9FE"/>
                </a:highlight>
                <a:latin typeface="-apple-system"/>
              </a:rPr>
              <a:t>Operación y Mantenimiento</a:t>
            </a:r>
            <a:r>
              <a:rPr lang="es-ES" b="0" i="0" dirty="0">
                <a:effectLst/>
                <a:highlight>
                  <a:srgbClr val="F9F9FE"/>
                </a:highlight>
                <a:latin typeface="-apple-system"/>
              </a:rPr>
              <a:t>: Directrices para la operación segura de las instalaciones y el mantenimiento preventivo y correctivo.</a:t>
            </a:r>
          </a:p>
          <a:p>
            <a:pPr marL="742950" lvl="1" indent="-285750" algn="l">
              <a:buFont typeface="Arial" panose="020B0604020202020204" pitchFamily="34" charset="0"/>
              <a:buChar char="•"/>
            </a:pPr>
            <a:r>
              <a:rPr lang="es-ES" b="1" i="0" dirty="0">
                <a:effectLst/>
                <a:highlight>
                  <a:srgbClr val="F9F9FE"/>
                </a:highlight>
                <a:latin typeface="-apple-system"/>
              </a:rPr>
              <a:t>Protección del Personal y Usuarios</a:t>
            </a:r>
            <a:r>
              <a:rPr lang="es-ES" b="0" i="0" dirty="0">
                <a:effectLst/>
                <a:highlight>
                  <a:srgbClr val="F9F9FE"/>
                </a:highlight>
                <a:latin typeface="-apple-system"/>
              </a:rPr>
              <a:t>: Medidas para garantizar la seguridad del personal que opera las instalaciones y de los usuarios finales.</a:t>
            </a:r>
          </a:p>
          <a:p>
            <a:pPr marL="742950" lvl="1" indent="-285750" algn="l">
              <a:buFont typeface="Arial" panose="020B0604020202020204" pitchFamily="34" charset="0"/>
              <a:buChar char="•"/>
            </a:pPr>
            <a:r>
              <a:rPr lang="es-ES" b="1" i="0" dirty="0">
                <a:effectLst/>
                <a:highlight>
                  <a:srgbClr val="F9F9FE"/>
                </a:highlight>
                <a:latin typeface="-apple-system"/>
              </a:rPr>
              <a:t>Gestión de Emergencias</a:t>
            </a:r>
            <a:r>
              <a:rPr lang="es-ES" b="0" i="0" dirty="0">
                <a:effectLst/>
                <a:highlight>
                  <a:srgbClr val="F9F9FE"/>
                </a:highlight>
                <a:latin typeface="-apple-system"/>
              </a:rPr>
              <a:t>: Protocolos a seguir en caso de incidentes o emergencias relacionadas con la distribución de gas.</a:t>
            </a:r>
          </a:p>
          <a:p>
            <a:pPr marL="0" indent="0" algn="l">
              <a:buNone/>
            </a:pPr>
            <a:endParaRPr lang="es-ES" b="1" i="0" dirty="0">
              <a:effectLst/>
              <a:highlight>
                <a:srgbClr val="F9F9FE"/>
              </a:highlight>
              <a:latin typeface="-apple-system"/>
            </a:endParaRPr>
          </a:p>
          <a:p>
            <a:pPr marL="0" indent="0" algn="l">
              <a:buNone/>
            </a:pPr>
            <a:r>
              <a:rPr lang="es-ES" b="0" i="0" dirty="0">
                <a:effectLst/>
                <a:highlight>
                  <a:srgbClr val="F9F9FE"/>
                </a:highlight>
                <a:latin typeface="-apple-system"/>
              </a:rPr>
              <a:t>El Anexo 1 proporciona un marco normativo que busca garantizar la seguridad en todas las etapas de la distribución de gas natural. Se enfoca en la prevención de accidentes y la protección de las personas y el medio ambiente, estableciendo directrices claras para el diseño, construcción, operación y mantenimiento de las instalaciones de gas. Este anexo es fundamental para asegurar que las operaciones de distribución se realicen de manera segura y eficiente.</a:t>
            </a:r>
          </a:p>
        </p:txBody>
      </p:sp>
      <p:sp>
        <p:nvSpPr>
          <p:cNvPr id="2" name="Título 1">
            <a:extLst>
              <a:ext uri="{FF2B5EF4-FFF2-40B4-BE49-F238E27FC236}">
                <a16:creationId xmlns:a16="http://schemas.microsoft.com/office/drawing/2014/main" id="{C18B29F7-4C55-166D-9C1F-369B7139E74F}"/>
              </a:ext>
            </a:extLst>
          </p:cNvPr>
          <p:cNvSpPr>
            <a:spLocks noGrp="1"/>
          </p:cNvSpPr>
          <p:nvPr>
            <p:ph type="title"/>
          </p:nvPr>
        </p:nvSpPr>
        <p:spPr>
          <a:xfrm>
            <a:off x="987490" y="243828"/>
            <a:ext cx="7214118" cy="567936"/>
          </a:xfrm>
        </p:spPr>
        <p:txBody>
          <a:bodyPr>
            <a:normAutofit/>
          </a:bodyPr>
          <a:lstStyle/>
          <a:p>
            <a:r>
              <a:rPr lang="es-ES" sz="2800" dirty="0"/>
              <a:t>ANEXOS</a:t>
            </a:r>
          </a:p>
        </p:txBody>
      </p:sp>
    </p:spTree>
    <p:extLst>
      <p:ext uri="{BB962C8B-B14F-4D97-AF65-F5344CB8AC3E}">
        <p14:creationId xmlns:p14="http://schemas.microsoft.com/office/powerpoint/2010/main" val="24580332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83AC569-89B5-A5D8-9294-2847625C72A9}"/>
              </a:ext>
            </a:extLst>
          </p:cNvPr>
          <p:cNvSpPr>
            <a:spLocks noGrp="1"/>
          </p:cNvSpPr>
          <p:nvPr>
            <p:ph idx="1"/>
          </p:nvPr>
        </p:nvSpPr>
        <p:spPr>
          <a:xfrm>
            <a:off x="838200" y="895738"/>
            <a:ext cx="10515600" cy="5533053"/>
          </a:xfrm>
        </p:spPr>
        <p:txBody>
          <a:bodyPr>
            <a:normAutofit fontScale="70000" lnSpcReduction="20000"/>
          </a:bodyPr>
          <a:lstStyle/>
          <a:p>
            <a:pPr marL="0" indent="0" algn="l">
              <a:buNone/>
            </a:pPr>
            <a:r>
              <a:rPr lang="es-ES" b="1" i="0" dirty="0">
                <a:effectLst/>
                <a:highlight>
                  <a:srgbClr val="F9F9FE"/>
                </a:highlight>
                <a:latin typeface="-apple-system"/>
              </a:rPr>
              <a:t>Anexo 2: Procedimiento de Instalación de Tuberías Multicapas Compuestas de PE-AL-PE y/o PEX-AL-PEX en Instalaciones Residenciales y Comerciales de Gas Natural</a:t>
            </a:r>
          </a:p>
          <a:p>
            <a:pPr marL="0" indent="0" algn="l">
              <a:buNone/>
            </a:pPr>
            <a:endParaRPr lang="es-ES" b="1" i="0" dirty="0">
              <a:effectLst/>
              <a:highlight>
                <a:srgbClr val="F9F9FE"/>
              </a:highlight>
              <a:latin typeface="-apple-system"/>
            </a:endParaRPr>
          </a:p>
          <a:p>
            <a:pPr algn="l">
              <a:buFont typeface="Arial" panose="020B0604020202020204" pitchFamily="34" charset="0"/>
              <a:buChar char="•"/>
            </a:pPr>
            <a:r>
              <a:rPr lang="es-ES" b="1" i="0" dirty="0">
                <a:effectLst/>
                <a:highlight>
                  <a:srgbClr val="F9F9FE"/>
                </a:highlight>
                <a:latin typeface="-apple-system"/>
              </a:rPr>
              <a:t>Objetivo</a:t>
            </a:r>
            <a:r>
              <a:rPr lang="es-ES" b="0" i="0" dirty="0">
                <a:effectLst/>
                <a:highlight>
                  <a:srgbClr val="F9F9FE"/>
                </a:highlight>
                <a:latin typeface="-apple-system"/>
              </a:rPr>
              <a:t>: Definir el procedimiento para la instalación de tuberías multicapa, que son utilizadas en la distribución de gas natural en edificaciones.</a:t>
            </a:r>
          </a:p>
          <a:p>
            <a:pPr algn="l">
              <a:buFont typeface="Arial" panose="020B0604020202020204" pitchFamily="34" charset="0"/>
              <a:buChar char="•"/>
            </a:pPr>
            <a:endParaRPr lang="es-ES" b="0" i="0" dirty="0">
              <a:effectLst/>
              <a:highlight>
                <a:srgbClr val="F9F9FE"/>
              </a:highlight>
              <a:latin typeface="-apple-system"/>
            </a:endParaRPr>
          </a:p>
          <a:p>
            <a:pPr algn="l">
              <a:buFont typeface="Arial" panose="020B0604020202020204" pitchFamily="34" charset="0"/>
              <a:buChar char="•"/>
            </a:pPr>
            <a:r>
              <a:rPr lang="es-ES" b="1" i="0" dirty="0">
                <a:effectLst/>
                <a:highlight>
                  <a:srgbClr val="F9F9FE"/>
                </a:highlight>
                <a:latin typeface="-apple-system"/>
              </a:rPr>
              <a:t>Contenido</a:t>
            </a:r>
            <a:r>
              <a:rPr lang="es-ES" b="0" i="0" dirty="0">
                <a:effectLst/>
                <a:highlight>
                  <a:srgbClr val="F9F9FE"/>
                </a:highlight>
                <a:latin typeface="-apple-system"/>
              </a:rPr>
              <a:t>:</a:t>
            </a:r>
          </a:p>
          <a:p>
            <a:pPr marL="742950" lvl="1" indent="-285750" algn="l">
              <a:buFont typeface="Arial" panose="020B0604020202020204" pitchFamily="34" charset="0"/>
              <a:buChar char="•"/>
            </a:pPr>
            <a:r>
              <a:rPr lang="es-ES" b="1" i="0" dirty="0">
                <a:effectLst/>
                <a:highlight>
                  <a:srgbClr val="F9F9FE"/>
                </a:highlight>
                <a:latin typeface="-apple-system"/>
              </a:rPr>
              <a:t>Especificaciones Técnicas</a:t>
            </a:r>
            <a:r>
              <a:rPr lang="es-ES" b="0" i="0" dirty="0">
                <a:effectLst/>
                <a:highlight>
                  <a:srgbClr val="F9F9FE"/>
                </a:highlight>
                <a:latin typeface="-apple-system"/>
              </a:rPr>
              <a:t>: Detalles sobre los materiales (PE-AL-PE y PEX-AL-PEX) y sus propiedades.</a:t>
            </a:r>
          </a:p>
          <a:p>
            <a:pPr marL="742950" lvl="1" indent="-285750" algn="l">
              <a:buFont typeface="Arial" panose="020B0604020202020204" pitchFamily="34" charset="0"/>
              <a:buChar char="•"/>
            </a:pPr>
            <a:r>
              <a:rPr lang="es-ES" b="1" i="0" dirty="0">
                <a:effectLst/>
                <a:highlight>
                  <a:srgbClr val="F9F9FE"/>
                </a:highlight>
                <a:latin typeface="-apple-system"/>
              </a:rPr>
              <a:t>Métodos de Instalación</a:t>
            </a:r>
            <a:r>
              <a:rPr lang="es-ES" b="0" i="0" dirty="0">
                <a:effectLst/>
                <a:highlight>
                  <a:srgbClr val="F9F9FE"/>
                </a:highlight>
                <a:latin typeface="-apple-system"/>
              </a:rPr>
              <a:t>: Instrucciones paso a paso sobre cómo realizar la instalación de manera segura y eficiente.</a:t>
            </a:r>
          </a:p>
          <a:p>
            <a:pPr marL="742950" lvl="1" indent="-285750" algn="l">
              <a:buFont typeface="Arial" panose="020B0604020202020204" pitchFamily="34" charset="0"/>
              <a:buChar char="•"/>
            </a:pPr>
            <a:r>
              <a:rPr lang="es-ES" b="1" i="0" dirty="0">
                <a:effectLst/>
                <a:highlight>
                  <a:srgbClr val="F9F9FE"/>
                </a:highlight>
                <a:latin typeface="-apple-system"/>
              </a:rPr>
              <a:t>Pruebas de Seguridad</a:t>
            </a:r>
            <a:r>
              <a:rPr lang="es-ES" b="0" i="0" dirty="0">
                <a:effectLst/>
                <a:highlight>
                  <a:srgbClr val="F9F9FE"/>
                </a:highlight>
                <a:latin typeface="-apple-system"/>
              </a:rPr>
              <a:t>: Requisitos para las pruebas que deben realizarse para verificar la operabilidad y seguridad de las instalaciones después de la instalación.</a:t>
            </a:r>
          </a:p>
          <a:p>
            <a:pPr marL="0" indent="0" algn="l">
              <a:buNone/>
            </a:pPr>
            <a:endParaRPr lang="es-ES" b="1" i="0" dirty="0">
              <a:effectLst/>
              <a:highlight>
                <a:srgbClr val="F9F9FE"/>
              </a:highlight>
              <a:latin typeface="-apple-system"/>
            </a:endParaRPr>
          </a:p>
          <a:p>
            <a:pPr marL="0" indent="0" algn="l">
              <a:buNone/>
            </a:pPr>
            <a:r>
              <a:rPr lang="es-ES" b="0" i="0" dirty="0">
                <a:effectLst/>
                <a:highlight>
                  <a:srgbClr val="F9F9FE"/>
                </a:highlight>
                <a:latin typeface="-apple-system"/>
              </a:rPr>
              <a:t>El Anexo 2 establece un procedimiento detallado para la instalación de tuberías multicapa en sistemas de gas natural, asegurando que se sigan las mejores prácticas y estándares de calidad. Este anexo es crucial para garantizar que las instalaciones sean seguras y funcionales, minimizando el riesgo de fugas y otros problemas operativos. Se enfatiza la importancia de realizar pruebas de seguridad para asegurar la integridad del sistema de distribución de gas </a:t>
            </a:r>
            <a:br>
              <a:rPr lang="es-ES" dirty="0"/>
            </a:br>
            <a:endParaRPr lang="es-ES" dirty="0"/>
          </a:p>
          <a:p>
            <a:endParaRPr lang="es-ES" dirty="0"/>
          </a:p>
        </p:txBody>
      </p:sp>
    </p:spTree>
    <p:extLst>
      <p:ext uri="{BB962C8B-B14F-4D97-AF65-F5344CB8AC3E}">
        <p14:creationId xmlns:p14="http://schemas.microsoft.com/office/powerpoint/2010/main" val="26537669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6188</TotalTime>
  <Words>5152</Words>
  <Application>Microsoft Office PowerPoint</Application>
  <PresentationFormat>Panorámica</PresentationFormat>
  <Paragraphs>253</Paragraphs>
  <Slides>58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58</vt:i4>
      </vt:variant>
    </vt:vector>
  </HeadingPairs>
  <TitlesOfParts>
    <vt:vector size="64" baseType="lpstr">
      <vt:lpstr>-apple-system</vt:lpstr>
      <vt:lpstr>Arial</vt:lpstr>
      <vt:lpstr>Calibri</vt:lpstr>
      <vt:lpstr>Outfit</vt:lpstr>
      <vt:lpstr>Prompt</vt:lpstr>
      <vt:lpstr>Tema de Office</vt:lpstr>
      <vt:lpstr>Presentación de PowerPoint</vt:lpstr>
      <vt:lpstr>Presentación de PowerPoint</vt:lpstr>
      <vt:lpstr>Información del Docente</vt:lpstr>
      <vt:lpstr>MODULO 1 : INDUSTRIA DEL GAS Y PETROLEO : FUNCIONAMIENTO Y PERSPECTIVAS</vt:lpstr>
      <vt:lpstr>Situación Actual :</vt:lpstr>
      <vt:lpstr>Presentación de PowerPoint</vt:lpstr>
      <vt:lpstr>Perspectivas de la Industria de Gas y Petróleo en el Perú</vt:lpstr>
      <vt:lpstr>Presentación de PowerPoint</vt:lpstr>
      <vt:lpstr>Introducción al Conocimiento del Gas Natural – Características.</vt:lpstr>
      <vt:lpstr>Presentación de PowerPoint</vt:lpstr>
      <vt:lpstr>Introducción al conocimiento del petróleo –Características.</vt:lpstr>
      <vt:lpstr>Situación del Petróleo en Perú</vt:lpstr>
      <vt:lpstr>Presentación de PowerPoint</vt:lpstr>
      <vt:lpstr>Legislación Internacional relativa a la prospección , producción , Transporte y Distribución de Gas y Petróleo.</vt:lpstr>
      <vt:lpstr>Presentación de PowerPoint</vt:lpstr>
      <vt:lpstr>Normas Internacionales Relevantes </vt:lpstr>
      <vt:lpstr>Presentación de PowerPoint</vt:lpstr>
      <vt:lpstr>Presentación de PowerPoint</vt:lpstr>
      <vt:lpstr>Análisis del DS-040-2008 EM y sus Modificaciones </vt:lpstr>
      <vt:lpstr>Presentación de PowerPoint</vt:lpstr>
      <vt:lpstr>Presentación de PowerPoint</vt:lpstr>
      <vt:lpstr>TITULO 1 – DISPOSICIONES GENERALES. </vt:lpstr>
      <vt:lpstr>Presentación de PowerPoint</vt:lpstr>
      <vt:lpstr>Presentación de PowerPoint</vt:lpstr>
      <vt:lpstr>TITULO II – CONCESIÓN DE LA DISTRIBUCION </vt:lpstr>
      <vt:lpstr>Capitulo Primero - Exclusividad - Acceso Abierto. </vt:lpstr>
      <vt:lpstr>Presentación de PowerPoint</vt:lpstr>
      <vt:lpstr>Presentación de PowerPoint</vt:lpstr>
      <vt:lpstr>Presentación de PowerPoint</vt:lpstr>
      <vt:lpstr>Presentación de PowerPoint</vt:lpstr>
      <vt:lpstr>Presentación de PowerPoint</vt:lpstr>
      <vt:lpstr>Presentación de PowerPoint</vt:lpstr>
      <vt:lpstr> Título IV: Uso de Bienes Públicos y de Terceros</vt:lpstr>
      <vt:lpstr>ARTICULOS CLAVE</vt:lpstr>
      <vt:lpstr>Presentación de PowerPoint</vt:lpstr>
      <vt:lpstr>Presentación de PowerPoint</vt:lpstr>
      <vt:lpstr>Presentación de PowerPoint</vt:lpstr>
      <vt:lpstr>Presentación de PowerPoint</vt:lpstr>
      <vt:lpstr> Título V: Tarifas de Distribución</vt:lpstr>
      <vt:lpstr> Artículos Clave.</vt:lpstr>
      <vt:lpstr>Presentación de PowerPoint</vt:lpstr>
      <vt:lpstr>Presentación de PowerPoint</vt:lpstr>
      <vt:lpstr> Título VI: Protección Ambiental</vt:lpstr>
      <vt:lpstr>ARTICULOS CLAVE</vt:lpstr>
      <vt:lpstr>Presentación de PowerPoint</vt:lpstr>
      <vt:lpstr>Presentación de PowerPoint</vt:lpstr>
      <vt:lpstr>Presentación de PowerPoint</vt:lpstr>
      <vt:lpstr>El Título VII: Disposiciones Transitorias</vt:lpstr>
      <vt:lpstr>ARTICULOS CLAVE</vt:lpstr>
      <vt:lpstr>Presentación de PowerPoint</vt:lpstr>
      <vt:lpstr>Presentación de PowerPoint</vt:lpstr>
      <vt:lpstr>Título VIII: Disposiciones Complementarias</vt:lpstr>
      <vt:lpstr>CONTENIDO DEL TITULO</vt:lpstr>
      <vt:lpstr>Presentación de PowerPoint</vt:lpstr>
      <vt:lpstr>Presentación de PowerPoint</vt:lpstr>
      <vt:lpstr>ANEXOS</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Benji Jonathan Cruzate Contreras</cp:lastModifiedBy>
  <cp:revision>11</cp:revision>
  <dcterms:created xsi:type="dcterms:W3CDTF">2022-04-19T18:02:09Z</dcterms:created>
  <dcterms:modified xsi:type="dcterms:W3CDTF">2024-07-23T23:07:01Z</dcterms:modified>
</cp:coreProperties>
</file>