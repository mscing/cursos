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80" r:id="rId4"/>
    <p:sldId id="495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504" r:id="rId13"/>
    <p:sldId id="503" r:id="rId14"/>
    <p:sldId id="505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20" r:id="rId30"/>
    <p:sldId id="521" r:id="rId31"/>
    <p:sldId id="522" r:id="rId32"/>
    <p:sldId id="523" r:id="rId33"/>
    <p:sldId id="524" r:id="rId34"/>
    <p:sldId id="525" r:id="rId35"/>
    <p:sldId id="526" r:id="rId36"/>
    <p:sldId id="527" r:id="rId37"/>
    <p:sldId id="528" r:id="rId38"/>
    <p:sldId id="529" r:id="rId39"/>
    <p:sldId id="530" r:id="rId40"/>
    <p:sldId id="531" r:id="rId41"/>
    <p:sldId id="532" r:id="rId42"/>
    <p:sldId id="533" r:id="rId43"/>
    <p:sldId id="534" r:id="rId44"/>
    <p:sldId id="535" r:id="rId45"/>
    <p:sldId id="536" r:id="rId46"/>
    <p:sldId id="537" r:id="rId47"/>
    <p:sldId id="538" r:id="rId48"/>
    <p:sldId id="539" r:id="rId49"/>
    <p:sldId id="540" r:id="rId50"/>
    <p:sldId id="541" r:id="rId51"/>
    <p:sldId id="542" r:id="rId52"/>
    <p:sldId id="543" r:id="rId53"/>
    <p:sldId id="544" r:id="rId54"/>
    <p:sldId id="260" r:id="rId5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81271" y="2551837"/>
            <a:ext cx="1042945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5400" b="1" dirty="0">
                <a:solidFill>
                  <a:srgbClr val="00F3B5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ESPECIALIZACION EN  </a:t>
            </a:r>
          </a:p>
          <a:p>
            <a:pPr algn="ctr"/>
            <a:r>
              <a:rPr lang="es-ES" sz="5400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GESTION DE GAS Y PETROLEO</a:t>
            </a: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C7009-B4AD-8BBA-4EE5-7DE0D730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7" y="2865729"/>
            <a:ext cx="10515600" cy="1325563"/>
          </a:xfrm>
        </p:spPr>
        <p:txBody>
          <a:bodyPr/>
          <a:lstStyle/>
          <a:p>
            <a:r>
              <a:rPr lang="es-ES" dirty="0"/>
              <a:t>POLITICA ENERGETICA Y FINANCIAMIENTO</a:t>
            </a:r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3653071-40EA-CFBA-6A3F-E65A5E1FB43D}"/>
              </a:ext>
            </a:extLst>
          </p:cNvPr>
          <p:cNvSpPr txBox="1">
            <a:spLocks/>
          </p:cNvSpPr>
          <p:nvPr/>
        </p:nvSpPr>
        <p:spPr>
          <a:xfrm>
            <a:off x="838200" y="10750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mpt" panose="00000500000000000000" pitchFamily="2" charset="-34"/>
                <a:ea typeface="+mj-ea"/>
                <a:cs typeface="Prompt" panose="00000500000000000000" pitchFamily="2" charset="-34"/>
              </a:defRPr>
            </a:lvl1pPr>
          </a:lstStyle>
          <a:p>
            <a:r>
              <a:rPr lang="es-ES" dirty="0"/>
              <a:t>MODULO X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141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POLITICA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Las políticas energéticas son estrategias y directrices que los gobiernos establecen para gestionar la producción, distribución y consumo de energía. Estas políticas buscan equilibrar diversos objetivos económicos, ambientales y sociales.</a:t>
            </a:r>
          </a:p>
        </p:txBody>
      </p:sp>
    </p:spTree>
    <p:extLst>
      <p:ext uri="{BB962C8B-B14F-4D97-AF65-F5344CB8AC3E}">
        <p14:creationId xmlns:p14="http://schemas.microsoft.com/office/powerpoint/2010/main" val="369568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OBJETIVOS DE LAS POLITICAS ENERGETICAS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1 Seguridad Energética: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Asegurar un suministro estable y confiable de energía para satisfacer la demanda de los consumidores y la economía.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Diversificación de fuentes de energía y rutas de transporte para evitar la dependencia de un solo proveedor o tipo de recurso.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Desarrollo de reservas estratégicas de petróleo y gas para enfrentar crisis de suministro.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Promoción de la cooperación regional y acuerdos bilaterales en materia de energía.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306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5902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2 Desarrollo Económico: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Promover el crecimiento económico a través del sector energético, maximizando la producción y uso de recursos energéticos.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Incentivos a la inversión en infraestructura energética, como oleoductos, refinerías y plantas de procesamiento.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Fomento de la investigación y el desarrollo (I+D) en nuevas tecnologías para la extracción y producción de hidrocarburos.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Creación de empleos en el sector energético, tanto en la exploración como en la cadena de suministro.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3448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3 Sostenibilidad Ambiental: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Minimizar el impacto ambiental de las actividades del sector energético y contribuir a la protección del medio ambiente.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Regulaciones para controlar las emisiones de gases de efecto invernadero y otros contaminantes generados por la producción y el uso de petróleo y gas.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Promoción de prácticas de extracción responsables, como la reducción de la contaminación del agua y del suelo.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Estímulo a la transición hacia fuentes de energía más limpias, como energías renovables, para reducir la dependencia de los combustibles fósiles.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183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4 Beneficio Social: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Asegurar que el desarrollo de recursos energéticos beneficie a la población y mejore la calidad de vida.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 políticas que aseguren que las comunidades locales reciban una parte justa de los ingresos generados por la explotación de recursos energéticos.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Promoción de programas de responsabilidad social empresarial por parte de las compañías de petróleo y gas para apoyar a las comunidades afectadas.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Facilitar el acceso a la energía para las poblaciones marginadas y rurales, contribuyendo al desarrollo social y económico.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0711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5 Diversificación Energética: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Fomentar una mezcla energética que incluya diferentes fuentes, reduciendo la dependencia de un solo recurso.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Inversión en fuentes de energía renovables, como solar, eólica y biomasa, junto con la producción de petróleo y gas.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Desarrollo de tecnologías para la captura y almacenamiento de carbono (CAC) que permitan mitigar el impacto ambiental de los combustibles fósiles.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Establecimiento de políticas que favorezcan la innovación en el sector energético y el uso de tecnologías más limpias.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230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6 Estabilidad del Mercado: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Mantener un entorno estable en el mercado energético que minimice la volatilidad de precios y asegure la previsibilidad para inversores y consumidores.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Regulación de precios y cuotas de producción para controlar la oferta y la demanda en el mercado.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Creación de mecanismos para la gestión de crisis, como la formación de reservas estratégicas o la promoción de acuerdos de cooperación internacional.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Establecimiento de un marco regulatorio claro que favorezca la inversión a largo plazo.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844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Los objetivos de las políticas energéticas en el sector de petróleo y gas son interdependientes y deben ser considerados en conjunto para lograr un sistema energético sostenible, seguro y equitativo. La implementación efectiva de estas políticas es esencial para afrontar los desafíos actuales y futuros del sector, garantizando tanto el desarrollo económico como la protección del medio ambiente y el bienestar social.</a:t>
            </a:r>
          </a:p>
        </p:txBody>
      </p:sp>
    </p:spTree>
    <p:extLst>
      <p:ext uri="{BB962C8B-B14F-4D97-AF65-F5344CB8AC3E}">
        <p14:creationId xmlns:p14="http://schemas.microsoft.com/office/powerpoint/2010/main" val="3190850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COMPONENTES DE LAS POLITICAS ENERGETICAS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1 Regulaciones y Normativas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Conjunto de leyes y regulaciones que establecen los estándares y requisitos para la exploración, producción, transporte y comercialización de petróleo y 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Licencias y Permisos:</a:t>
            </a:r>
            <a:r>
              <a:rPr lang="es-ES" dirty="0"/>
              <a:t> Proceso que las empresas deben seguir para obtener autorización para explorar o extraer recursos.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Normas Ambientales:</a:t>
            </a:r>
            <a:r>
              <a:rPr lang="es-ES" dirty="0"/>
              <a:t> Reglas que limitan las emisiones de gases de efecto invernadero y otros contaminantes, así como regulaciones sobre el manejo de residuos y la protección de cuerpos de agua.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Estándares de Seguridad:</a:t>
            </a:r>
            <a:r>
              <a:rPr lang="es-ES" dirty="0"/>
              <a:t> Directrices para garantizar la seguridad de las operaciones y proteger la salud de los trabajadores y las comunidades.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53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2 Acuerdos de Exploración y Producción (E&amp;P)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Contratos y acuerdos que rigen la relación entre los gobiernos y las empresas para la exploración y producción de hidrocarburos.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Tipos de Acuerdos: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Concesiones:</a:t>
            </a:r>
            <a:r>
              <a:rPr lang="es-ES" dirty="0"/>
              <a:t> Permiten a las empresas operar en un área específica a cambio de regalías y participación en los ingresos.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Contratos de Servicios:</a:t>
            </a:r>
            <a:r>
              <a:rPr lang="es-ES" dirty="0"/>
              <a:t> Las empresas reciben una tarifa fija por sus servicios en lugar de una participación en los ingresos.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Joint</a:t>
            </a:r>
            <a:r>
              <a:rPr lang="es-ES" b="1" dirty="0"/>
              <a:t> Ventures:</a:t>
            </a:r>
            <a:r>
              <a:rPr lang="es-ES" dirty="0"/>
              <a:t> Acuerdos entre empresas para compartir recursos y riesgos en proyectos de exploración y producción.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3953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3 Fomento de Inversiones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Estrategias para atraer inversiones nacionales e internacionales al sector energético.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Estrategias: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Incentivos Fiscales:</a:t>
            </a:r>
            <a:r>
              <a:rPr lang="es-ES" dirty="0"/>
              <a:t> Reducción de impuestos o créditos fiscales para empresas que invierten en proyectos de energía.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Subsidios:</a:t>
            </a:r>
            <a:r>
              <a:rPr lang="es-ES" dirty="0"/>
              <a:t> Apoyo financiero para desarrollar tecnologías limpias o infraestructura energética.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Facilitación de Trámites:</a:t>
            </a:r>
            <a:r>
              <a:rPr lang="es-ES" dirty="0"/>
              <a:t> Simplificación de los procesos burocráticos para facilitar la inversión.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6894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4 Investigación y Desarrollo (I+D)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Apoyo a la innovación y desarrollo de nuevas tecnologías en el sector energético.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Áreas de Enfoque: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Tecnologías de Extracción:</a:t>
            </a:r>
            <a:r>
              <a:rPr lang="es-ES" dirty="0"/>
              <a:t> Desarrollo de métodos más eficientes y menos contaminantes para la extracción de petróleo y gas.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Energías Renovables:</a:t>
            </a:r>
            <a:r>
              <a:rPr lang="es-ES" dirty="0"/>
              <a:t> Fomento de la investigación en tecnologías limpias que pueden complementar o reemplazar el uso de combustibles fósiles.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Captura y Almacenamiento de Carbono (CAC):</a:t>
            </a:r>
            <a:r>
              <a:rPr lang="es-ES" dirty="0"/>
              <a:t> Innovaciones que permiten capturar el CO2 generado durante la combustión de hidrocarburos.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6338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5 Planificación Energética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Proceso de evaluación y planificación a largo plazo para el desarrollo del sector energético.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Componentes: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Evaluación de Recursos:</a:t>
            </a:r>
            <a:r>
              <a:rPr lang="es-ES" dirty="0"/>
              <a:t> Estudio de las reservas de petróleo y gas disponibles y su potencial de explotación.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Proyección de Demanda:</a:t>
            </a:r>
            <a:r>
              <a:rPr lang="es-ES" dirty="0"/>
              <a:t> Análisis de las tendencias de consumo energético y cómo se espera que cambien en el futuro.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Integración de Energías Renovables:</a:t>
            </a:r>
            <a:r>
              <a:rPr lang="es-ES" dirty="0"/>
              <a:t> Planificación de cómo incorporar fuentes de energía renovables en la matriz energética.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2696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6 Mecanismos de Participación Ciudadana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Estrategias para involucrar a las comunidades y a los grupos de interés en la toma de decisiones relacionadas con la política energética.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Consultas Públicas:</a:t>
            </a:r>
            <a:r>
              <a:rPr lang="es-ES" dirty="0"/>
              <a:t> Proceso mediante el cual se recaba la opinión de las comunidades afectadas antes de la implementación de proyectos energéticos.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Transparencia y Acceso a la Información:</a:t>
            </a:r>
            <a:r>
              <a:rPr lang="es-ES" dirty="0"/>
              <a:t> Políticas que garantizan que la información sobre proyectos y decisiones energéticas esté disponible para el público.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4893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7 Monitoreo y Evaluación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Definición:</a:t>
            </a:r>
            <a:r>
              <a:rPr lang="es-ES" dirty="0"/>
              <a:t> Sistemas para evaluar la efectividad de las políticas energéticas y sus impactos.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Componentes: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Indicadores de Desempeño:</a:t>
            </a:r>
            <a:r>
              <a:rPr lang="es-ES" dirty="0"/>
              <a:t> Establecimiento de métricas para medir el progreso hacia los objetivos energéticos, como la reducción de emisiones o el aumento de la producción de energías renovables.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Informes de Progreso:</a:t>
            </a:r>
            <a:r>
              <a:rPr lang="es-ES" dirty="0"/>
              <a:t> Publicación de informes periódicos que analicen el estado del sector energético y el cumplimiento de las políticas establecidas.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9065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Los componentes de las políticas energéticas son esenciales para garantizar un desarrollo sostenible y equilibrado del sector de petróleo y gas. Al implementar un enfoque integral que incluya regulaciones, incentivos, I+D y participación ciudadana, los gobiernos pueden abordar los desafíos del sector mientras maximizan los beneficios económicos y sociales. La adaptación y evolución continua de estas políticas son fundamentales para enfrentar un futuro energético cambiante.</a:t>
            </a:r>
          </a:p>
        </p:txBody>
      </p:sp>
    </p:spTree>
    <p:extLst>
      <p:ext uri="{BB962C8B-B14F-4D97-AF65-F5344CB8AC3E}">
        <p14:creationId xmlns:p14="http://schemas.microsoft.com/office/powerpoint/2010/main" val="4026105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DESAFIOS EN LA IMPLEMENTACION DE POLITICAS ENERGETICAS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1 Volatilidad del Mercado Energético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Los precios del petróleo y gas son altamente volátiles debido a factores globales como la oferta y la demanda, conflictos geopolíticos y cambios en la producción de OPEP.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 incertidumbre en los precios puede desincentivar la inversión a largo plazo y afectar la planificación de proyectos. Esto puede llevar a decisiones apresuradas que no se alineen con los objetivos de sostenibilidad.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7516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2 Impactos Ambientales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explotación de recursos fósiles puede tener consecuencias ambientales significativas, incluyendo la contaminación del agua, emisiones de gases de efecto invernadero y daños a la biodiversidad.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Los problemas ambientales pueden generar resistencia social y oposición a proyectos, lo que puede retrasar o cancelar inversiones. También pueden resultar en costos adicionales para mitigar impactos negativos.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160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3 Dependencia de Combustibles Fósiles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Muchos países son altamente dependientes del petróleo y gas para su energía y economía.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Esta dependencia puede dificultar la transición a fuentes de energía más limpias, ya que los gobiernos y las empresas pueden estar reacios a reducir la producción de combustibles fósiles que generan ingresos significativos.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4605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4 Cambios en la Demanda Energética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demanda de energía está cambiando debido a la mejora en la eficiencia energética, el auge de las energías renovables y el cambio en los patrones de consumo.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Las políticas deben adaptarse rápidamente a estos cambios, lo que puede ser un desafío para los responsables de la formulación de políticas y para las empresas del sector.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7949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5 Intereses Políticos y Económicos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Las decisiones sobre política energética pueden estar influenciadas por intereses políticos y económicos de grupos de presión, como compañías energéticas y lobbies.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Esto puede llevar a la implementación de políticas que favorezcan intereses a corto plazo en lugar de estrategias sostenibles a largo plazo, obstaculizando así el desarrollo energético equilibrado.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5336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6 Desigualdad Social y Económica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implementación de políticas energéticas puede tener efectos desiguales en diferentes grupos socioeconómicos, a menudo perjudicando a las comunidades más vulnerables.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Si no se gestionan adecuadamente, estas políticas pueden generar tensiones sociales, protestas y conflictos, lo que a su vez puede complicar la implementación de proyectos energéticos.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3424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7 Falta de Capacitación y Conocimiento Técnico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En algunos países, especialmente en desarrollo, puede haber una falta de personal capacitado para gestionar y regular el sector energético.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Esto puede resultar en una regulación ineficaz, una mala planificación y una implementación deficiente de las políticas energéticas.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2606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8 Incertidumbre Regulatoria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Cambios frecuentes en las regulaciones y políticas energéticas pueden crear un entorno incierto para las inversiones.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 falta de consistencia en las políticas puede desincentivar la inversión, ya que las empresas temen que los cambios normativos afecten la viabilidad de sus proyectos.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0374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9 Resistencia de la Población Local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Los proyectos energéticos a menudo se enfrentan a la oposición de comunidades locales que pueden verse afectadas por la explotación de recursos.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 resistencia social puede manifestarse en protestas y bloqueos, lo que puede retrasar o interrumpir proyectos y generar costos adicionales.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745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10 Cambio Climático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necesidad de abordar el cambio climático plantea desafíos adicionales para las políticas energéticas que aún dependen de combustibles fósiles.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Las políticas deben equilibrar la explotación de recursos existentes con la necesidad urgente de reducir emisiones y adoptar prácticas más sostenibles.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90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EJEMPLOS DE POLITICAS ENERGETICAS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Estados Unidos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Enfoque en la Producción Nacional: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Fomento de la producción interna de petróleo y gas a través de la reducción de regulaciones y la apertura de tierras federales para la exploración.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Ley de Energía de 2005 facilitó la explotación de recursos no convencionales, como el </a:t>
            </a:r>
            <a:r>
              <a:rPr lang="es-ES" dirty="0" err="1"/>
              <a:t>fracking</a:t>
            </a:r>
            <a:r>
              <a:rPr lang="es-ES" dirty="0"/>
              <a:t>, aumentando significativamente la producción de petróleo y gas.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Transición a Energías </a:t>
            </a:r>
            <a:r>
              <a:rPr lang="es-ES" b="1" dirty="0" err="1"/>
              <a:t>Renovables:Política</a:t>
            </a:r>
            <a:r>
              <a:rPr lang="es-ES" b="1" dirty="0"/>
              <a:t>:</a:t>
            </a:r>
            <a:r>
              <a:rPr lang="es-ES" dirty="0"/>
              <a:t> Iniciativas estatales y federales para aumentar la participación de energías renovables.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Programas de créditos fiscales y subsidios para energía solar y eólica, como el </a:t>
            </a:r>
            <a:r>
              <a:rPr lang="es-ES" dirty="0" err="1"/>
              <a:t>Investment</a:t>
            </a:r>
            <a:r>
              <a:rPr lang="es-ES" dirty="0"/>
              <a:t> </a:t>
            </a:r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Credit</a:t>
            </a:r>
            <a:r>
              <a:rPr lang="es-ES" dirty="0"/>
              <a:t> (ITC) y el </a:t>
            </a:r>
            <a:r>
              <a:rPr lang="es-ES" dirty="0" err="1"/>
              <a:t>Production</a:t>
            </a:r>
            <a:r>
              <a:rPr lang="es-ES" dirty="0"/>
              <a:t> </a:t>
            </a:r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Credit</a:t>
            </a:r>
            <a:r>
              <a:rPr lang="es-ES" dirty="0"/>
              <a:t> (PTC).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6511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Unión Europea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Descarbonización y Sostenibilidad: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Estrategias para reducir las emisiones de gases de efecto invernadero y promover la eficiencia energética.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El Pacto Verde Europeo busca transformar la economía de la UE en un modelo sostenible, con objetivos para que la UE sea climáticamente neutra para 2050.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Regulación del Gas Natural: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La Directiva de Gas de la UE promueve la integración de los mercados de gas y garantiza un suministro seguro.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regulación del acceso a infraestructuras de gas, asegurando la competencia y la transparencia en el mercado.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7792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Arabia Saudita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Visión 2030: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Diversificación de la economía y reducción de la dependencia del petróleo.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Iniciativas para invertir en energías renovables, con el objetivo de generar un 50% de la energía del país a partir de fuentes renovables para 2030.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Reformas del Sector Energético: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Liberalización del sector de energía y reducción de subsidios.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Ajustes en los precios de la electricidad y del combustible para reflejar los costos del mercado.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0198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Noruega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Modelo de Desarrollo Sostenible: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Integración de políticas ambientales en el sector energético.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creación del Fondo de Pensiones del Gobierno, financiado por ingresos del petróleo, que invierte en proyectos sostenibles en todo el mundo.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Regulación Estricta: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Estrictas normativas ambientales y de seguridad para la extracción de petróleo y gas.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Agencia Noruega de Recursos Petroleros regula de manera rigurosa las actividades de exploración y producción para minimizar el impacto ambiental.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9257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Venezuela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Control Estatal de Recursos: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La nacionalización de la industria petrolera bajo la estatal PDVSA.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Ley de Hidrocarburos de 2001 estableció un marco legal para la explotación de recursos, permitiendo solo la participación estatal en la producción.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Subsidios y Precios Controlados: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Fijación de precios para combustibles y electricidad.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Subsidios masivos a los precios del combustible, lo que ha llevado a una crisis económica y dificultades en la producción.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534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Brasil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Marco Regulatorio para la Industria del Petróleo: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Ley de Petróleo de 1997 que abrió el sector a la inversión privada.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Agencia Nacional de Petróleo (ANP) regula la producción y distribución, promoviendo la competencia y la inversión extranjera.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Energías Renovables: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Promoción de la bioenergía y otras fuentes renovables.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Brasil es líder en la producción de etanol a partir de caña de azúcar, impulsado por políticas que favorecen la biomasa y biocombustibles.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3609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Canadá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Política de Cambio Climático: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Estrategias para reducir las emisiones de carbono en el sector energético.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El precio del carbono a nivel federal incentiva la reducción de emisiones en la producción de petróleo y 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Inversiones en Tecnología Limpia: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Política:</a:t>
            </a:r>
            <a:r>
              <a:rPr lang="es-ES" dirty="0"/>
              <a:t> Fomento de tecnologías para mejorar la eficiencia en la extracción y reducir el impacto ambiental.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Programas de financiamiento para la captura y almacenamiento de carbono en la industria de los hidrocarburos.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8143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FINANCIAMIENTO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financiamiento es un componente crucial para el desarrollo y la operación de proyectos en el sector energético, especialmente en la exploración y producción de petróleo y gas. Los proyectos a menudo requieren inversiones significativas y a largo plazo, lo que plantea diversos desafíos y oportunidades.</a:t>
            </a:r>
          </a:p>
        </p:txBody>
      </p:sp>
    </p:spTree>
    <p:extLst>
      <p:ext uri="{BB962C8B-B14F-4D97-AF65-F5344CB8AC3E}">
        <p14:creationId xmlns:p14="http://schemas.microsoft.com/office/powerpoint/2010/main" val="2484042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FUENTES DE FINANCIAMIENTO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Financiamiento Bancario: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Los bancos ofrecen préstamos para financiar proyectos de energía, incluyendo líneas de crédito y préstamos a largo plazo.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Préstamos sindicados que permiten a múltiples bancos compartir el riesgo de financiamiento de proyectos grandes</a:t>
            </a:r>
          </a:p>
          <a:p>
            <a:r>
              <a:rPr lang="es-ES" b="1" dirty="0"/>
              <a:t>Inversión Privada: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Empresas privadas y fondos de inversión participan en la financiación de proyectos de energía.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Ejemplo: Fondos de capital riesgo que invierten en startups de tecnología energética o en proyectos innovadores en el sector.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8804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9061"/>
            <a:ext cx="11032671" cy="5495929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Mercados de Capital: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Las empresas pueden emitir acciones o bonos para recaudar fondos en los mercados financieros.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Emisión de bonos verdes para financiar proyectos sostenibles en energía renovable.</a:t>
            </a:r>
          </a:p>
          <a:p>
            <a:r>
              <a:rPr lang="es-ES" b="1" dirty="0"/>
              <a:t>Agencias Multilaterales y Organismos Internacionales: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Instituciones como el Banco Mundial o el Banco Interamericano de Desarrollo (BID) ofrecen financiamiento para proyectos energéticos en países en desarrollo.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Préstamos y subvenciones para proyectos de infraestructura energética y sostenibilidad.</a:t>
            </a:r>
          </a:p>
          <a:p>
            <a:r>
              <a:rPr lang="es-ES" b="1" dirty="0"/>
              <a:t>Inversiones Gubernamentales: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Los gobiernos pueden invertir directamente en proyectos de energía o proporcionar subsidios e incentivos fiscales.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Subsidios a proyectos de energías renovables o financiamiento para la modernización de infraestructuras.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5513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MODELOS DE FINANCIAMIENTO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Joint</a:t>
            </a:r>
            <a:r>
              <a:rPr lang="es-ES" b="1" dirty="0"/>
              <a:t> Ventures: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Acuerdos entre dos o más empresas para compartir costos y riesgos en un proyecto.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Compañías de petróleo que se asocian para explorar un nuevo campo petrolero.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Proyectos de Asociaciones Público-Privadas (APP):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Colaboraciones entre gobiernos y empresas privadas para desarrollar proyectos de infraestructura.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Construcción de plantas de energía renovable donde el gobierno y el sector privado comparten la inversión y los ingresos.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Financiamiento Basado en Ingresos: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Acuerdos donde el financiamiento se basa en los ingresos generados por el proyecto.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Contratos de compraventa de energía (PPA) donde los ingresos futuros se utilizan como garantía para obtener financiamiento.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1222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DESAFIOS EN EL FINANCIMIENTO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Riesgos del Mercado: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volatilidad de los precios del petróleo y gas puede afectar la viabilidad financiera de los proyectos.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Los inversores pueden ser reacios a comprometer capital en un entorno incierto.</a:t>
            </a:r>
          </a:p>
          <a:p>
            <a:r>
              <a:rPr lang="es-ES" b="1" dirty="0"/>
              <a:t>Regulaciones y Políticas Cambiantes: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Cambios en las políticas energéticas pueden influir en el retorno de la inversión.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 incertidumbre regulatoria puede desincentivar la inversión y complicar la planificación financiera.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6391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Costos de Capital: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Los costos asociados al financiamiento pueden ser altos, especialmente para proyectos grandes y complejos.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La necesidad de altos retornos puede limitar el tipo de proyectos que se consideran viables.</a:t>
            </a:r>
          </a:p>
          <a:p>
            <a:r>
              <a:rPr lang="es-ES" b="1" dirty="0"/>
              <a:t>Acceso a Financiamiento en Países en Desarrollo: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falta de acceso a financiamiento adecuado puede limitar el desarrollo de infraestructura energética en regiones necesitadas.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Impacto:</a:t>
            </a:r>
            <a:r>
              <a:rPr lang="es-ES" dirty="0"/>
              <a:t> Esto puede perpetuar la dependencia de fuentes de energía menos sostenibles o ineficientes.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172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OPORTUNIDADES DE FINANCIAMIENTO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12371"/>
            <a:ext cx="11032671" cy="5388429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Bonos Verdes: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Instrumentos financieros diseñados para financiar proyectos sostenibles.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Oportunidad:</a:t>
            </a:r>
            <a:r>
              <a:rPr lang="es-ES" dirty="0"/>
              <a:t> El creciente interés en la sostenibilidad presenta una oportunidad para que las empresas obtengan financiamiento a través de bonos verdes.</a:t>
            </a:r>
          </a:p>
          <a:p>
            <a:r>
              <a:rPr lang="es-ES" b="1" dirty="0"/>
              <a:t>Financiamiento Climático: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Fondos dedicados a proyectos que abordan el cambio climático.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Oportunidad:</a:t>
            </a:r>
            <a:r>
              <a:rPr lang="es-ES" dirty="0"/>
              <a:t> Acceso a fondos de organismos internacionales y donantes que apoyan la transición energética.</a:t>
            </a:r>
          </a:p>
          <a:p>
            <a:r>
              <a:rPr lang="es-ES" b="1" dirty="0"/>
              <a:t>Innovación en Financiación: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Nuevos modelos de financiamiento, como el crowdfunding para proyectos de energía renovable.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Oportunidad:</a:t>
            </a:r>
            <a:r>
              <a:rPr lang="es-ES" dirty="0"/>
              <a:t> La tecnología permite a los ciudadanos invertir en proyectos energéticos, democratizando el financiamiento.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6109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financiamiento es un pilar esencial en el sector energético, especialmente en petróleo y gas, donde se requieren inversiones significativas y a largo plazo. A medida que el sector evoluciona, también lo hacen las fuentes y modelos de financiamiento, impulsados por la necesidad de sostenibilidad y la adaptación a un entorno energético en transformación. La gestión efectiva de los desafíos y la identificación de nuevas oportunidades son cruciales para el éxito de los proyectos energéticos en el futuro.</a:t>
            </a:r>
          </a:p>
        </p:txBody>
      </p:sp>
    </p:spTree>
    <p:extLst>
      <p:ext uri="{BB962C8B-B14F-4D97-AF65-F5344CB8AC3E}">
        <p14:creationId xmlns:p14="http://schemas.microsoft.com/office/powerpoint/2010/main" val="1046990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TRANSICION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La transición energética se refiere al proceso de transformación del sistema energético global hacia fuentes de energía más sostenibles y limpias. Este cambio busca reducir la dependencia de los combustibles fósiles, mitigar el cambio climático y promover un desarrollo sostenible.</a:t>
            </a:r>
          </a:p>
        </p:txBody>
      </p:sp>
    </p:spTree>
    <p:extLst>
      <p:ext uri="{BB962C8B-B14F-4D97-AF65-F5344CB8AC3E}">
        <p14:creationId xmlns:p14="http://schemas.microsoft.com/office/powerpoint/2010/main" val="615151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COMPONENTES DE LAS TRANSICION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Descarbonización: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Reducción progresiva de las emisiones de gases de efecto invernadero (GEI).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Acciones:</a:t>
            </a:r>
            <a:r>
              <a:rPr lang="es-ES" dirty="0"/>
              <a:t> Fomentar el uso de energías renovables, mejorar la eficiencia energética y adoptar tecnologías de captura y almacenamiento de carbono.</a:t>
            </a:r>
          </a:p>
          <a:p>
            <a:r>
              <a:rPr lang="es-ES" b="1" dirty="0"/>
              <a:t>Energías Renovables: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Aumento en la producción y uso de fuentes de energía renovables como solar, eólica, hidroeléctrica y biomasa.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Beneficios:</a:t>
            </a:r>
            <a:r>
              <a:rPr lang="es-ES" dirty="0"/>
              <a:t> Reducción de la huella de carbono, menor contaminación y diversificación de la matriz energética.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6722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9062"/>
            <a:ext cx="11032671" cy="4997902"/>
          </a:xfrm>
        </p:spPr>
        <p:txBody>
          <a:bodyPr>
            <a:normAutofit fontScale="85000" lnSpcReduction="10000"/>
          </a:bodyPr>
          <a:lstStyle/>
          <a:p>
            <a:r>
              <a:rPr lang="es-ES" b="1" dirty="0"/>
              <a:t>Eficiencia Energética: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Mejora en la utilización de energía en todos los sectores (industrial, residencial, transporte).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Acciones:</a:t>
            </a:r>
            <a:r>
              <a:rPr lang="es-ES" dirty="0"/>
              <a:t> Implementación de tecnologías más eficientes, normativas que promuevan el ahorro energético y concienciación ciudadana.</a:t>
            </a:r>
          </a:p>
          <a:p>
            <a:r>
              <a:rPr lang="es-ES" b="1" dirty="0"/>
              <a:t>Electrificación: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Aumento del uso de la electricidad en sectores que tradicionalmente dependen de combustibles fósiles, como el transporte.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Promoción de vehículos eléctricos y sistemas de calefacción eléctricos.</a:t>
            </a:r>
          </a:p>
          <a:p>
            <a:r>
              <a:rPr lang="es-ES" b="1" dirty="0"/>
              <a:t>Innovación y Tecnología: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Desarrollo y adopción de nuevas tecnologías que faciliten la transición.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Avances en almacenamiento de energía (baterías), redes inteligentes y tecnologías de hidrógeno.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0585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DESAFIOS DE LA TRANSICION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Inversión Inicial: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transición a tecnologías limpias requiere inversiones significativas.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Desafío:</a:t>
            </a:r>
            <a:r>
              <a:rPr lang="es-ES" dirty="0"/>
              <a:t> Obtener financiamiento y justificar los costos a corto plazo frente a los beneficios a largo plazo.</a:t>
            </a:r>
          </a:p>
          <a:p>
            <a:r>
              <a:rPr lang="es-ES" b="1" dirty="0"/>
              <a:t>Resistencia Política y Social: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Cambios en la política energética pueden enfrentar oposición de grupos interesados.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Desafío:</a:t>
            </a:r>
            <a:r>
              <a:rPr lang="es-ES" dirty="0"/>
              <a:t> Asegurar la aceptación pública y la cooperación de todos los sectores involucrados.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17771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9062"/>
            <a:ext cx="11032671" cy="4997902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Dependencia de Recursos Fósiles: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Muchos países dependen económicamente de la producción de petróleo y 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Desafío:</a:t>
            </a:r>
            <a:r>
              <a:rPr lang="es-ES" dirty="0"/>
              <a:t> Encontrar formas de diversificar las economías sin causar dislocaciones económicas.</a:t>
            </a:r>
          </a:p>
          <a:p>
            <a:r>
              <a:rPr lang="es-ES" b="1" dirty="0"/>
              <a:t>Infraestructura Existente: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Gran parte de la infraestructura energética actual está diseñada para combustibles fósiles.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Desafío:</a:t>
            </a:r>
            <a:r>
              <a:rPr lang="es-ES" dirty="0"/>
              <a:t> Modernizar o reemplazar esta infraestructura puede ser costoso y logísticamente complejo.</a:t>
            </a:r>
          </a:p>
          <a:p>
            <a:r>
              <a:rPr lang="es-ES" b="1" dirty="0"/>
              <a:t>Intermitencia de Energías Renovables: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Fuentes como la solar y eólica son intermitentes y dependen de condiciones climáticas.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Desafío:</a:t>
            </a:r>
            <a:r>
              <a:rPr lang="es-ES" dirty="0"/>
              <a:t> Desarrollar tecnologías de almacenamiento y redes inteligentes para garantizar un suministro constante.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6397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r>
              <a:rPr lang="es-ES" sz="2800" dirty="0"/>
              <a:t>OPORTUNIDADES DE LA TRANSICION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Crecimiento Económico: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transición puede generar nuevos empleos y oportunidades en sectores como energías renovables, eficiencia energética y tecnología.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Oportunidad:</a:t>
            </a:r>
            <a:r>
              <a:rPr lang="es-ES" dirty="0"/>
              <a:t> El desarrollo de una economía baja en carbono puede conducir a un crecimiento económico sostenible.</a:t>
            </a:r>
          </a:p>
          <a:p>
            <a:r>
              <a:rPr lang="es-ES" b="1" dirty="0"/>
              <a:t>Salud y Bienestar: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reducción de la contaminación del aire y del agua puede mejorar la salud pública.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Beneficio:</a:t>
            </a:r>
            <a:r>
              <a:rPr lang="es-ES" dirty="0"/>
              <a:t> Menos enfermedades respiratorias y cardiovasculares relacionadas con la contaminación.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07269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Innovación Tecnológica: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búsqueda de soluciones sostenibles impulsa la investigación y el desarrollo.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Oportunidad:</a:t>
            </a:r>
            <a:r>
              <a:rPr lang="es-ES" dirty="0"/>
              <a:t> Nuevas empresas y tecnologías emergentes pueden cambiar la forma en que se produce y consume energía.</a:t>
            </a:r>
          </a:p>
          <a:p>
            <a:r>
              <a:rPr lang="es-ES" b="1" dirty="0"/>
              <a:t>Cooperación Internacional: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Descripción:</a:t>
            </a:r>
            <a:r>
              <a:rPr lang="es-ES" dirty="0"/>
              <a:t> La transición energética ofrece oportunidades para la colaboración entre países en tecnologías limpias y políticas climáticas.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Beneficio:</a:t>
            </a:r>
            <a:r>
              <a:rPr lang="es-ES" dirty="0"/>
              <a:t> Compartir conocimientos y recursos puede acelerar el progreso hacia un futuro sostenible.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1148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8681358" cy="996053"/>
          </a:xfrm>
        </p:spPr>
        <p:txBody>
          <a:bodyPr>
            <a:normAutofit/>
          </a:bodyPr>
          <a:lstStyle/>
          <a:p>
            <a:r>
              <a:rPr lang="es-ES" sz="2800" dirty="0"/>
              <a:t>EJEMPLOS DE INCIATIVAS DE TRANSICION ENERGETICA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r>
              <a:rPr lang="es-ES" b="1" dirty="0"/>
              <a:t>Acuerdos Internacionales: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El Acuerdo de París, donde los países se comprometieron a reducir sus emisiones de GEI para limitar el calentamiento global.</a:t>
            </a:r>
          </a:p>
          <a:p>
            <a:r>
              <a:rPr lang="es-ES" b="1" dirty="0"/>
              <a:t>Iniciativas Nacionales: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La “Green New Deal” en EE. UU., que busca transformar la economía a través de inversiones en infraestructura verde y energía renovable.</a:t>
            </a:r>
          </a:p>
          <a:p>
            <a:r>
              <a:rPr lang="es-ES" b="1" dirty="0"/>
              <a:t>Programas Locales: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r>
              <a:rPr lang="es-ES" dirty="0"/>
              <a:t> Ciudades que implementan planes de acción climática, promoviendo el uso de transporte público, bicicletas y energías limpias.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33562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009"/>
            <a:ext cx="10515600" cy="996053"/>
          </a:xfrm>
        </p:spPr>
        <p:txBody>
          <a:bodyPr>
            <a:normAutofit/>
          </a:bodyPr>
          <a:lstStyle/>
          <a:p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La transición energética es un proceso complejo pero esencial para abordar el cambio climático y asegurar un futuro sostenible. Implica una transformación radical en cómo producimos, distribuimos y consumimos energía. Aunque enfrenta diversos desafíos, también ofrece oportunidades significativas para la innovación, el crecimiento económico y la mejora del bienestar social. La colaboración entre gobiernos, empresas y la sociedad civil es fundamental para lograr una transición exitosa.</a:t>
            </a:r>
          </a:p>
        </p:txBody>
      </p:sp>
    </p:spTree>
    <p:extLst>
      <p:ext uri="{BB962C8B-B14F-4D97-AF65-F5344CB8AC3E}">
        <p14:creationId xmlns:p14="http://schemas.microsoft.com/office/powerpoint/2010/main" val="21471562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22515</TotalTime>
  <Words>4052</Words>
  <Application>Microsoft Office PowerPoint</Application>
  <PresentationFormat>Panorámica</PresentationFormat>
  <Paragraphs>273</Paragraphs>
  <Slides>54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Calibri</vt:lpstr>
      <vt:lpstr>Outfit</vt:lpstr>
      <vt:lpstr>Prompt</vt:lpstr>
      <vt:lpstr>Tema de Office</vt:lpstr>
      <vt:lpstr>Presentación de PowerPoint</vt:lpstr>
      <vt:lpstr>Presentación de PowerPoint</vt:lpstr>
      <vt:lpstr>POLITICA ENERGETICA Y FINANCIAMIENTO</vt:lpstr>
      <vt:lpstr>POLITICA ENERGETICA</vt:lpstr>
      <vt:lpstr>OBJETIVOS DE LAS POLITICAS ENERGETICAS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COMPONENTES DE LAS POLITICAS ENERGETICAS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DESAFIOS EN LA IMPLEMENTACION DE POLITICAS ENERGETICAS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EJEMPLOS DE POLITICAS ENERGETICAS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FINANCIAMIENTO</vt:lpstr>
      <vt:lpstr>FUENTES DE FINANCIAMIENTO</vt:lpstr>
      <vt:lpstr>Presentación de PowerPoint</vt:lpstr>
      <vt:lpstr>MODELOS DE FINANCIAMIENTO</vt:lpstr>
      <vt:lpstr>DESAFIOS EN EL FINANCIMIENTO</vt:lpstr>
      <vt:lpstr>Presentación de PowerPoint</vt:lpstr>
      <vt:lpstr>OPORTUNIDADES DE FINANCIAMIENTO</vt:lpstr>
      <vt:lpstr>Presentación de PowerPoint</vt:lpstr>
      <vt:lpstr>TRANSICION ENERGETICA</vt:lpstr>
      <vt:lpstr>COMPONENTES DE LAS TRANSICION ENERGETICA</vt:lpstr>
      <vt:lpstr>Presentación de PowerPoint</vt:lpstr>
      <vt:lpstr>DESAFIOS DE LA TRANSICION ENERGETICA</vt:lpstr>
      <vt:lpstr>Presentación de PowerPoint</vt:lpstr>
      <vt:lpstr>OPORTUNIDADES DE LA TRANSICION ENERGETICA</vt:lpstr>
      <vt:lpstr>Presentación de PowerPoint</vt:lpstr>
      <vt:lpstr>EJEMPLOS DE INCIATIVAS DE TRANSICION ENERGETICA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Benji Jonathan Cruzate Contreras</cp:lastModifiedBy>
  <cp:revision>46</cp:revision>
  <dcterms:created xsi:type="dcterms:W3CDTF">2022-04-19T18:02:09Z</dcterms:created>
  <dcterms:modified xsi:type="dcterms:W3CDTF">2024-10-04T02:27:25Z</dcterms:modified>
</cp:coreProperties>
</file>