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6" r:id="rId2"/>
    <p:sldId id="262" r:id="rId3"/>
    <p:sldId id="280" r:id="rId4"/>
    <p:sldId id="326" r:id="rId5"/>
    <p:sldId id="328" r:id="rId6"/>
    <p:sldId id="329" r:id="rId7"/>
    <p:sldId id="264" r:id="rId8"/>
    <p:sldId id="265" r:id="rId9"/>
    <p:sldId id="330" r:id="rId10"/>
    <p:sldId id="281" r:id="rId11"/>
    <p:sldId id="283" r:id="rId12"/>
    <p:sldId id="282" r:id="rId13"/>
    <p:sldId id="331" r:id="rId14"/>
    <p:sldId id="332" r:id="rId15"/>
    <p:sldId id="333" r:id="rId16"/>
    <p:sldId id="334" r:id="rId17"/>
    <p:sldId id="335" r:id="rId18"/>
    <p:sldId id="336" r:id="rId19"/>
    <p:sldId id="337" r:id="rId20"/>
    <p:sldId id="338" r:id="rId21"/>
    <p:sldId id="339" r:id="rId22"/>
    <p:sldId id="340" r:id="rId23"/>
    <p:sldId id="276" r:id="rId24"/>
    <p:sldId id="341" r:id="rId25"/>
    <p:sldId id="342" r:id="rId26"/>
    <p:sldId id="343" r:id="rId27"/>
    <p:sldId id="344" r:id="rId28"/>
    <p:sldId id="345" r:id="rId29"/>
    <p:sldId id="346" r:id="rId30"/>
    <p:sldId id="347" r:id="rId31"/>
    <p:sldId id="348" r:id="rId32"/>
    <p:sldId id="349" r:id="rId33"/>
    <p:sldId id="350" r:id="rId34"/>
    <p:sldId id="351" r:id="rId35"/>
    <p:sldId id="352" r:id="rId36"/>
    <p:sldId id="353" r:id="rId37"/>
    <p:sldId id="354" r:id="rId38"/>
    <p:sldId id="355" r:id="rId39"/>
    <p:sldId id="356" r:id="rId40"/>
    <p:sldId id="357" r:id="rId41"/>
    <p:sldId id="358" r:id="rId42"/>
    <p:sldId id="359" r:id="rId43"/>
    <p:sldId id="360" r:id="rId44"/>
    <p:sldId id="361" r:id="rId45"/>
    <p:sldId id="362" r:id="rId46"/>
    <p:sldId id="363" r:id="rId47"/>
    <p:sldId id="364" r:id="rId48"/>
    <p:sldId id="366" r:id="rId49"/>
    <p:sldId id="365" r:id="rId50"/>
    <p:sldId id="367" r:id="rId51"/>
    <p:sldId id="368" r:id="rId52"/>
    <p:sldId id="369" r:id="rId53"/>
    <p:sldId id="370" r:id="rId54"/>
    <p:sldId id="371" r:id="rId55"/>
    <p:sldId id="372" r:id="rId56"/>
    <p:sldId id="373" r:id="rId57"/>
    <p:sldId id="374" r:id="rId58"/>
    <p:sldId id="375" r:id="rId59"/>
    <p:sldId id="376" r:id="rId60"/>
    <p:sldId id="377" r:id="rId61"/>
    <p:sldId id="378" r:id="rId62"/>
    <p:sldId id="379" r:id="rId63"/>
    <p:sldId id="380" r:id="rId64"/>
    <p:sldId id="381" r:id="rId65"/>
    <p:sldId id="382" r:id="rId66"/>
    <p:sldId id="383" r:id="rId67"/>
    <p:sldId id="384" r:id="rId68"/>
    <p:sldId id="385" r:id="rId69"/>
    <p:sldId id="386" r:id="rId70"/>
    <p:sldId id="387" r:id="rId71"/>
    <p:sldId id="325" r:id="rId72"/>
    <p:sldId id="388" r:id="rId73"/>
    <p:sldId id="389" r:id="rId74"/>
    <p:sldId id="390" r:id="rId75"/>
    <p:sldId id="391" r:id="rId76"/>
    <p:sldId id="392" r:id="rId77"/>
    <p:sldId id="393" r:id="rId78"/>
    <p:sldId id="394" r:id="rId79"/>
    <p:sldId id="395" r:id="rId80"/>
    <p:sldId id="396" r:id="rId81"/>
    <p:sldId id="397" r:id="rId82"/>
    <p:sldId id="398" r:id="rId83"/>
    <p:sldId id="399" r:id="rId84"/>
    <p:sldId id="400" r:id="rId85"/>
    <p:sldId id="401" r:id="rId86"/>
    <p:sldId id="402" r:id="rId87"/>
    <p:sldId id="403" r:id="rId88"/>
    <p:sldId id="404" r:id="rId89"/>
    <p:sldId id="405" r:id="rId90"/>
    <p:sldId id="406" r:id="rId91"/>
    <p:sldId id="407" r:id="rId92"/>
    <p:sldId id="408" r:id="rId93"/>
    <p:sldId id="409" r:id="rId94"/>
    <p:sldId id="410" r:id="rId95"/>
    <p:sldId id="411" r:id="rId96"/>
    <p:sldId id="412" r:id="rId97"/>
    <p:sldId id="413" r:id="rId98"/>
    <p:sldId id="414" r:id="rId99"/>
    <p:sldId id="415" r:id="rId100"/>
    <p:sldId id="416" r:id="rId101"/>
    <p:sldId id="417" r:id="rId102"/>
    <p:sldId id="418" r:id="rId103"/>
    <p:sldId id="419" r:id="rId104"/>
    <p:sldId id="420" r:id="rId105"/>
    <p:sldId id="421" r:id="rId106"/>
    <p:sldId id="422" r:id="rId107"/>
    <p:sldId id="423" r:id="rId108"/>
    <p:sldId id="424" r:id="rId109"/>
    <p:sldId id="425" r:id="rId110"/>
    <p:sldId id="426" r:id="rId111"/>
    <p:sldId id="260" r:id="rId112"/>
  </p:sldIdLst>
  <p:sldSz cx="12192000" cy="6858000"/>
  <p:notesSz cx="6858000" cy="9144000"/>
  <p:defaultText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F3B5"/>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987" autoAdjust="0"/>
    <p:restoredTop sz="94660"/>
  </p:normalViewPr>
  <p:slideViewPr>
    <p:cSldViewPr snapToGrid="0">
      <p:cViewPr varScale="1">
        <p:scale>
          <a:sx n="82" d="100"/>
          <a:sy n="82" d="100"/>
        </p:scale>
        <p:origin x="672" y="7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42" Type="http://schemas.openxmlformats.org/officeDocument/2006/relationships/slide" Target="slides/slide41.xml"/><Relationship Id="rId47" Type="http://schemas.openxmlformats.org/officeDocument/2006/relationships/slide" Target="slides/slide46.xml"/><Relationship Id="rId63" Type="http://schemas.openxmlformats.org/officeDocument/2006/relationships/slide" Target="slides/slide62.xml"/><Relationship Id="rId68" Type="http://schemas.openxmlformats.org/officeDocument/2006/relationships/slide" Target="slides/slide67.xml"/><Relationship Id="rId84" Type="http://schemas.openxmlformats.org/officeDocument/2006/relationships/slide" Target="slides/slide83.xml"/><Relationship Id="rId89" Type="http://schemas.openxmlformats.org/officeDocument/2006/relationships/slide" Target="slides/slide88.xml"/><Relationship Id="rId112" Type="http://schemas.openxmlformats.org/officeDocument/2006/relationships/slide" Target="slides/slide111.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presProps" Target="presProps.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slide" Target="slides/slide56.xml"/><Relationship Id="rId106" Type="http://schemas.openxmlformats.org/officeDocument/2006/relationships/slide" Target="slides/slide105.xml"/><Relationship Id="rId114" Type="http://schemas.openxmlformats.org/officeDocument/2006/relationships/viewProps" Target="viewProps.xml"/><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slide" Target="slides/slide51.xml"/><Relationship Id="rId60" Type="http://schemas.openxmlformats.org/officeDocument/2006/relationships/slide" Target="slides/slide59.xml"/><Relationship Id="rId65" Type="http://schemas.openxmlformats.org/officeDocument/2006/relationships/slide" Target="slides/slide64.xml"/><Relationship Id="rId73" Type="http://schemas.openxmlformats.org/officeDocument/2006/relationships/slide" Target="slides/slide72.xml"/><Relationship Id="rId78" Type="http://schemas.openxmlformats.org/officeDocument/2006/relationships/slide" Target="slides/slide77.xml"/><Relationship Id="rId81" Type="http://schemas.openxmlformats.org/officeDocument/2006/relationships/slide" Target="slides/slide80.xml"/><Relationship Id="rId86" Type="http://schemas.openxmlformats.org/officeDocument/2006/relationships/slide" Target="slides/slide85.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theme" Target="theme/theme1.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tableStyles" Target="tableStyles.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a de título">
    <p:spTree>
      <p:nvGrpSpPr>
        <p:cNvPr id="1" name=""/>
        <p:cNvGrpSpPr/>
        <p:nvPr/>
      </p:nvGrpSpPr>
      <p:grpSpPr>
        <a:xfrm>
          <a:off x="0" y="0"/>
          <a:ext cx="0" cy="0"/>
          <a:chOff x="0" y="0"/>
          <a:chExt cx="0" cy="0"/>
        </a:xfrm>
      </p:grpSpPr>
      <p:sp>
        <p:nvSpPr>
          <p:cNvPr id="2" name="Título 1"/>
          <p:cNvSpPr>
            <a:spLocks noGrp="1"/>
          </p:cNvSpPr>
          <p:nvPr>
            <p:ph type="ctrTitle"/>
          </p:nvPr>
        </p:nvSpPr>
        <p:spPr>
          <a:xfrm>
            <a:off x="1524000" y="1122363"/>
            <a:ext cx="9144000" cy="2387600"/>
          </a:xfrm>
        </p:spPr>
        <p:txBody>
          <a:bodyPr anchor="b"/>
          <a:lstStyle>
            <a:lvl1pPr algn="ctr">
              <a:defRPr sz="6000"/>
            </a:lvl1pPr>
          </a:lstStyle>
          <a:p>
            <a:r>
              <a:rPr lang="es-ES"/>
              <a:t>Haga clic para modificar el estilo de título del patrón</a:t>
            </a:r>
          </a:p>
        </p:txBody>
      </p:sp>
      <p:sp>
        <p:nvSpPr>
          <p:cNvPr id="3" name="Subtítulo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s-ES"/>
              <a:t>Haga clic para editar el estilo de subtítulo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01/08/2024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91815585"/>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ítulo y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idx="1"/>
          </p:nvPr>
        </p:nvSpPr>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01/08/2024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89452288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Encabezado de sección">
    <p:spTree>
      <p:nvGrpSpPr>
        <p:cNvPr id="1" name=""/>
        <p:cNvGrpSpPr/>
        <p:nvPr/>
      </p:nvGrpSpPr>
      <p:grpSpPr>
        <a:xfrm>
          <a:off x="0" y="0"/>
          <a:ext cx="0" cy="0"/>
          <a:chOff x="0" y="0"/>
          <a:chExt cx="0" cy="0"/>
        </a:xfrm>
      </p:grpSpPr>
      <p:sp>
        <p:nvSpPr>
          <p:cNvPr id="2" name="Título 1"/>
          <p:cNvSpPr>
            <a:spLocks noGrp="1"/>
          </p:cNvSpPr>
          <p:nvPr>
            <p:ph type="title"/>
          </p:nvPr>
        </p:nvSpPr>
        <p:spPr>
          <a:xfrm>
            <a:off x="831850" y="1709738"/>
            <a:ext cx="10515600" cy="2852737"/>
          </a:xfrm>
        </p:spPr>
        <p:txBody>
          <a:bodyPr anchor="b"/>
          <a:lstStyle>
            <a:lvl1pPr>
              <a:defRPr sz="6000"/>
            </a:lvl1pPr>
          </a:lstStyle>
          <a:p>
            <a:r>
              <a:rPr lang="es-ES"/>
              <a:t>Haga clic para modificar el estilo de título del patrón</a:t>
            </a:r>
          </a:p>
        </p:txBody>
      </p:sp>
      <p:sp>
        <p:nvSpPr>
          <p:cNvPr id="3" name="Marcador de texto 2"/>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s-ES"/>
              <a:t>Editar el estilo de texto del patrón</a:t>
            </a:r>
          </a:p>
        </p:txBody>
      </p:sp>
      <p:sp>
        <p:nvSpPr>
          <p:cNvPr id="4" name="Marcador de fecha 3"/>
          <p:cNvSpPr>
            <a:spLocks noGrp="1"/>
          </p:cNvSpPr>
          <p:nvPr>
            <p:ph type="dt" sz="half" idx="10"/>
          </p:nvPr>
        </p:nvSpPr>
        <p:spPr/>
        <p:txBody>
          <a:bodyPr/>
          <a:lstStyle/>
          <a:p>
            <a:fld id="{CC231CB2-8F63-4ACB-AA28-38CB9C3B0788}" type="datetimeFigureOut">
              <a:rPr lang="es-ES" smtClean="0"/>
              <a:t>01/08/2024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59373095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os objetos">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contenido 2"/>
          <p:cNvSpPr>
            <a:spLocks noGrp="1"/>
          </p:cNvSpPr>
          <p:nvPr>
            <p:ph sz="half" idx="1"/>
          </p:nvPr>
        </p:nvSpPr>
        <p:spPr>
          <a:xfrm>
            <a:off x="838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contenido 3"/>
          <p:cNvSpPr>
            <a:spLocks noGrp="1"/>
          </p:cNvSpPr>
          <p:nvPr>
            <p:ph sz="half" idx="2"/>
          </p:nvPr>
        </p:nvSpPr>
        <p:spPr>
          <a:xfrm>
            <a:off x="6172200" y="1825625"/>
            <a:ext cx="5181600" cy="435133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fecha 4"/>
          <p:cNvSpPr>
            <a:spLocks noGrp="1"/>
          </p:cNvSpPr>
          <p:nvPr>
            <p:ph type="dt" sz="half" idx="10"/>
          </p:nvPr>
        </p:nvSpPr>
        <p:spPr/>
        <p:txBody>
          <a:bodyPr/>
          <a:lstStyle/>
          <a:p>
            <a:fld id="{CC231CB2-8F63-4ACB-AA28-38CB9C3B0788}" type="datetimeFigureOut">
              <a:rPr lang="es-ES" smtClean="0"/>
              <a:t>01/08/2024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364624423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ción">
    <p:spTree>
      <p:nvGrpSpPr>
        <p:cNvPr id="1" name=""/>
        <p:cNvGrpSpPr/>
        <p:nvPr/>
      </p:nvGrpSpPr>
      <p:grpSpPr>
        <a:xfrm>
          <a:off x="0" y="0"/>
          <a:ext cx="0" cy="0"/>
          <a:chOff x="0" y="0"/>
          <a:chExt cx="0" cy="0"/>
        </a:xfrm>
      </p:grpSpPr>
      <p:sp>
        <p:nvSpPr>
          <p:cNvPr id="2" name="Título 1"/>
          <p:cNvSpPr>
            <a:spLocks noGrp="1"/>
          </p:cNvSpPr>
          <p:nvPr>
            <p:ph type="title"/>
          </p:nvPr>
        </p:nvSpPr>
        <p:spPr>
          <a:xfrm>
            <a:off x="839788" y="365125"/>
            <a:ext cx="10515600" cy="1325563"/>
          </a:xfrm>
        </p:spPr>
        <p:txBody>
          <a:bodyPr/>
          <a:lstStyle/>
          <a:p>
            <a:r>
              <a:rPr lang="es-ES"/>
              <a:t>Haga clic para modificar el estilo de título del patrón</a:t>
            </a:r>
          </a:p>
        </p:txBody>
      </p:sp>
      <p:sp>
        <p:nvSpPr>
          <p:cNvPr id="3" name="Marcador de texto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4" name="Marcador de contenido 3"/>
          <p:cNvSpPr>
            <a:spLocks noGrp="1"/>
          </p:cNvSpPr>
          <p:nvPr>
            <p:ph sz="half" idx="2"/>
          </p:nvPr>
        </p:nvSpPr>
        <p:spPr>
          <a:xfrm>
            <a:off x="839788" y="2505075"/>
            <a:ext cx="5157787"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5" name="Marcador de texto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s-ES"/>
              <a:t>Editar el estilo de texto del patrón</a:t>
            </a:r>
          </a:p>
        </p:txBody>
      </p:sp>
      <p:sp>
        <p:nvSpPr>
          <p:cNvPr id="6" name="Marcador de contenido 5"/>
          <p:cNvSpPr>
            <a:spLocks noGrp="1"/>
          </p:cNvSpPr>
          <p:nvPr>
            <p:ph sz="quarter" idx="4"/>
          </p:nvPr>
        </p:nvSpPr>
        <p:spPr>
          <a:xfrm>
            <a:off x="6172200" y="2505075"/>
            <a:ext cx="5183188" cy="3684588"/>
          </a:xfrm>
        </p:spPr>
        <p:txBody>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7" name="Marcador de fecha 6"/>
          <p:cNvSpPr>
            <a:spLocks noGrp="1"/>
          </p:cNvSpPr>
          <p:nvPr>
            <p:ph type="dt" sz="half" idx="10"/>
          </p:nvPr>
        </p:nvSpPr>
        <p:spPr/>
        <p:txBody>
          <a:bodyPr/>
          <a:lstStyle/>
          <a:p>
            <a:fld id="{CC231CB2-8F63-4ACB-AA28-38CB9C3B0788}" type="datetimeFigureOut">
              <a:rPr lang="es-ES" smtClean="0"/>
              <a:t>01/08/2024</a:t>
            </a:fld>
            <a:endParaRPr lang="es-ES"/>
          </a:p>
        </p:txBody>
      </p:sp>
      <p:sp>
        <p:nvSpPr>
          <p:cNvPr id="8" name="Marcador de pie de página 7"/>
          <p:cNvSpPr>
            <a:spLocks noGrp="1"/>
          </p:cNvSpPr>
          <p:nvPr>
            <p:ph type="ftr" sz="quarter" idx="11"/>
          </p:nvPr>
        </p:nvSpPr>
        <p:spPr/>
        <p:txBody>
          <a:bodyPr/>
          <a:lstStyle/>
          <a:p>
            <a:endParaRPr lang="es-ES"/>
          </a:p>
        </p:txBody>
      </p:sp>
      <p:sp>
        <p:nvSpPr>
          <p:cNvPr id="9" name="Marcador de número de diapositiva 8"/>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49623264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Solo el título">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fecha 2"/>
          <p:cNvSpPr>
            <a:spLocks noGrp="1"/>
          </p:cNvSpPr>
          <p:nvPr>
            <p:ph type="dt" sz="half" idx="10"/>
          </p:nvPr>
        </p:nvSpPr>
        <p:spPr/>
        <p:txBody>
          <a:bodyPr/>
          <a:lstStyle/>
          <a:p>
            <a:fld id="{CC231CB2-8F63-4ACB-AA28-38CB9C3B0788}" type="datetimeFigureOut">
              <a:rPr lang="es-ES" smtClean="0"/>
              <a:t>01/08/2024</a:t>
            </a:fld>
            <a:endParaRPr lang="es-ES"/>
          </a:p>
        </p:txBody>
      </p:sp>
      <p:sp>
        <p:nvSpPr>
          <p:cNvPr id="4" name="Marcador de pie de página 3"/>
          <p:cNvSpPr>
            <a:spLocks noGrp="1"/>
          </p:cNvSpPr>
          <p:nvPr>
            <p:ph type="ftr" sz="quarter" idx="11"/>
          </p:nvPr>
        </p:nvSpPr>
        <p:spPr/>
        <p:txBody>
          <a:bodyPr/>
          <a:lstStyle/>
          <a:p>
            <a:endParaRPr lang="es-ES"/>
          </a:p>
        </p:txBody>
      </p:sp>
      <p:sp>
        <p:nvSpPr>
          <p:cNvPr id="5" name="Marcador de número de diapositiva 4"/>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8991526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En blanco">
    <p:spTree>
      <p:nvGrpSpPr>
        <p:cNvPr id="1" name=""/>
        <p:cNvGrpSpPr/>
        <p:nvPr/>
      </p:nvGrpSpPr>
      <p:grpSpPr>
        <a:xfrm>
          <a:off x="0" y="0"/>
          <a:ext cx="0" cy="0"/>
          <a:chOff x="0" y="0"/>
          <a:chExt cx="0" cy="0"/>
        </a:xfrm>
      </p:grpSpPr>
      <p:sp>
        <p:nvSpPr>
          <p:cNvPr id="2" name="Marcador de fecha 1"/>
          <p:cNvSpPr>
            <a:spLocks noGrp="1"/>
          </p:cNvSpPr>
          <p:nvPr>
            <p:ph type="dt" sz="half" idx="10"/>
          </p:nvPr>
        </p:nvSpPr>
        <p:spPr/>
        <p:txBody>
          <a:bodyPr/>
          <a:lstStyle/>
          <a:p>
            <a:fld id="{CC231CB2-8F63-4ACB-AA28-38CB9C3B0788}" type="datetimeFigureOut">
              <a:rPr lang="es-ES" smtClean="0"/>
              <a:t>01/08/2024</a:t>
            </a:fld>
            <a:endParaRPr lang="es-ES"/>
          </a:p>
        </p:txBody>
      </p:sp>
      <p:sp>
        <p:nvSpPr>
          <p:cNvPr id="3" name="Marcador de pie de página 2"/>
          <p:cNvSpPr>
            <a:spLocks noGrp="1"/>
          </p:cNvSpPr>
          <p:nvPr>
            <p:ph type="ftr" sz="quarter" idx="11"/>
          </p:nvPr>
        </p:nvSpPr>
        <p:spPr/>
        <p:txBody>
          <a:bodyPr/>
          <a:lstStyle/>
          <a:p>
            <a:endParaRPr lang="es-ES"/>
          </a:p>
        </p:txBody>
      </p:sp>
      <p:sp>
        <p:nvSpPr>
          <p:cNvPr id="4" name="Marcador de número de diapositiva 3"/>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1624063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ido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contenido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01/08/2024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1999809406"/>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n con título">
    <p:spTree>
      <p:nvGrpSpPr>
        <p:cNvPr id="1" name=""/>
        <p:cNvGrpSpPr/>
        <p:nvPr/>
      </p:nvGrpSpPr>
      <p:grpSpPr>
        <a:xfrm>
          <a:off x="0" y="0"/>
          <a:ext cx="0" cy="0"/>
          <a:chOff x="0" y="0"/>
          <a:chExt cx="0" cy="0"/>
        </a:xfrm>
      </p:grpSpPr>
      <p:sp>
        <p:nvSpPr>
          <p:cNvPr id="2" name="Título 1"/>
          <p:cNvSpPr>
            <a:spLocks noGrp="1"/>
          </p:cNvSpPr>
          <p:nvPr>
            <p:ph type="title"/>
          </p:nvPr>
        </p:nvSpPr>
        <p:spPr>
          <a:xfrm>
            <a:off x="839788" y="457200"/>
            <a:ext cx="3932237" cy="1600200"/>
          </a:xfrm>
        </p:spPr>
        <p:txBody>
          <a:bodyPr anchor="b"/>
          <a:lstStyle>
            <a:lvl1pPr>
              <a:defRPr sz="3200"/>
            </a:lvl1pPr>
          </a:lstStyle>
          <a:p>
            <a:r>
              <a:rPr lang="es-ES"/>
              <a:t>Haga clic para modificar el estilo de título del patrón</a:t>
            </a:r>
          </a:p>
        </p:txBody>
      </p:sp>
      <p:sp>
        <p:nvSpPr>
          <p:cNvPr id="3" name="Marcador de posición de imagen 2"/>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s-ES"/>
          </a:p>
        </p:txBody>
      </p:sp>
      <p:sp>
        <p:nvSpPr>
          <p:cNvPr id="4" name="Marcador de texto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s-ES"/>
              <a:t>Editar el estilo de texto del patrón</a:t>
            </a:r>
          </a:p>
        </p:txBody>
      </p:sp>
      <p:sp>
        <p:nvSpPr>
          <p:cNvPr id="5" name="Marcador de fecha 4"/>
          <p:cNvSpPr>
            <a:spLocks noGrp="1"/>
          </p:cNvSpPr>
          <p:nvPr>
            <p:ph type="dt" sz="half" idx="10"/>
          </p:nvPr>
        </p:nvSpPr>
        <p:spPr/>
        <p:txBody>
          <a:bodyPr/>
          <a:lstStyle/>
          <a:p>
            <a:fld id="{CC231CB2-8F63-4ACB-AA28-38CB9C3B0788}" type="datetimeFigureOut">
              <a:rPr lang="es-ES" smtClean="0"/>
              <a:t>01/08/2024</a:t>
            </a:fld>
            <a:endParaRPr lang="es-ES"/>
          </a:p>
        </p:txBody>
      </p:sp>
      <p:sp>
        <p:nvSpPr>
          <p:cNvPr id="6" name="Marcador de pie de página 5"/>
          <p:cNvSpPr>
            <a:spLocks noGrp="1"/>
          </p:cNvSpPr>
          <p:nvPr>
            <p:ph type="ftr" sz="quarter" idx="11"/>
          </p:nvPr>
        </p:nvSpPr>
        <p:spPr/>
        <p:txBody>
          <a:bodyPr/>
          <a:lstStyle/>
          <a:p>
            <a:endParaRPr lang="es-ES"/>
          </a:p>
        </p:txBody>
      </p:sp>
      <p:sp>
        <p:nvSpPr>
          <p:cNvPr id="7" name="Marcador de número de diapositiva 6"/>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19691171"/>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ítulo y texto vertical">
    <p:spTree>
      <p:nvGrpSpPr>
        <p:cNvPr id="1" name=""/>
        <p:cNvGrpSpPr/>
        <p:nvPr/>
      </p:nvGrpSpPr>
      <p:grpSpPr>
        <a:xfrm>
          <a:off x="0" y="0"/>
          <a:ext cx="0" cy="0"/>
          <a:chOff x="0" y="0"/>
          <a:chExt cx="0" cy="0"/>
        </a:xfrm>
      </p:grpSpPr>
      <p:sp>
        <p:nvSpPr>
          <p:cNvPr id="2" name="Título 1"/>
          <p:cNvSpPr>
            <a:spLocks noGrp="1"/>
          </p:cNvSpPr>
          <p:nvPr>
            <p:ph type="title"/>
          </p:nvPr>
        </p:nvSpPr>
        <p:spPr/>
        <p:txBody>
          <a:bodyPr/>
          <a:lstStyle/>
          <a:p>
            <a:r>
              <a:rPr lang="es-ES"/>
              <a:t>Haga clic para modificar el estilo de título del patrón</a:t>
            </a:r>
          </a:p>
        </p:txBody>
      </p:sp>
      <p:sp>
        <p:nvSpPr>
          <p:cNvPr id="3" name="Marcador de texto vertical 2"/>
          <p:cNvSpPr>
            <a:spLocks noGrp="1"/>
          </p:cNvSpPr>
          <p:nvPr>
            <p:ph type="body" orient="vert" idx="1"/>
          </p:nvPr>
        </p:nvSpPr>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01/08/2024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72927358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ítulo vertical y texto">
    <p:spTree>
      <p:nvGrpSpPr>
        <p:cNvPr id="1" name=""/>
        <p:cNvGrpSpPr/>
        <p:nvPr/>
      </p:nvGrpSpPr>
      <p:grpSpPr>
        <a:xfrm>
          <a:off x="0" y="0"/>
          <a:ext cx="0" cy="0"/>
          <a:chOff x="0" y="0"/>
          <a:chExt cx="0" cy="0"/>
        </a:xfrm>
      </p:grpSpPr>
      <p:sp>
        <p:nvSpPr>
          <p:cNvPr id="2" name="Título vertical 1"/>
          <p:cNvSpPr>
            <a:spLocks noGrp="1"/>
          </p:cNvSpPr>
          <p:nvPr>
            <p:ph type="title" orient="vert"/>
          </p:nvPr>
        </p:nvSpPr>
        <p:spPr>
          <a:xfrm>
            <a:off x="8724900" y="365125"/>
            <a:ext cx="2628900" cy="5811838"/>
          </a:xfrm>
        </p:spPr>
        <p:txBody>
          <a:bodyPr vert="eaVert"/>
          <a:lstStyle/>
          <a:p>
            <a:r>
              <a:rPr lang="es-ES"/>
              <a:t>Haga clic para modificar el estilo de título del patrón</a:t>
            </a:r>
          </a:p>
        </p:txBody>
      </p:sp>
      <p:sp>
        <p:nvSpPr>
          <p:cNvPr id="3" name="Marcador de texto vertical 2"/>
          <p:cNvSpPr>
            <a:spLocks noGrp="1"/>
          </p:cNvSpPr>
          <p:nvPr>
            <p:ph type="body" orient="vert" idx="1"/>
          </p:nvPr>
        </p:nvSpPr>
        <p:spPr>
          <a:xfrm>
            <a:off x="838200" y="365125"/>
            <a:ext cx="7734300" cy="5811838"/>
          </a:xfrm>
        </p:spPr>
        <p:txBody>
          <a:bodyPr vert="eaVert"/>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10"/>
          </p:nvPr>
        </p:nvSpPr>
        <p:spPr/>
        <p:txBody>
          <a:bodyPr/>
          <a:lstStyle/>
          <a:p>
            <a:fld id="{CC231CB2-8F63-4ACB-AA28-38CB9C3B0788}" type="datetimeFigureOut">
              <a:rPr lang="es-ES" smtClean="0"/>
              <a:t>01/08/2024</a:t>
            </a:fld>
            <a:endParaRPr lang="es-ES"/>
          </a:p>
        </p:txBody>
      </p:sp>
      <p:sp>
        <p:nvSpPr>
          <p:cNvPr id="5" name="Marcador de pie de página 4"/>
          <p:cNvSpPr>
            <a:spLocks noGrp="1"/>
          </p:cNvSpPr>
          <p:nvPr>
            <p:ph type="ftr" sz="quarter" idx="11"/>
          </p:nvPr>
        </p:nvSpPr>
        <p:spPr/>
        <p:txBody>
          <a:bodyPr/>
          <a:lstStyle/>
          <a:p>
            <a:endParaRPr lang="es-ES"/>
          </a:p>
        </p:txBody>
      </p:sp>
      <p:sp>
        <p:nvSpPr>
          <p:cNvPr id="6" name="Marcador de número de diapositiva 5"/>
          <p:cNvSpPr>
            <a:spLocks noGrp="1"/>
          </p:cNvSpPr>
          <p:nvPr>
            <p:ph type="sldNum" sz="quarter" idx="12"/>
          </p:nvPr>
        </p:nvSpPr>
        <p:spPr/>
        <p:txBody>
          <a:bodyPr/>
          <a:lstStyle/>
          <a:p>
            <a:fld id="{24A79FA8-4D08-4E50-BBA2-D88CCB263461}" type="slidenum">
              <a:rPr lang="es-ES" smtClean="0"/>
              <a:t>‹Nº›</a:t>
            </a:fld>
            <a:endParaRPr lang="es-ES"/>
          </a:p>
        </p:txBody>
      </p:sp>
    </p:spTree>
    <p:extLst>
      <p:ext uri="{BB962C8B-B14F-4D97-AF65-F5344CB8AC3E}">
        <p14:creationId xmlns:p14="http://schemas.microsoft.com/office/powerpoint/2010/main" val="207310781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image" Target="../media/image1.png"/><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Marcador de título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s-ES"/>
              <a:t>Haga clic para modificar el estilo de título del patrón</a:t>
            </a:r>
          </a:p>
        </p:txBody>
      </p:sp>
      <p:sp>
        <p:nvSpPr>
          <p:cNvPr id="3" name="Marcador de texto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s-ES"/>
              <a:t>Editar el estilo de texto del patrón</a:t>
            </a:r>
          </a:p>
          <a:p>
            <a:pPr lvl="1"/>
            <a:r>
              <a:rPr lang="es-ES"/>
              <a:t>Segundo nivel</a:t>
            </a:r>
          </a:p>
          <a:p>
            <a:pPr lvl="2"/>
            <a:r>
              <a:rPr lang="es-ES"/>
              <a:t>Tercer nivel</a:t>
            </a:r>
          </a:p>
          <a:p>
            <a:pPr lvl="3"/>
            <a:r>
              <a:rPr lang="es-ES"/>
              <a:t>Cuarto nivel</a:t>
            </a:r>
          </a:p>
          <a:p>
            <a:pPr lvl="4"/>
            <a:r>
              <a:rPr lang="es-ES"/>
              <a:t>Quinto nivel</a:t>
            </a:r>
          </a:p>
        </p:txBody>
      </p:sp>
      <p:sp>
        <p:nvSpPr>
          <p:cNvPr id="4" name="Marcador de fecha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CC231CB2-8F63-4ACB-AA28-38CB9C3B0788}" type="datetimeFigureOut">
              <a:rPr lang="es-ES" smtClean="0"/>
              <a:t>01/08/2024</a:t>
            </a:fld>
            <a:endParaRPr lang="es-ES"/>
          </a:p>
        </p:txBody>
      </p:sp>
      <p:sp>
        <p:nvSpPr>
          <p:cNvPr id="5" name="Marcador de pie de página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s-ES"/>
          </a:p>
        </p:txBody>
      </p:sp>
      <p:sp>
        <p:nvSpPr>
          <p:cNvPr id="6" name="Marcador de número de diapositiva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4A79FA8-4D08-4E50-BBA2-D88CCB263461}" type="slidenum">
              <a:rPr lang="es-ES" smtClean="0"/>
              <a:t>‹Nº›</a:t>
            </a:fld>
            <a:endParaRPr lang="es-ES"/>
          </a:p>
        </p:txBody>
      </p:sp>
    </p:spTree>
    <p:extLst>
      <p:ext uri="{BB962C8B-B14F-4D97-AF65-F5344CB8AC3E}">
        <p14:creationId xmlns:p14="http://schemas.microsoft.com/office/powerpoint/2010/main" val="298081964"/>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s-E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310580279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6" name="Rectángulo 5"/>
          <p:cNvSpPr/>
          <p:nvPr/>
        </p:nvSpPr>
        <p:spPr>
          <a:xfrm>
            <a:off x="881271" y="2551837"/>
            <a:ext cx="10429458" cy="1754326"/>
          </a:xfrm>
          <a:prstGeom prst="rect">
            <a:avLst/>
          </a:prstGeom>
        </p:spPr>
        <p:txBody>
          <a:bodyPr wrap="none">
            <a:spAutoFit/>
          </a:bodyPr>
          <a:lstStyle/>
          <a:p>
            <a:pPr algn="ctr"/>
            <a:r>
              <a:rPr lang="es-ES" sz="5400" b="1" dirty="0">
                <a:solidFill>
                  <a:srgbClr val="00F3B5"/>
                </a:solidFill>
                <a:latin typeface="Prompt" panose="00000500000000000000" pitchFamily="2" charset="-34"/>
                <a:cs typeface="Prompt" panose="00000500000000000000" pitchFamily="2" charset="-34"/>
              </a:rPr>
              <a:t>ESPECIALIZACION EN  </a:t>
            </a:r>
          </a:p>
          <a:p>
            <a:pPr algn="ctr"/>
            <a:r>
              <a:rPr lang="es-ES" sz="5400" dirty="0">
                <a:solidFill>
                  <a:schemeClr val="bg1"/>
                </a:solidFill>
                <a:latin typeface="Prompt" panose="00000800000000000000" pitchFamily="2" charset="-34"/>
                <a:cs typeface="Prompt" panose="00000800000000000000" pitchFamily="2" charset="-34"/>
              </a:rPr>
              <a:t>GESTION DE GAS Y PETROLEO</a:t>
            </a:r>
          </a:p>
        </p:txBody>
      </p:sp>
    </p:spTree>
    <p:extLst>
      <p:ext uri="{BB962C8B-B14F-4D97-AF65-F5344CB8AC3E}">
        <p14:creationId xmlns:p14="http://schemas.microsoft.com/office/powerpoint/2010/main" val="1825619757"/>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04C7009-B4AD-8BBA-4EE5-7DE0D730117F}"/>
              </a:ext>
            </a:extLst>
          </p:cNvPr>
          <p:cNvSpPr>
            <a:spLocks noGrp="1"/>
          </p:cNvSpPr>
          <p:nvPr>
            <p:ph type="title"/>
          </p:nvPr>
        </p:nvSpPr>
        <p:spPr>
          <a:xfrm>
            <a:off x="1099457" y="2865729"/>
            <a:ext cx="10515600" cy="1325563"/>
          </a:xfrm>
        </p:spPr>
        <p:txBody>
          <a:bodyPr/>
          <a:lstStyle/>
          <a:p>
            <a:r>
              <a:rPr lang="es-ES" dirty="0"/>
              <a:t>GEOLOGIA DE LOS HIDROCARBUROS</a:t>
            </a:r>
            <a:endParaRPr lang="es-PE" dirty="0"/>
          </a:p>
        </p:txBody>
      </p:sp>
      <p:sp>
        <p:nvSpPr>
          <p:cNvPr id="3" name="Título 1">
            <a:extLst>
              <a:ext uri="{FF2B5EF4-FFF2-40B4-BE49-F238E27FC236}">
                <a16:creationId xmlns:a16="http://schemas.microsoft.com/office/drawing/2014/main" id="{73653071-40EA-CFBA-6A3F-E65A5E1FB43D}"/>
              </a:ext>
            </a:extLst>
          </p:cNvPr>
          <p:cNvSpPr txBox="1">
            <a:spLocks/>
          </p:cNvSpPr>
          <p:nvPr/>
        </p:nvSpPr>
        <p:spPr>
          <a:xfrm>
            <a:off x="838200" y="1075029"/>
            <a:ext cx="10515600" cy="1325563"/>
          </a:xfrm>
          <a:prstGeom prst="rect">
            <a:avLst/>
          </a:prstGeom>
        </p:spPr>
        <p:txBody>
          <a:bodyPr vert="horz" lIns="91440" tIns="45720" rIns="91440" bIns="45720" rtlCol="0" anchor="ctr">
            <a:normAutofit/>
          </a:bodyPr>
          <a:lstStyle>
            <a:lvl1pPr algn="l" defTabSz="914400" rtl="0" eaLnBrk="1" latinLnBrk="0" hangingPunct="1">
              <a:lnSpc>
                <a:spcPct val="90000"/>
              </a:lnSpc>
              <a:spcBef>
                <a:spcPct val="0"/>
              </a:spcBef>
              <a:buNone/>
              <a:defRPr sz="4400" b="1" kern="1200">
                <a:solidFill>
                  <a:schemeClr val="tx1"/>
                </a:solidFill>
                <a:latin typeface="Prompt" panose="00000500000000000000" pitchFamily="2" charset="-34"/>
                <a:ea typeface="+mj-ea"/>
                <a:cs typeface="Prompt" panose="00000500000000000000" pitchFamily="2" charset="-34"/>
              </a:defRPr>
            </a:lvl1pPr>
          </a:lstStyle>
          <a:p>
            <a:r>
              <a:rPr lang="es-ES" dirty="0"/>
              <a:t>MODULO II</a:t>
            </a:r>
            <a:endParaRPr lang="es-PE" dirty="0"/>
          </a:p>
        </p:txBody>
      </p:sp>
    </p:spTree>
    <p:extLst>
      <p:ext uri="{BB962C8B-B14F-4D97-AF65-F5344CB8AC3E}">
        <p14:creationId xmlns:p14="http://schemas.microsoft.com/office/powerpoint/2010/main" val="316141289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A19E6F5-05DC-9995-611E-161294A54025}"/>
              </a:ext>
            </a:extLst>
          </p:cNvPr>
          <p:cNvSpPr>
            <a:spLocks noGrp="1"/>
          </p:cNvSpPr>
          <p:nvPr>
            <p:ph type="title"/>
          </p:nvPr>
        </p:nvSpPr>
        <p:spPr>
          <a:xfrm>
            <a:off x="964660" y="277576"/>
            <a:ext cx="10515600" cy="1325563"/>
          </a:xfrm>
        </p:spPr>
        <p:txBody>
          <a:bodyPr>
            <a:normAutofit/>
          </a:bodyPr>
          <a:lstStyle/>
          <a:p>
            <a:r>
              <a:rPr lang="es-ES" sz="2800" dirty="0"/>
              <a:t>QUE SON LOS HIDROCARBUROS </a:t>
            </a:r>
          </a:p>
        </p:txBody>
      </p:sp>
      <p:sp>
        <p:nvSpPr>
          <p:cNvPr id="3" name="Marcador de contenido 2">
            <a:extLst>
              <a:ext uri="{FF2B5EF4-FFF2-40B4-BE49-F238E27FC236}">
                <a16:creationId xmlns:a16="http://schemas.microsoft.com/office/drawing/2014/main" id="{9A3A338C-2F44-961B-B316-9D3B1B3352AF}"/>
              </a:ext>
            </a:extLst>
          </p:cNvPr>
          <p:cNvSpPr>
            <a:spLocks noGrp="1"/>
          </p:cNvSpPr>
          <p:nvPr>
            <p:ph idx="1"/>
          </p:nvPr>
        </p:nvSpPr>
        <p:spPr>
          <a:xfrm>
            <a:off x="838199" y="1387930"/>
            <a:ext cx="11032671" cy="4789034"/>
          </a:xfrm>
        </p:spPr>
        <p:txBody>
          <a:bodyPr>
            <a:normAutofit lnSpcReduction="10000"/>
          </a:bodyPr>
          <a:lstStyle/>
          <a:p>
            <a:r>
              <a:rPr lang="es-ES" dirty="0"/>
              <a:t>Los hidrocarburos son compuestos orgánicos cuya estructura molecular se forma de la unión, entre átomos de hidrogeno y carbono.</a:t>
            </a:r>
          </a:p>
          <a:p>
            <a:r>
              <a:rPr lang="es-ES" dirty="0"/>
              <a:t>La formula básica  de los hidrocarburos es la siguiente C H .</a:t>
            </a:r>
          </a:p>
          <a:p>
            <a:endParaRPr lang="es-ES" dirty="0"/>
          </a:p>
          <a:p>
            <a:r>
              <a:rPr lang="es-ES" dirty="0"/>
              <a:t>Estos compuestos orgánicos pueden encontrarse en diferentes  estados de la materia: liquido , gaseoso (gas natural  o por condensación) y eventualmente sólido.</a:t>
            </a:r>
          </a:p>
          <a:p>
            <a:endParaRPr lang="es-ES" dirty="0"/>
          </a:p>
          <a:p>
            <a:r>
              <a:rPr lang="es-ES" dirty="0"/>
              <a:t>El petróleo( estado líquido) y el gas natural( en estado gaseoso) son mezclas  de hidrocarburos. Los hidrocarburos son la fuente de la que derivan otras sustancias orgánicas, tales como el combustible fósil.</a:t>
            </a:r>
          </a:p>
          <a:p>
            <a:endParaRPr lang="es-ES" dirty="0"/>
          </a:p>
        </p:txBody>
      </p:sp>
    </p:spTree>
    <p:extLst>
      <p:ext uri="{BB962C8B-B14F-4D97-AF65-F5344CB8AC3E}">
        <p14:creationId xmlns:p14="http://schemas.microsoft.com/office/powerpoint/2010/main" val="38855435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433F1D3-AB70-57AE-D357-DC4CA556E50B}"/>
              </a:ext>
            </a:extLst>
          </p:cNvPr>
          <p:cNvSpPr>
            <a:spLocks noGrp="1"/>
          </p:cNvSpPr>
          <p:nvPr>
            <p:ph idx="1"/>
          </p:nvPr>
        </p:nvSpPr>
        <p:spPr/>
        <p:txBody>
          <a:bodyPr/>
          <a:lstStyle/>
          <a:p>
            <a:r>
              <a:rPr lang="es-ES" dirty="0"/>
              <a:t>La industria mundial de hidrocarburos líquidos clasifica el petróleo de acuerdo a su densidad API ( parámetro  internacional del instituto Americano del Petróleo , que diferencia las calidades del crudo ).</a:t>
            </a:r>
          </a:p>
          <a:p>
            <a:endParaRPr lang="es-ES" dirty="0"/>
          </a:p>
          <a:p>
            <a:endParaRPr lang="es-ES" dirty="0"/>
          </a:p>
        </p:txBody>
      </p:sp>
      <p:pic>
        <p:nvPicPr>
          <p:cNvPr id="5" name="Marcador de contenido 4">
            <a:extLst>
              <a:ext uri="{FF2B5EF4-FFF2-40B4-BE49-F238E27FC236}">
                <a16:creationId xmlns:a16="http://schemas.microsoft.com/office/drawing/2014/main" id="{AA2B7E6D-CDB6-C207-2525-EA17838CB09E}"/>
              </a:ext>
            </a:extLst>
          </p:cNvPr>
          <p:cNvPicPr>
            <a:picLocks noChangeAspect="1"/>
          </p:cNvPicPr>
          <p:nvPr/>
        </p:nvPicPr>
        <p:blipFill>
          <a:blip r:embed="rId2"/>
          <a:stretch>
            <a:fillRect/>
          </a:stretch>
        </p:blipFill>
        <p:spPr>
          <a:xfrm>
            <a:off x="3604594" y="3707028"/>
            <a:ext cx="5399976" cy="2116573"/>
          </a:xfrm>
          <a:prstGeom prst="rect">
            <a:avLst/>
          </a:prstGeom>
        </p:spPr>
      </p:pic>
    </p:spTree>
    <p:extLst>
      <p:ext uri="{BB962C8B-B14F-4D97-AF65-F5344CB8AC3E}">
        <p14:creationId xmlns:p14="http://schemas.microsoft.com/office/powerpoint/2010/main" val="97006726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58C8092-70D0-5641-2318-64CB90992328}"/>
              </a:ext>
            </a:extLst>
          </p:cNvPr>
          <p:cNvSpPr>
            <a:spLocks noGrp="1"/>
          </p:cNvSpPr>
          <p:nvPr>
            <p:ph type="title"/>
          </p:nvPr>
        </p:nvSpPr>
        <p:spPr/>
        <p:txBody>
          <a:bodyPr>
            <a:normAutofit/>
          </a:bodyPr>
          <a:lstStyle/>
          <a:p>
            <a:r>
              <a:rPr lang="es-ES" sz="2800" dirty="0"/>
              <a:t>IMPORTANCIA DE LOS HIDROCARBUROS</a:t>
            </a:r>
          </a:p>
        </p:txBody>
      </p:sp>
      <p:sp>
        <p:nvSpPr>
          <p:cNvPr id="3" name="Marcador de contenido 2">
            <a:extLst>
              <a:ext uri="{FF2B5EF4-FFF2-40B4-BE49-F238E27FC236}">
                <a16:creationId xmlns:a16="http://schemas.microsoft.com/office/drawing/2014/main" id="{DA779F5E-3575-1036-A4C0-83E4FB8576A7}"/>
              </a:ext>
            </a:extLst>
          </p:cNvPr>
          <p:cNvSpPr>
            <a:spLocks noGrp="1"/>
          </p:cNvSpPr>
          <p:nvPr>
            <p:ph idx="1"/>
          </p:nvPr>
        </p:nvSpPr>
        <p:spPr/>
        <p:txBody>
          <a:bodyPr/>
          <a:lstStyle/>
          <a:p>
            <a:r>
              <a:rPr lang="es-ES" dirty="0"/>
              <a:t>La vida sin los hidrocarburos no podría ser como la conocemos.</a:t>
            </a:r>
          </a:p>
          <a:p>
            <a:r>
              <a:rPr lang="es-ES" dirty="0"/>
              <a:t>Del crudo obtenemos </a:t>
            </a:r>
            <a:r>
              <a:rPr lang="es-ES" dirty="0" err="1"/>
              <a:t>gasolina,y</a:t>
            </a:r>
            <a:r>
              <a:rPr lang="es-ES" dirty="0"/>
              <a:t> </a:t>
            </a:r>
            <a:r>
              <a:rPr lang="es-ES" dirty="0" err="1"/>
              <a:t>diesel</a:t>
            </a:r>
            <a:r>
              <a:rPr lang="es-ES" dirty="0"/>
              <a:t> para nuestros autos y </a:t>
            </a:r>
            <a:r>
              <a:rPr lang="es-ES" dirty="0" err="1"/>
              <a:t>autobusoes,combustibles</a:t>
            </a:r>
            <a:r>
              <a:rPr lang="es-ES" dirty="0"/>
              <a:t> para barcos y aviones.</a:t>
            </a:r>
          </a:p>
          <a:p>
            <a:r>
              <a:rPr lang="es-ES" dirty="0"/>
              <a:t>Lo usamos para generar electricidad , obtener energía calorífica para fábricas , hospitales y diversos lubricantes para maquinarias y vehículos.</a:t>
            </a:r>
          </a:p>
          <a:p>
            <a:r>
              <a:rPr lang="es-ES" dirty="0"/>
              <a:t>La industria petroquímica usa productos derivados de el para hacer plásticos , fibras sintéticas , detergentes , medicinas , hules y agroquímicos.</a:t>
            </a:r>
          </a:p>
        </p:txBody>
      </p:sp>
    </p:spTree>
    <p:extLst>
      <p:ext uri="{BB962C8B-B14F-4D97-AF65-F5344CB8AC3E}">
        <p14:creationId xmlns:p14="http://schemas.microsoft.com/office/powerpoint/2010/main" val="3188161991"/>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2253A65-493C-4AFE-7C52-2265D4FA9BF0}"/>
              </a:ext>
            </a:extLst>
          </p:cNvPr>
          <p:cNvSpPr>
            <a:spLocks noGrp="1"/>
          </p:cNvSpPr>
          <p:nvPr>
            <p:ph idx="1"/>
          </p:nvPr>
        </p:nvSpPr>
        <p:spPr>
          <a:xfrm>
            <a:off x="1099930" y="2584173"/>
            <a:ext cx="10253870" cy="2724945"/>
          </a:xfrm>
        </p:spPr>
        <p:txBody>
          <a:bodyPr/>
          <a:lstStyle/>
          <a:p>
            <a:pPr marL="0" indent="0" algn="just">
              <a:buNone/>
            </a:pPr>
            <a:r>
              <a:rPr lang="es-ES" dirty="0"/>
              <a:t>La geología de los hidrocarburos es una disciplina fundamental en la industria petrolera y gasífera, que se enfoca en el estudio de las formaciones geológicas que albergan yacimientos de petróleo y gas natural. </a:t>
            </a:r>
            <a:endParaRPr lang="es-PE" dirty="0"/>
          </a:p>
        </p:txBody>
      </p:sp>
    </p:spTree>
    <p:extLst>
      <p:ext uri="{BB962C8B-B14F-4D97-AF65-F5344CB8AC3E}">
        <p14:creationId xmlns:p14="http://schemas.microsoft.com/office/powerpoint/2010/main" val="374890741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D5EADF94-6534-1EE4-CAD8-1FF5362427B8}"/>
              </a:ext>
            </a:extLst>
          </p:cNvPr>
          <p:cNvSpPr>
            <a:spLocks noGrp="1"/>
          </p:cNvSpPr>
          <p:nvPr>
            <p:ph idx="1"/>
          </p:nvPr>
        </p:nvSpPr>
        <p:spPr>
          <a:xfrm>
            <a:off x="838200" y="1591627"/>
            <a:ext cx="9768840" cy="3696653"/>
          </a:xfrm>
        </p:spPr>
        <p:txBody>
          <a:bodyPr>
            <a:normAutofit/>
          </a:bodyPr>
          <a:lstStyle/>
          <a:p>
            <a:pPr marL="0" indent="0">
              <a:buNone/>
            </a:pPr>
            <a:endParaRPr lang="es-ES" b="1" dirty="0"/>
          </a:p>
          <a:p>
            <a:pPr algn="just"/>
            <a:r>
              <a:rPr lang="es-ES" dirty="0"/>
              <a:t>Los hidrocarburos se forman a partir de materia orgánica acumulada en condiciones específicas dentro de la corteza terrestre durante millones de años. La materia orgánica, como algas y plancton marino, se acumula en sedimentos y se entierra bajo capas de roca, donde la presión y temperatura adecuadas la transforman en hidrocarburos líquidos (petróleo) o gaseosos (gas natural).</a:t>
            </a:r>
          </a:p>
        </p:txBody>
      </p:sp>
      <p:sp>
        <p:nvSpPr>
          <p:cNvPr id="5" name="Marcador de contenido 2">
            <a:extLst>
              <a:ext uri="{FF2B5EF4-FFF2-40B4-BE49-F238E27FC236}">
                <a16:creationId xmlns:a16="http://schemas.microsoft.com/office/drawing/2014/main" id="{469588C0-4A61-8250-7088-FD811ABA4C66}"/>
              </a:ext>
            </a:extLst>
          </p:cNvPr>
          <p:cNvSpPr txBox="1">
            <a:spLocks/>
          </p:cNvSpPr>
          <p:nvPr/>
        </p:nvSpPr>
        <p:spPr>
          <a:xfrm>
            <a:off x="838200" y="4942898"/>
            <a:ext cx="10515600" cy="1603375"/>
          </a:xfrm>
          <a:prstGeom prst="rect">
            <a:avLst/>
          </a:prstGeom>
        </p:spPr>
        <p:txBody>
          <a:bodyPr vert="horz" lIns="91440" tIns="45720" rIns="91440" bIns="45720" rtlCol="0">
            <a:normAutofit/>
          </a:bodyPr>
          <a:lst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Outfit" pitchFamily="2" charset="0"/>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Outfit" pitchFamily="2" charset="0"/>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Outfit" pitchFamily="2" charset="0"/>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Outfit" pitchFamily="2" charset="0"/>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a:buFontTx/>
              <a:buChar char="-"/>
            </a:pPr>
            <a:endParaRPr lang="es-PE" dirty="0"/>
          </a:p>
        </p:txBody>
      </p:sp>
      <p:sp>
        <p:nvSpPr>
          <p:cNvPr id="2" name="Título 1">
            <a:extLst>
              <a:ext uri="{FF2B5EF4-FFF2-40B4-BE49-F238E27FC236}">
                <a16:creationId xmlns:a16="http://schemas.microsoft.com/office/drawing/2014/main" id="{E520BBCB-6B4F-8936-9498-9BD97B51CCE2}"/>
              </a:ext>
            </a:extLst>
          </p:cNvPr>
          <p:cNvSpPr>
            <a:spLocks noGrp="1"/>
          </p:cNvSpPr>
          <p:nvPr>
            <p:ph type="title"/>
          </p:nvPr>
        </p:nvSpPr>
        <p:spPr>
          <a:xfrm>
            <a:off x="838200" y="365125"/>
            <a:ext cx="10515600" cy="1325563"/>
          </a:xfrm>
        </p:spPr>
        <p:txBody>
          <a:bodyPr>
            <a:normAutofit/>
          </a:bodyPr>
          <a:lstStyle/>
          <a:p>
            <a:r>
              <a:rPr lang="es-ES" sz="2800" dirty="0"/>
              <a:t>FORMACION DE LOS HIDROCARBUROS</a:t>
            </a:r>
          </a:p>
        </p:txBody>
      </p:sp>
    </p:spTree>
    <p:extLst>
      <p:ext uri="{BB962C8B-B14F-4D97-AF65-F5344CB8AC3E}">
        <p14:creationId xmlns:p14="http://schemas.microsoft.com/office/powerpoint/2010/main" val="4141598166"/>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86DC040-C317-77EC-C444-2F7CD497BC4A}"/>
              </a:ext>
            </a:extLst>
          </p:cNvPr>
          <p:cNvSpPr>
            <a:spLocks noGrp="1"/>
          </p:cNvSpPr>
          <p:nvPr>
            <p:ph type="title"/>
          </p:nvPr>
        </p:nvSpPr>
        <p:spPr/>
        <p:txBody>
          <a:bodyPr/>
          <a:lstStyle/>
          <a:p>
            <a:r>
              <a:rPr lang="es-ES" dirty="0"/>
              <a:t>ORIGEN DEL PETROLEO</a:t>
            </a:r>
          </a:p>
        </p:txBody>
      </p:sp>
      <p:sp>
        <p:nvSpPr>
          <p:cNvPr id="3" name="Marcador de contenido 2">
            <a:extLst>
              <a:ext uri="{FF2B5EF4-FFF2-40B4-BE49-F238E27FC236}">
                <a16:creationId xmlns:a16="http://schemas.microsoft.com/office/drawing/2014/main" id="{D255881E-5C51-F652-B0CF-14A2DEE019FE}"/>
              </a:ext>
            </a:extLst>
          </p:cNvPr>
          <p:cNvSpPr>
            <a:spLocks noGrp="1"/>
          </p:cNvSpPr>
          <p:nvPr>
            <p:ph idx="1"/>
          </p:nvPr>
        </p:nvSpPr>
        <p:spPr/>
        <p:txBody>
          <a:bodyPr/>
          <a:lstStyle/>
          <a:p>
            <a:pPr algn="just"/>
            <a:r>
              <a:rPr lang="es-ES" sz="1800" kern="100" dirty="0">
                <a:effectLst/>
                <a:latin typeface="Aptos" panose="020B0004020202020204" pitchFamily="34" charset="0"/>
                <a:ea typeface="Aptos" panose="020B0004020202020204" pitchFamily="34" charset="0"/>
                <a:cs typeface="Times New Roman" panose="02020603050405020304" pitchFamily="18" charset="0"/>
              </a:rPr>
              <a:t>Esta teoría tiene enseña que el petróleo es el resultado de un complejo proceso físico químico en el interior de la tierra ,en el  debido a la presión y las altas temperaturas ,se produce la descomposición de enormes cantidades de materia orgánica que se convierten en aceite y gas.</a:t>
            </a:r>
          </a:p>
          <a:p>
            <a:endParaRPr lang="es-ES" dirty="0"/>
          </a:p>
        </p:txBody>
      </p:sp>
      <p:pic>
        <p:nvPicPr>
          <p:cNvPr id="5" name="Imagen 4">
            <a:extLst>
              <a:ext uri="{FF2B5EF4-FFF2-40B4-BE49-F238E27FC236}">
                <a16:creationId xmlns:a16="http://schemas.microsoft.com/office/drawing/2014/main" id="{5F8FADCB-2383-B242-FE1F-293C5E864062}"/>
              </a:ext>
            </a:extLst>
          </p:cNvPr>
          <p:cNvPicPr>
            <a:picLocks noChangeAspect="1"/>
          </p:cNvPicPr>
          <p:nvPr/>
        </p:nvPicPr>
        <p:blipFill>
          <a:blip r:embed="rId2"/>
          <a:stretch>
            <a:fillRect/>
          </a:stretch>
        </p:blipFill>
        <p:spPr>
          <a:xfrm>
            <a:off x="4181499" y="3005155"/>
            <a:ext cx="3829001" cy="2932656"/>
          </a:xfrm>
          <a:prstGeom prst="rect">
            <a:avLst/>
          </a:prstGeom>
        </p:spPr>
      </p:pic>
    </p:spTree>
    <p:extLst>
      <p:ext uri="{BB962C8B-B14F-4D97-AF65-F5344CB8AC3E}">
        <p14:creationId xmlns:p14="http://schemas.microsoft.com/office/powerpoint/2010/main" val="339433176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09DC63-1416-4355-020C-671959B46EF5}"/>
              </a:ext>
            </a:extLst>
          </p:cNvPr>
          <p:cNvSpPr>
            <a:spLocks noGrp="1"/>
          </p:cNvSpPr>
          <p:nvPr>
            <p:ph type="title"/>
          </p:nvPr>
        </p:nvSpPr>
        <p:spPr/>
        <p:txBody>
          <a:bodyPr>
            <a:normAutofit/>
          </a:bodyPr>
          <a:lstStyle/>
          <a:p>
            <a:r>
              <a:rPr lang="es-ES" sz="2800" dirty="0"/>
              <a:t>ETAPAS DEL PROCESO</a:t>
            </a:r>
          </a:p>
        </p:txBody>
      </p:sp>
      <p:sp>
        <p:nvSpPr>
          <p:cNvPr id="3" name="Marcador de contenido 2">
            <a:extLst>
              <a:ext uri="{FF2B5EF4-FFF2-40B4-BE49-F238E27FC236}">
                <a16:creationId xmlns:a16="http://schemas.microsoft.com/office/drawing/2014/main" id="{F92FCF4D-CFBD-639B-AEF6-7943BE298006}"/>
              </a:ext>
            </a:extLst>
          </p:cNvPr>
          <p:cNvSpPr>
            <a:spLocks noGrp="1"/>
          </p:cNvSpPr>
          <p:nvPr>
            <p:ph idx="1"/>
          </p:nvPr>
        </p:nvSpPr>
        <p:spPr>
          <a:xfrm>
            <a:off x="624840" y="1690688"/>
            <a:ext cx="10728960" cy="4486275"/>
          </a:xfrm>
        </p:spPr>
        <p:txBody>
          <a:bodyPr>
            <a:normAutofit fontScale="92500" lnSpcReduction="10000"/>
          </a:bodyPr>
          <a:lstStyle/>
          <a:p>
            <a:pPr algn="just"/>
            <a:r>
              <a:rPr lang="es-ES" b="1" dirty="0"/>
              <a:t>Acumulación de Materia Orgánica</a:t>
            </a:r>
            <a:r>
              <a:rPr lang="es-ES" dirty="0"/>
              <a:t>: Restos de plantas y animales microscópicos se acumulan en ambientes marinos o lacustres donde las condiciones de oxígeno son limitadas, lo que evita la descomposición completa.</a:t>
            </a:r>
          </a:p>
          <a:p>
            <a:pPr algn="just"/>
            <a:r>
              <a:rPr lang="es-ES" b="1" dirty="0"/>
              <a:t>Enterramiento y Diagénesis</a:t>
            </a:r>
            <a:r>
              <a:rPr lang="es-ES" dirty="0"/>
              <a:t>: Con el tiempo, los sedimentos se depositan sobre la materia orgánica, se compactan y se cementan, formando rocas sedimentarias como lutitas o arcillas. La materia orgánica se transforma gradualmente en hidrocarburos debido al calor y la presión.</a:t>
            </a:r>
          </a:p>
          <a:p>
            <a:pPr algn="just"/>
            <a:r>
              <a:rPr lang="es-ES" b="1" dirty="0"/>
              <a:t>Generación de Hidrocarburos</a:t>
            </a:r>
            <a:r>
              <a:rPr lang="es-ES" dirty="0"/>
              <a:t>: Durante el proceso de diagénesis y catagénesis, la materia orgánica se convierte en hidrocarburos líquidos (petróleo) o gaseosos (gas natural) dependiendo de la profundidad, temperatura y composición de la roca.</a:t>
            </a:r>
          </a:p>
        </p:txBody>
      </p:sp>
    </p:spTree>
    <p:extLst>
      <p:ext uri="{BB962C8B-B14F-4D97-AF65-F5344CB8AC3E}">
        <p14:creationId xmlns:p14="http://schemas.microsoft.com/office/powerpoint/2010/main" val="1094018450"/>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7B1AF0B-0229-A951-CB58-0B61D287AC7A}"/>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5D3081FB-B25B-EF6D-D969-137A5892BFA2}"/>
              </a:ext>
            </a:extLst>
          </p:cNvPr>
          <p:cNvSpPr>
            <a:spLocks noGrp="1"/>
          </p:cNvSpPr>
          <p:nvPr>
            <p:ph idx="1"/>
          </p:nvPr>
        </p:nvSpPr>
        <p:spPr/>
        <p:txBody>
          <a:bodyPr/>
          <a:lstStyle/>
          <a:p>
            <a:pPr algn="just"/>
            <a:r>
              <a:rPr lang="es-ES" b="1" dirty="0"/>
              <a:t>Cuencas Sedimentarias </a:t>
            </a:r>
          </a:p>
          <a:p>
            <a:pPr marL="0" indent="0" algn="just">
              <a:buNone/>
            </a:pPr>
            <a:r>
              <a:rPr lang="es-ES" dirty="0"/>
              <a:t>Las cuencas sedimentarias son áreas geológicas donde se acumulan los sedimentos y, por ende, son propensas a albergar yacimientos de hidrocarburos. Estas cuencas pueden ser continentales o marinas y se forman debido a la subsidencia tectónica, la deposición de sedimentos y la acumulación de materia orgánica.</a:t>
            </a:r>
          </a:p>
          <a:p>
            <a:endParaRPr lang="es-ES" dirty="0"/>
          </a:p>
        </p:txBody>
      </p:sp>
    </p:spTree>
    <p:extLst>
      <p:ext uri="{BB962C8B-B14F-4D97-AF65-F5344CB8AC3E}">
        <p14:creationId xmlns:p14="http://schemas.microsoft.com/office/powerpoint/2010/main" val="46203127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852F03F-B507-99AC-C9D0-5C482C67A33C}"/>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6CA25409-40B0-2574-67B5-75B2BB756F58}"/>
              </a:ext>
            </a:extLst>
          </p:cNvPr>
          <p:cNvSpPr>
            <a:spLocks noGrp="1"/>
          </p:cNvSpPr>
          <p:nvPr>
            <p:ph idx="1"/>
          </p:nvPr>
        </p:nvSpPr>
        <p:spPr/>
        <p:txBody>
          <a:bodyPr/>
          <a:lstStyle/>
          <a:p>
            <a:r>
              <a:rPr lang="es-ES" b="1" dirty="0"/>
              <a:t>Subsidencia Tectónica</a:t>
            </a:r>
            <a:r>
              <a:rPr lang="es-ES" dirty="0"/>
              <a:t>: Proceso por el cual las cuencas se hunden debido a la tectónica de placas, creando espacio para la acumulación de sedimentos y la formación de yacimientos.</a:t>
            </a:r>
          </a:p>
          <a:p>
            <a:endParaRPr lang="es-ES" dirty="0"/>
          </a:p>
          <a:p>
            <a:r>
              <a:rPr lang="es-ES" b="1" dirty="0"/>
              <a:t>Estratigrafía Secuencial</a:t>
            </a:r>
            <a:r>
              <a:rPr lang="es-ES" dirty="0"/>
              <a:t>: Estudio de la disposición y correlación de los estratos dentro de una cuenca sedimentaria, que ayuda a entender la historia geológica y la distribución de los yacimientos de hidrocarburos</a:t>
            </a:r>
          </a:p>
        </p:txBody>
      </p:sp>
    </p:spTree>
    <p:extLst>
      <p:ext uri="{BB962C8B-B14F-4D97-AF65-F5344CB8AC3E}">
        <p14:creationId xmlns:p14="http://schemas.microsoft.com/office/powerpoint/2010/main" val="3419944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A5EB284-1563-2F47-9D40-03806F4ED164}"/>
              </a:ext>
            </a:extLst>
          </p:cNvPr>
          <p:cNvSpPr>
            <a:spLocks noGrp="1"/>
          </p:cNvSpPr>
          <p:nvPr>
            <p:ph type="title"/>
          </p:nvPr>
        </p:nvSpPr>
        <p:spPr/>
        <p:txBody>
          <a:bodyPr>
            <a:normAutofit/>
          </a:bodyPr>
          <a:lstStyle/>
          <a:p>
            <a:r>
              <a:rPr lang="es-ES" sz="2800" dirty="0"/>
              <a:t>ROCAS GENERADORAS DE HIDROCARBUROS</a:t>
            </a:r>
          </a:p>
        </p:txBody>
      </p:sp>
      <p:sp>
        <p:nvSpPr>
          <p:cNvPr id="3" name="Marcador de contenido 2">
            <a:extLst>
              <a:ext uri="{FF2B5EF4-FFF2-40B4-BE49-F238E27FC236}">
                <a16:creationId xmlns:a16="http://schemas.microsoft.com/office/drawing/2014/main" id="{A9D2C61B-F668-0CD1-6483-92A4CA6CFD76}"/>
              </a:ext>
            </a:extLst>
          </p:cNvPr>
          <p:cNvSpPr>
            <a:spLocks noGrp="1"/>
          </p:cNvSpPr>
          <p:nvPr>
            <p:ph idx="1"/>
          </p:nvPr>
        </p:nvSpPr>
        <p:spPr/>
        <p:txBody>
          <a:bodyPr/>
          <a:lstStyle/>
          <a:p>
            <a:r>
              <a:rPr lang="es-ES" dirty="0"/>
              <a:t>Las rocas generadoras de hidrocarburos, también conocidas como </a:t>
            </a:r>
            <a:r>
              <a:rPr lang="es-ES" b="1" dirty="0"/>
              <a:t>rocas madre</a:t>
            </a:r>
            <a:r>
              <a:rPr lang="es-ES" dirty="0"/>
              <a:t>, son formaciones sedimentarias que contienen materia orgánica en cantidades suficientes y en condiciones adecuadas para producir hidrocarburos (petróleo y gas natural) a través de procesos de maduración térmica.</a:t>
            </a:r>
          </a:p>
        </p:txBody>
      </p:sp>
    </p:spTree>
    <p:extLst>
      <p:ext uri="{BB962C8B-B14F-4D97-AF65-F5344CB8AC3E}">
        <p14:creationId xmlns:p14="http://schemas.microsoft.com/office/powerpoint/2010/main" val="156491332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FBDDE4D-35C3-E286-747C-05FA79CB5090}"/>
              </a:ext>
            </a:extLst>
          </p:cNvPr>
          <p:cNvSpPr>
            <a:spLocks noGrp="1"/>
          </p:cNvSpPr>
          <p:nvPr>
            <p:ph type="title"/>
          </p:nvPr>
        </p:nvSpPr>
        <p:spPr/>
        <p:txBody>
          <a:bodyPr>
            <a:normAutofit/>
          </a:bodyPr>
          <a:lstStyle/>
          <a:p>
            <a:r>
              <a:rPr lang="es-ES" sz="2800" dirty="0"/>
              <a:t>Características de las Rocas Generadoras de Hidrocarburos</a:t>
            </a:r>
          </a:p>
        </p:txBody>
      </p:sp>
      <p:sp>
        <p:nvSpPr>
          <p:cNvPr id="3" name="Marcador de contenido 2">
            <a:extLst>
              <a:ext uri="{FF2B5EF4-FFF2-40B4-BE49-F238E27FC236}">
                <a16:creationId xmlns:a16="http://schemas.microsoft.com/office/drawing/2014/main" id="{4E943D7B-76C9-3006-7D27-3016258AC232}"/>
              </a:ext>
            </a:extLst>
          </p:cNvPr>
          <p:cNvSpPr>
            <a:spLocks noGrp="1"/>
          </p:cNvSpPr>
          <p:nvPr>
            <p:ph idx="1"/>
          </p:nvPr>
        </p:nvSpPr>
        <p:spPr>
          <a:xfrm>
            <a:off x="838200" y="1690688"/>
            <a:ext cx="10515600" cy="4486275"/>
          </a:xfrm>
        </p:spPr>
        <p:txBody>
          <a:bodyPr>
            <a:normAutofit fontScale="92500"/>
          </a:bodyPr>
          <a:lstStyle/>
          <a:p>
            <a:pPr marL="0" indent="0">
              <a:buNone/>
            </a:pPr>
            <a:r>
              <a:rPr lang="es-ES" b="1" dirty="0"/>
              <a:t>Composición Orgánica</a:t>
            </a:r>
            <a:endParaRPr lang="es-ES" dirty="0"/>
          </a:p>
          <a:p>
            <a:pPr algn="just">
              <a:buFont typeface="Arial" panose="020B0604020202020204" pitchFamily="34" charset="0"/>
              <a:buChar char="•"/>
            </a:pPr>
            <a:r>
              <a:rPr lang="es-ES" b="1" dirty="0"/>
              <a:t>Materia Orgánica</a:t>
            </a:r>
            <a:r>
              <a:rPr lang="es-ES" dirty="0"/>
              <a:t>: Las rocas generadoras contienen materia orgánica, principalmente en forma de kerógeno, que es la fuente de los hidrocarburos. El kerógeno se forma a partir de restos de plantas, algas y microorganismos que se acumulan en ambientes sedimentarios.</a:t>
            </a:r>
          </a:p>
          <a:p>
            <a:pPr algn="just"/>
            <a:r>
              <a:rPr lang="es-ES" b="1" dirty="0"/>
              <a:t>Tipos de Kerógeno</a:t>
            </a:r>
            <a:r>
              <a:rPr lang="es-ES" dirty="0"/>
              <a:t>: Hay diferentes tipos de kerógeno, clasificados según su origen y potencial de generación de hidrocarburos:</a:t>
            </a:r>
          </a:p>
          <a:p>
            <a:pPr lvl="1"/>
            <a:r>
              <a:rPr lang="es-ES" dirty="0"/>
              <a:t>Tipo I: Derivado de algas marinas, genera principalmente petróleo.</a:t>
            </a:r>
          </a:p>
          <a:p>
            <a:pPr lvl="1"/>
            <a:r>
              <a:rPr lang="es-ES" dirty="0"/>
              <a:t>Tipo II: Derivado de plantas marinas y terrestres, genera petróleo y gas.</a:t>
            </a:r>
          </a:p>
          <a:p>
            <a:pPr lvl="1"/>
            <a:r>
              <a:rPr lang="es-ES" dirty="0"/>
              <a:t>Tipo III: Derivado de materia orgánica terrestre, genera principalmente gas natural.</a:t>
            </a:r>
          </a:p>
          <a:p>
            <a:pPr lvl="1"/>
            <a:r>
              <a:rPr lang="es-ES" dirty="0"/>
              <a:t>Tipo IV: Materia orgánica no generadora de hidrocarburos, como la </a:t>
            </a:r>
            <a:r>
              <a:rPr lang="es-ES" dirty="0" err="1"/>
              <a:t>lignita</a:t>
            </a:r>
            <a:r>
              <a:rPr lang="es-ES" dirty="0"/>
              <a:t>.</a:t>
            </a:r>
          </a:p>
        </p:txBody>
      </p:sp>
    </p:spTree>
    <p:extLst>
      <p:ext uri="{BB962C8B-B14F-4D97-AF65-F5344CB8AC3E}">
        <p14:creationId xmlns:p14="http://schemas.microsoft.com/office/powerpoint/2010/main" val="47248898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03E3DAD-BAC0-9539-302F-DD549429098D}"/>
              </a:ext>
            </a:extLst>
          </p:cNvPr>
          <p:cNvSpPr>
            <a:spLocks noGrp="1"/>
          </p:cNvSpPr>
          <p:nvPr>
            <p:ph type="title"/>
          </p:nvPr>
        </p:nvSpPr>
        <p:spPr/>
        <p:txBody>
          <a:bodyPr>
            <a:normAutofit/>
          </a:bodyPr>
          <a:lstStyle/>
          <a:p>
            <a:r>
              <a:rPr lang="es-ES" sz="2800" dirty="0"/>
              <a:t>Condiciones de Formación</a:t>
            </a:r>
          </a:p>
        </p:txBody>
      </p:sp>
      <p:sp>
        <p:nvSpPr>
          <p:cNvPr id="3" name="Marcador de contenido 2">
            <a:extLst>
              <a:ext uri="{FF2B5EF4-FFF2-40B4-BE49-F238E27FC236}">
                <a16:creationId xmlns:a16="http://schemas.microsoft.com/office/drawing/2014/main" id="{BB267546-2773-3F08-163A-17845D6BA7AC}"/>
              </a:ext>
            </a:extLst>
          </p:cNvPr>
          <p:cNvSpPr>
            <a:spLocks noGrp="1"/>
          </p:cNvSpPr>
          <p:nvPr>
            <p:ph idx="1"/>
          </p:nvPr>
        </p:nvSpPr>
        <p:spPr/>
        <p:txBody>
          <a:bodyPr/>
          <a:lstStyle/>
          <a:p>
            <a:pPr algn="just"/>
            <a:r>
              <a:rPr lang="es-ES" dirty="0"/>
              <a:t>Ambiente Sedimentario: Las rocas madre se forman en ambientes sedimentarios que permiten la acumulación de materia orgánica, como lagos, pantanos y ambientes marinos de aguas profundas.</a:t>
            </a:r>
          </a:p>
          <a:p>
            <a:pPr algn="just"/>
            <a:endParaRPr lang="es-ES" dirty="0"/>
          </a:p>
          <a:p>
            <a:pPr algn="just"/>
            <a:r>
              <a:rPr lang="es-ES" dirty="0"/>
              <a:t>Presión y Temperatura: La maduración del kerógeno en petróleo y gas requiere condiciones específicas de temperatura y presión. Estas condiciones se alcanzan en la zona de maduración (entre 60°C y 120°C para petróleo, y &gt;120°C para gas).</a:t>
            </a:r>
          </a:p>
        </p:txBody>
      </p:sp>
    </p:spTree>
    <p:extLst>
      <p:ext uri="{BB962C8B-B14F-4D97-AF65-F5344CB8AC3E}">
        <p14:creationId xmlns:p14="http://schemas.microsoft.com/office/powerpoint/2010/main" val="2294435083"/>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11FAEBB-E856-D718-0482-74275DF8C6B1}"/>
              </a:ext>
            </a:extLst>
          </p:cNvPr>
          <p:cNvSpPr>
            <a:spLocks noGrp="1"/>
          </p:cNvSpPr>
          <p:nvPr>
            <p:ph type="title"/>
          </p:nvPr>
        </p:nvSpPr>
        <p:spPr/>
        <p:txBody>
          <a:bodyPr/>
          <a:lstStyle/>
          <a:p>
            <a:r>
              <a:rPr lang="es-ES" b="1" dirty="0"/>
              <a:t>Propiedades Geológicas</a:t>
            </a:r>
            <a:br>
              <a:rPr lang="es-ES" dirty="0"/>
            </a:br>
            <a:endParaRPr lang="es-ES" dirty="0"/>
          </a:p>
        </p:txBody>
      </p:sp>
      <p:sp>
        <p:nvSpPr>
          <p:cNvPr id="3" name="Marcador de contenido 2">
            <a:extLst>
              <a:ext uri="{FF2B5EF4-FFF2-40B4-BE49-F238E27FC236}">
                <a16:creationId xmlns:a16="http://schemas.microsoft.com/office/drawing/2014/main" id="{1291C6CC-73A6-5D53-B38C-54C8E62E932A}"/>
              </a:ext>
            </a:extLst>
          </p:cNvPr>
          <p:cNvSpPr>
            <a:spLocks noGrp="1"/>
          </p:cNvSpPr>
          <p:nvPr>
            <p:ph idx="1"/>
          </p:nvPr>
        </p:nvSpPr>
        <p:spPr/>
        <p:txBody>
          <a:bodyPr/>
          <a:lstStyle/>
          <a:p>
            <a:pPr>
              <a:buFont typeface="Arial" panose="020B0604020202020204" pitchFamily="34" charset="0"/>
              <a:buChar char="•"/>
            </a:pPr>
            <a:r>
              <a:rPr lang="es-ES" b="1" dirty="0"/>
              <a:t>Porosidad</a:t>
            </a:r>
            <a:r>
              <a:rPr lang="es-ES" dirty="0"/>
              <a:t>: Aunque la porosidad no es crítica para las rocas madre, las rocas con alta porosidad pueden almacenar más materia orgánica.</a:t>
            </a:r>
          </a:p>
          <a:p>
            <a:pPr>
              <a:buFont typeface="Arial" panose="020B0604020202020204" pitchFamily="34" charset="0"/>
              <a:buChar char="•"/>
            </a:pPr>
            <a:endParaRPr lang="es-ES" dirty="0"/>
          </a:p>
          <a:p>
            <a:r>
              <a:rPr lang="es-ES" b="1" dirty="0"/>
              <a:t>Permeabilidad</a:t>
            </a:r>
            <a:r>
              <a:rPr lang="es-ES" dirty="0"/>
              <a:t>: Similar a la porosidad, la permeabilidad no es esencial para las rocas madre, pero puede influir en la migración de los hidrocarburos.</a:t>
            </a:r>
          </a:p>
        </p:txBody>
      </p:sp>
    </p:spTree>
    <p:extLst>
      <p:ext uri="{BB962C8B-B14F-4D97-AF65-F5344CB8AC3E}">
        <p14:creationId xmlns:p14="http://schemas.microsoft.com/office/powerpoint/2010/main" val="55821708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4F0DE2-1A85-1923-2C69-EEED142578F5}"/>
              </a:ext>
            </a:extLst>
          </p:cNvPr>
          <p:cNvSpPr>
            <a:spLocks noGrp="1"/>
          </p:cNvSpPr>
          <p:nvPr>
            <p:ph type="title"/>
          </p:nvPr>
        </p:nvSpPr>
        <p:spPr/>
        <p:txBody>
          <a:bodyPr>
            <a:normAutofit/>
          </a:bodyPr>
          <a:lstStyle/>
          <a:p>
            <a:r>
              <a:rPr lang="es-ES" sz="2800" dirty="0"/>
              <a:t>Tipos de Rocas Generadoras de Hidrocarburos</a:t>
            </a:r>
          </a:p>
        </p:txBody>
      </p:sp>
      <p:sp>
        <p:nvSpPr>
          <p:cNvPr id="3" name="Marcador de contenido 2">
            <a:extLst>
              <a:ext uri="{FF2B5EF4-FFF2-40B4-BE49-F238E27FC236}">
                <a16:creationId xmlns:a16="http://schemas.microsoft.com/office/drawing/2014/main" id="{6FE9130A-24C1-AFA2-CE26-ED6C808F2DCF}"/>
              </a:ext>
            </a:extLst>
          </p:cNvPr>
          <p:cNvSpPr>
            <a:spLocks noGrp="1"/>
          </p:cNvSpPr>
          <p:nvPr>
            <p:ph idx="1"/>
          </p:nvPr>
        </p:nvSpPr>
        <p:spPr/>
        <p:txBody>
          <a:bodyPr/>
          <a:lstStyle/>
          <a:p>
            <a:r>
              <a:rPr lang="es-ES" b="1" dirty="0"/>
              <a:t>Lutitas (</a:t>
            </a:r>
            <a:r>
              <a:rPr lang="es-ES" b="1" dirty="0" err="1"/>
              <a:t>Shales</a:t>
            </a:r>
            <a:r>
              <a:rPr lang="es-ES" b="1" dirty="0"/>
              <a:t>)</a:t>
            </a:r>
            <a:endParaRPr lang="es-ES" dirty="0"/>
          </a:p>
          <a:p>
            <a:pPr>
              <a:buFont typeface="Arial" panose="020B0604020202020204" pitchFamily="34" charset="0"/>
              <a:buChar char="•"/>
            </a:pPr>
            <a:r>
              <a:rPr lang="es-ES" b="1" dirty="0"/>
              <a:t>Descripción</a:t>
            </a:r>
            <a:r>
              <a:rPr lang="es-ES" dirty="0"/>
              <a:t>: Las lutitas son rocas sedimentarias finas que se componen principalmente de partículas de arcilla y limo. Son las rocas generadoras más comunes debido a su capacidad para acumular y preservar materia orgánica.</a:t>
            </a:r>
          </a:p>
          <a:p>
            <a:pPr>
              <a:buFont typeface="Arial" panose="020B0604020202020204" pitchFamily="34" charset="0"/>
              <a:buChar char="•"/>
            </a:pPr>
            <a:r>
              <a:rPr lang="es-ES" b="1" dirty="0"/>
              <a:t>Ejemplos</a:t>
            </a:r>
            <a:r>
              <a:rPr lang="es-ES" dirty="0"/>
              <a:t>: La Lutita de </a:t>
            </a:r>
            <a:r>
              <a:rPr lang="es-ES" dirty="0" err="1"/>
              <a:t>Bakken</a:t>
            </a:r>
            <a:r>
              <a:rPr lang="es-ES" dirty="0"/>
              <a:t> en Estados Unidos y la Formación Vaca Muerta en Argentina son ejemplos destacados.</a:t>
            </a:r>
          </a:p>
          <a:p>
            <a:endParaRPr lang="es-ES" dirty="0"/>
          </a:p>
        </p:txBody>
      </p:sp>
    </p:spTree>
    <p:extLst>
      <p:ext uri="{BB962C8B-B14F-4D97-AF65-F5344CB8AC3E}">
        <p14:creationId xmlns:p14="http://schemas.microsoft.com/office/powerpoint/2010/main" val="271976119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D81ED6E-03A8-F617-E211-3F0AA7460E12}"/>
              </a:ext>
            </a:extLst>
          </p:cNvPr>
          <p:cNvSpPr>
            <a:spLocks noGrp="1"/>
          </p:cNvSpPr>
          <p:nvPr>
            <p:ph idx="1"/>
          </p:nvPr>
        </p:nvSpPr>
        <p:spPr>
          <a:xfrm>
            <a:off x="838200" y="1156996"/>
            <a:ext cx="10515600" cy="5019967"/>
          </a:xfrm>
        </p:spPr>
        <p:txBody>
          <a:bodyPr>
            <a:normAutofit lnSpcReduction="10000"/>
          </a:bodyPr>
          <a:lstStyle/>
          <a:p>
            <a:pPr marL="0" indent="0" algn="just">
              <a:buNone/>
            </a:pPr>
            <a:r>
              <a:rPr lang="es-ES" b="1" dirty="0"/>
              <a:t>Margas</a:t>
            </a:r>
          </a:p>
          <a:p>
            <a:pPr algn="just"/>
            <a:r>
              <a:rPr lang="es-ES" dirty="0"/>
              <a:t>Descripción: Las margas son rocas sedimentarias compuestas de arcilla y carbonato cálcico. Pueden contener cantidades significativas de materia orgánica y, por lo tanto, también pueden ser rocas madre.</a:t>
            </a:r>
          </a:p>
          <a:p>
            <a:pPr algn="just"/>
            <a:r>
              <a:rPr lang="es-ES" dirty="0"/>
              <a:t>Ejemplos: En la Cuenca del Tíber en Italia, las margas tienen potencial generador.</a:t>
            </a:r>
          </a:p>
          <a:p>
            <a:pPr marL="0" indent="0">
              <a:buNone/>
            </a:pPr>
            <a:r>
              <a:rPr lang="es-ES" b="1" dirty="0"/>
              <a:t>Carbonatos</a:t>
            </a:r>
            <a:endParaRPr lang="es-ES" dirty="0"/>
          </a:p>
          <a:p>
            <a:pPr>
              <a:buFont typeface="Arial" panose="020B0604020202020204" pitchFamily="34" charset="0"/>
              <a:buChar char="•"/>
            </a:pPr>
            <a:r>
              <a:rPr lang="es-ES" b="1" dirty="0"/>
              <a:t>Descripción</a:t>
            </a:r>
            <a:r>
              <a:rPr lang="es-ES" dirty="0"/>
              <a:t>: Aunque menos comunes que las lutitas, algunas rocas carbonáticas (como ciertas formaciones de caliza) pueden actuar como rocas madre si contienen suficiente materia orgánica.</a:t>
            </a:r>
          </a:p>
          <a:p>
            <a:pPr>
              <a:buFont typeface="Arial" panose="020B0604020202020204" pitchFamily="34" charset="0"/>
              <a:buChar char="•"/>
            </a:pPr>
            <a:r>
              <a:rPr lang="es-ES" b="1" dirty="0"/>
              <a:t>Ejemplos</a:t>
            </a:r>
            <a:r>
              <a:rPr lang="es-ES" dirty="0"/>
              <a:t>: En algunos campos de petróleo de Medio Oriente, las rocas carbonáticas pueden ser fuentes de hidrocarburos.</a:t>
            </a:r>
          </a:p>
          <a:p>
            <a:pPr algn="just"/>
            <a:endParaRPr lang="es-ES" dirty="0"/>
          </a:p>
        </p:txBody>
      </p:sp>
    </p:spTree>
    <p:extLst>
      <p:ext uri="{BB962C8B-B14F-4D97-AF65-F5344CB8AC3E}">
        <p14:creationId xmlns:p14="http://schemas.microsoft.com/office/powerpoint/2010/main" val="38736491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C63C851-09EB-B456-0274-1BEBF87E9D73}"/>
              </a:ext>
            </a:extLst>
          </p:cNvPr>
          <p:cNvSpPr>
            <a:spLocks noGrp="1"/>
          </p:cNvSpPr>
          <p:nvPr>
            <p:ph idx="1"/>
          </p:nvPr>
        </p:nvSpPr>
        <p:spPr>
          <a:xfrm>
            <a:off x="838200" y="1464906"/>
            <a:ext cx="10515600" cy="4712057"/>
          </a:xfrm>
        </p:spPr>
        <p:txBody>
          <a:bodyPr/>
          <a:lstStyle/>
          <a:p>
            <a:pPr marL="0" indent="0">
              <a:buNone/>
            </a:pPr>
            <a:r>
              <a:rPr lang="es-ES" b="1" dirty="0"/>
              <a:t>Rocas Orgánicas</a:t>
            </a:r>
          </a:p>
          <a:p>
            <a:pPr marL="0" indent="0">
              <a:buNone/>
            </a:pPr>
            <a:endParaRPr lang="es-ES" dirty="0"/>
          </a:p>
          <a:p>
            <a:pPr>
              <a:buFont typeface="Arial" panose="020B0604020202020204" pitchFamily="34" charset="0"/>
              <a:buChar char="•"/>
            </a:pPr>
            <a:r>
              <a:rPr lang="es-ES" b="1" dirty="0"/>
              <a:t>Descripción</a:t>
            </a:r>
            <a:r>
              <a:rPr lang="es-ES" dirty="0"/>
              <a:t>: Algunas formaciones contienen altos niveles de materia orgánica en forma de restos vegetales, especialmente en ambientes de humedales o lagos ricos en nutrientes.</a:t>
            </a:r>
          </a:p>
          <a:p>
            <a:pPr>
              <a:buFont typeface="Arial" panose="020B0604020202020204" pitchFamily="34" charset="0"/>
              <a:buChar char="•"/>
            </a:pPr>
            <a:r>
              <a:rPr lang="es-ES" b="1" dirty="0"/>
              <a:t>Ejemplos</a:t>
            </a:r>
            <a:r>
              <a:rPr lang="es-ES" dirty="0"/>
              <a:t>: En ciertas cuencas de carbón, como las formaciones de la Cuenca de </a:t>
            </a:r>
            <a:r>
              <a:rPr lang="es-ES" dirty="0" err="1"/>
              <a:t>Karoo</a:t>
            </a:r>
            <a:r>
              <a:rPr lang="es-ES" dirty="0"/>
              <a:t> en Sudáfrica, la materia orgánica puede formar kerógeno.</a:t>
            </a:r>
          </a:p>
          <a:p>
            <a:endParaRPr lang="es-ES" dirty="0"/>
          </a:p>
        </p:txBody>
      </p:sp>
    </p:spTree>
    <p:extLst>
      <p:ext uri="{BB962C8B-B14F-4D97-AF65-F5344CB8AC3E}">
        <p14:creationId xmlns:p14="http://schemas.microsoft.com/office/powerpoint/2010/main" val="291084880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FE5910D-4E65-9051-7B11-8D146F695030}"/>
              </a:ext>
            </a:extLst>
          </p:cNvPr>
          <p:cNvSpPr>
            <a:spLocks noGrp="1"/>
          </p:cNvSpPr>
          <p:nvPr>
            <p:ph type="title"/>
          </p:nvPr>
        </p:nvSpPr>
        <p:spPr/>
        <p:txBody>
          <a:bodyPr>
            <a:normAutofit/>
          </a:bodyPr>
          <a:lstStyle/>
          <a:p>
            <a:r>
              <a:rPr lang="es-ES" sz="2800" dirty="0"/>
              <a:t>Procesos de Maduración</a:t>
            </a:r>
          </a:p>
        </p:txBody>
      </p:sp>
      <p:sp>
        <p:nvSpPr>
          <p:cNvPr id="3" name="Marcador de contenido 2">
            <a:extLst>
              <a:ext uri="{FF2B5EF4-FFF2-40B4-BE49-F238E27FC236}">
                <a16:creationId xmlns:a16="http://schemas.microsoft.com/office/drawing/2014/main" id="{979902A5-0290-2120-0438-EAADBAF4F08F}"/>
              </a:ext>
            </a:extLst>
          </p:cNvPr>
          <p:cNvSpPr>
            <a:spLocks noGrp="1"/>
          </p:cNvSpPr>
          <p:nvPr>
            <p:ph idx="1"/>
          </p:nvPr>
        </p:nvSpPr>
        <p:spPr>
          <a:xfrm>
            <a:off x="838200" y="1690688"/>
            <a:ext cx="10515600" cy="4486275"/>
          </a:xfrm>
        </p:spPr>
        <p:txBody>
          <a:bodyPr>
            <a:normAutofit fontScale="92500" lnSpcReduction="20000"/>
          </a:bodyPr>
          <a:lstStyle/>
          <a:p>
            <a:pPr marL="0" indent="0">
              <a:buNone/>
            </a:pPr>
            <a:r>
              <a:rPr lang="es-ES" b="1" dirty="0" err="1"/>
              <a:t>Diagenesis</a:t>
            </a:r>
            <a:endParaRPr lang="es-ES" dirty="0"/>
          </a:p>
          <a:p>
            <a:pPr>
              <a:buFont typeface="Arial" panose="020B0604020202020204" pitchFamily="34" charset="0"/>
              <a:buChar char="•"/>
            </a:pPr>
            <a:r>
              <a:rPr lang="es-ES" b="1" dirty="0"/>
              <a:t>Descripción</a:t>
            </a:r>
            <a:r>
              <a:rPr lang="es-ES" dirty="0"/>
              <a:t>: Es el primer paso en la formación de hidrocarburos, donde la materia orgánica se convierte en kerógeno bajo condiciones de presión y temperatura moderadas.</a:t>
            </a:r>
          </a:p>
          <a:p>
            <a:pPr marL="0" indent="0">
              <a:buNone/>
            </a:pPr>
            <a:r>
              <a:rPr lang="es-ES" b="1" dirty="0"/>
              <a:t>Catagénesis</a:t>
            </a:r>
          </a:p>
          <a:p>
            <a:pPr>
              <a:buFont typeface="Arial" panose="020B0604020202020204" pitchFamily="34" charset="0"/>
              <a:buChar char="•"/>
            </a:pPr>
            <a:r>
              <a:rPr lang="es-ES" dirty="0"/>
              <a:t>Descripción: Es el proceso de transformación del kerógeno en petróleo y gas natural. Ocurre a mayores profundidades y temperaturas, donde la materia orgánica se descompone y se convierte en hidrocarburos líquidos y gaseosos.</a:t>
            </a:r>
          </a:p>
          <a:p>
            <a:pPr marL="0" indent="0">
              <a:buNone/>
            </a:pPr>
            <a:r>
              <a:rPr lang="es-ES" b="1" dirty="0" err="1"/>
              <a:t>Metagénesis</a:t>
            </a:r>
            <a:endParaRPr lang="es-ES" dirty="0"/>
          </a:p>
          <a:p>
            <a:pPr>
              <a:buFont typeface="Arial" panose="020B0604020202020204" pitchFamily="34" charset="0"/>
              <a:buChar char="•"/>
            </a:pPr>
            <a:r>
              <a:rPr lang="es-ES" b="1" dirty="0"/>
              <a:t>Descripción</a:t>
            </a:r>
            <a:r>
              <a:rPr lang="es-ES" dirty="0"/>
              <a:t>: Es la fase final en la formación de hidrocarburos, donde los hidrocarburos líquidos pueden convertirse en formas más pesadas y sólidos, como el grafito.</a:t>
            </a:r>
          </a:p>
          <a:p>
            <a:pPr>
              <a:buFont typeface="Arial" panose="020B0604020202020204" pitchFamily="34" charset="0"/>
              <a:buChar char="•"/>
            </a:pPr>
            <a:endParaRPr lang="es-ES" dirty="0"/>
          </a:p>
          <a:p>
            <a:pPr>
              <a:buFont typeface="Arial" panose="020B0604020202020204" pitchFamily="34" charset="0"/>
              <a:buChar char="•"/>
            </a:pPr>
            <a:endParaRPr lang="es-ES" dirty="0"/>
          </a:p>
          <a:p>
            <a:endParaRPr lang="es-ES" dirty="0"/>
          </a:p>
        </p:txBody>
      </p:sp>
    </p:spTree>
    <p:extLst>
      <p:ext uri="{BB962C8B-B14F-4D97-AF65-F5344CB8AC3E}">
        <p14:creationId xmlns:p14="http://schemas.microsoft.com/office/powerpoint/2010/main" val="81313012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01C60A-FF66-D155-35BE-37F72867CEB5}"/>
              </a:ext>
            </a:extLst>
          </p:cNvPr>
          <p:cNvSpPr>
            <a:spLocks noGrp="1"/>
          </p:cNvSpPr>
          <p:nvPr>
            <p:ph type="title"/>
          </p:nvPr>
        </p:nvSpPr>
        <p:spPr/>
        <p:txBody>
          <a:bodyPr>
            <a:normAutofit/>
          </a:bodyPr>
          <a:lstStyle/>
          <a:p>
            <a:r>
              <a:rPr lang="es-ES" sz="2800" dirty="0"/>
              <a:t>Ejemplos Notables a Nivel Mundial</a:t>
            </a:r>
          </a:p>
        </p:txBody>
      </p:sp>
      <p:sp>
        <p:nvSpPr>
          <p:cNvPr id="3" name="Marcador de contenido 2">
            <a:extLst>
              <a:ext uri="{FF2B5EF4-FFF2-40B4-BE49-F238E27FC236}">
                <a16:creationId xmlns:a16="http://schemas.microsoft.com/office/drawing/2014/main" id="{987AE29F-6711-8A88-9FC1-6E77BBD4261D}"/>
              </a:ext>
            </a:extLst>
          </p:cNvPr>
          <p:cNvSpPr>
            <a:spLocks noGrp="1"/>
          </p:cNvSpPr>
          <p:nvPr>
            <p:ph idx="1"/>
          </p:nvPr>
        </p:nvSpPr>
        <p:spPr>
          <a:xfrm>
            <a:off x="838200" y="1690688"/>
            <a:ext cx="10515600" cy="4486275"/>
          </a:xfrm>
        </p:spPr>
        <p:txBody>
          <a:bodyPr/>
          <a:lstStyle/>
          <a:p>
            <a:r>
              <a:rPr lang="es-ES" dirty="0"/>
              <a:t>Formación Marcellus (EE.UU.): Una roca madre de lutita rica en kerógeno tipo II que ha sido clave en la producción de gas natural en la región de los Apalaches.</a:t>
            </a:r>
          </a:p>
          <a:p>
            <a:r>
              <a:rPr lang="es-ES" dirty="0"/>
              <a:t>Formación Barnett (EE.UU.): Otra lutita que ha sido importante para la producción de gas natural.</a:t>
            </a:r>
          </a:p>
          <a:p>
            <a:r>
              <a:rPr lang="es-ES" dirty="0"/>
              <a:t>Formación Vaca Muerta (Argentina): Una lutita rica en materia orgánica que ha sido fundamental para la producción de petróleo y gas en la región.</a:t>
            </a:r>
          </a:p>
        </p:txBody>
      </p:sp>
    </p:spTree>
    <p:extLst>
      <p:ext uri="{BB962C8B-B14F-4D97-AF65-F5344CB8AC3E}">
        <p14:creationId xmlns:p14="http://schemas.microsoft.com/office/powerpoint/2010/main" val="2119749187"/>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057A642-D22E-F7E7-8EA7-ACD3C29259D6}"/>
              </a:ext>
            </a:extLst>
          </p:cNvPr>
          <p:cNvSpPr>
            <a:spLocks noGrp="1"/>
          </p:cNvSpPr>
          <p:nvPr>
            <p:ph type="title"/>
          </p:nvPr>
        </p:nvSpPr>
        <p:spPr/>
        <p:txBody>
          <a:bodyPr/>
          <a:lstStyle/>
          <a:p>
            <a:r>
              <a:rPr lang="es-ES" dirty="0"/>
              <a:t>Consideraciones en Perú</a:t>
            </a:r>
          </a:p>
        </p:txBody>
      </p:sp>
      <p:sp>
        <p:nvSpPr>
          <p:cNvPr id="3" name="Marcador de contenido 2">
            <a:extLst>
              <a:ext uri="{FF2B5EF4-FFF2-40B4-BE49-F238E27FC236}">
                <a16:creationId xmlns:a16="http://schemas.microsoft.com/office/drawing/2014/main" id="{B095D9B8-937E-4AF9-DCB3-C5F4A00CA91C}"/>
              </a:ext>
            </a:extLst>
          </p:cNvPr>
          <p:cNvSpPr>
            <a:spLocks noGrp="1"/>
          </p:cNvSpPr>
          <p:nvPr>
            <p:ph idx="1"/>
          </p:nvPr>
        </p:nvSpPr>
        <p:spPr/>
        <p:txBody>
          <a:bodyPr/>
          <a:lstStyle/>
          <a:p>
            <a:pPr algn="just"/>
            <a:r>
              <a:rPr lang="es-ES" dirty="0"/>
              <a:t>En Perú, las principales rocas generadoras de hidrocarburos están asociadas a las cuencas sedimentarias, como la Cuenca Marañón y la Cuenca Ucayali. Las lutitas y margas son las formaciones más relevantes para la generación de hidrocarburos en estas regiones. La exploración y explotación en Perú se basa en la identificación y caracterización de estas rocas madre para desarrollar recursos de petróleo y gas.</a:t>
            </a:r>
          </a:p>
        </p:txBody>
      </p:sp>
    </p:spTree>
    <p:extLst>
      <p:ext uri="{BB962C8B-B14F-4D97-AF65-F5344CB8AC3E}">
        <p14:creationId xmlns:p14="http://schemas.microsoft.com/office/powerpoint/2010/main" val="1504598040"/>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4441F28-BEAC-020C-9A79-ABB3597EB806}"/>
              </a:ext>
            </a:extLst>
          </p:cNvPr>
          <p:cNvSpPr>
            <a:spLocks noGrp="1"/>
          </p:cNvSpPr>
          <p:nvPr>
            <p:ph idx="1"/>
          </p:nvPr>
        </p:nvSpPr>
        <p:spPr>
          <a:xfrm>
            <a:off x="855980" y="1351280"/>
            <a:ext cx="10480040" cy="5384800"/>
          </a:xfrm>
        </p:spPr>
        <p:txBody>
          <a:bodyPr>
            <a:normAutofit fontScale="92500" lnSpcReduction="10000"/>
          </a:bodyPr>
          <a:lstStyle/>
          <a:p>
            <a:r>
              <a:rPr lang="es-ES" dirty="0"/>
              <a:t>Perú cuenta con varias cuencas sedimentarias importantes donde se encuentran yacimientos de hidrocarburos. Algunas de las principales cuencas son:</a:t>
            </a:r>
          </a:p>
          <a:p>
            <a:pPr>
              <a:buFont typeface="Arial" panose="020B0604020202020204" pitchFamily="34" charset="0"/>
              <a:buChar char="•"/>
            </a:pPr>
            <a:r>
              <a:rPr lang="es-ES" b="1" dirty="0"/>
              <a:t>Cuenca Marañón</a:t>
            </a:r>
            <a:r>
              <a:rPr lang="es-ES" dirty="0"/>
              <a:t>: Ubicada en la parte norte del país, es una cuenca importante para la exploración de petróleo y gas. Contiene rocas sedimentarias que datan desde el Paleozoico hasta el Cretácico.</a:t>
            </a:r>
          </a:p>
          <a:p>
            <a:pPr>
              <a:buFont typeface="Arial" panose="020B0604020202020204" pitchFamily="34" charset="0"/>
              <a:buChar char="•"/>
            </a:pPr>
            <a:r>
              <a:rPr lang="es-ES" b="1" dirty="0"/>
              <a:t>Cuenca Ucayali</a:t>
            </a:r>
            <a:r>
              <a:rPr lang="es-ES" dirty="0"/>
              <a:t>: Esta cuenca se extiende a lo largo de la selva central y oriental de Perú. Es conocida por sus reservorios de gas natural, especialmente en formaciones como el Grupo Fitzcarrald.</a:t>
            </a:r>
          </a:p>
          <a:p>
            <a:pPr>
              <a:buFont typeface="Arial" panose="020B0604020202020204" pitchFamily="34" charset="0"/>
              <a:buChar char="•"/>
            </a:pPr>
            <a:r>
              <a:rPr lang="es-ES" b="1" dirty="0"/>
              <a:t>Cuenca Talara</a:t>
            </a:r>
            <a:r>
              <a:rPr lang="es-ES" dirty="0"/>
              <a:t>: En la costa norte de Perú, es la más productiva en términos de petróleo. Contiene estructuras anticlinales donde se encuentran los principales yacimientos de petróleo del país.</a:t>
            </a:r>
          </a:p>
          <a:p>
            <a:pPr>
              <a:buFont typeface="Arial" panose="020B0604020202020204" pitchFamily="34" charset="0"/>
              <a:buChar char="•"/>
            </a:pPr>
            <a:r>
              <a:rPr lang="es-ES" b="1" dirty="0"/>
              <a:t>Cuenca </a:t>
            </a:r>
            <a:r>
              <a:rPr lang="es-ES" b="1" dirty="0" err="1"/>
              <a:t>Subandina</a:t>
            </a:r>
            <a:r>
              <a:rPr lang="es-ES" dirty="0"/>
              <a:t>: A lo largo de los Andes peruanos, esta cuenca es significativa por sus potenciales reservorios de gas natural.</a:t>
            </a:r>
          </a:p>
          <a:p>
            <a:pPr marL="0" indent="0">
              <a:buNone/>
            </a:pPr>
            <a:endParaRPr lang="es-ES" dirty="0"/>
          </a:p>
        </p:txBody>
      </p:sp>
      <p:sp>
        <p:nvSpPr>
          <p:cNvPr id="2" name="Título 1">
            <a:extLst>
              <a:ext uri="{FF2B5EF4-FFF2-40B4-BE49-F238E27FC236}">
                <a16:creationId xmlns:a16="http://schemas.microsoft.com/office/drawing/2014/main" id="{A46440C6-01AF-7CE1-95B0-7AF6E1299C4F}"/>
              </a:ext>
            </a:extLst>
          </p:cNvPr>
          <p:cNvSpPr>
            <a:spLocks noGrp="1"/>
          </p:cNvSpPr>
          <p:nvPr>
            <p:ph type="title"/>
          </p:nvPr>
        </p:nvSpPr>
        <p:spPr>
          <a:xfrm>
            <a:off x="1092200" y="273685"/>
            <a:ext cx="6040120" cy="793115"/>
          </a:xfrm>
        </p:spPr>
        <p:txBody>
          <a:bodyPr>
            <a:normAutofit/>
          </a:bodyPr>
          <a:lstStyle/>
          <a:p>
            <a:r>
              <a:rPr lang="es-ES" sz="2800" b="1" dirty="0"/>
              <a:t>Cuencas Sedimentarias</a:t>
            </a:r>
          </a:p>
        </p:txBody>
      </p:sp>
    </p:spTree>
    <p:extLst>
      <p:ext uri="{BB962C8B-B14F-4D97-AF65-F5344CB8AC3E}">
        <p14:creationId xmlns:p14="http://schemas.microsoft.com/office/powerpoint/2010/main" val="368482817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3705590-BC6B-FF90-F97F-D796EDC183F4}"/>
              </a:ext>
            </a:extLst>
          </p:cNvPr>
          <p:cNvSpPr>
            <a:spLocks noGrp="1"/>
          </p:cNvSpPr>
          <p:nvPr>
            <p:ph type="title"/>
          </p:nvPr>
        </p:nvSpPr>
        <p:spPr/>
        <p:txBody>
          <a:bodyPr/>
          <a:lstStyle/>
          <a:p>
            <a:r>
              <a:rPr lang="es-ES" dirty="0"/>
              <a:t>ROCAS RESERVORIO</a:t>
            </a:r>
          </a:p>
        </p:txBody>
      </p:sp>
      <p:sp>
        <p:nvSpPr>
          <p:cNvPr id="3" name="Marcador de contenido 2">
            <a:extLst>
              <a:ext uri="{FF2B5EF4-FFF2-40B4-BE49-F238E27FC236}">
                <a16:creationId xmlns:a16="http://schemas.microsoft.com/office/drawing/2014/main" id="{07618F13-D6E2-058C-40A3-27ECCC9B70AC}"/>
              </a:ext>
            </a:extLst>
          </p:cNvPr>
          <p:cNvSpPr>
            <a:spLocks noGrp="1"/>
          </p:cNvSpPr>
          <p:nvPr>
            <p:ph idx="1"/>
          </p:nvPr>
        </p:nvSpPr>
        <p:spPr/>
        <p:txBody>
          <a:bodyPr/>
          <a:lstStyle/>
          <a:p>
            <a:pPr marL="0" indent="0" algn="just">
              <a:buNone/>
            </a:pPr>
            <a:r>
              <a:rPr lang="es-ES" dirty="0"/>
              <a:t>Las </a:t>
            </a:r>
            <a:r>
              <a:rPr lang="es-ES" b="1" dirty="0"/>
              <a:t>rocas reservorio</a:t>
            </a:r>
            <a:r>
              <a:rPr lang="es-ES" dirty="0"/>
              <a:t> son fundamentales en la geología de los hidrocarburos, ya que son las formaciones geológicas que almacenan y permiten la producción de petróleo y gas natural. A continuación, te ofrezco una información detallada sobre las características, tipos y evaluación de las rocas reservorio.</a:t>
            </a:r>
          </a:p>
        </p:txBody>
      </p:sp>
    </p:spTree>
    <p:extLst>
      <p:ext uri="{BB962C8B-B14F-4D97-AF65-F5344CB8AC3E}">
        <p14:creationId xmlns:p14="http://schemas.microsoft.com/office/powerpoint/2010/main" val="872737781"/>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498E489-7F40-DFEA-984E-E83AF61B5856}"/>
              </a:ext>
            </a:extLst>
          </p:cNvPr>
          <p:cNvSpPr>
            <a:spLocks noGrp="1"/>
          </p:cNvSpPr>
          <p:nvPr>
            <p:ph type="title"/>
          </p:nvPr>
        </p:nvSpPr>
        <p:spPr/>
        <p:txBody>
          <a:bodyPr>
            <a:normAutofit/>
          </a:bodyPr>
          <a:lstStyle/>
          <a:p>
            <a:r>
              <a:rPr lang="es-ES" sz="2800" dirty="0"/>
              <a:t>Características Clave de las Rocas Reservorio</a:t>
            </a:r>
          </a:p>
        </p:txBody>
      </p:sp>
      <p:sp>
        <p:nvSpPr>
          <p:cNvPr id="3" name="Marcador de contenido 2">
            <a:extLst>
              <a:ext uri="{FF2B5EF4-FFF2-40B4-BE49-F238E27FC236}">
                <a16:creationId xmlns:a16="http://schemas.microsoft.com/office/drawing/2014/main" id="{B72131D0-3FE4-CA12-6975-C8E383DF789C}"/>
              </a:ext>
            </a:extLst>
          </p:cNvPr>
          <p:cNvSpPr>
            <a:spLocks noGrp="1"/>
          </p:cNvSpPr>
          <p:nvPr>
            <p:ph idx="1"/>
          </p:nvPr>
        </p:nvSpPr>
        <p:spPr/>
        <p:txBody>
          <a:bodyPr/>
          <a:lstStyle/>
          <a:p>
            <a:pPr marL="0" indent="0">
              <a:buNone/>
            </a:pPr>
            <a:r>
              <a:rPr lang="es-ES" b="1" dirty="0"/>
              <a:t>Porosidad</a:t>
            </a:r>
            <a:endParaRPr lang="es-ES" dirty="0"/>
          </a:p>
          <a:p>
            <a:pPr>
              <a:buFont typeface="Arial" panose="020B0604020202020204" pitchFamily="34" charset="0"/>
              <a:buChar char="•"/>
            </a:pPr>
            <a:r>
              <a:rPr lang="es-ES" b="1" dirty="0"/>
              <a:t>Definición</a:t>
            </a:r>
            <a:r>
              <a:rPr lang="es-ES" dirty="0"/>
              <a:t>: La porosidad es la medida de los espacios vacíos dentro de una roca que pueden contener fluidos. Se expresa como un porcentaje del volumen total de la roca.</a:t>
            </a:r>
          </a:p>
          <a:p>
            <a:pPr marL="0" indent="0">
              <a:buNone/>
            </a:pPr>
            <a:r>
              <a:rPr lang="es-ES" b="1" dirty="0"/>
              <a:t>Tipos de Porosidad</a:t>
            </a:r>
            <a:r>
              <a:rPr lang="es-ES" dirty="0"/>
              <a:t>:</a:t>
            </a:r>
          </a:p>
          <a:p>
            <a:r>
              <a:rPr lang="es-ES" b="1" dirty="0"/>
              <a:t>Porosidad Primaria</a:t>
            </a:r>
            <a:r>
              <a:rPr lang="es-ES" dirty="0"/>
              <a:t>: Espacios intergranulares formados durante la deposición de la roca, como en areniscas y limolitas.</a:t>
            </a:r>
          </a:p>
          <a:p>
            <a:r>
              <a:rPr lang="es-ES" b="1" dirty="0"/>
              <a:t>Porosidad Secundaria</a:t>
            </a:r>
            <a:r>
              <a:rPr lang="es-ES" dirty="0"/>
              <a:t>: Espacios creados después de la formación de la roca, como fracturas y disolución en rocas carbonáticas.</a:t>
            </a:r>
          </a:p>
          <a:p>
            <a:pPr>
              <a:buFont typeface="Arial" panose="020B0604020202020204" pitchFamily="34" charset="0"/>
              <a:buChar char="•"/>
            </a:pPr>
            <a:endParaRPr lang="es-ES" dirty="0"/>
          </a:p>
          <a:p>
            <a:endParaRPr lang="es-ES" dirty="0"/>
          </a:p>
        </p:txBody>
      </p:sp>
    </p:spTree>
    <p:extLst>
      <p:ext uri="{BB962C8B-B14F-4D97-AF65-F5344CB8AC3E}">
        <p14:creationId xmlns:p14="http://schemas.microsoft.com/office/powerpoint/2010/main" val="1067191690"/>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1282638-426A-8C9B-0288-787430716527}"/>
              </a:ext>
            </a:extLst>
          </p:cNvPr>
          <p:cNvSpPr>
            <a:spLocks noGrp="1"/>
          </p:cNvSpPr>
          <p:nvPr>
            <p:ph idx="1"/>
          </p:nvPr>
        </p:nvSpPr>
        <p:spPr>
          <a:xfrm>
            <a:off x="838200" y="1371600"/>
            <a:ext cx="10515600" cy="4805363"/>
          </a:xfrm>
        </p:spPr>
        <p:txBody>
          <a:bodyPr/>
          <a:lstStyle/>
          <a:p>
            <a:pPr marL="0" indent="0">
              <a:buNone/>
            </a:pPr>
            <a:r>
              <a:rPr lang="es-ES" b="1" dirty="0"/>
              <a:t>Permeabilidad</a:t>
            </a:r>
            <a:endParaRPr lang="es-ES" dirty="0"/>
          </a:p>
          <a:p>
            <a:pPr>
              <a:buFont typeface="Arial" panose="020B0604020202020204" pitchFamily="34" charset="0"/>
              <a:buChar char="•"/>
            </a:pPr>
            <a:r>
              <a:rPr lang="es-ES" b="1" dirty="0"/>
              <a:t>Definición</a:t>
            </a:r>
            <a:r>
              <a:rPr lang="es-ES" dirty="0"/>
              <a:t>: La permeabilidad es la capacidad de una roca para permitir el flujo de fluidos a través de sus poros. Se mide en </a:t>
            </a:r>
            <a:r>
              <a:rPr lang="es-ES" dirty="0" err="1"/>
              <a:t>darcies</a:t>
            </a:r>
            <a:r>
              <a:rPr lang="es-ES" dirty="0"/>
              <a:t> o </a:t>
            </a:r>
            <a:r>
              <a:rPr lang="es-ES" dirty="0" err="1"/>
              <a:t>milidarcies</a:t>
            </a:r>
            <a:r>
              <a:rPr lang="es-ES" dirty="0"/>
              <a:t>.</a:t>
            </a:r>
          </a:p>
          <a:p>
            <a:pPr marL="0" indent="0">
              <a:buNone/>
            </a:pPr>
            <a:r>
              <a:rPr lang="es-ES" b="1" dirty="0"/>
              <a:t>Factores que Afectan la Permeabilidad</a:t>
            </a:r>
          </a:p>
          <a:p>
            <a:pPr>
              <a:buFont typeface="Arial" panose="020B0604020202020204" pitchFamily="34" charset="0"/>
              <a:buChar char="•"/>
            </a:pPr>
            <a:r>
              <a:rPr lang="es-ES" b="1" dirty="0"/>
              <a:t>Tamaño y Forma de los Poros</a:t>
            </a:r>
            <a:r>
              <a:rPr lang="es-ES" dirty="0"/>
              <a:t>: Poros grandes y bien conectados facilitan el flujo de fluidos.</a:t>
            </a:r>
          </a:p>
          <a:p>
            <a:pPr>
              <a:buFont typeface="Arial" panose="020B0604020202020204" pitchFamily="34" charset="0"/>
              <a:buChar char="•"/>
            </a:pPr>
            <a:r>
              <a:rPr lang="es-ES" b="1" dirty="0"/>
              <a:t>Conectividad de los Poros</a:t>
            </a:r>
            <a:r>
              <a:rPr lang="es-ES" dirty="0"/>
              <a:t>: La presencia de canales o redes de poros interconectados mejora la permeabilidad.</a:t>
            </a:r>
          </a:p>
          <a:p>
            <a:pPr>
              <a:buFont typeface="Arial" panose="020B0604020202020204" pitchFamily="34" charset="0"/>
              <a:buChar char="•"/>
            </a:pPr>
            <a:endParaRPr lang="es-ES" dirty="0"/>
          </a:p>
        </p:txBody>
      </p:sp>
    </p:spTree>
    <p:extLst>
      <p:ext uri="{BB962C8B-B14F-4D97-AF65-F5344CB8AC3E}">
        <p14:creationId xmlns:p14="http://schemas.microsoft.com/office/powerpoint/2010/main" val="3582173168"/>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BBC1094-F17E-B57C-91C5-0E1A41D61F9A}"/>
              </a:ext>
            </a:extLst>
          </p:cNvPr>
          <p:cNvSpPr>
            <a:spLocks noGrp="1"/>
          </p:cNvSpPr>
          <p:nvPr>
            <p:ph idx="1"/>
          </p:nvPr>
        </p:nvSpPr>
        <p:spPr>
          <a:xfrm>
            <a:off x="838200" y="1648343"/>
            <a:ext cx="10515600" cy="3996677"/>
          </a:xfrm>
        </p:spPr>
        <p:txBody>
          <a:bodyPr/>
          <a:lstStyle/>
          <a:p>
            <a:pPr marL="0" indent="0">
              <a:buNone/>
            </a:pPr>
            <a:r>
              <a:rPr lang="es-ES" b="1" dirty="0"/>
              <a:t>Capacidad de Almacenamiento</a:t>
            </a:r>
            <a:endParaRPr lang="es-ES" dirty="0"/>
          </a:p>
          <a:p>
            <a:pPr>
              <a:buFont typeface="Arial" panose="020B0604020202020204" pitchFamily="34" charset="0"/>
              <a:buChar char="•"/>
            </a:pPr>
            <a:r>
              <a:rPr lang="es-ES" b="1" dirty="0"/>
              <a:t>Definición</a:t>
            </a:r>
            <a:r>
              <a:rPr lang="es-ES" dirty="0"/>
              <a:t>: Es la cantidad total de hidrocarburos que una roca puede almacenar. Se basa en la porosidad y el volumen de la roca reservorio.</a:t>
            </a:r>
          </a:p>
          <a:p>
            <a:pPr marL="0" indent="0">
              <a:buNone/>
            </a:pPr>
            <a:endParaRPr lang="es-ES" dirty="0"/>
          </a:p>
          <a:p>
            <a:pPr>
              <a:buFont typeface="Arial" panose="020B0604020202020204" pitchFamily="34" charset="0"/>
              <a:buChar char="•"/>
            </a:pPr>
            <a:r>
              <a:rPr lang="es-ES" b="1" dirty="0"/>
              <a:t>Importancia</a:t>
            </a:r>
            <a:r>
              <a:rPr lang="es-ES" dirty="0"/>
              <a:t>: Determina la cantidad de petróleo o gas que puede ser recuperado de un yacimiento.</a:t>
            </a:r>
          </a:p>
          <a:p>
            <a:endParaRPr lang="es-ES" dirty="0"/>
          </a:p>
        </p:txBody>
      </p:sp>
    </p:spTree>
    <p:extLst>
      <p:ext uri="{BB962C8B-B14F-4D97-AF65-F5344CB8AC3E}">
        <p14:creationId xmlns:p14="http://schemas.microsoft.com/office/powerpoint/2010/main" val="2638123215"/>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2E4A3E-EC4B-F0F1-8ED9-1A0CDCE8BAB7}"/>
              </a:ext>
            </a:extLst>
          </p:cNvPr>
          <p:cNvSpPr>
            <a:spLocks noGrp="1"/>
          </p:cNvSpPr>
          <p:nvPr>
            <p:ph type="title"/>
          </p:nvPr>
        </p:nvSpPr>
        <p:spPr/>
        <p:txBody>
          <a:bodyPr>
            <a:normAutofit/>
          </a:bodyPr>
          <a:lstStyle/>
          <a:p>
            <a:r>
              <a:rPr lang="es-ES" sz="2800" dirty="0"/>
              <a:t>Tipos de Rocas Reservorio</a:t>
            </a:r>
          </a:p>
        </p:txBody>
      </p:sp>
      <p:sp>
        <p:nvSpPr>
          <p:cNvPr id="3" name="Marcador de contenido 2">
            <a:extLst>
              <a:ext uri="{FF2B5EF4-FFF2-40B4-BE49-F238E27FC236}">
                <a16:creationId xmlns:a16="http://schemas.microsoft.com/office/drawing/2014/main" id="{96E143C9-FBB5-7BF7-D06D-3B58D7C977A8}"/>
              </a:ext>
            </a:extLst>
          </p:cNvPr>
          <p:cNvSpPr>
            <a:spLocks noGrp="1"/>
          </p:cNvSpPr>
          <p:nvPr>
            <p:ph idx="1"/>
          </p:nvPr>
        </p:nvSpPr>
        <p:spPr/>
        <p:txBody>
          <a:bodyPr>
            <a:normAutofit lnSpcReduction="10000"/>
          </a:bodyPr>
          <a:lstStyle/>
          <a:p>
            <a:r>
              <a:rPr lang="es-ES" b="1" dirty="0"/>
              <a:t>Areniscas (</a:t>
            </a:r>
            <a:r>
              <a:rPr lang="es-ES" b="1" dirty="0" err="1"/>
              <a:t>Sandstones</a:t>
            </a:r>
            <a:r>
              <a:rPr lang="es-ES" b="1" dirty="0"/>
              <a:t>)</a:t>
            </a:r>
            <a:endParaRPr lang="es-ES" dirty="0"/>
          </a:p>
          <a:p>
            <a:pPr>
              <a:buFont typeface="Arial" panose="020B0604020202020204" pitchFamily="34" charset="0"/>
              <a:buChar char="•"/>
            </a:pPr>
            <a:r>
              <a:rPr lang="es-ES" b="1" dirty="0"/>
              <a:t>Descripción</a:t>
            </a:r>
            <a:r>
              <a:rPr lang="es-ES" dirty="0"/>
              <a:t>: Son rocas sedimentarias formadas por la acumulación de granos de arena, con una estructura porosa que puede ser altamente permeable.</a:t>
            </a:r>
          </a:p>
          <a:p>
            <a:pPr>
              <a:buFont typeface="Arial" panose="020B0604020202020204" pitchFamily="34" charset="0"/>
              <a:buChar char="•"/>
            </a:pPr>
            <a:r>
              <a:rPr lang="es-ES" b="1" dirty="0"/>
              <a:t>Características</a:t>
            </a:r>
            <a:r>
              <a:rPr lang="es-ES" dirty="0"/>
              <a:t>:</a:t>
            </a:r>
          </a:p>
          <a:p>
            <a:pPr marL="742950" lvl="1" indent="-285750">
              <a:buFont typeface="Arial" panose="020B0604020202020204" pitchFamily="34" charset="0"/>
              <a:buChar char="•"/>
            </a:pPr>
            <a:r>
              <a:rPr lang="es-ES" b="1" dirty="0"/>
              <a:t>Porosidad</a:t>
            </a:r>
            <a:r>
              <a:rPr lang="es-ES" dirty="0"/>
              <a:t>: Generalmente alta, dependiendo del tamaño de los granos y el grado de compactación.</a:t>
            </a:r>
          </a:p>
          <a:p>
            <a:pPr marL="742950" lvl="1" indent="-285750">
              <a:buFont typeface="Arial" panose="020B0604020202020204" pitchFamily="34" charset="0"/>
              <a:buChar char="•"/>
            </a:pPr>
            <a:r>
              <a:rPr lang="es-ES" b="1" dirty="0"/>
              <a:t>Permeabilidad</a:t>
            </a:r>
            <a:r>
              <a:rPr lang="es-ES" dirty="0"/>
              <a:t>: Alta, especialmente si los granos están bien ordenados y la roca no está demasiado cementada.</a:t>
            </a:r>
          </a:p>
          <a:p>
            <a:pPr>
              <a:buFont typeface="Arial" panose="020B0604020202020204" pitchFamily="34" charset="0"/>
              <a:buChar char="•"/>
            </a:pPr>
            <a:r>
              <a:rPr lang="es-ES" b="1" dirty="0"/>
              <a:t>Ejemplos</a:t>
            </a:r>
            <a:r>
              <a:rPr lang="es-ES" dirty="0"/>
              <a:t>: Formación </a:t>
            </a:r>
            <a:r>
              <a:rPr lang="es-ES" dirty="0" err="1"/>
              <a:t>Arapahoe</a:t>
            </a:r>
            <a:r>
              <a:rPr lang="es-ES" dirty="0"/>
              <a:t> (EE.UU.), Formación Jura-Cretácico (Europa).</a:t>
            </a:r>
          </a:p>
          <a:p>
            <a:endParaRPr lang="es-ES" dirty="0"/>
          </a:p>
        </p:txBody>
      </p:sp>
    </p:spTree>
    <p:extLst>
      <p:ext uri="{BB962C8B-B14F-4D97-AF65-F5344CB8AC3E}">
        <p14:creationId xmlns:p14="http://schemas.microsoft.com/office/powerpoint/2010/main" val="353135223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1FCB7D7-7AFC-20AD-B94F-6D1602DA9B54}"/>
              </a:ext>
            </a:extLst>
          </p:cNvPr>
          <p:cNvSpPr>
            <a:spLocks noGrp="1"/>
          </p:cNvSpPr>
          <p:nvPr>
            <p:ph idx="1"/>
          </p:nvPr>
        </p:nvSpPr>
        <p:spPr>
          <a:xfrm>
            <a:off x="744893" y="1334278"/>
            <a:ext cx="10515600" cy="4562767"/>
          </a:xfrm>
        </p:spPr>
        <p:txBody>
          <a:bodyPr>
            <a:normAutofit/>
          </a:bodyPr>
          <a:lstStyle/>
          <a:p>
            <a:pPr marL="0" indent="0">
              <a:buNone/>
            </a:pPr>
            <a:r>
              <a:rPr lang="es-ES" b="1" dirty="0"/>
              <a:t>Carbonatos (Carbonates)</a:t>
            </a:r>
          </a:p>
          <a:p>
            <a:r>
              <a:rPr lang="es-ES" b="1" dirty="0"/>
              <a:t>Descripción: </a:t>
            </a:r>
            <a:r>
              <a:rPr lang="es-ES" dirty="0"/>
              <a:t>Incluyen rocas como la caliza y la dolomita, formadas principalmente por minerales de carbonato de calcio o magnesio.</a:t>
            </a:r>
          </a:p>
          <a:p>
            <a:r>
              <a:rPr lang="es-ES" b="1" dirty="0"/>
              <a:t>Características: </a:t>
            </a:r>
            <a:r>
              <a:rPr lang="es-ES" dirty="0"/>
              <a:t>Porosidad: Puede variar ampliamente; algunos carbonatos tienen alta porosidad debido a la disolución y fracturación.</a:t>
            </a:r>
          </a:p>
          <a:p>
            <a:r>
              <a:rPr lang="es-ES" b="1" dirty="0"/>
              <a:t>Permeabilidad</a:t>
            </a:r>
            <a:r>
              <a:rPr lang="es-ES" dirty="0"/>
              <a:t>: Varía; los carbonatos con fracturas o disolución pueden tener alta permeabilidad.</a:t>
            </a:r>
          </a:p>
          <a:p>
            <a:r>
              <a:rPr lang="es-ES" b="1" dirty="0"/>
              <a:t>Ejemplos: </a:t>
            </a:r>
            <a:r>
              <a:rPr lang="es-ES" dirty="0"/>
              <a:t>Formación Permian (Medio Oriente), Formación Mississippian (EE.UU.).</a:t>
            </a:r>
          </a:p>
        </p:txBody>
      </p:sp>
    </p:spTree>
    <p:extLst>
      <p:ext uri="{BB962C8B-B14F-4D97-AF65-F5344CB8AC3E}">
        <p14:creationId xmlns:p14="http://schemas.microsoft.com/office/powerpoint/2010/main" val="3483329715"/>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6A0E253-AFFE-2BF4-4FE1-49D4AD11C76F}"/>
              </a:ext>
            </a:extLst>
          </p:cNvPr>
          <p:cNvSpPr>
            <a:spLocks noGrp="1"/>
          </p:cNvSpPr>
          <p:nvPr>
            <p:ph idx="1"/>
          </p:nvPr>
        </p:nvSpPr>
        <p:spPr>
          <a:xfrm>
            <a:off x="744894" y="1331103"/>
            <a:ext cx="10515600" cy="4351338"/>
          </a:xfrm>
        </p:spPr>
        <p:txBody>
          <a:bodyPr/>
          <a:lstStyle/>
          <a:p>
            <a:pPr marL="0" indent="0">
              <a:buNone/>
            </a:pPr>
            <a:r>
              <a:rPr lang="es-ES" b="1" dirty="0"/>
              <a:t>Lutitas (</a:t>
            </a:r>
            <a:r>
              <a:rPr lang="es-ES" b="1" dirty="0" err="1"/>
              <a:t>Shales</a:t>
            </a:r>
            <a:r>
              <a:rPr lang="es-ES" b="1" dirty="0"/>
              <a:t>)</a:t>
            </a:r>
            <a:endParaRPr lang="es-ES" dirty="0"/>
          </a:p>
          <a:p>
            <a:pPr>
              <a:buFont typeface="Arial" panose="020B0604020202020204" pitchFamily="34" charset="0"/>
              <a:buChar char="•"/>
            </a:pPr>
            <a:r>
              <a:rPr lang="es-ES" b="1" dirty="0"/>
              <a:t>Descripción</a:t>
            </a:r>
            <a:r>
              <a:rPr lang="es-ES" dirty="0"/>
              <a:t>: Aunque típicamente consideradas como rocas selladoras, algunas lutitas tienen características de reservorio en casos de "</a:t>
            </a:r>
            <a:r>
              <a:rPr lang="es-ES" dirty="0" err="1"/>
              <a:t>shale</a:t>
            </a:r>
            <a:r>
              <a:rPr lang="es-ES" dirty="0"/>
              <a:t> </a:t>
            </a:r>
            <a:r>
              <a:rPr lang="es-ES" dirty="0" err="1"/>
              <a:t>oil</a:t>
            </a:r>
            <a:r>
              <a:rPr lang="es-ES" dirty="0"/>
              <a:t>" o "</a:t>
            </a:r>
            <a:r>
              <a:rPr lang="es-ES" dirty="0" err="1"/>
              <a:t>shale</a:t>
            </a:r>
            <a:r>
              <a:rPr lang="es-ES" dirty="0"/>
              <a:t> gas".</a:t>
            </a:r>
          </a:p>
          <a:p>
            <a:pPr>
              <a:buFont typeface="Arial" panose="020B0604020202020204" pitchFamily="34" charset="0"/>
              <a:buChar char="•"/>
            </a:pPr>
            <a:r>
              <a:rPr lang="es-ES" b="1" dirty="0"/>
              <a:t>Características</a:t>
            </a:r>
            <a:r>
              <a:rPr lang="es-ES" dirty="0"/>
              <a:t>:</a:t>
            </a:r>
          </a:p>
          <a:p>
            <a:pPr marL="742950" lvl="1" indent="-285750">
              <a:buFont typeface="Arial" panose="020B0604020202020204" pitchFamily="34" charset="0"/>
              <a:buChar char="•"/>
            </a:pPr>
            <a:r>
              <a:rPr lang="es-ES" b="1" dirty="0"/>
              <a:t>Porosidad</a:t>
            </a:r>
            <a:r>
              <a:rPr lang="es-ES" dirty="0"/>
              <a:t>: Relativamente baja, pero puede ser suficiente en formaciones de esquisto.</a:t>
            </a:r>
          </a:p>
          <a:p>
            <a:pPr marL="742950" lvl="1" indent="-285750">
              <a:buFont typeface="Arial" panose="020B0604020202020204" pitchFamily="34" charset="0"/>
              <a:buChar char="•"/>
            </a:pPr>
            <a:r>
              <a:rPr lang="es-ES" b="1" dirty="0"/>
              <a:t>Permeabilidad</a:t>
            </a:r>
            <a:r>
              <a:rPr lang="es-ES" dirty="0"/>
              <a:t>: Baja, lo que limita el flujo de hidrocarburos, pero las técnicas de fracturación hidráulica pueden mejorar la producción.</a:t>
            </a:r>
          </a:p>
          <a:p>
            <a:pPr>
              <a:buFont typeface="Arial" panose="020B0604020202020204" pitchFamily="34" charset="0"/>
              <a:buChar char="•"/>
            </a:pPr>
            <a:r>
              <a:rPr lang="es-ES" b="1" dirty="0"/>
              <a:t>Ejemplos</a:t>
            </a:r>
            <a:r>
              <a:rPr lang="es-ES" dirty="0"/>
              <a:t>: Formación </a:t>
            </a:r>
            <a:r>
              <a:rPr lang="es-ES" dirty="0" err="1"/>
              <a:t>Bakken</a:t>
            </a:r>
            <a:r>
              <a:rPr lang="es-ES" dirty="0"/>
              <a:t> (EE.UU.), Formación Eagle Ford (EE.UU.).</a:t>
            </a:r>
          </a:p>
          <a:p>
            <a:endParaRPr lang="es-ES" dirty="0"/>
          </a:p>
        </p:txBody>
      </p:sp>
    </p:spTree>
    <p:extLst>
      <p:ext uri="{BB962C8B-B14F-4D97-AF65-F5344CB8AC3E}">
        <p14:creationId xmlns:p14="http://schemas.microsoft.com/office/powerpoint/2010/main" val="354989204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F164AE8-5647-4711-642C-E4572B360AE3}"/>
              </a:ext>
            </a:extLst>
          </p:cNvPr>
          <p:cNvSpPr>
            <a:spLocks noGrp="1"/>
          </p:cNvSpPr>
          <p:nvPr>
            <p:ph idx="1"/>
          </p:nvPr>
        </p:nvSpPr>
        <p:spPr>
          <a:xfrm>
            <a:off x="838200" y="1642188"/>
            <a:ext cx="10515600" cy="4534775"/>
          </a:xfrm>
        </p:spPr>
        <p:txBody>
          <a:bodyPr/>
          <a:lstStyle/>
          <a:p>
            <a:pPr marL="0" indent="0">
              <a:buNone/>
            </a:pPr>
            <a:r>
              <a:rPr lang="es-ES" b="1" dirty="0"/>
              <a:t>Margas (</a:t>
            </a:r>
            <a:r>
              <a:rPr lang="es-ES" b="1" dirty="0" err="1"/>
              <a:t>Marl</a:t>
            </a:r>
            <a:r>
              <a:rPr lang="es-ES" b="1" dirty="0"/>
              <a:t>)</a:t>
            </a:r>
            <a:endParaRPr lang="es-ES" dirty="0"/>
          </a:p>
          <a:p>
            <a:pPr>
              <a:buFont typeface="Arial" panose="020B0604020202020204" pitchFamily="34" charset="0"/>
              <a:buChar char="•"/>
            </a:pPr>
            <a:r>
              <a:rPr lang="es-ES" b="1" dirty="0"/>
              <a:t>Descripción</a:t>
            </a:r>
            <a:r>
              <a:rPr lang="es-ES" dirty="0"/>
              <a:t>: Rocas sedimentarias que contienen una mezcla de arcilla y carbonato cálcico. Pueden tener porosidad y permeabilidad variables.</a:t>
            </a:r>
          </a:p>
          <a:p>
            <a:pPr>
              <a:buFont typeface="Arial" panose="020B0604020202020204" pitchFamily="34" charset="0"/>
              <a:buChar char="•"/>
            </a:pPr>
            <a:r>
              <a:rPr lang="es-ES" b="1" dirty="0"/>
              <a:t>Características</a:t>
            </a:r>
            <a:r>
              <a:rPr lang="es-ES" dirty="0"/>
              <a:t>:</a:t>
            </a:r>
          </a:p>
          <a:p>
            <a:pPr marL="742950" lvl="1" indent="-285750">
              <a:buFont typeface="Arial" panose="020B0604020202020204" pitchFamily="34" charset="0"/>
              <a:buChar char="•"/>
            </a:pPr>
            <a:r>
              <a:rPr lang="es-ES" b="1" dirty="0"/>
              <a:t>Porosidad</a:t>
            </a:r>
            <a:r>
              <a:rPr lang="es-ES" dirty="0"/>
              <a:t>: Moderada a alta, dependiendo de la cantidad de carbonato.</a:t>
            </a:r>
          </a:p>
          <a:p>
            <a:pPr marL="742950" lvl="1" indent="-285750">
              <a:buFont typeface="Arial" panose="020B0604020202020204" pitchFamily="34" charset="0"/>
              <a:buChar char="•"/>
            </a:pPr>
            <a:r>
              <a:rPr lang="es-ES" b="1" dirty="0"/>
              <a:t>Permeabilidad</a:t>
            </a:r>
            <a:r>
              <a:rPr lang="es-ES" dirty="0"/>
              <a:t>: Variable, puede ser buena en casos donde la roca está fracturada o disuelta.</a:t>
            </a:r>
          </a:p>
          <a:p>
            <a:pPr>
              <a:buFont typeface="Arial" panose="020B0604020202020204" pitchFamily="34" charset="0"/>
              <a:buChar char="•"/>
            </a:pPr>
            <a:r>
              <a:rPr lang="es-ES" b="1" dirty="0"/>
              <a:t>Ejemplos</a:t>
            </a:r>
            <a:r>
              <a:rPr lang="es-ES" dirty="0"/>
              <a:t>: En la Cuenca del Tíber en Italia.</a:t>
            </a:r>
          </a:p>
          <a:p>
            <a:endParaRPr lang="es-ES" dirty="0"/>
          </a:p>
        </p:txBody>
      </p:sp>
    </p:spTree>
    <p:extLst>
      <p:ext uri="{BB962C8B-B14F-4D97-AF65-F5344CB8AC3E}">
        <p14:creationId xmlns:p14="http://schemas.microsoft.com/office/powerpoint/2010/main" val="895585209"/>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87D5261-14A3-2038-183A-FBA9E1ABA325}"/>
              </a:ext>
            </a:extLst>
          </p:cNvPr>
          <p:cNvSpPr>
            <a:spLocks noGrp="1"/>
          </p:cNvSpPr>
          <p:nvPr>
            <p:ph type="title"/>
          </p:nvPr>
        </p:nvSpPr>
        <p:spPr/>
        <p:txBody>
          <a:bodyPr>
            <a:normAutofit/>
          </a:bodyPr>
          <a:lstStyle/>
          <a:p>
            <a:r>
              <a:rPr lang="es-ES" sz="2800" dirty="0"/>
              <a:t>Evaluación de Rocas Reservorio</a:t>
            </a:r>
          </a:p>
        </p:txBody>
      </p:sp>
      <p:sp>
        <p:nvSpPr>
          <p:cNvPr id="3" name="Marcador de contenido 2">
            <a:extLst>
              <a:ext uri="{FF2B5EF4-FFF2-40B4-BE49-F238E27FC236}">
                <a16:creationId xmlns:a16="http://schemas.microsoft.com/office/drawing/2014/main" id="{C2A973C8-30A2-267B-6738-7A864C32887F}"/>
              </a:ext>
            </a:extLst>
          </p:cNvPr>
          <p:cNvSpPr>
            <a:spLocks noGrp="1"/>
          </p:cNvSpPr>
          <p:nvPr>
            <p:ph idx="1"/>
          </p:nvPr>
        </p:nvSpPr>
        <p:spPr/>
        <p:txBody>
          <a:bodyPr>
            <a:normAutofit fontScale="85000" lnSpcReduction="10000"/>
          </a:bodyPr>
          <a:lstStyle/>
          <a:p>
            <a:pPr marL="0" indent="0">
              <a:buNone/>
            </a:pPr>
            <a:r>
              <a:rPr lang="es-ES" b="1" dirty="0"/>
              <a:t>Exploración y Evaluación</a:t>
            </a:r>
            <a:endParaRPr lang="es-ES" dirty="0"/>
          </a:p>
          <a:p>
            <a:pPr>
              <a:buFont typeface="Arial" panose="020B0604020202020204" pitchFamily="34" charset="0"/>
              <a:buChar char="•"/>
            </a:pPr>
            <a:r>
              <a:rPr lang="es-ES" b="1" dirty="0"/>
              <a:t>Perforación y Muestreo</a:t>
            </a:r>
            <a:r>
              <a:rPr lang="es-ES" dirty="0"/>
              <a:t>: Se obtienen núcleos de roca y se analizan en laboratorio para determinar la porosidad, permeabilidad y otros parámetros importantes.</a:t>
            </a:r>
          </a:p>
          <a:p>
            <a:pPr>
              <a:buFont typeface="Arial" panose="020B0604020202020204" pitchFamily="34" charset="0"/>
              <a:buChar char="•"/>
            </a:pPr>
            <a:r>
              <a:rPr lang="es-ES" b="1" dirty="0"/>
              <a:t>Pruebas de Producción</a:t>
            </a:r>
            <a:r>
              <a:rPr lang="es-ES" dirty="0"/>
              <a:t>: Se realizan pruebas en pozos para evaluar la capacidad de producción y la dinámica del flujo de hidrocarburos.</a:t>
            </a:r>
          </a:p>
          <a:p>
            <a:r>
              <a:rPr lang="es-ES" b="1" dirty="0"/>
              <a:t>Modelado de Reservorio</a:t>
            </a:r>
            <a:endParaRPr lang="es-ES" dirty="0"/>
          </a:p>
          <a:p>
            <a:pPr>
              <a:buFont typeface="Arial" panose="020B0604020202020204" pitchFamily="34" charset="0"/>
              <a:buChar char="•"/>
            </a:pPr>
            <a:r>
              <a:rPr lang="es-ES" b="1" dirty="0"/>
              <a:t>Modelos Geológicos</a:t>
            </a:r>
            <a:r>
              <a:rPr lang="es-ES" dirty="0"/>
              <a:t>: Se construyen modelos tridimensionales del reservorio basados en datos de perforación, sísmica y otras investigaciones. Estos modelos ayudan a entender la distribución de los hidrocarburos y a planificar la extracción.</a:t>
            </a:r>
          </a:p>
          <a:p>
            <a:pPr>
              <a:buFont typeface="Arial" panose="020B0604020202020204" pitchFamily="34" charset="0"/>
              <a:buChar char="•"/>
            </a:pPr>
            <a:r>
              <a:rPr lang="es-ES" b="1" dirty="0"/>
              <a:t>Simulación de Reservorio</a:t>
            </a:r>
            <a:r>
              <a:rPr lang="es-ES" dirty="0"/>
              <a:t>: Modelos numéricos que simulan el comportamiento del reservorio durante la producción, ayudando a optimizar las técnicas de recuperación.</a:t>
            </a:r>
          </a:p>
          <a:p>
            <a:endParaRPr lang="es-ES" dirty="0"/>
          </a:p>
        </p:txBody>
      </p:sp>
    </p:spTree>
    <p:extLst>
      <p:ext uri="{BB962C8B-B14F-4D97-AF65-F5344CB8AC3E}">
        <p14:creationId xmlns:p14="http://schemas.microsoft.com/office/powerpoint/2010/main" val="417295694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536CF3D-E546-D43E-3F42-71542B27D545}"/>
              </a:ext>
            </a:extLst>
          </p:cNvPr>
          <p:cNvSpPr>
            <a:spLocks noGrp="1"/>
          </p:cNvSpPr>
          <p:nvPr>
            <p:ph idx="1"/>
          </p:nvPr>
        </p:nvSpPr>
        <p:spPr/>
        <p:txBody>
          <a:bodyPr/>
          <a:lstStyle/>
          <a:p>
            <a:pPr marL="0" indent="0">
              <a:buNone/>
            </a:pPr>
            <a:r>
              <a:rPr lang="es-ES" b="1" dirty="0"/>
              <a:t>Monitoreo y Gestión</a:t>
            </a:r>
            <a:endParaRPr lang="es-ES" dirty="0"/>
          </a:p>
          <a:p>
            <a:pPr>
              <a:buFont typeface="Arial" panose="020B0604020202020204" pitchFamily="34" charset="0"/>
              <a:buChar char="•"/>
            </a:pPr>
            <a:r>
              <a:rPr lang="es-ES" b="1" dirty="0"/>
              <a:t>Monitoreo de Producción</a:t>
            </a:r>
            <a:r>
              <a:rPr lang="es-ES" dirty="0"/>
              <a:t>: Seguimiento continuo de la producción y la presión del reservorio para gestionar eficazmente el campo.</a:t>
            </a:r>
          </a:p>
          <a:p>
            <a:pPr>
              <a:buFont typeface="Arial" panose="020B0604020202020204" pitchFamily="34" charset="0"/>
              <a:buChar char="•"/>
            </a:pPr>
            <a:r>
              <a:rPr lang="es-ES" b="1" dirty="0"/>
              <a:t>Recuperación Mejorada</a:t>
            </a:r>
            <a:r>
              <a:rPr lang="es-ES" dirty="0"/>
              <a:t>: Aplicación de técnicas de recuperación mejorada, como la inyección de agua o CO₂, para aumentar la producción de hidrocarburos.</a:t>
            </a:r>
          </a:p>
          <a:p>
            <a:endParaRPr lang="es-ES" dirty="0"/>
          </a:p>
        </p:txBody>
      </p:sp>
    </p:spTree>
    <p:extLst>
      <p:ext uri="{BB962C8B-B14F-4D97-AF65-F5344CB8AC3E}">
        <p14:creationId xmlns:p14="http://schemas.microsoft.com/office/powerpoint/2010/main" val="3442035939"/>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95852A5-FCBB-AA13-F396-02E2DED731AF}"/>
              </a:ext>
            </a:extLst>
          </p:cNvPr>
          <p:cNvSpPr>
            <a:spLocks noGrp="1"/>
          </p:cNvSpPr>
          <p:nvPr>
            <p:ph type="title"/>
          </p:nvPr>
        </p:nvSpPr>
        <p:spPr/>
        <p:txBody>
          <a:bodyPr>
            <a:normAutofit/>
          </a:bodyPr>
          <a:lstStyle/>
          <a:p>
            <a:r>
              <a:rPr lang="es-ES" sz="2800" dirty="0"/>
              <a:t>Ejemplos Notables en Perú</a:t>
            </a:r>
          </a:p>
        </p:txBody>
      </p:sp>
      <p:sp>
        <p:nvSpPr>
          <p:cNvPr id="3" name="Marcador de contenido 2">
            <a:extLst>
              <a:ext uri="{FF2B5EF4-FFF2-40B4-BE49-F238E27FC236}">
                <a16:creationId xmlns:a16="http://schemas.microsoft.com/office/drawing/2014/main" id="{22C2A35B-F217-2037-A0A3-7BAE27BBC113}"/>
              </a:ext>
            </a:extLst>
          </p:cNvPr>
          <p:cNvSpPr>
            <a:spLocks noGrp="1"/>
          </p:cNvSpPr>
          <p:nvPr>
            <p:ph idx="1"/>
          </p:nvPr>
        </p:nvSpPr>
        <p:spPr/>
        <p:txBody>
          <a:bodyPr>
            <a:normAutofit lnSpcReduction="10000"/>
          </a:bodyPr>
          <a:lstStyle/>
          <a:p>
            <a:r>
              <a:rPr lang="es-ES" dirty="0"/>
              <a:t>En Perú, las principales rocas reservorio se encuentran en las cuencas sedimentarias, como la Cuenca Marañón y la Cuenca Ucayali. En estas cuencas, se han identificado areniscas y carbonatos como importantes reservorios de petróleo y gas. Las características de estos reservorios son evaluadas mediante perforación y análisis detallado para planificar la explotación efectiva.</a:t>
            </a:r>
          </a:p>
          <a:p>
            <a:r>
              <a:rPr lang="es-ES" dirty="0"/>
              <a:t>En resumen, las rocas reservorio son esenciales para la producción de hidrocarburos, y su estudio detallado permite una explotación eficiente y eficaz de los recursos energéticos. La evaluación precisa de la porosidad, permeabilidad y capacidad de almacenamiento de estas rocas es fundamental para el desarrollo exitoso de campos petroleros y gasíferos.</a:t>
            </a:r>
          </a:p>
        </p:txBody>
      </p:sp>
    </p:spTree>
    <p:extLst>
      <p:ext uri="{BB962C8B-B14F-4D97-AF65-F5344CB8AC3E}">
        <p14:creationId xmlns:p14="http://schemas.microsoft.com/office/powerpoint/2010/main" val="427770924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9F0160B-4AD2-3F60-09C8-13CC42C5B85E}"/>
              </a:ext>
            </a:extLst>
          </p:cNvPr>
          <p:cNvSpPr>
            <a:spLocks noGrp="1"/>
          </p:cNvSpPr>
          <p:nvPr>
            <p:ph type="title"/>
          </p:nvPr>
        </p:nvSpPr>
        <p:spPr/>
        <p:txBody>
          <a:bodyPr>
            <a:normAutofit/>
          </a:bodyPr>
          <a:lstStyle/>
          <a:p>
            <a:r>
              <a:rPr lang="es-ES" sz="2800" dirty="0"/>
              <a:t>ROCAS SELLADORAS</a:t>
            </a:r>
          </a:p>
        </p:txBody>
      </p:sp>
      <p:sp>
        <p:nvSpPr>
          <p:cNvPr id="3" name="Marcador de contenido 2">
            <a:extLst>
              <a:ext uri="{FF2B5EF4-FFF2-40B4-BE49-F238E27FC236}">
                <a16:creationId xmlns:a16="http://schemas.microsoft.com/office/drawing/2014/main" id="{02B0F3F6-FAB2-C015-7C39-A9033B1D701F}"/>
              </a:ext>
            </a:extLst>
          </p:cNvPr>
          <p:cNvSpPr>
            <a:spLocks noGrp="1"/>
          </p:cNvSpPr>
          <p:nvPr>
            <p:ph idx="1"/>
          </p:nvPr>
        </p:nvSpPr>
        <p:spPr/>
        <p:txBody>
          <a:bodyPr/>
          <a:lstStyle/>
          <a:p>
            <a:pPr algn="just"/>
            <a:r>
              <a:rPr lang="es-ES" dirty="0"/>
              <a:t>Las </a:t>
            </a:r>
            <a:r>
              <a:rPr lang="es-ES" b="1" dirty="0"/>
              <a:t>rocas selladoras</a:t>
            </a:r>
            <a:r>
              <a:rPr lang="es-ES" dirty="0"/>
              <a:t> son formaciones geológicas cruciales en la acumulación y conservación de hidrocarburos en un yacimiento. Actúan como una barrera que impide que los fluidos, como el petróleo y el gas, migren hacia la superficie. A continuación, te proporciono una información detallada sobre las características, tipos y funciones de las rocas selladoras.</a:t>
            </a:r>
          </a:p>
        </p:txBody>
      </p:sp>
    </p:spTree>
    <p:extLst>
      <p:ext uri="{BB962C8B-B14F-4D97-AF65-F5344CB8AC3E}">
        <p14:creationId xmlns:p14="http://schemas.microsoft.com/office/powerpoint/2010/main" val="3005730192"/>
      </p:ext>
    </p:extLst>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732B45-7514-FA0F-7562-6E1A7011189D}"/>
              </a:ext>
            </a:extLst>
          </p:cNvPr>
          <p:cNvSpPr>
            <a:spLocks noGrp="1"/>
          </p:cNvSpPr>
          <p:nvPr>
            <p:ph type="title"/>
          </p:nvPr>
        </p:nvSpPr>
        <p:spPr/>
        <p:txBody>
          <a:bodyPr>
            <a:normAutofit/>
          </a:bodyPr>
          <a:lstStyle/>
          <a:p>
            <a:r>
              <a:rPr lang="es-ES" sz="2800" dirty="0"/>
              <a:t>CARACTERISTICAS</a:t>
            </a:r>
          </a:p>
        </p:txBody>
      </p:sp>
      <p:sp>
        <p:nvSpPr>
          <p:cNvPr id="3" name="Marcador de contenido 2">
            <a:extLst>
              <a:ext uri="{FF2B5EF4-FFF2-40B4-BE49-F238E27FC236}">
                <a16:creationId xmlns:a16="http://schemas.microsoft.com/office/drawing/2014/main" id="{10BCC64B-A0CC-E648-3350-70E3EF3B3CA4}"/>
              </a:ext>
            </a:extLst>
          </p:cNvPr>
          <p:cNvSpPr>
            <a:spLocks noGrp="1"/>
          </p:cNvSpPr>
          <p:nvPr>
            <p:ph idx="1"/>
          </p:nvPr>
        </p:nvSpPr>
        <p:spPr/>
        <p:txBody>
          <a:bodyPr/>
          <a:lstStyle/>
          <a:p>
            <a:pPr marL="0" indent="0">
              <a:buNone/>
            </a:pPr>
            <a:r>
              <a:rPr lang="es-ES" b="1" dirty="0"/>
              <a:t>Baja Permeabilidad</a:t>
            </a:r>
            <a:endParaRPr lang="es-ES" dirty="0"/>
          </a:p>
          <a:p>
            <a:pPr>
              <a:buFont typeface="Arial" panose="020B0604020202020204" pitchFamily="34" charset="0"/>
              <a:buChar char="•"/>
            </a:pPr>
            <a:r>
              <a:rPr lang="es-ES" b="1" dirty="0"/>
              <a:t>Definición</a:t>
            </a:r>
            <a:r>
              <a:rPr lang="es-ES" dirty="0"/>
              <a:t>: La baja permeabilidad es la capacidad limitada de una roca para permitir el flujo de fluidos a través de sus poros. Las rocas selladoras tienen una permeabilidad muy baja, lo que impide la migración de hidrocarburos.</a:t>
            </a:r>
          </a:p>
          <a:p>
            <a:pPr>
              <a:buFont typeface="Arial" panose="020B0604020202020204" pitchFamily="34" charset="0"/>
              <a:buChar char="•"/>
            </a:pPr>
            <a:r>
              <a:rPr lang="es-ES" b="1" dirty="0"/>
              <a:t>Importancia</a:t>
            </a:r>
            <a:r>
              <a:rPr lang="es-ES" dirty="0"/>
              <a:t>: La baja permeabilidad asegura que los hidrocarburos se mantengan atrapados en la roca reservorio debajo de la roca selladora.</a:t>
            </a:r>
          </a:p>
          <a:p>
            <a:endParaRPr lang="es-ES" dirty="0"/>
          </a:p>
        </p:txBody>
      </p:sp>
    </p:spTree>
    <p:extLst>
      <p:ext uri="{BB962C8B-B14F-4D97-AF65-F5344CB8AC3E}">
        <p14:creationId xmlns:p14="http://schemas.microsoft.com/office/powerpoint/2010/main" val="2413211886"/>
      </p:ext>
    </p:extLst>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880A48-66A5-9939-23E6-0722C57E5D66}"/>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9C1804D5-A2E0-6459-7CF1-5BB2BBE7DDB4}"/>
              </a:ext>
            </a:extLst>
          </p:cNvPr>
          <p:cNvSpPr>
            <a:spLocks noGrp="1"/>
          </p:cNvSpPr>
          <p:nvPr>
            <p:ph idx="1"/>
          </p:nvPr>
        </p:nvSpPr>
        <p:spPr/>
        <p:txBody>
          <a:bodyPr>
            <a:normAutofit/>
          </a:bodyPr>
          <a:lstStyle/>
          <a:p>
            <a:pPr marL="0" indent="0">
              <a:buNone/>
            </a:pPr>
            <a:r>
              <a:rPr lang="es-ES" b="1" dirty="0"/>
              <a:t>Alta Capacidad de Retención</a:t>
            </a:r>
            <a:endParaRPr lang="es-ES" dirty="0"/>
          </a:p>
          <a:p>
            <a:pPr>
              <a:buFont typeface="Arial" panose="020B0604020202020204" pitchFamily="34" charset="0"/>
              <a:buChar char="•"/>
            </a:pPr>
            <a:r>
              <a:rPr lang="es-ES" b="1" dirty="0"/>
              <a:t>Definición</a:t>
            </a:r>
            <a:r>
              <a:rPr lang="es-ES" dirty="0"/>
              <a:t>: La capacidad de retención se refiere a la habilidad de la roca para mantener hidrocarburos en lugar de permitir que se escapen.</a:t>
            </a:r>
          </a:p>
          <a:p>
            <a:pPr>
              <a:buFont typeface="Arial" panose="020B0604020202020204" pitchFamily="34" charset="0"/>
              <a:buChar char="•"/>
            </a:pPr>
            <a:r>
              <a:rPr lang="es-ES" b="1" dirty="0"/>
              <a:t>Características</a:t>
            </a:r>
            <a:r>
              <a:rPr lang="es-ES" dirty="0"/>
              <a:t>: Las rocas selladoras tienen una estructura densa y compacta que minimiza la porosidad efectiva y evita la fuga de fluidos.</a:t>
            </a:r>
          </a:p>
          <a:p>
            <a:pPr>
              <a:buFont typeface="Arial" panose="020B0604020202020204" pitchFamily="34" charset="0"/>
              <a:buChar char="•"/>
            </a:pPr>
            <a:endParaRPr lang="es-ES" dirty="0"/>
          </a:p>
          <a:p>
            <a:endParaRPr lang="es-ES" dirty="0"/>
          </a:p>
        </p:txBody>
      </p:sp>
    </p:spTree>
    <p:extLst>
      <p:ext uri="{BB962C8B-B14F-4D97-AF65-F5344CB8AC3E}">
        <p14:creationId xmlns:p14="http://schemas.microsoft.com/office/powerpoint/2010/main" val="2147257457"/>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FB1860A2-51C4-E525-FFE1-6FFD4EBF3A89}"/>
              </a:ext>
            </a:extLst>
          </p:cNvPr>
          <p:cNvSpPr>
            <a:spLocks noGrp="1"/>
          </p:cNvSpPr>
          <p:nvPr>
            <p:ph idx="1"/>
          </p:nvPr>
        </p:nvSpPr>
        <p:spPr/>
        <p:txBody>
          <a:bodyPr/>
          <a:lstStyle/>
          <a:p>
            <a:pPr marL="0" indent="0">
              <a:buNone/>
            </a:pPr>
            <a:r>
              <a:rPr lang="es-ES" b="1" dirty="0"/>
              <a:t>Uniformidad y Continuidad</a:t>
            </a:r>
          </a:p>
          <a:p>
            <a:pPr marL="0" indent="0">
              <a:buNone/>
            </a:pPr>
            <a:endParaRPr lang="es-ES" dirty="0"/>
          </a:p>
          <a:p>
            <a:pPr>
              <a:buFont typeface="Arial" panose="020B0604020202020204" pitchFamily="34" charset="0"/>
              <a:buChar char="•"/>
            </a:pPr>
            <a:r>
              <a:rPr lang="es-ES" b="1" dirty="0"/>
              <a:t>Definición</a:t>
            </a:r>
            <a:r>
              <a:rPr lang="es-ES" dirty="0"/>
              <a:t>: La continuidad de la roca selladora es crucial para que actúe como una barrera efectiva a lo largo de grandes áreas.</a:t>
            </a:r>
          </a:p>
          <a:p>
            <a:pPr>
              <a:buFont typeface="Arial" panose="020B0604020202020204" pitchFamily="34" charset="0"/>
              <a:buChar char="•"/>
            </a:pPr>
            <a:r>
              <a:rPr lang="es-ES" b="1" dirty="0"/>
              <a:t>Características</a:t>
            </a:r>
            <a:r>
              <a:rPr lang="es-ES" dirty="0"/>
              <a:t>: La roca selladora debe ser lo suficientemente extensa y uniforme para cubrir y aislar adecuadamente los reservorios de hidrocarburos.</a:t>
            </a:r>
          </a:p>
          <a:p>
            <a:endParaRPr lang="es-ES" dirty="0"/>
          </a:p>
        </p:txBody>
      </p:sp>
    </p:spTree>
    <p:extLst>
      <p:ext uri="{BB962C8B-B14F-4D97-AF65-F5344CB8AC3E}">
        <p14:creationId xmlns:p14="http://schemas.microsoft.com/office/powerpoint/2010/main" val="1178677208"/>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B00DEE2-0561-B147-397F-3B90CC78066F}"/>
              </a:ext>
            </a:extLst>
          </p:cNvPr>
          <p:cNvSpPr>
            <a:spLocks noGrp="1"/>
          </p:cNvSpPr>
          <p:nvPr>
            <p:ph type="title"/>
          </p:nvPr>
        </p:nvSpPr>
        <p:spPr/>
        <p:txBody>
          <a:bodyPr>
            <a:normAutofit/>
          </a:bodyPr>
          <a:lstStyle/>
          <a:p>
            <a:r>
              <a:rPr lang="es-ES" sz="2800" dirty="0"/>
              <a:t>Tipos de Rocas Selladoras</a:t>
            </a:r>
          </a:p>
        </p:txBody>
      </p:sp>
      <p:sp>
        <p:nvSpPr>
          <p:cNvPr id="3" name="Marcador de contenido 2">
            <a:extLst>
              <a:ext uri="{FF2B5EF4-FFF2-40B4-BE49-F238E27FC236}">
                <a16:creationId xmlns:a16="http://schemas.microsoft.com/office/drawing/2014/main" id="{74A50923-2036-2A95-FA22-FD24A944518F}"/>
              </a:ext>
            </a:extLst>
          </p:cNvPr>
          <p:cNvSpPr>
            <a:spLocks noGrp="1"/>
          </p:cNvSpPr>
          <p:nvPr>
            <p:ph idx="1"/>
          </p:nvPr>
        </p:nvSpPr>
        <p:spPr/>
        <p:txBody>
          <a:bodyPr/>
          <a:lstStyle/>
          <a:p>
            <a:pPr marL="0" indent="0">
              <a:buNone/>
            </a:pPr>
            <a:r>
              <a:rPr lang="es-ES" b="1" dirty="0"/>
              <a:t>Lutitas (</a:t>
            </a:r>
            <a:r>
              <a:rPr lang="es-ES" b="1" dirty="0" err="1"/>
              <a:t>Shales</a:t>
            </a:r>
            <a:r>
              <a:rPr lang="es-ES" b="1" dirty="0"/>
              <a:t>)</a:t>
            </a:r>
            <a:endParaRPr lang="es-ES" dirty="0"/>
          </a:p>
          <a:p>
            <a:pPr>
              <a:buFont typeface="Arial" panose="020B0604020202020204" pitchFamily="34" charset="0"/>
              <a:buChar char="•"/>
            </a:pPr>
            <a:r>
              <a:rPr lang="es-ES" b="1" dirty="0"/>
              <a:t>Descripción</a:t>
            </a:r>
            <a:r>
              <a:rPr lang="es-ES" dirty="0"/>
              <a:t>: Las lutitas son rocas sedimentarias finas compuestas principalmente de arcilla y limo. Son las rocas selladoras más comunes debido a su estructura compacta y baja permeabilidad.</a:t>
            </a:r>
          </a:p>
          <a:p>
            <a:pPr>
              <a:buFont typeface="Arial" panose="020B0604020202020204" pitchFamily="34" charset="0"/>
              <a:buChar char="•"/>
            </a:pPr>
            <a:r>
              <a:rPr lang="es-ES" b="1" dirty="0"/>
              <a:t>Características</a:t>
            </a:r>
            <a:r>
              <a:rPr lang="es-ES" dirty="0"/>
              <a:t>:</a:t>
            </a:r>
          </a:p>
          <a:p>
            <a:pPr marL="742950" lvl="1" indent="-285750">
              <a:buFont typeface="Arial" panose="020B0604020202020204" pitchFamily="34" charset="0"/>
              <a:buChar char="•"/>
            </a:pPr>
            <a:r>
              <a:rPr lang="es-ES" b="1" dirty="0"/>
              <a:t>Porosidad</a:t>
            </a:r>
            <a:r>
              <a:rPr lang="es-ES" dirty="0"/>
              <a:t>: Generalmente baja, con poros microscópicos.</a:t>
            </a:r>
          </a:p>
          <a:p>
            <a:pPr marL="742950" lvl="1" indent="-285750">
              <a:buFont typeface="Arial" panose="020B0604020202020204" pitchFamily="34" charset="0"/>
              <a:buChar char="•"/>
            </a:pPr>
            <a:r>
              <a:rPr lang="es-ES" b="1" dirty="0"/>
              <a:t>Permeabilidad</a:t>
            </a:r>
            <a:r>
              <a:rPr lang="es-ES" dirty="0"/>
              <a:t>: Muy baja, a menudo menos de 1 </a:t>
            </a:r>
            <a:r>
              <a:rPr lang="es-ES" dirty="0" err="1"/>
              <a:t>milidarcy</a:t>
            </a:r>
            <a:r>
              <a:rPr lang="es-ES" dirty="0"/>
              <a:t>.</a:t>
            </a:r>
          </a:p>
          <a:p>
            <a:pPr>
              <a:buFont typeface="Arial" panose="020B0604020202020204" pitchFamily="34" charset="0"/>
              <a:buChar char="•"/>
            </a:pPr>
            <a:r>
              <a:rPr lang="es-ES" b="1" dirty="0"/>
              <a:t>Ejemplos</a:t>
            </a:r>
            <a:r>
              <a:rPr lang="es-ES" dirty="0"/>
              <a:t>: Formación Marcellus (EE.UU.), Formación Vaca Muerta (Argentina).</a:t>
            </a:r>
          </a:p>
          <a:p>
            <a:endParaRPr lang="es-ES" dirty="0"/>
          </a:p>
        </p:txBody>
      </p:sp>
    </p:spTree>
    <p:extLst>
      <p:ext uri="{BB962C8B-B14F-4D97-AF65-F5344CB8AC3E}">
        <p14:creationId xmlns:p14="http://schemas.microsoft.com/office/powerpoint/2010/main" val="1890618785"/>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341A148-D043-9C8C-5348-1B3D1FF30AF0}"/>
              </a:ext>
            </a:extLst>
          </p:cNvPr>
          <p:cNvSpPr>
            <a:spLocks noGrp="1"/>
          </p:cNvSpPr>
          <p:nvPr>
            <p:ph idx="1"/>
          </p:nvPr>
        </p:nvSpPr>
        <p:spPr>
          <a:xfrm>
            <a:off x="838200" y="1278294"/>
            <a:ext cx="10515600" cy="4898669"/>
          </a:xfrm>
        </p:spPr>
        <p:txBody>
          <a:bodyPr/>
          <a:lstStyle/>
          <a:p>
            <a:pPr marL="0" indent="0">
              <a:buNone/>
            </a:pPr>
            <a:r>
              <a:rPr lang="es-ES" b="1" dirty="0"/>
              <a:t>Margas (</a:t>
            </a:r>
            <a:r>
              <a:rPr lang="es-ES" b="1" dirty="0" err="1"/>
              <a:t>Marls</a:t>
            </a:r>
            <a:r>
              <a:rPr lang="es-ES" b="1" dirty="0"/>
              <a:t>)</a:t>
            </a:r>
            <a:endParaRPr lang="es-ES" dirty="0"/>
          </a:p>
          <a:p>
            <a:pPr>
              <a:buFont typeface="Arial" panose="020B0604020202020204" pitchFamily="34" charset="0"/>
              <a:buChar char="•"/>
            </a:pPr>
            <a:r>
              <a:rPr lang="es-ES" b="1" dirty="0"/>
              <a:t>Descripción</a:t>
            </a:r>
            <a:r>
              <a:rPr lang="es-ES" dirty="0"/>
              <a:t>: Las margas son rocas sedimentarias que contienen una mezcla de arcilla y carbonato cálcico. También pueden actuar como rocas selladoras, aunque su capacidad de sellado depende de su composición específica.</a:t>
            </a:r>
          </a:p>
          <a:p>
            <a:pPr>
              <a:buFont typeface="Arial" panose="020B0604020202020204" pitchFamily="34" charset="0"/>
              <a:buChar char="•"/>
            </a:pPr>
            <a:r>
              <a:rPr lang="es-ES" b="1" dirty="0"/>
              <a:t>Características</a:t>
            </a:r>
            <a:r>
              <a:rPr lang="es-ES" dirty="0"/>
              <a:t>:</a:t>
            </a:r>
          </a:p>
          <a:p>
            <a:pPr marL="742950" lvl="1" indent="-285750">
              <a:buFont typeface="Arial" panose="020B0604020202020204" pitchFamily="34" charset="0"/>
              <a:buChar char="•"/>
            </a:pPr>
            <a:r>
              <a:rPr lang="es-ES" b="1" dirty="0"/>
              <a:t>Porosidad</a:t>
            </a:r>
            <a:r>
              <a:rPr lang="es-ES" dirty="0"/>
              <a:t>: Moderada a baja.</a:t>
            </a:r>
          </a:p>
          <a:p>
            <a:pPr marL="742950" lvl="1" indent="-285750">
              <a:buFont typeface="Arial" panose="020B0604020202020204" pitchFamily="34" charset="0"/>
              <a:buChar char="•"/>
            </a:pPr>
            <a:r>
              <a:rPr lang="es-ES" b="1" dirty="0"/>
              <a:t>Permeabilidad</a:t>
            </a:r>
            <a:r>
              <a:rPr lang="es-ES" dirty="0"/>
              <a:t>: Generalmente baja, pero puede variar dependiendo del contenido de carbonato.</a:t>
            </a:r>
          </a:p>
          <a:p>
            <a:pPr>
              <a:buFont typeface="Arial" panose="020B0604020202020204" pitchFamily="34" charset="0"/>
              <a:buChar char="•"/>
            </a:pPr>
            <a:r>
              <a:rPr lang="es-ES" b="1" dirty="0"/>
              <a:t>Ejemplos</a:t>
            </a:r>
            <a:r>
              <a:rPr lang="es-ES" dirty="0"/>
              <a:t>: Margas en la Cuenca del Tíber (Italia).</a:t>
            </a:r>
          </a:p>
          <a:p>
            <a:endParaRPr lang="es-ES" dirty="0"/>
          </a:p>
        </p:txBody>
      </p:sp>
    </p:spTree>
    <p:extLst>
      <p:ext uri="{BB962C8B-B14F-4D97-AF65-F5344CB8AC3E}">
        <p14:creationId xmlns:p14="http://schemas.microsoft.com/office/powerpoint/2010/main" val="312710027"/>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4771CE4-F8FD-133F-8494-D25BB8F650EB}"/>
              </a:ext>
            </a:extLst>
          </p:cNvPr>
          <p:cNvSpPr>
            <a:spLocks noGrp="1"/>
          </p:cNvSpPr>
          <p:nvPr>
            <p:ph idx="1"/>
          </p:nvPr>
        </p:nvSpPr>
        <p:spPr>
          <a:xfrm>
            <a:off x="838200" y="1250302"/>
            <a:ext cx="10515600" cy="4926661"/>
          </a:xfrm>
        </p:spPr>
        <p:txBody>
          <a:bodyPr/>
          <a:lstStyle/>
          <a:p>
            <a:pPr marL="0" indent="0">
              <a:buNone/>
            </a:pPr>
            <a:r>
              <a:rPr lang="es-ES" b="1" dirty="0"/>
              <a:t>Anhidritas y Yesos</a:t>
            </a:r>
            <a:endParaRPr lang="es-ES" dirty="0"/>
          </a:p>
          <a:p>
            <a:pPr>
              <a:buFont typeface="Arial" panose="020B0604020202020204" pitchFamily="34" charset="0"/>
              <a:buChar char="•"/>
            </a:pPr>
            <a:r>
              <a:rPr lang="es-ES" b="1" dirty="0"/>
              <a:t>Descripción</a:t>
            </a:r>
            <a:r>
              <a:rPr lang="es-ES" dirty="0"/>
              <a:t>: Las anhidritas y yesos son formaciones evaporíticas que se forman en ambientes de alta evaporación. Son extremadamente eficientes como rocas selladoras debido a su baja permeabilidad y alta densidad.</a:t>
            </a:r>
          </a:p>
          <a:p>
            <a:pPr>
              <a:buFont typeface="Arial" panose="020B0604020202020204" pitchFamily="34" charset="0"/>
              <a:buChar char="•"/>
            </a:pPr>
            <a:r>
              <a:rPr lang="es-ES" b="1" dirty="0"/>
              <a:t>Características</a:t>
            </a:r>
            <a:r>
              <a:rPr lang="es-ES" dirty="0"/>
              <a:t>:</a:t>
            </a:r>
          </a:p>
          <a:p>
            <a:pPr marL="742950" lvl="1" indent="-285750">
              <a:buFont typeface="Arial" panose="020B0604020202020204" pitchFamily="34" charset="0"/>
              <a:buChar char="•"/>
            </a:pPr>
            <a:r>
              <a:rPr lang="es-ES" b="1" dirty="0"/>
              <a:t>Porosidad</a:t>
            </a:r>
            <a:r>
              <a:rPr lang="es-ES" dirty="0"/>
              <a:t>: Muy baja.</a:t>
            </a:r>
          </a:p>
          <a:p>
            <a:pPr marL="742950" lvl="1" indent="-285750">
              <a:buFont typeface="Arial" panose="020B0604020202020204" pitchFamily="34" charset="0"/>
              <a:buChar char="•"/>
            </a:pPr>
            <a:r>
              <a:rPr lang="es-ES" b="1" dirty="0"/>
              <a:t>Permeabilidad</a:t>
            </a:r>
            <a:r>
              <a:rPr lang="es-ES" dirty="0"/>
              <a:t>: Casi nula, lo que las hace muy efectivas como barreras de sellado.</a:t>
            </a:r>
          </a:p>
          <a:p>
            <a:pPr>
              <a:buFont typeface="Arial" panose="020B0604020202020204" pitchFamily="34" charset="0"/>
              <a:buChar char="•"/>
            </a:pPr>
            <a:r>
              <a:rPr lang="es-ES" b="1" dirty="0"/>
              <a:t>Ejemplos</a:t>
            </a:r>
            <a:r>
              <a:rPr lang="es-ES" dirty="0"/>
              <a:t>: Anhidritas en la Cuenca de Permian (EE.UU.).</a:t>
            </a:r>
          </a:p>
          <a:p>
            <a:endParaRPr lang="es-ES" dirty="0"/>
          </a:p>
        </p:txBody>
      </p:sp>
    </p:spTree>
    <p:extLst>
      <p:ext uri="{BB962C8B-B14F-4D97-AF65-F5344CB8AC3E}">
        <p14:creationId xmlns:p14="http://schemas.microsoft.com/office/powerpoint/2010/main" val="3979825603"/>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350D28-EA6D-64D3-8955-0610691D4F5B}"/>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8D258A7F-5912-686E-0746-972263E1FBF5}"/>
              </a:ext>
            </a:extLst>
          </p:cNvPr>
          <p:cNvSpPr>
            <a:spLocks noGrp="1"/>
          </p:cNvSpPr>
          <p:nvPr>
            <p:ph idx="1"/>
          </p:nvPr>
        </p:nvSpPr>
        <p:spPr/>
        <p:txBody>
          <a:bodyPr/>
          <a:lstStyle/>
          <a:p>
            <a:pPr marL="0" indent="0">
              <a:buNone/>
            </a:pPr>
            <a:r>
              <a:rPr lang="es-ES" b="1" dirty="0"/>
              <a:t>Rocas Carbonáticas (algunas calizas)</a:t>
            </a:r>
            <a:endParaRPr lang="es-ES" dirty="0"/>
          </a:p>
          <a:p>
            <a:pPr>
              <a:buFont typeface="Arial" panose="020B0604020202020204" pitchFamily="34" charset="0"/>
              <a:buChar char="•"/>
            </a:pPr>
            <a:r>
              <a:rPr lang="es-ES" b="1" dirty="0"/>
              <a:t>Descripción</a:t>
            </a:r>
            <a:r>
              <a:rPr lang="es-ES" dirty="0"/>
              <a:t>: Algunas calizas pueden actuar como rocas selladoras si están bien compactadas y tienen una baja permeabilidad.</a:t>
            </a:r>
          </a:p>
          <a:p>
            <a:pPr>
              <a:buFont typeface="Arial" panose="020B0604020202020204" pitchFamily="34" charset="0"/>
              <a:buChar char="•"/>
            </a:pPr>
            <a:r>
              <a:rPr lang="es-ES" b="1" dirty="0"/>
              <a:t>Características</a:t>
            </a:r>
            <a:r>
              <a:rPr lang="es-ES" dirty="0"/>
              <a:t>:</a:t>
            </a:r>
          </a:p>
          <a:p>
            <a:pPr marL="742950" lvl="1" indent="-285750">
              <a:buFont typeface="Arial" panose="020B0604020202020204" pitchFamily="34" charset="0"/>
              <a:buChar char="•"/>
            </a:pPr>
            <a:r>
              <a:rPr lang="es-ES" b="1" dirty="0"/>
              <a:t>Porosidad</a:t>
            </a:r>
            <a:r>
              <a:rPr lang="es-ES" dirty="0"/>
              <a:t>: Variable, pero puede ser baja en calizas densas.</a:t>
            </a:r>
          </a:p>
          <a:p>
            <a:pPr marL="742950" lvl="1" indent="-285750">
              <a:buFont typeface="Arial" panose="020B0604020202020204" pitchFamily="34" charset="0"/>
              <a:buChar char="•"/>
            </a:pPr>
            <a:r>
              <a:rPr lang="es-ES" b="1" dirty="0"/>
              <a:t>Permeabilidad</a:t>
            </a:r>
            <a:r>
              <a:rPr lang="es-ES" dirty="0"/>
              <a:t>: Puede ser baja en calizas compactas.</a:t>
            </a:r>
          </a:p>
          <a:p>
            <a:pPr>
              <a:buFont typeface="Arial" panose="020B0604020202020204" pitchFamily="34" charset="0"/>
              <a:buChar char="•"/>
            </a:pPr>
            <a:r>
              <a:rPr lang="es-ES" b="1" dirty="0"/>
              <a:t>Ejemplos</a:t>
            </a:r>
            <a:r>
              <a:rPr lang="es-ES" dirty="0"/>
              <a:t>: Algunas calizas en el Medio Oriente actúan como selladoras.</a:t>
            </a:r>
          </a:p>
          <a:p>
            <a:endParaRPr lang="es-ES" dirty="0"/>
          </a:p>
        </p:txBody>
      </p:sp>
    </p:spTree>
    <p:extLst>
      <p:ext uri="{BB962C8B-B14F-4D97-AF65-F5344CB8AC3E}">
        <p14:creationId xmlns:p14="http://schemas.microsoft.com/office/powerpoint/2010/main" val="223067182"/>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C134EEE-98FF-81A1-4F21-2144EFE2C6C0}"/>
              </a:ext>
            </a:extLst>
          </p:cNvPr>
          <p:cNvSpPr>
            <a:spLocks noGrp="1"/>
          </p:cNvSpPr>
          <p:nvPr>
            <p:ph type="title"/>
          </p:nvPr>
        </p:nvSpPr>
        <p:spPr/>
        <p:txBody>
          <a:bodyPr>
            <a:normAutofit/>
          </a:bodyPr>
          <a:lstStyle/>
          <a:p>
            <a:r>
              <a:rPr lang="es-ES" sz="2800" dirty="0"/>
              <a:t>Funciones de las Rocas Selladoras</a:t>
            </a:r>
          </a:p>
        </p:txBody>
      </p:sp>
      <p:sp>
        <p:nvSpPr>
          <p:cNvPr id="3" name="Marcador de contenido 2">
            <a:extLst>
              <a:ext uri="{FF2B5EF4-FFF2-40B4-BE49-F238E27FC236}">
                <a16:creationId xmlns:a16="http://schemas.microsoft.com/office/drawing/2014/main" id="{0B649117-89F0-5227-1F7D-03B6CE3B656B}"/>
              </a:ext>
            </a:extLst>
          </p:cNvPr>
          <p:cNvSpPr>
            <a:spLocks noGrp="1"/>
          </p:cNvSpPr>
          <p:nvPr>
            <p:ph idx="1"/>
          </p:nvPr>
        </p:nvSpPr>
        <p:spPr/>
        <p:txBody>
          <a:bodyPr/>
          <a:lstStyle/>
          <a:p>
            <a:pPr marL="0" indent="0">
              <a:buNone/>
            </a:pPr>
            <a:r>
              <a:rPr lang="es-ES" b="1" dirty="0"/>
              <a:t>Asegurar la Acumulación de Hidrocarburos</a:t>
            </a:r>
            <a:endParaRPr lang="es-ES" dirty="0"/>
          </a:p>
          <a:p>
            <a:pPr>
              <a:buFont typeface="Arial" panose="020B0604020202020204" pitchFamily="34" charset="0"/>
              <a:buChar char="•"/>
            </a:pPr>
            <a:r>
              <a:rPr lang="es-ES" b="1" dirty="0"/>
              <a:t>Función Principal</a:t>
            </a:r>
            <a:r>
              <a:rPr lang="es-ES" dirty="0"/>
              <a:t>: Actúan como barreras físicas que retienen los hidrocarburos en el reservorio, evitando que se escapen hacia la superficie.</a:t>
            </a:r>
          </a:p>
          <a:p>
            <a:pPr>
              <a:buFont typeface="Arial" panose="020B0604020202020204" pitchFamily="34" charset="0"/>
              <a:buChar char="•"/>
            </a:pPr>
            <a:r>
              <a:rPr lang="es-ES" b="1" dirty="0"/>
              <a:t>Importancia</a:t>
            </a:r>
            <a:r>
              <a:rPr lang="es-ES" dirty="0"/>
              <a:t>: Sin una roca selladora efectiva, los hidrocarburos no podrían acumularse en cantidades significativas y la producción de petróleo y gas sería mucho menos eficiente.</a:t>
            </a:r>
          </a:p>
          <a:p>
            <a:endParaRPr lang="es-ES" dirty="0"/>
          </a:p>
        </p:txBody>
      </p:sp>
    </p:spTree>
    <p:extLst>
      <p:ext uri="{BB962C8B-B14F-4D97-AF65-F5344CB8AC3E}">
        <p14:creationId xmlns:p14="http://schemas.microsoft.com/office/powerpoint/2010/main" val="916064283"/>
      </p:ext>
    </p:extLst>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D770E3F-DA7E-BE53-9FF3-46F78FC53B81}"/>
              </a:ext>
            </a:extLst>
          </p:cNvPr>
          <p:cNvSpPr>
            <a:spLocks noGrp="1"/>
          </p:cNvSpPr>
          <p:nvPr>
            <p:ph idx="1"/>
          </p:nvPr>
        </p:nvSpPr>
        <p:spPr>
          <a:xfrm>
            <a:off x="838200" y="1632857"/>
            <a:ext cx="10515600" cy="4544106"/>
          </a:xfrm>
        </p:spPr>
        <p:txBody>
          <a:bodyPr/>
          <a:lstStyle/>
          <a:p>
            <a:pPr marL="0" indent="0">
              <a:buNone/>
            </a:pPr>
            <a:r>
              <a:rPr lang="es-ES" b="1" dirty="0"/>
              <a:t>Controlar la Migración de Hidrocarburos</a:t>
            </a:r>
            <a:endParaRPr lang="es-ES" dirty="0"/>
          </a:p>
          <a:p>
            <a:pPr>
              <a:buFont typeface="Arial" panose="020B0604020202020204" pitchFamily="34" charset="0"/>
              <a:buChar char="•"/>
            </a:pPr>
            <a:r>
              <a:rPr lang="es-ES" b="1" dirty="0"/>
              <a:t>Función</a:t>
            </a:r>
            <a:r>
              <a:rPr lang="es-ES" dirty="0"/>
              <a:t>: Controlan la migración de hidrocarburos dentro del subsuelo, dirigiéndolos hacia trampas geológicas donde pueden acumularse.</a:t>
            </a:r>
          </a:p>
          <a:p>
            <a:pPr>
              <a:buFont typeface="Arial" panose="020B0604020202020204" pitchFamily="34" charset="0"/>
              <a:buChar char="•"/>
            </a:pPr>
            <a:r>
              <a:rPr lang="es-ES" b="1" dirty="0"/>
              <a:t>Importancia</a:t>
            </a:r>
            <a:r>
              <a:rPr lang="es-ES" dirty="0"/>
              <a:t>: La capacidad de sellado influye en la localización y tamaño de los yacimientos de hidrocarburos.</a:t>
            </a:r>
          </a:p>
          <a:p>
            <a:endParaRPr lang="es-ES" dirty="0"/>
          </a:p>
        </p:txBody>
      </p:sp>
    </p:spTree>
    <p:extLst>
      <p:ext uri="{BB962C8B-B14F-4D97-AF65-F5344CB8AC3E}">
        <p14:creationId xmlns:p14="http://schemas.microsoft.com/office/powerpoint/2010/main" val="2561192766"/>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1F6D533B-6CEC-254F-E25A-9B736E0A628C}"/>
              </a:ext>
            </a:extLst>
          </p:cNvPr>
          <p:cNvSpPr>
            <a:spLocks noGrp="1"/>
          </p:cNvSpPr>
          <p:nvPr>
            <p:ph idx="1"/>
          </p:nvPr>
        </p:nvSpPr>
        <p:spPr>
          <a:xfrm>
            <a:off x="838200" y="1825625"/>
            <a:ext cx="10515600" cy="3287551"/>
          </a:xfrm>
        </p:spPr>
        <p:txBody>
          <a:bodyPr/>
          <a:lstStyle/>
          <a:p>
            <a:pPr marL="0" indent="0">
              <a:buNone/>
            </a:pPr>
            <a:r>
              <a:rPr lang="es-ES" b="1" dirty="0"/>
              <a:t>Proteger los Recursos</a:t>
            </a:r>
            <a:endParaRPr lang="es-ES" dirty="0"/>
          </a:p>
          <a:p>
            <a:pPr>
              <a:buFont typeface="Arial" panose="020B0604020202020204" pitchFamily="34" charset="0"/>
              <a:buChar char="•"/>
            </a:pPr>
            <a:r>
              <a:rPr lang="es-ES" b="1" dirty="0"/>
              <a:t>Función</a:t>
            </a:r>
            <a:r>
              <a:rPr lang="es-ES" dirty="0"/>
              <a:t>: Previenen la pérdida de hidrocarburos debido a fugas, ayudando a conservar y maximizar la producción de un campo.</a:t>
            </a:r>
          </a:p>
          <a:p>
            <a:pPr>
              <a:buFont typeface="Arial" panose="020B0604020202020204" pitchFamily="34" charset="0"/>
              <a:buChar char="•"/>
            </a:pPr>
            <a:r>
              <a:rPr lang="es-ES" b="1" dirty="0"/>
              <a:t>Importancia</a:t>
            </a:r>
            <a:r>
              <a:rPr lang="es-ES" dirty="0"/>
              <a:t>: La integridad de la roca selladora es crucial para la viabilidad económica de un yacimiento.</a:t>
            </a:r>
          </a:p>
          <a:p>
            <a:endParaRPr lang="es-ES" dirty="0"/>
          </a:p>
        </p:txBody>
      </p:sp>
    </p:spTree>
    <p:extLst>
      <p:ext uri="{BB962C8B-B14F-4D97-AF65-F5344CB8AC3E}">
        <p14:creationId xmlns:p14="http://schemas.microsoft.com/office/powerpoint/2010/main" val="2302524027"/>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C918BB-D4AF-D728-905A-8EEF2AC299C8}"/>
              </a:ext>
            </a:extLst>
          </p:cNvPr>
          <p:cNvSpPr>
            <a:spLocks noGrp="1"/>
          </p:cNvSpPr>
          <p:nvPr>
            <p:ph type="title"/>
          </p:nvPr>
        </p:nvSpPr>
        <p:spPr/>
        <p:txBody>
          <a:bodyPr>
            <a:normAutofit/>
          </a:bodyPr>
          <a:lstStyle/>
          <a:p>
            <a:r>
              <a:rPr lang="es-ES" sz="2800" dirty="0"/>
              <a:t>Evaluación de Rocas Selladoras</a:t>
            </a:r>
          </a:p>
        </p:txBody>
      </p:sp>
      <p:sp>
        <p:nvSpPr>
          <p:cNvPr id="3" name="Marcador de contenido 2">
            <a:extLst>
              <a:ext uri="{FF2B5EF4-FFF2-40B4-BE49-F238E27FC236}">
                <a16:creationId xmlns:a16="http://schemas.microsoft.com/office/drawing/2014/main" id="{F10D8C85-3B2B-33D3-DD61-E70FEEA27091}"/>
              </a:ext>
            </a:extLst>
          </p:cNvPr>
          <p:cNvSpPr>
            <a:spLocks noGrp="1"/>
          </p:cNvSpPr>
          <p:nvPr>
            <p:ph idx="1"/>
          </p:nvPr>
        </p:nvSpPr>
        <p:spPr>
          <a:xfrm>
            <a:off x="838200" y="1825625"/>
            <a:ext cx="10515600" cy="4024669"/>
          </a:xfrm>
        </p:spPr>
        <p:txBody>
          <a:bodyPr/>
          <a:lstStyle/>
          <a:p>
            <a:pPr marL="0" indent="0">
              <a:buNone/>
            </a:pPr>
            <a:r>
              <a:rPr lang="es-ES" b="1" dirty="0"/>
              <a:t>Perforación y Muestreo</a:t>
            </a:r>
            <a:endParaRPr lang="es-ES" dirty="0"/>
          </a:p>
          <a:p>
            <a:pPr>
              <a:buFont typeface="Arial" panose="020B0604020202020204" pitchFamily="34" charset="0"/>
              <a:buChar char="•"/>
            </a:pPr>
            <a:r>
              <a:rPr lang="es-ES" b="1" dirty="0"/>
              <a:t>Procedimiento</a:t>
            </a:r>
            <a:r>
              <a:rPr lang="es-ES" dirty="0"/>
              <a:t>: Se obtienen núcleos de roca durante la perforación para analizar sus propiedades físicas y geoquímicas.</a:t>
            </a:r>
          </a:p>
          <a:p>
            <a:pPr>
              <a:buFont typeface="Arial" panose="020B0604020202020204" pitchFamily="34" charset="0"/>
              <a:buChar char="•"/>
            </a:pPr>
            <a:r>
              <a:rPr lang="es-ES" b="1" dirty="0"/>
              <a:t>Análisis</a:t>
            </a:r>
            <a:r>
              <a:rPr lang="es-ES" dirty="0"/>
              <a:t>: Se mide la porosidad y permeabilidad mediante pruebas de laboratorio, y se examinan las propiedades estructurales para determinar la capacidad de sellado.</a:t>
            </a:r>
          </a:p>
          <a:p>
            <a:endParaRPr lang="es-ES" dirty="0"/>
          </a:p>
        </p:txBody>
      </p:sp>
    </p:spTree>
    <p:extLst>
      <p:ext uri="{BB962C8B-B14F-4D97-AF65-F5344CB8AC3E}">
        <p14:creationId xmlns:p14="http://schemas.microsoft.com/office/powerpoint/2010/main" val="871924366"/>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90950662-7481-9E7A-B2AD-21C747D445AD}"/>
              </a:ext>
            </a:extLst>
          </p:cNvPr>
          <p:cNvSpPr>
            <a:spLocks noGrp="1"/>
          </p:cNvSpPr>
          <p:nvPr>
            <p:ph idx="1"/>
          </p:nvPr>
        </p:nvSpPr>
        <p:spPr/>
        <p:txBody>
          <a:bodyPr>
            <a:normAutofit lnSpcReduction="10000"/>
          </a:bodyPr>
          <a:lstStyle/>
          <a:p>
            <a:pPr marL="0" indent="0">
              <a:buNone/>
            </a:pPr>
            <a:r>
              <a:rPr lang="es-ES" b="1" dirty="0"/>
              <a:t>Sísmica y Modelado Geológico</a:t>
            </a:r>
          </a:p>
          <a:p>
            <a:pPr marL="0" indent="0">
              <a:buNone/>
            </a:pPr>
            <a:endParaRPr lang="es-ES" dirty="0"/>
          </a:p>
          <a:p>
            <a:pPr>
              <a:buFont typeface="Arial" panose="020B0604020202020204" pitchFamily="34" charset="0"/>
              <a:buChar char="•"/>
            </a:pPr>
            <a:r>
              <a:rPr lang="es-ES" b="1" dirty="0"/>
              <a:t>Procedimiento</a:t>
            </a:r>
            <a:r>
              <a:rPr lang="es-ES" dirty="0"/>
              <a:t>: Se utilizan estudios sísmicos para mapear la extensión y la continuidad de las rocas selladoras en el subsuelo.</a:t>
            </a:r>
          </a:p>
          <a:p>
            <a:pPr>
              <a:buFont typeface="Arial" panose="020B0604020202020204" pitchFamily="34" charset="0"/>
              <a:buChar char="•"/>
            </a:pPr>
            <a:r>
              <a:rPr lang="es-ES" b="1" dirty="0"/>
              <a:t>Modelado</a:t>
            </a:r>
            <a:r>
              <a:rPr lang="es-ES" dirty="0"/>
              <a:t>: Se construyen modelos tridimensionales para simular la eficacia del sellado y la distribución de los hidrocarburos.</a:t>
            </a:r>
          </a:p>
          <a:p>
            <a:pPr marL="0" indent="0">
              <a:buNone/>
            </a:pPr>
            <a:r>
              <a:rPr lang="es-ES" b="1" dirty="0"/>
              <a:t>Pruebas de Integridad</a:t>
            </a:r>
            <a:endParaRPr lang="es-ES" dirty="0"/>
          </a:p>
          <a:p>
            <a:pPr>
              <a:buFont typeface="Arial" panose="020B0604020202020204" pitchFamily="34" charset="0"/>
              <a:buChar char="•"/>
            </a:pPr>
            <a:r>
              <a:rPr lang="es-ES" b="1" dirty="0"/>
              <a:t>Procedimiento</a:t>
            </a:r>
            <a:r>
              <a:rPr lang="es-ES" dirty="0"/>
              <a:t>: Se realizan pruebas para verificar la integridad de la roca selladora, incluyendo la evaluación de posibles fracturas o fallas que podrían comprometer su capacidad de sellado.</a:t>
            </a:r>
          </a:p>
          <a:p>
            <a:pPr>
              <a:buFont typeface="Arial" panose="020B0604020202020204" pitchFamily="34" charset="0"/>
              <a:buChar char="•"/>
            </a:pPr>
            <a:endParaRPr lang="es-ES" dirty="0"/>
          </a:p>
          <a:p>
            <a:endParaRPr lang="es-ES" dirty="0"/>
          </a:p>
        </p:txBody>
      </p:sp>
    </p:spTree>
    <p:extLst>
      <p:ext uri="{BB962C8B-B14F-4D97-AF65-F5344CB8AC3E}">
        <p14:creationId xmlns:p14="http://schemas.microsoft.com/office/powerpoint/2010/main" val="1731638993"/>
      </p:ext>
    </p:extLst>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74A5CB8-DF1F-6556-8D4C-940EFC4DF432}"/>
              </a:ext>
            </a:extLst>
          </p:cNvPr>
          <p:cNvSpPr>
            <a:spLocks noGrp="1"/>
          </p:cNvSpPr>
          <p:nvPr>
            <p:ph idx="1"/>
          </p:nvPr>
        </p:nvSpPr>
        <p:spPr/>
        <p:txBody>
          <a:bodyPr/>
          <a:lstStyle/>
          <a:p>
            <a:endParaRPr lang="es-ES" dirty="0"/>
          </a:p>
          <a:p>
            <a:endParaRPr lang="es-ES" dirty="0"/>
          </a:p>
          <a:p>
            <a:r>
              <a:rPr lang="es-ES" dirty="0"/>
              <a:t>Formación </a:t>
            </a:r>
            <a:r>
              <a:rPr lang="es-ES" dirty="0" err="1"/>
              <a:t>Seal</a:t>
            </a:r>
            <a:r>
              <a:rPr lang="es-ES" dirty="0"/>
              <a:t> (Medio Oriente): Las anhidritas y lutitas actúan como selladoras en numerosos campos de petróleo.</a:t>
            </a:r>
          </a:p>
          <a:p>
            <a:endParaRPr lang="es-ES" dirty="0"/>
          </a:p>
          <a:p>
            <a:r>
              <a:rPr lang="es-ES" dirty="0"/>
              <a:t>Formación Barnett </a:t>
            </a:r>
            <a:r>
              <a:rPr lang="es-ES" dirty="0" err="1"/>
              <a:t>Shale</a:t>
            </a:r>
            <a:r>
              <a:rPr lang="es-ES" dirty="0"/>
              <a:t> (EE.UU.): Aunque es una roca madre en parte, también actúa como selladora en algunos contextos.</a:t>
            </a:r>
          </a:p>
        </p:txBody>
      </p:sp>
      <p:sp>
        <p:nvSpPr>
          <p:cNvPr id="4" name="Título 1">
            <a:extLst>
              <a:ext uri="{FF2B5EF4-FFF2-40B4-BE49-F238E27FC236}">
                <a16:creationId xmlns:a16="http://schemas.microsoft.com/office/drawing/2014/main" id="{6845006F-247B-9025-0326-8E9438D1C4AF}"/>
              </a:ext>
            </a:extLst>
          </p:cNvPr>
          <p:cNvSpPr>
            <a:spLocks noGrp="1"/>
          </p:cNvSpPr>
          <p:nvPr>
            <p:ph type="title"/>
          </p:nvPr>
        </p:nvSpPr>
        <p:spPr>
          <a:xfrm>
            <a:off x="838200" y="365125"/>
            <a:ext cx="10515600" cy="1325563"/>
          </a:xfrm>
        </p:spPr>
        <p:txBody>
          <a:bodyPr>
            <a:normAutofit/>
          </a:bodyPr>
          <a:lstStyle/>
          <a:p>
            <a:r>
              <a:rPr lang="es-ES" sz="2800" dirty="0"/>
              <a:t>Ejemplos Notables a Nivel Mundial</a:t>
            </a:r>
            <a:endParaRPr lang="es-ES" sz="6000" dirty="0"/>
          </a:p>
        </p:txBody>
      </p:sp>
    </p:spTree>
    <p:extLst>
      <p:ext uri="{BB962C8B-B14F-4D97-AF65-F5344CB8AC3E}">
        <p14:creationId xmlns:p14="http://schemas.microsoft.com/office/powerpoint/2010/main" val="3127852688"/>
      </p:ext>
    </p:extLst>
  </p:cSld>
  <p:clrMapOvr>
    <a:masterClrMapping/>
  </p:clrMapOvr>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2A6C7F0B-3D79-3279-4CFE-4745200A4A0F}"/>
              </a:ext>
            </a:extLst>
          </p:cNvPr>
          <p:cNvSpPr>
            <a:spLocks noGrp="1"/>
          </p:cNvSpPr>
          <p:nvPr>
            <p:ph type="title"/>
          </p:nvPr>
        </p:nvSpPr>
        <p:spPr/>
        <p:txBody>
          <a:bodyPr>
            <a:normAutofit/>
          </a:bodyPr>
          <a:lstStyle/>
          <a:p>
            <a:r>
              <a:rPr lang="es-ES" sz="2800" dirty="0"/>
              <a:t>Consideraciones en Perú</a:t>
            </a:r>
          </a:p>
        </p:txBody>
      </p:sp>
      <p:sp>
        <p:nvSpPr>
          <p:cNvPr id="3" name="Marcador de contenido 2">
            <a:extLst>
              <a:ext uri="{FF2B5EF4-FFF2-40B4-BE49-F238E27FC236}">
                <a16:creationId xmlns:a16="http://schemas.microsoft.com/office/drawing/2014/main" id="{8D15A88B-36CD-D5BF-A2A0-9EBAFE42BB58}"/>
              </a:ext>
            </a:extLst>
          </p:cNvPr>
          <p:cNvSpPr>
            <a:spLocks noGrp="1"/>
          </p:cNvSpPr>
          <p:nvPr>
            <p:ph idx="1"/>
          </p:nvPr>
        </p:nvSpPr>
        <p:spPr/>
        <p:txBody>
          <a:bodyPr/>
          <a:lstStyle/>
          <a:p>
            <a:r>
              <a:rPr lang="es-ES" dirty="0"/>
              <a:t>En Perú, las rocas selladoras en las principales cuencas sedimentarias, como la Cuenca Marañón y la Cuenca Ucayali, son fundamentales para la acumulación de hidrocarburos. Las lutitas y margas en estas cuencas juegan un papel crucial en el sellado de los reservorios de petróleo y gas natural.</a:t>
            </a:r>
          </a:p>
          <a:p>
            <a:r>
              <a:rPr lang="es-ES" dirty="0"/>
              <a:t>En resumen, las rocas selladoras son esenciales para la formación y conservación de yacimientos de hidrocarburos. Su estudio detallado es fundamental para la exploración y explotación exitosa de recursos energéticos, asegurando que los hidrocarburos permanezcan atrapados en el subsuelo y no se escapen hacia la superficie.</a:t>
            </a:r>
          </a:p>
          <a:p>
            <a:endParaRPr lang="es-ES" dirty="0"/>
          </a:p>
        </p:txBody>
      </p:sp>
    </p:spTree>
    <p:extLst>
      <p:ext uri="{BB962C8B-B14F-4D97-AF65-F5344CB8AC3E}">
        <p14:creationId xmlns:p14="http://schemas.microsoft.com/office/powerpoint/2010/main" val="1940887614"/>
      </p:ext>
    </p:extLst>
  </p:cSld>
  <p:clrMapOvr>
    <a:masterClrMapping/>
  </p:clrMapOvr>
</p:sld>
</file>

<file path=ppt/slides/slide5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A712D7B-9E8D-0248-8DCF-6FB6EEC0663F}"/>
              </a:ext>
            </a:extLst>
          </p:cNvPr>
          <p:cNvSpPr>
            <a:spLocks noGrp="1"/>
          </p:cNvSpPr>
          <p:nvPr>
            <p:ph type="title"/>
          </p:nvPr>
        </p:nvSpPr>
        <p:spPr>
          <a:xfrm>
            <a:off x="653143" y="446768"/>
            <a:ext cx="8997043" cy="1300389"/>
          </a:xfrm>
        </p:spPr>
        <p:txBody>
          <a:bodyPr>
            <a:normAutofit/>
          </a:bodyPr>
          <a:lstStyle/>
          <a:p>
            <a:r>
              <a:rPr lang="es-ES" sz="2800" dirty="0"/>
              <a:t>PROSPECCION GEOQUIMICA DE HIDROCARBUROS</a:t>
            </a:r>
          </a:p>
        </p:txBody>
      </p:sp>
      <p:sp>
        <p:nvSpPr>
          <p:cNvPr id="3" name="Marcador de contenido 2">
            <a:extLst>
              <a:ext uri="{FF2B5EF4-FFF2-40B4-BE49-F238E27FC236}">
                <a16:creationId xmlns:a16="http://schemas.microsoft.com/office/drawing/2014/main" id="{B3E117FA-39D5-1874-319E-7D16F8A19E14}"/>
              </a:ext>
            </a:extLst>
          </p:cNvPr>
          <p:cNvSpPr>
            <a:spLocks noGrp="1"/>
          </p:cNvSpPr>
          <p:nvPr>
            <p:ph idx="1"/>
          </p:nvPr>
        </p:nvSpPr>
        <p:spPr>
          <a:xfrm>
            <a:off x="653143" y="2691039"/>
            <a:ext cx="10330543" cy="2305504"/>
          </a:xfrm>
        </p:spPr>
        <p:txBody>
          <a:bodyPr/>
          <a:lstStyle/>
          <a:p>
            <a:pPr marL="0" indent="0">
              <a:buNone/>
            </a:pPr>
            <a:r>
              <a:rPr lang="es-ES" dirty="0"/>
              <a:t>La prospección geoquímica de hidrocarburos es una técnica utilizada para identificar y evaluar la presencia de depósitos de petróleo y gas natural en la tierra. Se basa en el análisis de muestras de suelo, agua y rocas para detectar trazas de compuestos orgánicos relacionados con hidrocarburos</a:t>
            </a:r>
          </a:p>
        </p:txBody>
      </p:sp>
    </p:spTree>
    <p:extLst>
      <p:ext uri="{BB962C8B-B14F-4D97-AF65-F5344CB8AC3E}">
        <p14:creationId xmlns:p14="http://schemas.microsoft.com/office/powerpoint/2010/main" val="2780621169"/>
      </p:ext>
    </p:extLst>
  </p:cSld>
  <p:clrMapOvr>
    <a:masterClrMapping/>
  </p:clrMapOvr>
</p:sld>
</file>

<file path=ppt/slides/slide5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C93B06-50BD-D2D0-EC4E-DBD279E0FEC2}"/>
              </a:ext>
            </a:extLst>
          </p:cNvPr>
          <p:cNvSpPr>
            <a:spLocks noGrp="1"/>
          </p:cNvSpPr>
          <p:nvPr>
            <p:ph type="title"/>
          </p:nvPr>
        </p:nvSpPr>
        <p:spPr/>
        <p:txBody>
          <a:bodyPr>
            <a:normAutofit/>
          </a:bodyPr>
          <a:lstStyle/>
          <a:p>
            <a:r>
              <a:rPr lang="es-ES" sz="2800" dirty="0"/>
              <a:t>FUNDAMENTOS</a:t>
            </a:r>
          </a:p>
        </p:txBody>
      </p:sp>
      <p:sp>
        <p:nvSpPr>
          <p:cNvPr id="3" name="Marcador de contenido 2">
            <a:extLst>
              <a:ext uri="{FF2B5EF4-FFF2-40B4-BE49-F238E27FC236}">
                <a16:creationId xmlns:a16="http://schemas.microsoft.com/office/drawing/2014/main" id="{07139950-CB42-2130-145F-41CC85C744B8}"/>
              </a:ext>
            </a:extLst>
          </p:cNvPr>
          <p:cNvSpPr>
            <a:spLocks noGrp="1"/>
          </p:cNvSpPr>
          <p:nvPr>
            <p:ph idx="1"/>
          </p:nvPr>
        </p:nvSpPr>
        <p:spPr>
          <a:xfrm>
            <a:off x="838200" y="1963056"/>
            <a:ext cx="10199914" cy="2925989"/>
          </a:xfrm>
        </p:spPr>
        <p:txBody>
          <a:bodyPr/>
          <a:lstStyle/>
          <a:p>
            <a:pPr algn="just"/>
            <a:r>
              <a:rPr lang="es-ES" dirty="0"/>
              <a:t>La prospección geoquímica se basa en el principio de que los hidrocarburos, cuando están presentes en el subsuelo, pueden migrar hacia la superficie a través de fracturas y poros en la roca. Estos hidrocarburos pueden ser detectados en la superficie en forma de gases, líquidos o sólidos, proporcionando pistas sobre la presencia de depósitos en profundidad.</a:t>
            </a:r>
          </a:p>
        </p:txBody>
      </p:sp>
    </p:spTree>
    <p:extLst>
      <p:ext uri="{BB962C8B-B14F-4D97-AF65-F5344CB8AC3E}">
        <p14:creationId xmlns:p14="http://schemas.microsoft.com/office/powerpoint/2010/main" val="2663513913"/>
      </p:ext>
    </p:extLst>
  </p:cSld>
  <p:clrMapOvr>
    <a:masterClrMapping/>
  </p:clrMapOvr>
</p:sld>
</file>

<file path=ppt/slides/slide5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2120399-1E7F-2061-8C96-22A47401EC35}"/>
              </a:ext>
            </a:extLst>
          </p:cNvPr>
          <p:cNvSpPr>
            <a:spLocks noGrp="1"/>
          </p:cNvSpPr>
          <p:nvPr>
            <p:ph type="title"/>
          </p:nvPr>
        </p:nvSpPr>
        <p:spPr/>
        <p:txBody>
          <a:bodyPr/>
          <a:lstStyle/>
          <a:p>
            <a:r>
              <a:rPr lang="es-ES" dirty="0"/>
              <a:t>METODOLOGIA</a:t>
            </a:r>
          </a:p>
        </p:txBody>
      </p:sp>
      <p:sp>
        <p:nvSpPr>
          <p:cNvPr id="3" name="Marcador de contenido 2">
            <a:extLst>
              <a:ext uri="{FF2B5EF4-FFF2-40B4-BE49-F238E27FC236}">
                <a16:creationId xmlns:a16="http://schemas.microsoft.com/office/drawing/2014/main" id="{DF166E17-2D4E-1525-DE4D-2279E48D1244}"/>
              </a:ext>
            </a:extLst>
          </p:cNvPr>
          <p:cNvSpPr>
            <a:spLocks noGrp="1"/>
          </p:cNvSpPr>
          <p:nvPr>
            <p:ph idx="1"/>
          </p:nvPr>
        </p:nvSpPr>
        <p:spPr>
          <a:xfrm>
            <a:off x="674914" y="1690688"/>
            <a:ext cx="10515600" cy="4351338"/>
          </a:xfrm>
        </p:spPr>
        <p:txBody>
          <a:bodyPr>
            <a:normAutofit lnSpcReduction="10000"/>
          </a:bodyPr>
          <a:lstStyle/>
          <a:p>
            <a:pPr marL="0" indent="0" algn="just">
              <a:buNone/>
            </a:pPr>
            <a:r>
              <a:rPr lang="es-ES" dirty="0"/>
              <a:t>1. </a:t>
            </a:r>
            <a:r>
              <a:rPr lang="es-ES" b="1" dirty="0"/>
              <a:t>Selección del Área de Estudio:</a:t>
            </a:r>
          </a:p>
          <a:p>
            <a:pPr algn="just"/>
            <a:r>
              <a:rPr lang="es-ES" dirty="0"/>
              <a:t>Se elige un área basada en estudios geológicos previos, como mapas de estructuras geológicas, y datos sísmicos.</a:t>
            </a:r>
          </a:p>
          <a:p>
            <a:pPr marL="514350" indent="-514350" algn="just">
              <a:buAutoNum type="arabicPeriod" startAt="2"/>
            </a:pPr>
            <a:r>
              <a:rPr lang="es-ES" b="1" dirty="0"/>
              <a:t>Recolección de Muestras: </a:t>
            </a:r>
          </a:p>
          <a:p>
            <a:pPr algn="just"/>
            <a:r>
              <a:rPr lang="es-ES" b="1" dirty="0"/>
              <a:t>Suelo: </a:t>
            </a:r>
            <a:r>
              <a:rPr lang="es-ES" dirty="0"/>
              <a:t>Se toma una muestra de suelo en la superficie para analizar la presencia de hidrocarburos o sus productos de descomposición.</a:t>
            </a:r>
          </a:p>
          <a:p>
            <a:pPr algn="just"/>
            <a:r>
              <a:rPr lang="es-ES" b="1" dirty="0"/>
              <a:t>Agua: </a:t>
            </a:r>
            <a:r>
              <a:rPr lang="es-ES" dirty="0"/>
              <a:t>Se recogen muestras de agua subterránea y superficial para detectar compuestos relacionados con hidrocarburos.</a:t>
            </a:r>
          </a:p>
          <a:p>
            <a:pPr algn="just"/>
            <a:r>
              <a:rPr lang="es-ES" b="1" dirty="0"/>
              <a:t>Rocas: </a:t>
            </a:r>
            <a:r>
              <a:rPr lang="es-ES" dirty="0"/>
              <a:t>Se analizan muestras de rocas para identificar minerales que puedan estar asociados con acumulaciones de hidrocarburos.</a:t>
            </a:r>
          </a:p>
        </p:txBody>
      </p:sp>
    </p:spTree>
    <p:extLst>
      <p:ext uri="{BB962C8B-B14F-4D97-AF65-F5344CB8AC3E}">
        <p14:creationId xmlns:p14="http://schemas.microsoft.com/office/powerpoint/2010/main" val="4177194210"/>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3211C964-3F4C-9DA1-3A7B-60347B520079}"/>
              </a:ext>
            </a:extLst>
          </p:cNvPr>
          <p:cNvSpPr>
            <a:spLocks noGrp="1"/>
          </p:cNvSpPr>
          <p:nvPr>
            <p:ph idx="1"/>
          </p:nvPr>
        </p:nvSpPr>
        <p:spPr>
          <a:xfrm>
            <a:off x="838200" y="1387929"/>
            <a:ext cx="10515600" cy="4441371"/>
          </a:xfrm>
        </p:spPr>
        <p:txBody>
          <a:bodyPr/>
          <a:lstStyle/>
          <a:p>
            <a:pPr marL="514350" indent="-514350" algn="just">
              <a:buAutoNum type="arabicPeriod" startAt="3"/>
            </a:pPr>
            <a:r>
              <a:rPr lang="es-ES" dirty="0"/>
              <a:t>Preparación y Análisis de Muestras:</a:t>
            </a:r>
          </a:p>
          <a:p>
            <a:pPr marL="0" indent="0" algn="just">
              <a:buNone/>
            </a:pPr>
            <a:endParaRPr lang="es-ES" dirty="0"/>
          </a:p>
          <a:p>
            <a:pPr algn="just"/>
            <a:r>
              <a:rPr lang="es-ES" dirty="0"/>
              <a:t>Preparación de Muestras: Las muestras de suelo y rocas se preparan mediante secado, trituración y tamizado. Las muestras de agua se filtran y se tratan para eliminar impurezas.</a:t>
            </a:r>
          </a:p>
          <a:p>
            <a:pPr algn="just"/>
            <a:r>
              <a:rPr lang="es-ES" dirty="0"/>
              <a:t>Análisis Químico: Se utilizan técnicas como cromatografía de gases, espectrometría de masas y otros métodos analíticos para identificar y cuantificar compuestos orgánicos en las muestras. Estos compuestos pueden incluir hidrocarburos libres, compuestos de biomarcadores y gases como metano, etano y propano.</a:t>
            </a:r>
          </a:p>
        </p:txBody>
      </p:sp>
    </p:spTree>
    <p:extLst>
      <p:ext uri="{BB962C8B-B14F-4D97-AF65-F5344CB8AC3E}">
        <p14:creationId xmlns:p14="http://schemas.microsoft.com/office/powerpoint/2010/main" val="3859899868"/>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B7F5DB7-3589-1A5E-3077-1F58C2846369}"/>
              </a:ext>
            </a:extLst>
          </p:cNvPr>
          <p:cNvSpPr>
            <a:spLocks noGrp="1"/>
          </p:cNvSpPr>
          <p:nvPr>
            <p:ph idx="1"/>
          </p:nvPr>
        </p:nvSpPr>
        <p:spPr>
          <a:xfrm>
            <a:off x="838200" y="1273629"/>
            <a:ext cx="10515600" cy="3820885"/>
          </a:xfrm>
        </p:spPr>
        <p:txBody>
          <a:bodyPr/>
          <a:lstStyle/>
          <a:p>
            <a:pPr marL="0" indent="0">
              <a:buNone/>
            </a:pPr>
            <a:r>
              <a:rPr lang="es-ES" dirty="0"/>
              <a:t>4. Interpretación de Datos:</a:t>
            </a:r>
          </a:p>
          <a:p>
            <a:pPr algn="just"/>
            <a:r>
              <a:rPr lang="es-ES" dirty="0"/>
              <a:t>Mapeo Geoquímico: Los datos obtenidos se utilizan para crear mapas que muestran la distribución de compuestos relacionados con hidrocarburos en la superficie.</a:t>
            </a:r>
          </a:p>
          <a:p>
            <a:pPr algn="just"/>
            <a:r>
              <a:rPr lang="es-ES" dirty="0"/>
              <a:t>Evaluación de Anomalías: Se buscan anomalías en la concentración de compuestos que pueden indicar la presencia de depósitos subyacentes. Las anomalías pueden relacionarse con acumulaciones de hidrocarburos o con migración de estos desde depósitos profundos.</a:t>
            </a:r>
          </a:p>
        </p:txBody>
      </p:sp>
    </p:spTree>
    <p:extLst>
      <p:ext uri="{BB962C8B-B14F-4D97-AF65-F5344CB8AC3E}">
        <p14:creationId xmlns:p14="http://schemas.microsoft.com/office/powerpoint/2010/main" val="3507060704"/>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AFC19AC-58A1-51B4-8A68-A261771B312E}"/>
              </a:ext>
            </a:extLst>
          </p:cNvPr>
          <p:cNvSpPr>
            <a:spLocks noGrp="1"/>
          </p:cNvSpPr>
          <p:nvPr>
            <p:ph type="title"/>
          </p:nvPr>
        </p:nvSpPr>
        <p:spPr/>
        <p:txBody>
          <a:bodyPr/>
          <a:lstStyle/>
          <a:p>
            <a:r>
              <a:rPr lang="es-ES" dirty="0"/>
              <a:t>TIPO DE ANALISIS</a:t>
            </a:r>
          </a:p>
        </p:txBody>
      </p:sp>
      <p:sp>
        <p:nvSpPr>
          <p:cNvPr id="3" name="Marcador de contenido 2">
            <a:extLst>
              <a:ext uri="{FF2B5EF4-FFF2-40B4-BE49-F238E27FC236}">
                <a16:creationId xmlns:a16="http://schemas.microsoft.com/office/drawing/2014/main" id="{04786AA9-DEA3-C57E-2164-2CD551A870FD}"/>
              </a:ext>
            </a:extLst>
          </p:cNvPr>
          <p:cNvSpPr>
            <a:spLocks noGrp="1"/>
          </p:cNvSpPr>
          <p:nvPr>
            <p:ph idx="1"/>
          </p:nvPr>
        </p:nvSpPr>
        <p:spPr>
          <a:xfrm>
            <a:off x="587829" y="1825625"/>
            <a:ext cx="10765971" cy="4351338"/>
          </a:xfrm>
        </p:spPr>
        <p:txBody>
          <a:bodyPr/>
          <a:lstStyle/>
          <a:p>
            <a:pPr marL="0" indent="0">
              <a:buNone/>
            </a:pPr>
            <a:r>
              <a:rPr lang="es-ES" dirty="0"/>
              <a:t>1. Análisis de Hidrocarburos Libres:</a:t>
            </a:r>
          </a:p>
          <a:p>
            <a:pPr algn="just"/>
            <a:r>
              <a:rPr lang="es-ES" dirty="0"/>
              <a:t>Métodos Directos: Se buscan hidrocarburos no combinados en las muestras. La presencia de estos puede indicar migración desde depósitos subyacentes.</a:t>
            </a:r>
          </a:p>
          <a:p>
            <a:pPr marL="0" indent="0">
              <a:buNone/>
            </a:pPr>
            <a:r>
              <a:rPr lang="es-ES" dirty="0"/>
              <a:t>2. Análisis de Biomarcadores:</a:t>
            </a:r>
            <a:br>
              <a:rPr lang="es-ES" dirty="0"/>
            </a:br>
            <a:r>
              <a:rPr lang="es-ES" dirty="0"/>
              <a:t>. Compuestos Orgánicos: Los biomarcadores son compuestos orgánicos específicos que ayudan a identificar el tipo de materia orgánica y las condiciones de formación de los hidrocarburos.</a:t>
            </a:r>
          </a:p>
        </p:txBody>
      </p:sp>
    </p:spTree>
    <p:extLst>
      <p:ext uri="{BB962C8B-B14F-4D97-AF65-F5344CB8AC3E}">
        <p14:creationId xmlns:p14="http://schemas.microsoft.com/office/powerpoint/2010/main" val="309027663"/>
      </p:ext>
    </p:extLst>
  </p:cSld>
  <p:clrMapOvr>
    <a:masterClrMapping/>
  </p:clrMapOvr>
</p:sld>
</file>

<file path=ppt/slides/slide5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1F8E7447-0CEE-7374-DC60-035E952CF320}"/>
              </a:ext>
            </a:extLst>
          </p:cNvPr>
          <p:cNvSpPr>
            <a:spLocks noGrp="1"/>
          </p:cNvSpPr>
          <p:nvPr>
            <p:ph type="title"/>
          </p:nvPr>
        </p:nvSpPr>
        <p:spPr/>
        <p:txBody>
          <a:bodyPr/>
          <a:lstStyle/>
          <a:p>
            <a:endParaRPr lang="es-ES" dirty="0"/>
          </a:p>
        </p:txBody>
      </p:sp>
      <p:sp>
        <p:nvSpPr>
          <p:cNvPr id="3" name="Marcador de contenido 2">
            <a:extLst>
              <a:ext uri="{FF2B5EF4-FFF2-40B4-BE49-F238E27FC236}">
                <a16:creationId xmlns:a16="http://schemas.microsoft.com/office/drawing/2014/main" id="{D058C004-D98D-6663-4397-F1A407CEA2DF}"/>
              </a:ext>
            </a:extLst>
          </p:cNvPr>
          <p:cNvSpPr>
            <a:spLocks noGrp="1"/>
          </p:cNvSpPr>
          <p:nvPr>
            <p:ph idx="1"/>
          </p:nvPr>
        </p:nvSpPr>
        <p:spPr/>
        <p:txBody>
          <a:bodyPr/>
          <a:lstStyle/>
          <a:p>
            <a:pPr marL="0" indent="0">
              <a:buNone/>
            </a:pPr>
            <a:r>
              <a:rPr lang="es-ES" dirty="0"/>
              <a:t>4. Análisis de Gases:</a:t>
            </a:r>
          </a:p>
          <a:p>
            <a:pPr algn="just"/>
            <a:r>
              <a:rPr lang="es-ES" dirty="0"/>
              <a:t>Gases del Suelo: La medición de gases como metano, etano y propano en el suelo puede indicar la presencia de hidrocarburos en el subsuelo.</a:t>
            </a:r>
          </a:p>
        </p:txBody>
      </p:sp>
    </p:spTree>
    <p:extLst>
      <p:ext uri="{BB962C8B-B14F-4D97-AF65-F5344CB8AC3E}">
        <p14:creationId xmlns:p14="http://schemas.microsoft.com/office/powerpoint/2010/main" val="865651978"/>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F893B3A-C13C-348B-A43C-30AEAB65B976}"/>
              </a:ext>
            </a:extLst>
          </p:cNvPr>
          <p:cNvSpPr>
            <a:spLocks noGrp="1"/>
          </p:cNvSpPr>
          <p:nvPr>
            <p:ph type="title"/>
          </p:nvPr>
        </p:nvSpPr>
        <p:spPr>
          <a:xfrm>
            <a:off x="838200" y="365125"/>
            <a:ext cx="7571014" cy="1325563"/>
          </a:xfrm>
        </p:spPr>
        <p:txBody>
          <a:bodyPr>
            <a:normAutofit/>
          </a:bodyPr>
          <a:lstStyle/>
          <a:p>
            <a:r>
              <a:rPr lang="es-ES" sz="2800" dirty="0"/>
              <a:t>VENTAJAS Y LIMITACIONES </a:t>
            </a:r>
          </a:p>
        </p:txBody>
      </p:sp>
      <p:sp>
        <p:nvSpPr>
          <p:cNvPr id="3" name="Marcador de contenido 2">
            <a:extLst>
              <a:ext uri="{FF2B5EF4-FFF2-40B4-BE49-F238E27FC236}">
                <a16:creationId xmlns:a16="http://schemas.microsoft.com/office/drawing/2014/main" id="{1A0E2B3E-0F2F-7130-E3F5-B59EF0E527EA}"/>
              </a:ext>
            </a:extLst>
          </p:cNvPr>
          <p:cNvSpPr>
            <a:spLocks noGrp="1"/>
          </p:cNvSpPr>
          <p:nvPr>
            <p:ph idx="1"/>
          </p:nvPr>
        </p:nvSpPr>
        <p:spPr/>
        <p:txBody>
          <a:bodyPr>
            <a:normAutofit fontScale="92500" lnSpcReduction="10000"/>
          </a:bodyPr>
          <a:lstStyle/>
          <a:p>
            <a:pPr marL="0" indent="0">
              <a:buNone/>
            </a:pPr>
            <a:r>
              <a:rPr lang="es-ES" b="1" dirty="0"/>
              <a:t>Ventajas:</a:t>
            </a:r>
          </a:p>
          <a:p>
            <a:r>
              <a:rPr lang="es-ES" dirty="0"/>
              <a:t>Detección Temprana: Permite la identificación de áreas con potencial de hidrocarburos antes de realizar perforaciones </a:t>
            </a:r>
            <a:r>
              <a:rPr lang="es-ES" dirty="0" err="1"/>
              <a:t>costosas.Costo</a:t>
            </a:r>
            <a:r>
              <a:rPr lang="es-ES" dirty="0"/>
              <a:t> Relativamente Bajo: Comparado con métodos como la perforación o la sísmica, es menos costoso.</a:t>
            </a:r>
          </a:p>
          <a:p>
            <a:pPr marL="0" indent="0">
              <a:buNone/>
            </a:pPr>
            <a:r>
              <a:rPr lang="es-ES" b="1" dirty="0"/>
              <a:t>Limitaciones:</a:t>
            </a:r>
          </a:p>
          <a:p>
            <a:r>
              <a:rPr lang="es-ES" dirty="0"/>
              <a:t>Sensibilidad a Condiciones Ambientales: Los resultados pueden verse afectados por contaminantes y condiciones ambientales.</a:t>
            </a:r>
          </a:p>
          <a:p>
            <a:r>
              <a:rPr lang="es-ES" dirty="0"/>
              <a:t>Interpretación Compleja: La presencia de hidrocarburos no siempre se traduce en depósitos comerciales, ya que puede haber migración y dispersión de compuestos.</a:t>
            </a:r>
          </a:p>
        </p:txBody>
      </p:sp>
    </p:spTree>
    <p:extLst>
      <p:ext uri="{BB962C8B-B14F-4D97-AF65-F5344CB8AC3E}">
        <p14:creationId xmlns:p14="http://schemas.microsoft.com/office/powerpoint/2010/main" val="3470858010"/>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C4A2B2A-3241-757E-6B69-294C9BE25C96}"/>
              </a:ext>
            </a:extLst>
          </p:cNvPr>
          <p:cNvSpPr>
            <a:spLocks noGrp="1"/>
          </p:cNvSpPr>
          <p:nvPr>
            <p:ph type="title"/>
          </p:nvPr>
        </p:nvSpPr>
        <p:spPr/>
        <p:txBody>
          <a:bodyPr>
            <a:normAutofit/>
          </a:bodyPr>
          <a:lstStyle/>
          <a:p>
            <a:r>
              <a:rPr lang="es-ES" sz="2800" dirty="0"/>
              <a:t>APLICACIONES</a:t>
            </a:r>
          </a:p>
        </p:txBody>
      </p:sp>
      <p:sp>
        <p:nvSpPr>
          <p:cNvPr id="3" name="Marcador de contenido 2">
            <a:extLst>
              <a:ext uri="{FF2B5EF4-FFF2-40B4-BE49-F238E27FC236}">
                <a16:creationId xmlns:a16="http://schemas.microsoft.com/office/drawing/2014/main" id="{E316B5B9-71C6-8AFC-BFAF-B39E35212F7C}"/>
              </a:ext>
            </a:extLst>
          </p:cNvPr>
          <p:cNvSpPr>
            <a:spLocks noGrp="1"/>
          </p:cNvSpPr>
          <p:nvPr>
            <p:ph idx="1"/>
          </p:nvPr>
        </p:nvSpPr>
        <p:spPr>
          <a:xfrm>
            <a:off x="838200" y="1825625"/>
            <a:ext cx="10515600" cy="3317875"/>
          </a:xfrm>
        </p:spPr>
        <p:txBody>
          <a:bodyPr/>
          <a:lstStyle/>
          <a:p>
            <a:r>
              <a:rPr lang="es-ES" b="1" dirty="0"/>
              <a:t>Exploración: </a:t>
            </a:r>
            <a:r>
              <a:rPr lang="es-ES" dirty="0"/>
              <a:t>Utilizada en la etapa inicial de exploración para seleccionar áreas de interés.</a:t>
            </a:r>
          </a:p>
          <a:p>
            <a:r>
              <a:rPr lang="es-ES" b="1" dirty="0"/>
              <a:t>Evaluación de Recursos: </a:t>
            </a:r>
            <a:r>
              <a:rPr lang="es-ES" dirty="0"/>
              <a:t>Ayuda a evaluar la viabilidad económica de las reservas potenciales.</a:t>
            </a:r>
          </a:p>
          <a:p>
            <a:r>
              <a:rPr lang="es-ES" b="1" dirty="0"/>
              <a:t>Monitoreo Ambiental: </a:t>
            </a:r>
            <a:r>
              <a:rPr lang="es-ES" dirty="0"/>
              <a:t>Se puede usar para detectar posibles fugas de hidrocarburos y evaluar el impacto ambiental.</a:t>
            </a:r>
          </a:p>
        </p:txBody>
      </p:sp>
    </p:spTree>
    <p:extLst>
      <p:ext uri="{BB962C8B-B14F-4D97-AF65-F5344CB8AC3E}">
        <p14:creationId xmlns:p14="http://schemas.microsoft.com/office/powerpoint/2010/main" val="2763228159"/>
      </p:ext>
    </p:extLst>
  </p:cSld>
  <p:clrMapOvr>
    <a:masterClrMapping/>
  </p:clrMapOvr>
</p:sld>
</file>

<file path=ppt/slides/slide5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B362F2D-A2EC-A028-0F98-3A888C372263}"/>
              </a:ext>
            </a:extLst>
          </p:cNvPr>
          <p:cNvSpPr>
            <a:spLocks noGrp="1"/>
          </p:cNvSpPr>
          <p:nvPr>
            <p:ph type="title"/>
          </p:nvPr>
        </p:nvSpPr>
        <p:spPr/>
        <p:txBody>
          <a:bodyPr>
            <a:normAutofit/>
          </a:bodyPr>
          <a:lstStyle/>
          <a:p>
            <a:r>
              <a:rPr lang="es-ES" sz="2800" dirty="0"/>
              <a:t>TENDENCIAS Y AVANCES</a:t>
            </a:r>
          </a:p>
        </p:txBody>
      </p:sp>
      <p:sp>
        <p:nvSpPr>
          <p:cNvPr id="3" name="Marcador de contenido 2">
            <a:extLst>
              <a:ext uri="{FF2B5EF4-FFF2-40B4-BE49-F238E27FC236}">
                <a16:creationId xmlns:a16="http://schemas.microsoft.com/office/drawing/2014/main" id="{F391A76D-22A9-CDEB-A6C8-A1CF1221C522}"/>
              </a:ext>
            </a:extLst>
          </p:cNvPr>
          <p:cNvSpPr>
            <a:spLocks noGrp="1"/>
          </p:cNvSpPr>
          <p:nvPr>
            <p:ph idx="1"/>
          </p:nvPr>
        </p:nvSpPr>
        <p:spPr/>
        <p:txBody>
          <a:bodyPr/>
          <a:lstStyle/>
          <a:p>
            <a:r>
              <a:rPr lang="es-ES" dirty="0"/>
              <a:t>Tecnología Avanzada: Se están desarrollando nuevas técnicas y equipos para mejorar la precisión y la sensibilidad de los análisis geoquímicos.</a:t>
            </a:r>
          </a:p>
          <a:p>
            <a:r>
              <a:rPr lang="es-ES" dirty="0"/>
              <a:t>Integración de Datos: La integración con tecnologías como el modelado 3D y la inteligencia artificial está mejorando la interpretación de los datos geoquímicos.</a:t>
            </a:r>
          </a:p>
          <a:p>
            <a:r>
              <a:rPr lang="es-ES" dirty="0"/>
              <a:t>La prospección geoquímica es una herramienta valiosa en la exploración de hidrocarburos, proporcionando información crítica para la toma de decisiones y la evaluación de potenciales reservas.</a:t>
            </a:r>
          </a:p>
        </p:txBody>
      </p:sp>
    </p:spTree>
    <p:extLst>
      <p:ext uri="{BB962C8B-B14F-4D97-AF65-F5344CB8AC3E}">
        <p14:creationId xmlns:p14="http://schemas.microsoft.com/office/powerpoint/2010/main" val="237502098"/>
      </p:ext>
    </p:extLst>
  </p:cSld>
  <p:clrMapOvr>
    <a:masterClrMapping/>
  </p:clrMapOvr>
</p:sld>
</file>

<file path=ppt/slides/slide6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C466640-3394-96C8-EB68-AAABED77E068}"/>
              </a:ext>
            </a:extLst>
          </p:cNvPr>
          <p:cNvSpPr>
            <a:spLocks noGrp="1"/>
          </p:cNvSpPr>
          <p:nvPr>
            <p:ph type="title"/>
          </p:nvPr>
        </p:nvSpPr>
        <p:spPr/>
        <p:txBody>
          <a:bodyPr/>
          <a:lstStyle/>
          <a:p>
            <a:r>
              <a:rPr lang="es-ES" dirty="0"/>
              <a:t>REALIDAD EN PERU</a:t>
            </a:r>
          </a:p>
        </p:txBody>
      </p:sp>
      <p:sp>
        <p:nvSpPr>
          <p:cNvPr id="3" name="Marcador de contenido 2">
            <a:extLst>
              <a:ext uri="{FF2B5EF4-FFF2-40B4-BE49-F238E27FC236}">
                <a16:creationId xmlns:a16="http://schemas.microsoft.com/office/drawing/2014/main" id="{B65DF940-C1C9-ECA0-8F40-C6FFBEA8D0D7}"/>
              </a:ext>
            </a:extLst>
          </p:cNvPr>
          <p:cNvSpPr>
            <a:spLocks noGrp="1"/>
          </p:cNvSpPr>
          <p:nvPr>
            <p:ph idx="1"/>
          </p:nvPr>
        </p:nvSpPr>
        <p:spPr>
          <a:xfrm>
            <a:off x="838200" y="2627312"/>
            <a:ext cx="9677400" cy="1603375"/>
          </a:xfrm>
        </p:spPr>
        <p:txBody>
          <a:bodyPr/>
          <a:lstStyle/>
          <a:p>
            <a:r>
              <a:rPr lang="es-ES" dirty="0"/>
              <a:t>La prospección geoquímica de hidrocarburos en Perú tiene particularidades debido a su geografía, geología y contexto socioeconómico.</a:t>
            </a:r>
          </a:p>
        </p:txBody>
      </p:sp>
    </p:spTree>
    <p:extLst>
      <p:ext uri="{BB962C8B-B14F-4D97-AF65-F5344CB8AC3E}">
        <p14:creationId xmlns:p14="http://schemas.microsoft.com/office/powerpoint/2010/main" val="3322227415"/>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EDB803E-1598-54D6-B2A7-040BCD362E05}"/>
              </a:ext>
            </a:extLst>
          </p:cNvPr>
          <p:cNvSpPr>
            <a:spLocks noGrp="1"/>
          </p:cNvSpPr>
          <p:nvPr>
            <p:ph type="title"/>
          </p:nvPr>
        </p:nvSpPr>
        <p:spPr/>
        <p:txBody>
          <a:bodyPr>
            <a:normAutofit/>
          </a:bodyPr>
          <a:lstStyle/>
          <a:p>
            <a:r>
              <a:rPr lang="es-ES" sz="2800" dirty="0"/>
              <a:t>CONTEXTO GEOLOGICO Y GEOGRAFICO DE PERU</a:t>
            </a:r>
          </a:p>
        </p:txBody>
      </p:sp>
      <p:sp>
        <p:nvSpPr>
          <p:cNvPr id="3" name="Marcador de contenido 2">
            <a:extLst>
              <a:ext uri="{FF2B5EF4-FFF2-40B4-BE49-F238E27FC236}">
                <a16:creationId xmlns:a16="http://schemas.microsoft.com/office/drawing/2014/main" id="{9D5BE49D-5D0C-0100-3398-66F739C42D1E}"/>
              </a:ext>
            </a:extLst>
          </p:cNvPr>
          <p:cNvSpPr>
            <a:spLocks noGrp="1"/>
          </p:cNvSpPr>
          <p:nvPr>
            <p:ph idx="1"/>
          </p:nvPr>
        </p:nvSpPr>
        <p:spPr/>
        <p:txBody>
          <a:bodyPr>
            <a:normAutofit lnSpcReduction="10000"/>
          </a:bodyPr>
          <a:lstStyle/>
          <a:p>
            <a:pPr marL="0" indent="0">
              <a:buNone/>
            </a:pPr>
            <a:r>
              <a:rPr lang="es-ES" b="1" dirty="0"/>
              <a:t>Geología:</a:t>
            </a:r>
            <a:endParaRPr lang="es-ES" dirty="0"/>
          </a:p>
          <a:p>
            <a:pPr>
              <a:buFont typeface="Arial" panose="020B0604020202020204" pitchFamily="34" charset="0"/>
              <a:buChar char="•"/>
            </a:pPr>
            <a:r>
              <a:rPr lang="es-ES" b="1" dirty="0"/>
              <a:t>Cuenca Amazónica:</a:t>
            </a:r>
            <a:r>
              <a:rPr lang="es-ES" dirty="0"/>
              <a:t> Gran parte del Perú se encuentra en la región de la Cuenca Amazónica, conocida por sus extensos depósitos de hidrocarburos. La geología de esta región incluye formaciones sedimentarias ricas en materia orgánica.</a:t>
            </a:r>
          </a:p>
          <a:p>
            <a:pPr>
              <a:buFont typeface="Arial" panose="020B0604020202020204" pitchFamily="34" charset="0"/>
              <a:buChar char="•"/>
            </a:pPr>
            <a:r>
              <a:rPr lang="es-ES" b="1" dirty="0"/>
              <a:t>Cuenca de Marañón y Ucayali:</a:t>
            </a:r>
            <a:r>
              <a:rPr lang="es-ES" dirty="0"/>
              <a:t> Estas cuencas son particularmente ricas en hidrocarburos. La Cuenca de Marañón es una de las principales regiones productoras de petróleo y gas del país.</a:t>
            </a:r>
          </a:p>
          <a:p>
            <a:pPr>
              <a:buFont typeface="Arial" panose="020B0604020202020204" pitchFamily="34" charset="0"/>
              <a:buChar char="•"/>
            </a:pPr>
            <a:r>
              <a:rPr lang="es-ES" b="1" dirty="0"/>
              <a:t>Cordillera de los Andes:</a:t>
            </a:r>
            <a:r>
              <a:rPr lang="es-ES" dirty="0"/>
              <a:t> Las formaciones geológicas en esta región son más complejas, con estructuras tectónicas que pueden afectar la migración de hidrocarburos.</a:t>
            </a:r>
          </a:p>
          <a:p>
            <a:endParaRPr lang="es-ES" dirty="0"/>
          </a:p>
        </p:txBody>
      </p:sp>
    </p:spTree>
    <p:extLst>
      <p:ext uri="{BB962C8B-B14F-4D97-AF65-F5344CB8AC3E}">
        <p14:creationId xmlns:p14="http://schemas.microsoft.com/office/powerpoint/2010/main" val="3260733336"/>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A23FC5E9-115C-3D7A-9A2D-E947A0564187}"/>
              </a:ext>
            </a:extLst>
          </p:cNvPr>
          <p:cNvSpPr>
            <a:spLocks noGrp="1"/>
          </p:cNvSpPr>
          <p:nvPr>
            <p:ph idx="1"/>
          </p:nvPr>
        </p:nvSpPr>
        <p:spPr/>
        <p:txBody>
          <a:bodyPr/>
          <a:lstStyle/>
          <a:p>
            <a:pPr marL="0" indent="0">
              <a:buNone/>
            </a:pPr>
            <a:r>
              <a:rPr lang="es-ES" b="1" dirty="0"/>
              <a:t>Geografía:</a:t>
            </a:r>
            <a:endParaRPr lang="es-ES" dirty="0"/>
          </a:p>
          <a:p>
            <a:pPr>
              <a:buFont typeface="Arial" panose="020B0604020202020204" pitchFamily="34" charset="0"/>
              <a:buChar char="•"/>
            </a:pPr>
            <a:r>
              <a:rPr lang="es-ES" b="1" dirty="0"/>
              <a:t>Diversidad Climática y Ecológica:</a:t>
            </a:r>
            <a:r>
              <a:rPr lang="es-ES" dirty="0"/>
              <a:t> Perú tiene una gran diversidad de ecosistemas, desde la selva tropical hasta áreas montañosas. Esto puede influir en la logística de la prospección y en la interpretación de datos geoquímicos.</a:t>
            </a:r>
          </a:p>
          <a:p>
            <a:pPr>
              <a:buFont typeface="Arial" panose="020B0604020202020204" pitchFamily="34" charset="0"/>
              <a:buChar char="•"/>
            </a:pPr>
            <a:r>
              <a:rPr lang="es-ES" b="1" dirty="0"/>
              <a:t>Accesibilidad:</a:t>
            </a:r>
            <a:r>
              <a:rPr lang="es-ES" dirty="0"/>
              <a:t> La selva amazónica puede ser difícil de acceder, lo que plantea desafíos adicionales para la recolección de muestras.</a:t>
            </a:r>
          </a:p>
          <a:p>
            <a:pPr marL="0" indent="0">
              <a:buNone/>
            </a:pPr>
            <a:endParaRPr lang="es-ES" dirty="0"/>
          </a:p>
        </p:txBody>
      </p:sp>
    </p:spTree>
    <p:extLst>
      <p:ext uri="{BB962C8B-B14F-4D97-AF65-F5344CB8AC3E}">
        <p14:creationId xmlns:p14="http://schemas.microsoft.com/office/powerpoint/2010/main" val="632157607"/>
      </p:ext>
    </p:extLst>
  </p:cSld>
  <p:clrMapOvr>
    <a:masterClrMapping/>
  </p:clrMapOvr>
</p:sld>
</file>

<file path=ppt/slides/slide6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EF5A5AD-CE20-092B-B572-7E57F75F6AD6}"/>
              </a:ext>
            </a:extLst>
          </p:cNvPr>
          <p:cNvSpPr>
            <a:spLocks noGrp="1"/>
          </p:cNvSpPr>
          <p:nvPr>
            <p:ph type="title"/>
          </p:nvPr>
        </p:nvSpPr>
        <p:spPr/>
        <p:txBody>
          <a:bodyPr>
            <a:normAutofit/>
          </a:bodyPr>
          <a:lstStyle/>
          <a:p>
            <a:r>
              <a:rPr lang="es-ES" sz="2800" dirty="0"/>
              <a:t>METODOLOGIA ESPECIFICA EN PERU</a:t>
            </a:r>
          </a:p>
        </p:txBody>
      </p:sp>
      <p:sp>
        <p:nvSpPr>
          <p:cNvPr id="3" name="Marcador de contenido 2">
            <a:extLst>
              <a:ext uri="{FF2B5EF4-FFF2-40B4-BE49-F238E27FC236}">
                <a16:creationId xmlns:a16="http://schemas.microsoft.com/office/drawing/2014/main" id="{38AA968A-48EB-7739-DE7A-AF82820814E6}"/>
              </a:ext>
            </a:extLst>
          </p:cNvPr>
          <p:cNvSpPr>
            <a:spLocks noGrp="1"/>
          </p:cNvSpPr>
          <p:nvPr>
            <p:ph idx="1"/>
          </p:nvPr>
        </p:nvSpPr>
        <p:spPr/>
        <p:txBody>
          <a:bodyPr>
            <a:normAutofit fontScale="77500" lnSpcReduction="20000"/>
          </a:bodyPr>
          <a:lstStyle/>
          <a:p>
            <a:r>
              <a:rPr lang="es-ES" b="1" dirty="0"/>
              <a:t>Recolección de Muestras:</a:t>
            </a:r>
            <a:endParaRPr lang="es-ES" dirty="0"/>
          </a:p>
          <a:p>
            <a:pPr>
              <a:buFont typeface="Arial" panose="020B0604020202020204" pitchFamily="34" charset="0"/>
              <a:buChar char="•"/>
            </a:pPr>
            <a:r>
              <a:rPr lang="es-ES" b="1" dirty="0"/>
              <a:t>Suelo:</a:t>
            </a:r>
            <a:r>
              <a:rPr lang="es-ES" dirty="0"/>
              <a:t> En regiones como la Amazonía, las muestras de suelo se recogen de manera sistemática en áreas seleccionadas con base en estudios preliminares y datos históricos.</a:t>
            </a:r>
          </a:p>
          <a:p>
            <a:pPr>
              <a:buFont typeface="Arial" panose="020B0604020202020204" pitchFamily="34" charset="0"/>
              <a:buChar char="•"/>
            </a:pPr>
            <a:r>
              <a:rPr lang="es-ES" b="1" dirty="0"/>
              <a:t>Agua:</a:t>
            </a:r>
            <a:r>
              <a:rPr lang="es-ES" dirty="0"/>
              <a:t> Se analizan fuentes de agua para detectar trazas de hidrocarburos. Las muestras se toman de ríos, arroyos y acuíferos.</a:t>
            </a:r>
          </a:p>
          <a:p>
            <a:pPr>
              <a:buFont typeface="Arial" panose="020B0604020202020204" pitchFamily="34" charset="0"/>
              <a:buChar char="•"/>
            </a:pPr>
            <a:r>
              <a:rPr lang="es-ES" b="1" dirty="0"/>
              <a:t>Rocas:</a:t>
            </a:r>
            <a:r>
              <a:rPr lang="es-ES" dirty="0"/>
              <a:t> Las muestras de rocas se obtienen de afloramientos y se utilizan para identificar biomarcadores específicos.</a:t>
            </a:r>
          </a:p>
          <a:p>
            <a:r>
              <a:rPr lang="es-ES" b="1" dirty="0"/>
              <a:t>2.2. Análisis de Muestras:</a:t>
            </a:r>
            <a:endParaRPr lang="es-ES" dirty="0"/>
          </a:p>
          <a:p>
            <a:pPr>
              <a:buFont typeface="Arial" panose="020B0604020202020204" pitchFamily="34" charset="0"/>
              <a:buChar char="•"/>
            </a:pPr>
            <a:r>
              <a:rPr lang="es-ES" b="1" dirty="0"/>
              <a:t>Laboratorios Especializados:</a:t>
            </a:r>
            <a:r>
              <a:rPr lang="es-ES" dirty="0"/>
              <a:t> En Perú, se utilizan laboratorios nacionales e internacionales especializados en geoquímica para realizar los análisis. Estos laboratorios están equipados con tecnología avanzada para detectar compuestos orgánicos y biomarcadores.</a:t>
            </a:r>
          </a:p>
          <a:p>
            <a:pPr>
              <a:buFont typeface="Arial" panose="020B0604020202020204" pitchFamily="34" charset="0"/>
              <a:buChar char="•"/>
            </a:pPr>
            <a:r>
              <a:rPr lang="es-ES" b="1" dirty="0"/>
              <a:t>Técnicas Avanzadas:</a:t>
            </a:r>
            <a:r>
              <a:rPr lang="es-ES" dirty="0"/>
              <a:t> Se emplean técnicas como cromatografía de gases y espectrometría de masas para el análisis detallado de las muestras.</a:t>
            </a:r>
          </a:p>
          <a:p>
            <a:endParaRPr lang="es-ES" dirty="0"/>
          </a:p>
        </p:txBody>
      </p:sp>
    </p:spTree>
    <p:extLst>
      <p:ext uri="{BB962C8B-B14F-4D97-AF65-F5344CB8AC3E}">
        <p14:creationId xmlns:p14="http://schemas.microsoft.com/office/powerpoint/2010/main" val="129437956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C2EEF52F-9BFB-B1CA-9A32-E24F9F62A277}"/>
              </a:ext>
            </a:extLst>
          </p:cNvPr>
          <p:cNvSpPr>
            <a:spLocks noGrp="1"/>
          </p:cNvSpPr>
          <p:nvPr>
            <p:ph idx="1"/>
          </p:nvPr>
        </p:nvSpPr>
        <p:spPr/>
        <p:txBody>
          <a:bodyPr/>
          <a:lstStyle/>
          <a:p>
            <a:r>
              <a:rPr lang="es-ES" b="1" dirty="0"/>
              <a:t>2.3. Interpretación y Mapeo:</a:t>
            </a:r>
            <a:endParaRPr lang="es-ES" dirty="0"/>
          </a:p>
          <a:p>
            <a:pPr>
              <a:buFont typeface="Arial" panose="020B0604020202020204" pitchFamily="34" charset="0"/>
              <a:buChar char="•"/>
            </a:pPr>
            <a:r>
              <a:rPr lang="es-ES" b="1" dirty="0"/>
              <a:t>Modelado Geológico:</a:t>
            </a:r>
            <a:r>
              <a:rPr lang="es-ES" dirty="0"/>
              <a:t> Los datos geoquímicos se integran con información geológica y sísmica para crear modelos precisos que ayudan a identificar áreas con potencial de hidrocarburos.</a:t>
            </a:r>
          </a:p>
          <a:p>
            <a:pPr>
              <a:buFont typeface="Arial" panose="020B0604020202020204" pitchFamily="34" charset="0"/>
              <a:buChar char="•"/>
            </a:pPr>
            <a:r>
              <a:rPr lang="es-ES" b="1" dirty="0"/>
              <a:t>Mapas Geoquímicos:</a:t>
            </a:r>
            <a:r>
              <a:rPr lang="es-ES" dirty="0"/>
              <a:t> Se desarrollan mapas que muestran la distribución de compuestos indicativos de hidrocarburos, lo que ayuda a dirigir futuras investigaciones y perforaciones.</a:t>
            </a:r>
          </a:p>
          <a:p>
            <a:pPr marL="0" indent="0">
              <a:buNone/>
            </a:pPr>
            <a:endParaRPr lang="es-ES" dirty="0"/>
          </a:p>
        </p:txBody>
      </p:sp>
    </p:spTree>
    <p:extLst>
      <p:ext uri="{BB962C8B-B14F-4D97-AF65-F5344CB8AC3E}">
        <p14:creationId xmlns:p14="http://schemas.microsoft.com/office/powerpoint/2010/main" val="820281350"/>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AB6FE1F-3CED-DE9D-A9A1-7F28BA42683E}"/>
              </a:ext>
            </a:extLst>
          </p:cNvPr>
          <p:cNvSpPr>
            <a:spLocks noGrp="1"/>
          </p:cNvSpPr>
          <p:nvPr>
            <p:ph type="title"/>
          </p:nvPr>
        </p:nvSpPr>
        <p:spPr>
          <a:xfrm>
            <a:off x="838200" y="365125"/>
            <a:ext cx="8093529" cy="1186089"/>
          </a:xfrm>
        </p:spPr>
        <p:txBody>
          <a:bodyPr>
            <a:normAutofit/>
          </a:bodyPr>
          <a:lstStyle/>
          <a:p>
            <a:r>
              <a:rPr lang="es-ES" sz="2800" dirty="0"/>
              <a:t>CASOS Y PROYECTOS RELEVANTES</a:t>
            </a:r>
          </a:p>
        </p:txBody>
      </p:sp>
      <p:sp>
        <p:nvSpPr>
          <p:cNvPr id="3" name="Marcador de contenido 2">
            <a:extLst>
              <a:ext uri="{FF2B5EF4-FFF2-40B4-BE49-F238E27FC236}">
                <a16:creationId xmlns:a16="http://schemas.microsoft.com/office/drawing/2014/main" id="{031702F5-EEC0-77F5-C1A8-A93E3B5AD0BD}"/>
              </a:ext>
            </a:extLst>
          </p:cNvPr>
          <p:cNvSpPr>
            <a:spLocks noGrp="1"/>
          </p:cNvSpPr>
          <p:nvPr>
            <p:ph idx="1"/>
          </p:nvPr>
        </p:nvSpPr>
        <p:spPr/>
        <p:txBody>
          <a:bodyPr>
            <a:normAutofit fontScale="92500" lnSpcReduction="10000"/>
          </a:bodyPr>
          <a:lstStyle/>
          <a:p>
            <a:pPr marL="0" indent="0">
              <a:buNone/>
            </a:pPr>
            <a:endParaRPr lang="es-ES" b="1" dirty="0"/>
          </a:p>
          <a:p>
            <a:pPr marL="0" indent="0">
              <a:buNone/>
            </a:pPr>
            <a:r>
              <a:rPr lang="es-ES" b="1" dirty="0"/>
              <a:t>3.1. Lote 192 (antiguamente Lote 1AB):</a:t>
            </a:r>
            <a:endParaRPr lang="es-ES" dirty="0"/>
          </a:p>
          <a:p>
            <a:pPr>
              <a:buFont typeface="Arial" panose="020B0604020202020204" pitchFamily="34" charset="0"/>
              <a:buChar char="•"/>
            </a:pPr>
            <a:r>
              <a:rPr lang="es-ES" dirty="0"/>
              <a:t>Este lote en la región de Loreto ha sido una de las principales áreas de producción de petróleo en Perú. La prospección geoquímica en esta área ha jugado un papel clave en la identificación de reservas y en la gestión de recursos.</a:t>
            </a:r>
          </a:p>
          <a:p>
            <a:pPr marL="0" indent="0">
              <a:buNone/>
            </a:pPr>
            <a:r>
              <a:rPr lang="es-ES" b="1" dirty="0"/>
              <a:t>3.2. Proyectos en la Cuenca de Marañón:</a:t>
            </a:r>
            <a:endParaRPr lang="es-ES" dirty="0"/>
          </a:p>
          <a:p>
            <a:pPr>
              <a:buFont typeface="Arial" panose="020B0604020202020204" pitchFamily="34" charset="0"/>
              <a:buChar char="•"/>
            </a:pPr>
            <a:r>
              <a:rPr lang="es-ES" dirty="0"/>
              <a:t>La prospección geoquímica en esta cuenca ha sido fundamental para evaluar el potencial de hidrocarburos. Proyectos recientes han incluido estudios de campo y análisis detallados para optimizar la exploración y producción.</a:t>
            </a:r>
          </a:p>
          <a:p>
            <a:endParaRPr lang="es-ES" dirty="0"/>
          </a:p>
        </p:txBody>
      </p:sp>
    </p:spTree>
    <p:extLst>
      <p:ext uri="{BB962C8B-B14F-4D97-AF65-F5344CB8AC3E}">
        <p14:creationId xmlns:p14="http://schemas.microsoft.com/office/powerpoint/2010/main" val="3340943801"/>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F6CEEEE-F81C-8B91-6F6E-4D6BC38E63F9}"/>
              </a:ext>
            </a:extLst>
          </p:cNvPr>
          <p:cNvSpPr>
            <a:spLocks noGrp="1"/>
          </p:cNvSpPr>
          <p:nvPr>
            <p:ph type="title"/>
          </p:nvPr>
        </p:nvSpPr>
        <p:spPr/>
        <p:txBody>
          <a:bodyPr>
            <a:normAutofit/>
          </a:bodyPr>
          <a:lstStyle/>
          <a:p>
            <a:r>
              <a:rPr lang="es-ES" sz="2800" dirty="0"/>
              <a:t>REGULACIONES Y CONSIDERACIONES AMBIENTALES</a:t>
            </a:r>
          </a:p>
        </p:txBody>
      </p:sp>
      <p:sp>
        <p:nvSpPr>
          <p:cNvPr id="3" name="Marcador de contenido 2">
            <a:extLst>
              <a:ext uri="{FF2B5EF4-FFF2-40B4-BE49-F238E27FC236}">
                <a16:creationId xmlns:a16="http://schemas.microsoft.com/office/drawing/2014/main" id="{C78671A3-D9C5-A4CC-B1B9-B367D919FDAD}"/>
              </a:ext>
            </a:extLst>
          </p:cNvPr>
          <p:cNvSpPr>
            <a:spLocks noGrp="1"/>
          </p:cNvSpPr>
          <p:nvPr>
            <p:ph idx="1"/>
          </p:nvPr>
        </p:nvSpPr>
        <p:spPr/>
        <p:txBody>
          <a:bodyPr>
            <a:normAutofit/>
          </a:bodyPr>
          <a:lstStyle/>
          <a:p>
            <a:pPr marL="0" indent="0">
              <a:buNone/>
            </a:pPr>
            <a:r>
              <a:rPr lang="es-ES" b="1" dirty="0"/>
              <a:t> Regulaciones Ambientales:</a:t>
            </a:r>
            <a:endParaRPr lang="es-ES" dirty="0"/>
          </a:p>
          <a:p>
            <a:pPr>
              <a:buFont typeface="Arial" panose="020B0604020202020204" pitchFamily="34" charset="0"/>
              <a:buChar char="•"/>
            </a:pPr>
            <a:r>
              <a:rPr lang="es-ES" b="1" dirty="0"/>
              <a:t>Organismos Reguladores:</a:t>
            </a:r>
            <a:r>
              <a:rPr lang="es-ES" dirty="0"/>
              <a:t> En Perú, el Ministerio de Energía y Minas (MINEM) y la Organización Nacional de Licenciamiento Ambiental (ONAM) supervisan la actividad minera y de hidrocarburos. Estas entidades establecen regulaciones y estándares para la prospección geoquímica.</a:t>
            </a:r>
          </a:p>
          <a:p>
            <a:pPr>
              <a:buFont typeface="Arial" panose="020B0604020202020204" pitchFamily="34" charset="0"/>
              <a:buChar char="•"/>
            </a:pPr>
            <a:r>
              <a:rPr lang="es-ES" b="1" dirty="0"/>
              <a:t>Normativas Ambientales:</a:t>
            </a:r>
            <a:r>
              <a:rPr lang="es-ES" dirty="0"/>
              <a:t> Las actividades de prospección deben cumplir con normativas estrictas para proteger el medio ambiente, especialmente en áreas sensibles como la Amazonía. Esto incluye evaluaciones de impacto ambiental y planes de manejo.</a:t>
            </a:r>
          </a:p>
          <a:p>
            <a:endParaRPr lang="es-ES" dirty="0"/>
          </a:p>
        </p:txBody>
      </p:sp>
    </p:spTree>
    <p:extLst>
      <p:ext uri="{BB962C8B-B14F-4D97-AF65-F5344CB8AC3E}">
        <p14:creationId xmlns:p14="http://schemas.microsoft.com/office/powerpoint/2010/main" val="246299721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5C8C238-61A5-1EB4-ACE7-9B37E40FCE85}"/>
              </a:ext>
            </a:extLst>
          </p:cNvPr>
          <p:cNvSpPr>
            <a:spLocks noGrp="1"/>
          </p:cNvSpPr>
          <p:nvPr>
            <p:ph idx="1"/>
          </p:nvPr>
        </p:nvSpPr>
        <p:spPr>
          <a:xfrm>
            <a:off x="838200" y="1825625"/>
            <a:ext cx="10591800" cy="3056618"/>
          </a:xfrm>
        </p:spPr>
        <p:txBody>
          <a:bodyPr/>
          <a:lstStyle/>
          <a:p>
            <a:pPr marL="0" indent="0">
              <a:buNone/>
            </a:pPr>
            <a:r>
              <a:rPr lang="es-ES" b="1" dirty="0"/>
              <a:t> Impacto en Comunidades Locales:</a:t>
            </a:r>
            <a:endParaRPr lang="es-ES" dirty="0"/>
          </a:p>
          <a:p>
            <a:pPr algn="just">
              <a:buFont typeface="Arial" panose="020B0604020202020204" pitchFamily="34" charset="0"/>
              <a:buChar char="•"/>
            </a:pPr>
            <a:r>
              <a:rPr lang="es-ES" b="1" dirty="0"/>
              <a:t>Consulta Previa:</a:t>
            </a:r>
            <a:r>
              <a:rPr lang="es-ES" dirty="0"/>
              <a:t> Las empresas deben realizar consultas previas con las comunidades locales, especialmente en áreas indígenas. Esto es crucial para obtener el consentimiento y asegurar que las actividades de prospección no afecten negativamente a las comunidades.</a:t>
            </a:r>
          </a:p>
          <a:p>
            <a:pPr marL="0" indent="0">
              <a:buNone/>
            </a:pPr>
            <a:endParaRPr lang="es-ES" dirty="0"/>
          </a:p>
        </p:txBody>
      </p:sp>
    </p:spTree>
    <p:extLst>
      <p:ext uri="{BB962C8B-B14F-4D97-AF65-F5344CB8AC3E}">
        <p14:creationId xmlns:p14="http://schemas.microsoft.com/office/powerpoint/2010/main" val="3589304053"/>
      </p:ext>
    </p:extLst>
  </p:cSld>
  <p:clrMapOvr>
    <a:masterClrMapping/>
  </p:clrMapOvr>
</p:sld>
</file>

<file path=ppt/slides/slide6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98DC3B1-9040-3B85-7CFB-FB0AE9116371}"/>
              </a:ext>
            </a:extLst>
          </p:cNvPr>
          <p:cNvSpPr>
            <a:spLocks noGrp="1"/>
          </p:cNvSpPr>
          <p:nvPr>
            <p:ph type="title"/>
          </p:nvPr>
        </p:nvSpPr>
        <p:spPr/>
        <p:txBody>
          <a:bodyPr/>
          <a:lstStyle/>
          <a:p>
            <a:r>
              <a:rPr lang="es-ES" dirty="0"/>
              <a:t>DESAFIOS Y OPORTUNIDADES</a:t>
            </a:r>
          </a:p>
        </p:txBody>
      </p:sp>
      <p:sp>
        <p:nvSpPr>
          <p:cNvPr id="3" name="Marcador de contenido 2">
            <a:extLst>
              <a:ext uri="{FF2B5EF4-FFF2-40B4-BE49-F238E27FC236}">
                <a16:creationId xmlns:a16="http://schemas.microsoft.com/office/drawing/2014/main" id="{B0BADA63-7036-8B13-7182-88D21D438368}"/>
              </a:ext>
            </a:extLst>
          </p:cNvPr>
          <p:cNvSpPr>
            <a:spLocks noGrp="1"/>
          </p:cNvSpPr>
          <p:nvPr>
            <p:ph idx="1"/>
          </p:nvPr>
        </p:nvSpPr>
        <p:spPr/>
        <p:txBody>
          <a:bodyPr>
            <a:normAutofit fontScale="92500" lnSpcReduction="20000"/>
          </a:bodyPr>
          <a:lstStyle/>
          <a:p>
            <a:pPr marL="0" indent="0">
              <a:buNone/>
            </a:pPr>
            <a:r>
              <a:rPr lang="es-ES" b="1" dirty="0"/>
              <a:t>Desafíos:</a:t>
            </a:r>
            <a:endParaRPr lang="es-ES" dirty="0"/>
          </a:p>
          <a:p>
            <a:pPr>
              <a:buFont typeface="Arial" panose="020B0604020202020204" pitchFamily="34" charset="0"/>
              <a:buChar char="•"/>
            </a:pPr>
            <a:r>
              <a:rPr lang="es-ES" b="1" dirty="0"/>
              <a:t>Accesibilidad y Logística:</a:t>
            </a:r>
            <a:r>
              <a:rPr lang="es-ES" dirty="0"/>
              <a:t> La geografía accidentada y las condiciones climáticas pueden dificultar el acceso y la recolección de muestras en algunas áreas.</a:t>
            </a:r>
          </a:p>
          <a:p>
            <a:pPr>
              <a:buFont typeface="Arial" panose="020B0604020202020204" pitchFamily="34" charset="0"/>
              <a:buChar char="•"/>
            </a:pPr>
            <a:r>
              <a:rPr lang="es-ES" b="1" dirty="0"/>
              <a:t>Impacto Ambiental:</a:t>
            </a:r>
            <a:r>
              <a:rPr lang="es-ES" dirty="0"/>
              <a:t> La actividad de prospección puede tener impactos significativos en los ecosistemas y comunidades, requiriendo una gestión cuidadosa.</a:t>
            </a:r>
          </a:p>
          <a:p>
            <a:pPr marL="0" indent="0">
              <a:buNone/>
            </a:pPr>
            <a:r>
              <a:rPr lang="es-ES" b="1" dirty="0"/>
              <a:t>Oportunidades:</a:t>
            </a:r>
            <a:endParaRPr lang="es-ES" dirty="0"/>
          </a:p>
          <a:p>
            <a:pPr>
              <a:buFont typeface="Arial" panose="020B0604020202020204" pitchFamily="34" charset="0"/>
              <a:buChar char="•"/>
            </a:pPr>
            <a:r>
              <a:rPr lang="es-ES" b="1" dirty="0"/>
              <a:t>Desarrollo Tecnológico:</a:t>
            </a:r>
            <a:r>
              <a:rPr lang="es-ES" dirty="0"/>
              <a:t> La implementación de nuevas tecnologías puede mejorar la eficiencia y precisión de la prospección geoquímica.</a:t>
            </a:r>
          </a:p>
          <a:p>
            <a:pPr>
              <a:buFont typeface="Arial" panose="020B0604020202020204" pitchFamily="34" charset="0"/>
              <a:buChar char="•"/>
            </a:pPr>
            <a:r>
              <a:rPr lang="es-ES" b="1" dirty="0"/>
              <a:t>Cooperación Internacional:</a:t>
            </a:r>
            <a:r>
              <a:rPr lang="es-ES" dirty="0"/>
              <a:t> La colaboración con empresas y laboratorios internacionales puede traer experiencia y recursos adicionales.</a:t>
            </a:r>
          </a:p>
          <a:p>
            <a:endParaRPr lang="es-ES" dirty="0"/>
          </a:p>
        </p:txBody>
      </p:sp>
    </p:spTree>
    <p:extLst>
      <p:ext uri="{BB962C8B-B14F-4D97-AF65-F5344CB8AC3E}">
        <p14:creationId xmlns:p14="http://schemas.microsoft.com/office/powerpoint/2010/main" val="365917784"/>
      </p:ext>
    </p:extLst>
  </p:cSld>
  <p:clrMapOvr>
    <a:masterClrMapping/>
  </p:clrMapOvr>
</p:sld>
</file>

<file path=ppt/slides/slide6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5BB638A-0FDD-26B5-1B2E-86C52DA0AD4F}"/>
              </a:ext>
            </a:extLst>
          </p:cNvPr>
          <p:cNvSpPr>
            <a:spLocks noGrp="1"/>
          </p:cNvSpPr>
          <p:nvPr>
            <p:ph type="title"/>
          </p:nvPr>
        </p:nvSpPr>
        <p:spPr/>
        <p:txBody>
          <a:bodyPr/>
          <a:lstStyle/>
          <a:p>
            <a:r>
              <a:rPr lang="es-ES" dirty="0"/>
              <a:t>TENDENCIAS FUTURAS</a:t>
            </a:r>
          </a:p>
        </p:txBody>
      </p:sp>
      <p:sp>
        <p:nvSpPr>
          <p:cNvPr id="3" name="Marcador de contenido 2">
            <a:extLst>
              <a:ext uri="{FF2B5EF4-FFF2-40B4-BE49-F238E27FC236}">
                <a16:creationId xmlns:a16="http://schemas.microsoft.com/office/drawing/2014/main" id="{66A6EDF3-49D0-84C6-B3C8-E67DABADEBE7}"/>
              </a:ext>
            </a:extLst>
          </p:cNvPr>
          <p:cNvSpPr>
            <a:spLocks noGrp="1"/>
          </p:cNvSpPr>
          <p:nvPr>
            <p:ph idx="1"/>
          </p:nvPr>
        </p:nvSpPr>
        <p:spPr/>
        <p:txBody>
          <a:bodyPr>
            <a:normAutofit/>
          </a:bodyPr>
          <a:lstStyle/>
          <a:p>
            <a:r>
              <a:rPr lang="es-ES" b="1" dirty="0"/>
              <a:t>Uso de Tecnologías Avanzadas</a:t>
            </a:r>
            <a:r>
              <a:rPr lang="es-ES" dirty="0"/>
              <a:t>: La integración de tecnologías como drones para la recolección de muestras y el análisis automatizado está ganando terreno.</a:t>
            </a:r>
          </a:p>
          <a:p>
            <a:r>
              <a:rPr lang="es-ES" b="1" dirty="0"/>
              <a:t>Sostenibilidad: </a:t>
            </a:r>
            <a:r>
              <a:rPr lang="es-ES" dirty="0"/>
              <a:t>Hay un enfoque creciente en la sostenibilidad y la minimización del impacto ambiental, lo que incluye la adopción de prácticas más ecológicas y tecnologías menos invasivas.</a:t>
            </a:r>
          </a:p>
        </p:txBody>
      </p:sp>
    </p:spTree>
    <p:extLst>
      <p:ext uri="{BB962C8B-B14F-4D97-AF65-F5344CB8AC3E}">
        <p14:creationId xmlns:p14="http://schemas.microsoft.com/office/powerpoint/2010/main" val="3340752850"/>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B3BD482B-1DD2-C8A1-A92B-913B2656E77C}"/>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CA4DC736-1E9F-C523-0E3E-6C616AB26F25}"/>
              </a:ext>
            </a:extLst>
          </p:cNvPr>
          <p:cNvSpPr>
            <a:spLocks noGrp="1"/>
          </p:cNvSpPr>
          <p:nvPr>
            <p:ph idx="1"/>
          </p:nvPr>
        </p:nvSpPr>
        <p:spPr>
          <a:xfrm>
            <a:off x="838200" y="1825625"/>
            <a:ext cx="10515600" cy="4351338"/>
          </a:xfrm>
        </p:spPr>
        <p:txBody>
          <a:bodyPr/>
          <a:lstStyle/>
          <a:p>
            <a:pPr algn="just"/>
            <a:r>
              <a:rPr lang="es-ES" dirty="0"/>
              <a:t>En resumen, la prospección geoquímica de hidrocarburos en Perú es una actividad compleja que requiere una combinación de técnicas avanzadas, cumplimiento de regulaciones ambientales y una comprensión profunda del contexto geológico y geográfico del país. A medida que la tecnología y las prácticas evolucionan, Perú continúa adaptándose para mejorar la eficiencia de la exploración de hidrocarburos mientras minimiza el impacto ambiental.</a:t>
            </a:r>
          </a:p>
          <a:p>
            <a:endParaRPr lang="es-ES" dirty="0"/>
          </a:p>
        </p:txBody>
      </p:sp>
    </p:spTree>
    <p:extLst>
      <p:ext uri="{BB962C8B-B14F-4D97-AF65-F5344CB8AC3E}">
        <p14:creationId xmlns:p14="http://schemas.microsoft.com/office/powerpoint/2010/main" val="2444504912"/>
      </p:ext>
    </p:extLst>
  </p:cSld>
  <p:clrMapOvr>
    <a:masterClrMapping/>
  </p:clrMapOvr>
</p:sld>
</file>

<file path=ppt/slides/slide7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E515157-0F21-8B75-D825-B6E865837CD5}"/>
              </a:ext>
            </a:extLst>
          </p:cNvPr>
          <p:cNvSpPr>
            <a:spLocks noGrp="1"/>
          </p:cNvSpPr>
          <p:nvPr>
            <p:ph type="title"/>
          </p:nvPr>
        </p:nvSpPr>
        <p:spPr/>
        <p:txBody>
          <a:bodyPr/>
          <a:lstStyle/>
          <a:p>
            <a:r>
              <a:rPr lang="es-ES" dirty="0"/>
              <a:t>PROSPECCION GEOFISICA</a:t>
            </a:r>
          </a:p>
        </p:txBody>
      </p:sp>
      <p:sp>
        <p:nvSpPr>
          <p:cNvPr id="3" name="Marcador de contenido 2">
            <a:extLst>
              <a:ext uri="{FF2B5EF4-FFF2-40B4-BE49-F238E27FC236}">
                <a16:creationId xmlns:a16="http://schemas.microsoft.com/office/drawing/2014/main" id="{2F31CAB5-DFDA-ABF4-C388-FA2737E2907C}"/>
              </a:ext>
            </a:extLst>
          </p:cNvPr>
          <p:cNvSpPr>
            <a:spLocks noGrp="1"/>
          </p:cNvSpPr>
          <p:nvPr>
            <p:ph idx="1"/>
          </p:nvPr>
        </p:nvSpPr>
        <p:spPr>
          <a:xfrm>
            <a:off x="838200" y="2167164"/>
            <a:ext cx="10515600" cy="3334204"/>
          </a:xfrm>
        </p:spPr>
        <p:txBody>
          <a:bodyPr/>
          <a:lstStyle/>
          <a:p>
            <a:pPr algn="just"/>
            <a:r>
              <a:rPr lang="es-ES" dirty="0"/>
              <a:t>La prospección geofísica de hidrocarburos es un método utilizado para identificar y evaluar la presencia de depósitos de petróleo y gas natural en el subsuelo mediante la medición y análisis de propiedades físicas de las formaciones geológicas. Este método se basa en la respuesta de las rocas y fluidos a diferentes tipos de señales físicas, como ondas sísmicas, campos magnéticos, eléctricos y gravitacionales.</a:t>
            </a:r>
          </a:p>
        </p:txBody>
      </p:sp>
    </p:spTree>
    <p:extLst>
      <p:ext uri="{BB962C8B-B14F-4D97-AF65-F5344CB8AC3E}">
        <p14:creationId xmlns:p14="http://schemas.microsoft.com/office/powerpoint/2010/main" val="3845099063"/>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BDDE702-5057-A240-9226-11ECF33DEBF5}"/>
              </a:ext>
            </a:extLst>
          </p:cNvPr>
          <p:cNvSpPr>
            <a:spLocks noGrp="1"/>
          </p:cNvSpPr>
          <p:nvPr>
            <p:ph type="title"/>
          </p:nvPr>
        </p:nvSpPr>
        <p:spPr/>
        <p:txBody>
          <a:bodyPr>
            <a:normAutofit/>
          </a:bodyPr>
          <a:lstStyle/>
          <a:p>
            <a:r>
              <a:rPr lang="es-ES" sz="2800" dirty="0"/>
              <a:t>CONCEPTOS FUNDAMENTALES</a:t>
            </a:r>
          </a:p>
        </p:txBody>
      </p:sp>
      <p:sp>
        <p:nvSpPr>
          <p:cNvPr id="3" name="Marcador de contenido 2">
            <a:extLst>
              <a:ext uri="{FF2B5EF4-FFF2-40B4-BE49-F238E27FC236}">
                <a16:creationId xmlns:a16="http://schemas.microsoft.com/office/drawing/2014/main" id="{B7A04121-95DA-BF89-69C5-8040A2C569B5}"/>
              </a:ext>
            </a:extLst>
          </p:cNvPr>
          <p:cNvSpPr>
            <a:spLocks noGrp="1"/>
          </p:cNvSpPr>
          <p:nvPr>
            <p:ph idx="1"/>
          </p:nvPr>
        </p:nvSpPr>
        <p:spPr>
          <a:xfrm>
            <a:off x="838200" y="2141537"/>
            <a:ext cx="10515600" cy="2430463"/>
          </a:xfrm>
        </p:spPr>
        <p:txBody>
          <a:bodyPr/>
          <a:lstStyle/>
          <a:p>
            <a:pPr algn="just"/>
            <a:r>
              <a:rPr lang="es-ES" dirty="0"/>
              <a:t>La prospección geofísica de hidrocarburos utiliza métodos físicos para detectar diferencias en las propiedades de las formaciones rocosas que pueden indicar la presencia de hidrocarburos. Estos métodos pueden ser no invasivos y se aplican tanto en la superficie como en el subsuelo.</a:t>
            </a:r>
          </a:p>
        </p:txBody>
      </p:sp>
    </p:spTree>
    <p:extLst>
      <p:ext uri="{BB962C8B-B14F-4D97-AF65-F5344CB8AC3E}">
        <p14:creationId xmlns:p14="http://schemas.microsoft.com/office/powerpoint/2010/main" val="156693226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357245C-91C1-2BA5-D294-19CAB544D6BC}"/>
              </a:ext>
            </a:extLst>
          </p:cNvPr>
          <p:cNvSpPr>
            <a:spLocks noGrp="1"/>
          </p:cNvSpPr>
          <p:nvPr>
            <p:ph type="title"/>
          </p:nvPr>
        </p:nvSpPr>
        <p:spPr/>
        <p:txBody>
          <a:bodyPr>
            <a:normAutofit/>
          </a:bodyPr>
          <a:lstStyle/>
          <a:p>
            <a:r>
              <a:rPr lang="es-ES" sz="2800" dirty="0"/>
              <a:t>METODOS GEOFISICOS PRINCIPALES</a:t>
            </a:r>
          </a:p>
        </p:txBody>
      </p:sp>
      <p:sp>
        <p:nvSpPr>
          <p:cNvPr id="3" name="Marcador de contenido 2">
            <a:extLst>
              <a:ext uri="{FF2B5EF4-FFF2-40B4-BE49-F238E27FC236}">
                <a16:creationId xmlns:a16="http://schemas.microsoft.com/office/drawing/2014/main" id="{6C414583-7E82-DF5C-C6F4-A2CBE6DAD635}"/>
              </a:ext>
            </a:extLst>
          </p:cNvPr>
          <p:cNvSpPr>
            <a:spLocks noGrp="1"/>
          </p:cNvSpPr>
          <p:nvPr>
            <p:ph idx="1"/>
          </p:nvPr>
        </p:nvSpPr>
        <p:spPr>
          <a:xfrm>
            <a:off x="838200" y="1485900"/>
            <a:ext cx="10515600" cy="5006975"/>
          </a:xfrm>
        </p:spPr>
        <p:txBody>
          <a:bodyPr>
            <a:normAutofit fontScale="92500" lnSpcReduction="10000"/>
          </a:bodyPr>
          <a:lstStyle/>
          <a:p>
            <a:pPr marL="0" indent="0">
              <a:buNone/>
            </a:pPr>
            <a:r>
              <a:rPr lang="es-ES" b="1" dirty="0"/>
              <a:t>Sísmica:</a:t>
            </a:r>
            <a:endParaRPr lang="es-ES" dirty="0"/>
          </a:p>
          <a:p>
            <a:pPr algn="just"/>
            <a:r>
              <a:rPr lang="es-ES" b="1" dirty="0"/>
              <a:t>Método:</a:t>
            </a:r>
            <a:r>
              <a:rPr lang="es-ES" dirty="0"/>
              <a:t> Se basa en la propagación de ondas sísmicas a través de las formaciones rocosas. Se generan ondas sísmicas mediante explosiones controladas o vibradores en la superficie, y se registran las ondas reflejadas por diferentes capas del subsuelo.</a:t>
            </a:r>
          </a:p>
          <a:p>
            <a:pPr marL="0" indent="0" algn="just">
              <a:buNone/>
            </a:pPr>
            <a:r>
              <a:rPr lang="es-ES" b="1" dirty="0"/>
              <a:t>Tipos de Sísmica:</a:t>
            </a:r>
          </a:p>
          <a:p>
            <a:pPr algn="just">
              <a:buFont typeface="Arial" panose="020B0604020202020204" pitchFamily="34" charset="0"/>
              <a:buChar char="•"/>
            </a:pPr>
            <a:r>
              <a:rPr lang="es-ES" b="1" dirty="0"/>
              <a:t>Sísmica de Reflexión:</a:t>
            </a:r>
            <a:r>
              <a:rPr lang="es-ES" dirty="0"/>
              <a:t> Mide el tiempo que tardan las ondas sísmicas en reflejarse y regresar a la superficie. Permite crear un perfil de las diferentes capas de roca y detectar estructuras como trampas de hidrocarburos.</a:t>
            </a:r>
          </a:p>
          <a:p>
            <a:pPr algn="just">
              <a:buFont typeface="Arial" panose="020B0604020202020204" pitchFamily="34" charset="0"/>
              <a:buChar char="•"/>
            </a:pPr>
            <a:r>
              <a:rPr lang="es-ES" b="1" dirty="0"/>
              <a:t>Sísmica de Refracción:</a:t>
            </a:r>
            <a:r>
              <a:rPr lang="es-ES" dirty="0"/>
              <a:t> Mide el tiempo que tardan las ondas en atravesar diferentes capas y se utiliza para determinar la velocidad de propagación de las ondas, lo que ayuda a identificar formaciones rocosas y su profundidad.</a:t>
            </a:r>
          </a:p>
          <a:p>
            <a:endParaRPr lang="es-ES" dirty="0"/>
          </a:p>
        </p:txBody>
      </p:sp>
    </p:spTree>
    <p:extLst>
      <p:ext uri="{BB962C8B-B14F-4D97-AF65-F5344CB8AC3E}">
        <p14:creationId xmlns:p14="http://schemas.microsoft.com/office/powerpoint/2010/main" val="3744993309"/>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DB03571-68F0-AB02-DD54-0641FC354939}"/>
              </a:ext>
            </a:extLst>
          </p:cNvPr>
          <p:cNvSpPr>
            <a:spLocks noGrp="1"/>
          </p:cNvSpPr>
          <p:nvPr>
            <p:ph idx="1"/>
          </p:nvPr>
        </p:nvSpPr>
        <p:spPr>
          <a:xfrm>
            <a:off x="838199" y="1825625"/>
            <a:ext cx="10608129" cy="2501446"/>
          </a:xfrm>
        </p:spPr>
        <p:txBody>
          <a:bodyPr/>
          <a:lstStyle/>
          <a:p>
            <a:r>
              <a:rPr lang="es-ES" b="1" dirty="0"/>
              <a:t>Procesamiento y Análisis:</a:t>
            </a:r>
          </a:p>
          <a:p>
            <a:pPr algn="just"/>
            <a:r>
              <a:rPr lang="es-ES" dirty="0"/>
              <a:t> Los datos sísmicos se procesan para generar imágenes y modelos 3D del subsuelo, lo que ayuda a interpretar la estructura geológica y identificar posibles acumulaciones de hidrocarburos.</a:t>
            </a:r>
          </a:p>
        </p:txBody>
      </p:sp>
    </p:spTree>
    <p:extLst>
      <p:ext uri="{BB962C8B-B14F-4D97-AF65-F5344CB8AC3E}">
        <p14:creationId xmlns:p14="http://schemas.microsoft.com/office/powerpoint/2010/main" val="4177324493"/>
      </p:ext>
    </p:extLst>
  </p:cSld>
  <p:clrMapOvr>
    <a:masterClrMapping/>
  </p:clrMapOvr>
</p:sld>
</file>

<file path=ppt/slides/slide7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B7C19E71-0ED0-AC76-003C-EAFFA3F08AC1}"/>
              </a:ext>
            </a:extLst>
          </p:cNvPr>
          <p:cNvSpPr>
            <a:spLocks noGrp="1"/>
          </p:cNvSpPr>
          <p:nvPr>
            <p:ph idx="1"/>
          </p:nvPr>
        </p:nvSpPr>
        <p:spPr>
          <a:xfrm>
            <a:off x="838200" y="1629682"/>
            <a:ext cx="10515600" cy="4351338"/>
          </a:xfrm>
        </p:spPr>
        <p:txBody>
          <a:bodyPr/>
          <a:lstStyle/>
          <a:p>
            <a:pPr marL="0" indent="0">
              <a:buNone/>
            </a:pPr>
            <a:r>
              <a:rPr lang="es-ES" b="1" dirty="0"/>
              <a:t>Gravimetría:</a:t>
            </a:r>
            <a:endParaRPr lang="es-ES" dirty="0"/>
          </a:p>
          <a:p>
            <a:pPr algn="just"/>
            <a:r>
              <a:rPr lang="es-ES" b="1" dirty="0"/>
              <a:t>Método:</a:t>
            </a:r>
            <a:r>
              <a:rPr lang="es-ES" dirty="0"/>
              <a:t> Mide las variaciones en el campo gravitacional de la Tierra causadas por diferencias en la densidad de las rocas. Las acumulaciones de hidrocarburos tienen densidades diferentes a las de las rocas circundantes, lo que puede crear anomalías gravitacionales.</a:t>
            </a:r>
          </a:p>
          <a:p>
            <a:pPr algn="just"/>
            <a:r>
              <a:rPr lang="es-ES" b="1" dirty="0"/>
              <a:t>Aplicación:</a:t>
            </a:r>
            <a:r>
              <a:rPr lang="es-ES" dirty="0"/>
              <a:t> Se utiliza para mapear la estructura geológica a gran escala y detectar características como estructuras de trampas potenciales y formaciones de roca que podrían contener hidrocarburos.</a:t>
            </a:r>
          </a:p>
          <a:p>
            <a:endParaRPr lang="es-ES" dirty="0"/>
          </a:p>
        </p:txBody>
      </p:sp>
    </p:spTree>
    <p:extLst>
      <p:ext uri="{BB962C8B-B14F-4D97-AF65-F5344CB8AC3E}">
        <p14:creationId xmlns:p14="http://schemas.microsoft.com/office/powerpoint/2010/main" val="35445274"/>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5BD8BF2F-F574-C0E1-0517-2B6D3A3F70DC}"/>
              </a:ext>
            </a:extLst>
          </p:cNvPr>
          <p:cNvSpPr>
            <a:spLocks noGrp="1"/>
          </p:cNvSpPr>
          <p:nvPr>
            <p:ph idx="1"/>
          </p:nvPr>
        </p:nvSpPr>
        <p:spPr>
          <a:xfrm>
            <a:off x="838200" y="1531711"/>
            <a:ext cx="10515600" cy="4351338"/>
          </a:xfrm>
        </p:spPr>
        <p:txBody>
          <a:bodyPr/>
          <a:lstStyle/>
          <a:p>
            <a:pPr marL="0" indent="0">
              <a:buNone/>
            </a:pPr>
            <a:r>
              <a:rPr lang="es-ES" b="1" dirty="0"/>
              <a:t>Magnetometría:</a:t>
            </a:r>
          </a:p>
          <a:p>
            <a:pPr marL="0" indent="0">
              <a:buNone/>
            </a:pPr>
            <a:endParaRPr lang="es-ES" dirty="0"/>
          </a:p>
          <a:p>
            <a:pPr algn="just"/>
            <a:r>
              <a:rPr lang="es-ES" b="1" dirty="0"/>
              <a:t>Método:</a:t>
            </a:r>
            <a:r>
              <a:rPr lang="es-ES" dirty="0"/>
              <a:t> Mide las variaciones en el campo magnético terrestre causadas por las propiedades magnéticas de las rocas. Las formaciones rocosas con diferentes contenidos minerales pueden alterar el campo magnético local.</a:t>
            </a:r>
          </a:p>
          <a:p>
            <a:pPr algn="just"/>
            <a:r>
              <a:rPr lang="es-ES" b="1" dirty="0"/>
              <a:t>Aplicación:</a:t>
            </a:r>
            <a:r>
              <a:rPr lang="es-ES" dirty="0"/>
              <a:t> Ayuda a identificar estructuras geológicas y posibles trampas de hidrocarburos al detectar anomalías en el campo magnético.</a:t>
            </a:r>
          </a:p>
          <a:p>
            <a:endParaRPr lang="es-ES" dirty="0"/>
          </a:p>
        </p:txBody>
      </p:sp>
    </p:spTree>
    <p:extLst>
      <p:ext uri="{BB962C8B-B14F-4D97-AF65-F5344CB8AC3E}">
        <p14:creationId xmlns:p14="http://schemas.microsoft.com/office/powerpoint/2010/main" val="1913431752"/>
      </p:ext>
    </p:extLst>
  </p:cSld>
  <p:clrMapOvr>
    <a:masterClrMapping/>
  </p:clrMapOvr>
</p:sld>
</file>

<file path=ppt/slides/slide7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30FE0B3-DE57-FD21-2915-662EF1085104}"/>
              </a:ext>
            </a:extLst>
          </p:cNvPr>
          <p:cNvSpPr>
            <a:spLocks noGrp="1"/>
          </p:cNvSpPr>
          <p:nvPr>
            <p:ph idx="1"/>
          </p:nvPr>
        </p:nvSpPr>
        <p:spPr/>
        <p:txBody>
          <a:bodyPr>
            <a:normAutofit/>
          </a:bodyPr>
          <a:lstStyle/>
          <a:p>
            <a:pPr algn="just"/>
            <a:r>
              <a:rPr lang="es-ES" b="1" dirty="0"/>
              <a:t>Electromagnetismo:</a:t>
            </a:r>
            <a:endParaRPr lang="es-ES" dirty="0"/>
          </a:p>
          <a:p>
            <a:pPr algn="just"/>
            <a:r>
              <a:rPr lang="es-ES" b="1" dirty="0"/>
              <a:t>Método:</a:t>
            </a:r>
            <a:r>
              <a:rPr lang="es-ES" dirty="0"/>
              <a:t> Mide la respuesta eléctrica de las rocas al aplicar un campo eléctrico. Las rocas que contienen hidrocarburos tienen diferentes propiedades eléctricas en comparación con las rocas no saturadas.</a:t>
            </a:r>
          </a:p>
          <a:p>
            <a:pPr algn="just"/>
            <a:r>
              <a:rPr lang="es-ES" b="1" dirty="0"/>
              <a:t>Aplicación:</a:t>
            </a:r>
            <a:r>
              <a:rPr lang="es-ES" dirty="0"/>
              <a:t> Se utiliza para mapear la conductividad del subsuelo y detectar zonas de posible acumulación de hidrocarburos.</a:t>
            </a:r>
          </a:p>
          <a:p>
            <a:endParaRPr lang="es-ES" dirty="0"/>
          </a:p>
        </p:txBody>
      </p:sp>
    </p:spTree>
    <p:extLst>
      <p:ext uri="{BB962C8B-B14F-4D97-AF65-F5344CB8AC3E}">
        <p14:creationId xmlns:p14="http://schemas.microsoft.com/office/powerpoint/2010/main" val="3117307815"/>
      </p:ext>
    </p:extLst>
  </p:cSld>
  <p:clrMapOvr>
    <a:masterClrMapping/>
  </p:clrMapOvr>
</p:sld>
</file>

<file path=ppt/slides/slide7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B0E127D-978F-E46C-88DB-7B496CE603BE}"/>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50003F40-B0D1-D53D-22DA-4E1D0BE73909}"/>
              </a:ext>
            </a:extLst>
          </p:cNvPr>
          <p:cNvSpPr>
            <a:spLocks noGrp="1"/>
          </p:cNvSpPr>
          <p:nvPr>
            <p:ph idx="1"/>
          </p:nvPr>
        </p:nvSpPr>
        <p:spPr/>
        <p:txBody>
          <a:bodyPr/>
          <a:lstStyle/>
          <a:p>
            <a:pPr marL="0" indent="0">
              <a:buNone/>
            </a:pPr>
            <a:r>
              <a:rPr lang="es-ES" b="1" dirty="0"/>
              <a:t>Radiometría:</a:t>
            </a:r>
          </a:p>
          <a:p>
            <a:pPr marL="0" indent="0">
              <a:buNone/>
            </a:pPr>
            <a:endParaRPr lang="es-ES" dirty="0"/>
          </a:p>
          <a:p>
            <a:pPr marL="0" indent="0">
              <a:buNone/>
            </a:pPr>
            <a:r>
              <a:rPr lang="es-ES" b="1" dirty="0"/>
              <a:t>Método:</a:t>
            </a:r>
            <a:r>
              <a:rPr lang="es-ES" dirty="0"/>
              <a:t> Mide la radiactividad natural de las rocas y suelos, que puede estar relacionada con la presencia de ciertos minerales asociados con hidrocarburos.</a:t>
            </a:r>
          </a:p>
          <a:p>
            <a:pPr marL="0" indent="0">
              <a:buNone/>
            </a:pPr>
            <a:r>
              <a:rPr lang="es-ES" b="1" dirty="0"/>
              <a:t>Aplicación:</a:t>
            </a:r>
            <a:r>
              <a:rPr lang="es-ES" dirty="0"/>
              <a:t> Ayuda a identificar formaciones geológicas y evaluar su potencial para la presencia de hidrocarburos.</a:t>
            </a:r>
          </a:p>
          <a:p>
            <a:endParaRPr lang="es-ES" dirty="0"/>
          </a:p>
        </p:txBody>
      </p:sp>
    </p:spTree>
    <p:extLst>
      <p:ext uri="{BB962C8B-B14F-4D97-AF65-F5344CB8AC3E}">
        <p14:creationId xmlns:p14="http://schemas.microsoft.com/office/powerpoint/2010/main" val="220977647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64D821A-AF0C-DAF7-7D44-9ED9971D615E}"/>
              </a:ext>
            </a:extLst>
          </p:cNvPr>
          <p:cNvSpPr>
            <a:spLocks noGrp="1"/>
          </p:cNvSpPr>
          <p:nvPr>
            <p:ph type="title"/>
          </p:nvPr>
        </p:nvSpPr>
        <p:spPr/>
        <p:txBody>
          <a:bodyPr>
            <a:normAutofit/>
          </a:bodyPr>
          <a:lstStyle/>
          <a:p>
            <a:r>
              <a:rPr lang="es-ES" sz="2800" dirty="0"/>
              <a:t>PROCESO DE PROSPECCION GEOFISICA</a:t>
            </a:r>
          </a:p>
        </p:txBody>
      </p:sp>
      <p:sp>
        <p:nvSpPr>
          <p:cNvPr id="3" name="Marcador de contenido 2">
            <a:extLst>
              <a:ext uri="{FF2B5EF4-FFF2-40B4-BE49-F238E27FC236}">
                <a16:creationId xmlns:a16="http://schemas.microsoft.com/office/drawing/2014/main" id="{12D97F52-3B5C-177F-7CBD-7181EA210D90}"/>
              </a:ext>
            </a:extLst>
          </p:cNvPr>
          <p:cNvSpPr>
            <a:spLocks noGrp="1"/>
          </p:cNvSpPr>
          <p:nvPr>
            <p:ph idx="1"/>
          </p:nvPr>
        </p:nvSpPr>
        <p:spPr>
          <a:xfrm>
            <a:off x="838200" y="1690688"/>
            <a:ext cx="10515600" cy="4486275"/>
          </a:xfrm>
        </p:spPr>
        <p:txBody>
          <a:bodyPr>
            <a:normAutofit lnSpcReduction="10000"/>
          </a:bodyPr>
          <a:lstStyle/>
          <a:p>
            <a:pPr marL="0" indent="0">
              <a:buNone/>
            </a:pPr>
            <a:r>
              <a:rPr lang="es-ES" b="1" dirty="0"/>
              <a:t>Preparación:</a:t>
            </a:r>
          </a:p>
          <a:p>
            <a:r>
              <a:rPr lang="es-ES" b="1" dirty="0"/>
              <a:t>Estudio Preliminar:</a:t>
            </a:r>
            <a:r>
              <a:rPr lang="es-ES" dirty="0"/>
              <a:t> Revisión de datos geológicos, geofísicos y sísmicos previos para seleccionar áreas de interés.</a:t>
            </a:r>
          </a:p>
          <a:p>
            <a:r>
              <a:rPr lang="es-ES" b="1" dirty="0"/>
              <a:t>Diseño de Campos de Estudio:</a:t>
            </a:r>
            <a:r>
              <a:rPr lang="es-ES" dirty="0"/>
              <a:t> Determinación de la ubicación de estaciones de medición y diseño de la campaña geofísica.</a:t>
            </a:r>
          </a:p>
          <a:p>
            <a:pPr marL="0" indent="0">
              <a:buNone/>
            </a:pPr>
            <a:r>
              <a:rPr lang="es-ES" dirty="0"/>
              <a:t> </a:t>
            </a:r>
            <a:r>
              <a:rPr lang="es-ES" b="1" dirty="0"/>
              <a:t>Recolección de Datos:</a:t>
            </a:r>
            <a:endParaRPr lang="es-ES" dirty="0"/>
          </a:p>
          <a:p>
            <a:r>
              <a:rPr lang="es-ES" b="1" dirty="0"/>
              <a:t>Implementación de Equipos:</a:t>
            </a:r>
            <a:r>
              <a:rPr lang="es-ES" dirty="0"/>
              <a:t> Instalación de equipos de medición (geófonos, magnetómetros, gravímetros, etc.) en el área de estudio.</a:t>
            </a:r>
          </a:p>
          <a:p>
            <a:r>
              <a:rPr lang="es-ES" b="1" dirty="0"/>
              <a:t>Adquisición de Datos:</a:t>
            </a:r>
            <a:r>
              <a:rPr lang="es-ES" dirty="0"/>
              <a:t> Recolección de datos a través de mediciones en superficie o, en algunos casos, en perforaciones.</a:t>
            </a:r>
          </a:p>
          <a:p>
            <a:endParaRPr lang="es-ES" dirty="0"/>
          </a:p>
        </p:txBody>
      </p:sp>
    </p:spTree>
    <p:extLst>
      <p:ext uri="{BB962C8B-B14F-4D97-AF65-F5344CB8AC3E}">
        <p14:creationId xmlns:p14="http://schemas.microsoft.com/office/powerpoint/2010/main" val="2547134847"/>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6BE5BC7-0C59-46E1-2305-081B9B18871D}"/>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A1E5CDBA-D3ED-0CFC-FCAB-51F94B595324}"/>
              </a:ext>
            </a:extLst>
          </p:cNvPr>
          <p:cNvSpPr>
            <a:spLocks noGrp="1"/>
          </p:cNvSpPr>
          <p:nvPr>
            <p:ph idx="1"/>
          </p:nvPr>
        </p:nvSpPr>
        <p:spPr/>
        <p:txBody>
          <a:bodyPr>
            <a:normAutofit fontScale="92500"/>
          </a:bodyPr>
          <a:lstStyle/>
          <a:p>
            <a:pPr marL="0" indent="0">
              <a:buNone/>
            </a:pPr>
            <a:r>
              <a:rPr lang="es-ES" b="1" dirty="0"/>
              <a:t>Procesamiento y Análisis:</a:t>
            </a:r>
            <a:endParaRPr lang="es-ES" dirty="0"/>
          </a:p>
          <a:p>
            <a:r>
              <a:rPr lang="es-ES" b="1" dirty="0"/>
              <a:t>Procesamiento de Datos:</a:t>
            </a:r>
            <a:r>
              <a:rPr lang="es-ES" dirty="0"/>
              <a:t> Aplicación de técnicas de procesamiento de señales para interpretar las mediciones y eliminar ruidos.</a:t>
            </a:r>
          </a:p>
          <a:p>
            <a:r>
              <a:rPr lang="es-ES" b="1" dirty="0"/>
              <a:t>Análisis e Interpretación:</a:t>
            </a:r>
            <a:r>
              <a:rPr lang="es-ES" dirty="0"/>
              <a:t> Creación de modelos geológicos y visualización de datos para identificar posibles acumulaciones de hidrocarburos.</a:t>
            </a:r>
          </a:p>
          <a:p>
            <a:pPr marL="0" indent="0">
              <a:buNone/>
            </a:pPr>
            <a:r>
              <a:rPr lang="es-ES" dirty="0"/>
              <a:t> </a:t>
            </a:r>
            <a:r>
              <a:rPr lang="es-ES" b="1" dirty="0"/>
              <a:t>Integración con Otros Métodos:</a:t>
            </a:r>
            <a:endParaRPr lang="es-ES" dirty="0"/>
          </a:p>
          <a:p>
            <a:r>
              <a:rPr lang="es-ES" b="1" dirty="0"/>
              <a:t>Combinar Datos:</a:t>
            </a:r>
            <a:r>
              <a:rPr lang="es-ES" dirty="0"/>
              <a:t> Integrar datos geofísicos con información sísmica, geoquímica y geológica para una evaluación más completa.</a:t>
            </a:r>
          </a:p>
          <a:p>
            <a:r>
              <a:rPr lang="es-ES" b="1" dirty="0"/>
              <a:t>Modelado 3D:</a:t>
            </a:r>
            <a:r>
              <a:rPr lang="es-ES" dirty="0"/>
              <a:t> Utilizar modelos 3D para visualizar las estructuras geológicas y evaluar el potencial de hidrocarburos.</a:t>
            </a:r>
          </a:p>
          <a:p>
            <a:endParaRPr lang="es-ES" dirty="0"/>
          </a:p>
        </p:txBody>
      </p:sp>
    </p:spTree>
    <p:extLst>
      <p:ext uri="{BB962C8B-B14F-4D97-AF65-F5344CB8AC3E}">
        <p14:creationId xmlns:p14="http://schemas.microsoft.com/office/powerpoint/2010/main" val="3441408489"/>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7A7D714-2E59-61E2-6265-87697F6A93E1}"/>
              </a:ext>
            </a:extLst>
          </p:cNvPr>
          <p:cNvSpPr>
            <a:spLocks noGrp="1"/>
          </p:cNvSpPr>
          <p:nvPr>
            <p:ph type="title"/>
          </p:nvPr>
        </p:nvSpPr>
        <p:spPr/>
        <p:txBody>
          <a:bodyPr/>
          <a:lstStyle/>
          <a:p>
            <a:r>
              <a:rPr lang="es-ES" dirty="0"/>
              <a:t>VENTAJAS Y LIMITACIONES</a:t>
            </a:r>
          </a:p>
        </p:txBody>
      </p:sp>
      <p:sp>
        <p:nvSpPr>
          <p:cNvPr id="3" name="Marcador de contenido 2">
            <a:extLst>
              <a:ext uri="{FF2B5EF4-FFF2-40B4-BE49-F238E27FC236}">
                <a16:creationId xmlns:a16="http://schemas.microsoft.com/office/drawing/2014/main" id="{49D22A96-0DB8-A3E9-0A79-6EA49F4ADB4D}"/>
              </a:ext>
            </a:extLst>
          </p:cNvPr>
          <p:cNvSpPr>
            <a:spLocks noGrp="1"/>
          </p:cNvSpPr>
          <p:nvPr>
            <p:ph idx="1"/>
          </p:nvPr>
        </p:nvSpPr>
        <p:spPr/>
        <p:txBody>
          <a:bodyPr>
            <a:normAutofit fontScale="85000" lnSpcReduction="20000"/>
          </a:bodyPr>
          <a:lstStyle/>
          <a:p>
            <a:pPr marL="0" indent="0">
              <a:buNone/>
            </a:pPr>
            <a:r>
              <a:rPr lang="es-ES" b="1" dirty="0"/>
              <a:t>Ventajas:</a:t>
            </a:r>
            <a:endParaRPr lang="es-ES" dirty="0"/>
          </a:p>
          <a:p>
            <a:pPr>
              <a:buFont typeface="Arial" panose="020B0604020202020204" pitchFamily="34" charset="0"/>
              <a:buChar char="•"/>
            </a:pPr>
            <a:r>
              <a:rPr lang="es-ES" b="1" dirty="0"/>
              <a:t>No Invasivo:</a:t>
            </a:r>
            <a:r>
              <a:rPr lang="es-ES" dirty="0"/>
              <a:t> La prospección geofísica permite obtener información sin necesidad de perforaciones.</a:t>
            </a:r>
          </a:p>
          <a:p>
            <a:pPr>
              <a:buFont typeface="Arial" panose="020B0604020202020204" pitchFamily="34" charset="0"/>
              <a:buChar char="•"/>
            </a:pPr>
            <a:r>
              <a:rPr lang="es-ES" b="1" dirty="0"/>
              <a:t>Alta Resolución:</a:t>
            </a:r>
            <a:r>
              <a:rPr lang="es-ES" dirty="0"/>
              <a:t> Métodos como la sísmica de reflexión proporcionan imágenes detalladas del subsuelo.</a:t>
            </a:r>
          </a:p>
          <a:p>
            <a:pPr>
              <a:buFont typeface="Arial" panose="020B0604020202020204" pitchFamily="34" charset="0"/>
              <a:buChar char="•"/>
            </a:pPr>
            <a:r>
              <a:rPr lang="es-ES" b="1" dirty="0"/>
              <a:t>Cobertura Amplia:</a:t>
            </a:r>
            <a:r>
              <a:rPr lang="es-ES" dirty="0"/>
              <a:t> Técnicas como la gravimetría y la magnetometría pueden cubrir grandes áreas de forma eficiente.</a:t>
            </a:r>
          </a:p>
          <a:p>
            <a:pPr marL="0" indent="0">
              <a:buNone/>
            </a:pPr>
            <a:r>
              <a:rPr lang="es-ES" b="1" dirty="0"/>
              <a:t>Limitaciones:</a:t>
            </a:r>
            <a:endParaRPr lang="es-ES" dirty="0"/>
          </a:p>
          <a:p>
            <a:pPr>
              <a:buFont typeface="Arial" panose="020B0604020202020204" pitchFamily="34" charset="0"/>
              <a:buChar char="•"/>
            </a:pPr>
            <a:r>
              <a:rPr lang="es-ES" b="1" dirty="0"/>
              <a:t>Costos:</a:t>
            </a:r>
            <a:r>
              <a:rPr lang="es-ES" dirty="0"/>
              <a:t> La adquisición y procesamiento de datos geofísicos pueden ser costosos.</a:t>
            </a:r>
          </a:p>
          <a:p>
            <a:pPr>
              <a:buFont typeface="Arial" panose="020B0604020202020204" pitchFamily="34" charset="0"/>
              <a:buChar char="•"/>
            </a:pPr>
            <a:r>
              <a:rPr lang="es-ES" b="1" dirty="0"/>
              <a:t>Interpretación Compleja:</a:t>
            </a:r>
            <a:r>
              <a:rPr lang="es-ES" dirty="0"/>
              <a:t> Los datos pueden ser difíciles de interpretar y requieren experiencia técnica.</a:t>
            </a:r>
          </a:p>
          <a:p>
            <a:pPr>
              <a:buFont typeface="Arial" panose="020B0604020202020204" pitchFamily="34" charset="0"/>
              <a:buChar char="•"/>
            </a:pPr>
            <a:r>
              <a:rPr lang="es-ES" b="1" dirty="0"/>
              <a:t>Sensibilidad a Condiciones Ambientales:</a:t>
            </a:r>
            <a:r>
              <a:rPr lang="es-ES" dirty="0"/>
              <a:t> Factores como el agua, la vegetación y el terreno pueden afectar la calidad de los datos.</a:t>
            </a:r>
          </a:p>
          <a:p>
            <a:endParaRPr lang="es-ES" dirty="0"/>
          </a:p>
        </p:txBody>
      </p:sp>
    </p:spTree>
    <p:extLst>
      <p:ext uri="{BB962C8B-B14F-4D97-AF65-F5344CB8AC3E}">
        <p14:creationId xmlns:p14="http://schemas.microsoft.com/office/powerpoint/2010/main" val="2953902636"/>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5B9A6E6B-9A61-6A88-FD34-5E3EF9E8F509}"/>
              </a:ext>
            </a:extLst>
          </p:cNvPr>
          <p:cNvSpPr>
            <a:spLocks noGrp="1"/>
          </p:cNvSpPr>
          <p:nvPr>
            <p:ph type="title"/>
          </p:nvPr>
        </p:nvSpPr>
        <p:spPr/>
        <p:txBody>
          <a:bodyPr/>
          <a:lstStyle/>
          <a:p>
            <a:r>
              <a:rPr lang="es-ES" dirty="0"/>
              <a:t>APLICACIONES</a:t>
            </a:r>
          </a:p>
        </p:txBody>
      </p:sp>
      <p:sp>
        <p:nvSpPr>
          <p:cNvPr id="3" name="Marcador de contenido 2">
            <a:extLst>
              <a:ext uri="{FF2B5EF4-FFF2-40B4-BE49-F238E27FC236}">
                <a16:creationId xmlns:a16="http://schemas.microsoft.com/office/drawing/2014/main" id="{572BF859-2550-EC14-80C4-4532B33FAB7D}"/>
              </a:ext>
            </a:extLst>
          </p:cNvPr>
          <p:cNvSpPr>
            <a:spLocks noGrp="1"/>
          </p:cNvSpPr>
          <p:nvPr>
            <p:ph idx="1"/>
          </p:nvPr>
        </p:nvSpPr>
        <p:spPr/>
        <p:txBody>
          <a:bodyPr>
            <a:normAutofit fontScale="92500" lnSpcReduction="10000"/>
          </a:bodyPr>
          <a:lstStyle/>
          <a:p>
            <a:pPr marL="0" indent="0">
              <a:buNone/>
            </a:pPr>
            <a:r>
              <a:rPr lang="es-ES" b="1" dirty="0"/>
              <a:t>Exploración de Hidrocarburos:</a:t>
            </a:r>
            <a:endParaRPr lang="es-ES" dirty="0"/>
          </a:p>
          <a:p>
            <a:pPr>
              <a:buFont typeface="Arial" panose="020B0604020202020204" pitchFamily="34" charset="0"/>
              <a:buChar char="•"/>
            </a:pPr>
            <a:r>
              <a:rPr lang="es-ES" b="1" dirty="0"/>
              <a:t>Identificación de Trampas:</a:t>
            </a:r>
            <a:r>
              <a:rPr lang="es-ES" dirty="0"/>
              <a:t> Detectar estructuras geológicas que podrían actuar como trampas para hidrocarburos.</a:t>
            </a:r>
          </a:p>
          <a:p>
            <a:pPr>
              <a:buFont typeface="Arial" panose="020B0604020202020204" pitchFamily="34" charset="0"/>
              <a:buChar char="•"/>
            </a:pPr>
            <a:r>
              <a:rPr lang="es-ES" b="1" dirty="0"/>
              <a:t>Evaluación de Reservas:</a:t>
            </a:r>
            <a:r>
              <a:rPr lang="es-ES" dirty="0"/>
              <a:t> Evaluar la extensión y la calidad de las reservas potenciales.</a:t>
            </a:r>
          </a:p>
          <a:p>
            <a:pPr marL="0" indent="0">
              <a:buNone/>
            </a:pPr>
            <a:r>
              <a:rPr lang="es-ES" b="1" dirty="0"/>
              <a:t>Planificación de Perforaciones:</a:t>
            </a:r>
            <a:endParaRPr lang="es-ES" dirty="0"/>
          </a:p>
          <a:p>
            <a:pPr>
              <a:buFont typeface="Arial" panose="020B0604020202020204" pitchFamily="34" charset="0"/>
              <a:buChar char="•"/>
            </a:pPr>
            <a:r>
              <a:rPr lang="es-ES" b="1" dirty="0"/>
              <a:t>Selección de Ubicaciones:</a:t>
            </a:r>
            <a:r>
              <a:rPr lang="es-ES" dirty="0"/>
              <a:t> Ayudar en la selección de ubicaciones óptimas para perforaciones basadas en la información geofísica.</a:t>
            </a:r>
          </a:p>
          <a:p>
            <a:pPr marL="0" indent="0">
              <a:buNone/>
            </a:pPr>
            <a:r>
              <a:rPr lang="es-ES" dirty="0"/>
              <a:t> </a:t>
            </a:r>
            <a:r>
              <a:rPr lang="es-ES" b="1" dirty="0"/>
              <a:t>Monitoreo y Gestión:</a:t>
            </a:r>
            <a:endParaRPr lang="es-ES" dirty="0"/>
          </a:p>
          <a:p>
            <a:pPr>
              <a:buFont typeface="Arial" panose="020B0604020202020204" pitchFamily="34" charset="0"/>
              <a:buChar char="•"/>
            </a:pPr>
            <a:r>
              <a:rPr lang="es-ES" b="1" dirty="0"/>
              <a:t>Monitoreo de Reservas:</a:t>
            </a:r>
            <a:r>
              <a:rPr lang="es-ES" dirty="0"/>
              <a:t> Realizar seguimiento de la extracción de hidrocarburos y la integridad de los reservorios.</a:t>
            </a:r>
          </a:p>
          <a:p>
            <a:endParaRPr lang="es-ES" dirty="0"/>
          </a:p>
        </p:txBody>
      </p:sp>
    </p:spTree>
    <p:extLst>
      <p:ext uri="{BB962C8B-B14F-4D97-AF65-F5344CB8AC3E}">
        <p14:creationId xmlns:p14="http://schemas.microsoft.com/office/powerpoint/2010/main" val="1196068775"/>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4E297EF8-6062-478D-1C75-B3983069D8F1}"/>
              </a:ext>
            </a:extLst>
          </p:cNvPr>
          <p:cNvSpPr>
            <a:spLocks noGrp="1"/>
          </p:cNvSpPr>
          <p:nvPr>
            <p:ph type="title"/>
          </p:nvPr>
        </p:nvSpPr>
        <p:spPr/>
        <p:txBody>
          <a:bodyPr/>
          <a:lstStyle/>
          <a:p>
            <a:r>
              <a:rPr lang="es-ES" dirty="0"/>
              <a:t>TENDENCIAS Y AVANCES</a:t>
            </a:r>
          </a:p>
        </p:txBody>
      </p:sp>
      <p:sp>
        <p:nvSpPr>
          <p:cNvPr id="3" name="Marcador de contenido 2">
            <a:extLst>
              <a:ext uri="{FF2B5EF4-FFF2-40B4-BE49-F238E27FC236}">
                <a16:creationId xmlns:a16="http://schemas.microsoft.com/office/drawing/2014/main" id="{0D7592BD-A585-B2E1-8E83-78B5429E7876}"/>
              </a:ext>
            </a:extLst>
          </p:cNvPr>
          <p:cNvSpPr>
            <a:spLocks noGrp="1"/>
          </p:cNvSpPr>
          <p:nvPr>
            <p:ph idx="1"/>
          </p:nvPr>
        </p:nvSpPr>
        <p:spPr/>
        <p:txBody>
          <a:bodyPr>
            <a:normAutofit fontScale="92500"/>
          </a:bodyPr>
          <a:lstStyle/>
          <a:p>
            <a:pPr marL="0" indent="0">
              <a:buNone/>
            </a:pPr>
            <a:r>
              <a:rPr lang="es-ES" b="1" dirty="0"/>
              <a:t>Tecnología Avanzada:</a:t>
            </a:r>
            <a:endParaRPr lang="es-ES" dirty="0"/>
          </a:p>
          <a:p>
            <a:pPr>
              <a:buFont typeface="Arial" panose="020B0604020202020204" pitchFamily="34" charset="0"/>
              <a:buChar char="•"/>
            </a:pPr>
            <a:r>
              <a:rPr lang="es-ES" b="1" dirty="0"/>
              <a:t>Sísmica 4D:</a:t>
            </a:r>
            <a:r>
              <a:rPr lang="es-ES" dirty="0"/>
              <a:t> Permite el monitoreo temporal de los reservorios para evaluar la evolución de la extracción de hidrocarburos.</a:t>
            </a:r>
          </a:p>
          <a:p>
            <a:pPr>
              <a:buFont typeface="Arial" panose="020B0604020202020204" pitchFamily="34" charset="0"/>
              <a:buChar char="•"/>
            </a:pPr>
            <a:r>
              <a:rPr lang="es-ES" b="1" dirty="0"/>
              <a:t>Métodos Inversos:</a:t>
            </a:r>
            <a:r>
              <a:rPr lang="es-ES" dirty="0"/>
              <a:t> Utilización de métodos matemáticos avanzados para mejorar la resolución y la precisión de los modelos geofísicos.</a:t>
            </a:r>
          </a:p>
          <a:p>
            <a:pPr marL="0" indent="0">
              <a:buNone/>
            </a:pPr>
            <a:r>
              <a:rPr lang="es-ES" b="1" dirty="0"/>
              <a:t>Integración Multidisciplinaria:</a:t>
            </a:r>
            <a:endParaRPr lang="es-ES" dirty="0"/>
          </a:p>
          <a:p>
            <a:pPr>
              <a:buFont typeface="Arial" panose="020B0604020202020204" pitchFamily="34" charset="0"/>
              <a:buChar char="•"/>
            </a:pPr>
            <a:r>
              <a:rPr lang="es-ES" b="1" dirty="0"/>
              <a:t>Fusión de Datos:</a:t>
            </a:r>
            <a:r>
              <a:rPr lang="es-ES" dirty="0"/>
              <a:t> Integración de datos geofísicos con datos sísmicos, geoquímicos y geológicos para una evaluación más completa.</a:t>
            </a:r>
          </a:p>
          <a:p>
            <a:pPr>
              <a:buFont typeface="Arial" panose="020B0604020202020204" pitchFamily="34" charset="0"/>
              <a:buChar char="•"/>
            </a:pPr>
            <a:r>
              <a:rPr lang="es-ES" b="1" dirty="0"/>
              <a:t>Modelado Predictivo:</a:t>
            </a:r>
            <a:r>
              <a:rPr lang="es-ES" dirty="0"/>
              <a:t> Uso de técnicas de modelado predictivo y análisis de datos para optimizar la exploración y gestión de hidrocarburos.</a:t>
            </a:r>
          </a:p>
          <a:p>
            <a:endParaRPr lang="es-ES" dirty="0"/>
          </a:p>
        </p:txBody>
      </p:sp>
    </p:spTree>
    <p:extLst>
      <p:ext uri="{BB962C8B-B14F-4D97-AF65-F5344CB8AC3E}">
        <p14:creationId xmlns:p14="http://schemas.microsoft.com/office/powerpoint/2010/main" val="3106272588"/>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78FACCF-3027-850C-FB29-46C72A4156FB}"/>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D9F52269-2CA8-2491-B261-8E8368B5CEE6}"/>
              </a:ext>
            </a:extLst>
          </p:cNvPr>
          <p:cNvSpPr>
            <a:spLocks noGrp="1"/>
          </p:cNvSpPr>
          <p:nvPr>
            <p:ph idx="1"/>
          </p:nvPr>
        </p:nvSpPr>
        <p:spPr>
          <a:xfrm>
            <a:off x="838200" y="1825625"/>
            <a:ext cx="10515600" cy="2811689"/>
          </a:xfrm>
        </p:spPr>
        <p:txBody>
          <a:bodyPr/>
          <a:lstStyle/>
          <a:p>
            <a:pPr algn="just"/>
            <a:r>
              <a:rPr lang="es-ES" dirty="0"/>
              <a:t>En resumen, la prospección geofísica de hidrocarburos es una herramienta fundamental en la exploración y evaluación de recursos de petróleo y gas. Emplea una variedad de métodos físicos para obtener información sobre las formaciones rocosas y detectar posibles depósitos de hidrocarburos, y su integración con otras técnicas proporciona una visión más completa del subsuelo.</a:t>
            </a:r>
          </a:p>
        </p:txBody>
      </p:sp>
    </p:spTree>
    <p:extLst>
      <p:ext uri="{BB962C8B-B14F-4D97-AF65-F5344CB8AC3E}">
        <p14:creationId xmlns:p14="http://schemas.microsoft.com/office/powerpoint/2010/main" val="2662325663"/>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DDD5A996-EA20-D814-3806-6D2409209A08}"/>
              </a:ext>
            </a:extLst>
          </p:cNvPr>
          <p:cNvSpPr>
            <a:spLocks noGrp="1"/>
          </p:cNvSpPr>
          <p:nvPr>
            <p:ph type="title"/>
          </p:nvPr>
        </p:nvSpPr>
        <p:spPr/>
        <p:txBody>
          <a:bodyPr>
            <a:normAutofit/>
          </a:bodyPr>
          <a:lstStyle/>
          <a:p>
            <a:r>
              <a:rPr lang="es-ES" sz="2800" dirty="0"/>
              <a:t>DESAFIOS Y OPORTUNIDADES EN PERU</a:t>
            </a:r>
          </a:p>
        </p:txBody>
      </p:sp>
      <p:sp>
        <p:nvSpPr>
          <p:cNvPr id="3" name="Marcador de contenido 2">
            <a:extLst>
              <a:ext uri="{FF2B5EF4-FFF2-40B4-BE49-F238E27FC236}">
                <a16:creationId xmlns:a16="http://schemas.microsoft.com/office/drawing/2014/main" id="{9ADB8C3B-5888-B09F-6ADC-470BF22016DA}"/>
              </a:ext>
            </a:extLst>
          </p:cNvPr>
          <p:cNvSpPr>
            <a:spLocks noGrp="1"/>
          </p:cNvSpPr>
          <p:nvPr>
            <p:ph idx="1"/>
          </p:nvPr>
        </p:nvSpPr>
        <p:spPr>
          <a:xfrm>
            <a:off x="838200" y="1485900"/>
            <a:ext cx="10515600" cy="4691063"/>
          </a:xfrm>
        </p:spPr>
        <p:txBody>
          <a:bodyPr>
            <a:normAutofit fontScale="85000" lnSpcReduction="20000"/>
          </a:bodyPr>
          <a:lstStyle/>
          <a:p>
            <a:pPr marL="0" indent="0">
              <a:buNone/>
            </a:pPr>
            <a:r>
              <a:rPr lang="es-ES" b="1" dirty="0"/>
              <a:t>Desafíos:</a:t>
            </a:r>
          </a:p>
          <a:p>
            <a:r>
              <a:rPr lang="es-ES" b="1" dirty="0"/>
              <a:t>Accesibilidad:</a:t>
            </a:r>
            <a:r>
              <a:rPr lang="es-ES" dirty="0"/>
              <a:t> Las regiones de selva amazónica y áreas montañosas presentan retos significativos en términos de acceso y logística.</a:t>
            </a:r>
          </a:p>
          <a:p>
            <a:r>
              <a:rPr lang="es-ES" b="1" dirty="0"/>
              <a:t>Condiciones Climáticas:</a:t>
            </a:r>
            <a:r>
              <a:rPr lang="es-ES" dirty="0"/>
              <a:t> Las lluvias intensas y la vegetación densa pueden dificultar el trabajo en campo.</a:t>
            </a:r>
          </a:p>
          <a:p>
            <a:r>
              <a:rPr lang="es-ES" b="1" dirty="0"/>
              <a:t>Impacto Ambiental:</a:t>
            </a:r>
            <a:r>
              <a:rPr lang="es-ES" dirty="0"/>
              <a:t> Minimizar el impacto ambiental y cumplir con las regulaciones es crucial para obtener permisos y mantener la licencia social para operar.</a:t>
            </a:r>
          </a:p>
          <a:p>
            <a:pPr marL="0" indent="0">
              <a:buNone/>
            </a:pPr>
            <a:r>
              <a:rPr lang="es-ES" b="1" dirty="0"/>
              <a:t>Oportunidades:</a:t>
            </a:r>
            <a:endParaRPr lang="es-ES" dirty="0"/>
          </a:p>
          <a:p>
            <a:r>
              <a:rPr lang="es-ES" b="1" dirty="0"/>
              <a:t>Tecnología Avanzada:</a:t>
            </a:r>
            <a:r>
              <a:rPr lang="es-ES" dirty="0"/>
              <a:t> La adopción de nuevas tecnologías como la sísmica 4D y el uso de drones puede mejorar la eficiencia y precisión de la prospección.</a:t>
            </a:r>
          </a:p>
          <a:p>
            <a:r>
              <a:rPr lang="es-ES" b="1" dirty="0"/>
              <a:t>Colaboración Internacional:</a:t>
            </a:r>
            <a:r>
              <a:rPr lang="es-ES" dirty="0"/>
              <a:t> La cooperación con empresas y laboratorios internacionales puede aportar experiencia y recursos adicionales para la prospección.</a:t>
            </a:r>
          </a:p>
          <a:p>
            <a:endParaRPr lang="es-ES" dirty="0"/>
          </a:p>
        </p:txBody>
      </p:sp>
    </p:spTree>
    <p:extLst>
      <p:ext uri="{BB962C8B-B14F-4D97-AF65-F5344CB8AC3E}">
        <p14:creationId xmlns:p14="http://schemas.microsoft.com/office/powerpoint/2010/main" val="1305240711"/>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C63AB5D-1B95-1C03-0515-2007049C5F1C}"/>
              </a:ext>
            </a:extLst>
          </p:cNvPr>
          <p:cNvSpPr>
            <a:spLocks noGrp="1"/>
          </p:cNvSpPr>
          <p:nvPr>
            <p:ph type="title"/>
          </p:nvPr>
        </p:nvSpPr>
        <p:spPr/>
        <p:txBody>
          <a:bodyPr/>
          <a:lstStyle/>
          <a:p>
            <a:r>
              <a:rPr lang="es-ES" dirty="0"/>
              <a:t>TENDENCIAS FUTURAS</a:t>
            </a:r>
          </a:p>
        </p:txBody>
      </p:sp>
      <p:sp>
        <p:nvSpPr>
          <p:cNvPr id="3" name="Marcador de contenido 2">
            <a:extLst>
              <a:ext uri="{FF2B5EF4-FFF2-40B4-BE49-F238E27FC236}">
                <a16:creationId xmlns:a16="http://schemas.microsoft.com/office/drawing/2014/main" id="{DA08BBE2-618A-0CAB-C464-8B52DB63B540}"/>
              </a:ext>
            </a:extLst>
          </p:cNvPr>
          <p:cNvSpPr>
            <a:spLocks noGrp="1"/>
          </p:cNvSpPr>
          <p:nvPr>
            <p:ph idx="1"/>
          </p:nvPr>
        </p:nvSpPr>
        <p:spPr>
          <a:xfrm>
            <a:off x="838200" y="1404257"/>
            <a:ext cx="10515600" cy="4772706"/>
          </a:xfrm>
        </p:spPr>
        <p:txBody>
          <a:bodyPr>
            <a:normAutofit fontScale="92500" lnSpcReduction="10000"/>
          </a:bodyPr>
          <a:lstStyle/>
          <a:p>
            <a:pPr marL="0" indent="0">
              <a:buNone/>
            </a:pPr>
            <a:r>
              <a:rPr lang="es-ES" b="1" dirty="0"/>
              <a:t>Tecnología de Puntera:</a:t>
            </a:r>
            <a:endParaRPr lang="es-ES" dirty="0"/>
          </a:p>
          <a:p>
            <a:pPr>
              <a:buFont typeface="Arial" panose="020B0604020202020204" pitchFamily="34" charset="0"/>
              <a:buChar char="•"/>
            </a:pPr>
            <a:r>
              <a:rPr lang="es-ES" b="1" dirty="0"/>
              <a:t>Sísmica de Alta Resolución:</a:t>
            </a:r>
            <a:r>
              <a:rPr lang="es-ES" dirty="0"/>
              <a:t> El avance en la tecnología sísmica está permitiendo imágenes más detalladas del subsuelo.</a:t>
            </a:r>
          </a:p>
          <a:p>
            <a:pPr>
              <a:buFont typeface="Arial" panose="020B0604020202020204" pitchFamily="34" charset="0"/>
              <a:buChar char="•"/>
            </a:pPr>
            <a:r>
              <a:rPr lang="es-ES" b="1" dirty="0"/>
              <a:t>Inteligencia Artificial (IA):</a:t>
            </a:r>
            <a:r>
              <a:rPr lang="es-ES" dirty="0"/>
              <a:t> El uso de IA para el análisis de datos geofísicos está en crecimiento, mejorando la interpretación y predicción de depósitos de hidrocarburos.</a:t>
            </a:r>
          </a:p>
          <a:p>
            <a:pPr marL="0" indent="0">
              <a:buNone/>
            </a:pPr>
            <a:r>
              <a:rPr lang="es-ES" b="1" dirty="0"/>
              <a:t>Sostenibilidad y Eficiencia:</a:t>
            </a:r>
            <a:endParaRPr lang="es-ES" dirty="0"/>
          </a:p>
          <a:p>
            <a:pPr>
              <a:buFont typeface="Arial" panose="020B0604020202020204" pitchFamily="34" charset="0"/>
              <a:buChar char="•"/>
            </a:pPr>
            <a:r>
              <a:rPr lang="es-ES" b="1" dirty="0"/>
              <a:t>Prácticas Sostenibles:</a:t>
            </a:r>
            <a:r>
              <a:rPr lang="es-ES" dirty="0"/>
              <a:t> Las técnicas y prácticas están evolucionando hacia métodos más sostenibles y menos invasivos para minimizar el impacto ambiental.</a:t>
            </a:r>
          </a:p>
          <a:p>
            <a:pPr>
              <a:buFont typeface="Arial" panose="020B0604020202020204" pitchFamily="34" charset="0"/>
              <a:buChar char="•"/>
            </a:pPr>
            <a:r>
              <a:rPr lang="es-ES" b="1" dirty="0"/>
              <a:t>Eficiencia en Operaciones:</a:t>
            </a:r>
            <a:r>
              <a:rPr lang="es-ES" dirty="0"/>
              <a:t> La integración de datos y tecnologías avanzadas está ayudando a hacer las operaciones más eficientes y menos costosas.</a:t>
            </a:r>
          </a:p>
          <a:p>
            <a:pPr>
              <a:buFont typeface="Arial" panose="020B0604020202020204" pitchFamily="34" charset="0"/>
              <a:buChar char="•"/>
            </a:pPr>
            <a:endParaRPr lang="es-ES" dirty="0"/>
          </a:p>
          <a:p>
            <a:endParaRPr lang="es-ES" dirty="0"/>
          </a:p>
        </p:txBody>
      </p:sp>
    </p:spTree>
    <p:extLst>
      <p:ext uri="{BB962C8B-B14F-4D97-AF65-F5344CB8AC3E}">
        <p14:creationId xmlns:p14="http://schemas.microsoft.com/office/powerpoint/2010/main" val="2797683725"/>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6F3990FC-A7A4-A04D-C11C-40A43CB7A3F9}"/>
              </a:ext>
            </a:extLst>
          </p:cNvPr>
          <p:cNvSpPr>
            <a:spLocks noGrp="1"/>
          </p:cNvSpPr>
          <p:nvPr>
            <p:ph type="title"/>
          </p:nvPr>
        </p:nvSpPr>
        <p:spPr/>
        <p:txBody>
          <a:bodyPr/>
          <a:lstStyle/>
          <a:p>
            <a:r>
              <a:rPr lang="es-ES" dirty="0"/>
              <a:t>INGENIERIA DE PERFORACION</a:t>
            </a:r>
          </a:p>
        </p:txBody>
      </p:sp>
      <p:sp>
        <p:nvSpPr>
          <p:cNvPr id="3" name="Marcador de contenido 2">
            <a:extLst>
              <a:ext uri="{FF2B5EF4-FFF2-40B4-BE49-F238E27FC236}">
                <a16:creationId xmlns:a16="http://schemas.microsoft.com/office/drawing/2014/main" id="{C60CA470-07F4-059B-360E-5BAEF4C67B9A}"/>
              </a:ext>
            </a:extLst>
          </p:cNvPr>
          <p:cNvSpPr>
            <a:spLocks noGrp="1"/>
          </p:cNvSpPr>
          <p:nvPr>
            <p:ph idx="1"/>
          </p:nvPr>
        </p:nvSpPr>
        <p:spPr>
          <a:xfrm>
            <a:off x="838200" y="1825625"/>
            <a:ext cx="10395857" cy="2305504"/>
          </a:xfrm>
        </p:spPr>
        <p:txBody>
          <a:bodyPr/>
          <a:lstStyle/>
          <a:p>
            <a:pPr marL="0" indent="0" algn="just">
              <a:buNone/>
            </a:pPr>
            <a:r>
              <a:rPr lang="es-ES" dirty="0"/>
              <a:t>Es una disciplina fundamental en la industria de petróleo y gas, que se encarga de diseñar y gestionar los procesos para perforar pozos en el subsuelo con el fin de explorar y extraer hidrocarburos. Esta ingeniería abarca una amplia gama de actividades, desde la planificación del pozo hasta la ejecución y la gestión de la perforación. </a:t>
            </a:r>
          </a:p>
        </p:txBody>
      </p:sp>
    </p:spTree>
    <p:extLst>
      <p:ext uri="{BB962C8B-B14F-4D97-AF65-F5344CB8AC3E}">
        <p14:creationId xmlns:p14="http://schemas.microsoft.com/office/powerpoint/2010/main" val="2808606667"/>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558C4E9-0A18-3506-ECF7-C0AC139D1F31}"/>
              </a:ext>
            </a:extLst>
          </p:cNvPr>
          <p:cNvSpPr>
            <a:spLocks noGrp="1"/>
          </p:cNvSpPr>
          <p:nvPr>
            <p:ph type="title"/>
          </p:nvPr>
        </p:nvSpPr>
        <p:spPr/>
        <p:txBody>
          <a:bodyPr/>
          <a:lstStyle/>
          <a:p>
            <a:r>
              <a:rPr lang="es-ES" dirty="0"/>
              <a:t>CONCEPTOS FUNDAMENTALES</a:t>
            </a:r>
          </a:p>
        </p:txBody>
      </p:sp>
      <p:sp>
        <p:nvSpPr>
          <p:cNvPr id="3" name="Marcador de contenido 2">
            <a:extLst>
              <a:ext uri="{FF2B5EF4-FFF2-40B4-BE49-F238E27FC236}">
                <a16:creationId xmlns:a16="http://schemas.microsoft.com/office/drawing/2014/main" id="{736783B2-46A7-4028-9ED7-A4F5D72C70A2}"/>
              </a:ext>
            </a:extLst>
          </p:cNvPr>
          <p:cNvSpPr>
            <a:spLocks noGrp="1"/>
          </p:cNvSpPr>
          <p:nvPr>
            <p:ph idx="1"/>
          </p:nvPr>
        </p:nvSpPr>
        <p:spPr>
          <a:xfrm>
            <a:off x="838200" y="1690688"/>
            <a:ext cx="10515600" cy="4802187"/>
          </a:xfrm>
        </p:spPr>
        <p:txBody>
          <a:bodyPr>
            <a:normAutofit fontScale="92500" lnSpcReduction="20000"/>
          </a:bodyPr>
          <a:lstStyle/>
          <a:p>
            <a:pPr algn="just"/>
            <a:r>
              <a:rPr lang="es-ES" dirty="0"/>
              <a:t>La ingeniería de perforación se ocupa del diseño, planificación, ejecución y supervisión de la perforación de pozos de petróleo y gas. Su objetivo principal es alcanzar las formaciones geológicas objetivo de manera segura, eficiente y económica, minimizando los riesgos y los impactos ambientales.</a:t>
            </a:r>
          </a:p>
          <a:p>
            <a:r>
              <a:rPr lang="es-ES" b="1" dirty="0"/>
              <a:t>Tipos de Pozos:</a:t>
            </a:r>
            <a:endParaRPr lang="es-ES" dirty="0"/>
          </a:p>
          <a:p>
            <a:pPr>
              <a:buFont typeface="+mj-lt"/>
              <a:buAutoNum type="arabicPeriod"/>
            </a:pPr>
            <a:r>
              <a:rPr lang="es-ES" b="1" dirty="0"/>
              <a:t>Pozos de Exploración:</a:t>
            </a:r>
            <a:r>
              <a:rPr lang="es-ES" dirty="0"/>
              <a:t> Se perforan para encontrar nuevas acumulaciones de hidrocarburos.</a:t>
            </a:r>
          </a:p>
          <a:p>
            <a:pPr>
              <a:buFont typeface="+mj-lt"/>
              <a:buAutoNum type="arabicPeriod"/>
            </a:pPr>
            <a:r>
              <a:rPr lang="es-ES" b="1" dirty="0"/>
              <a:t>Pozos de Desarrollo:</a:t>
            </a:r>
            <a:r>
              <a:rPr lang="es-ES" dirty="0"/>
              <a:t> Se perforan para aumentar la producción de campos existentes.</a:t>
            </a:r>
          </a:p>
          <a:p>
            <a:pPr>
              <a:buFont typeface="+mj-lt"/>
              <a:buAutoNum type="arabicPeriod"/>
            </a:pPr>
            <a:r>
              <a:rPr lang="es-ES" b="1" dirty="0"/>
              <a:t>Pozos de Inyección:</a:t>
            </a:r>
            <a:r>
              <a:rPr lang="es-ES" dirty="0"/>
              <a:t> Se perforan para inyectar agua, gas o productos químicos para mejorar la recuperación de hidrocarburos.</a:t>
            </a:r>
          </a:p>
          <a:p>
            <a:pPr>
              <a:buFont typeface="+mj-lt"/>
              <a:buAutoNum type="arabicPeriod"/>
            </a:pPr>
            <a:r>
              <a:rPr lang="es-ES" b="1" dirty="0"/>
              <a:t>Pozos de Abandono:</a:t>
            </a:r>
            <a:r>
              <a:rPr lang="es-ES" dirty="0"/>
              <a:t> Se perforan para sellar pozos que ya no están en producción o son considerados no viables.</a:t>
            </a:r>
          </a:p>
          <a:p>
            <a:pPr algn="just"/>
            <a:endParaRPr lang="es-ES" dirty="0"/>
          </a:p>
        </p:txBody>
      </p:sp>
    </p:spTree>
    <p:extLst>
      <p:ext uri="{BB962C8B-B14F-4D97-AF65-F5344CB8AC3E}">
        <p14:creationId xmlns:p14="http://schemas.microsoft.com/office/powerpoint/2010/main" val="2429288781"/>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B46E73-308D-8D23-A9F5-73322EB79C9A}"/>
              </a:ext>
            </a:extLst>
          </p:cNvPr>
          <p:cNvSpPr>
            <a:spLocks noGrp="1"/>
          </p:cNvSpPr>
          <p:nvPr>
            <p:ph type="title"/>
          </p:nvPr>
        </p:nvSpPr>
        <p:spPr/>
        <p:txBody>
          <a:bodyPr>
            <a:normAutofit/>
          </a:bodyPr>
          <a:lstStyle/>
          <a:p>
            <a:r>
              <a:rPr lang="es-ES" sz="2800" dirty="0"/>
              <a:t>PROCESO DE PERFORACION</a:t>
            </a:r>
          </a:p>
        </p:txBody>
      </p:sp>
      <p:sp>
        <p:nvSpPr>
          <p:cNvPr id="3" name="Marcador de contenido 2">
            <a:extLst>
              <a:ext uri="{FF2B5EF4-FFF2-40B4-BE49-F238E27FC236}">
                <a16:creationId xmlns:a16="http://schemas.microsoft.com/office/drawing/2014/main" id="{5625B038-C79B-19F8-E80F-C824E5FA76D2}"/>
              </a:ext>
            </a:extLst>
          </p:cNvPr>
          <p:cNvSpPr>
            <a:spLocks noGrp="1"/>
          </p:cNvSpPr>
          <p:nvPr>
            <p:ph idx="1"/>
          </p:nvPr>
        </p:nvSpPr>
        <p:spPr/>
        <p:txBody>
          <a:bodyPr/>
          <a:lstStyle/>
          <a:p>
            <a:pPr marL="0" indent="0">
              <a:buNone/>
            </a:pPr>
            <a:r>
              <a:rPr lang="es-ES" b="1" dirty="0"/>
              <a:t>Planificación del Pozo:</a:t>
            </a:r>
            <a:endParaRPr lang="es-ES" dirty="0"/>
          </a:p>
          <a:p>
            <a:pPr>
              <a:buFont typeface="+mj-lt"/>
              <a:buAutoNum type="arabicPeriod"/>
            </a:pPr>
            <a:r>
              <a:rPr lang="es-ES" b="1" dirty="0"/>
              <a:t>Diseño del Pozo:</a:t>
            </a:r>
          </a:p>
          <a:p>
            <a:pPr marL="0" indent="0">
              <a:buNone/>
            </a:pPr>
            <a:endParaRPr lang="es-ES" dirty="0"/>
          </a:p>
          <a:p>
            <a:pPr marL="742950" lvl="1" indent="-285750">
              <a:buFont typeface="+mj-lt"/>
              <a:buAutoNum type="arabicPeriod"/>
            </a:pPr>
            <a:r>
              <a:rPr lang="es-ES" b="1" dirty="0"/>
              <a:t>Perfil del Pozo:</a:t>
            </a:r>
            <a:r>
              <a:rPr lang="es-ES" dirty="0"/>
              <a:t> Determinación de la trayectoria del pozo (vertical, direccional o horizontal) en función de los objetivos geológicos y de producción.</a:t>
            </a:r>
          </a:p>
          <a:p>
            <a:pPr marL="742950" lvl="1" indent="-285750">
              <a:buFont typeface="+mj-lt"/>
              <a:buAutoNum type="arabicPeriod"/>
            </a:pPr>
            <a:r>
              <a:rPr lang="es-ES" b="1" dirty="0"/>
              <a:t>Selección de la Ubicación:</a:t>
            </a:r>
            <a:r>
              <a:rPr lang="es-ES" dirty="0"/>
              <a:t> Basada en estudios sísmicos y geoquímicos previos para identificar la ubicación óptima.</a:t>
            </a:r>
          </a:p>
          <a:p>
            <a:pPr marL="742950" lvl="1" indent="-285750">
              <a:buFont typeface="+mj-lt"/>
              <a:buAutoNum type="arabicPeriod"/>
            </a:pPr>
            <a:r>
              <a:rPr lang="es-ES" b="1" dirty="0"/>
              <a:t>Evaluación de Riesgos:</a:t>
            </a:r>
            <a:r>
              <a:rPr lang="es-ES" dirty="0"/>
              <a:t> Análisis de riesgos como formaciones inestables, presión de formación, y posibles problemas ambientales.</a:t>
            </a:r>
          </a:p>
          <a:p>
            <a:endParaRPr lang="es-ES" dirty="0"/>
          </a:p>
        </p:txBody>
      </p:sp>
    </p:spTree>
    <p:extLst>
      <p:ext uri="{BB962C8B-B14F-4D97-AF65-F5344CB8AC3E}">
        <p14:creationId xmlns:p14="http://schemas.microsoft.com/office/powerpoint/2010/main" val="1144684272"/>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2AF757A-CE07-4AED-E9E4-98E1EB2DEF5A}"/>
              </a:ext>
            </a:extLst>
          </p:cNvPr>
          <p:cNvSpPr>
            <a:spLocks noGrp="1"/>
          </p:cNvSpPr>
          <p:nvPr>
            <p:ph idx="1"/>
          </p:nvPr>
        </p:nvSpPr>
        <p:spPr/>
        <p:txBody>
          <a:bodyPr/>
          <a:lstStyle/>
          <a:p>
            <a:pPr marL="0" indent="0">
              <a:buNone/>
            </a:pPr>
            <a:r>
              <a:rPr lang="es-ES" b="1" dirty="0"/>
              <a:t>2.Diseño del Programa de Perforación:</a:t>
            </a:r>
            <a:endParaRPr lang="es-ES" dirty="0"/>
          </a:p>
          <a:p>
            <a:pPr>
              <a:buFont typeface="Arial" panose="020B0604020202020204" pitchFamily="34" charset="0"/>
              <a:buChar char="•"/>
            </a:pPr>
            <a:r>
              <a:rPr lang="es-ES" b="1" dirty="0"/>
              <a:t>Especificaciones Técnicas:</a:t>
            </a:r>
            <a:r>
              <a:rPr lang="es-ES" dirty="0"/>
              <a:t> Definición de los parámetros técnicos del pozo, como el diámetro del agujero, la profundidad objetivo, y los materiales necesarios.</a:t>
            </a:r>
          </a:p>
          <a:p>
            <a:pPr>
              <a:buFont typeface="Arial" panose="020B0604020202020204" pitchFamily="34" charset="0"/>
              <a:buChar char="•"/>
            </a:pPr>
            <a:r>
              <a:rPr lang="es-ES" b="1" dirty="0"/>
              <a:t>Elección de Equipos:</a:t>
            </a:r>
            <a:r>
              <a:rPr lang="es-ES" dirty="0"/>
              <a:t> Selección de la torre de perforación, bombas, tuberías, y otros equipos necesarios.</a:t>
            </a:r>
          </a:p>
          <a:p>
            <a:endParaRPr lang="es-ES" dirty="0"/>
          </a:p>
        </p:txBody>
      </p:sp>
    </p:spTree>
    <p:extLst>
      <p:ext uri="{BB962C8B-B14F-4D97-AF65-F5344CB8AC3E}">
        <p14:creationId xmlns:p14="http://schemas.microsoft.com/office/powerpoint/2010/main" val="1635664861"/>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2A03177E-0436-1E38-EC43-9364ED73832F}"/>
              </a:ext>
            </a:extLst>
          </p:cNvPr>
          <p:cNvSpPr>
            <a:spLocks noGrp="1"/>
          </p:cNvSpPr>
          <p:nvPr>
            <p:ph idx="1"/>
          </p:nvPr>
        </p:nvSpPr>
        <p:spPr>
          <a:xfrm>
            <a:off x="838200" y="1257300"/>
            <a:ext cx="10515600" cy="4919663"/>
          </a:xfrm>
        </p:spPr>
        <p:txBody>
          <a:bodyPr>
            <a:normAutofit fontScale="92500" lnSpcReduction="20000"/>
          </a:bodyPr>
          <a:lstStyle/>
          <a:p>
            <a:r>
              <a:rPr lang="es-ES" b="1" dirty="0"/>
              <a:t>Perforación del Pozo:</a:t>
            </a:r>
            <a:endParaRPr lang="es-ES" dirty="0"/>
          </a:p>
          <a:p>
            <a:pPr>
              <a:buFont typeface="+mj-lt"/>
              <a:buAutoNum type="arabicPeriod"/>
            </a:pPr>
            <a:r>
              <a:rPr lang="es-ES" b="1" dirty="0"/>
              <a:t>Preparación del Sitio:</a:t>
            </a:r>
            <a:endParaRPr lang="es-ES" dirty="0"/>
          </a:p>
          <a:p>
            <a:pPr marL="742950" lvl="1" indent="-285750">
              <a:buFont typeface="+mj-lt"/>
              <a:buAutoNum type="arabicPeriod"/>
            </a:pPr>
            <a:r>
              <a:rPr lang="es-ES" b="1" dirty="0"/>
              <a:t>Construcción de Infraestructura:</a:t>
            </a:r>
            <a:r>
              <a:rPr lang="es-ES" dirty="0"/>
              <a:t> Instalación de la plataforma de perforación y preparación del área circundante.</a:t>
            </a:r>
          </a:p>
          <a:p>
            <a:pPr marL="742950" lvl="1" indent="-285750">
              <a:buFont typeface="+mj-lt"/>
              <a:buAutoNum type="arabicPeriod"/>
            </a:pPr>
            <a:r>
              <a:rPr lang="es-ES" b="1" dirty="0"/>
              <a:t>Instalación de Equipos:</a:t>
            </a:r>
            <a:r>
              <a:rPr lang="es-ES" dirty="0"/>
              <a:t> Configuración de la torre de perforación, sistemas de manejo de fluidos, y otros equipos.</a:t>
            </a:r>
          </a:p>
          <a:p>
            <a:pPr marL="0" indent="0">
              <a:buNone/>
            </a:pPr>
            <a:r>
              <a:rPr lang="es-ES" b="1" dirty="0"/>
              <a:t>2,Perforación:</a:t>
            </a:r>
            <a:endParaRPr lang="es-ES" dirty="0"/>
          </a:p>
          <a:p>
            <a:pPr>
              <a:buFont typeface="Arial" panose="020B0604020202020204" pitchFamily="34" charset="0"/>
              <a:buChar char="•"/>
            </a:pPr>
            <a:r>
              <a:rPr lang="es-ES" b="1" dirty="0" err="1"/>
              <a:t>Perfóración</a:t>
            </a:r>
            <a:r>
              <a:rPr lang="es-ES" b="1" dirty="0"/>
              <a:t> del Agujero:</a:t>
            </a:r>
            <a:r>
              <a:rPr lang="es-ES" dirty="0"/>
              <a:t> Uso de brocas rotativas y sistemas de circulación de fluidos para perforar el subsuelo. La broca rota y corta las formaciones rocosas mientras los fluidos de perforación limpian los recortes y estabilizan el pozo.</a:t>
            </a:r>
          </a:p>
          <a:p>
            <a:pPr>
              <a:buFont typeface="Arial" panose="020B0604020202020204" pitchFamily="34" charset="0"/>
              <a:buChar char="•"/>
            </a:pPr>
            <a:r>
              <a:rPr lang="es-ES" b="1" dirty="0"/>
              <a:t>Control de Presión:</a:t>
            </a:r>
            <a:r>
              <a:rPr lang="es-ES" dirty="0"/>
              <a:t> Monitoreo y control de la presión en el pozo para evitar problemas como el reventón.</a:t>
            </a:r>
          </a:p>
          <a:p>
            <a:pPr>
              <a:buFont typeface="Arial" panose="020B0604020202020204" pitchFamily="34" charset="0"/>
              <a:buChar char="•"/>
            </a:pPr>
            <a:r>
              <a:rPr lang="es-ES" b="1" dirty="0"/>
              <a:t>Cimentación:</a:t>
            </a:r>
            <a:r>
              <a:rPr lang="es-ES" dirty="0"/>
              <a:t> Instalación de un revestimiento de acero (</a:t>
            </a:r>
            <a:r>
              <a:rPr lang="es-ES" dirty="0" err="1"/>
              <a:t>casing</a:t>
            </a:r>
            <a:r>
              <a:rPr lang="es-ES" dirty="0"/>
              <a:t>) para proteger el pozo y evitar el colapso de las paredes del pozo.</a:t>
            </a:r>
          </a:p>
          <a:p>
            <a:endParaRPr lang="es-ES" dirty="0"/>
          </a:p>
        </p:txBody>
      </p:sp>
    </p:spTree>
    <p:extLst>
      <p:ext uri="{BB962C8B-B14F-4D97-AF65-F5344CB8AC3E}">
        <p14:creationId xmlns:p14="http://schemas.microsoft.com/office/powerpoint/2010/main" val="3442033187"/>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78ECF7F8-09EA-5456-D6FD-8350E01C1BEC}"/>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D9C754EF-1A4F-51E4-B128-0BD5D288F91E}"/>
              </a:ext>
            </a:extLst>
          </p:cNvPr>
          <p:cNvSpPr>
            <a:spLocks noGrp="1"/>
          </p:cNvSpPr>
          <p:nvPr>
            <p:ph idx="1"/>
          </p:nvPr>
        </p:nvSpPr>
        <p:spPr/>
        <p:txBody>
          <a:bodyPr/>
          <a:lstStyle/>
          <a:p>
            <a:pPr marL="0" indent="0">
              <a:buNone/>
            </a:pPr>
            <a:r>
              <a:rPr lang="es-ES" b="1" dirty="0"/>
              <a:t>3.Evaluación y Pruebas:</a:t>
            </a:r>
            <a:endParaRPr lang="es-ES" dirty="0"/>
          </a:p>
          <a:p>
            <a:pPr>
              <a:buFont typeface="Arial" panose="020B0604020202020204" pitchFamily="34" charset="0"/>
              <a:buChar char="•"/>
            </a:pPr>
            <a:r>
              <a:rPr lang="es-ES" b="1" dirty="0"/>
              <a:t>Pruebas de Formación:</a:t>
            </a:r>
            <a:r>
              <a:rPr lang="es-ES" dirty="0"/>
              <a:t> Realización de pruebas como la prueba de presión y las pruebas de flujo para evaluar las propiedades de la formación y la producción potencial.</a:t>
            </a:r>
          </a:p>
          <a:p>
            <a:pPr>
              <a:buFont typeface="Arial" panose="020B0604020202020204" pitchFamily="34" charset="0"/>
              <a:buChar char="•"/>
            </a:pPr>
            <a:r>
              <a:rPr lang="es-ES" b="1" dirty="0"/>
              <a:t>Registro y Monitoreo:</a:t>
            </a:r>
            <a:r>
              <a:rPr lang="es-ES" dirty="0"/>
              <a:t> Uso de herramientas de registro (</a:t>
            </a:r>
            <a:r>
              <a:rPr lang="es-ES" dirty="0" err="1"/>
              <a:t>logging</a:t>
            </a:r>
            <a:r>
              <a:rPr lang="es-ES" dirty="0"/>
              <a:t>) para obtener datos sobre las características de las formaciones y el estado del pozo.</a:t>
            </a:r>
          </a:p>
          <a:p>
            <a:endParaRPr lang="es-ES" dirty="0"/>
          </a:p>
        </p:txBody>
      </p:sp>
    </p:spTree>
    <p:extLst>
      <p:ext uri="{BB962C8B-B14F-4D97-AF65-F5344CB8AC3E}">
        <p14:creationId xmlns:p14="http://schemas.microsoft.com/office/powerpoint/2010/main" val="2276256485"/>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965FB5F-851C-B897-47EF-6B483EA8D888}"/>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BB5362D8-1D8C-8965-C016-ED84CBF1A742}"/>
              </a:ext>
            </a:extLst>
          </p:cNvPr>
          <p:cNvSpPr>
            <a:spLocks noGrp="1"/>
          </p:cNvSpPr>
          <p:nvPr>
            <p:ph idx="1"/>
          </p:nvPr>
        </p:nvSpPr>
        <p:spPr>
          <a:xfrm>
            <a:off x="838200" y="1825625"/>
            <a:ext cx="10363200" cy="3448504"/>
          </a:xfrm>
        </p:spPr>
        <p:txBody>
          <a:bodyPr/>
          <a:lstStyle/>
          <a:p>
            <a:pPr marL="0" indent="0" algn="just">
              <a:buNone/>
            </a:pPr>
            <a:r>
              <a:rPr lang="es-ES" b="1" dirty="0"/>
              <a:t>Evaluación y Pruebas:</a:t>
            </a:r>
            <a:endParaRPr lang="es-ES" dirty="0"/>
          </a:p>
          <a:p>
            <a:pPr algn="just">
              <a:buFont typeface="Arial" panose="020B0604020202020204" pitchFamily="34" charset="0"/>
              <a:buChar char="•"/>
            </a:pPr>
            <a:r>
              <a:rPr lang="es-ES" b="1" dirty="0"/>
              <a:t>Pruebas de Formación:</a:t>
            </a:r>
            <a:r>
              <a:rPr lang="es-ES" dirty="0"/>
              <a:t> Realización de pruebas como la prueba de presión y las pruebas de flujo para evaluar las propiedades de la formación y la producción potencial.</a:t>
            </a:r>
          </a:p>
          <a:p>
            <a:pPr algn="just">
              <a:buFont typeface="Arial" panose="020B0604020202020204" pitchFamily="34" charset="0"/>
              <a:buChar char="•"/>
            </a:pPr>
            <a:r>
              <a:rPr lang="es-ES" b="1" dirty="0"/>
              <a:t>Registro y Monitoreo:</a:t>
            </a:r>
            <a:r>
              <a:rPr lang="es-ES" dirty="0"/>
              <a:t> Uso de herramientas de registro (</a:t>
            </a:r>
            <a:r>
              <a:rPr lang="es-ES" dirty="0" err="1"/>
              <a:t>logging</a:t>
            </a:r>
            <a:r>
              <a:rPr lang="es-ES" dirty="0"/>
              <a:t>) para obtener datos sobre las características de las formaciones y el estado del pozo.</a:t>
            </a:r>
          </a:p>
          <a:p>
            <a:pPr marL="0" indent="0">
              <a:buNone/>
            </a:pPr>
            <a:endParaRPr lang="es-ES" dirty="0"/>
          </a:p>
        </p:txBody>
      </p:sp>
    </p:spTree>
    <p:extLst>
      <p:ext uri="{BB962C8B-B14F-4D97-AF65-F5344CB8AC3E}">
        <p14:creationId xmlns:p14="http://schemas.microsoft.com/office/powerpoint/2010/main" val="2689887872"/>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F5FCC1D4-0842-1CFC-2180-CDD987626B47}"/>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1BC2B2D1-BFB0-30B6-02E1-884BFD464BE7}"/>
              </a:ext>
            </a:extLst>
          </p:cNvPr>
          <p:cNvSpPr>
            <a:spLocks noGrp="1"/>
          </p:cNvSpPr>
          <p:nvPr>
            <p:ph idx="1"/>
          </p:nvPr>
        </p:nvSpPr>
        <p:spPr/>
        <p:txBody>
          <a:bodyPr/>
          <a:lstStyle/>
          <a:p>
            <a:pPr marL="0" indent="0">
              <a:buNone/>
            </a:pPr>
            <a:r>
              <a:rPr lang="es-ES" dirty="0"/>
              <a:t> </a:t>
            </a:r>
            <a:r>
              <a:rPr lang="es-ES" b="1" dirty="0"/>
              <a:t>Finalización del Pozo:</a:t>
            </a:r>
            <a:endParaRPr lang="es-ES" dirty="0"/>
          </a:p>
          <a:p>
            <a:pPr>
              <a:buFont typeface="+mj-lt"/>
              <a:buAutoNum type="arabicPeriod"/>
            </a:pPr>
            <a:r>
              <a:rPr lang="es-ES" b="1" dirty="0"/>
              <a:t>Completar el Pozo:</a:t>
            </a:r>
            <a:endParaRPr lang="es-ES" dirty="0"/>
          </a:p>
          <a:p>
            <a:pPr marL="742950" lvl="1" indent="-285750">
              <a:buFont typeface="+mj-lt"/>
              <a:buAutoNum type="arabicPeriod"/>
            </a:pPr>
            <a:r>
              <a:rPr lang="es-ES" b="1" dirty="0"/>
              <a:t>Instalación de Tuberías de Producción:</a:t>
            </a:r>
            <a:r>
              <a:rPr lang="es-ES" dirty="0"/>
              <a:t> Colocación de tuberías y equipos necesarios para la extracción de hidrocarburos.</a:t>
            </a:r>
          </a:p>
          <a:p>
            <a:pPr marL="742950" lvl="1" indent="-285750">
              <a:buFont typeface="+mj-lt"/>
              <a:buAutoNum type="arabicPeriod"/>
            </a:pPr>
            <a:r>
              <a:rPr lang="es-ES" b="1" dirty="0"/>
              <a:t>Instalación de Equipos de Producción:</a:t>
            </a:r>
            <a:r>
              <a:rPr lang="es-ES" dirty="0"/>
              <a:t> Configuración de bombas, válvulas y otros equipos para iniciar la producción.</a:t>
            </a:r>
          </a:p>
          <a:p>
            <a:pPr>
              <a:buFont typeface="+mj-lt"/>
              <a:buAutoNum type="arabicPeriod"/>
            </a:pPr>
            <a:r>
              <a:rPr lang="es-ES" b="1" dirty="0"/>
              <a:t>Abandono:</a:t>
            </a:r>
            <a:endParaRPr lang="es-ES" dirty="0"/>
          </a:p>
          <a:p>
            <a:pPr marL="742950" lvl="1" indent="-285750">
              <a:buFont typeface="+mj-lt"/>
              <a:buAutoNum type="arabicPeriod"/>
            </a:pPr>
            <a:r>
              <a:rPr lang="es-ES" b="1" dirty="0"/>
              <a:t>Sellado:</a:t>
            </a:r>
            <a:r>
              <a:rPr lang="es-ES" dirty="0"/>
              <a:t> Si el pozo ya no es viable, se realiza el abandono sellando el pozo de forma segura para prevenir fugas y contaminación.</a:t>
            </a:r>
          </a:p>
          <a:p>
            <a:endParaRPr lang="es-ES" dirty="0"/>
          </a:p>
        </p:txBody>
      </p:sp>
    </p:spTree>
    <p:extLst>
      <p:ext uri="{BB962C8B-B14F-4D97-AF65-F5344CB8AC3E}">
        <p14:creationId xmlns:p14="http://schemas.microsoft.com/office/powerpoint/2010/main" val="4037625513"/>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74177BF-E73D-4030-B568-E796039572D8}"/>
              </a:ext>
            </a:extLst>
          </p:cNvPr>
          <p:cNvSpPr>
            <a:spLocks noGrp="1"/>
          </p:cNvSpPr>
          <p:nvPr>
            <p:ph type="title"/>
          </p:nvPr>
        </p:nvSpPr>
        <p:spPr/>
        <p:txBody>
          <a:bodyPr/>
          <a:lstStyle/>
          <a:p>
            <a:r>
              <a:rPr lang="es-ES" dirty="0"/>
              <a:t>TECNOLOGIAS Y EQUIPOS</a:t>
            </a:r>
          </a:p>
        </p:txBody>
      </p:sp>
      <p:sp>
        <p:nvSpPr>
          <p:cNvPr id="3" name="Marcador de contenido 2">
            <a:extLst>
              <a:ext uri="{FF2B5EF4-FFF2-40B4-BE49-F238E27FC236}">
                <a16:creationId xmlns:a16="http://schemas.microsoft.com/office/drawing/2014/main" id="{385A7A5A-BA0A-14D4-6123-915C84E4F0A6}"/>
              </a:ext>
            </a:extLst>
          </p:cNvPr>
          <p:cNvSpPr>
            <a:spLocks noGrp="1"/>
          </p:cNvSpPr>
          <p:nvPr>
            <p:ph idx="1"/>
          </p:nvPr>
        </p:nvSpPr>
        <p:spPr/>
        <p:txBody>
          <a:bodyPr>
            <a:normAutofit fontScale="77500" lnSpcReduction="20000"/>
          </a:bodyPr>
          <a:lstStyle/>
          <a:p>
            <a:pPr marL="0" indent="0">
              <a:buNone/>
            </a:pPr>
            <a:r>
              <a:rPr lang="es-ES" b="1" dirty="0"/>
              <a:t>Brocas de Perforación:</a:t>
            </a:r>
            <a:endParaRPr lang="es-ES" dirty="0"/>
          </a:p>
          <a:p>
            <a:pPr>
              <a:buFont typeface="+mj-lt"/>
              <a:buAutoNum type="arabicPeriod"/>
            </a:pPr>
            <a:r>
              <a:rPr lang="es-ES" b="1" dirty="0"/>
              <a:t>Brocas de Carburo de Tungsteno:</a:t>
            </a:r>
            <a:r>
              <a:rPr lang="es-ES" dirty="0"/>
              <a:t> Utilizadas para cortar rocas duras, con alta resistencia al desgaste.</a:t>
            </a:r>
          </a:p>
          <a:p>
            <a:pPr>
              <a:buFont typeface="+mj-lt"/>
              <a:buAutoNum type="arabicPeriod"/>
            </a:pPr>
            <a:r>
              <a:rPr lang="es-ES" b="1" dirty="0"/>
              <a:t>Brocas de Cuerpo </a:t>
            </a:r>
            <a:r>
              <a:rPr lang="es-ES" b="1" dirty="0" err="1"/>
              <a:t>Tricono</a:t>
            </a:r>
            <a:r>
              <a:rPr lang="es-ES" b="1" dirty="0"/>
              <a:t>:</a:t>
            </a:r>
            <a:r>
              <a:rPr lang="es-ES" dirty="0"/>
              <a:t> Contienen tres conos giratorios con dientes de acero o carburo para perforar formaciones rocosas.</a:t>
            </a:r>
          </a:p>
          <a:p>
            <a:pPr>
              <a:buFont typeface="+mj-lt"/>
              <a:buAutoNum type="arabicPeriod"/>
            </a:pPr>
            <a:r>
              <a:rPr lang="es-ES" b="1" dirty="0"/>
              <a:t>Brocas de PCD (Diamante Policristalino):</a:t>
            </a:r>
            <a:r>
              <a:rPr lang="es-ES" dirty="0"/>
              <a:t> Ofrecen alta durabilidad y rendimiento en formaciones extremadamente duras.</a:t>
            </a:r>
          </a:p>
          <a:p>
            <a:pPr marL="0" indent="0">
              <a:buNone/>
            </a:pPr>
            <a:r>
              <a:rPr lang="es-ES" b="1" dirty="0"/>
              <a:t>Fluidos de Perforación:</a:t>
            </a:r>
            <a:endParaRPr lang="es-ES" dirty="0"/>
          </a:p>
          <a:p>
            <a:pPr>
              <a:buFont typeface="+mj-lt"/>
              <a:buAutoNum type="arabicPeriod"/>
            </a:pPr>
            <a:r>
              <a:rPr lang="es-ES" b="1" dirty="0"/>
              <a:t>Función:</a:t>
            </a:r>
            <a:r>
              <a:rPr lang="es-ES" dirty="0"/>
              <a:t> Los fluidos de perforación (barros) enfrían la broca, eliminan los recortes de la perforación, y estabilizan el pozo.</a:t>
            </a:r>
          </a:p>
          <a:p>
            <a:pPr>
              <a:buFont typeface="+mj-lt"/>
              <a:buAutoNum type="arabicPeriod"/>
            </a:pPr>
            <a:r>
              <a:rPr lang="es-ES" b="1" dirty="0"/>
              <a:t>Tipos:</a:t>
            </a:r>
            <a:endParaRPr lang="es-ES" dirty="0"/>
          </a:p>
          <a:p>
            <a:pPr marL="742950" lvl="1" indent="-285750">
              <a:buFont typeface="+mj-lt"/>
              <a:buAutoNum type="arabicPeriod"/>
            </a:pPr>
            <a:r>
              <a:rPr lang="es-ES" b="1" dirty="0"/>
              <a:t>Fluidos Base Agua:</a:t>
            </a:r>
            <a:r>
              <a:rPr lang="es-ES" dirty="0"/>
              <a:t> Utilizados en formaciones no reactiva.</a:t>
            </a:r>
          </a:p>
          <a:p>
            <a:pPr marL="742950" lvl="1" indent="-285750">
              <a:buFont typeface="+mj-lt"/>
              <a:buAutoNum type="arabicPeriod"/>
            </a:pPr>
            <a:r>
              <a:rPr lang="es-ES" b="1" dirty="0"/>
              <a:t>Fluidos Base Aceite:</a:t>
            </a:r>
            <a:r>
              <a:rPr lang="es-ES" dirty="0"/>
              <a:t> Ofrecen mejor lubricación y rendimiento en formaciones más complejas.</a:t>
            </a:r>
          </a:p>
          <a:p>
            <a:pPr marL="742950" lvl="1" indent="-285750">
              <a:buFont typeface="+mj-lt"/>
              <a:buAutoNum type="arabicPeriod"/>
            </a:pPr>
            <a:r>
              <a:rPr lang="es-ES" b="1" dirty="0"/>
              <a:t>Fluidos Base Aire o Gases:</a:t>
            </a:r>
            <a:r>
              <a:rPr lang="es-ES" dirty="0"/>
              <a:t> Usados en pozos con presiones muy altas.</a:t>
            </a:r>
          </a:p>
          <a:p>
            <a:endParaRPr lang="es-ES" dirty="0"/>
          </a:p>
        </p:txBody>
      </p:sp>
    </p:spTree>
    <p:extLst>
      <p:ext uri="{BB962C8B-B14F-4D97-AF65-F5344CB8AC3E}">
        <p14:creationId xmlns:p14="http://schemas.microsoft.com/office/powerpoint/2010/main" val="3631533477"/>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EF4E5A53-49A6-DA68-9583-2AB4EBC74BBC}"/>
              </a:ext>
            </a:extLst>
          </p:cNvPr>
          <p:cNvSpPr>
            <a:spLocks noGrp="1"/>
          </p:cNvSpPr>
          <p:nvPr>
            <p:ph idx="1"/>
          </p:nvPr>
        </p:nvSpPr>
        <p:spPr>
          <a:xfrm>
            <a:off x="838200" y="1469571"/>
            <a:ext cx="10515600" cy="4707392"/>
          </a:xfrm>
        </p:spPr>
        <p:txBody>
          <a:bodyPr>
            <a:normAutofit fontScale="92500" lnSpcReduction="10000"/>
          </a:bodyPr>
          <a:lstStyle/>
          <a:p>
            <a:pPr marL="0" indent="0">
              <a:buNone/>
            </a:pPr>
            <a:r>
              <a:rPr lang="es-ES" b="1" dirty="0"/>
              <a:t>Equipos de Control de Presión:</a:t>
            </a:r>
            <a:endParaRPr lang="es-ES" dirty="0"/>
          </a:p>
          <a:p>
            <a:pPr>
              <a:buFont typeface="+mj-lt"/>
              <a:buAutoNum type="arabicPeriod"/>
            </a:pPr>
            <a:r>
              <a:rPr lang="es-ES" b="1" dirty="0" err="1"/>
              <a:t>Preventores</a:t>
            </a:r>
            <a:r>
              <a:rPr lang="es-ES" b="1" dirty="0"/>
              <a:t> de Reventón (</a:t>
            </a:r>
            <a:r>
              <a:rPr lang="es-ES" b="1" dirty="0" err="1"/>
              <a:t>BOPs</a:t>
            </a:r>
            <a:r>
              <a:rPr lang="es-ES" b="1" dirty="0"/>
              <a:t>):</a:t>
            </a:r>
            <a:r>
              <a:rPr lang="es-ES" dirty="0"/>
              <a:t> Dispositivos de seguridad que se utilizan para controlar la presión en el pozo y prevenir el reventón.</a:t>
            </a:r>
          </a:p>
          <a:p>
            <a:pPr>
              <a:buFont typeface="+mj-lt"/>
              <a:buAutoNum type="arabicPeriod"/>
            </a:pPr>
            <a:r>
              <a:rPr lang="es-ES" b="1" dirty="0"/>
              <a:t>Válvulas de Control:</a:t>
            </a:r>
            <a:r>
              <a:rPr lang="es-ES" dirty="0"/>
              <a:t> Regulación del flujo y presión de los fluidos de perforación.</a:t>
            </a:r>
          </a:p>
          <a:p>
            <a:pPr marL="0" indent="0">
              <a:buNone/>
            </a:pPr>
            <a:r>
              <a:rPr lang="es-ES" b="1" dirty="0"/>
              <a:t>Equipos de Registro (</a:t>
            </a:r>
            <a:r>
              <a:rPr lang="es-ES" b="1" dirty="0" err="1"/>
              <a:t>Logging</a:t>
            </a:r>
            <a:r>
              <a:rPr lang="es-ES" b="1" dirty="0"/>
              <a:t>):</a:t>
            </a:r>
            <a:endParaRPr lang="es-ES" dirty="0"/>
          </a:p>
          <a:p>
            <a:pPr>
              <a:buFont typeface="+mj-lt"/>
              <a:buAutoNum type="arabicPeriod"/>
            </a:pPr>
            <a:r>
              <a:rPr lang="es-ES" b="1" dirty="0"/>
              <a:t>Registro de Resistencia Eléctrica:</a:t>
            </a:r>
            <a:r>
              <a:rPr lang="es-ES" dirty="0"/>
              <a:t> Mide la resistividad de las formaciones.</a:t>
            </a:r>
          </a:p>
          <a:p>
            <a:pPr>
              <a:buFont typeface="+mj-lt"/>
              <a:buAutoNum type="arabicPeriod"/>
            </a:pPr>
            <a:r>
              <a:rPr lang="es-ES" b="1" dirty="0"/>
              <a:t>Registro de Gamma Ray:</a:t>
            </a:r>
            <a:r>
              <a:rPr lang="es-ES" dirty="0"/>
              <a:t> Mide la radiactividad natural de las formaciones para identificar tipos de roca.</a:t>
            </a:r>
          </a:p>
          <a:p>
            <a:pPr>
              <a:buFont typeface="+mj-lt"/>
              <a:buAutoNum type="arabicPeriod"/>
            </a:pPr>
            <a:r>
              <a:rPr lang="es-ES" b="1" dirty="0"/>
              <a:t>Registro de Neutrón-Densidad:</a:t>
            </a:r>
            <a:r>
              <a:rPr lang="es-ES" dirty="0"/>
              <a:t> Proporciona información sobre la densidad de la formación y la saturación de fluidos.</a:t>
            </a:r>
          </a:p>
          <a:p>
            <a:endParaRPr lang="es-ES" dirty="0"/>
          </a:p>
        </p:txBody>
      </p:sp>
    </p:spTree>
    <p:extLst>
      <p:ext uri="{BB962C8B-B14F-4D97-AF65-F5344CB8AC3E}">
        <p14:creationId xmlns:p14="http://schemas.microsoft.com/office/powerpoint/2010/main" val="801487255"/>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0C43BCD-9595-AE4A-3967-8056BA34D700}"/>
              </a:ext>
            </a:extLst>
          </p:cNvPr>
          <p:cNvSpPr>
            <a:spLocks noGrp="1"/>
          </p:cNvSpPr>
          <p:nvPr>
            <p:ph type="title"/>
          </p:nvPr>
        </p:nvSpPr>
        <p:spPr/>
        <p:txBody>
          <a:bodyPr>
            <a:normAutofit/>
          </a:bodyPr>
          <a:lstStyle/>
          <a:p>
            <a:r>
              <a:rPr lang="es-ES" sz="2800" dirty="0"/>
              <a:t>DESAFIOS Y CONSIDERACIONES</a:t>
            </a:r>
          </a:p>
        </p:txBody>
      </p:sp>
      <p:sp>
        <p:nvSpPr>
          <p:cNvPr id="3" name="Marcador de contenido 2">
            <a:extLst>
              <a:ext uri="{FF2B5EF4-FFF2-40B4-BE49-F238E27FC236}">
                <a16:creationId xmlns:a16="http://schemas.microsoft.com/office/drawing/2014/main" id="{E4863112-D913-5DE6-BCCD-E77B9C7FD154}"/>
              </a:ext>
            </a:extLst>
          </p:cNvPr>
          <p:cNvSpPr>
            <a:spLocks noGrp="1"/>
          </p:cNvSpPr>
          <p:nvPr>
            <p:ph idx="1"/>
          </p:nvPr>
        </p:nvSpPr>
        <p:spPr>
          <a:xfrm>
            <a:off x="838200" y="1453243"/>
            <a:ext cx="10515600" cy="4723720"/>
          </a:xfrm>
        </p:spPr>
        <p:txBody>
          <a:bodyPr>
            <a:normAutofit fontScale="77500" lnSpcReduction="20000"/>
          </a:bodyPr>
          <a:lstStyle/>
          <a:p>
            <a:pPr marL="0" indent="0">
              <a:buNone/>
            </a:pPr>
            <a:r>
              <a:rPr lang="es-ES" b="1" dirty="0"/>
              <a:t>Desafíos Técnicos:</a:t>
            </a:r>
            <a:endParaRPr lang="es-ES" dirty="0"/>
          </a:p>
          <a:p>
            <a:pPr>
              <a:buFont typeface="+mj-lt"/>
              <a:buAutoNum type="arabicPeriod"/>
            </a:pPr>
            <a:r>
              <a:rPr lang="es-ES" b="1" dirty="0"/>
              <a:t>Presión y Temperatura Extremas:</a:t>
            </a:r>
            <a:r>
              <a:rPr lang="es-ES" dirty="0"/>
              <a:t> En pozos profundos, las altas presiones y temperaturas pueden afectar el rendimiento de los equipos y la integridad del pozo.</a:t>
            </a:r>
          </a:p>
          <a:p>
            <a:pPr>
              <a:buFont typeface="+mj-lt"/>
              <a:buAutoNum type="arabicPeriod"/>
            </a:pPr>
            <a:r>
              <a:rPr lang="es-ES" b="1" dirty="0"/>
              <a:t>Formaciones Inestables:</a:t>
            </a:r>
            <a:r>
              <a:rPr lang="es-ES" dirty="0"/>
              <a:t> Las formaciones inestables pueden causar colapsos y problemas en la perforación.</a:t>
            </a:r>
          </a:p>
          <a:p>
            <a:pPr marL="0" indent="0">
              <a:buNone/>
            </a:pPr>
            <a:r>
              <a:rPr lang="es-ES" b="1" dirty="0"/>
              <a:t>Aspectos Ambientales:</a:t>
            </a:r>
            <a:endParaRPr lang="es-ES" dirty="0"/>
          </a:p>
          <a:p>
            <a:pPr>
              <a:buFont typeface="+mj-lt"/>
              <a:buAutoNum type="arabicPeriod"/>
            </a:pPr>
            <a:r>
              <a:rPr lang="es-ES" b="1" dirty="0"/>
              <a:t>Impacto Ambiental:</a:t>
            </a:r>
            <a:r>
              <a:rPr lang="es-ES" dirty="0"/>
              <a:t> Minimizar el impacto ambiental mediante el manejo adecuado de los fluidos de perforación y la protección de fuentes de agua.</a:t>
            </a:r>
          </a:p>
          <a:p>
            <a:pPr>
              <a:buFont typeface="+mj-lt"/>
              <a:buAutoNum type="arabicPeriod"/>
            </a:pPr>
            <a:r>
              <a:rPr lang="es-ES" b="1" dirty="0"/>
              <a:t>Regulaciones:</a:t>
            </a:r>
            <a:r>
              <a:rPr lang="es-ES" dirty="0"/>
              <a:t> Cumplimiento con las regulaciones locales y nacionales sobre protección ambiental y seguridad.</a:t>
            </a:r>
          </a:p>
          <a:p>
            <a:pPr marL="0" indent="0">
              <a:buNone/>
            </a:pPr>
            <a:r>
              <a:rPr lang="es-ES" b="1" dirty="0"/>
              <a:t>Economía:</a:t>
            </a:r>
            <a:endParaRPr lang="es-ES" dirty="0"/>
          </a:p>
          <a:p>
            <a:pPr>
              <a:buFont typeface="+mj-lt"/>
              <a:buAutoNum type="arabicPeriod"/>
            </a:pPr>
            <a:r>
              <a:rPr lang="es-ES" b="1" dirty="0"/>
              <a:t>Costos:</a:t>
            </a:r>
            <a:r>
              <a:rPr lang="es-ES" dirty="0"/>
              <a:t> La perforación de pozos puede ser costosa, y la eficiencia en el diseño y ejecución puede influir significativamente en los costos operativos.</a:t>
            </a:r>
          </a:p>
          <a:p>
            <a:pPr>
              <a:buFont typeface="+mj-lt"/>
              <a:buAutoNum type="arabicPeriod"/>
            </a:pPr>
            <a:r>
              <a:rPr lang="es-ES" b="1" dirty="0"/>
              <a:t>Optimización:</a:t>
            </a:r>
            <a:r>
              <a:rPr lang="es-ES" dirty="0"/>
              <a:t> La optimización de los procesos de perforación para reducir costos y mejorar la eficiencia es crucial.</a:t>
            </a:r>
          </a:p>
          <a:p>
            <a:endParaRPr lang="es-ES" dirty="0"/>
          </a:p>
        </p:txBody>
      </p:sp>
    </p:spTree>
    <p:extLst>
      <p:ext uri="{BB962C8B-B14F-4D97-AF65-F5344CB8AC3E}">
        <p14:creationId xmlns:p14="http://schemas.microsoft.com/office/powerpoint/2010/main" val="1656689884"/>
      </p:ext>
    </p:extLst>
  </p:cSld>
  <p:clrMapOvr>
    <a:masterClrMapping/>
  </p:clrMapOvr>
</p:sld>
</file>

<file path=ppt/slides/slide9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54FF020-5087-D1D1-3148-7922EF4242AD}"/>
              </a:ext>
            </a:extLst>
          </p:cNvPr>
          <p:cNvSpPr>
            <a:spLocks noGrp="1"/>
          </p:cNvSpPr>
          <p:nvPr>
            <p:ph type="title"/>
          </p:nvPr>
        </p:nvSpPr>
        <p:spPr/>
        <p:txBody>
          <a:bodyPr>
            <a:normAutofit/>
          </a:bodyPr>
          <a:lstStyle/>
          <a:p>
            <a:r>
              <a:rPr lang="es-ES" sz="2800" dirty="0"/>
              <a:t>TENDENCIAS Y AVANCES</a:t>
            </a:r>
          </a:p>
        </p:txBody>
      </p:sp>
      <p:sp>
        <p:nvSpPr>
          <p:cNvPr id="3" name="Marcador de contenido 2">
            <a:extLst>
              <a:ext uri="{FF2B5EF4-FFF2-40B4-BE49-F238E27FC236}">
                <a16:creationId xmlns:a16="http://schemas.microsoft.com/office/drawing/2014/main" id="{67B3A577-C1F5-ACC5-FD5F-C707967F678C}"/>
              </a:ext>
            </a:extLst>
          </p:cNvPr>
          <p:cNvSpPr>
            <a:spLocks noGrp="1"/>
          </p:cNvSpPr>
          <p:nvPr>
            <p:ph idx="1"/>
          </p:nvPr>
        </p:nvSpPr>
        <p:spPr/>
        <p:txBody>
          <a:bodyPr>
            <a:normAutofit fontScale="77500" lnSpcReduction="20000"/>
          </a:bodyPr>
          <a:lstStyle/>
          <a:p>
            <a:pPr marL="0" indent="0">
              <a:buNone/>
            </a:pPr>
            <a:r>
              <a:rPr lang="es-ES" b="1" dirty="0"/>
              <a:t>Tecnología de Perforación Avanzada:</a:t>
            </a:r>
            <a:endParaRPr lang="es-ES" dirty="0"/>
          </a:p>
          <a:p>
            <a:pPr>
              <a:buFont typeface="+mj-lt"/>
              <a:buAutoNum type="arabicPeriod"/>
            </a:pPr>
            <a:r>
              <a:rPr lang="es-ES" b="1" dirty="0"/>
              <a:t>Perforación Direccional y Horizontal:</a:t>
            </a:r>
            <a:r>
              <a:rPr lang="es-ES" dirty="0"/>
              <a:t> Permite la perforación de pozos que no siguen una trayectoria vertical, aumentando la eficiencia en la extracción de hidrocarburos.</a:t>
            </a:r>
          </a:p>
          <a:p>
            <a:pPr>
              <a:buFont typeface="+mj-lt"/>
              <a:buAutoNum type="arabicPeriod"/>
            </a:pPr>
            <a:r>
              <a:rPr lang="es-ES" b="1" dirty="0"/>
              <a:t>Perforación con PDC:</a:t>
            </a:r>
            <a:r>
              <a:rPr lang="es-ES" dirty="0"/>
              <a:t> La perforación con brocas de diamante policristalino ofrece una mayor durabilidad y eficiencia.</a:t>
            </a:r>
          </a:p>
          <a:p>
            <a:pPr marL="0" indent="0">
              <a:buNone/>
            </a:pPr>
            <a:r>
              <a:rPr lang="es-ES" b="1" dirty="0"/>
              <a:t>Automatización y Digitalización:</a:t>
            </a:r>
            <a:endParaRPr lang="es-ES" dirty="0"/>
          </a:p>
          <a:p>
            <a:pPr>
              <a:buFont typeface="+mj-lt"/>
              <a:buAutoNum type="arabicPeriod"/>
            </a:pPr>
            <a:r>
              <a:rPr lang="es-ES" b="1" dirty="0"/>
              <a:t>Control Remoto:</a:t>
            </a:r>
            <a:r>
              <a:rPr lang="es-ES" dirty="0"/>
              <a:t> Uso de tecnologías de control remoto para gestionar la perforación a distancia.</a:t>
            </a:r>
          </a:p>
          <a:p>
            <a:pPr>
              <a:buFont typeface="+mj-lt"/>
              <a:buAutoNum type="arabicPeriod"/>
            </a:pPr>
            <a:r>
              <a:rPr lang="es-ES" b="1" dirty="0"/>
              <a:t>Análisis de Datos en Tiempo Real:</a:t>
            </a:r>
            <a:r>
              <a:rPr lang="es-ES" dirty="0"/>
              <a:t> Implementación de sistemas para monitorear y analizar datos de perforación en tiempo real para mejorar la toma de decisiones.</a:t>
            </a:r>
          </a:p>
          <a:p>
            <a:pPr marL="0" indent="0">
              <a:buNone/>
            </a:pPr>
            <a:r>
              <a:rPr lang="es-ES" b="1" dirty="0"/>
              <a:t>Sostenibilidad:</a:t>
            </a:r>
            <a:endParaRPr lang="es-ES" dirty="0"/>
          </a:p>
          <a:p>
            <a:pPr>
              <a:buFont typeface="+mj-lt"/>
              <a:buAutoNum type="arabicPeriod"/>
            </a:pPr>
            <a:r>
              <a:rPr lang="es-ES" b="1" dirty="0"/>
              <a:t>Métodos de Perforación Ecológicos:</a:t>
            </a:r>
            <a:r>
              <a:rPr lang="es-ES" dirty="0"/>
              <a:t> Desarrollo de técnicas y tecnologías que minimicen el impacto ambiental y mejoren la eficiencia energética.</a:t>
            </a:r>
          </a:p>
          <a:p>
            <a:endParaRPr lang="es-ES" dirty="0"/>
          </a:p>
        </p:txBody>
      </p:sp>
    </p:spTree>
    <p:extLst>
      <p:ext uri="{BB962C8B-B14F-4D97-AF65-F5344CB8AC3E}">
        <p14:creationId xmlns:p14="http://schemas.microsoft.com/office/powerpoint/2010/main" val="4028685988"/>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A0963B8-8FE6-45D8-9E9C-20262CF466B4}"/>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D13E892C-FDCA-027E-8E21-BD89B47E5750}"/>
              </a:ext>
            </a:extLst>
          </p:cNvPr>
          <p:cNvSpPr>
            <a:spLocks noGrp="1"/>
          </p:cNvSpPr>
          <p:nvPr>
            <p:ph idx="1"/>
          </p:nvPr>
        </p:nvSpPr>
        <p:spPr/>
        <p:txBody>
          <a:bodyPr/>
          <a:lstStyle/>
          <a:p>
            <a:pPr algn="just"/>
            <a:r>
              <a:rPr lang="es-ES" dirty="0"/>
              <a:t>En resumen, la ingeniería de perforación es una disciplina compleja y multifacética que abarca desde la planificación y diseño hasta la ejecución y gestión de la perforación de pozos de hidrocarburos. Implica una combinación de conocimientos técnicos, habilidades de gestión y consideraciones ambientales para garantizar que los pozos sean perforados de manera segura, eficiente y rentable. La evolución de las tecnologías y la creciente preocupación por la sostenibilidad están marcando tendencias significativas en el campo, mejorando la eficiencia y reduciendo el impacto ambiental.</a:t>
            </a:r>
          </a:p>
        </p:txBody>
      </p:sp>
    </p:spTree>
    <p:extLst>
      <p:ext uri="{BB962C8B-B14F-4D97-AF65-F5344CB8AC3E}">
        <p14:creationId xmlns:p14="http://schemas.microsoft.com/office/powerpoint/2010/main" val="3668548718"/>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E831558A-224A-2E35-0119-3B928925739B}"/>
              </a:ext>
            </a:extLst>
          </p:cNvPr>
          <p:cNvSpPr>
            <a:spLocks noGrp="1"/>
          </p:cNvSpPr>
          <p:nvPr>
            <p:ph type="title"/>
          </p:nvPr>
        </p:nvSpPr>
        <p:spPr/>
        <p:txBody>
          <a:bodyPr>
            <a:normAutofit/>
          </a:bodyPr>
          <a:lstStyle/>
          <a:p>
            <a:r>
              <a:rPr lang="es-ES" sz="2800" dirty="0"/>
              <a:t>TIPOS DE PLATAFORMAS DE PERFORACION</a:t>
            </a:r>
          </a:p>
        </p:txBody>
      </p:sp>
      <p:sp>
        <p:nvSpPr>
          <p:cNvPr id="3" name="Marcador de contenido 2">
            <a:extLst>
              <a:ext uri="{FF2B5EF4-FFF2-40B4-BE49-F238E27FC236}">
                <a16:creationId xmlns:a16="http://schemas.microsoft.com/office/drawing/2014/main" id="{4E7C6C2D-15EF-799D-971E-B3E668A5B4B7}"/>
              </a:ext>
            </a:extLst>
          </p:cNvPr>
          <p:cNvSpPr>
            <a:spLocks noGrp="1"/>
          </p:cNvSpPr>
          <p:nvPr>
            <p:ph idx="1"/>
          </p:nvPr>
        </p:nvSpPr>
        <p:spPr>
          <a:xfrm>
            <a:off x="838200" y="1825625"/>
            <a:ext cx="10515600" cy="4667250"/>
          </a:xfrm>
        </p:spPr>
        <p:txBody>
          <a:bodyPr>
            <a:normAutofit fontScale="92500" lnSpcReduction="20000"/>
          </a:bodyPr>
          <a:lstStyle/>
          <a:p>
            <a:pPr marL="0" indent="0">
              <a:buNone/>
            </a:pPr>
            <a:r>
              <a:rPr lang="es-ES" b="1" dirty="0"/>
              <a:t>Plataformas Terrestres:</a:t>
            </a:r>
          </a:p>
          <a:p>
            <a:pPr marL="0" indent="0">
              <a:buNone/>
            </a:pPr>
            <a:endParaRPr lang="es-ES" dirty="0"/>
          </a:p>
          <a:p>
            <a:pPr>
              <a:buFont typeface="+mj-lt"/>
              <a:buAutoNum type="arabicPeriod"/>
            </a:pPr>
            <a:r>
              <a:rPr lang="es-ES" b="1" dirty="0"/>
              <a:t>Plataformas Fijas:</a:t>
            </a:r>
            <a:endParaRPr lang="es-ES" dirty="0"/>
          </a:p>
          <a:p>
            <a:pPr marL="742950" lvl="1" indent="-285750">
              <a:buFont typeface="+mj-lt"/>
              <a:buAutoNum type="arabicPeriod"/>
            </a:pPr>
            <a:r>
              <a:rPr lang="es-ES" b="1" dirty="0"/>
              <a:t>Descripción:</a:t>
            </a:r>
            <a:r>
              <a:rPr lang="es-ES" dirty="0"/>
              <a:t> Son estructuras permanentes montadas sobre una base fija en tierra. Pueden ser de tipo </a:t>
            </a:r>
            <a:r>
              <a:rPr lang="es-ES" dirty="0" err="1"/>
              <a:t>jack</a:t>
            </a:r>
            <a:r>
              <a:rPr lang="es-ES" dirty="0"/>
              <a:t>-up (elevadas sobre pilotes) o de tipo </a:t>
            </a:r>
            <a:r>
              <a:rPr lang="es-ES" dirty="0" err="1"/>
              <a:t>skidding</a:t>
            </a:r>
            <a:r>
              <a:rPr lang="es-ES" dirty="0"/>
              <a:t> (móviles sobre rieles).</a:t>
            </a:r>
          </a:p>
          <a:p>
            <a:pPr marL="742950" lvl="1" indent="-285750">
              <a:buFont typeface="+mj-lt"/>
              <a:buAutoNum type="arabicPeriod"/>
            </a:pPr>
            <a:r>
              <a:rPr lang="es-ES" b="1" dirty="0"/>
              <a:t>Uso:</a:t>
            </a:r>
            <a:r>
              <a:rPr lang="es-ES" dirty="0"/>
              <a:t> Se utilizan en terrenos estables y accesibles. Son comunes en áreas como la Cuenca de Marañón en Perú.</a:t>
            </a:r>
          </a:p>
          <a:p>
            <a:pPr marL="0" indent="0">
              <a:buNone/>
            </a:pPr>
            <a:r>
              <a:rPr lang="es-ES" b="1" dirty="0"/>
              <a:t>2.Plataformas Móviles:</a:t>
            </a:r>
            <a:endParaRPr lang="es-ES" dirty="0"/>
          </a:p>
          <a:p>
            <a:pPr>
              <a:buFont typeface="Arial" panose="020B0604020202020204" pitchFamily="34" charset="0"/>
              <a:buChar char="•"/>
            </a:pPr>
            <a:r>
              <a:rPr lang="es-ES" b="1" dirty="0"/>
              <a:t>Descripción:</a:t>
            </a:r>
            <a:r>
              <a:rPr lang="es-ES" dirty="0"/>
              <a:t> Estas plataformas están montadas sobre camiones o </a:t>
            </a:r>
            <a:r>
              <a:rPr lang="es-ES" dirty="0" err="1"/>
              <a:t>trailers</a:t>
            </a:r>
            <a:r>
              <a:rPr lang="es-ES" dirty="0"/>
              <a:t> y pueden ser trasladadas de un lugar a otro.</a:t>
            </a:r>
          </a:p>
          <a:p>
            <a:pPr>
              <a:buFont typeface="Arial" panose="020B0604020202020204" pitchFamily="34" charset="0"/>
              <a:buChar char="•"/>
            </a:pPr>
            <a:r>
              <a:rPr lang="es-ES" b="1" dirty="0"/>
              <a:t>Uso:</a:t>
            </a:r>
            <a:r>
              <a:rPr lang="es-ES" dirty="0"/>
              <a:t> Se utilizan en terrenos accidentados o en áreas donde se requiere movilidad para cambiar la ubicación del pozo.</a:t>
            </a:r>
          </a:p>
          <a:p>
            <a:pPr marL="457200" lvl="1" indent="0">
              <a:buNone/>
            </a:pPr>
            <a:endParaRPr lang="es-ES" dirty="0"/>
          </a:p>
          <a:p>
            <a:pPr marL="0" indent="0">
              <a:buNone/>
            </a:pPr>
            <a:endParaRPr lang="es-ES" dirty="0"/>
          </a:p>
        </p:txBody>
      </p:sp>
    </p:spTree>
    <p:extLst>
      <p:ext uri="{BB962C8B-B14F-4D97-AF65-F5344CB8AC3E}">
        <p14:creationId xmlns:p14="http://schemas.microsoft.com/office/powerpoint/2010/main" val="77208467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619A3EE2-C81B-604D-0FE3-DFED1F560311}"/>
              </a:ext>
            </a:extLst>
          </p:cNvPr>
          <p:cNvSpPr>
            <a:spLocks noGrp="1"/>
          </p:cNvSpPr>
          <p:nvPr>
            <p:ph idx="1"/>
          </p:nvPr>
        </p:nvSpPr>
        <p:spPr>
          <a:xfrm>
            <a:off x="838200" y="1273629"/>
            <a:ext cx="10515600" cy="5088618"/>
          </a:xfrm>
        </p:spPr>
        <p:txBody>
          <a:bodyPr>
            <a:normAutofit fontScale="85000" lnSpcReduction="20000"/>
          </a:bodyPr>
          <a:lstStyle/>
          <a:p>
            <a:pPr marL="0" indent="0">
              <a:buNone/>
            </a:pPr>
            <a:r>
              <a:rPr lang="es-ES" b="1" dirty="0"/>
              <a:t>Plataformas Marinas:</a:t>
            </a:r>
            <a:endParaRPr lang="es-ES" dirty="0"/>
          </a:p>
          <a:p>
            <a:pPr>
              <a:buFont typeface="+mj-lt"/>
              <a:buAutoNum type="arabicPeriod"/>
            </a:pPr>
            <a:r>
              <a:rPr lang="es-ES" b="1" dirty="0"/>
              <a:t>Plataformas Jack-Up:</a:t>
            </a:r>
            <a:endParaRPr lang="es-ES" dirty="0"/>
          </a:p>
          <a:p>
            <a:pPr marL="742950" lvl="1" indent="-285750">
              <a:buFont typeface="+mj-lt"/>
              <a:buAutoNum type="arabicPeriod"/>
            </a:pPr>
            <a:r>
              <a:rPr lang="es-ES" b="1" dirty="0"/>
              <a:t>Descripción:</a:t>
            </a:r>
            <a:r>
              <a:rPr lang="es-ES" dirty="0"/>
              <a:t> Son plataformas flotantes que se elevan sobre el agua mediante patas telescópicas que se clavan en el lecho marino.</a:t>
            </a:r>
          </a:p>
          <a:p>
            <a:pPr marL="742950" lvl="1" indent="-285750">
              <a:buFont typeface="+mj-lt"/>
              <a:buAutoNum type="arabicPeriod"/>
            </a:pPr>
            <a:r>
              <a:rPr lang="es-ES" b="1" dirty="0"/>
              <a:t>Uso:</a:t>
            </a:r>
            <a:r>
              <a:rPr lang="es-ES" dirty="0"/>
              <a:t> Utilizadas en aguas poco profundas. Ejemplos en Perú podrían ser en áreas cercanas a la costa.</a:t>
            </a:r>
          </a:p>
          <a:p>
            <a:pPr>
              <a:buFont typeface="+mj-lt"/>
              <a:buAutoNum type="arabicPeriod"/>
            </a:pPr>
            <a:r>
              <a:rPr lang="es-ES" b="1" dirty="0"/>
              <a:t>Plataformas Semi-Sumergibles:</a:t>
            </a:r>
            <a:endParaRPr lang="es-ES" dirty="0"/>
          </a:p>
          <a:p>
            <a:pPr marL="742950" lvl="1" indent="-285750">
              <a:buFont typeface="+mj-lt"/>
              <a:buAutoNum type="arabicPeriod"/>
            </a:pPr>
            <a:r>
              <a:rPr lang="es-ES" b="1" dirty="0"/>
              <a:t>Descripción:</a:t>
            </a:r>
            <a:r>
              <a:rPr lang="es-ES" dirty="0"/>
              <a:t> Estas plataformas flotan sobre el agua y están ancladas al fondo marino mediante cables. Tienen una estructura estable y están diseñadas para soportar condiciones marinas extremas.</a:t>
            </a:r>
          </a:p>
          <a:p>
            <a:pPr marL="742950" lvl="1" indent="-285750">
              <a:buFont typeface="+mj-lt"/>
              <a:buAutoNum type="arabicPeriod"/>
            </a:pPr>
            <a:r>
              <a:rPr lang="es-ES" b="1" dirty="0"/>
              <a:t>Uso:</a:t>
            </a:r>
            <a:r>
              <a:rPr lang="es-ES" dirty="0"/>
              <a:t> Adecuadas para aguas más profundas y pueden operar en condiciones meteorológicas adversas.</a:t>
            </a:r>
          </a:p>
          <a:p>
            <a:pPr>
              <a:buFont typeface="+mj-lt"/>
              <a:buAutoNum type="arabicPeriod"/>
            </a:pPr>
            <a:r>
              <a:rPr lang="es-ES" b="1" dirty="0"/>
              <a:t>Plataformas de Tensión de Cuerda:</a:t>
            </a:r>
            <a:endParaRPr lang="es-ES" dirty="0"/>
          </a:p>
          <a:p>
            <a:pPr marL="742950" lvl="1" indent="-285750">
              <a:buFont typeface="+mj-lt"/>
              <a:buAutoNum type="arabicPeriod"/>
            </a:pPr>
            <a:r>
              <a:rPr lang="es-ES" b="1" dirty="0"/>
              <a:t>Descripción:</a:t>
            </a:r>
            <a:r>
              <a:rPr lang="es-ES" dirty="0"/>
              <a:t> Plataformas flotantes ancladas al fondo marino por medio de cables tensores. Están diseñadas para aguas profundas.</a:t>
            </a:r>
          </a:p>
          <a:p>
            <a:pPr marL="742950" lvl="1" indent="-285750">
              <a:buFont typeface="+mj-lt"/>
              <a:buAutoNum type="arabicPeriod"/>
            </a:pPr>
            <a:r>
              <a:rPr lang="es-ES" b="1" dirty="0"/>
              <a:t>Uso:</a:t>
            </a:r>
            <a:r>
              <a:rPr lang="es-ES" dirty="0"/>
              <a:t> Utilizadas en áreas con profundidades mayores, como las plataformas en el océano profundo.</a:t>
            </a:r>
          </a:p>
          <a:p>
            <a:endParaRPr lang="es-ES" dirty="0"/>
          </a:p>
        </p:txBody>
      </p:sp>
    </p:spTree>
    <p:extLst>
      <p:ext uri="{BB962C8B-B14F-4D97-AF65-F5344CB8AC3E}">
        <p14:creationId xmlns:p14="http://schemas.microsoft.com/office/powerpoint/2010/main" val="2315523233"/>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9B2365D-577A-3C37-4B98-688A840223D3}"/>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E7C63622-3F02-A25B-F86B-DB4DE8CB0989}"/>
              </a:ext>
            </a:extLst>
          </p:cNvPr>
          <p:cNvSpPr>
            <a:spLocks noGrp="1"/>
          </p:cNvSpPr>
          <p:nvPr>
            <p:ph idx="1"/>
          </p:nvPr>
        </p:nvSpPr>
        <p:spPr/>
        <p:txBody>
          <a:bodyPr/>
          <a:lstStyle/>
          <a:p>
            <a:r>
              <a:rPr lang="es-ES" b="1" dirty="0"/>
              <a:t>Plataformas de Perforación en Buques (</a:t>
            </a:r>
            <a:r>
              <a:rPr lang="es-ES" b="1" dirty="0" err="1"/>
              <a:t>Drillships</a:t>
            </a:r>
            <a:r>
              <a:rPr lang="es-ES" b="1" dirty="0"/>
              <a:t>):</a:t>
            </a:r>
            <a:endParaRPr lang="es-ES" dirty="0"/>
          </a:p>
          <a:p>
            <a:pPr>
              <a:buFont typeface="Arial" panose="020B0604020202020204" pitchFamily="34" charset="0"/>
              <a:buChar char="•"/>
            </a:pPr>
            <a:r>
              <a:rPr lang="es-ES" b="1" dirty="0"/>
              <a:t>Descripción:</a:t>
            </a:r>
            <a:r>
              <a:rPr lang="es-ES" dirty="0"/>
              <a:t> Son barcos especializados que cuentan con equipos de perforación y están diseñados para operar en mar abierto.</a:t>
            </a:r>
          </a:p>
          <a:p>
            <a:pPr>
              <a:buFont typeface="Arial" panose="020B0604020202020204" pitchFamily="34" charset="0"/>
              <a:buChar char="•"/>
            </a:pPr>
            <a:r>
              <a:rPr lang="es-ES" b="1" dirty="0"/>
              <a:t>Uso:</a:t>
            </a:r>
            <a:r>
              <a:rPr lang="es-ES" dirty="0"/>
              <a:t> Utilizados en aguas profundas y para operaciones en mar abierto.</a:t>
            </a:r>
          </a:p>
          <a:p>
            <a:endParaRPr lang="es-ES" dirty="0"/>
          </a:p>
        </p:txBody>
      </p:sp>
    </p:spTree>
    <p:extLst>
      <p:ext uri="{BB962C8B-B14F-4D97-AF65-F5344CB8AC3E}">
        <p14:creationId xmlns:p14="http://schemas.microsoft.com/office/powerpoint/2010/main" val="3299651409"/>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84F4E975-C1CC-E084-4106-845F3BF2A9AC}"/>
              </a:ext>
            </a:extLst>
          </p:cNvPr>
          <p:cNvSpPr>
            <a:spLocks noGrp="1"/>
          </p:cNvSpPr>
          <p:nvPr>
            <p:ph type="title"/>
          </p:nvPr>
        </p:nvSpPr>
        <p:spPr>
          <a:xfrm>
            <a:off x="838200" y="365126"/>
            <a:ext cx="9056914" cy="1267732"/>
          </a:xfrm>
        </p:spPr>
        <p:txBody>
          <a:bodyPr>
            <a:normAutofit/>
          </a:bodyPr>
          <a:lstStyle/>
          <a:p>
            <a:r>
              <a:rPr lang="es-ES" sz="2800" dirty="0"/>
              <a:t>COMPONENTES PRINCIPALES DE UNA PLATAFORMA DE PERFORACION</a:t>
            </a:r>
          </a:p>
        </p:txBody>
      </p:sp>
      <p:sp>
        <p:nvSpPr>
          <p:cNvPr id="3" name="Marcador de contenido 2">
            <a:extLst>
              <a:ext uri="{FF2B5EF4-FFF2-40B4-BE49-F238E27FC236}">
                <a16:creationId xmlns:a16="http://schemas.microsoft.com/office/drawing/2014/main" id="{73466E77-9ED5-709F-79F3-855A6ACB8201}"/>
              </a:ext>
            </a:extLst>
          </p:cNvPr>
          <p:cNvSpPr>
            <a:spLocks noGrp="1"/>
          </p:cNvSpPr>
          <p:nvPr>
            <p:ph idx="1"/>
          </p:nvPr>
        </p:nvSpPr>
        <p:spPr/>
        <p:txBody>
          <a:bodyPr>
            <a:normAutofit fontScale="85000" lnSpcReduction="10000"/>
          </a:bodyPr>
          <a:lstStyle/>
          <a:p>
            <a:pPr marL="0" indent="0">
              <a:buNone/>
            </a:pPr>
            <a:r>
              <a:rPr lang="es-ES" b="1" dirty="0"/>
              <a:t>Estructura Principal:</a:t>
            </a:r>
            <a:endParaRPr lang="es-ES" dirty="0"/>
          </a:p>
          <a:p>
            <a:pPr>
              <a:buFont typeface="+mj-lt"/>
              <a:buAutoNum type="arabicPeriod"/>
            </a:pPr>
            <a:r>
              <a:rPr lang="es-ES" b="1" dirty="0"/>
              <a:t>Torre de Perforación (Derrick o </a:t>
            </a:r>
            <a:r>
              <a:rPr lang="es-ES" b="1" dirty="0" err="1"/>
              <a:t>Mast</a:t>
            </a:r>
            <a:r>
              <a:rPr lang="es-ES" b="1" dirty="0"/>
              <a:t>):</a:t>
            </a:r>
            <a:endParaRPr lang="es-ES" dirty="0"/>
          </a:p>
          <a:p>
            <a:pPr marL="742950" lvl="1" indent="-285750">
              <a:buFont typeface="+mj-lt"/>
              <a:buAutoNum type="arabicPeriod"/>
            </a:pPr>
            <a:r>
              <a:rPr lang="es-ES" b="1" dirty="0"/>
              <a:t>Descripción:</a:t>
            </a:r>
            <a:r>
              <a:rPr lang="es-ES" dirty="0"/>
              <a:t> Estructura vertical que soporta el equipo de perforación. Puede ser fija o móvil y está diseñada para soportar el peso de las tuberías y herramientas de perforación.</a:t>
            </a:r>
          </a:p>
          <a:p>
            <a:pPr marL="742950" lvl="1" indent="-285750">
              <a:buFont typeface="+mj-lt"/>
              <a:buAutoNum type="arabicPeriod"/>
            </a:pPr>
            <a:r>
              <a:rPr lang="es-ES" b="1" dirty="0"/>
              <a:t>Función:</a:t>
            </a:r>
            <a:r>
              <a:rPr lang="es-ES" dirty="0"/>
              <a:t> Proporciona soporte y permite el movimiento vertical de las tuberías de perforación.</a:t>
            </a:r>
          </a:p>
          <a:p>
            <a:pPr marL="0" indent="0">
              <a:buNone/>
            </a:pPr>
            <a:r>
              <a:rPr lang="es-ES" b="1" dirty="0"/>
              <a:t>2.Base de la Plataforma:</a:t>
            </a:r>
            <a:endParaRPr lang="es-ES" dirty="0"/>
          </a:p>
          <a:p>
            <a:pPr>
              <a:buFont typeface="Arial" panose="020B0604020202020204" pitchFamily="34" charset="0"/>
              <a:buChar char="•"/>
            </a:pPr>
            <a:r>
              <a:rPr lang="es-ES" b="1" dirty="0"/>
              <a:t>Descripción:</a:t>
            </a:r>
            <a:r>
              <a:rPr lang="es-ES" dirty="0"/>
              <a:t> La base proporciona la estabilidad de la plataforma. En plataformas terrestres, puede ser una estructura sólida sobre pilotes o cimientos. En plataformas marinas, puede ser una estructura flotante o una base fija en el lecho marino.</a:t>
            </a:r>
          </a:p>
          <a:p>
            <a:pPr>
              <a:buFont typeface="Arial" panose="020B0604020202020204" pitchFamily="34" charset="0"/>
              <a:buChar char="•"/>
            </a:pPr>
            <a:r>
              <a:rPr lang="es-ES" b="1" dirty="0"/>
              <a:t>Función:</a:t>
            </a:r>
            <a:r>
              <a:rPr lang="es-ES" dirty="0"/>
              <a:t> Soporta todo el peso de la plataforma y proporciona estabilidad durante la perforación.</a:t>
            </a:r>
          </a:p>
          <a:p>
            <a:endParaRPr lang="es-ES" dirty="0"/>
          </a:p>
        </p:txBody>
      </p:sp>
    </p:spTree>
    <p:extLst>
      <p:ext uri="{BB962C8B-B14F-4D97-AF65-F5344CB8AC3E}">
        <p14:creationId xmlns:p14="http://schemas.microsoft.com/office/powerpoint/2010/main" val="2440499148"/>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CCDCA95D-6359-5D54-4E74-CC4E8146AD01}"/>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AF1EF8D7-962E-B68D-F7A8-C5C89B09A53D}"/>
              </a:ext>
            </a:extLst>
          </p:cNvPr>
          <p:cNvSpPr>
            <a:spLocks noGrp="1"/>
          </p:cNvSpPr>
          <p:nvPr>
            <p:ph idx="1"/>
          </p:nvPr>
        </p:nvSpPr>
        <p:spPr/>
        <p:txBody>
          <a:bodyPr>
            <a:normAutofit fontScale="92500" lnSpcReduction="20000"/>
          </a:bodyPr>
          <a:lstStyle/>
          <a:p>
            <a:r>
              <a:rPr lang="es-ES" b="1" dirty="0"/>
              <a:t>Equipo de Perforación:</a:t>
            </a:r>
            <a:endParaRPr lang="es-ES" dirty="0"/>
          </a:p>
          <a:p>
            <a:pPr>
              <a:buFont typeface="+mj-lt"/>
              <a:buAutoNum type="arabicPeriod"/>
            </a:pPr>
            <a:r>
              <a:rPr lang="es-ES" b="1" dirty="0"/>
              <a:t>Broca de Perforación:</a:t>
            </a:r>
            <a:endParaRPr lang="es-ES" dirty="0"/>
          </a:p>
          <a:p>
            <a:pPr marL="742950" lvl="1" indent="-285750">
              <a:buFont typeface="+mj-lt"/>
              <a:buAutoNum type="arabicPeriod"/>
            </a:pPr>
            <a:r>
              <a:rPr lang="es-ES" b="1" dirty="0"/>
              <a:t>Descripción:</a:t>
            </a:r>
            <a:r>
              <a:rPr lang="es-ES" dirty="0"/>
              <a:t> Herramienta de corte que se encuentra en el extremo inferior de la sarta de perforación.</a:t>
            </a:r>
          </a:p>
          <a:p>
            <a:pPr marL="742950" lvl="1" indent="-285750">
              <a:buFont typeface="+mj-lt"/>
              <a:buAutoNum type="arabicPeriod"/>
            </a:pPr>
            <a:r>
              <a:rPr lang="es-ES" b="1" dirty="0"/>
              <a:t>Función:</a:t>
            </a:r>
            <a:r>
              <a:rPr lang="es-ES" dirty="0"/>
              <a:t> Corta y fragmenta las formaciones rocosas mientras se perfora el pozo.</a:t>
            </a:r>
          </a:p>
          <a:p>
            <a:pPr>
              <a:buFont typeface="+mj-lt"/>
              <a:buAutoNum type="arabicPeriod"/>
            </a:pPr>
            <a:r>
              <a:rPr lang="es-ES" b="1" dirty="0"/>
              <a:t>Sarta de Perforación:</a:t>
            </a:r>
            <a:endParaRPr lang="es-ES" dirty="0"/>
          </a:p>
          <a:p>
            <a:pPr marL="742950" lvl="1" indent="-285750">
              <a:buFont typeface="+mj-lt"/>
              <a:buAutoNum type="arabicPeriod"/>
            </a:pPr>
            <a:r>
              <a:rPr lang="es-ES" b="1" dirty="0"/>
              <a:t>Descripción:</a:t>
            </a:r>
            <a:r>
              <a:rPr lang="es-ES" dirty="0"/>
              <a:t> Conjunto de tuberías conectadas que transportan los fluidos de perforación y herramientas desde la superficie hasta la broca.</a:t>
            </a:r>
          </a:p>
          <a:p>
            <a:pPr marL="742950" lvl="1" indent="-285750">
              <a:buFont typeface="+mj-lt"/>
              <a:buAutoNum type="arabicPeriod"/>
            </a:pPr>
            <a:r>
              <a:rPr lang="es-ES" b="1" dirty="0"/>
              <a:t>Función:</a:t>
            </a:r>
            <a:r>
              <a:rPr lang="es-ES" dirty="0"/>
              <a:t> Facilita la transmisión de fuerza y fluidos entre la superficie y el fondo del pozo.</a:t>
            </a:r>
          </a:p>
          <a:p>
            <a:pPr>
              <a:buFont typeface="+mj-lt"/>
              <a:buAutoNum type="arabicPeriod"/>
            </a:pPr>
            <a:r>
              <a:rPr lang="es-ES" b="1" dirty="0"/>
              <a:t>Sistema de Circulación de Fluidos:</a:t>
            </a:r>
            <a:endParaRPr lang="es-ES" dirty="0"/>
          </a:p>
          <a:p>
            <a:pPr marL="742950" lvl="1" indent="-285750">
              <a:buFont typeface="+mj-lt"/>
              <a:buAutoNum type="arabicPeriod"/>
            </a:pPr>
            <a:r>
              <a:rPr lang="es-ES" b="1" dirty="0"/>
              <a:t>Descripción:</a:t>
            </a:r>
            <a:r>
              <a:rPr lang="es-ES" dirty="0"/>
              <a:t> Incluye bombas y tuberías que transportan el fluido de perforación hacia y desde el pozo.</a:t>
            </a:r>
          </a:p>
          <a:p>
            <a:pPr marL="742950" lvl="1" indent="-285750">
              <a:buFont typeface="+mj-lt"/>
              <a:buAutoNum type="arabicPeriod"/>
            </a:pPr>
            <a:r>
              <a:rPr lang="es-ES" b="1" dirty="0"/>
              <a:t>Función:</a:t>
            </a:r>
            <a:r>
              <a:rPr lang="es-ES" dirty="0"/>
              <a:t> Limpia los recortes de la perforación, enfría la broca, y estabiliza el pozo.</a:t>
            </a:r>
          </a:p>
          <a:p>
            <a:endParaRPr lang="es-ES" dirty="0"/>
          </a:p>
        </p:txBody>
      </p:sp>
    </p:spTree>
    <p:extLst>
      <p:ext uri="{BB962C8B-B14F-4D97-AF65-F5344CB8AC3E}">
        <p14:creationId xmlns:p14="http://schemas.microsoft.com/office/powerpoint/2010/main" val="3169995708"/>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281E156-14BD-BF44-852C-846C47E7FABC}"/>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F2EA42DF-CABE-2AC8-D1B9-4F16B641401B}"/>
              </a:ext>
            </a:extLst>
          </p:cNvPr>
          <p:cNvSpPr>
            <a:spLocks noGrp="1"/>
          </p:cNvSpPr>
          <p:nvPr>
            <p:ph idx="1"/>
          </p:nvPr>
        </p:nvSpPr>
        <p:spPr/>
        <p:txBody>
          <a:bodyPr>
            <a:normAutofit lnSpcReduction="10000"/>
          </a:bodyPr>
          <a:lstStyle/>
          <a:p>
            <a:r>
              <a:rPr lang="es-ES" b="1" dirty="0"/>
              <a:t>Equipo de Control de Presión:</a:t>
            </a:r>
            <a:endParaRPr lang="es-ES" dirty="0"/>
          </a:p>
          <a:p>
            <a:pPr>
              <a:buFont typeface="+mj-lt"/>
              <a:buAutoNum type="arabicPeriod"/>
            </a:pPr>
            <a:r>
              <a:rPr lang="es-ES" b="1" dirty="0" err="1"/>
              <a:t>Preventores</a:t>
            </a:r>
            <a:r>
              <a:rPr lang="es-ES" b="1" dirty="0"/>
              <a:t> de Reventón (</a:t>
            </a:r>
            <a:r>
              <a:rPr lang="es-ES" b="1" dirty="0" err="1"/>
              <a:t>BOPs</a:t>
            </a:r>
            <a:r>
              <a:rPr lang="es-ES" b="1" dirty="0"/>
              <a:t>):</a:t>
            </a:r>
            <a:endParaRPr lang="es-ES" dirty="0"/>
          </a:p>
          <a:p>
            <a:pPr marL="742950" lvl="1" indent="-285750">
              <a:buFont typeface="+mj-lt"/>
              <a:buAutoNum type="arabicPeriod"/>
            </a:pPr>
            <a:r>
              <a:rPr lang="es-ES" b="1" dirty="0"/>
              <a:t>Descripción:</a:t>
            </a:r>
            <a:r>
              <a:rPr lang="es-ES" dirty="0"/>
              <a:t> Dispositivos de seguridad que controlan la presión en el pozo y previenen el reventón.</a:t>
            </a:r>
          </a:p>
          <a:p>
            <a:pPr marL="742950" lvl="1" indent="-285750">
              <a:buFont typeface="+mj-lt"/>
              <a:buAutoNum type="arabicPeriod"/>
            </a:pPr>
            <a:r>
              <a:rPr lang="es-ES" b="1" dirty="0"/>
              <a:t>Función:</a:t>
            </a:r>
            <a:r>
              <a:rPr lang="es-ES" dirty="0"/>
              <a:t> Permiten la contención y manejo de presiones inesperadas durante la perforación.</a:t>
            </a:r>
          </a:p>
          <a:p>
            <a:pPr>
              <a:buFont typeface="+mj-lt"/>
              <a:buAutoNum type="arabicPeriod"/>
            </a:pPr>
            <a:r>
              <a:rPr lang="es-ES" b="1" dirty="0"/>
              <a:t>Sistema de Control de Presión:</a:t>
            </a:r>
            <a:endParaRPr lang="es-ES" dirty="0"/>
          </a:p>
          <a:p>
            <a:pPr marL="742950" lvl="1" indent="-285750">
              <a:buFont typeface="+mj-lt"/>
              <a:buAutoNum type="arabicPeriod"/>
            </a:pPr>
            <a:r>
              <a:rPr lang="es-ES" b="1" dirty="0"/>
              <a:t>Descripción:</a:t>
            </a:r>
            <a:r>
              <a:rPr lang="es-ES" dirty="0"/>
              <a:t> Monitorea y regula la presión de los fluidos de perforación para mantener condiciones seguras en el pozo.</a:t>
            </a:r>
          </a:p>
          <a:p>
            <a:pPr marL="742950" lvl="1" indent="-285750">
              <a:buFont typeface="+mj-lt"/>
              <a:buAutoNum type="arabicPeriod"/>
            </a:pPr>
            <a:r>
              <a:rPr lang="es-ES" b="1" dirty="0"/>
              <a:t>Función:</a:t>
            </a:r>
            <a:r>
              <a:rPr lang="es-ES" dirty="0"/>
              <a:t> Previene problemas como el reventón y controla la presión del pozo.</a:t>
            </a:r>
          </a:p>
          <a:p>
            <a:endParaRPr lang="es-ES" dirty="0"/>
          </a:p>
        </p:txBody>
      </p:sp>
    </p:spTree>
    <p:extLst>
      <p:ext uri="{BB962C8B-B14F-4D97-AF65-F5344CB8AC3E}">
        <p14:creationId xmlns:p14="http://schemas.microsoft.com/office/powerpoint/2010/main" val="216987728"/>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Marcador de contenido 2">
            <a:extLst>
              <a:ext uri="{FF2B5EF4-FFF2-40B4-BE49-F238E27FC236}">
                <a16:creationId xmlns:a16="http://schemas.microsoft.com/office/drawing/2014/main" id="{48D3E6CA-7007-25CA-B707-4498FDAFFD0B}"/>
              </a:ext>
            </a:extLst>
          </p:cNvPr>
          <p:cNvSpPr>
            <a:spLocks noGrp="1"/>
          </p:cNvSpPr>
          <p:nvPr>
            <p:ph idx="1"/>
          </p:nvPr>
        </p:nvSpPr>
        <p:spPr>
          <a:xfrm>
            <a:off x="838200" y="1371600"/>
            <a:ext cx="10515600" cy="4805363"/>
          </a:xfrm>
        </p:spPr>
        <p:txBody>
          <a:bodyPr>
            <a:normAutofit fontScale="77500" lnSpcReduction="20000"/>
          </a:bodyPr>
          <a:lstStyle/>
          <a:p>
            <a:r>
              <a:rPr lang="es-ES" b="1" dirty="0"/>
              <a:t>Equipo de Manejo de Tubos y Herramientas:</a:t>
            </a:r>
            <a:endParaRPr lang="es-ES" dirty="0"/>
          </a:p>
          <a:p>
            <a:pPr>
              <a:buFont typeface="+mj-lt"/>
              <a:buAutoNum type="arabicPeriod"/>
            </a:pPr>
            <a:r>
              <a:rPr lang="es-ES" b="1" dirty="0"/>
              <a:t>Equipo de Manipulación de Tubos:</a:t>
            </a:r>
            <a:endParaRPr lang="es-ES" dirty="0"/>
          </a:p>
          <a:p>
            <a:pPr marL="742950" lvl="1" indent="-285750">
              <a:buFont typeface="+mj-lt"/>
              <a:buAutoNum type="arabicPeriod"/>
            </a:pPr>
            <a:r>
              <a:rPr lang="es-ES" b="1" dirty="0"/>
              <a:t>Descripción:</a:t>
            </a:r>
            <a:r>
              <a:rPr lang="es-ES" dirty="0"/>
              <a:t> Incluye dispositivos para levantar y bajar tuberías de perforación.</a:t>
            </a:r>
          </a:p>
          <a:p>
            <a:pPr marL="742950" lvl="1" indent="-285750">
              <a:buFont typeface="+mj-lt"/>
              <a:buAutoNum type="arabicPeriod"/>
            </a:pPr>
            <a:r>
              <a:rPr lang="es-ES" b="1" dirty="0"/>
              <a:t>Función:</a:t>
            </a:r>
            <a:r>
              <a:rPr lang="es-ES" dirty="0"/>
              <a:t> Facilita el manejo de las tuberías y herramientas de perforación durante el proceso.</a:t>
            </a:r>
          </a:p>
          <a:p>
            <a:pPr>
              <a:buFont typeface="+mj-lt"/>
              <a:buAutoNum type="arabicPeriod"/>
            </a:pPr>
            <a:r>
              <a:rPr lang="es-ES" b="1" dirty="0"/>
              <a:t>Equipo de Manejo de Recortes:</a:t>
            </a:r>
            <a:endParaRPr lang="es-ES" dirty="0"/>
          </a:p>
          <a:p>
            <a:pPr marL="742950" lvl="1" indent="-285750">
              <a:buFont typeface="+mj-lt"/>
              <a:buAutoNum type="arabicPeriod"/>
            </a:pPr>
            <a:r>
              <a:rPr lang="es-ES" b="1" dirty="0"/>
              <a:t>Descripción:</a:t>
            </a:r>
            <a:r>
              <a:rPr lang="es-ES" dirty="0"/>
              <a:t> Sistemas que gestionan los recortes y desechos generados durante la perforación.</a:t>
            </a:r>
          </a:p>
          <a:p>
            <a:pPr marL="742950" lvl="1" indent="-285750">
              <a:buFont typeface="+mj-lt"/>
              <a:buAutoNum type="arabicPeriod"/>
            </a:pPr>
            <a:r>
              <a:rPr lang="es-ES" b="1" dirty="0"/>
              <a:t>Función:</a:t>
            </a:r>
            <a:r>
              <a:rPr lang="es-ES" dirty="0"/>
              <a:t> Mantiene el área de trabajo limpia y facilita la disposición adecuada de los recortes.</a:t>
            </a:r>
          </a:p>
          <a:p>
            <a:pPr marL="0" indent="0">
              <a:buNone/>
            </a:pPr>
            <a:r>
              <a:rPr lang="es-ES" dirty="0"/>
              <a:t> </a:t>
            </a:r>
            <a:r>
              <a:rPr lang="es-ES" b="1" dirty="0"/>
              <a:t>Sistemas de Energía y Control:</a:t>
            </a:r>
            <a:endParaRPr lang="es-ES" dirty="0"/>
          </a:p>
          <a:p>
            <a:pPr marL="0" indent="0">
              <a:buNone/>
            </a:pPr>
            <a:r>
              <a:rPr lang="es-ES" b="1" dirty="0"/>
              <a:t>1,Generadores y Motores:</a:t>
            </a:r>
            <a:endParaRPr lang="es-ES" dirty="0"/>
          </a:p>
          <a:p>
            <a:pPr marL="742950" lvl="1" indent="-285750">
              <a:buFont typeface="+mj-lt"/>
              <a:buAutoNum type="arabicPeriod"/>
            </a:pPr>
            <a:r>
              <a:rPr lang="es-ES" b="1" dirty="0"/>
              <a:t>Descripción:</a:t>
            </a:r>
            <a:r>
              <a:rPr lang="es-ES" dirty="0"/>
              <a:t> Proporcionan la energía necesaria para operar la plataforma y sus equipos.</a:t>
            </a:r>
          </a:p>
          <a:p>
            <a:pPr marL="742950" lvl="1" indent="-285750">
              <a:buFont typeface="+mj-lt"/>
              <a:buAutoNum type="arabicPeriod"/>
            </a:pPr>
            <a:r>
              <a:rPr lang="es-ES" b="1" dirty="0"/>
              <a:t>Función:</a:t>
            </a:r>
            <a:r>
              <a:rPr lang="es-ES" dirty="0"/>
              <a:t> Suministran electricidad y energía mecánica para la perforación y el manejo de equipos.</a:t>
            </a:r>
          </a:p>
          <a:p>
            <a:pPr marL="0" indent="0">
              <a:buNone/>
            </a:pPr>
            <a:r>
              <a:rPr lang="es-ES" b="1" dirty="0"/>
              <a:t>2.Sistemas de Control y Monitoreo:</a:t>
            </a:r>
            <a:endParaRPr lang="es-ES" dirty="0"/>
          </a:p>
          <a:p>
            <a:pPr marL="742950" lvl="1" indent="-285750">
              <a:buFont typeface="+mj-lt"/>
              <a:buAutoNum type="arabicPeriod"/>
            </a:pPr>
            <a:r>
              <a:rPr lang="es-ES" b="1" dirty="0"/>
              <a:t>Descripción:</a:t>
            </a:r>
            <a:r>
              <a:rPr lang="es-ES" dirty="0"/>
              <a:t> Incluyen sistemas automatizados y software para supervisar y controlar el proceso de perforación.</a:t>
            </a:r>
          </a:p>
          <a:p>
            <a:pPr marL="742950" lvl="1" indent="-285750">
              <a:buFont typeface="+mj-lt"/>
              <a:buAutoNum type="arabicPeriod"/>
            </a:pPr>
            <a:r>
              <a:rPr lang="es-ES" b="1" dirty="0"/>
              <a:t>Función:</a:t>
            </a:r>
            <a:r>
              <a:rPr lang="es-ES" dirty="0"/>
              <a:t> Permiten el control en tiempo real de los parámetros de perforación y ayudan a mejorar la eficiencia.</a:t>
            </a:r>
          </a:p>
          <a:p>
            <a:endParaRPr lang="es-ES" dirty="0"/>
          </a:p>
        </p:txBody>
      </p:sp>
    </p:spTree>
    <p:extLst>
      <p:ext uri="{BB962C8B-B14F-4D97-AF65-F5344CB8AC3E}">
        <p14:creationId xmlns:p14="http://schemas.microsoft.com/office/powerpoint/2010/main" val="3386714190"/>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3499EFCF-F1C9-361E-8E50-3C2F7259123C}"/>
              </a:ext>
            </a:extLst>
          </p:cNvPr>
          <p:cNvSpPr>
            <a:spLocks noGrp="1"/>
          </p:cNvSpPr>
          <p:nvPr>
            <p:ph type="title"/>
          </p:nvPr>
        </p:nvSpPr>
        <p:spPr/>
        <p:txBody>
          <a:bodyPr>
            <a:normAutofit/>
          </a:bodyPr>
          <a:lstStyle/>
          <a:p>
            <a:r>
              <a:rPr lang="es-ES" sz="2800" dirty="0"/>
              <a:t>CONSIDERACIONES OPERATIVAS EN PERU</a:t>
            </a:r>
          </a:p>
        </p:txBody>
      </p:sp>
      <p:sp>
        <p:nvSpPr>
          <p:cNvPr id="3" name="Marcador de contenido 2">
            <a:extLst>
              <a:ext uri="{FF2B5EF4-FFF2-40B4-BE49-F238E27FC236}">
                <a16:creationId xmlns:a16="http://schemas.microsoft.com/office/drawing/2014/main" id="{5251D287-37D4-1BAD-52F6-C1072A11E0FF}"/>
              </a:ext>
            </a:extLst>
          </p:cNvPr>
          <p:cNvSpPr>
            <a:spLocks noGrp="1"/>
          </p:cNvSpPr>
          <p:nvPr>
            <p:ph idx="1"/>
          </p:nvPr>
        </p:nvSpPr>
        <p:spPr/>
        <p:txBody>
          <a:bodyPr>
            <a:normAutofit fontScale="92500" lnSpcReduction="10000"/>
          </a:bodyPr>
          <a:lstStyle/>
          <a:p>
            <a:r>
              <a:rPr lang="es-ES" b="1" dirty="0"/>
              <a:t>Desafíos Geográficos y Ambientales:</a:t>
            </a:r>
            <a:endParaRPr lang="es-ES" dirty="0"/>
          </a:p>
          <a:p>
            <a:pPr>
              <a:buFont typeface="+mj-lt"/>
              <a:buAutoNum type="arabicPeriod"/>
            </a:pPr>
            <a:r>
              <a:rPr lang="es-ES" b="1" dirty="0"/>
              <a:t>Selva Amazónica:</a:t>
            </a:r>
            <a:endParaRPr lang="es-ES" dirty="0"/>
          </a:p>
          <a:p>
            <a:pPr lvl="1"/>
            <a:r>
              <a:rPr lang="es-ES" b="1" dirty="0"/>
              <a:t>Accesibilidad:</a:t>
            </a:r>
            <a:r>
              <a:rPr lang="es-ES" dirty="0"/>
              <a:t> La construcción y operación de plataformas en la región amazónica enfrentan retos significativos debido a la densa vegetación y las lluvias intensas. Las plataformas móviles y ligeras son comunes en estas áreas.</a:t>
            </a:r>
          </a:p>
          <a:p>
            <a:pPr lvl="1"/>
            <a:r>
              <a:rPr lang="es-ES" b="1" dirty="0"/>
              <a:t>Impacto Ambiental:</a:t>
            </a:r>
            <a:r>
              <a:rPr lang="es-ES" dirty="0"/>
              <a:t> Las plataformas deben diseñarse y operarse con especial cuidado para minimizar el impacto ambiental y cumplir con las regulaciones locales sobre protección ambiental.</a:t>
            </a:r>
          </a:p>
          <a:p>
            <a:pPr marL="0" indent="0">
              <a:buNone/>
            </a:pPr>
            <a:r>
              <a:rPr lang="es-ES" b="1" dirty="0"/>
              <a:t>2.Cordillera de los Andes:</a:t>
            </a:r>
            <a:endParaRPr lang="es-ES" dirty="0"/>
          </a:p>
          <a:p>
            <a:pPr lvl="1"/>
            <a:r>
              <a:rPr lang="es-ES" b="1" dirty="0"/>
              <a:t>Condiciones Climáticas: </a:t>
            </a:r>
            <a:r>
              <a:rPr lang="es-ES" dirty="0"/>
              <a:t>La alta altitud puede afectar el rendimiento de los equipos y requerir adaptaciones especiales.</a:t>
            </a:r>
          </a:p>
          <a:p>
            <a:pPr lvl="1"/>
            <a:r>
              <a:rPr lang="es-ES" b="1" dirty="0"/>
              <a:t>Diseño Estructural</a:t>
            </a:r>
            <a:r>
              <a:rPr lang="es-ES" dirty="0"/>
              <a:t>: Las plataformas en esta región pueden necesitar refuerzos adicionales para manejar las condiciones geológicas y sísmicas.</a:t>
            </a:r>
          </a:p>
          <a:p>
            <a:endParaRPr lang="es-ES" dirty="0"/>
          </a:p>
        </p:txBody>
      </p:sp>
    </p:spTree>
    <p:extLst>
      <p:ext uri="{BB962C8B-B14F-4D97-AF65-F5344CB8AC3E}">
        <p14:creationId xmlns:p14="http://schemas.microsoft.com/office/powerpoint/2010/main" val="228931090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986C0D24-F779-0023-4CEC-4F6789F37C2C}"/>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7D187517-2D15-06E4-2406-C76AF89A6850}"/>
              </a:ext>
            </a:extLst>
          </p:cNvPr>
          <p:cNvSpPr>
            <a:spLocks noGrp="1"/>
          </p:cNvSpPr>
          <p:nvPr>
            <p:ph idx="1"/>
          </p:nvPr>
        </p:nvSpPr>
        <p:spPr/>
        <p:txBody>
          <a:bodyPr>
            <a:normAutofit lnSpcReduction="10000"/>
          </a:bodyPr>
          <a:lstStyle/>
          <a:p>
            <a:pPr marL="0" indent="0">
              <a:buNone/>
            </a:pPr>
            <a:r>
              <a:rPr lang="es-ES" b="1" dirty="0"/>
              <a:t>Regulaciones y Permisos:</a:t>
            </a:r>
            <a:endParaRPr lang="es-ES" dirty="0"/>
          </a:p>
          <a:p>
            <a:pPr>
              <a:buFont typeface="+mj-lt"/>
              <a:buAutoNum type="arabicPeriod"/>
            </a:pPr>
            <a:r>
              <a:rPr lang="es-ES" b="1" dirty="0"/>
              <a:t>Ministerio de Energía y Minas (MINEM):</a:t>
            </a:r>
            <a:endParaRPr lang="es-ES" dirty="0"/>
          </a:p>
          <a:p>
            <a:pPr marL="742950" lvl="1" indent="-285750">
              <a:buFont typeface="+mj-lt"/>
              <a:buAutoNum type="arabicPeriod"/>
            </a:pPr>
            <a:r>
              <a:rPr lang="es-ES" b="1" dirty="0"/>
              <a:t>Regulación:</a:t>
            </a:r>
            <a:r>
              <a:rPr lang="es-ES" dirty="0"/>
              <a:t> Supervisa y regula las actividades de perforación, incluyendo la seguridad y el cumplimiento de normativas técnicas y ambientales.</a:t>
            </a:r>
          </a:p>
          <a:p>
            <a:pPr>
              <a:buFont typeface="+mj-lt"/>
              <a:buAutoNum type="arabicPeriod"/>
            </a:pPr>
            <a:r>
              <a:rPr lang="es-ES" b="1" dirty="0"/>
              <a:t>Organismo de Evaluación y Fiscalización Ambiental (OEFA):</a:t>
            </a:r>
            <a:endParaRPr lang="es-ES" dirty="0"/>
          </a:p>
          <a:p>
            <a:pPr marL="742950" lvl="1" indent="-285750">
              <a:buFont typeface="+mj-lt"/>
              <a:buAutoNum type="arabicPeriod"/>
            </a:pPr>
            <a:r>
              <a:rPr lang="es-ES" b="1" dirty="0"/>
              <a:t>Evaluación:</a:t>
            </a:r>
            <a:r>
              <a:rPr lang="es-ES" dirty="0"/>
              <a:t> Asegura que las plataformas cumplan con las normativas ambientales y realiza evaluaciones de impacto.</a:t>
            </a:r>
          </a:p>
          <a:p>
            <a:pPr marL="0" indent="0">
              <a:buNone/>
            </a:pPr>
            <a:r>
              <a:rPr lang="es-ES" b="1" dirty="0"/>
              <a:t>3.Consulta Previa:</a:t>
            </a:r>
            <a:endParaRPr lang="es-ES" dirty="0"/>
          </a:p>
          <a:p>
            <a:pPr>
              <a:buFont typeface="Arial" panose="020B0604020202020204" pitchFamily="34" charset="0"/>
              <a:buChar char="•"/>
            </a:pPr>
            <a:r>
              <a:rPr lang="es-ES" b="1" dirty="0"/>
              <a:t>Comunidades Locales:</a:t>
            </a:r>
            <a:r>
              <a:rPr lang="es-ES" dirty="0"/>
              <a:t> En áreas indígenas y amazónicas, se requiere consulta y consentimiento previo de las comunidades locales antes de iniciar la perforación</a:t>
            </a:r>
          </a:p>
          <a:p>
            <a:pPr marL="457200" lvl="1" indent="0">
              <a:buNone/>
            </a:pPr>
            <a:endParaRPr lang="es-ES" dirty="0"/>
          </a:p>
          <a:p>
            <a:endParaRPr lang="es-ES" dirty="0"/>
          </a:p>
        </p:txBody>
      </p:sp>
    </p:spTree>
    <p:extLst>
      <p:ext uri="{BB962C8B-B14F-4D97-AF65-F5344CB8AC3E}">
        <p14:creationId xmlns:p14="http://schemas.microsoft.com/office/powerpoint/2010/main" val="3056562322"/>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0F5E16B1-1D2D-DE83-0D54-2C28968CFF69}"/>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A16B9958-3799-C2ED-7F9D-B1AB2D787101}"/>
              </a:ext>
            </a:extLst>
          </p:cNvPr>
          <p:cNvSpPr>
            <a:spLocks noGrp="1"/>
          </p:cNvSpPr>
          <p:nvPr>
            <p:ph idx="1"/>
          </p:nvPr>
        </p:nvSpPr>
        <p:spPr/>
        <p:txBody>
          <a:bodyPr>
            <a:normAutofit fontScale="92500" lnSpcReduction="20000"/>
          </a:bodyPr>
          <a:lstStyle/>
          <a:p>
            <a:r>
              <a:rPr lang="es-ES" b="1" dirty="0"/>
              <a:t>Aspectos Económicos:</a:t>
            </a:r>
            <a:endParaRPr lang="es-ES" dirty="0"/>
          </a:p>
          <a:p>
            <a:pPr>
              <a:buFont typeface="+mj-lt"/>
              <a:buAutoNum type="arabicPeriod"/>
            </a:pPr>
            <a:r>
              <a:rPr lang="es-ES" b="1" dirty="0"/>
              <a:t>Costos de Operación:</a:t>
            </a:r>
            <a:endParaRPr lang="es-ES" dirty="0"/>
          </a:p>
          <a:p>
            <a:pPr marL="742950" lvl="1" indent="-285750">
              <a:buFont typeface="+mj-lt"/>
              <a:buAutoNum type="arabicPeriod"/>
            </a:pPr>
            <a:r>
              <a:rPr lang="es-ES" b="1" dirty="0"/>
              <a:t>Infraestructura:</a:t>
            </a:r>
            <a:r>
              <a:rPr lang="es-ES" dirty="0"/>
              <a:t> La construcción y operación de plataformas en áreas remotas pueden ser costosas debido a la necesidad de infraestructura especial y logística.</a:t>
            </a:r>
          </a:p>
          <a:p>
            <a:pPr marL="742950" lvl="1" indent="-285750">
              <a:buFont typeface="+mj-lt"/>
              <a:buAutoNum type="arabicPeriod"/>
            </a:pPr>
            <a:r>
              <a:rPr lang="es-ES" b="1" dirty="0"/>
              <a:t>Eficiencia:</a:t>
            </a:r>
            <a:r>
              <a:rPr lang="es-ES" dirty="0"/>
              <a:t> La optimización de procesos y la implementación de tecnologías avanzadas son esenciales para reducir los costos y mejorar la rentabilidad.</a:t>
            </a:r>
          </a:p>
          <a:p>
            <a:r>
              <a:rPr lang="es-ES" dirty="0"/>
              <a:t>**3.4. </a:t>
            </a:r>
            <a:r>
              <a:rPr lang="es-ES" b="1" dirty="0"/>
              <a:t>Tendencias Tecnológicas:</a:t>
            </a:r>
            <a:endParaRPr lang="es-ES" dirty="0"/>
          </a:p>
          <a:p>
            <a:pPr>
              <a:buFont typeface="+mj-lt"/>
              <a:buAutoNum type="arabicPeriod"/>
            </a:pPr>
            <a:r>
              <a:rPr lang="es-ES" b="1" dirty="0"/>
              <a:t>Tecnología de Perforación Avanzada:</a:t>
            </a:r>
            <a:endParaRPr lang="es-ES" dirty="0"/>
          </a:p>
          <a:p>
            <a:pPr marL="742950" lvl="1" indent="-285750">
              <a:buFont typeface="+mj-lt"/>
              <a:buAutoNum type="arabicPeriod"/>
            </a:pPr>
            <a:r>
              <a:rPr lang="es-ES" b="1" dirty="0"/>
              <a:t>Automatización:</a:t>
            </a:r>
            <a:r>
              <a:rPr lang="es-ES" dirty="0"/>
              <a:t> El uso de tecnologías automatizadas para el control y la operación de plataformas está en aumento, mejorando la seguridad y la eficiencia.</a:t>
            </a:r>
          </a:p>
          <a:p>
            <a:pPr>
              <a:buFont typeface="+mj-lt"/>
              <a:buAutoNum type="arabicPeriod"/>
            </a:pPr>
            <a:r>
              <a:rPr lang="es-ES" b="1" dirty="0"/>
              <a:t>Sostenibilidad:</a:t>
            </a:r>
            <a:endParaRPr lang="es-ES" dirty="0"/>
          </a:p>
          <a:p>
            <a:pPr marL="742950" lvl="1" indent="-285750">
              <a:buFont typeface="+mj-lt"/>
              <a:buAutoNum type="arabicPeriod"/>
            </a:pPr>
            <a:r>
              <a:rPr lang="es-ES" b="1" dirty="0"/>
              <a:t>Prácticas Ecológicas:</a:t>
            </a:r>
            <a:r>
              <a:rPr lang="es-ES" dirty="0"/>
              <a:t> Se están desarrollando y adoptando prácticas más sostenibles para minimizar el impacto ambiental de las plataformas.</a:t>
            </a:r>
          </a:p>
          <a:p>
            <a:endParaRPr lang="es-ES" dirty="0"/>
          </a:p>
        </p:txBody>
      </p:sp>
    </p:spTree>
    <p:extLst>
      <p:ext uri="{BB962C8B-B14F-4D97-AF65-F5344CB8AC3E}">
        <p14:creationId xmlns:p14="http://schemas.microsoft.com/office/powerpoint/2010/main" val="2733953486"/>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ítulo 1">
            <a:extLst>
              <a:ext uri="{FF2B5EF4-FFF2-40B4-BE49-F238E27FC236}">
                <a16:creationId xmlns:a16="http://schemas.microsoft.com/office/drawing/2014/main" id="{AD7ED251-66F6-835F-ADB4-1F91C0F4228D}"/>
              </a:ext>
            </a:extLst>
          </p:cNvPr>
          <p:cNvSpPr>
            <a:spLocks noGrp="1"/>
          </p:cNvSpPr>
          <p:nvPr>
            <p:ph type="title"/>
          </p:nvPr>
        </p:nvSpPr>
        <p:spPr/>
        <p:txBody>
          <a:bodyPr/>
          <a:lstStyle/>
          <a:p>
            <a:endParaRPr lang="es-ES"/>
          </a:p>
        </p:txBody>
      </p:sp>
      <p:sp>
        <p:nvSpPr>
          <p:cNvPr id="3" name="Marcador de contenido 2">
            <a:extLst>
              <a:ext uri="{FF2B5EF4-FFF2-40B4-BE49-F238E27FC236}">
                <a16:creationId xmlns:a16="http://schemas.microsoft.com/office/drawing/2014/main" id="{B495CB0E-5EAA-361F-63DB-3C9F90D93ACF}"/>
              </a:ext>
            </a:extLst>
          </p:cNvPr>
          <p:cNvSpPr>
            <a:spLocks noGrp="1"/>
          </p:cNvSpPr>
          <p:nvPr>
            <p:ph idx="1"/>
          </p:nvPr>
        </p:nvSpPr>
        <p:spPr/>
        <p:txBody>
          <a:bodyPr/>
          <a:lstStyle/>
          <a:p>
            <a:pPr algn="just"/>
            <a:r>
              <a:rPr lang="es-ES" dirty="0"/>
              <a:t>En resumen, las plataformas de perforación son elementos clave en la explotación de hidrocarburos y su diseño y operación deben adaptarse a las condiciones específicas del entorno en Perú. La ingeniería de perforación implica una combinación de diseño estructural, selección de equipos, y gestión operativa para asegurar la seguridad, eficiencia, y minimización del impacto ambiental. Las regulaciones estrictas y los desafíos geográficos y climáticos de Perú requieren un enfoque cuidadosamente planificado y ejecutado para garantizar el éxito de las operaciones de perforación.</a:t>
            </a:r>
          </a:p>
        </p:txBody>
      </p:sp>
    </p:spTree>
    <p:extLst>
      <p:ext uri="{BB962C8B-B14F-4D97-AF65-F5344CB8AC3E}">
        <p14:creationId xmlns:p14="http://schemas.microsoft.com/office/powerpoint/2010/main" val="3978109495"/>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5381496"/>
      </p:ext>
    </p:extLst>
  </p:cSld>
  <p:clrMapOvr>
    <a:masterClrMapping/>
  </p:clrMapOvr>
</p:sld>
</file>

<file path=ppt/theme/theme1.xml><?xml version="1.0" encoding="utf-8"?>
<a:theme xmlns:a="http://schemas.openxmlformats.org/drawingml/2006/main" name="Tema de Offic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13665</TotalTime>
  <Words>8536</Words>
  <Application>Microsoft Office PowerPoint</Application>
  <PresentationFormat>Panorámica</PresentationFormat>
  <Paragraphs>529</Paragraphs>
  <Slides>111</Slides>
  <Notes>0</Notes>
  <HiddenSlides>0</HiddenSlides>
  <MMClips>0</MMClips>
  <ScaleCrop>false</ScaleCrop>
  <HeadingPairs>
    <vt:vector size="6" baseType="variant">
      <vt:variant>
        <vt:lpstr>Fuentes usadas</vt:lpstr>
      </vt:variant>
      <vt:variant>
        <vt:i4>5</vt:i4>
      </vt:variant>
      <vt:variant>
        <vt:lpstr>Tema</vt:lpstr>
      </vt:variant>
      <vt:variant>
        <vt:i4>1</vt:i4>
      </vt:variant>
      <vt:variant>
        <vt:lpstr>Títulos de diapositiva</vt:lpstr>
      </vt:variant>
      <vt:variant>
        <vt:i4>111</vt:i4>
      </vt:variant>
    </vt:vector>
  </HeadingPairs>
  <TitlesOfParts>
    <vt:vector size="117" baseType="lpstr">
      <vt:lpstr>Aptos</vt:lpstr>
      <vt:lpstr>Arial</vt:lpstr>
      <vt:lpstr>Calibri</vt:lpstr>
      <vt:lpstr>Outfit</vt:lpstr>
      <vt:lpstr>Prompt</vt:lpstr>
      <vt:lpstr>Tema de Office</vt:lpstr>
      <vt:lpstr>Presentación de PowerPoint</vt:lpstr>
      <vt:lpstr>Presentación de PowerPoint</vt:lpstr>
      <vt:lpstr>GEOLOGIA DE LOS HIDROCARBUROS</vt:lpstr>
      <vt:lpstr>QUE SON LOS HIDROCARBUROS </vt:lpstr>
      <vt:lpstr>Presentación de PowerPoint</vt:lpstr>
      <vt:lpstr>IMPORTANCIA DE LOS HIDROCARBUROS</vt:lpstr>
      <vt:lpstr>Presentación de PowerPoint</vt:lpstr>
      <vt:lpstr>FORMACION DE LOS HIDROCARBUROS</vt:lpstr>
      <vt:lpstr>ORIGEN DEL PETROLEO</vt:lpstr>
      <vt:lpstr>ETAPAS DEL PROCESO</vt:lpstr>
      <vt:lpstr>Presentación de PowerPoint</vt:lpstr>
      <vt:lpstr>Presentación de PowerPoint</vt:lpstr>
      <vt:lpstr>ROCAS GENERADORAS DE HIDROCARBUROS</vt:lpstr>
      <vt:lpstr>Características de las Rocas Generadoras de Hidrocarburos</vt:lpstr>
      <vt:lpstr>Condiciones de Formación</vt:lpstr>
      <vt:lpstr>Propiedades Geológicas </vt:lpstr>
      <vt:lpstr>Tipos de Rocas Generadoras de Hidrocarburos</vt:lpstr>
      <vt:lpstr>Presentación de PowerPoint</vt:lpstr>
      <vt:lpstr>Presentación de PowerPoint</vt:lpstr>
      <vt:lpstr>Procesos de Maduración</vt:lpstr>
      <vt:lpstr>Ejemplos Notables a Nivel Mundial</vt:lpstr>
      <vt:lpstr>Consideraciones en Perú</vt:lpstr>
      <vt:lpstr>Cuencas Sedimentarias</vt:lpstr>
      <vt:lpstr>ROCAS RESERVORIO</vt:lpstr>
      <vt:lpstr>Características Clave de las Rocas Reservorio</vt:lpstr>
      <vt:lpstr>Presentación de PowerPoint</vt:lpstr>
      <vt:lpstr>Presentación de PowerPoint</vt:lpstr>
      <vt:lpstr>Tipos de Rocas Reservorio</vt:lpstr>
      <vt:lpstr>Presentación de PowerPoint</vt:lpstr>
      <vt:lpstr>Presentación de PowerPoint</vt:lpstr>
      <vt:lpstr>Presentación de PowerPoint</vt:lpstr>
      <vt:lpstr>Evaluación de Rocas Reservorio</vt:lpstr>
      <vt:lpstr>Presentación de PowerPoint</vt:lpstr>
      <vt:lpstr>Ejemplos Notables en Perú</vt:lpstr>
      <vt:lpstr>ROCAS SELLADORAS</vt:lpstr>
      <vt:lpstr>CARACTERISTICAS</vt:lpstr>
      <vt:lpstr>Presentación de PowerPoint</vt:lpstr>
      <vt:lpstr>Presentación de PowerPoint</vt:lpstr>
      <vt:lpstr>Tipos de Rocas Selladoras</vt:lpstr>
      <vt:lpstr>Presentación de PowerPoint</vt:lpstr>
      <vt:lpstr>Presentación de PowerPoint</vt:lpstr>
      <vt:lpstr>Presentación de PowerPoint</vt:lpstr>
      <vt:lpstr>Funciones de las Rocas Selladoras</vt:lpstr>
      <vt:lpstr>Presentación de PowerPoint</vt:lpstr>
      <vt:lpstr>Presentación de PowerPoint</vt:lpstr>
      <vt:lpstr>Evaluación de Rocas Selladoras</vt:lpstr>
      <vt:lpstr>Presentación de PowerPoint</vt:lpstr>
      <vt:lpstr>Ejemplos Notables a Nivel Mundial</vt:lpstr>
      <vt:lpstr>Consideraciones en Perú</vt:lpstr>
      <vt:lpstr>PROSPECCION GEOQUIMICA DE HIDROCARBUROS</vt:lpstr>
      <vt:lpstr>FUNDAMENTOS</vt:lpstr>
      <vt:lpstr>METODOLOGIA</vt:lpstr>
      <vt:lpstr>Presentación de PowerPoint</vt:lpstr>
      <vt:lpstr>Presentación de PowerPoint</vt:lpstr>
      <vt:lpstr>TIPO DE ANALISIS</vt:lpstr>
      <vt:lpstr>Presentación de PowerPoint</vt:lpstr>
      <vt:lpstr>VENTAJAS Y LIMITACIONES </vt:lpstr>
      <vt:lpstr>APLICACIONES</vt:lpstr>
      <vt:lpstr>TENDENCIAS Y AVANCES</vt:lpstr>
      <vt:lpstr>REALIDAD EN PERU</vt:lpstr>
      <vt:lpstr>CONTEXTO GEOLOGICO Y GEOGRAFICO DE PERU</vt:lpstr>
      <vt:lpstr>Presentación de PowerPoint</vt:lpstr>
      <vt:lpstr>METODOLOGIA ESPECIFICA EN PERU</vt:lpstr>
      <vt:lpstr>Presentación de PowerPoint</vt:lpstr>
      <vt:lpstr>CASOS Y PROYECTOS RELEVANTES</vt:lpstr>
      <vt:lpstr>REGULACIONES Y CONSIDERACIONES AMBIENTALES</vt:lpstr>
      <vt:lpstr>Presentación de PowerPoint</vt:lpstr>
      <vt:lpstr>DESAFIOS Y OPORTUNIDADES</vt:lpstr>
      <vt:lpstr>TENDENCIAS FUTURAS</vt:lpstr>
      <vt:lpstr>Presentación de PowerPoint</vt:lpstr>
      <vt:lpstr>PROSPECCION GEOFISICA</vt:lpstr>
      <vt:lpstr>CONCEPTOS FUNDAMENTALES</vt:lpstr>
      <vt:lpstr>METODOS GEOFISICOS PRINCIPALES</vt:lpstr>
      <vt:lpstr>Presentación de PowerPoint</vt:lpstr>
      <vt:lpstr>Presentación de PowerPoint</vt:lpstr>
      <vt:lpstr>Presentación de PowerPoint</vt:lpstr>
      <vt:lpstr>Presentación de PowerPoint</vt:lpstr>
      <vt:lpstr>Presentación de PowerPoint</vt:lpstr>
      <vt:lpstr>PROCESO DE PROSPECCION GEOFISICA</vt:lpstr>
      <vt:lpstr>Presentación de PowerPoint</vt:lpstr>
      <vt:lpstr>VENTAJAS Y LIMITACIONES</vt:lpstr>
      <vt:lpstr>APLICACIONES</vt:lpstr>
      <vt:lpstr>TENDENCIAS Y AVANCES</vt:lpstr>
      <vt:lpstr>Presentación de PowerPoint</vt:lpstr>
      <vt:lpstr>DESAFIOS Y OPORTUNIDADES EN PERU</vt:lpstr>
      <vt:lpstr>TENDENCIAS FUTURAS</vt:lpstr>
      <vt:lpstr>INGENIERIA DE PERFORACION</vt:lpstr>
      <vt:lpstr>CONCEPTOS FUNDAMENTALES</vt:lpstr>
      <vt:lpstr>PROCESO DE PERFORACION</vt:lpstr>
      <vt:lpstr>Presentación de PowerPoint</vt:lpstr>
      <vt:lpstr>Presentación de PowerPoint</vt:lpstr>
      <vt:lpstr>Presentación de PowerPoint</vt:lpstr>
      <vt:lpstr>Presentación de PowerPoint</vt:lpstr>
      <vt:lpstr>Presentación de PowerPoint</vt:lpstr>
      <vt:lpstr>TECNOLOGIAS Y EQUIPOS</vt:lpstr>
      <vt:lpstr>Presentación de PowerPoint</vt:lpstr>
      <vt:lpstr>DESAFIOS Y CONSIDERACIONES</vt:lpstr>
      <vt:lpstr>TENDENCIAS Y AVANCES</vt:lpstr>
      <vt:lpstr>Presentación de PowerPoint</vt:lpstr>
      <vt:lpstr>TIPOS DE PLATAFORMAS DE PERFORACION</vt:lpstr>
      <vt:lpstr>Presentación de PowerPoint</vt:lpstr>
      <vt:lpstr>Presentación de PowerPoint</vt:lpstr>
      <vt:lpstr>COMPONENTES PRINCIPALES DE UNA PLATAFORMA DE PERFORACION</vt:lpstr>
      <vt:lpstr>Presentación de PowerPoint</vt:lpstr>
      <vt:lpstr>Presentación de PowerPoint</vt:lpstr>
      <vt:lpstr>Presentación de PowerPoint</vt:lpstr>
      <vt:lpstr>CONSIDERACIONES OPERATIVAS EN PERU</vt:lpstr>
      <vt:lpstr>Presentación de PowerPoint</vt:lpstr>
      <vt:lpstr>Presentación de PowerPoint</vt:lpstr>
      <vt:lpstr>Presentación de PowerPoint</vt:lpstr>
      <vt:lpstr>Presentación de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Presentación de PowerPoint</dc:title>
  <dc:creator>Ci5D2</dc:creator>
  <cp:lastModifiedBy>Benji Jonathan Cruzate Contreras</cp:lastModifiedBy>
  <cp:revision>18</cp:revision>
  <dcterms:created xsi:type="dcterms:W3CDTF">2022-04-19T18:02:09Z</dcterms:created>
  <dcterms:modified xsi:type="dcterms:W3CDTF">2024-08-02T03:16:41Z</dcterms:modified>
</cp:coreProperties>
</file>