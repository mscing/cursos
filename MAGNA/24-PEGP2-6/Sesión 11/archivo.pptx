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62" r:id="rId3"/>
    <p:sldId id="280" r:id="rId4"/>
    <p:sldId id="326" r:id="rId5"/>
    <p:sldId id="439" r:id="rId6"/>
    <p:sldId id="440" r:id="rId7"/>
    <p:sldId id="441" r:id="rId8"/>
    <p:sldId id="442" r:id="rId9"/>
    <p:sldId id="443" r:id="rId10"/>
    <p:sldId id="444" r:id="rId11"/>
    <p:sldId id="445" r:id="rId12"/>
    <p:sldId id="446" r:id="rId13"/>
    <p:sldId id="447" r:id="rId14"/>
    <p:sldId id="448" r:id="rId15"/>
    <p:sldId id="449" r:id="rId16"/>
    <p:sldId id="450" r:id="rId17"/>
    <p:sldId id="451" r:id="rId18"/>
    <p:sldId id="452" r:id="rId19"/>
    <p:sldId id="453" r:id="rId20"/>
    <p:sldId id="454" r:id="rId21"/>
    <p:sldId id="455" r:id="rId22"/>
    <p:sldId id="456" r:id="rId23"/>
    <p:sldId id="457" r:id="rId24"/>
    <p:sldId id="458" r:id="rId25"/>
    <p:sldId id="475" r:id="rId26"/>
    <p:sldId id="459" r:id="rId27"/>
    <p:sldId id="460" r:id="rId28"/>
    <p:sldId id="461" r:id="rId29"/>
    <p:sldId id="462" r:id="rId30"/>
    <p:sldId id="463" r:id="rId31"/>
    <p:sldId id="464" r:id="rId32"/>
    <p:sldId id="465" r:id="rId33"/>
    <p:sldId id="466" r:id="rId34"/>
    <p:sldId id="467" r:id="rId35"/>
    <p:sldId id="468" r:id="rId36"/>
    <p:sldId id="469" r:id="rId37"/>
    <p:sldId id="470" r:id="rId38"/>
    <p:sldId id="471" r:id="rId39"/>
    <p:sldId id="472" r:id="rId40"/>
    <p:sldId id="473" r:id="rId41"/>
    <p:sldId id="474" r:id="rId42"/>
    <p:sldId id="476" r:id="rId43"/>
    <p:sldId id="477" r:id="rId44"/>
    <p:sldId id="478" r:id="rId45"/>
    <p:sldId id="479" r:id="rId46"/>
    <p:sldId id="480" r:id="rId47"/>
    <p:sldId id="481" r:id="rId48"/>
    <p:sldId id="482" r:id="rId49"/>
    <p:sldId id="483" r:id="rId50"/>
    <p:sldId id="484" r:id="rId51"/>
    <p:sldId id="485" r:id="rId52"/>
    <p:sldId id="486" r:id="rId53"/>
    <p:sldId id="487" r:id="rId54"/>
    <p:sldId id="488" r:id="rId55"/>
    <p:sldId id="489" r:id="rId56"/>
    <p:sldId id="490" r:id="rId57"/>
    <p:sldId id="491" r:id="rId58"/>
    <p:sldId id="492" r:id="rId59"/>
    <p:sldId id="493" r:id="rId60"/>
    <p:sldId id="494" r:id="rId61"/>
    <p:sldId id="502" r:id="rId62"/>
    <p:sldId id="260" r:id="rId63"/>
  </p:sldIdLst>
  <p:sldSz cx="12192000" cy="6858000"/>
  <p:notesSz cx="6858000" cy="9144000"/>
  <p:defaultTextStyle>
    <a:defPPr>
      <a:defRPr lang="es-E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F3B5"/>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987" autoAdjust="0"/>
    <p:restoredTop sz="94660"/>
  </p:normalViewPr>
  <p:slideViewPr>
    <p:cSldViewPr snapToGrid="0">
      <p:cViewPr varScale="1">
        <p:scale>
          <a:sx n="82" d="100"/>
          <a:sy n="82" d="100"/>
        </p:scale>
        <p:origin x="672" y="7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slide" Target="slides/slide54.xml"/><Relationship Id="rId63" Type="http://schemas.openxmlformats.org/officeDocument/2006/relationships/slide" Target="slides/slide62.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slide" Target="slides/slide57.xml"/><Relationship Id="rId66" Type="http://schemas.openxmlformats.org/officeDocument/2006/relationships/theme" Target="theme/theme1.xml"/><Relationship Id="rId5" Type="http://schemas.openxmlformats.org/officeDocument/2006/relationships/slide" Target="slides/slide4.xml"/><Relationship Id="rId61" Type="http://schemas.openxmlformats.org/officeDocument/2006/relationships/slide" Target="slides/slide60.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presProps" Target="presProps.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tableStyles" Target="tableStyles.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Diapositiva de título">
    <p:spTree>
      <p:nvGrpSpPr>
        <p:cNvPr id="1" name=""/>
        <p:cNvGrpSpPr/>
        <p:nvPr/>
      </p:nvGrpSpPr>
      <p:grpSpPr>
        <a:xfrm>
          <a:off x="0" y="0"/>
          <a:ext cx="0" cy="0"/>
          <a:chOff x="0" y="0"/>
          <a:chExt cx="0" cy="0"/>
        </a:xfrm>
      </p:grpSpPr>
      <p:sp>
        <p:nvSpPr>
          <p:cNvPr id="2" name="Título 1"/>
          <p:cNvSpPr>
            <a:spLocks noGrp="1"/>
          </p:cNvSpPr>
          <p:nvPr>
            <p:ph type="ctrTitle"/>
          </p:nvPr>
        </p:nvSpPr>
        <p:spPr>
          <a:xfrm>
            <a:off x="1524000" y="1122363"/>
            <a:ext cx="9144000" cy="2387600"/>
          </a:xfrm>
        </p:spPr>
        <p:txBody>
          <a:bodyPr anchor="b"/>
          <a:lstStyle>
            <a:lvl1pPr algn="ctr">
              <a:defRPr sz="6000"/>
            </a:lvl1pPr>
          </a:lstStyle>
          <a:p>
            <a:r>
              <a:rPr lang="es-ES"/>
              <a:t>Haga clic para modificar el estilo de título del patrón</a:t>
            </a:r>
          </a:p>
        </p:txBody>
      </p:sp>
      <p:sp>
        <p:nvSpPr>
          <p:cNvPr id="3" name="Subtítulo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s-ES"/>
              <a:t>Haga clic para editar el estilo de subtítulo del patrón</a:t>
            </a:r>
          </a:p>
        </p:txBody>
      </p:sp>
      <p:sp>
        <p:nvSpPr>
          <p:cNvPr id="4" name="Marcador de fecha 3"/>
          <p:cNvSpPr>
            <a:spLocks noGrp="1"/>
          </p:cNvSpPr>
          <p:nvPr>
            <p:ph type="dt" sz="half" idx="10"/>
          </p:nvPr>
        </p:nvSpPr>
        <p:spPr/>
        <p:txBody>
          <a:bodyPr/>
          <a:lstStyle/>
          <a:p>
            <a:fld id="{CC231CB2-8F63-4ACB-AA28-38CB9C3B0788}" type="datetimeFigureOut">
              <a:rPr lang="es-ES" smtClean="0"/>
              <a:t>10/09/2024</a:t>
            </a:fld>
            <a:endParaRPr lang="es-ES"/>
          </a:p>
        </p:txBody>
      </p:sp>
      <p:sp>
        <p:nvSpPr>
          <p:cNvPr id="5" name="Marcador de pie de página 4"/>
          <p:cNvSpPr>
            <a:spLocks noGrp="1"/>
          </p:cNvSpPr>
          <p:nvPr>
            <p:ph type="ftr" sz="quarter" idx="11"/>
          </p:nvPr>
        </p:nvSpPr>
        <p:spPr/>
        <p:txBody>
          <a:bodyPr/>
          <a:lstStyle/>
          <a:p>
            <a:endParaRPr lang="es-ES"/>
          </a:p>
        </p:txBody>
      </p:sp>
      <p:sp>
        <p:nvSpPr>
          <p:cNvPr id="6" name="Marcador de número de diapositiva 5"/>
          <p:cNvSpPr>
            <a:spLocks noGrp="1"/>
          </p:cNvSpPr>
          <p:nvPr>
            <p:ph type="sldNum" sz="quarter" idx="12"/>
          </p:nvPr>
        </p:nvSpPr>
        <p:spPr/>
        <p:txBody>
          <a:bodyPr/>
          <a:lstStyle/>
          <a:p>
            <a:fld id="{24A79FA8-4D08-4E50-BBA2-D88CCB263461}" type="slidenum">
              <a:rPr lang="es-ES" smtClean="0"/>
              <a:t>‹Nº›</a:t>
            </a:fld>
            <a:endParaRPr lang="es-ES"/>
          </a:p>
        </p:txBody>
      </p:sp>
    </p:spTree>
    <p:extLst>
      <p:ext uri="{BB962C8B-B14F-4D97-AF65-F5344CB8AC3E}">
        <p14:creationId xmlns:p14="http://schemas.microsoft.com/office/powerpoint/2010/main" val="9181558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ítulo y objetos">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es-ES"/>
              <a:t>Haga clic para modificar el estilo de título del patrón</a:t>
            </a:r>
          </a:p>
        </p:txBody>
      </p:sp>
      <p:sp>
        <p:nvSpPr>
          <p:cNvPr id="3" name="Marcador de contenido 2"/>
          <p:cNvSpPr>
            <a:spLocks noGrp="1"/>
          </p:cNvSpPr>
          <p:nvPr>
            <p:ph idx="1"/>
          </p:nvPr>
        </p:nvSpPr>
        <p:spPr/>
        <p:txBody>
          <a:bodyPr/>
          <a:lstStyle/>
          <a:p>
            <a:pPr lvl="0"/>
            <a:r>
              <a:rPr lang="es-ES"/>
              <a:t>Editar el estilo de texto del patrón</a:t>
            </a:r>
          </a:p>
          <a:p>
            <a:pPr lvl="1"/>
            <a:r>
              <a:rPr lang="es-ES"/>
              <a:t>Segundo nivel</a:t>
            </a:r>
          </a:p>
          <a:p>
            <a:pPr lvl="2"/>
            <a:r>
              <a:rPr lang="es-ES"/>
              <a:t>Tercer nivel</a:t>
            </a:r>
          </a:p>
          <a:p>
            <a:pPr lvl="3"/>
            <a:r>
              <a:rPr lang="es-ES"/>
              <a:t>Cuarto nivel</a:t>
            </a:r>
          </a:p>
          <a:p>
            <a:pPr lvl="4"/>
            <a:r>
              <a:rPr lang="es-ES"/>
              <a:t>Quinto nivel</a:t>
            </a:r>
          </a:p>
        </p:txBody>
      </p:sp>
      <p:sp>
        <p:nvSpPr>
          <p:cNvPr id="4" name="Marcador de fecha 3"/>
          <p:cNvSpPr>
            <a:spLocks noGrp="1"/>
          </p:cNvSpPr>
          <p:nvPr>
            <p:ph type="dt" sz="half" idx="10"/>
          </p:nvPr>
        </p:nvSpPr>
        <p:spPr/>
        <p:txBody>
          <a:bodyPr/>
          <a:lstStyle/>
          <a:p>
            <a:fld id="{CC231CB2-8F63-4ACB-AA28-38CB9C3B0788}" type="datetimeFigureOut">
              <a:rPr lang="es-ES" smtClean="0"/>
              <a:t>10/09/2024</a:t>
            </a:fld>
            <a:endParaRPr lang="es-ES"/>
          </a:p>
        </p:txBody>
      </p:sp>
      <p:sp>
        <p:nvSpPr>
          <p:cNvPr id="5" name="Marcador de pie de página 4"/>
          <p:cNvSpPr>
            <a:spLocks noGrp="1"/>
          </p:cNvSpPr>
          <p:nvPr>
            <p:ph type="ftr" sz="quarter" idx="11"/>
          </p:nvPr>
        </p:nvSpPr>
        <p:spPr/>
        <p:txBody>
          <a:bodyPr/>
          <a:lstStyle/>
          <a:p>
            <a:endParaRPr lang="es-ES"/>
          </a:p>
        </p:txBody>
      </p:sp>
      <p:sp>
        <p:nvSpPr>
          <p:cNvPr id="6" name="Marcador de número de diapositiva 5"/>
          <p:cNvSpPr>
            <a:spLocks noGrp="1"/>
          </p:cNvSpPr>
          <p:nvPr>
            <p:ph type="sldNum" sz="quarter" idx="12"/>
          </p:nvPr>
        </p:nvSpPr>
        <p:spPr/>
        <p:txBody>
          <a:bodyPr/>
          <a:lstStyle/>
          <a:p>
            <a:fld id="{24A79FA8-4D08-4E50-BBA2-D88CCB263461}" type="slidenum">
              <a:rPr lang="es-ES" smtClean="0"/>
              <a:t>‹Nº›</a:t>
            </a:fld>
            <a:endParaRPr lang="es-ES"/>
          </a:p>
        </p:txBody>
      </p:sp>
    </p:spTree>
    <p:extLst>
      <p:ext uri="{BB962C8B-B14F-4D97-AF65-F5344CB8AC3E}">
        <p14:creationId xmlns:p14="http://schemas.microsoft.com/office/powerpoint/2010/main" val="89452288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Encabezado de sección">
    <p:spTree>
      <p:nvGrpSpPr>
        <p:cNvPr id="1" name=""/>
        <p:cNvGrpSpPr/>
        <p:nvPr/>
      </p:nvGrpSpPr>
      <p:grpSpPr>
        <a:xfrm>
          <a:off x="0" y="0"/>
          <a:ext cx="0" cy="0"/>
          <a:chOff x="0" y="0"/>
          <a:chExt cx="0" cy="0"/>
        </a:xfrm>
      </p:grpSpPr>
      <p:sp>
        <p:nvSpPr>
          <p:cNvPr id="2" name="Título 1"/>
          <p:cNvSpPr>
            <a:spLocks noGrp="1"/>
          </p:cNvSpPr>
          <p:nvPr>
            <p:ph type="title"/>
          </p:nvPr>
        </p:nvSpPr>
        <p:spPr>
          <a:xfrm>
            <a:off x="831850" y="1709738"/>
            <a:ext cx="10515600" cy="2852737"/>
          </a:xfrm>
        </p:spPr>
        <p:txBody>
          <a:bodyPr anchor="b"/>
          <a:lstStyle>
            <a:lvl1pPr>
              <a:defRPr sz="6000"/>
            </a:lvl1pPr>
          </a:lstStyle>
          <a:p>
            <a:r>
              <a:rPr lang="es-ES"/>
              <a:t>Haga clic para modificar el estilo de título del patrón</a:t>
            </a:r>
          </a:p>
        </p:txBody>
      </p:sp>
      <p:sp>
        <p:nvSpPr>
          <p:cNvPr id="3" name="Marcador de texto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s-ES"/>
              <a:t>Editar el estilo de texto del patrón</a:t>
            </a:r>
          </a:p>
        </p:txBody>
      </p:sp>
      <p:sp>
        <p:nvSpPr>
          <p:cNvPr id="4" name="Marcador de fecha 3"/>
          <p:cNvSpPr>
            <a:spLocks noGrp="1"/>
          </p:cNvSpPr>
          <p:nvPr>
            <p:ph type="dt" sz="half" idx="10"/>
          </p:nvPr>
        </p:nvSpPr>
        <p:spPr/>
        <p:txBody>
          <a:bodyPr/>
          <a:lstStyle/>
          <a:p>
            <a:fld id="{CC231CB2-8F63-4ACB-AA28-38CB9C3B0788}" type="datetimeFigureOut">
              <a:rPr lang="es-ES" smtClean="0"/>
              <a:t>10/09/2024</a:t>
            </a:fld>
            <a:endParaRPr lang="es-ES"/>
          </a:p>
        </p:txBody>
      </p:sp>
      <p:sp>
        <p:nvSpPr>
          <p:cNvPr id="5" name="Marcador de pie de página 4"/>
          <p:cNvSpPr>
            <a:spLocks noGrp="1"/>
          </p:cNvSpPr>
          <p:nvPr>
            <p:ph type="ftr" sz="quarter" idx="11"/>
          </p:nvPr>
        </p:nvSpPr>
        <p:spPr/>
        <p:txBody>
          <a:bodyPr/>
          <a:lstStyle/>
          <a:p>
            <a:endParaRPr lang="es-ES"/>
          </a:p>
        </p:txBody>
      </p:sp>
      <p:sp>
        <p:nvSpPr>
          <p:cNvPr id="6" name="Marcador de número de diapositiva 5"/>
          <p:cNvSpPr>
            <a:spLocks noGrp="1"/>
          </p:cNvSpPr>
          <p:nvPr>
            <p:ph type="sldNum" sz="quarter" idx="12"/>
          </p:nvPr>
        </p:nvSpPr>
        <p:spPr/>
        <p:txBody>
          <a:bodyPr/>
          <a:lstStyle/>
          <a:p>
            <a:fld id="{24A79FA8-4D08-4E50-BBA2-D88CCB263461}" type="slidenum">
              <a:rPr lang="es-ES" smtClean="0"/>
              <a:t>‹Nº›</a:t>
            </a:fld>
            <a:endParaRPr lang="es-ES"/>
          </a:p>
        </p:txBody>
      </p:sp>
    </p:spTree>
    <p:extLst>
      <p:ext uri="{BB962C8B-B14F-4D97-AF65-F5344CB8AC3E}">
        <p14:creationId xmlns:p14="http://schemas.microsoft.com/office/powerpoint/2010/main" val="359373095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os objetos">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es-ES"/>
              <a:t>Haga clic para modificar el estilo de título del patrón</a:t>
            </a:r>
          </a:p>
        </p:txBody>
      </p:sp>
      <p:sp>
        <p:nvSpPr>
          <p:cNvPr id="3" name="Marcador de contenido 2"/>
          <p:cNvSpPr>
            <a:spLocks noGrp="1"/>
          </p:cNvSpPr>
          <p:nvPr>
            <p:ph sz="half" idx="1"/>
          </p:nvPr>
        </p:nvSpPr>
        <p:spPr>
          <a:xfrm>
            <a:off x="838200" y="1825625"/>
            <a:ext cx="5181600" cy="4351338"/>
          </a:xfrm>
        </p:spPr>
        <p:txBody>
          <a:bodyPr/>
          <a:lstStyle/>
          <a:p>
            <a:pPr lvl="0"/>
            <a:r>
              <a:rPr lang="es-ES"/>
              <a:t>Editar el estilo de texto del patrón</a:t>
            </a:r>
          </a:p>
          <a:p>
            <a:pPr lvl="1"/>
            <a:r>
              <a:rPr lang="es-ES"/>
              <a:t>Segundo nivel</a:t>
            </a:r>
          </a:p>
          <a:p>
            <a:pPr lvl="2"/>
            <a:r>
              <a:rPr lang="es-ES"/>
              <a:t>Tercer nivel</a:t>
            </a:r>
          </a:p>
          <a:p>
            <a:pPr lvl="3"/>
            <a:r>
              <a:rPr lang="es-ES"/>
              <a:t>Cuarto nivel</a:t>
            </a:r>
          </a:p>
          <a:p>
            <a:pPr lvl="4"/>
            <a:r>
              <a:rPr lang="es-ES"/>
              <a:t>Quinto nivel</a:t>
            </a:r>
          </a:p>
        </p:txBody>
      </p:sp>
      <p:sp>
        <p:nvSpPr>
          <p:cNvPr id="4" name="Marcador de contenido 3"/>
          <p:cNvSpPr>
            <a:spLocks noGrp="1"/>
          </p:cNvSpPr>
          <p:nvPr>
            <p:ph sz="half" idx="2"/>
          </p:nvPr>
        </p:nvSpPr>
        <p:spPr>
          <a:xfrm>
            <a:off x="6172200" y="1825625"/>
            <a:ext cx="5181600" cy="4351338"/>
          </a:xfrm>
        </p:spPr>
        <p:txBody>
          <a:bodyPr/>
          <a:lstStyle/>
          <a:p>
            <a:pPr lvl="0"/>
            <a:r>
              <a:rPr lang="es-ES"/>
              <a:t>Editar el estilo de texto del patrón</a:t>
            </a:r>
          </a:p>
          <a:p>
            <a:pPr lvl="1"/>
            <a:r>
              <a:rPr lang="es-ES"/>
              <a:t>Segundo nivel</a:t>
            </a:r>
          </a:p>
          <a:p>
            <a:pPr lvl="2"/>
            <a:r>
              <a:rPr lang="es-ES"/>
              <a:t>Tercer nivel</a:t>
            </a:r>
          </a:p>
          <a:p>
            <a:pPr lvl="3"/>
            <a:r>
              <a:rPr lang="es-ES"/>
              <a:t>Cuarto nivel</a:t>
            </a:r>
          </a:p>
          <a:p>
            <a:pPr lvl="4"/>
            <a:r>
              <a:rPr lang="es-ES"/>
              <a:t>Quinto nivel</a:t>
            </a:r>
          </a:p>
        </p:txBody>
      </p:sp>
      <p:sp>
        <p:nvSpPr>
          <p:cNvPr id="5" name="Marcador de fecha 4"/>
          <p:cNvSpPr>
            <a:spLocks noGrp="1"/>
          </p:cNvSpPr>
          <p:nvPr>
            <p:ph type="dt" sz="half" idx="10"/>
          </p:nvPr>
        </p:nvSpPr>
        <p:spPr/>
        <p:txBody>
          <a:bodyPr/>
          <a:lstStyle/>
          <a:p>
            <a:fld id="{CC231CB2-8F63-4ACB-AA28-38CB9C3B0788}" type="datetimeFigureOut">
              <a:rPr lang="es-ES" smtClean="0"/>
              <a:t>10/09/2024</a:t>
            </a:fld>
            <a:endParaRPr lang="es-ES"/>
          </a:p>
        </p:txBody>
      </p:sp>
      <p:sp>
        <p:nvSpPr>
          <p:cNvPr id="6" name="Marcador de pie de página 5"/>
          <p:cNvSpPr>
            <a:spLocks noGrp="1"/>
          </p:cNvSpPr>
          <p:nvPr>
            <p:ph type="ftr" sz="quarter" idx="11"/>
          </p:nvPr>
        </p:nvSpPr>
        <p:spPr/>
        <p:txBody>
          <a:bodyPr/>
          <a:lstStyle/>
          <a:p>
            <a:endParaRPr lang="es-ES"/>
          </a:p>
        </p:txBody>
      </p:sp>
      <p:sp>
        <p:nvSpPr>
          <p:cNvPr id="7" name="Marcador de número de diapositiva 6"/>
          <p:cNvSpPr>
            <a:spLocks noGrp="1"/>
          </p:cNvSpPr>
          <p:nvPr>
            <p:ph type="sldNum" sz="quarter" idx="12"/>
          </p:nvPr>
        </p:nvSpPr>
        <p:spPr/>
        <p:txBody>
          <a:bodyPr/>
          <a:lstStyle/>
          <a:p>
            <a:fld id="{24A79FA8-4D08-4E50-BBA2-D88CCB263461}" type="slidenum">
              <a:rPr lang="es-ES" smtClean="0"/>
              <a:t>‹Nº›</a:t>
            </a:fld>
            <a:endParaRPr lang="es-ES"/>
          </a:p>
        </p:txBody>
      </p:sp>
    </p:spTree>
    <p:extLst>
      <p:ext uri="{BB962C8B-B14F-4D97-AF65-F5344CB8AC3E}">
        <p14:creationId xmlns:p14="http://schemas.microsoft.com/office/powerpoint/2010/main" val="364624423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ación">
    <p:spTree>
      <p:nvGrpSpPr>
        <p:cNvPr id="1" name=""/>
        <p:cNvGrpSpPr/>
        <p:nvPr/>
      </p:nvGrpSpPr>
      <p:grpSpPr>
        <a:xfrm>
          <a:off x="0" y="0"/>
          <a:ext cx="0" cy="0"/>
          <a:chOff x="0" y="0"/>
          <a:chExt cx="0" cy="0"/>
        </a:xfrm>
      </p:grpSpPr>
      <p:sp>
        <p:nvSpPr>
          <p:cNvPr id="2" name="Título 1"/>
          <p:cNvSpPr>
            <a:spLocks noGrp="1"/>
          </p:cNvSpPr>
          <p:nvPr>
            <p:ph type="title"/>
          </p:nvPr>
        </p:nvSpPr>
        <p:spPr>
          <a:xfrm>
            <a:off x="839788" y="365125"/>
            <a:ext cx="10515600" cy="1325563"/>
          </a:xfrm>
        </p:spPr>
        <p:txBody>
          <a:bodyPr/>
          <a:lstStyle/>
          <a:p>
            <a:r>
              <a:rPr lang="es-ES"/>
              <a:t>Haga clic para modificar el estilo de título del patrón</a:t>
            </a:r>
          </a:p>
        </p:txBody>
      </p:sp>
      <p:sp>
        <p:nvSpPr>
          <p:cNvPr id="3" name="Marcador de texto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a:t>Editar el estilo de texto del patrón</a:t>
            </a:r>
          </a:p>
        </p:txBody>
      </p:sp>
      <p:sp>
        <p:nvSpPr>
          <p:cNvPr id="4" name="Marcador de contenido 3"/>
          <p:cNvSpPr>
            <a:spLocks noGrp="1"/>
          </p:cNvSpPr>
          <p:nvPr>
            <p:ph sz="half" idx="2"/>
          </p:nvPr>
        </p:nvSpPr>
        <p:spPr>
          <a:xfrm>
            <a:off x="839788" y="2505075"/>
            <a:ext cx="5157787" cy="3684588"/>
          </a:xfrm>
        </p:spPr>
        <p:txBody>
          <a:bodyPr/>
          <a:lstStyle/>
          <a:p>
            <a:pPr lvl="0"/>
            <a:r>
              <a:rPr lang="es-ES"/>
              <a:t>Editar el estilo de texto del patrón</a:t>
            </a:r>
          </a:p>
          <a:p>
            <a:pPr lvl="1"/>
            <a:r>
              <a:rPr lang="es-ES"/>
              <a:t>Segundo nivel</a:t>
            </a:r>
          </a:p>
          <a:p>
            <a:pPr lvl="2"/>
            <a:r>
              <a:rPr lang="es-ES"/>
              <a:t>Tercer nivel</a:t>
            </a:r>
          </a:p>
          <a:p>
            <a:pPr lvl="3"/>
            <a:r>
              <a:rPr lang="es-ES"/>
              <a:t>Cuarto nivel</a:t>
            </a:r>
          </a:p>
          <a:p>
            <a:pPr lvl="4"/>
            <a:r>
              <a:rPr lang="es-ES"/>
              <a:t>Quinto nivel</a:t>
            </a:r>
          </a:p>
        </p:txBody>
      </p:sp>
      <p:sp>
        <p:nvSpPr>
          <p:cNvPr id="5" name="Marcador de texto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a:t>Editar el estilo de texto del patrón</a:t>
            </a:r>
          </a:p>
        </p:txBody>
      </p:sp>
      <p:sp>
        <p:nvSpPr>
          <p:cNvPr id="6" name="Marcador de contenido 5"/>
          <p:cNvSpPr>
            <a:spLocks noGrp="1"/>
          </p:cNvSpPr>
          <p:nvPr>
            <p:ph sz="quarter" idx="4"/>
          </p:nvPr>
        </p:nvSpPr>
        <p:spPr>
          <a:xfrm>
            <a:off x="6172200" y="2505075"/>
            <a:ext cx="5183188" cy="3684588"/>
          </a:xfrm>
        </p:spPr>
        <p:txBody>
          <a:bodyPr/>
          <a:lstStyle/>
          <a:p>
            <a:pPr lvl="0"/>
            <a:r>
              <a:rPr lang="es-ES"/>
              <a:t>Editar el estilo de texto del patrón</a:t>
            </a:r>
          </a:p>
          <a:p>
            <a:pPr lvl="1"/>
            <a:r>
              <a:rPr lang="es-ES"/>
              <a:t>Segundo nivel</a:t>
            </a:r>
          </a:p>
          <a:p>
            <a:pPr lvl="2"/>
            <a:r>
              <a:rPr lang="es-ES"/>
              <a:t>Tercer nivel</a:t>
            </a:r>
          </a:p>
          <a:p>
            <a:pPr lvl="3"/>
            <a:r>
              <a:rPr lang="es-ES"/>
              <a:t>Cuarto nivel</a:t>
            </a:r>
          </a:p>
          <a:p>
            <a:pPr lvl="4"/>
            <a:r>
              <a:rPr lang="es-ES"/>
              <a:t>Quinto nivel</a:t>
            </a:r>
          </a:p>
        </p:txBody>
      </p:sp>
      <p:sp>
        <p:nvSpPr>
          <p:cNvPr id="7" name="Marcador de fecha 6"/>
          <p:cNvSpPr>
            <a:spLocks noGrp="1"/>
          </p:cNvSpPr>
          <p:nvPr>
            <p:ph type="dt" sz="half" idx="10"/>
          </p:nvPr>
        </p:nvSpPr>
        <p:spPr/>
        <p:txBody>
          <a:bodyPr/>
          <a:lstStyle/>
          <a:p>
            <a:fld id="{CC231CB2-8F63-4ACB-AA28-38CB9C3B0788}" type="datetimeFigureOut">
              <a:rPr lang="es-ES" smtClean="0"/>
              <a:t>10/09/2024</a:t>
            </a:fld>
            <a:endParaRPr lang="es-ES"/>
          </a:p>
        </p:txBody>
      </p:sp>
      <p:sp>
        <p:nvSpPr>
          <p:cNvPr id="8" name="Marcador de pie de página 7"/>
          <p:cNvSpPr>
            <a:spLocks noGrp="1"/>
          </p:cNvSpPr>
          <p:nvPr>
            <p:ph type="ftr" sz="quarter" idx="11"/>
          </p:nvPr>
        </p:nvSpPr>
        <p:spPr/>
        <p:txBody>
          <a:bodyPr/>
          <a:lstStyle/>
          <a:p>
            <a:endParaRPr lang="es-ES"/>
          </a:p>
        </p:txBody>
      </p:sp>
      <p:sp>
        <p:nvSpPr>
          <p:cNvPr id="9" name="Marcador de número de diapositiva 8"/>
          <p:cNvSpPr>
            <a:spLocks noGrp="1"/>
          </p:cNvSpPr>
          <p:nvPr>
            <p:ph type="sldNum" sz="quarter" idx="12"/>
          </p:nvPr>
        </p:nvSpPr>
        <p:spPr/>
        <p:txBody>
          <a:bodyPr/>
          <a:lstStyle/>
          <a:p>
            <a:fld id="{24A79FA8-4D08-4E50-BBA2-D88CCB263461}" type="slidenum">
              <a:rPr lang="es-ES" smtClean="0"/>
              <a:t>‹Nº›</a:t>
            </a:fld>
            <a:endParaRPr lang="es-ES"/>
          </a:p>
        </p:txBody>
      </p:sp>
    </p:spTree>
    <p:extLst>
      <p:ext uri="{BB962C8B-B14F-4D97-AF65-F5344CB8AC3E}">
        <p14:creationId xmlns:p14="http://schemas.microsoft.com/office/powerpoint/2010/main" val="49623264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Solo el título">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es-ES"/>
              <a:t>Haga clic para modificar el estilo de título del patrón</a:t>
            </a:r>
          </a:p>
        </p:txBody>
      </p:sp>
      <p:sp>
        <p:nvSpPr>
          <p:cNvPr id="3" name="Marcador de fecha 2"/>
          <p:cNvSpPr>
            <a:spLocks noGrp="1"/>
          </p:cNvSpPr>
          <p:nvPr>
            <p:ph type="dt" sz="half" idx="10"/>
          </p:nvPr>
        </p:nvSpPr>
        <p:spPr/>
        <p:txBody>
          <a:bodyPr/>
          <a:lstStyle/>
          <a:p>
            <a:fld id="{CC231CB2-8F63-4ACB-AA28-38CB9C3B0788}" type="datetimeFigureOut">
              <a:rPr lang="es-ES" smtClean="0"/>
              <a:t>10/09/2024</a:t>
            </a:fld>
            <a:endParaRPr lang="es-ES"/>
          </a:p>
        </p:txBody>
      </p:sp>
      <p:sp>
        <p:nvSpPr>
          <p:cNvPr id="4" name="Marcador de pie de página 3"/>
          <p:cNvSpPr>
            <a:spLocks noGrp="1"/>
          </p:cNvSpPr>
          <p:nvPr>
            <p:ph type="ftr" sz="quarter" idx="11"/>
          </p:nvPr>
        </p:nvSpPr>
        <p:spPr/>
        <p:txBody>
          <a:bodyPr/>
          <a:lstStyle/>
          <a:p>
            <a:endParaRPr lang="es-ES"/>
          </a:p>
        </p:txBody>
      </p:sp>
      <p:sp>
        <p:nvSpPr>
          <p:cNvPr id="5" name="Marcador de número de diapositiva 4"/>
          <p:cNvSpPr>
            <a:spLocks noGrp="1"/>
          </p:cNvSpPr>
          <p:nvPr>
            <p:ph type="sldNum" sz="quarter" idx="12"/>
          </p:nvPr>
        </p:nvSpPr>
        <p:spPr/>
        <p:txBody>
          <a:bodyPr/>
          <a:lstStyle/>
          <a:p>
            <a:fld id="{24A79FA8-4D08-4E50-BBA2-D88CCB263461}" type="slidenum">
              <a:rPr lang="es-ES" smtClean="0"/>
              <a:t>‹Nº›</a:t>
            </a:fld>
            <a:endParaRPr lang="es-ES"/>
          </a:p>
        </p:txBody>
      </p:sp>
    </p:spTree>
    <p:extLst>
      <p:ext uri="{BB962C8B-B14F-4D97-AF65-F5344CB8AC3E}">
        <p14:creationId xmlns:p14="http://schemas.microsoft.com/office/powerpoint/2010/main" val="198991526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En blanco">
    <p:spTree>
      <p:nvGrpSpPr>
        <p:cNvPr id="1" name=""/>
        <p:cNvGrpSpPr/>
        <p:nvPr/>
      </p:nvGrpSpPr>
      <p:grpSpPr>
        <a:xfrm>
          <a:off x="0" y="0"/>
          <a:ext cx="0" cy="0"/>
          <a:chOff x="0" y="0"/>
          <a:chExt cx="0" cy="0"/>
        </a:xfrm>
      </p:grpSpPr>
      <p:sp>
        <p:nvSpPr>
          <p:cNvPr id="2" name="Marcador de fecha 1"/>
          <p:cNvSpPr>
            <a:spLocks noGrp="1"/>
          </p:cNvSpPr>
          <p:nvPr>
            <p:ph type="dt" sz="half" idx="10"/>
          </p:nvPr>
        </p:nvSpPr>
        <p:spPr/>
        <p:txBody>
          <a:bodyPr/>
          <a:lstStyle/>
          <a:p>
            <a:fld id="{CC231CB2-8F63-4ACB-AA28-38CB9C3B0788}" type="datetimeFigureOut">
              <a:rPr lang="es-ES" smtClean="0"/>
              <a:t>10/09/2024</a:t>
            </a:fld>
            <a:endParaRPr lang="es-ES"/>
          </a:p>
        </p:txBody>
      </p:sp>
      <p:sp>
        <p:nvSpPr>
          <p:cNvPr id="3" name="Marcador de pie de página 2"/>
          <p:cNvSpPr>
            <a:spLocks noGrp="1"/>
          </p:cNvSpPr>
          <p:nvPr>
            <p:ph type="ftr" sz="quarter" idx="11"/>
          </p:nvPr>
        </p:nvSpPr>
        <p:spPr/>
        <p:txBody>
          <a:bodyPr/>
          <a:lstStyle/>
          <a:p>
            <a:endParaRPr lang="es-ES"/>
          </a:p>
        </p:txBody>
      </p:sp>
      <p:sp>
        <p:nvSpPr>
          <p:cNvPr id="4" name="Marcador de número de diapositiva 3"/>
          <p:cNvSpPr>
            <a:spLocks noGrp="1"/>
          </p:cNvSpPr>
          <p:nvPr>
            <p:ph type="sldNum" sz="quarter" idx="12"/>
          </p:nvPr>
        </p:nvSpPr>
        <p:spPr/>
        <p:txBody>
          <a:bodyPr/>
          <a:lstStyle/>
          <a:p>
            <a:fld id="{24A79FA8-4D08-4E50-BBA2-D88CCB263461}" type="slidenum">
              <a:rPr lang="es-ES" smtClean="0"/>
              <a:t>‹Nº›</a:t>
            </a:fld>
            <a:endParaRPr lang="es-ES"/>
          </a:p>
        </p:txBody>
      </p:sp>
    </p:spTree>
    <p:extLst>
      <p:ext uri="{BB962C8B-B14F-4D97-AF65-F5344CB8AC3E}">
        <p14:creationId xmlns:p14="http://schemas.microsoft.com/office/powerpoint/2010/main" val="116240633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ido con título">
    <p:spTree>
      <p:nvGrpSpPr>
        <p:cNvPr id="1" name=""/>
        <p:cNvGrpSpPr/>
        <p:nvPr/>
      </p:nvGrpSpPr>
      <p:grpSpPr>
        <a:xfrm>
          <a:off x="0" y="0"/>
          <a:ext cx="0" cy="0"/>
          <a:chOff x="0" y="0"/>
          <a:chExt cx="0" cy="0"/>
        </a:xfrm>
      </p:grpSpPr>
      <p:sp>
        <p:nvSpPr>
          <p:cNvPr id="2" name="Título 1"/>
          <p:cNvSpPr>
            <a:spLocks noGrp="1"/>
          </p:cNvSpPr>
          <p:nvPr>
            <p:ph type="title"/>
          </p:nvPr>
        </p:nvSpPr>
        <p:spPr>
          <a:xfrm>
            <a:off x="839788" y="457200"/>
            <a:ext cx="3932237" cy="1600200"/>
          </a:xfrm>
        </p:spPr>
        <p:txBody>
          <a:bodyPr anchor="b"/>
          <a:lstStyle>
            <a:lvl1pPr>
              <a:defRPr sz="3200"/>
            </a:lvl1pPr>
          </a:lstStyle>
          <a:p>
            <a:r>
              <a:rPr lang="es-ES"/>
              <a:t>Haga clic para modificar el estilo de título del patrón</a:t>
            </a:r>
          </a:p>
        </p:txBody>
      </p:sp>
      <p:sp>
        <p:nvSpPr>
          <p:cNvPr id="3" name="Marcador de contenido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s-ES"/>
              <a:t>Editar el estilo de texto del patrón</a:t>
            </a:r>
          </a:p>
          <a:p>
            <a:pPr lvl="1"/>
            <a:r>
              <a:rPr lang="es-ES"/>
              <a:t>Segundo nivel</a:t>
            </a:r>
          </a:p>
          <a:p>
            <a:pPr lvl="2"/>
            <a:r>
              <a:rPr lang="es-ES"/>
              <a:t>Tercer nivel</a:t>
            </a:r>
          </a:p>
          <a:p>
            <a:pPr lvl="3"/>
            <a:r>
              <a:rPr lang="es-ES"/>
              <a:t>Cuarto nivel</a:t>
            </a:r>
          </a:p>
          <a:p>
            <a:pPr lvl="4"/>
            <a:r>
              <a:rPr lang="es-ES"/>
              <a:t>Quinto nivel</a:t>
            </a:r>
          </a:p>
        </p:txBody>
      </p:sp>
      <p:sp>
        <p:nvSpPr>
          <p:cNvPr id="4" name="Marcador de texto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s-ES"/>
              <a:t>Editar el estilo de texto del patrón</a:t>
            </a:r>
          </a:p>
        </p:txBody>
      </p:sp>
      <p:sp>
        <p:nvSpPr>
          <p:cNvPr id="5" name="Marcador de fecha 4"/>
          <p:cNvSpPr>
            <a:spLocks noGrp="1"/>
          </p:cNvSpPr>
          <p:nvPr>
            <p:ph type="dt" sz="half" idx="10"/>
          </p:nvPr>
        </p:nvSpPr>
        <p:spPr/>
        <p:txBody>
          <a:bodyPr/>
          <a:lstStyle/>
          <a:p>
            <a:fld id="{CC231CB2-8F63-4ACB-AA28-38CB9C3B0788}" type="datetimeFigureOut">
              <a:rPr lang="es-ES" smtClean="0"/>
              <a:t>10/09/2024</a:t>
            </a:fld>
            <a:endParaRPr lang="es-ES"/>
          </a:p>
        </p:txBody>
      </p:sp>
      <p:sp>
        <p:nvSpPr>
          <p:cNvPr id="6" name="Marcador de pie de página 5"/>
          <p:cNvSpPr>
            <a:spLocks noGrp="1"/>
          </p:cNvSpPr>
          <p:nvPr>
            <p:ph type="ftr" sz="quarter" idx="11"/>
          </p:nvPr>
        </p:nvSpPr>
        <p:spPr/>
        <p:txBody>
          <a:bodyPr/>
          <a:lstStyle/>
          <a:p>
            <a:endParaRPr lang="es-ES"/>
          </a:p>
        </p:txBody>
      </p:sp>
      <p:sp>
        <p:nvSpPr>
          <p:cNvPr id="7" name="Marcador de número de diapositiva 6"/>
          <p:cNvSpPr>
            <a:spLocks noGrp="1"/>
          </p:cNvSpPr>
          <p:nvPr>
            <p:ph type="sldNum" sz="quarter" idx="12"/>
          </p:nvPr>
        </p:nvSpPr>
        <p:spPr/>
        <p:txBody>
          <a:bodyPr/>
          <a:lstStyle/>
          <a:p>
            <a:fld id="{24A79FA8-4D08-4E50-BBA2-D88CCB263461}" type="slidenum">
              <a:rPr lang="es-ES" smtClean="0"/>
              <a:t>‹Nº›</a:t>
            </a:fld>
            <a:endParaRPr lang="es-ES"/>
          </a:p>
        </p:txBody>
      </p:sp>
    </p:spTree>
    <p:extLst>
      <p:ext uri="{BB962C8B-B14F-4D97-AF65-F5344CB8AC3E}">
        <p14:creationId xmlns:p14="http://schemas.microsoft.com/office/powerpoint/2010/main" val="199980940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Imagen con título">
    <p:spTree>
      <p:nvGrpSpPr>
        <p:cNvPr id="1" name=""/>
        <p:cNvGrpSpPr/>
        <p:nvPr/>
      </p:nvGrpSpPr>
      <p:grpSpPr>
        <a:xfrm>
          <a:off x="0" y="0"/>
          <a:ext cx="0" cy="0"/>
          <a:chOff x="0" y="0"/>
          <a:chExt cx="0" cy="0"/>
        </a:xfrm>
      </p:grpSpPr>
      <p:sp>
        <p:nvSpPr>
          <p:cNvPr id="2" name="Título 1"/>
          <p:cNvSpPr>
            <a:spLocks noGrp="1"/>
          </p:cNvSpPr>
          <p:nvPr>
            <p:ph type="title"/>
          </p:nvPr>
        </p:nvSpPr>
        <p:spPr>
          <a:xfrm>
            <a:off x="839788" y="457200"/>
            <a:ext cx="3932237" cy="1600200"/>
          </a:xfrm>
        </p:spPr>
        <p:txBody>
          <a:bodyPr anchor="b"/>
          <a:lstStyle>
            <a:lvl1pPr>
              <a:defRPr sz="3200"/>
            </a:lvl1pPr>
          </a:lstStyle>
          <a:p>
            <a:r>
              <a:rPr lang="es-ES"/>
              <a:t>Haga clic para modificar el estilo de título del patrón</a:t>
            </a:r>
          </a:p>
        </p:txBody>
      </p:sp>
      <p:sp>
        <p:nvSpPr>
          <p:cNvPr id="3" name="Marcador de posición de imagen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s-ES"/>
          </a:p>
        </p:txBody>
      </p:sp>
      <p:sp>
        <p:nvSpPr>
          <p:cNvPr id="4" name="Marcador de texto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s-ES"/>
              <a:t>Editar el estilo de texto del patrón</a:t>
            </a:r>
          </a:p>
        </p:txBody>
      </p:sp>
      <p:sp>
        <p:nvSpPr>
          <p:cNvPr id="5" name="Marcador de fecha 4"/>
          <p:cNvSpPr>
            <a:spLocks noGrp="1"/>
          </p:cNvSpPr>
          <p:nvPr>
            <p:ph type="dt" sz="half" idx="10"/>
          </p:nvPr>
        </p:nvSpPr>
        <p:spPr/>
        <p:txBody>
          <a:bodyPr/>
          <a:lstStyle/>
          <a:p>
            <a:fld id="{CC231CB2-8F63-4ACB-AA28-38CB9C3B0788}" type="datetimeFigureOut">
              <a:rPr lang="es-ES" smtClean="0"/>
              <a:t>10/09/2024</a:t>
            </a:fld>
            <a:endParaRPr lang="es-ES"/>
          </a:p>
        </p:txBody>
      </p:sp>
      <p:sp>
        <p:nvSpPr>
          <p:cNvPr id="6" name="Marcador de pie de página 5"/>
          <p:cNvSpPr>
            <a:spLocks noGrp="1"/>
          </p:cNvSpPr>
          <p:nvPr>
            <p:ph type="ftr" sz="quarter" idx="11"/>
          </p:nvPr>
        </p:nvSpPr>
        <p:spPr/>
        <p:txBody>
          <a:bodyPr/>
          <a:lstStyle/>
          <a:p>
            <a:endParaRPr lang="es-ES"/>
          </a:p>
        </p:txBody>
      </p:sp>
      <p:sp>
        <p:nvSpPr>
          <p:cNvPr id="7" name="Marcador de número de diapositiva 6"/>
          <p:cNvSpPr>
            <a:spLocks noGrp="1"/>
          </p:cNvSpPr>
          <p:nvPr>
            <p:ph type="sldNum" sz="quarter" idx="12"/>
          </p:nvPr>
        </p:nvSpPr>
        <p:spPr/>
        <p:txBody>
          <a:bodyPr/>
          <a:lstStyle/>
          <a:p>
            <a:fld id="{24A79FA8-4D08-4E50-BBA2-D88CCB263461}" type="slidenum">
              <a:rPr lang="es-ES" smtClean="0"/>
              <a:t>‹Nº›</a:t>
            </a:fld>
            <a:endParaRPr lang="es-ES"/>
          </a:p>
        </p:txBody>
      </p:sp>
    </p:spTree>
    <p:extLst>
      <p:ext uri="{BB962C8B-B14F-4D97-AF65-F5344CB8AC3E}">
        <p14:creationId xmlns:p14="http://schemas.microsoft.com/office/powerpoint/2010/main" val="21969117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ítulo y texto vertical">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es-ES"/>
              <a:t>Haga clic para modificar el estilo de título del patrón</a:t>
            </a:r>
          </a:p>
        </p:txBody>
      </p:sp>
      <p:sp>
        <p:nvSpPr>
          <p:cNvPr id="3" name="Marcador de texto vertical 2"/>
          <p:cNvSpPr>
            <a:spLocks noGrp="1"/>
          </p:cNvSpPr>
          <p:nvPr>
            <p:ph type="body" orient="vert" idx="1"/>
          </p:nvPr>
        </p:nvSpPr>
        <p:spPr/>
        <p:txBody>
          <a:bodyPr vert="eaVert"/>
          <a:lstStyle/>
          <a:p>
            <a:pPr lvl="0"/>
            <a:r>
              <a:rPr lang="es-ES"/>
              <a:t>Editar el estilo de texto del patrón</a:t>
            </a:r>
          </a:p>
          <a:p>
            <a:pPr lvl="1"/>
            <a:r>
              <a:rPr lang="es-ES"/>
              <a:t>Segundo nivel</a:t>
            </a:r>
          </a:p>
          <a:p>
            <a:pPr lvl="2"/>
            <a:r>
              <a:rPr lang="es-ES"/>
              <a:t>Tercer nivel</a:t>
            </a:r>
          </a:p>
          <a:p>
            <a:pPr lvl="3"/>
            <a:r>
              <a:rPr lang="es-ES"/>
              <a:t>Cuarto nivel</a:t>
            </a:r>
          </a:p>
          <a:p>
            <a:pPr lvl="4"/>
            <a:r>
              <a:rPr lang="es-ES"/>
              <a:t>Quinto nivel</a:t>
            </a:r>
          </a:p>
        </p:txBody>
      </p:sp>
      <p:sp>
        <p:nvSpPr>
          <p:cNvPr id="4" name="Marcador de fecha 3"/>
          <p:cNvSpPr>
            <a:spLocks noGrp="1"/>
          </p:cNvSpPr>
          <p:nvPr>
            <p:ph type="dt" sz="half" idx="10"/>
          </p:nvPr>
        </p:nvSpPr>
        <p:spPr/>
        <p:txBody>
          <a:bodyPr/>
          <a:lstStyle/>
          <a:p>
            <a:fld id="{CC231CB2-8F63-4ACB-AA28-38CB9C3B0788}" type="datetimeFigureOut">
              <a:rPr lang="es-ES" smtClean="0"/>
              <a:t>10/09/2024</a:t>
            </a:fld>
            <a:endParaRPr lang="es-ES"/>
          </a:p>
        </p:txBody>
      </p:sp>
      <p:sp>
        <p:nvSpPr>
          <p:cNvPr id="5" name="Marcador de pie de página 4"/>
          <p:cNvSpPr>
            <a:spLocks noGrp="1"/>
          </p:cNvSpPr>
          <p:nvPr>
            <p:ph type="ftr" sz="quarter" idx="11"/>
          </p:nvPr>
        </p:nvSpPr>
        <p:spPr/>
        <p:txBody>
          <a:bodyPr/>
          <a:lstStyle/>
          <a:p>
            <a:endParaRPr lang="es-ES"/>
          </a:p>
        </p:txBody>
      </p:sp>
      <p:sp>
        <p:nvSpPr>
          <p:cNvPr id="6" name="Marcador de número de diapositiva 5"/>
          <p:cNvSpPr>
            <a:spLocks noGrp="1"/>
          </p:cNvSpPr>
          <p:nvPr>
            <p:ph type="sldNum" sz="quarter" idx="12"/>
          </p:nvPr>
        </p:nvSpPr>
        <p:spPr/>
        <p:txBody>
          <a:bodyPr/>
          <a:lstStyle/>
          <a:p>
            <a:fld id="{24A79FA8-4D08-4E50-BBA2-D88CCB263461}" type="slidenum">
              <a:rPr lang="es-ES" smtClean="0"/>
              <a:t>‹Nº›</a:t>
            </a:fld>
            <a:endParaRPr lang="es-ES"/>
          </a:p>
        </p:txBody>
      </p:sp>
    </p:spTree>
    <p:extLst>
      <p:ext uri="{BB962C8B-B14F-4D97-AF65-F5344CB8AC3E}">
        <p14:creationId xmlns:p14="http://schemas.microsoft.com/office/powerpoint/2010/main" val="272927358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Título vertical y texto">
    <p:spTree>
      <p:nvGrpSpPr>
        <p:cNvPr id="1" name=""/>
        <p:cNvGrpSpPr/>
        <p:nvPr/>
      </p:nvGrpSpPr>
      <p:grpSpPr>
        <a:xfrm>
          <a:off x="0" y="0"/>
          <a:ext cx="0" cy="0"/>
          <a:chOff x="0" y="0"/>
          <a:chExt cx="0" cy="0"/>
        </a:xfrm>
      </p:grpSpPr>
      <p:sp>
        <p:nvSpPr>
          <p:cNvPr id="2" name="Título vertical 1"/>
          <p:cNvSpPr>
            <a:spLocks noGrp="1"/>
          </p:cNvSpPr>
          <p:nvPr>
            <p:ph type="title" orient="vert"/>
          </p:nvPr>
        </p:nvSpPr>
        <p:spPr>
          <a:xfrm>
            <a:off x="8724900" y="365125"/>
            <a:ext cx="2628900" cy="5811838"/>
          </a:xfrm>
        </p:spPr>
        <p:txBody>
          <a:bodyPr vert="eaVert"/>
          <a:lstStyle/>
          <a:p>
            <a:r>
              <a:rPr lang="es-ES"/>
              <a:t>Haga clic para modificar el estilo de título del patrón</a:t>
            </a:r>
          </a:p>
        </p:txBody>
      </p:sp>
      <p:sp>
        <p:nvSpPr>
          <p:cNvPr id="3" name="Marcador de texto vertical 2"/>
          <p:cNvSpPr>
            <a:spLocks noGrp="1"/>
          </p:cNvSpPr>
          <p:nvPr>
            <p:ph type="body" orient="vert" idx="1"/>
          </p:nvPr>
        </p:nvSpPr>
        <p:spPr>
          <a:xfrm>
            <a:off x="838200" y="365125"/>
            <a:ext cx="7734300" cy="5811838"/>
          </a:xfrm>
        </p:spPr>
        <p:txBody>
          <a:bodyPr vert="eaVert"/>
          <a:lstStyle/>
          <a:p>
            <a:pPr lvl="0"/>
            <a:r>
              <a:rPr lang="es-ES"/>
              <a:t>Editar el estilo de texto del patrón</a:t>
            </a:r>
          </a:p>
          <a:p>
            <a:pPr lvl="1"/>
            <a:r>
              <a:rPr lang="es-ES"/>
              <a:t>Segundo nivel</a:t>
            </a:r>
          </a:p>
          <a:p>
            <a:pPr lvl="2"/>
            <a:r>
              <a:rPr lang="es-ES"/>
              <a:t>Tercer nivel</a:t>
            </a:r>
          </a:p>
          <a:p>
            <a:pPr lvl="3"/>
            <a:r>
              <a:rPr lang="es-ES"/>
              <a:t>Cuarto nivel</a:t>
            </a:r>
          </a:p>
          <a:p>
            <a:pPr lvl="4"/>
            <a:r>
              <a:rPr lang="es-ES"/>
              <a:t>Quinto nivel</a:t>
            </a:r>
          </a:p>
        </p:txBody>
      </p:sp>
      <p:sp>
        <p:nvSpPr>
          <p:cNvPr id="4" name="Marcador de fecha 3"/>
          <p:cNvSpPr>
            <a:spLocks noGrp="1"/>
          </p:cNvSpPr>
          <p:nvPr>
            <p:ph type="dt" sz="half" idx="10"/>
          </p:nvPr>
        </p:nvSpPr>
        <p:spPr/>
        <p:txBody>
          <a:bodyPr/>
          <a:lstStyle/>
          <a:p>
            <a:fld id="{CC231CB2-8F63-4ACB-AA28-38CB9C3B0788}" type="datetimeFigureOut">
              <a:rPr lang="es-ES" smtClean="0"/>
              <a:t>10/09/2024</a:t>
            </a:fld>
            <a:endParaRPr lang="es-ES"/>
          </a:p>
        </p:txBody>
      </p:sp>
      <p:sp>
        <p:nvSpPr>
          <p:cNvPr id="5" name="Marcador de pie de página 4"/>
          <p:cNvSpPr>
            <a:spLocks noGrp="1"/>
          </p:cNvSpPr>
          <p:nvPr>
            <p:ph type="ftr" sz="quarter" idx="11"/>
          </p:nvPr>
        </p:nvSpPr>
        <p:spPr/>
        <p:txBody>
          <a:bodyPr/>
          <a:lstStyle/>
          <a:p>
            <a:endParaRPr lang="es-ES"/>
          </a:p>
        </p:txBody>
      </p:sp>
      <p:sp>
        <p:nvSpPr>
          <p:cNvPr id="6" name="Marcador de número de diapositiva 5"/>
          <p:cNvSpPr>
            <a:spLocks noGrp="1"/>
          </p:cNvSpPr>
          <p:nvPr>
            <p:ph type="sldNum" sz="quarter" idx="12"/>
          </p:nvPr>
        </p:nvSpPr>
        <p:spPr/>
        <p:txBody>
          <a:bodyPr/>
          <a:lstStyle/>
          <a:p>
            <a:fld id="{24A79FA8-4D08-4E50-BBA2-D88CCB263461}" type="slidenum">
              <a:rPr lang="es-ES" smtClean="0"/>
              <a:t>‹Nº›</a:t>
            </a:fld>
            <a:endParaRPr lang="es-ES"/>
          </a:p>
        </p:txBody>
      </p:sp>
    </p:spTree>
    <p:extLst>
      <p:ext uri="{BB962C8B-B14F-4D97-AF65-F5344CB8AC3E}">
        <p14:creationId xmlns:p14="http://schemas.microsoft.com/office/powerpoint/2010/main" val="207310781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pn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dpi="0" rotWithShape="1">
          <a:blip r:embed="rId13">
            <a:lum/>
          </a:blip>
          <a:srcRect/>
          <a:stretch>
            <a:fillRect/>
          </a:stretch>
        </a:blipFill>
        <a:effectLst/>
      </p:bgPr>
    </p:bg>
    <p:spTree>
      <p:nvGrpSpPr>
        <p:cNvPr id="1" name=""/>
        <p:cNvGrpSpPr/>
        <p:nvPr/>
      </p:nvGrpSpPr>
      <p:grpSpPr>
        <a:xfrm>
          <a:off x="0" y="0"/>
          <a:ext cx="0" cy="0"/>
          <a:chOff x="0" y="0"/>
          <a:chExt cx="0" cy="0"/>
        </a:xfrm>
      </p:grpSpPr>
      <p:sp>
        <p:nvSpPr>
          <p:cNvPr id="2" name="Marcador de título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s-ES"/>
              <a:t>Haga clic para modificar el estilo de título del patrón</a:t>
            </a:r>
          </a:p>
        </p:txBody>
      </p:sp>
      <p:sp>
        <p:nvSpPr>
          <p:cNvPr id="3" name="Marcador de texto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s-ES"/>
              <a:t>Editar el estilo de texto del patrón</a:t>
            </a:r>
          </a:p>
          <a:p>
            <a:pPr lvl="1"/>
            <a:r>
              <a:rPr lang="es-ES"/>
              <a:t>Segundo nivel</a:t>
            </a:r>
          </a:p>
          <a:p>
            <a:pPr lvl="2"/>
            <a:r>
              <a:rPr lang="es-ES"/>
              <a:t>Tercer nivel</a:t>
            </a:r>
          </a:p>
          <a:p>
            <a:pPr lvl="3"/>
            <a:r>
              <a:rPr lang="es-ES"/>
              <a:t>Cuarto nivel</a:t>
            </a:r>
          </a:p>
          <a:p>
            <a:pPr lvl="4"/>
            <a:r>
              <a:rPr lang="es-ES"/>
              <a:t>Quinto nivel</a:t>
            </a:r>
          </a:p>
        </p:txBody>
      </p:sp>
      <p:sp>
        <p:nvSpPr>
          <p:cNvPr id="4" name="Marcador de fecha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CC231CB2-8F63-4ACB-AA28-38CB9C3B0788}" type="datetimeFigureOut">
              <a:rPr lang="es-ES" smtClean="0"/>
              <a:t>10/09/2024</a:t>
            </a:fld>
            <a:endParaRPr lang="es-ES"/>
          </a:p>
        </p:txBody>
      </p:sp>
      <p:sp>
        <p:nvSpPr>
          <p:cNvPr id="5" name="Marcador de pie de página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s-ES"/>
          </a:p>
        </p:txBody>
      </p:sp>
      <p:sp>
        <p:nvSpPr>
          <p:cNvPr id="6" name="Marcador de número de diapositiva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24A79FA8-4D08-4E50-BBA2-D88CCB263461}" type="slidenum">
              <a:rPr lang="es-ES" smtClean="0"/>
              <a:t>‹Nº›</a:t>
            </a:fld>
            <a:endParaRPr lang="es-ES"/>
          </a:p>
        </p:txBody>
      </p:sp>
    </p:spTree>
    <p:extLst>
      <p:ext uri="{BB962C8B-B14F-4D97-AF65-F5344CB8AC3E}">
        <p14:creationId xmlns:p14="http://schemas.microsoft.com/office/powerpoint/2010/main" val="298081964"/>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b="1" kern="1200">
          <a:solidFill>
            <a:schemeClr val="tx1"/>
          </a:solidFill>
          <a:latin typeface="Prompt" panose="00000500000000000000" pitchFamily="2" charset="-34"/>
          <a:ea typeface="+mj-ea"/>
          <a:cs typeface="Prompt" panose="00000500000000000000" pitchFamily="2" charset="-34"/>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Outfit" pitchFamily="2" charset="0"/>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Outfit" pitchFamily="2" charset="0"/>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Outfit" pitchFamily="2" charset="0"/>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Outfit" pitchFamily="2" charset="0"/>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Outfit" pitchFamily="2"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s-E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10580279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6" name="Rectángulo 5"/>
          <p:cNvSpPr/>
          <p:nvPr/>
        </p:nvSpPr>
        <p:spPr>
          <a:xfrm>
            <a:off x="881271" y="2551837"/>
            <a:ext cx="10429458" cy="1754326"/>
          </a:xfrm>
          <a:prstGeom prst="rect">
            <a:avLst/>
          </a:prstGeom>
        </p:spPr>
        <p:txBody>
          <a:bodyPr wrap="none">
            <a:spAutoFit/>
          </a:bodyPr>
          <a:lstStyle/>
          <a:p>
            <a:pPr algn="ctr"/>
            <a:r>
              <a:rPr lang="es-ES" sz="5400" b="1" dirty="0">
                <a:solidFill>
                  <a:srgbClr val="00F3B5"/>
                </a:solidFill>
                <a:latin typeface="Prompt" panose="00000500000000000000" pitchFamily="2" charset="-34"/>
                <a:cs typeface="Prompt" panose="00000500000000000000" pitchFamily="2" charset="-34"/>
              </a:rPr>
              <a:t>ESPECIALIZACION EN  </a:t>
            </a:r>
          </a:p>
          <a:p>
            <a:pPr algn="ctr"/>
            <a:r>
              <a:rPr lang="es-ES" sz="5400" dirty="0">
                <a:solidFill>
                  <a:schemeClr val="bg1"/>
                </a:solidFill>
                <a:latin typeface="Prompt" panose="00000800000000000000" pitchFamily="2" charset="-34"/>
                <a:cs typeface="Prompt" panose="00000800000000000000" pitchFamily="2" charset="-34"/>
              </a:rPr>
              <a:t>GESTION DE GAS Y PETROLEO</a:t>
            </a:r>
          </a:p>
        </p:txBody>
      </p:sp>
    </p:spTree>
    <p:extLst>
      <p:ext uri="{BB962C8B-B14F-4D97-AF65-F5344CB8AC3E}">
        <p14:creationId xmlns:p14="http://schemas.microsoft.com/office/powerpoint/2010/main" val="182561975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504C7009-B4AD-8BBA-4EE5-7DE0D730117F}"/>
              </a:ext>
            </a:extLst>
          </p:cNvPr>
          <p:cNvSpPr>
            <a:spLocks noGrp="1"/>
          </p:cNvSpPr>
          <p:nvPr>
            <p:ph type="title"/>
          </p:nvPr>
        </p:nvSpPr>
        <p:spPr>
          <a:xfrm>
            <a:off x="1099457" y="2865729"/>
            <a:ext cx="10515600" cy="1325563"/>
          </a:xfrm>
        </p:spPr>
        <p:txBody>
          <a:bodyPr/>
          <a:lstStyle/>
          <a:p>
            <a:r>
              <a:rPr lang="es-ES" dirty="0"/>
              <a:t>TRANSPORTE Y DISTRIBUCION</a:t>
            </a:r>
            <a:endParaRPr lang="es-PE" dirty="0"/>
          </a:p>
        </p:txBody>
      </p:sp>
      <p:sp>
        <p:nvSpPr>
          <p:cNvPr id="3" name="Título 1">
            <a:extLst>
              <a:ext uri="{FF2B5EF4-FFF2-40B4-BE49-F238E27FC236}">
                <a16:creationId xmlns:a16="http://schemas.microsoft.com/office/drawing/2014/main" id="{73653071-40EA-CFBA-6A3F-E65A5E1FB43D}"/>
              </a:ext>
            </a:extLst>
          </p:cNvPr>
          <p:cNvSpPr txBox="1">
            <a:spLocks/>
          </p:cNvSpPr>
          <p:nvPr/>
        </p:nvSpPr>
        <p:spPr>
          <a:xfrm>
            <a:off x="838200" y="1075029"/>
            <a:ext cx="10515600" cy="1325563"/>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b="1" kern="1200">
                <a:solidFill>
                  <a:schemeClr val="tx1"/>
                </a:solidFill>
                <a:latin typeface="Prompt" panose="00000500000000000000" pitchFamily="2" charset="-34"/>
                <a:ea typeface="+mj-ea"/>
                <a:cs typeface="Prompt" panose="00000500000000000000" pitchFamily="2" charset="-34"/>
              </a:defRPr>
            </a:lvl1pPr>
          </a:lstStyle>
          <a:p>
            <a:r>
              <a:rPr lang="es-ES" dirty="0"/>
              <a:t>MODULO VI</a:t>
            </a:r>
            <a:endParaRPr lang="es-PE" dirty="0"/>
          </a:p>
        </p:txBody>
      </p:sp>
    </p:spTree>
    <p:extLst>
      <p:ext uri="{BB962C8B-B14F-4D97-AF65-F5344CB8AC3E}">
        <p14:creationId xmlns:p14="http://schemas.microsoft.com/office/powerpoint/2010/main" val="316141289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AA19E6F5-05DC-9995-611E-161294A54025}"/>
              </a:ext>
            </a:extLst>
          </p:cNvPr>
          <p:cNvSpPr>
            <a:spLocks noGrp="1"/>
          </p:cNvSpPr>
          <p:nvPr>
            <p:ph type="title"/>
          </p:nvPr>
        </p:nvSpPr>
        <p:spPr>
          <a:xfrm>
            <a:off x="964660" y="277577"/>
            <a:ext cx="10515600" cy="789224"/>
          </a:xfrm>
        </p:spPr>
        <p:txBody>
          <a:bodyPr>
            <a:normAutofit/>
          </a:bodyPr>
          <a:lstStyle/>
          <a:p>
            <a:r>
              <a:rPr lang="es-ES" sz="2800" dirty="0"/>
              <a:t>INTRODUCCION</a:t>
            </a:r>
          </a:p>
        </p:txBody>
      </p:sp>
      <p:sp>
        <p:nvSpPr>
          <p:cNvPr id="3" name="Marcador de contenido 2">
            <a:extLst>
              <a:ext uri="{FF2B5EF4-FFF2-40B4-BE49-F238E27FC236}">
                <a16:creationId xmlns:a16="http://schemas.microsoft.com/office/drawing/2014/main" id="{9A3A338C-2F44-961B-B316-9D3B1B3352AF}"/>
              </a:ext>
            </a:extLst>
          </p:cNvPr>
          <p:cNvSpPr>
            <a:spLocks noGrp="1"/>
          </p:cNvSpPr>
          <p:nvPr>
            <p:ph idx="1"/>
          </p:nvPr>
        </p:nvSpPr>
        <p:spPr>
          <a:xfrm>
            <a:off x="740227" y="2563587"/>
            <a:ext cx="11032671" cy="2171699"/>
          </a:xfrm>
        </p:spPr>
        <p:txBody>
          <a:bodyPr>
            <a:normAutofit/>
          </a:bodyPr>
          <a:lstStyle/>
          <a:p>
            <a:pPr marL="0" indent="0" algn="just">
              <a:buNone/>
            </a:pPr>
            <a:r>
              <a:rPr lang="es-ES" dirty="0"/>
              <a:t>El transporte y la distribución de petróleo y gas en Perú son componentes críticos de la cadena de suministro de energía. Este proceso asegura que los recursos energéticos se muevan desde las áreas de producción hasta los mercados consumidores de manera segura y eficiente.</a:t>
            </a:r>
          </a:p>
        </p:txBody>
      </p:sp>
    </p:spTree>
    <p:extLst>
      <p:ext uri="{BB962C8B-B14F-4D97-AF65-F5344CB8AC3E}">
        <p14:creationId xmlns:p14="http://schemas.microsoft.com/office/powerpoint/2010/main" val="388554355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Marcador de contenido 2">
            <a:extLst>
              <a:ext uri="{FF2B5EF4-FFF2-40B4-BE49-F238E27FC236}">
                <a16:creationId xmlns:a16="http://schemas.microsoft.com/office/drawing/2014/main" id="{9A3A338C-2F44-961B-B316-9D3B1B3352AF}"/>
              </a:ext>
            </a:extLst>
          </p:cNvPr>
          <p:cNvSpPr>
            <a:spLocks noGrp="1"/>
          </p:cNvSpPr>
          <p:nvPr>
            <p:ph idx="1"/>
          </p:nvPr>
        </p:nvSpPr>
        <p:spPr>
          <a:xfrm>
            <a:off x="838199" y="1191986"/>
            <a:ext cx="11032671" cy="4984978"/>
          </a:xfrm>
        </p:spPr>
        <p:txBody>
          <a:bodyPr>
            <a:normAutofit fontScale="92500"/>
          </a:bodyPr>
          <a:lstStyle/>
          <a:p>
            <a:pPr algn="just"/>
            <a:r>
              <a:rPr lang="es-ES" b="1" dirty="0"/>
              <a:t>Transporte de Petróleo:</a:t>
            </a:r>
            <a:r>
              <a:rPr lang="es-ES" dirty="0"/>
              <a:t> Incluye la transferencia de petróleo crudo desde los campos de extracción hasta las refinerías a través de oleoductos, camiones cisterna y barcos. El petróleo crudo es transportado principalmente por oleoductos debido a su eficiencia y costo.</a:t>
            </a:r>
          </a:p>
          <a:p>
            <a:pPr algn="just"/>
            <a:r>
              <a:rPr lang="es-ES" b="1" dirty="0"/>
              <a:t>Transporte de Gas Natural:</a:t>
            </a:r>
            <a:r>
              <a:rPr lang="es-ES" dirty="0"/>
              <a:t> Se realiza principalmente a través de gasoductos que llevan el gas desde los campos de producción hasta las plantas de procesamiento o directamente a los consumidores finales. El transporte por gasoductos es preferido debido a su capacidad para manejar grandes volúmenes de gas de manera continua.</a:t>
            </a:r>
          </a:p>
          <a:p>
            <a:pPr algn="just"/>
            <a:r>
              <a:rPr lang="es-ES" b="1" dirty="0"/>
              <a:t>Distribución:</a:t>
            </a:r>
            <a:r>
              <a:rPr lang="es-ES" dirty="0"/>
              <a:t> Involucra la entrega de productos refinados y gas natural a usuarios finales, que pueden ser residencias, industrias o estaciones de servicio. La distribución se realiza a través de redes de tuberías de menor presión para el gas natural y camiones cisterna o oleoductos para el petróleo.</a:t>
            </a:r>
          </a:p>
        </p:txBody>
      </p:sp>
    </p:spTree>
    <p:extLst>
      <p:ext uri="{BB962C8B-B14F-4D97-AF65-F5344CB8AC3E}">
        <p14:creationId xmlns:p14="http://schemas.microsoft.com/office/powerpoint/2010/main" val="127969594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AA19E6F5-05DC-9995-611E-161294A54025}"/>
              </a:ext>
            </a:extLst>
          </p:cNvPr>
          <p:cNvSpPr>
            <a:spLocks noGrp="1"/>
          </p:cNvSpPr>
          <p:nvPr>
            <p:ph type="title"/>
          </p:nvPr>
        </p:nvSpPr>
        <p:spPr>
          <a:xfrm>
            <a:off x="964660" y="277577"/>
            <a:ext cx="10515600" cy="1012380"/>
          </a:xfrm>
        </p:spPr>
        <p:txBody>
          <a:bodyPr>
            <a:normAutofit/>
          </a:bodyPr>
          <a:lstStyle/>
          <a:p>
            <a:r>
              <a:rPr lang="es-ES" sz="2800" dirty="0"/>
              <a:t>NORMATIVA VIGENTE</a:t>
            </a:r>
          </a:p>
        </p:txBody>
      </p:sp>
      <p:sp>
        <p:nvSpPr>
          <p:cNvPr id="3" name="Marcador de contenido 2">
            <a:extLst>
              <a:ext uri="{FF2B5EF4-FFF2-40B4-BE49-F238E27FC236}">
                <a16:creationId xmlns:a16="http://schemas.microsoft.com/office/drawing/2014/main" id="{9A3A338C-2F44-961B-B316-9D3B1B3352AF}"/>
              </a:ext>
            </a:extLst>
          </p:cNvPr>
          <p:cNvSpPr>
            <a:spLocks noGrp="1"/>
          </p:cNvSpPr>
          <p:nvPr>
            <p:ph idx="1"/>
          </p:nvPr>
        </p:nvSpPr>
        <p:spPr>
          <a:xfrm>
            <a:off x="711741" y="1289956"/>
            <a:ext cx="11159130" cy="5290467"/>
          </a:xfrm>
        </p:spPr>
        <p:txBody>
          <a:bodyPr>
            <a:normAutofit fontScale="92500" lnSpcReduction="20000"/>
          </a:bodyPr>
          <a:lstStyle/>
          <a:p>
            <a:pPr algn="just"/>
            <a:r>
              <a:rPr lang="es-ES" dirty="0"/>
              <a:t>La normativa en el sector energético de Perú está diseñada para regular la explotación, transporte, distribución y comercialización de petróleo y gas natural. Esta normativa asegura la seguridad, eficiencia y sostenibilidad de las operaciones.</a:t>
            </a:r>
          </a:p>
          <a:p>
            <a:pPr marL="0" indent="0">
              <a:buNone/>
            </a:pPr>
            <a:r>
              <a:rPr lang="es-ES" b="1" dirty="0"/>
              <a:t>Leyes y Reglamentos Principales</a:t>
            </a:r>
          </a:p>
          <a:p>
            <a:pPr>
              <a:buFont typeface="+mj-lt"/>
              <a:buAutoNum type="arabicPeriod"/>
            </a:pPr>
            <a:r>
              <a:rPr lang="es-ES" b="1" dirty="0"/>
              <a:t>Ley General de Hidrocarburos (Ley N.º 26221)</a:t>
            </a:r>
            <a:endParaRPr lang="es-ES" dirty="0"/>
          </a:p>
          <a:p>
            <a:pPr marL="228600" lvl="1" algn="just">
              <a:spcBef>
                <a:spcPts val="1000"/>
              </a:spcBef>
            </a:pPr>
            <a:r>
              <a:rPr lang="es-ES" sz="2800" dirty="0"/>
              <a:t>Objetivo: Regula las actividades relacionadas con la exploración, explotación, transporte, refinación y comercialización de hidrocarburos en Perú.</a:t>
            </a:r>
          </a:p>
          <a:p>
            <a:pPr marL="228600" lvl="1" algn="just">
              <a:spcBef>
                <a:spcPts val="1000"/>
              </a:spcBef>
            </a:pPr>
            <a:r>
              <a:rPr lang="es-ES" sz="2800" dirty="0"/>
              <a:t>Aspectos Clave:</a:t>
            </a:r>
          </a:p>
          <a:p>
            <a:pPr marL="228600" lvl="2" algn="just">
              <a:spcBef>
                <a:spcPts val="1000"/>
              </a:spcBef>
            </a:pPr>
            <a:r>
              <a:rPr lang="es-ES" sz="2800" dirty="0"/>
              <a:t>Concesiones y Permisos: Establece el régimen de concesiones para la exploración y explotación de hidrocarburos.</a:t>
            </a:r>
          </a:p>
          <a:p>
            <a:pPr marL="228600" lvl="2" algn="just">
              <a:spcBef>
                <a:spcPts val="1000"/>
              </a:spcBef>
            </a:pPr>
            <a:r>
              <a:rPr lang="es-ES" sz="2800" dirty="0"/>
              <a:t>Regulación de Precios: Define las condiciones para la regulación de precios y la protección del consumidor.</a:t>
            </a:r>
          </a:p>
          <a:p>
            <a:pPr marL="228600" lvl="2" algn="just">
              <a:spcBef>
                <a:spcPts val="1000"/>
              </a:spcBef>
            </a:pPr>
            <a:r>
              <a:rPr lang="es-ES" sz="2800" dirty="0"/>
              <a:t>Protección Ambiental: Incluye disposiciones para la protección ambiental en las actividades de hidrocarburos.</a:t>
            </a:r>
          </a:p>
          <a:p>
            <a:pPr algn="just"/>
            <a:endParaRPr lang="es-ES" dirty="0"/>
          </a:p>
        </p:txBody>
      </p:sp>
    </p:spTree>
    <p:extLst>
      <p:ext uri="{BB962C8B-B14F-4D97-AF65-F5344CB8AC3E}">
        <p14:creationId xmlns:p14="http://schemas.microsoft.com/office/powerpoint/2010/main" val="242100039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AA19E6F5-05DC-9995-611E-161294A54025}"/>
              </a:ext>
            </a:extLst>
          </p:cNvPr>
          <p:cNvSpPr>
            <a:spLocks noGrp="1"/>
          </p:cNvSpPr>
          <p:nvPr>
            <p:ph type="title"/>
          </p:nvPr>
        </p:nvSpPr>
        <p:spPr>
          <a:xfrm>
            <a:off x="964660" y="277576"/>
            <a:ext cx="10515600" cy="832767"/>
          </a:xfrm>
        </p:spPr>
        <p:txBody>
          <a:bodyPr>
            <a:normAutofit/>
          </a:bodyPr>
          <a:lstStyle/>
          <a:p>
            <a:endParaRPr lang="es-ES" sz="2800" dirty="0"/>
          </a:p>
        </p:txBody>
      </p:sp>
      <p:sp>
        <p:nvSpPr>
          <p:cNvPr id="3" name="Marcador de contenido 2">
            <a:extLst>
              <a:ext uri="{FF2B5EF4-FFF2-40B4-BE49-F238E27FC236}">
                <a16:creationId xmlns:a16="http://schemas.microsoft.com/office/drawing/2014/main" id="{9A3A338C-2F44-961B-B316-9D3B1B3352AF}"/>
              </a:ext>
            </a:extLst>
          </p:cNvPr>
          <p:cNvSpPr>
            <a:spLocks noGrp="1"/>
          </p:cNvSpPr>
          <p:nvPr>
            <p:ph idx="1"/>
          </p:nvPr>
        </p:nvSpPr>
        <p:spPr>
          <a:xfrm>
            <a:off x="838199" y="1387930"/>
            <a:ext cx="11032671" cy="4789034"/>
          </a:xfrm>
        </p:spPr>
        <p:txBody>
          <a:bodyPr>
            <a:normAutofit/>
          </a:bodyPr>
          <a:lstStyle/>
          <a:p>
            <a:pPr marL="0" indent="0">
              <a:buNone/>
            </a:pPr>
            <a:r>
              <a:rPr lang="es-ES" b="1" dirty="0"/>
              <a:t>2 Ley de Concesiones Eléctricas y de Gas Natural (Ley N.º 28840)</a:t>
            </a:r>
            <a:endParaRPr lang="es-ES" dirty="0"/>
          </a:p>
          <a:p>
            <a:pPr>
              <a:buFont typeface="Arial" panose="020B0604020202020204" pitchFamily="34" charset="0"/>
              <a:buChar char="•"/>
            </a:pPr>
            <a:r>
              <a:rPr lang="es-ES" b="1" dirty="0"/>
              <a:t>Objetivo:</a:t>
            </a:r>
            <a:r>
              <a:rPr lang="es-ES" dirty="0"/>
              <a:t> Regula las concesiones para la construcción y operación de infraestructuras eléctricas y de gas natural.</a:t>
            </a:r>
          </a:p>
          <a:p>
            <a:pPr>
              <a:buFont typeface="Arial" panose="020B0604020202020204" pitchFamily="34" charset="0"/>
              <a:buChar char="•"/>
            </a:pPr>
            <a:r>
              <a:rPr lang="es-ES" b="1" dirty="0"/>
              <a:t>Aspectos Clave:</a:t>
            </a:r>
            <a:endParaRPr lang="es-ES" dirty="0"/>
          </a:p>
          <a:p>
            <a:pPr marL="742950" lvl="1" indent="-285750">
              <a:buFont typeface="Arial" panose="020B0604020202020204" pitchFamily="34" charset="0"/>
              <a:buChar char="•"/>
            </a:pPr>
            <a:r>
              <a:rPr lang="es-ES" b="1" dirty="0"/>
              <a:t>Procedimiento de Concesión:</a:t>
            </a:r>
            <a:r>
              <a:rPr lang="es-ES" dirty="0"/>
              <a:t> Establece el proceso para la obtención de concesiones para gasoductos y oleoductos.</a:t>
            </a:r>
          </a:p>
          <a:p>
            <a:pPr marL="742950" lvl="1" indent="-285750">
              <a:buFont typeface="Arial" panose="020B0604020202020204" pitchFamily="34" charset="0"/>
              <a:buChar char="•"/>
            </a:pPr>
            <a:r>
              <a:rPr lang="es-ES" b="1" dirty="0"/>
              <a:t>Regulación de Infraestructura:</a:t>
            </a:r>
            <a:r>
              <a:rPr lang="es-ES" dirty="0"/>
              <a:t> Define los requisitos para la infraestructura de transporte de gas natural.</a:t>
            </a:r>
          </a:p>
          <a:p>
            <a:endParaRPr lang="es-ES" dirty="0"/>
          </a:p>
        </p:txBody>
      </p:sp>
    </p:spTree>
    <p:extLst>
      <p:ext uri="{BB962C8B-B14F-4D97-AF65-F5344CB8AC3E}">
        <p14:creationId xmlns:p14="http://schemas.microsoft.com/office/powerpoint/2010/main" val="278884485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Marcador de contenido 2">
            <a:extLst>
              <a:ext uri="{FF2B5EF4-FFF2-40B4-BE49-F238E27FC236}">
                <a16:creationId xmlns:a16="http://schemas.microsoft.com/office/drawing/2014/main" id="{9A3A338C-2F44-961B-B316-9D3B1B3352AF}"/>
              </a:ext>
            </a:extLst>
          </p:cNvPr>
          <p:cNvSpPr>
            <a:spLocks noGrp="1"/>
          </p:cNvSpPr>
          <p:nvPr>
            <p:ph idx="1"/>
          </p:nvPr>
        </p:nvSpPr>
        <p:spPr>
          <a:xfrm>
            <a:off x="838199" y="1240971"/>
            <a:ext cx="11032671" cy="4935993"/>
          </a:xfrm>
        </p:spPr>
        <p:txBody>
          <a:bodyPr>
            <a:normAutofit/>
          </a:bodyPr>
          <a:lstStyle/>
          <a:p>
            <a:pPr marL="0" indent="0">
              <a:buNone/>
            </a:pPr>
            <a:r>
              <a:rPr lang="es-ES" b="1" dirty="0"/>
              <a:t>Reglamento de Seguridad en Instalaciones de Gas Natural (DS N.º 009-97-EM)</a:t>
            </a:r>
            <a:endParaRPr lang="es-ES" dirty="0"/>
          </a:p>
          <a:p>
            <a:pPr>
              <a:buFont typeface="Arial" panose="020B0604020202020204" pitchFamily="34" charset="0"/>
              <a:buChar char="•"/>
            </a:pPr>
            <a:r>
              <a:rPr lang="es-ES" b="1" dirty="0"/>
              <a:t>Objetivo:</a:t>
            </a:r>
            <a:r>
              <a:rPr lang="es-ES" dirty="0"/>
              <a:t> Establece los estándares de seguridad para las instalaciones de gas natural, incluyendo el diseño, construcción, operación y mantenimiento.</a:t>
            </a:r>
          </a:p>
          <a:p>
            <a:pPr>
              <a:buFont typeface="Arial" panose="020B0604020202020204" pitchFamily="34" charset="0"/>
              <a:buChar char="•"/>
            </a:pPr>
            <a:r>
              <a:rPr lang="es-ES" b="1" dirty="0"/>
              <a:t>Aspectos Clave:</a:t>
            </a:r>
            <a:endParaRPr lang="es-ES" dirty="0"/>
          </a:p>
          <a:p>
            <a:pPr marL="742950" lvl="1" indent="-285750">
              <a:buFont typeface="Arial" panose="020B0604020202020204" pitchFamily="34" charset="0"/>
              <a:buChar char="•"/>
            </a:pPr>
            <a:r>
              <a:rPr lang="es-ES" b="1" dirty="0"/>
              <a:t>Requisitos de Diseño:</a:t>
            </a:r>
            <a:r>
              <a:rPr lang="es-ES" dirty="0"/>
              <a:t> Normas para el diseño seguro de instalaciones y sistemas de gas.</a:t>
            </a:r>
          </a:p>
          <a:p>
            <a:pPr marL="742950" lvl="1" indent="-285750">
              <a:buFont typeface="Arial" panose="020B0604020202020204" pitchFamily="34" charset="0"/>
              <a:buChar char="•"/>
            </a:pPr>
            <a:r>
              <a:rPr lang="es-ES" b="1" dirty="0"/>
              <a:t>Inspección y Mantenimiento:</a:t>
            </a:r>
            <a:r>
              <a:rPr lang="es-ES" dirty="0"/>
              <a:t> Directrices para la inspección regular y el mantenimiento preventivo y correctivo.</a:t>
            </a:r>
          </a:p>
          <a:p>
            <a:pPr marL="742950" lvl="1" indent="-285750">
              <a:buFont typeface="Arial" panose="020B0604020202020204" pitchFamily="34" charset="0"/>
              <a:buChar char="•"/>
            </a:pPr>
            <a:r>
              <a:rPr lang="es-ES" b="1" dirty="0"/>
              <a:t>Manejo de Emergencias:</a:t>
            </a:r>
            <a:r>
              <a:rPr lang="es-ES" dirty="0"/>
              <a:t> Protocolos para manejar fugas y otros incidentes.</a:t>
            </a:r>
          </a:p>
          <a:p>
            <a:endParaRPr lang="es-ES" dirty="0"/>
          </a:p>
        </p:txBody>
      </p:sp>
    </p:spTree>
    <p:extLst>
      <p:ext uri="{BB962C8B-B14F-4D97-AF65-F5344CB8AC3E}">
        <p14:creationId xmlns:p14="http://schemas.microsoft.com/office/powerpoint/2010/main" val="206214268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Marcador de contenido 2">
            <a:extLst>
              <a:ext uri="{FF2B5EF4-FFF2-40B4-BE49-F238E27FC236}">
                <a16:creationId xmlns:a16="http://schemas.microsoft.com/office/drawing/2014/main" id="{9A3A338C-2F44-961B-B316-9D3B1B3352AF}"/>
              </a:ext>
            </a:extLst>
          </p:cNvPr>
          <p:cNvSpPr>
            <a:spLocks noGrp="1"/>
          </p:cNvSpPr>
          <p:nvPr>
            <p:ph idx="1"/>
          </p:nvPr>
        </p:nvSpPr>
        <p:spPr>
          <a:xfrm>
            <a:off x="838199" y="1094014"/>
            <a:ext cx="11032671" cy="4735286"/>
          </a:xfrm>
        </p:spPr>
        <p:txBody>
          <a:bodyPr>
            <a:normAutofit/>
          </a:bodyPr>
          <a:lstStyle/>
          <a:p>
            <a:pPr marL="0" indent="0">
              <a:buNone/>
            </a:pPr>
            <a:r>
              <a:rPr lang="es-ES" b="1" dirty="0"/>
              <a:t>Reglamento de Transporte de Hidrocarburos (DS N.º 021-98-EM)</a:t>
            </a:r>
            <a:endParaRPr lang="es-ES" dirty="0"/>
          </a:p>
          <a:p>
            <a:pPr>
              <a:buFont typeface="Arial" panose="020B0604020202020204" pitchFamily="34" charset="0"/>
              <a:buChar char="•"/>
            </a:pPr>
            <a:r>
              <a:rPr lang="es-ES" b="1" dirty="0"/>
              <a:t>Objetivo:</a:t>
            </a:r>
            <a:r>
              <a:rPr lang="es-ES" dirty="0"/>
              <a:t> Regula el transporte de petróleo y productos derivados, así como el gas natural.</a:t>
            </a:r>
          </a:p>
          <a:p>
            <a:pPr>
              <a:buFont typeface="Arial" panose="020B0604020202020204" pitchFamily="34" charset="0"/>
              <a:buChar char="•"/>
            </a:pPr>
            <a:r>
              <a:rPr lang="es-ES" b="1" dirty="0"/>
              <a:t>Aspectos Clave:</a:t>
            </a:r>
            <a:endParaRPr lang="es-ES" dirty="0"/>
          </a:p>
          <a:p>
            <a:pPr marL="742950" lvl="1" indent="-285750">
              <a:buFont typeface="Arial" panose="020B0604020202020204" pitchFamily="34" charset="0"/>
              <a:buChar char="•"/>
            </a:pPr>
            <a:r>
              <a:rPr lang="es-ES" b="1" dirty="0"/>
              <a:t>Construcción y Operación de Oleoductos:</a:t>
            </a:r>
            <a:r>
              <a:rPr lang="es-ES" dirty="0"/>
              <a:t> Estándares para la construcción y operación segura de oleoductos.</a:t>
            </a:r>
          </a:p>
          <a:p>
            <a:pPr marL="742950" lvl="1" indent="-285750">
              <a:buFont typeface="Arial" panose="020B0604020202020204" pitchFamily="34" charset="0"/>
              <a:buChar char="•"/>
            </a:pPr>
            <a:r>
              <a:rPr lang="es-ES" b="1" dirty="0"/>
              <a:t>Transporte por Mar y Tierra:</a:t>
            </a:r>
            <a:r>
              <a:rPr lang="es-ES" dirty="0"/>
              <a:t> Reglas para el transporte de hidrocarburos por medios marítimos y terrestres.</a:t>
            </a:r>
          </a:p>
          <a:p>
            <a:endParaRPr lang="es-ES" dirty="0"/>
          </a:p>
        </p:txBody>
      </p:sp>
    </p:spTree>
    <p:extLst>
      <p:ext uri="{BB962C8B-B14F-4D97-AF65-F5344CB8AC3E}">
        <p14:creationId xmlns:p14="http://schemas.microsoft.com/office/powerpoint/2010/main" val="205491404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AA19E6F5-05DC-9995-611E-161294A54025}"/>
              </a:ext>
            </a:extLst>
          </p:cNvPr>
          <p:cNvSpPr>
            <a:spLocks noGrp="1"/>
          </p:cNvSpPr>
          <p:nvPr>
            <p:ph type="title"/>
          </p:nvPr>
        </p:nvSpPr>
        <p:spPr>
          <a:xfrm>
            <a:off x="838199" y="264652"/>
            <a:ext cx="10515600" cy="832767"/>
          </a:xfrm>
        </p:spPr>
        <p:txBody>
          <a:bodyPr>
            <a:normAutofit/>
          </a:bodyPr>
          <a:lstStyle/>
          <a:p>
            <a:r>
              <a:rPr lang="es-ES" sz="2800" dirty="0"/>
              <a:t>NORMAS TECNICAS Y DE SEGURIDAD</a:t>
            </a:r>
          </a:p>
        </p:txBody>
      </p:sp>
      <p:sp>
        <p:nvSpPr>
          <p:cNvPr id="3" name="Marcador de contenido 2">
            <a:extLst>
              <a:ext uri="{FF2B5EF4-FFF2-40B4-BE49-F238E27FC236}">
                <a16:creationId xmlns:a16="http://schemas.microsoft.com/office/drawing/2014/main" id="{9A3A338C-2F44-961B-B316-9D3B1B3352AF}"/>
              </a:ext>
            </a:extLst>
          </p:cNvPr>
          <p:cNvSpPr>
            <a:spLocks noGrp="1"/>
          </p:cNvSpPr>
          <p:nvPr>
            <p:ph idx="1"/>
          </p:nvPr>
        </p:nvSpPr>
        <p:spPr>
          <a:xfrm>
            <a:off x="838199" y="1387930"/>
            <a:ext cx="11032671" cy="4789034"/>
          </a:xfrm>
        </p:spPr>
        <p:txBody>
          <a:bodyPr>
            <a:normAutofit lnSpcReduction="10000"/>
          </a:bodyPr>
          <a:lstStyle/>
          <a:p>
            <a:pPr marL="0" indent="0">
              <a:buNone/>
            </a:pPr>
            <a:r>
              <a:rPr lang="es-ES" sz="2400" b="1" dirty="0"/>
              <a:t>Norma Técnica Peruana (NTP) para Oleoductos y Gasoductos</a:t>
            </a:r>
            <a:endParaRPr lang="es-ES" sz="2400" dirty="0"/>
          </a:p>
          <a:p>
            <a:pPr>
              <a:buFont typeface="Arial" panose="020B0604020202020204" pitchFamily="34" charset="0"/>
              <a:buChar char="•"/>
            </a:pPr>
            <a:r>
              <a:rPr lang="es-ES" sz="2400" b="1" dirty="0"/>
              <a:t>Objetivo:</a:t>
            </a:r>
            <a:r>
              <a:rPr lang="es-ES" sz="2400" dirty="0"/>
              <a:t> Define las especificaciones técnicas para la construcción y operación de oleoductos y gasoductos.</a:t>
            </a:r>
          </a:p>
          <a:p>
            <a:pPr>
              <a:buFont typeface="Arial" panose="020B0604020202020204" pitchFamily="34" charset="0"/>
              <a:buChar char="•"/>
            </a:pPr>
            <a:r>
              <a:rPr lang="es-ES" sz="2400" b="1" dirty="0"/>
              <a:t>Aspectos Clave:</a:t>
            </a:r>
            <a:endParaRPr lang="es-ES" sz="2400" dirty="0"/>
          </a:p>
          <a:p>
            <a:pPr marL="742950" lvl="1" indent="-285750">
              <a:buFont typeface="Arial" panose="020B0604020202020204" pitchFamily="34" charset="0"/>
              <a:buChar char="•"/>
            </a:pPr>
            <a:r>
              <a:rPr lang="es-ES" b="1" dirty="0"/>
              <a:t>Materiales y Diseño:</a:t>
            </a:r>
            <a:r>
              <a:rPr lang="es-ES" dirty="0"/>
              <a:t> Requisitos para los materiales de construcción y el diseño de ductos.</a:t>
            </a:r>
          </a:p>
          <a:p>
            <a:pPr marL="742950" lvl="1" indent="-285750">
              <a:buFont typeface="Arial" panose="020B0604020202020204" pitchFamily="34" charset="0"/>
              <a:buChar char="•"/>
            </a:pPr>
            <a:r>
              <a:rPr lang="es-ES" b="1" dirty="0"/>
              <a:t>Pruebas de Integridad:</a:t>
            </a:r>
            <a:r>
              <a:rPr lang="es-ES" dirty="0"/>
              <a:t> Métodos para realizar pruebas de presión y seguridad en los ductos.</a:t>
            </a:r>
          </a:p>
          <a:p>
            <a:pPr marL="742950" lvl="1" indent="-285750">
              <a:buFont typeface="Arial" panose="020B0604020202020204" pitchFamily="34" charset="0"/>
              <a:buChar char="•"/>
            </a:pPr>
            <a:r>
              <a:rPr lang="es-ES" dirty="0"/>
              <a:t>. NTP 399.055:2016 - "Tuberías de acero para oleoductos y gasoductos - Requisitos generales“</a:t>
            </a:r>
          </a:p>
          <a:p>
            <a:pPr marL="742950" lvl="1" indent="-285750">
              <a:buFont typeface="Arial" panose="020B0604020202020204" pitchFamily="34" charset="0"/>
              <a:buChar char="•"/>
            </a:pPr>
            <a:r>
              <a:rPr lang="es-ES" dirty="0"/>
              <a:t>NTP 399.056:2016 - "Tuberías de acero para oleoductos y gasoductos - Métodos de ensayo“</a:t>
            </a:r>
          </a:p>
          <a:p>
            <a:pPr marL="742950" lvl="1" indent="-285750">
              <a:buFont typeface="Arial" panose="020B0604020202020204" pitchFamily="34" charset="0"/>
              <a:buChar char="•"/>
            </a:pPr>
            <a:r>
              <a:rPr lang="es-ES" dirty="0"/>
              <a:t>NTP 399.057:2017 - "Instalación de tuberías para oleoductos y gasoductos - Requisitos generales"</a:t>
            </a:r>
          </a:p>
          <a:p>
            <a:endParaRPr lang="es-ES" dirty="0"/>
          </a:p>
        </p:txBody>
      </p:sp>
    </p:spTree>
    <p:extLst>
      <p:ext uri="{BB962C8B-B14F-4D97-AF65-F5344CB8AC3E}">
        <p14:creationId xmlns:p14="http://schemas.microsoft.com/office/powerpoint/2010/main" val="3934575005"/>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AA19E6F5-05DC-9995-611E-161294A54025}"/>
              </a:ext>
            </a:extLst>
          </p:cNvPr>
          <p:cNvSpPr>
            <a:spLocks noGrp="1"/>
          </p:cNvSpPr>
          <p:nvPr>
            <p:ph type="title"/>
          </p:nvPr>
        </p:nvSpPr>
        <p:spPr>
          <a:xfrm>
            <a:off x="964660" y="277576"/>
            <a:ext cx="10515600" cy="881753"/>
          </a:xfrm>
        </p:spPr>
        <p:txBody>
          <a:bodyPr>
            <a:normAutofit/>
          </a:bodyPr>
          <a:lstStyle/>
          <a:p>
            <a:endParaRPr lang="es-ES" sz="2800" dirty="0"/>
          </a:p>
        </p:txBody>
      </p:sp>
      <p:sp>
        <p:nvSpPr>
          <p:cNvPr id="3" name="Marcador de contenido 2">
            <a:extLst>
              <a:ext uri="{FF2B5EF4-FFF2-40B4-BE49-F238E27FC236}">
                <a16:creationId xmlns:a16="http://schemas.microsoft.com/office/drawing/2014/main" id="{9A3A338C-2F44-961B-B316-9D3B1B3352AF}"/>
              </a:ext>
            </a:extLst>
          </p:cNvPr>
          <p:cNvSpPr>
            <a:spLocks noGrp="1"/>
          </p:cNvSpPr>
          <p:nvPr>
            <p:ph idx="1"/>
          </p:nvPr>
        </p:nvSpPr>
        <p:spPr>
          <a:xfrm>
            <a:off x="838199" y="1387930"/>
            <a:ext cx="11032671" cy="4789034"/>
          </a:xfrm>
        </p:spPr>
        <p:txBody>
          <a:bodyPr>
            <a:normAutofit/>
          </a:bodyPr>
          <a:lstStyle/>
          <a:p>
            <a:pPr marL="0" indent="0">
              <a:buNone/>
            </a:pPr>
            <a:r>
              <a:rPr lang="es-ES" b="1" dirty="0"/>
              <a:t>Norma Técnica de Seguridad en Operaciones Petroleras</a:t>
            </a:r>
            <a:endParaRPr lang="es-ES" dirty="0"/>
          </a:p>
          <a:p>
            <a:pPr>
              <a:buFont typeface="Arial" panose="020B0604020202020204" pitchFamily="34" charset="0"/>
              <a:buChar char="•"/>
            </a:pPr>
            <a:r>
              <a:rPr lang="es-ES" b="1" dirty="0"/>
              <a:t>Objetivo:</a:t>
            </a:r>
            <a:r>
              <a:rPr lang="es-ES" dirty="0"/>
              <a:t> Establece las prácticas de seguridad para las operaciones en el sector petrolero.</a:t>
            </a:r>
          </a:p>
          <a:p>
            <a:pPr>
              <a:buFont typeface="Arial" panose="020B0604020202020204" pitchFamily="34" charset="0"/>
              <a:buChar char="•"/>
            </a:pPr>
            <a:r>
              <a:rPr lang="es-ES" b="1" dirty="0"/>
              <a:t>Aspectos Clave:</a:t>
            </a:r>
            <a:endParaRPr lang="es-ES" dirty="0"/>
          </a:p>
          <a:p>
            <a:pPr marL="742950" lvl="1" indent="-285750">
              <a:buFont typeface="Arial" panose="020B0604020202020204" pitchFamily="34" charset="0"/>
              <a:buChar char="•"/>
            </a:pPr>
            <a:r>
              <a:rPr lang="es-ES" b="1" dirty="0"/>
              <a:t>Seguridad en Exploración y Explotación:</a:t>
            </a:r>
            <a:r>
              <a:rPr lang="es-ES" dirty="0"/>
              <a:t> Reglas para minimizar riesgos en la exploración y explotación de petróleo.</a:t>
            </a:r>
          </a:p>
          <a:p>
            <a:pPr marL="742950" lvl="1" indent="-285750">
              <a:buFont typeface="Arial" panose="020B0604020202020204" pitchFamily="34" charset="0"/>
              <a:buChar char="•"/>
            </a:pPr>
            <a:r>
              <a:rPr lang="es-ES" b="1" dirty="0"/>
              <a:t>Manejo de Residuos y Contingencias:</a:t>
            </a:r>
            <a:r>
              <a:rPr lang="es-ES" dirty="0"/>
              <a:t> Procedimientos para la gestión de residuos y la respuesta a derrames.</a:t>
            </a:r>
          </a:p>
          <a:p>
            <a:endParaRPr lang="es-ES" dirty="0"/>
          </a:p>
        </p:txBody>
      </p:sp>
    </p:spTree>
    <p:extLst>
      <p:ext uri="{BB962C8B-B14F-4D97-AF65-F5344CB8AC3E}">
        <p14:creationId xmlns:p14="http://schemas.microsoft.com/office/powerpoint/2010/main" val="199617153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AA19E6F5-05DC-9995-611E-161294A54025}"/>
              </a:ext>
            </a:extLst>
          </p:cNvPr>
          <p:cNvSpPr>
            <a:spLocks noGrp="1"/>
          </p:cNvSpPr>
          <p:nvPr>
            <p:ph type="title"/>
          </p:nvPr>
        </p:nvSpPr>
        <p:spPr>
          <a:xfrm>
            <a:off x="964660" y="277576"/>
            <a:ext cx="10515600" cy="881753"/>
          </a:xfrm>
        </p:spPr>
        <p:txBody>
          <a:bodyPr>
            <a:normAutofit/>
          </a:bodyPr>
          <a:lstStyle/>
          <a:p>
            <a:r>
              <a:rPr lang="es-ES" sz="2800" dirty="0"/>
              <a:t>ENTIDADES REGULADORAS Y SUPERVISORES</a:t>
            </a:r>
          </a:p>
        </p:txBody>
      </p:sp>
      <p:sp>
        <p:nvSpPr>
          <p:cNvPr id="3" name="Marcador de contenido 2">
            <a:extLst>
              <a:ext uri="{FF2B5EF4-FFF2-40B4-BE49-F238E27FC236}">
                <a16:creationId xmlns:a16="http://schemas.microsoft.com/office/drawing/2014/main" id="{9A3A338C-2F44-961B-B316-9D3B1B3352AF}"/>
              </a:ext>
            </a:extLst>
          </p:cNvPr>
          <p:cNvSpPr>
            <a:spLocks noGrp="1"/>
          </p:cNvSpPr>
          <p:nvPr>
            <p:ph idx="1"/>
          </p:nvPr>
        </p:nvSpPr>
        <p:spPr>
          <a:xfrm>
            <a:off x="506187" y="1159329"/>
            <a:ext cx="11364684" cy="5176157"/>
          </a:xfrm>
        </p:spPr>
        <p:txBody>
          <a:bodyPr>
            <a:normAutofit fontScale="85000" lnSpcReduction="20000"/>
          </a:bodyPr>
          <a:lstStyle/>
          <a:p>
            <a:pPr marL="0" indent="0">
              <a:buNone/>
            </a:pPr>
            <a:r>
              <a:rPr lang="es-ES" b="1" dirty="0"/>
              <a:t>Organismo Supervisor de la Inversión en Energía y Minería (Osinergmin)</a:t>
            </a:r>
            <a:endParaRPr lang="es-ES" dirty="0"/>
          </a:p>
          <a:p>
            <a:pPr>
              <a:buFont typeface="Arial" panose="020B0604020202020204" pitchFamily="34" charset="0"/>
              <a:buChar char="•"/>
            </a:pPr>
            <a:r>
              <a:rPr lang="es-ES" b="1" dirty="0"/>
              <a:t>Rol:</a:t>
            </a:r>
            <a:r>
              <a:rPr lang="es-ES" dirty="0"/>
              <a:t> Regula y supervisa las actividades en el sector energético y minero, incluyendo el transporte y distribución de petróleo y gas.</a:t>
            </a:r>
          </a:p>
          <a:p>
            <a:r>
              <a:rPr lang="es-ES" dirty="0"/>
              <a:t>Funciones:</a:t>
            </a:r>
          </a:p>
          <a:p>
            <a:pPr marL="228600" lvl="1">
              <a:spcBef>
                <a:spcPts val="1000"/>
              </a:spcBef>
            </a:pPr>
            <a:r>
              <a:rPr lang="es-ES" sz="2800" dirty="0"/>
              <a:t>Supervisión y Control: Asegura que las empresas cumplan con las normativas y estándares de calidad.</a:t>
            </a:r>
          </a:p>
          <a:p>
            <a:pPr marL="228600" lvl="1">
              <a:spcBef>
                <a:spcPts val="1000"/>
              </a:spcBef>
            </a:pPr>
            <a:r>
              <a:rPr lang="es-ES" sz="2800" dirty="0"/>
              <a:t>Resolución de Conflictos: Maneja conflictos y quejas relacionadas con el servicio energético.</a:t>
            </a:r>
          </a:p>
          <a:p>
            <a:pPr marL="0" indent="0">
              <a:buNone/>
            </a:pPr>
            <a:r>
              <a:rPr lang="es-ES" b="1" dirty="0"/>
              <a:t>Ministerio de Energía y Minas (MEM)</a:t>
            </a:r>
            <a:endParaRPr lang="es-ES" dirty="0"/>
          </a:p>
          <a:p>
            <a:r>
              <a:rPr lang="es-ES" dirty="0"/>
              <a:t>Rol: Formula políticas energéticas y establece el marco regulatorio para el sector energético.</a:t>
            </a:r>
          </a:p>
          <a:p>
            <a:r>
              <a:rPr lang="es-ES" dirty="0"/>
              <a:t>Funciones:</a:t>
            </a:r>
          </a:p>
          <a:p>
            <a:pPr marL="228600" lvl="1">
              <a:spcBef>
                <a:spcPts val="1000"/>
              </a:spcBef>
            </a:pPr>
            <a:r>
              <a:rPr lang="es-ES" sz="2800" dirty="0"/>
              <a:t>Planificación y Regulación: Desarrolla políticas y regulaciones para el sector de energía.</a:t>
            </a:r>
          </a:p>
          <a:p>
            <a:pPr marL="228600" lvl="1">
              <a:spcBef>
                <a:spcPts val="1000"/>
              </a:spcBef>
            </a:pPr>
            <a:r>
              <a:rPr lang="es-ES" sz="2800" dirty="0"/>
              <a:t>Promoción de Inversiones: Fomenta la inversión en el sector energético y garantiza la seguridad del suministro.</a:t>
            </a:r>
          </a:p>
          <a:p>
            <a:pPr marL="457200" lvl="1" indent="0">
              <a:buNone/>
            </a:pPr>
            <a:endParaRPr lang="es-ES" dirty="0"/>
          </a:p>
          <a:p>
            <a:endParaRPr lang="es-ES" dirty="0"/>
          </a:p>
        </p:txBody>
      </p:sp>
    </p:spTree>
    <p:extLst>
      <p:ext uri="{BB962C8B-B14F-4D97-AF65-F5344CB8AC3E}">
        <p14:creationId xmlns:p14="http://schemas.microsoft.com/office/powerpoint/2010/main" val="2345946852"/>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AA19E6F5-05DC-9995-611E-161294A54025}"/>
              </a:ext>
            </a:extLst>
          </p:cNvPr>
          <p:cNvSpPr>
            <a:spLocks noGrp="1"/>
          </p:cNvSpPr>
          <p:nvPr>
            <p:ph type="title"/>
          </p:nvPr>
        </p:nvSpPr>
        <p:spPr>
          <a:xfrm>
            <a:off x="838199" y="199338"/>
            <a:ext cx="10515600" cy="963395"/>
          </a:xfrm>
        </p:spPr>
        <p:txBody>
          <a:bodyPr>
            <a:normAutofit/>
          </a:bodyPr>
          <a:lstStyle/>
          <a:p>
            <a:r>
              <a:rPr lang="es-ES" sz="2800" dirty="0"/>
              <a:t>ASPECTOS AMBIENTALES Y DE SEGURIDAD</a:t>
            </a:r>
          </a:p>
        </p:txBody>
      </p:sp>
      <p:sp>
        <p:nvSpPr>
          <p:cNvPr id="3" name="Marcador de contenido 2">
            <a:extLst>
              <a:ext uri="{FF2B5EF4-FFF2-40B4-BE49-F238E27FC236}">
                <a16:creationId xmlns:a16="http://schemas.microsoft.com/office/drawing/2014/main" id="{9A3A338C-2F44-961B-B316-9D3B1B3352AF}"/>
              </a:ext>
            </a:extLst>
          </p:cNvPr>
          <p:cNvSpPr>
            <a:spLocks noGrp="1"/>
          </p:cNvSpPr>
          <p:nvPr>
            <p:ph idx="1"/>
          </p:nvPr>
        </p:nvSpPr>
        <p:spPr>
          <a:xfrm>
            <a:off x="838199" y="1387930"/>
            <a:ext cx="11032671" cy="4789034"/>
          </a:xfrm>
        </p:spPr>
        <p:txBody>
          <a:bodyPr>
            <a:normAutofit/>
          </a:bodyPr>
          <a:lstStyle/>
          <a:p>
            <a:pPr marL="0" indent="0">
              <a:buNone/>
            </a:pPr>
            <a:r>
              <a:rPr lang="es-ES" b="1" dirty="0"/>
              <a:t>Ley General del Ambiente (Ley N.º 28611)</a:t>
            </a:r>
            <a:endParaRPr lang="es-ES" dirty="0"/>
          </a:p>
          <a:p>
            <a:pPr>
              <a:buFont typeface="Arial" panose="020B0604020202020204" pitchFamily="34" charset="0"/>
              <a:buChar char="•"/>
            </a:pPr>
            <a:r>
              <a:rPr lang="es-ES" b="1" dirty="0"/>
              <a:t>Objetivo:</a:t>
            </a:r>
            <a:r>
              <a:rPr lang="es-ES" dirty="0"/>
              <a:t> Regula las actividades que puedan afectar el medio ambiente y establece principios para la protección ambiental.</a:t>
            </a:r>
          </a:p>
          <a:p>
            <a:pPr>
              <a:buFont typeface="Arial" panose="020B0604020202020204" pitchFamily="34" charset="0"/>
              <a:buChar char="•"/>
            </a:pPr>
            <a:r>
              <a:rPr lang="es-ES" b="1" dirty="0"/>
              <a:t>Aspectos Clave:</a:t>
            </a:r>
            <a:endParaRPr lang="es-ES" dirty="0"/>
          </a:p>
          <a:p>
            <a:pPr marL="228600" lvl="1" algn="just">
              <a:spcBef>
                <a:spcPts val="1000"/>
              </a:spcBef>
            </a:pPr>
            <a:r>
              <a:rPr lang="es-ES" sz="2800" b="1" dirty="0"/>
              <a:t>Evaluación de Impacto Ambiental: </a:t>
            </a:r>
            <a:r>
              <a:rPr lang="es-ES" sz="2800" dirty="0"/>
              <a:t>Requiere estudios de impacto ambiental para proyectos que afecten el medio ambiente.</a:t>
            </a:r>
          </a:p>
          <a:p>
            <a:pPr marL="228600" lvl="1" algn="just">
              <a:spcBef>
                <a:spcPts val="1000"/>
              </a:spcBef>
            </a:pPr>
            <a:r>
              <a:rPr lang="es-ES" sz="2800" b="1" dirty="0"/>
              <a:t>Cumplimiento Ambiental</a:t>
            </a:r>
            <a:r>
              <a:rPr lang="es-ES" sz="2800" dirty="0"/>
              <a:t>: Establece medidas para asegurar el cumplimiento de normativas ambientales.</a:t>
            </a:r>
          </a:p>
          <a:p>
            <a:endParaRPr lang="es-ES" dirty="0"/>
          </a:p>
        </p:txBody>
      </p:sp>
    </p:spTree>
    <p:extLst>
      <p:ext uri="{BB962C8B-B14F-4D97-AF65-F5344CB8AC3E}">
        <p14:creationId xmlns:p14="http://schemas.microsoft.com/office/powerpoint/2010/main" val="2815568578"/>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Marcador de contenido 2">
            <a:extLst>
              <a:ext uri="{FF2B5EF4-FFF2-40B4-BE49-F238E27FC236}">
                <a16:creationId xmlns:a16="http://schemas.microsoft.com/office/drawing/2014/main" id="{9A3A338C-2F44-961B-B316-9D3B1B3352AF}"/>
              </a:ext>
            </a:extLst>
          </p:cNvPr>
          <p:cNvSpPr>
            <a:spLocks noGrp="1"/>
          </p:cNvSpPr>
          <p:nvPr>
            <p:ph idx="1"/>
          </p:nvPr>
        </p:nvSpPr>
        <p:spPr>
          <a:xfrm>
            <a:off x="838199" y="1159329"/>
            <a:ext cx="11032671" cy="5421093"/>
          </a:xfrm>
        </p:spPr>
        <p:txBody>
          <a:bodyPr>
            <a:normAutofit fontScale="92500" lnSpcReduction="10000"/>
          </a:bodyPr>
          <a:lstStyle/>
          <a:p>
            <a:pPr marL="0" indent="0" algn="just">
              <a:buNone/>
            </a:pPr>
            <a:r>
              <a:rPr lang="es-ES" sz="2600" b="1" dirty="0"/>
              <a:t>Reglamento de Gestión de Residuos Peligrosos (DS N.º 057-2004-PCM)</a:t>
            </a:r>
            <a:endParaRPr lang="es-ES" sz="2600" dirty="0"/>
          </a:p>
          <a:p>
            <a:pPr algn="just">
              <a:buFont typeface="Arial" panose="020B0604020202020204" pitchFamily="34" charset="0"/>
              <a:buChar char="•"/>
            </a:pPr>
            <a:r>
              <a:rPr lang="es-ES" sz="2600" b="1" dirty="0"/>
              <a:t>Objetivo:</a:t>
            </a:r>
            <a:r>
              <a:rPr lang="es-ES" sz="2600" dirty="0"/>
              <a:t> Regula la gestión y manejo de residuos peligrosos generados en las actividades de hidrocarburos.</a:t>
            </a:r>
          </a:p>
          <a:p>
            <a:pPr algn="just">
              <a:buFont typeface="Arial" panose="020B0604020202020204" pitchFamily="34" charset="0"/>
              <a:buChar char="•"/>
            </a:pPr>
            <a:r>
              <a:rPr lang="es-ES" sz="2600" b="1" dirty="0"/>
              <a:t>Aspectos Clave:</a:t>
            </a:r>
            <a:endParaRPr lang="es-ES" sz="2600" dirty="0"/>
          </a:p>
          <a:p>
            <a:pPr marL="742950" lvl="1" indent="-285750" algn="just">
              <a:buFont typeface="Arial" panose="020B0604020202020204" pitchFamily="34" charset="0"/>
              <a:buChar char="•"/>
            </a:pPr>
            <a:r>
              <a:rPr lang="es-ES" sz="2600" b="1" dirty="0"/>
              <a:t>Manejo y Almacenamiento:</a:t>
            </a:r>
            <a:r>
              <a:rPr lang="es-ES" sz="2600" dirty="0"/>
              <a:t> Reglas para el manejo seguro y almacenamiento de residuos peligrosos.</a:t>
            </a:r>
          </a:p>
          <a:p>
            <a:pPr marL="742950" lvl="1" indent="-285750" algn="just">
              <a:buFont typeface="Arial" panose="020B0604020202020204" pitchFamily="34" charset="0"/>
              <a:buChar char="•"/>
            </a:pPr>
            <a:r>
              <a:rPr lang="es-ES" sz="2600" b="1" dirty="0"/>
              <a:t>Transporte y Eliminación:</a:t>
            </a:r>
            <a:r>
              <a:rPr lang="es-ES" sz="2600" dirty="0"/>
              <a:t> Directrices para el transporte y eliminación de residuos.</a:t>
            </a:r>
          </a:p>
          <a:p>
            <a:pPr marL="0" indent="0" algn="just">
              <a:buNone/>
            </a:pPr>
            <a:r>
              <a:rPr lang="es-ES" sz="2600" b="1" dirty="0"/>
              <a:t>Normativa Internacional y Estándares</a:t>
            </a:r>
          </a:p>
          <a:p>
            <a:pPr algn="just">
              <a:buFont typeface="Arial" panose="020B0604020202020204" pitchFamily="34" charset="0"/>
              <a:buChar char="•"/>
            </a:pPr>
            <a:r>
              <a:rPr lang="es-ES" sz="2600" b="1" dirty="0"/>
              <a:t>Estándares de la Organización Internacional de Normalización (ISO):</a:t>
            </a:r>
            <a:r>
              <a:rPr lang="es-ES" sz="2600" dirty="0"/>
              <a:t> Muchas de las normativas peruanas se alinean con estándares internacionales como ISO para asegurar la calidad y seguridad en la operación de infraestructura energética.</a:t>
            </a:r>
          </a:p>
          <a:p>
            <a:pPr algn="just">
              <a:buFont typeface="Arial" panose="020B0604020202020204" pitchFamily="34" charset="0"/>
              <a:buChar char="•"/>
            </a:pPr>
            <a:r>
              <a:rPr lang="es-ES" sz="2600" b="1" dirty="0"/>
              <a:t>Normas de la Asociación de Tecnología de Petróleo (API):</a:t>
            </a:r>
            <a:r>
              <a:rPr lang="es-ES" sz="2600" dirty="0"/>
              <a:t> Se aplican normas API para la construcción y operación de oleoductos y equipos petroleros.</a:t>
            </a:r>
          </a:p>
          <a:p>
            <a:pPr marL="457200" lvl="1" indent="0" algn="just">
              <a:buNone/>
            </a:pPr>
            <a:endParaRPr lang="es-ES" sz="2800" dirty="0"/>
          </a:p>
          <a:p>
            <a:endParaRPr lang="es-ES" dirty="0"/>
          </a:p>
        </p:txBody>
      </p:sp>
    </p:spTree>
    <p:extLst>
      <p:ext uri="{BB962C8B-B14F-4D97-AF65-F5344CB8AC3E}">
        <p14:creationId xmlns:p14="http://schemas.microsoft.com/office/powerpoint/2010/main" val="2522090076"/>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AA19E6F5-05DC-9995-611E-161294A54025}"/>
              </a:ext>
            </a:extLst>
          </p:cNvPr>
          <p:cNvSpPr>
            <a:spLocks noGrp="1"/>
          </p:cNvSpPr>
          <p:nvPr>
            <p:ph type="title"/>
          </p:nvPr>
        </p:nvSpPr>
        <p:spPr>
          <a:xfrm>
            <a:off x="964660" y="277577"/>
            <a:ext cx="10515600" cy="979724"/>
          </a:xfrm>
        </p:spPr>
        <p:txBody>
          <a:bodyPr>
            <a:normAutofit/>
          </a:bodyPr>
          <a:lstStyle/>
          <a:p>
            <a:r>
              <a:rPr lang="es-ES" sz="2800" dirty="0"/>
              <a:t>FACTOR DE MANTENIMIENTO (FM)</a:t>
            </a:r>
          </a:p>
        </p:txBody>
      </p:sp>
      <p:sp>
        <p:nvSpPr>
          <p:cNvPr id="3" name="Marcador de contenido 2">
            <a:extLst>
              <a:ext uri="{FF2B5EF4-FFF2-40B4-BE49-F238E27FC236}">
                <a16:creationId xmlns:a16="http://schemas.microsoft.com/office/drawing/2014/main" id="{9A3A338C-2F44-961B-B316-9D3B1B3352AF}"/>
              </a:ext>
            </a:extLst>
          </p:cNvPr>
          <p:cNvSpPr>
            <a:spLocks noGrp="1"/>
          </p:cNvSpPr>
          <p:nvPr>
            <p:ph idx="1"/>
          </p:nvPr>
        </p:nvSpPr>
        <p:spPr>
          <a:xfrm>
            <a:off x="964660" y="2367654"/>
            <a:ext cx="11032671" cy="1894113"/>
          </a:xfrm>
        </p:spPr>
        <p:txBody>
          <a:bodyPr>
            <a:normAutofit/>
          </a:bodyPr>
          <a:lstStyle/>
          <a:p>
            <a:r>
              <a:rPr lang="es-ES" dirty="0"/>
              <a:t>Es un concepto crucial en la gestión y operación de infraestructuras de transporte y distribución de petróleo y gas. Se refiere al conjunto de actividades y prácticas destinadas a asegurar que los sistemas y equipos operen de manera eficiente y segura durante su vida útil.</a:t>
            </a:r>
          </a:p>
        </p:txBody>
      </p:sp>
    </p:spTree>
    <p:extLst>
      <p:ext uri="{BB962C8B-B14F-4D97-AF65-F5344CB8AC3E}">
        <p14:creationId xmlns:p14="http://schemas.microsoft.com/office/powerpoint/2010/main" val="1321159790"/>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AA19E6F5-05DC-9995-611E-161294A54025}"/>
              </a:ext>
            </a:extLst>
          </p:cNvPr>
          <p:cNvSpPr>
            <a:spLocks noGrp="1"/>
          </p:cNvSpPr>
          <p:nvPr>
            <p:ph type="title"/>
          </p:nvPr>
        </p:nvSpPr>
        <p:spPr>
          <a:xfrm>
            <a:off x="964660" y="277576"/>
            <a:ext cx="10515600" cy="947067"/>
          </a:xfrm>
        </p:spPr>
        <p:txBody>
          <a:bodyPr>
            <a:normAutofit/>
          </a:bodyPr>
          <a:lstStyle/>
          <a:p>
            <a:r>
              <a:rPr lang="es-ES" sz="2800" dirty="0"/>
              <a:t>DEFINICION Y OBJETIVO</a:t>
            </a:r>
          </a:p>
        </p:txBody>
      </p:sp>
      <p:sp>
        <p:nvSpPr>
          <p:cNvPr id="3" name="Marcador de contenido 2">
            <a:extLst>
              <a:ext uri="{FF2B5EF4-FFF2-40B4-BE49-F238E27FC236}">
                <a16:creationId xmlns:a16="http://schemas.microsoft.com/office/drawing/2014/main" id="{9A3A338C-2F44-961B-B316-9D3B1B3352AF}"/>
              </a:ext>
            </a:extLst>
          </p:cNvPr>
          <p:cNvSpPr>
            <a:spLocks noGrp="1"/>
          </p:cNvSpPr>
          <p:nvPr>
            <p:ph idx="1"/>
          </p:nvPr>
        </p:nvSpPr>
        <p:spPr>
          <a:xfrm>
            <a:off x="838199" y="1224643"/>
            <a:ext cx="11032671" cy="5355781"/>
          </a:xfrm>
        </p:spPr>
        <p:txBody>
          <a:bodyPr>
            <a:normAutofit fontScale="92500" lnSpcReduction="20000"/>
          </a:bodyPr>
          <a:lstStyle/>
          <a:p>
            <a:pPr marL="0" indent="0">
              <a:buNone/>
            </a:pPr>
            <a:r>
              <a:rPr lang="es-ES" sz="2600" b="1" dirty="0"/>
              <a:t>Factor de Mantenimiento (FM)</a:t>
            </a:r>
            <a:r>
              <a:rPr lang="es-ES" sz="2600" dirty="0"/>
              <a:t> </a:t>
            </a:r>
          </a:p>
          <a:p>
            <a:r>
              <a:rPr lang="es-ES" sz="2600" dirty="0"/>
              <a:t>se refiere a los procedimientos, prácticas y recursos necesarios para mantener la infraestructura y equipos en condiciones óptimas de funcionamiento. El objetivo principal del FM es minimizar el tiempo de inactividad, evitar fallos inesperados, y prolongar la vida útil de los activos, garantizando al mismo tiempo la seguridad y eficiencia operativa</a:t>
            </a:r>
            <a:r>
              <a:rPr lang="es-ES" dirty="0"/>
              <a:t>.</a:t>
            </a:r>
          </a:p>
          <a:p>
            <a:pPr marL="0" indent="0">
              <a:buNone/>
            </a:pPr>
            <a:r>
              <a:rPr lang="es-ES" b="1" dirty="0"/>
              <a:t>Componentes Clave del FM</a:t>
            </a:r>
          </a:p>
          <a:p>
            <a:pPr marL="0" indent="0">
              <a:buNone/>
            </a:pPr>
            <a:r>
              <a:rPr lang="es-ES" b="1" dirty="0"/>
              <a:t>Mantenimiento Preventivo</a:t>
            </a:r>
            <a:endParaRPr lang="es-ES" dirty="0"/>
          </a:p>
          <a:p>
            <a:pPr marL="742950" lvl="1" indent="-285750">
              <a:buFont typeface="+mj-lt"/>
              <a:buAutoNum type="arabicPeriod"/>
            </a:pPr>
            <a:r>
              <a:rPr lang="es-ES" sz="2600" b="1" dirty="0"/>
              <a:t>Descripción:</a:t>
            </a:r>
            <a:r>
              <a:rPr lang="es-ES" sz="2600" dirty="0"/>
              <a:t> Actividades programadas realizadas para evitar fallos y prolongar la vida útil de los equipos y sistemas.</a:t>
            </a:r>
          </a:p>
          <a:p>
            <a:pPr marL="742950" lvl="1" indent="-285750">
              <a:buFont typeface="+mj-lt"/>
              <a:buAutoNum type="arabicPeriod"/>
            </a:pPr>
            <a:r>
              <a:rPr lang="es-ES" sz="2600" b="1" dirty="0"/>
              <a:t>Actividades Típicas:</a:t>
            </a:r>
            <a:endParaRPr lang="es-ES" sz="2600" dirty="0"/>
          </a:p>
          <a:p>
            <a:pPr marL="228600" lvl="2">
              <a:lnSpc>
                <a:spcPct val="100000"/>
              </a:lnSpc>
              <a:spcBef>
                <a:spcPts val="1000"/>
              </a:spcBef>
            </a:pPr>
            <a:r>
              <a:rPr lang="es-ES" sz="2600" b="1" dirty="0"/>
              <a:t>Inspección Regular:</a:t>
            </a:r>
            <a:r>
              <a:rPr lang="es-ES" sz="2600" dirty="0"/>
              <a:t> Revisión periódica de equipos y sistemas para detectar desgastes o problemas potenciales.</a:t>
            </a:r>
          </a:p>
          <a:p>
            <a:pPr marL="1143000" lvl="2" indent="-228600">
              <a:buFont typeface="+mj-lt"/>
              <a:buAutoNum type="arabicPeriod"/>
            </a:pPr>
            <a:r>
              <a:rPr lang="es-ES" sz="2600" b="1" dirty="0"/>
              <a:t>Reemplazo de Componentes:</a:t>
            </a:r>
            <a:r>
              <a:rPr lang="es-ES" sz="2600" dirty="0"/>
              <a:t> Sustitución de piezas de desgaste como filtros, juntas, y válvulas antes de que fallen.</a:t>
            </a:r>
          </a:p>
          <a:p>
            <a:pPr marL="1143000" lvl="2" indent="-228600">
              <a:buFont typeface="+mj-lt"/>
              <a:buAutoNum type="arabicPeriod"/>
            </a:pPr>
            <a:r>
              <a:rPr lang="es-ES" sz="2600" b="1" dirty="0"/>
              <a:t>Lubricación y Ajustes:</a:t>
            </a:r>
            <a:r>
              <a:rPr lang="es-ES" sz="2600" dirty="0"/>
              <a:t> Aplicación de lubricantes y ajustes en equipos móviles y mecanismos.</a:t>
            </a:r>
          </a:p>
          <a:p>
            <a:endParaRPr lang="es-ES" dirty="0"/>
          </a:p>
        </p:txBody>
      </p:sp>
    </p:spTree>
    <p:extLst>
      <p:ext uri="{BB962C8B-B14F-4D97-AF65-F5344CB8AC3E}">
        <p14:creationId xmlns:p14="http://schemas.microsoft.com/office/powerpoint/2010/main" val="2119081094"/>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AA19E6F5-05DC-9995-611E-161294A54025}"/>
              </a:ext>
            </a:extLst>
          </p:cNvPr>
          <p:cNvSpPr>
            <a:spLocks noGrp="1"/>
          </p:cNvSpPr>
          <p:nvPr>
            <p:ph type="title"/>
          </p:nvPr>
        </p:nvSpPr>
        <p:spPr>
          <a:xfrm>
            <a:off x="838200" y="207502"/>
            <a:ext cx="10515600" cy="947067"/>
          </a:xfrm>
        </p:spPr>
        <p:txBody>
          <a:bodyPr>
            <a:normAutofit/>
          </a:bodyPr>
          <a:lstStyle/>
          <a:p>
            <a:endParaRPr lang="es-ES" sz="2800" dirty="0"/>
          </a:p>
        </p:txBody>
      </p:sp>
      <p:sp>
        <p:nvSpPr>
          <p:cNvPr id="3" name="Marcador de contenido 2">
            <a:extLst>
              <a:ext uri="{FF2B5EF4-FFF2-40B4-BE49-F238E27FC236}">
                <a16:creationId xmlns:a16="http://schemas.microsoft.com/office/drawing/2014/main" id="{9A3A338C-2F44-961B-B316-9D3B1B3352AF}"/>
              </a:ext>
            </a:extLst>
          </p:cNvPr>
          <p:cNvSpPr>
            <a:spLocks noGrp="1"/>
          </p:cNvSpPr>
          <p:nvPr>
            <p:ph idx="1"/>
          </p:nvPr>
        </p:nvSpPr>
        <p:spPr>
          <a:xfrm>
            <a:off x="838199" y="1387930"/>
            <a:ext cx="11032671" cy="4789034"/>
          </a:xfrm>
        </p:spPr>
        <p:txBody>
          <a:bodyPr>
            <a:normAutofit/>
          </a:bodyPr>
          <a:lstStyle/>
          <a:p>
            <a:r>
              <a:rPr lang="es-ES" b="1" dirty="0"/>
              <a:t>Mantenimiento Correctivo</a:t>
            </a:r>
            <a:endParaRPr lang="es-ES" dirty="0"/>
          </a:p>
          <a:p>
            <a:pPr>
              <a:buFont typeface="Arial" panose="020B0604020202020204" pitchFamily="34" charset="0"/>
              <a:buChar char="•"/>
            </a:pPr>
            <a:r>
              <a:rPr lang="es-ES" b="1" dirty="0"/>
              <a:t>Descripción:</a:t>
            </a:r>
            <a:r>
              <a:rPr lang="es-ES" dirty="0"/>
              <a:t> Acciones tomadas para reparar equipos y sistemas después de que se ha producido un fallo o problema.</a:t>
            </a:r>
          </a:p>
          <a:p>
            <a:pPr>
              <a:buFont typeface="Arial" panose="020B0604020202020204" pitchFamily="34" charset="0"/>
              <a:buChar char="•"/>
            </a:pPr>
            <a:r>
              <a:rPr lang="es-ES" b="1" dirty="0"/>
              <a:t>Actividades Típicas:</a:t>
            </a:r>
            <a:endParaRPr lang="es-ES" dirty="0"/>
          </a:p>
          <a:p>
            <a:pPr marL="742950" lvl="1" indent="-285750">
              <a:buFont typeface="Arial" panose="020B0604020202020204" pitchFamily="34" charset="0"/>
              <a:buChar char="•"/>
            </a:pPr>
            <a:r>
              <a:rPr lang="es-ES" b="1" dirty="0"/>
              <a:t>Reparación de Averías:</a:t>
            </a:r>
            <a:r>
              <a:rPr lang="es-ES" dirty="0"/>
              <a:t> Corrección de fallos identificados durante la operación.</a:t>
            </a:r>
          </a:p>
          <a:p>
            <a:pPr marL="742950" lvl="1" indent="-285750">
              <a:buFont typeface="Arial" panose="020B0604020202020204" pitchFamily="34" charset="0"/>
              <a:buChar char="•"/>
            </a:pPr>
            <a:r>
              <a:rPr lang="es-ES" b="1" dirty="0"/>
              <a:t>Reemplazo de Componentes Dañados:</a:t>
            </a:r>
            <a:r>
              <a:rPr lang="es-ES" dirty="0"/>
              <a:t> Sustitución de partes defectuosas que han fallado durante el funcionamiento.</a:t>
            </a:r>
          </a:p>
          <a:p>
            <a:pPr marL="742950" lvl="1" indent="-285750">
              <a:buFont typeface="Arial" panose="020B0604020202020204" pitchFamily="34" charset="0"/>
              <a:buChar char="•"/>
            </a:pPr>
            <a:r>
              <a:rPr lang="es-ES" b="1" dirty="0"/>
              <a:t>Restauración de Operación:</a:t>
            </a:r>
            <a:r>
              <a:rPr lang="es-ES" dirty="0"/>
              <a:t> Recuperación del sistema a su estado normal de operación después de un fallo.</a:t>
            </a:r>
          </a:p>
          <a:p>
            <a:endParaRPr lang="es-ES" dirty="0"/>
          </a:p>
        </p:txBody>
      </p:sp>
    </p:spTree>
    <p:extLst>
      <p:ext uri="{BB962C8B-B14F-4D97-AF65-F5344CB8AC3E}">
        <p14:creationId xmlns:p14="http://schemas.microsoft.com/office/powerpoint/2010/main" val="2546203858"/>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AA19E6F5-05DC-9995-611E-161294A54025}"/>
              </a:ext>
            </a:extLst>
          </p:cNvPr>
          <p:cNvSpPr>
            <a:spLocks noGrp="1"/>
          </p:cNvSpPr>
          <p:nvPr>
            <p:ph type="title"/>
          </p:nvPr>
        </p:nvSpPr>
        <p:spPr>
          <a:xfrm>
            <a:off x="964660" y="277576"/>
            <a:ext cx="10515600" cy="963395"/>
          </a:xfrm>
        </p:spPr>
        <p:txBody>
          <a:bodyPr>
            <a:normAutofit/>
          </a:bodyPr>
          <a:lstStyle/>
          <a:p>
            <a:endParaRPr lang="es-ES" sz="2800" dirty="0"/>
          </a:p>
        </p:txBody>
      </p:sp>
      <p:sp>
        <p:nvSpPr>
          <p:cNvPr id="3" name="Marcador de contenido 2">
            <a:extLst>
              <a:ext uri="{FF2B5EF4-FFF2-40B4-BE49-F238E27FC236}">
                <a16:creationId xmlns:a16="http://schemas.microsoft.com/office/drawing/2014/main" id="{9A3A338C-2F44-961B-B316-9D3B1B3352AF}"/>
              </a:ext>
            </a:extLst>
          </p:cNvPr>
          <p:cNvSpPr>
            <a:spLocks noGrp="1"/>
          </p:cNvSpPr>
          <p:nvPr>
            <p:ph idx="1"/>
          </p:nvPr>
        </p:nvSpPr>
        <p:spPr>
          <a:xfrm>
            <a:off x="838199" y="1603138"/>
            <a:ext cx="11032671" cy="4573825"/>
          </a:xfrm>
        </p:spPr>
        <p:txBody>
          <a:bodyPr>
            <a:normAutofit/>
          </a:bodyPr>
          <a:lstStyle/>
          <a:p>
            <a:r>
              <a:rPr lang="es-ES" b="1" dirty="0"/>
              <a:t>Mantenimiento Predictivo</a:t>
            </a:r>
            <a:endParaRPr lang="es-ES" dirty="0"/>
          </a:p>
          <a:p>
            <a:pPr>
              <a:buFont typeface="Arial" panose="020B0604020202020204" pitchFamily="34" charset="0"/>
              <a:buChar char="•"/>
            </a:pPr>
            <a:r>
              <a:rPr lang="es-ES" b="1" dirty="0"/>
              <a:t>Descripción:</a:t>
            </a:r>
            <a:r>
              <a:rPr lang="es-ES" dirty="0"/>
              <a:t> Uso de técnicas avanzadas para predecir fallos antes de que ocurran, basado en el análisis de datos operativos.</a:t>
            </a:r>
          </a:p>
          <a:p>
            <a:pPr>
              <a:buFont typeface="Arial" panose="020B0604020202020204" pitchFamily="34" charset="0"/>
              <a:buChar char="•"/>
            </a:pPr>
            <a:r>
              <a:rPr lang="es-ES" b="1" dirty="0"/>
              <a:t>Actividades Típicas:</a:t>
            </a:r>
            <a:endParaRPr lang="es-ES" dirty="0"/>
          </a:p>
          <a:p>
            <a:pPr marL="742950" lvl="1" indent="-285750">
              <a:buFont typeface="Arial" panose="020B0604020202020204" pitchFamily="34" charset="0"/>
              <a:buChar char="•"/>
            </a:pPr>
            <a:r>
              <a:rPr lang="es-ES" b="1" dirty="0"/>
              <a:t>Monitoreo en Tiempo Real:</a:t>
            </a:r>
            <a:r>
              <a:rPr lang="es-ES" dirty="0"/>
              <a:t> Uso de sensores y sistemas SCADA para monitorear parámetros operativos como presión, temperatura y vibración.</a:t>
            </a:r>
          </a:p>
          <a:p>
            <a:pPr marL="742950" lvl="1" indent="-285750">
              <a:buFont typeface="Arial" panose="020B0604020202020204" pitchFamily="34" charset="0"/>
              <a:buChar char="•"/>
            </a:pPr>
            <a:r>
              <a:rPr lang="es-ES" b="1" dirty="0"/>
              <a:t>Análisis de Datos:</a:t>
            </a:r>
            <a:r>
              <a:rPr lang="es-ES" dirty="0"/>
              <a:t> Evaluación de datos históricos y en tiempo real para identificar patrones que indiquen posibles fallos.</a:t>
            </a:r>
          </a:p>
          <a:p>
            <a:pPr marL="742950" lvl="1" indent="-285750">
              <a:buFont typeface="Arial" panose="020B0604020202020204" pitchFamily="34" charset="0"/>
              <a:buChar char="•"/>
            </a:pPr>
            <a:r>
              <a:rPr lang="es-ES" b="1" dirty="0"/>
              <a:t>Mantenimiento Basado en Condición:</a:t>
            </a:r>
            <a:r>
              <a:rPr lang="es-ES" dirty="0"/>
              <a:t> Programación de actividades de mantenimiento basadas en la condición real del equipo, en lugar de intervalos de tiempo fijos.</a:t>
            </a:r>
          </a:p>
          <a:p>
            <a:endParaRPr lang="es-ES" dirty="0"/>
          </a:p>
        </p:txBody>
      </p:sp>
    </p:spTree>
    <p:extLst>
      <p:ext uri="{BB962C8B-B14F-4D97-AF65-F5344CB8AC3E}">
        <p14:creationId xmlns:p14="http://schemas.microsoft.com/office/powerpoint/2010/main" val="3447310850"/>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AA19E6F5-05DC-9995-611E-161294A54025}"/>
              </a:ext>
            </a:extLst>
          </p:cNvPr>
          <p:cNvSpPr>
            <a:spLocks noGrp="1"/>
          </p:cNvSpPr>
          <p:nvPr>
            <p:ph type="title"/>
          </p:nvPr>
        </p:nvSpPr>
        <p:spPr>
          <a:xfrm>
            <a:off x="964660" y="277576"/>
            <a:ext cx="10515600" cy="881753"/>
          </a:xfrm>
        </p:spPr>
        <p:txBody>
          <a:bodyPr>
            <a:normAutofit/>
          </a:bodyPr>
          <a:lstStyle/>
          <a:p>
            <a:endParaRPr lang="es-ES" sz="2800" dirty="0"/>
          </a:p>
        </p:txBody>
      </p:sp>
      <p:sp>
        <p:nvSpPr>
          <p:cNvPr id="3" name="Marcador de contenido 2">
            <a:extLst>
              <a:ext uri="{FF2B5EF4-FFF2-40B4-BE49-F238E27FC236}">
                <a16:creationId xmlns:a16="http://schemas.microsoft.com/office/drawing/2014/main" id="{9A3A338C-2F44-961B-B316-9D3B1B3352AF}"/>
              </a:ext>
            </a:extLst>
          </p:cNvPr>
          <p:cNvSpPr>
            <a:spLocks noGrp="1"/>
          </p:cNvSpPr>
          <p:nvPr>
            <p:ph idx="1"/>
          </p:nvPr>
        </p:nvSpPr>
        <p:spPr>
          <a:xfrm>
            <a:off x="838199" y="1387930"/>
            <a:ext cx="11032671" cy="4789034"/>
          </a:xfrm>
        </p:spPr>
        <p:txBody>
          <a:bodyPr>
            <a:normAutofit/>
          </a:bodyPr>
          <a:lstStyle/>
          <a:p>
            <a:r>
              <a:rPr lang="es-ES" b="1" dirty="0"/>
              <a:t>Mantenimiento Proactivo</a:t>
            </a:r>
            <a:endParaRPr lang="es-ES" dirty="0"/>
          </a:p>
          <a:p>
            <a:pPr>
              <a:buFont typeface="Arial" panose="020B0604020202020204" pitchFamily="34" charset="0"/>
              <a:buChar char="•"/>
            </a:pPr>
            <a:r>
              <a:rPr lang="es-ES" b="1" dirty="0"/>
              <a:t>Descripción:</a:t>
            </a:r>
            <a:r>
              <a:rPr lang="es-ES" dirty="0"/>
              <a:t> Estrategias diseñadas para mejorar la fiabilidad y el rendimiento general mediante la optimización de procesos y sistemas.</a:t>
            </a:r>
          </a:p>
          <a:p>
            <a:pPr>
              <a:buFont typeface="Arial" panose="020B0604020202020204" pitchFamily="34" charset="0"/>
              <a:buChar char="•"/>
            </a:pPr>
            <a:r>
              <a:rPr lang="es-ES" b="1" dirty="0"/>
              <a:t>Actividades Típicas:</a:t>
            </a:r>
            <a:endParaRPr lang="es-ES" dirty="0"/>
          </a:p>
          <a:p>
            <a:pPr marL="742950" lvl="1" indent="-285750">
              <a:buFont typeface="Arial" panose="020B0604020202020204" pitchFamily="34" charset="0"/>
              <a:buChar char="•"/>
            </a:pPr>
            <a:r>
              <a:rPr lang="es-ES" b="1" dirty="0"/>
              <a:t>Revisión de Procesos:</a:t>
            </a:r>
            <a:r>
              <a:rPr lang="es-ES" dirty="0"/>
              <a:t> Evaluación y mejora de los procesos de mantenimiento y operación para maximizar la eficiencia.</a:t>
            </a:r>
          </a:p>
          <a:p>
            <a:pPr marL="742950" lvl="1" indent="-285750">
              <a:buFont typeface="Arial" panose="020B0604020202020204" pitchFamily="34" charset="0"/>
              <a:buChar char="•"/>
            </a:pPr>
            <a:r>
              <a:rPr lang="es-ES" b="1" dirty="0"/>
              <a:t>Capacitación Continua:</a:t>
            </a:r>
            <a:r>
              <a:rPr lang="es-ES" dirty="0"/>
              <a:t> Formación del personal en mejores prácticas y nuevas tecnologías para asegurar una operación eficiente.</a:t>
            </a:r>
          </a:p>
          <a:p>
            <a:endParaRPr lang="es-ES" dirty="0"/>
          </a:p>
        </p:txBody>
      </p:sp>
    </p:spTree>
    <p:extLst>
      <p:ext uri="{BB962C8B-B14F-4D97-AF65-F5344CB8AC3E}">
        <p14:creationId xmlns:p14="http://schemas.microsoft.com/office/powerpoint/2010/main" val="1868552543"/>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AA19E6F5-05DC-9995-611E-161294A54025}"/>
              </a:ext>
            </a:extLst>
          </p:cNvPr>
          <p:cNvSpPr>
            <a:spLocks noGrp="1"/>
          </p:cNvSpPr>
          <p:nvPr>
            <p:ph type="title"/>
          </p:nvPr>
        </p:nvSpPr>
        <p:spPr>
          <a:xfrm>
            <a:off x="964660" y="277576"/>
            <a:ext cx="10515600" cy="1325563"/>
          </a:xfrm>
        </p:spPr>
        <p:txBody>
          <a:bodyPr>
            <a:normAutofit/>
          </a:bodyPr>
          <a:lstStyle/>
          <a:p>
            <a:r>
              <a:rPr lang="es-ES" sz="2800" dirty="0"/>
              <a:t>ESTRATEGIAS Y TECNICAS DE MANTENIMIENTO</a:t>
            </a:r>
          </a:p>
        </p:txBody>
      </p:sp>
      <p:sp>
        <p:nvSpPr>
          <p:cNvPr id="3" name="Marcador de contenido 2">
            <a:extLst>
              <a:ext uri="{FF2B5EF4-FFF2-40B4-BE49-F238E27FC236}">
                <a16:creationId xmlns:a16="http://schemas.microsoft.com/office/drawing/2014/main" id="{9A3A338C-2F44-961B-B316-9D3B1B3352AF}"/>
              </a:ext>
            </a:extLst>
          </p:cNvPr>
          <p:cNvSpPr>
            <a:spLocks noGrp="1"/>
          </p:cNvSpPr>
          <p:nvPr>
            <p:ph idx="1"/>
          </p:nvPr>
        </p:nvSpPr>
        <p:spPr>
          <a:xfrm>
            <a:off x="838199" y="1387930"/>
            <a:ext cx="11032671" cy="4789034"/>
          </a:xfrm>
        </p:spPr>
        <p:txBody>
          <a:bodyPr>
            <a:normAutofit fontScale="92500"/>
          </a:bodyPr>
          <a:lstStyle/>
          <a:p>
            <a:pPr marL="0" indent="0">
              <a:buNone/>
            </a:pPr>
            <a:r>
              <a:rPr lang="es-ES" b="1" dirty="0"/>
              <a:t>Planificación y Programación</a:t>
            </a:r>
            <a:endParaRPr lang="es-ES" dirty="0"/>
          </a:p>
          <a:p>
            <a:pPr>
              <a:buFont typeface="Arial" panose="020B0604020202020204" pitchFamily="34" charset="0"/>
              <a:buChar char="•"/>
            </a:pPr>
            <a:r>
              <a:rPr lang="es-ES" b="1" dirty="0"/>
              <a:t>Desarrollo de Planes de Mantenimiento:</a:t>
            </a:r>
            <a:r>
              <a:rPr lang="es-ES" dirty="0"/>
              <a:t> Creación de un calendario para las actividades de mantenimiento preventivo, basado en el tipo de equipo y el uso previsto.</a:t>
            </a:r>
          </a:p>
          <a:p>
            <a:pPr>
              <a:buFont typeface="Arial" panose="020B0604020202020204" pitchFamily="34" charset="0"/>
              <a:buChar char="•"/>
            </a:pPr>
            <a:r>
              <a:rPr lang="es-ES" b="1" dirty="0"/>
              <a:t>Asignación de Recursos:</a:t>
            </a:r>
            <a:r>
              <a:rPr lang="es-ES" dirty="0"/>
              <a:t> Establecimiento de los recursos necesarios (personal, herramientas, repuestos) para llevar a cabo las actividades de mantenimiento.</a:t>
            </a:r>
          </a:p>
          <a:p>
            <a:pPr marL="0" indent="0">
              <a:buNone/>
            </a:pPr>
            <a:r>
              <a:rPr lang="es-ES" b="1" dirty="0"/>
              <a:t>Gestión de Repuestos</a:t>
            </a:r>
            <a:endParaRPr lang="es-ES" dirty="0"/>
          </a:p>
          <a:p>
            <a:pPr>
              <a:buFont typeface="Arial" panose="020B0604020202020204" pitchFamily="34" charset="0"/>
              <a:buChar char="•"/>
            </a:pPr>
            <a:r>
              <a:rPr lang="es-ES" b="1" dirty="0"/>
              <a:t>Inventario de Repuestos:</a:t>
            </a:r>
            <a:r>
              <a:rPr lang="es-ES" dirty="0"/>
              <a:t> Mantenimiento de un inventario adecuado de repuestos críticos para asegurar una respuesta rápida en caso de fallos.</a:t>
            </a:r>
          </a:p>
          <a:p>
            <a:pPr>
              <a:buFont typeface="Arial" panose="020B0604020202020204" pitchFamily="34" charset="0"/>
              <a:buChar char="•"/>
            </a:pPr>
            <a:r>
              <a:rPr lang="es-ES" b="1" dirty="0"/>
              <a:t>Suministro y Logística:</a:t>
            </a:r>
            <a:r>
              <a:rPr lang="es-ES" dirty="0"/>
              <a:t> Coordinación con proveedores para asegurar la disponibilidad de repuestos y materiales necesarios.</a:t>
            </a:r>
          </a:p>
          <a:p>
            <a:pPr>
              <a:buFont typeface="Arial" panose="020B0604020202020204" pitchFamily="34" charset="0"/>
              <a:buChar char="•"/>
            </a:pPr>
            <a:endParaRPr lang="es-ES" dirty="0"/>
          </a:p>
          <a:p>
            <a:endParaRPr lang="es-ES" dirty="0"/>
          </a:p>
        </p:txBody>
      </p:sp>
    </p:spTree>
    <p:extLst>
      <p:ext uri="{BB962C8B-B14F-4D97-AF65-F5344CB8AC3E}">
        <p14:creationId xmlns:p14="http://schemas.microsoft.com/office/powerpoint/2010/main" val="314980656"/>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AA19E6F5-05DC-9995-611E-161294A54025}"/>
              </a:ext>
            </a:extLst>
          </p:cNvPr>
          <p:cNvSpPr>
            <a:spLocks noGrp="1"/>
          </p:cNvSpPr>
          <p:nvPr>
            <p:ph type="title"/>
          </p:nvPr>
        </p:nvSpPr>
        <p:spPr>
          <a:xfrm>
            <a:off x="964660" y="277576"/>
            <a:ext cx="10515600" cy="963395"/>
          </a:xfrm>
        </p:spPr>
        <p:txBody>
          <a:bodyPr>
            <a:normAutofit/>
          </a:bodyPr>
          <a:lstStyle/>
          <a:p>
            <a:endParaRPr lang="es-ES" sz="2800" dirty="0"/>
          </a:p>
        </p:txBody>
      </p:sp>
      <p:sp>
        <p:nvSpPr>
          <p:cNvPr id="3" name="Marcador de contenido 2">
            <a:extLst>
              <a:ext uri="{FF2B5EF4-FFF2-40B4-BE49-F238E27FC236}">
                <a16:creationId xmlns:a16="http://schemas.microsoft.com/office/drawing/2014/main" id="{9A3A338C-2F44-961B-B316-9D3B1B3352AF}"/>
              </a:ext>
            </a:extLst>
          </p:cNvPr>
          <p:cNvSpPr>
            <a:spLocks noGrp="1"/>
          </p:cNvSpPr>
          <p:nvPr>
            <p:ph idx="1"/>
          </p:nvPr>
        </p:nvSpPr>
        <p:spPr>
          <a:xfrm>
            <a:off x="838199" y="1387930"/>
            <a:ext cx="11032671" cy="4789034"/>
          </a:xfrm>
        </p:spPr>
        <p:txBody>
          <a:bodyPr>
            <a:normAutofit fontScale="92500"/>
          </a:bodyPr>
          <a:lstStyle/>
          <a:p>
            <a:pPr marL="0" indent="0">
              <a:buNone/>
            </a:pPr>
            <a:r>
              <a:rPr lang="es-ES" b="1" dirty="0"/>
              <a:t>Documentación y Registros</a:t>
            </a:r>
            <a:endParaRPr lang="es-ES" dirty="0"/>
          </a:p>
          <a:p>
            <a:pPr>
              <a:buFont typeface="Arial" panose="020B0604020202020204" pitchFamily="34" charset="0"/>
              <a:buChar char="•"/>
            </a:pPr>
            <a:r>
              <a:rPr lang="es-ES" b="1" dirty="0"/>
              <a:t>Registro de Mantenimiento:</a:t>
            </a:r>
            <a:r>
              <a:rPr lang="es-ES" dirty="0"/>
              <a:t> Documentación detallada de todas las actividades de mantenimiento realizadas, incluyendo fechas, componentes reparados, y observaciones.</a:t>
            </a:r>
          </a:p>
          <a:p>
            <a:pPr>
              <a:buFont typeface="Arial" panose="020B0604020202020204" pitchFamily="34" charset="0"/>
              <a:buChar char="•"/>
            </a:pPr>
            <a:r>
              <a:rPr lang="es-ES" b="1" dirty="0"/>
              <a:t>Análisis de Historial:</a:t>
            </a:r>
            <a:r>
              <a:rPr lang="es-ES" dirty="0"/>
              <a:t> Revisión del historial de mantenimiento para identificar patrones de fallos y áreas de mejora.</a:t>
            </a:r>
          </a:p>
          <a:p>
            <a:pPr marL="0" indent="0">
              <a:buNone/>
            </a:pPr>
            <a:r>
              <a:rPr lang="es-ES" b="1" dirty="0"/>
              <a:t>Evaluación y Mejora Continua</a:t>
            </a:r>
            <a:endParaRPr lang="es-ES" dirty="0"/>
          </a:p>
          <a:p>
            <a:pPr>
              <a:buFont typeface="Arial" panose="020B0604020202020204" pitchFamily="34" charset="0"/>
              <a:buChar char="•"/>
            </a:pPr>
            <a:r>
              <a:rPr lang="es-ES" b="1" dirty="0"/>
              <a:t>Revisión de Desempeño:</a:t>
            </a:r>
            <a:r>
              <a:rPr lang="es-ES" dirty="0"/>
              <a:t> Evaluación periódica de la eficacia de las actividades de mantenimiento y su impacto en la operación.</a:t>
            </a:r>
          </a:p>
          <a:p>
            <a:pPr>
              <a:buFont typeface="Arial" panose="020B0604020202020204" pitchFamily="34" charset="0"/>
              <a:buChar char="•"/>
            </a:pPr>
            <a:r>
              <a:rPr lang="es-ES" b="1" dirty="0"/>
              <a:t>Implementación de Mejoras:</a:t>
            </a:r>
            <a:r>
              <a:rPr lang="es-ES" dirty="0"/>
              <a:t> Aplicación de mejoras basadas en la evaluación de desempeño para optimizar los procesos de mantenimiento.</a:t>
            </a:r>
          </a:p>
          <a:p>
            <a:endParaRPr lang="es-ES" dirty="0"/>
          </a:p>
        </p:txBody>
      </p:sp>
    </p:spTree>
    <p:extLst>
      <p:ext uri="{BB962C8B-B14F-4D97-AF65-F5344CB8AC3E}">
        <p14:creationId xmlns:p14="http://schemas.microsoft.com/office/powerpoint/2010/main" val="2686431523"/>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AA19E6F5-05DC-9995-611E-161294A54025}"/>
              </a:ext>
            </a:extLst>
          </p:cNvPr>
          <p:cNvSpPr>
            <a:spLocks noGrp="1"/>
          </p:cNvSpPr>
          <p:nvPr>
            <p:ph type="title"/>
          </p:nvPr>
        </p:nvSpPr>
        <p:spPr>
          <a:xfrm>
            <a:off x="838199" y="231995"/>
            <a:ext cx="10515600" cy="898081"/>
          </a:xfrm>
        </p:spPr>
        <p:txBody>
          <a:bodyPr>
            <a:normAutofit/>
          </a:bodyPr>
          <a:lstStyle/>
          <a:p>
            <a:r>
              <a:rPr lang="es-ES" sz="2800" dirty="0"/>
              <a:t>NORMATIVA Y REGULACIONES RELACIONADAS</a:t>
            </a:r>
          </a:p>
        </p:txBody>
      </p:sp>
      <p:sp>
        <p:nvSpPr>
          <p:cNvPr id="3" name="Marcador de contenido 2">
            <a:extLst>
              <a:ext uri="{FF2B5EF4-FFF2-40B4-BE49-F238E27FC236}">
                <a16:creationId xmlns:a16="http://schemas.microsoft.com/office/drawing/2014/main" id="{9A3A338C-2F44-961B-B316-9D3B1B3352AF}"/>
              </a:ext>
            </a:extLst>
          </p:cNvPr>
          <p:cNvSpPr>
            <a:spLocks noGrp="1"/>
          </p:cNvSpPr>
          <p:nvPr>
            <p:ph idx="1"/>
          </p:nvPr>
        </p:nvSpPr>
        <p:spPr>
          <a:xfrm>
            <a:off x="838199" y="1257300"/>
            <a:ext cx="11032671" cy="4919664"/>
          </a:xfrm>
        </p:spPr>
        <p:txBody>
          <a:bodyPr>
            <a:normAutofit fontScale="92500" lnSpcReduction="10000"/>
          </a:bodyPr>
          <a:lstStyle/>
          <a:p>
            <a:pPr marL="0" indent="0">
              <a:buNone/>
            </a:pPr>
            <a:r>
              <a:rPr lang="es-ES" b="1" dirty="0"/>
              <a:t>Normas Técnicas</a:t>
            </a:r>
            <a:endParaRPr lang="es-ES" dirty="0"/>
          </a:p>
          <a:p>
            <a:pPr>
              <a:buFont typeface="Arial" panose="020B0604020202020204" pitchFamily="34" charset="0"/>
              <a:buChar char="•"/>
            </a:pPr>
            <a:r>
              <a:rPr lang="es-ES" b="1" dirty="0"/>
              <a:t>NTP 399.055 - NTP 399.062:</a:t>
            </a:r>
            <a:r>
              <a:rPr lang="es-ES" dirty="0"/>
              <a:t> Incluyen requisitos técnicos y de seguridad para la construcción y mantenimiento de oleoductos y gasoductos, abarcando aspectos como pruebas de presión, protección contra corrosión, y mantenimiento de sistemas de control.</a:t>
            </a:r>
          </a:p>
          <a:p>
            <a:pPr marL="0" indent="0">
              <a:buNone/>
            </a:pPr>
            <a:r>
              <a:rPr lang="es-ES" b="1" dirty="0"/>
              <a:t>Regulaciones Ambientales</a:t>
            </a:r>
            <a:endParaRPr lang="es-ES" dirty="0"/>
          </a:p>
          <a:p>
            <a:pPr>
              <a:buFont typeface="Arial" panose="020B0604020202020204" pitchFamily="34" charset="0"/>
              <a:buChar char="•"/>
            </a:pPr>
            <a:r>
              <a:rPr lang="es-ES" b="1" dirty="0"/>
              <a:t>Ley General del Ambiente:</a:t>
            </a:r>
            <a:r>
              <a:rPr lang="es-ES" dirty="0"/>
              <a:t> Establece directrices para la protección ambiental durante las actividades de mantenimiento, incluyendo la gestión de residuos y la prevención de impactos ambientales.</a:t>
            </a:r>
          </a:p>
          <a:p>
            <a:r>
              <a:rPr lang="es-ES" b="1" dirty="0"/>
              <a:t>Seguridad Operativa</a:t>
            </a:r>
            <a:endParaRPr lang="es-ES" dirty="0"/>
          </a:p>
          <a:p>
            <a:pPr>
              <a:buFont typeface="Arial" panose="020B0604020202020204" pitchFamily="34" charset="0"/>
              <a:buChar char="•"/>
            </a:pPr>
            <a:r>
              <a:rPr lang="es-ES" b="1" dirty="0"/>
              <a:t>Reglamento de Seguridad en Instalaciones de Gas Natural:</a:t>
            </a:r>
            <a:r>
              <a:rPr lang="es-ES" dirty="0"/>
              <a:t> Incluye requisitos específicos para el mantenimiento y operación segura de instalaciones de gas natural.</a:t>
            </a:r>
          </a:p>
          <a:p>
            <a:pPr>
              <a:buFont typeface="Arial" panose="020B0604020202020204" pitchFamily="34" charset="0"/>
              <a:buChar char="•"/>
            </a:pPr>
            <a:endParaRPr lang="es-ES" dirty="0"/>
          </a:p>
          <a:p>
            <a:endParaRPr lang="es-ES" dirty="0"/>
          </a:p>
        </p:txBody>
      </p:sp>
    </p:spTree>
    <p:extLst>
      <p:ext uri="{BB962C8B-B14F-4D97-AF65-F5344CB8AC3E}">
        <p14:creationId xmlns:p14="http://schemas.microsoft.com/office/powerpoint/2010/main" val="220988172"/>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AA19E6F5-05DC-9995-611E-161294A54025}"/>
              </a:ext>
            </a:extLst>
          </p:cNvPr>
          <p:cNvSpPr>
            <a:spLocks noGrp="1"/>
          </p:cNvSpPr>
          <p:nvPr>
            <p:ph type="title"/>
          </p:nvPr>
        </p:nvSpPr>
        <p:spPr>
          <a:xfrm>
            <a:off x="964660" y="277576"/>
            <a:ext cx="8718183" cy="947067"/>
          </a:xfrm>
        </p:spPr>
        <p:txBody>
          <a:bodyPr>
            <a:normAutofit/>
          </a:bodyPr>
          <a:lstStyle/>
          <a:p>
            <a:r>
              <a:rPr lang="es-ES" sz="2800" dirty="0"/>
              <a:t>IMPLEMENTACION DEL FACTOR DE MANTENIMIENTO</a:t>
            </a:r>
          </a:p>
        </p:txBody>
      </p:sp>
      <p:sp>
        <p:nvSpPr>
          <p:cNvPr id="3" name="Marcador de contenido 2">
            <a:extLst>
              <a:ext uri="{FF2B5EF4-FFF2-40B4-BE49-F238E27FC236}">
                <a16:creationId xmlns:a16="http://schemas.microsoft.com/office/drawing/2014/main" id="{9A3A338C-2F44-961B-B316-9D3B1B3352AF}"/>
              </a:ext>
            </a:extLst>
          </p:cNvPr>
          <p:cNvSpPr>
            <a:spLocks noGrp="1"/>
          </p:cNvSpPr>
          <p:nvPr>
            <p:ph idx="1"/>
          </p:nvPr>
        </p:nvSpPr>
        <p:spPr>
          <a:xfrm>
            <a:off x="838199" y="1387930"/>
            <a:ext cx="11032671" cy="4789034"/>
          </a:xfrm>
        </p:spPr>
        <p:txBody>
          <a:bodyPr>
            <a:normAutofit/>
          </a:bodyPr>
          <a:lstStyle/>
          <a:p>
            <a:r>
              <a:rPr lang="es-ES" b="1" dirty="0"/>
              <a:t>Desarrollo de un Plan de Mantenimiento</a:t>
            </a:r>
            <a:endParaRPr lang="es-ES" dirty="0"/>
          </a:p>
          <a:p>
            <a:pPr>
              <a:buFont typeface="Arial" panose="020B0604020202020204" pitchFamily="34" charset="0"/>
              <a:buChar char="•"/>
            </a:pPr>
            <a:r>
              <a:rPr lang="es-ES" b="1" dirty="0"/>
              <a:t>Evaluación de Necesidades:</a:t>
            </a:r>
            <a:r>
              <a:rPr lang="es-ES" dirty="0"/>
              <a:t> Identificación de los requisitos específicos de mantenimiento para cada tipo de equipo y sistema.</a:t>
            </a:r>
          </a:p>
          <a:p>
            <a:pPr>
              <a:buFont typeface="Arial" panose="020B0604020202020204" pitchFamily="34" charset="0"/>
              <a:buChar char="•"/>
            </a:pPr>
            <a:r>
              <a:rPr lang="es-ES" b="1" dirty="0"/>
              <a:t>Establecimiento de Políticas:</a:t>
            </a:r>
            <a:r>
              <a:rPr lang="es-ES" dirty="0"/>
              <a:t> Creación de políticas y procedimientos para guiar las actividades de mantenimiento.</a:t>
            </a:r>
          </a:p>
          <a:p>
            <a:r>
              <a:rPr lang="es-ES" b="1" dirty="0"/>
              <a:t>Capacitación del Personal</a:t>
            </a:r>
          </a:p>
          <a:p>
            <a:r>
              <a:rPr lang="es-ES" b="1" dirty="0"/>
              <a:t>Entrenamiento Especializado: </a:t>
            </a:r>
            <a:r>
              <a:rPr lang="es-ES" dirty="0"/>
              <a:t>Formación continua para el personal de mantenimiento en técnicas y mejores prácticas.</a:t>
            </a:r>
          </a:p>
          <a:p>
            <a:r>
              <a:rPr lang="es-ES" b="1" dirty="0"/>
              <a:t>Certificaciones: </a:t>
            </a:r>
            <a:r>
              <a:rPr lang="es-ES" dirty="0"/>
              <a:t>Obtención de certificaciones para asegurar que el personal cumpla con los estándares de la industria.</a:t>
            </a:r>
          </a:p>
        </p:txBody>
      </p:sp>
    </p:spTree>
    <p:extLst>
      <p:ext uri="{BB962C8B-B14F-4D97-AF65-F5344CB8AC3E}">
        <p14:creationId xmlns:p14="http://schemas.microsoft.com/office/powerpoint/2010/main" val="2450591842"/>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AA19E6F5-05DC-9995-611E-161294A54025}"/>
              </a:ext>
            </a:extLst>
          </p:cNvPr>
          <p:cNvSpPr>
            <a:spLocks noGrp="1"/>
          </p:cNvSpPr>
          <p:nvPr>
            <p:ph type="title"/>
          </p:nvPr>
        </p:nvSpPr>
        <p:spPr>
          <a:xfrm>
            <a:off x="964660" y="277576"/>
            <a:ext cx="10515600" cy="898081"/>
          </a:xfrm>
        </p:spPr>
        <p:txBody>
          <a:bodyPr>
            <a:normAutofit/>
          </a:bodyPr>
          <a:lstStyle/>
          <a:p>
            <a:endParaRPr lang="es-ES" sz="2800" dirty="0"/>
          </a:p>
        </p:txBody>
      </p:sp>
      <p:sp>
        <p:nvSpPr>
          <p:cNvPr id="3" name="Marcador de contenido 2">
            <a:extLst>
              <a:ext uri="{FF2B5EF4-FFF2-40B4-BE49-F238E27FC236}">
                <a16:creationId xmlns:a16="http://schemas.microsoft.com/office/drawing/2014/main" id="{9A3A338C-2F44-961B-B316-9D3B1B3352AF}"/>
              </a:ext>
            </a:extLst>
          </p:cNvPr>
          <p:cNvSpPr>
            <a:spLocks noGrp="1"/>
          </p:cNvSpPr>
          <p:nvPr>
            <p:ph idx="1"/>
          </p:nvPr>
        </p:nvSpPr>
        <p:spPr>
          <a:xfrm>
            <a:off x="838199" y="1387930"/>
            <a:ext cx="11032671" cy="4789034"/>
          </a:xfrm>
        </p:spPr>
        <p:txBody>
          <a:bodyPr>
            <a:normAutofit lnSpcReduction="10000"/>
          </a:bodyPr>
          <a:lstStyle/>
          <a:p>
            <a:pPr algn="just"/>
            <a:r>
              <a:rPr lang="es-ES" b="1" dirty="0"/>
              <a:t>Uso de Tecnología</a:t>
            </a:r>
            <a:endParaRPr lang="es-ES" dirty="0"/>
          </a:p>
          <a:p>
            <a:pPr algn="just">
              <a:buFont typeface="Arial" panose="020B0604020202020204" pitchFamily="34" charset="0"/>
              <a:buChar char="•"/>
            </a:pPr>
            <a:r>
              <a:rPr lang="es-ES" b="1" dirty="0"/>
              <a:t>Sistemas de Monitoreo:</a:t>
            </a:r>
            <a:r>
              <a:rPr lang="es-ES" dirty="0"/>
              <a:t> Implementación de tecnologías avanzadas para el monitoreo en tiempo real y el análisis de datos.</a:t>
            </a:r>
          </a:p>
          <a:p>
            <a:pPr algn="just">
              <a:buFont typeface="Arial" panose="020B0604020202020204" pitchFamily="34" charset="0"/>
              <a:buChar char="•"/>
            </a:pPr>
            <a:r>
              <a:rPr lang="es-ES" b="1" dirty="0"/>
              <a:t>Software de Gestión:</a:t>
            </a:r>
            <a:r>
              <a:rPr lang="es-ES" dirty="0"/>
              <a:t> Uso de software especializado para la gestión de mantenimiento y la planificación de tareas.</a:t>
            </a:r>
          </a:p>
          <a:p>
            <a:pPr algn="just"/>
            <a:r>
              <a:rPr lang="es-ES" dirty="0"/>
              <a:t>El </a:t>
            </a:r>
            <a:r>
              <a:rPr lang="es-ES" b="1" dirty="0"/>
              <a:t>Factor de Mantenimiento (FM)</a:t>
            </a:r>
            <a:r>
              <a:rPr lang="es-ES" dirty="0"/>
              <a:t> en el sector de petróleo y gas es fundamental para asegurar la operación continua y segura de oleoductos y gasoductos. Incluye actividades preventivas, correctivas y predictivas, así como la planificación, gestión de repuestos, documentación y evaluación continua. Implementar un FM efectivo requiere el cumplimiento de normativas técnicas y de seguridad, así como el uso de tecnología avanzada y la capacitación del personal.</a:t>
            </a:r>
          </a:p>
        </p:txBody>
      </p:sp>
    </p:spTree>
    <p:extLst>
      <p:ext uri="{BB962C8B-B14F-4D97-AF65-F5344CB8AC3E}">
        <p14:creationId xmlns:p14="http://schemas.microsoft.com/office/powerpoint/2010/main" val="1478773876"/>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AA19E6F5-05DC-9995-611E-161294A54025}"/>
              </a:ext>
            </a:extLst>
          </p:cNvPr>
          <p:cNvSpPr>
            <a:spLocks noGrp="1"/>
          </p:cNvSpPr>
          <p:nvPr>
            <p:ph type="title"/>
          </p:nvPr>
        </p:nvSpPr>
        <p:spPr>
          <a:xfrm>
            <a:off x="838199" y="183009"/>
            <a:ext cx="10515600" cy="996053"/>
          </a:xfrm>
        </p:spPr>
        <p:txBody>
          <a:bodyPr>
            <a:normAutofit/>
          </a:bodyPr>
          <a:lstStyle/>
          <a:p>
            <a:r>
              <a:rPr lang="es-ES" sz="2800" dirty="0"/>
              <a:t>PRIORIDAD DE TRANSPORTE</a:t>
            </a:r>
          </a:p>
        </p:txBody>
      </p:sp>
      <p:sp>
        <p:nvSpPr>
          <p:cNvPr id="3" name="Marcador de contenido 2">
            <a:extLst>
              <a:ext uri="{FF2B5EF4-FFF2-40B4-BE49-F238E27FC236}">
                <a16:creationId xmlns:a16="http://schemas.microsoft.com/office/drawing/2014/main" id="{9A3A338C-2F44-961B-B316-9D3B1B3352AF}"/>
              </a:ext>
            </a:extLst>
          </p:cNvPr>
          <p:cNvSpPr>
            <a:spLocks noGrp="1"/>
          </p:cNvSpPr>
          <p:nvPr>
            <p:ph idx="1"/>
          </p:nvPr>
        </p:nvSpPr>
        <p:spPr>
          <a:xfrm>
            <a:off x="838199" y="1387930"/>
            <a:ext cx="11032671" cy="4789034"/>
          </a:xfrm>
        </p:spPr>
        <p:txBody>
          <a:bodyPr>
            <a:normAutofit/>
          </a:bodyPr>
          <a:lstStyle/>
          <a:p>
            <a:r>
              <a:rPr lang="es-ES" dirty="0"/>
              <a:t>Concepto</a:t>
            </a:r>
          </a:p>
          <a:p>
            <a:r>
              <a:rPr lang="es-ES" dirty="0"/>
              <a:t>La </a:t>
            </a:r>
            <a:r>
              <a:rPr lang="es-ES" b="1" dirty="0"/>
              <a:t>prioridad de transporte</a:t>
            </a:r>
            <a:r>
              <a:rPr lang="es-ES" dirty="0"/>
              <a:t> establece cómo se asigna el espacio y la capacidad de los sistemas de transporte para diferentes productos y flujos de acuerdo con su importancia, urgencia y valor. En el contexto del petróleo y gas, esto implica decidir qué productos o clientes recibirán servicio primero y cómo se optimiza el uso de la infraestructura existente.</a:t>
            </a:r>
          </a:p>
        </p:txBody>
      </p:sp>
    </p:spTree>
    <p:extLst>
      <p:ext uri="{BB962C8B-B14F-4D97-AF65-F5344CB8AC3E}">
        <p14:creationId xmlns:p14="http://schemas.microsoft.com/office/powerpoint/2010/main" val="481468825"/>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AA19E6F5-05DC-9995-611E-161294A54025}"/>
              </a:ext>
            </a:extLst>
          </p:cNvPr>
          <p:cNvSpPr>
            <a:spLocks noGrp="1"/>
          </p:cNvSpPr>
          <p:nvPr>
            <p:ph type="title"/>
          </p:nvPr>
        </p:nvSpPr>
        <p:spPr>
          <a:xfrm>
            <a:off x="687074" y="231995"/>
            <a:ext cx="10515600" cy="898081"/>
          </a:xfrm>
        </p:spPr>
        <p:txBody>
          <a:bodyPr>
            <a:normAutofit/>
          </a:bodyPr>
          <a:lstStyle/>
          <a:p>
            <a:r>
              <a:rPr lang="es-ES" sz="2800" dirty="0"/>
              <a:t>FACTORES QUE DETERMINAN LA PRIORIDAD DE TRANSPORTE</a:t>
            </a:r>
          </a:p>
        </p:txBody>
      </p:sp>
      <p:sp>
        <p:nvSpPr>
          <p:cNvPr id="3" name="Marcador de contenido 2">
            <a:extLst>
              <a:ext uri="{FF2B5EF4-FFF2-40B4-BE49-F238E27FC236}">
                <a16:creationId xmlns:a16="http://schemas.microsoft.com/office/drawing/2014/main" id="{9A3A338C-2F44-961B-B316-9D3B1B3352AF}"/>
              </a:ext>
            </a:extLst>
          </p:cNvPr>
          <p:cNvSpPr>
            <a:spLocks noGrp="1"/>
          </p:cNvSpPr>
          <p:nvPr>
            <p:ph idx="1"/>
          </p:nvPr>
        </p:nvSpPr>
        <p:spPr>
          <a:xfrm>
            <a:off x="838199" y="1387930"/>
            <a:ext cx="11032671" cy="4789034"/>
          </a:xfrm>
        </p:spPr>
        <p:txBody>
          <a:bodyPr>
            <a:normAutofit fontScale="92500" lnSpcReduction="10000"/>
          </a:bodyPr>
          <a:lstStyle/>
          <a:p>
            <a:r>
              <a:rPr lang="es-ES" b="1" dirty="0"/>
              <a:t>Demanda del Mercado</a:t>
            </a:r>
            <a:endParaRPr lang="es-ES" dirty="0"/>
          </a:p>
          <a:p>
            <a:pPr>
              <a:buFont typeface="Arial" panose="020B0604020202020204" pitchFamily="34" charset="0"/>
              <a:buChar char="•"/>
            </a:pPr>
            <a:r>
              <a:rPr lang="es-ES" b="1" dirty="0"/>
              <a:t>Alto Valor de Mercado:</a:t>
            </a:r>
            <a:r>
              <a:rPr lang="es-ES" dirty="0"/>
              <a:t> Los productos con mayor valor en el mercado pueden recibir prioridad para asegurar que las oportunidades comerciales se maximicen.</a:t>
            </a:r>
          </a:p>
          <a:p>
            <a:pPr>
              <a:buFont typeface="Arial" panose="020B0604020202020204" pitchFamily="34" charset="0"/>
              <a:buChar char="•"/>
            </a:pPr>
            <a:r>
              <a:rPr lang="es-ES" b="1" dirty="0"/>
              <a:t>Contratos de Suministro:</a:t>
            </a:r>
            <a:r>
              <a:rPr lang="es-ES" dirty="0"/>
              <a:t> Los contratos a largo plazo con precios fijados o compromisos de suministro pueden influir en la prioridad de transporte.</a:t>
            </a:r>
          </a:p>
          <a:p>
            <a:r>
              <a:rPr lang="es-ES" b="1" dirty="0"/>
              <a:t>Seguridad y Emergencias</a:t>
            </a:r>
          </a:p>
          <a:p>
            <a:r>
              <a:rPr lang="es-ES" b="1" dirty="0"/>
              <a:t>Transporte de Productos Críticos</a:t>
            </a:r>
            <a:r>
              <a:rPr lang="es-ES" dirty="0"/>
              <a:t>: En situaciones de emergencia, como derrames o fallos en la infraestructura, el transporte de productos críticos para la reparación y seguridad puede tener prioridad.</a:t>
            </a:r>
          </a:p>
          <a:p>
            <a:r>
              <a:rPr lang="es-ES" b="1" dirty="0"/>
              <a:t>Acceso a Recursos de Emergencia: </a:t>
            </a:r>
            <a:r>
              <a:rPr lang="es-ES" dirty="0"/>
              <a:t>Priorizar el transporte de equipos y recursos necesarios para la respuesta a emergencias.</a:t>
            </a:r>
          </a:p>
        </p:txBody>
      </p:sp>
    </p:spTree>
    <p:extLst>
      <p:ext uri="{BB962C8B-B14F-4D97-AF65-F5344CB8AC3E}">
        <p14:creationId xmlns:p14="http://schemas.microsoft.com/office/powerpoint/2010/main" val="1993048522"/>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AA19E6F5-05DC-9995-611E-161294A54025}"/>
              </a:ext>
            </a:extLst>
          </p:cNvPr>
          <p:cNvSpPr>
            <a:spLocks noGrp="1"/>
          </p:cNvSpPr>
          <p:nvPr>
            <p:ph type="title"/>
          </p:nvPr>
        </p:nvSpPr>
        <p:spPr>
          <a:xfrm>
            <a:off x="964660" y="277577"/>
            <a:ext cx="10515600" cy="914410"/>
          </a:xfrm>
        </p:spPr>
        <p:txBody>
          <a:bodyPr>
            <a:normAutofit/>
          </a:bodyPr>
          <a:lstStyle/>
          <a:p>
            <a:endParaRPr lang="es-ES" sz="2800" dirty="0"/>
          </a:p>
        </p:txBody>
      </p:sp>
      <p:sp>
        <p:nvSpPr>
          <p:cNvPr id="3" name="Marcador de contenido 2">
            <a:extLst>
              <a:ext uri="{FF2B5EF4-FFF2-40B4-BE49-F238E27FC236}">
                <a16:creationId xmlns:a16="http://schemas.microsoft.com/office/drawing/2014/main" id="{9A3A338C-2F44-961B-B316-9D3B1B3352AF}"/>
              </a:ext>
            </a:extLst>
          </p:cNvPr>
          <p:cNvSpPr>
            <a:spLocks noGrp="1"/>
          </p:cNvSpPr>
          <p:nvPr>
            <p:ph idx="1"/>
          </p:nvPr>
        </p:nvSpPr>
        <p:spPr>
          <a:xfrm>
            <a:off x="838199" y="1387930"/>
            <a:ext cx="11032671" cy="4789034"/>
          </a:xfrm>
        </p:spPr>
        <p:txBody>
          <a:bodyPr>
            <a:normAutofit fontScale="92500" lnSpcReduction="10000"/>
          </a:bodyPr>
          <a:lstStyle/>
          <a:p>
            <a:r>
              <a:rPr lang="es-ES" b="1" dirty="0"/>
              <a:t>Capacidad de Infraestructura</a:t>
            </a:r>
            <a:endParaRPr lang="es-ES" dirty="0"/>
          </a:p>
          <a:p>
            <a:pPr>
              <a:buFont typeface="Arial" panose="020B0604020202020204" pitchFamily="34" charset="0"/>
              <a:buChar char="•"/>
            </a:pPr>
            <a:r>
              <a:rPr lang="es-ES" b="1" dirty="0"/>
              <a:t>Optimización del Uso:</a:t>
            </a:r>
            <a:r>
              <a:rPr lang="es-ES" dirty="0"/>
              <a:t> Durante periodos de alta demanda o capacidad limitada, la infraestructura puede ser optimizada para priorizar los flujos de mayor importancia o rentabilidad.</a:t>
            </a:r>
          </a:p>
          <a:p>
            <a:pPr>
              <a:buFont typeface="Arial" panose="020B0604020202020204" pitchFamily="34" charset="0"/>
              <a:buChar char="•"/>
            </a:pPr>
            <a:r>
              <a:rPr lang="es-ES" b="1" dirty="0"/>
              <a:t>Mantenimiento Programado:</a:t>
            </a:r>
            <a:r>
              <a:rPr lang="es-ES" dirty="0"/>
              <a:t> Durante mantenimientos planificados, la prioridad puede ajustarse para gestionar la capacidad de transporte disponible.</a:t>
            </a:r>
          </a:p>
          <a:p>
            <a:r>
              <a:rPr lang="es-ES" b="1" dirty="0"/>
              <a:t>Consideraciones Económicas</a:t>
            </a:r>
            <a:endParaRPr lang="es-ES" dirty="0"/>
          </a:p>
          <a:p>
            <a:pPr>
              <a:buFont typeface="Arial" panose="020B0604020202020204" pitchFamily="34" charset="0"/>
              <a:buChar char="•"/>
            </a:pPr>
            <a:r>
              <a:rPr lang="es-ES" b="1" dirty="0"/>
              <a:t>Costos Operativos:</a:t>
            </a:r>
            <a:r>
              <a:rPr lang="es-ES" dirty="0"/>
              <a:t> Los costos asociados al transporte, como tarifas de uso de infraestructura, pueden influir en las decisiones sobre qué flujos recibirán prioridad.</a:t>
            </a:r>
          </a:p>
          <a:p>
            <a:pPr>
              <a:buFont typeface="Arial" panose="020B0604020202020204" pitchFamily="34" charset="0"/>
              <a:buChar char="•"/>
            </a:pPr>
            <a:r>
              <a:rPr lang="es-ES" b="1" dirty="0"/>
              <a:t>Eficiencia Operativa:</a:t>
            </a:r>
            <a:r>
              <a:rPr lang="es-ES" dirty="0"/>
              <a:t> Priorizar el transporte que maximiza la eficiencia y minimiza los costos operativos generales.</a:t>
            </a:r>
          </a:p>
          <a:p>
            <a:endParaRPr lang="es-ES" dirty="0"/>
          </a:p>
        </p:txBody>
      </p:sp>
    </p:spTree>
    <p:extLst>
      <p:ext uri="{BB962C8B-B14F-4D97-AF65-F5344CB8AC3E}">
        <p14:creationId xmlns:p14="http://schemas.microsoft.com/office/powerpoint/2010/main" val="884399788"/>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AA19E6F5-05DC-9995-611E-161294A54025}"/>
              </a:ext>
            </a:extLst>
          </p:cNvPr>
          <p:cNvSpPr>
            <a:spLocks noGrp="1"/>
          </p:cNvSpPr>
          <p:nvPr>
            <p:ph type="title"/>
          </p:nvPr>
        </p:nvSpPr>
        <p:spPr>
          <a:xfrm>
            <a:off x="838199" y="183009"/>
            <a:ext cx="10515600" cy="996053"/>
          </a:xfrm>
        </p:spPr>
        <p:txBody>
          <a:bodyPr>
            <a:normAutofit/>
          </a:bodyPr>
          <a:lstStyle/>
          <a:p>
            <a:endParaRPr lang="es-ES" sz="2800" dirty="0"/>
          </a:p>
        </p:txBody>
      </p:sp>
      <p:sp>
        <p:nvSpPr>
          <p:cNvPr id="3" name="Marcador de contenido 2">
            <a:extLst>
              <a:ext uri="{FF2B5EF4-FFF2-40B4-BE49-F238E27FC236}">
                <a16:creationId xmlns:a16="http://schemas.microsoft.com/office/drawing/2014/main" id="{9A3A338C-2F44-961B-B316-9D3B1B3352AF}"/>
              </a:ext>
            </a:extLst>
          </p:cNvPr>
          <p:cNvSpPr>
            <a:spLocks noGrp="1"/>
          </p:cNvSpPr>
          <p:nvPr>
            <p:ph idx="1"/>
          </p:nvPr>
        </p:nvSpPr>
        <p:spPr>
          <a:xfrm>
            <a:off x="838199" y="1387930"/>
            <a:ext cx="11032671" cy="4789034"/>
          </a:xfrm>
        </p:spPr>
        <p:txBody>
          <a:bodyPr>
            <a:normAutofit/>
          </a:bodyPr>
          <a:lstStyle/>
          <a:p>
            <a:r>
              <a:rPr lang="es-ES" b="1" dirty="0"/>
              <a:t>Regulaciones y Normativas</a:t>
            </a:r>
            <a:endParaRPr lang="es-ES" dirty="0"/>
          </a:p>
          <a:p>
            <a:pPr>
              <a:buFont typeface="Arial" panose="020B0604020202020204" pitchFamily="34" charset="0"/>
              <a:buChar char="•"/>
            </a:pPr>
            <a:r>
              <a:rPr lang="es-ES" b="1" dirty="0"/>
              <a:t>Cumplimiento Regulatorio:</a:t>
            </a:r>
            <a:r>
              <a:rPr lang="es-ES" dirty="0"/>
              <a:t> Las regulaciones locales y nacionales pueden establecer prioridades para el transporte de ciertos productos, como combustibles esenciales.</a:t>
            </a:r>
          </a:p>
          <a:p>
            <a:pPr>
              <a:buFont typeface="Arial" panose="020B0604020202020204" pitchFamily="34" charset="0"/>
              <a:buChar char="•"/>
            </a:pPr>
            <a:r>
              <a:rPr lang="es-ES" b="1" dirty="0"/>
              <a:t>Normativas Ambientales:</a:t>
            </a:r>
            <a:r>
              <a:rPr lang="es-ES" dirty="0"/>
              <a:t> Asegurar que el transporte cumpla con las normativas ambientales y de seguridad puede afectar las prioridades.</a:t>
            </a:r>
          </a:p>
          <a:p>
            <a:endParaRPr lang="es-ES" dirty="0"/>
          </a:p>
        </p:txBody>
      </p:sp>
    </p:spTree>
    <p:extLst>
      <p:ext uri="{BB962C8B-B14F-4D97-AF65-F5344CB8AC3E}">
        <p14:creationId xmlns:p14="http://schemas.microsoft.com/office/powerpoint/2010/main" val="2903098778"/>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AA19E6F5-05DC-9995-611E-161294A54025}"/>
              </a:ext>
            </a:extLst>
          </p:cNvPr>
          <p:cNvSpPr>
            <a:spLocks noGrp="1"/>
          </p:cNvSpPr>
          <p:nvPr>
            <p:ph type="title"/>
          </p:nvPr>
        </p:nvSpPr>
        <p:spPr>
          <a:xfrm>
            <a:off x="838199" y="183009"/>
            <a:ext cx="8730344" cy="996053"/>
          </a:xfrm>
        </p:spPr>
        <p:txBody>
          <a:bodyPr>
            <a:normAutofit/>
          </a:bodyPr>
          <a:lstStyle/>
          <a:p>
            <a:r>
              <a:rPr lang="es-ES" sz="2800" dirty="0"/>
              <a:t>IMPLEMENTACION DE LA PRIORIDAD DE TRANSPORTE</a:t>
            </a:r>
          </a:p>
        </p:txBody>
      </p:sp>
      <p:sp>
        <p:nvSpPr>
          <p:cNvPr id="3" name="Marcador de contenido 2">
            <a:extLst>
              <a:ext uri="{FF2B5EF4-FFF2-40B4-BE49-F238E27FC236}">
                <a16:creationId xmlns:a16="http://schemas.microsoft.com/office/drawing/2014/main" id="{9A3A338C-2F44-961B-B316-9D3B1B3352AF}"/>
              </a:ext>
            </a:extLst>
          </p:cNvPr>
          <p:cNvSpPr>
            <a:spLocks noGrp="1"/>
          </p:cNvSpPr>
          <p:nvPr>
            <p:ph idx="1"/>
          </p:nvPr>
        </p:nvSpPr>
        <p:spPr>
          <a:xfrm>
            <a:off x="838199" y="1387930"/>
            <a:ext cx="11032671" cy="4789034"/>
          </a:xfrm>
        </p:spPr>
        <p:txBody>
          <a:bodyPr>
            <a:normAutofit fontScale="92500"/>
          </a:bodyPr>
          <a:lstStyle/>
          <a:p>
            <a:r>
              <a:rPr lang="es-ES" b="1" dirty="0"/>
              <a:t>Asignación de Capacidad</a:t>
            </a:r>
            <a:endParaRPr lang="es-ES" dirty="0"/>
          </a:p>
          <a:p>
            <a:pPr>
              <a:buFont typeface="Arial" panose="020B0604020202020204" pitchFamily="34" charset="0"/>
              <a:buChar char="•"/>
            </a:pPr>
            <a:r>
              <a:rPr lang="es-ES" b="1" dirty="0"/>
              <a:t>Sistema de Gestión de Transporte:</a:t>
            </a:r>
            <a:r>
              <a:rPr lang="es-ES" dirty="0"/>
              <a:t> Implementar sistemas para la asignación eficiente de capacidad, considerando la demanda actual y futura.</a:t>
            </a:r>
          </a:p>
          <a:p>
            <a:pPr>
              <a:buFont typeface="Arial" panose="020B0604020202020204" pitchFamily="34" charset="0"/>
              <a:buChar char="•"/>
            </a:pPr>
            <a:r>
              <a:rPr lang="es-ES" b="1" dirty="0"/>
              <a:t>Reservas y Programación:</a:t>
            </a:r>
            <a:r>
              <a:rPr lang="es-ES" dirty="0"/>
              <a:t> Gestionar reservas de capacidad y programación de transporte para alinear la oferta y la demanda.</a:t>
            </a:r>
          </a:p>
          <a:p>
            <a:r>
              <a:rPr lang="es-ES" b="1" dirty="0"/>
              <a:t>Optimización de Rutas</a:t>
            </a:r>
          </a:p>
          <a:p>
            <a:r>
              <a:rPr lang="es-ES" b="1" dirty="0"/>
              <a:t>Rutas Alternativas</a:t>
            </a:r>
            <a:r>
              <a:rPr lang="es-ES" dirty="0"/>
              <a:t>: Identificar y utilizar rutas alternativas para gestionar la demanda y optimizar el flujo de productos.</a:t>
            </a:r>
          </a:p>
          <a:p>
            <a:r>
              <a:rPr lang="es-ES" b="1" dirty="0"/>
              <a:t>Minimización de Tiempos de Inactividad: </a:t>
            </a:r>
            <a:r>
              <a:rPr lang="es-ES" dirty="0"/>
              <a:t>Asegurar que la infraestructura esté disponible para el transporte prioritario mediante una planificación adecuada.</a:t>
            </a:r>
          </a:p>
        </p:txBody>
      </p:sp>
    </p:spTree>
    <p:extLst>
      <p:ext uri="{BB962C8B-B14F-4D97-AF65-F5344CB8AC3E}">
        <p14:creationId xmlns:p14="http://schemas.microsoft.com/office/powerpoint/2010/main" val="4062043009"/>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AA19E6F5-05DC-9995-611E-161294A54025}"/>
              </a:ext>
            </a:extLst>
          </p:cNvPr>
          <p:cNvSpPr>
            <a:spLocks noGrp="1"/>
          </p:cNvSpPr>
          <p:nvPr>
            <p:ph type="title"/>
          </p:nvPr>
        </p:nvSpPr>
        <p:spPr>
          <a:xfrm>
            <a:off x="838199" y="183009"/>
            <a:ext cx="10515600" cy="996053"/>
          </a:xfrm>
        </p:spPr>
        <p:txBody>
          <a:bodyPr>
            <a:normAutofit/>
          </a:bodyPr>
          <a:lstStyle/>
          <a:p>
            <a:endParaRPr lang="es-ES" sz="2800" dirty="0"/>
          </a:p>
        </p:txBody>
      </p:sp>
      <p:sp>
        <p:nvSpPr>
          <p:cNvPr id="3" name="Marcador de contenido 2">
            <a:extLst>
              <a:ext uri="{FF2B5EF4-FFF2-40B4-BE49-F238E27FC236}">
                <a16:creationId xmlns:a16="http://schemas.microsoft.com/office/drawing/2014/main" id="{9A3A338C-2F44-961B-B316-9D3B1B3352AF}"/>
              </a:ext>
            </a:extLst>
          </p:cNvPr>
          <p:cNvSpPr>
            <a:spLocks noGrp="1"/>
          </p:cNvSpPr>
          <p:nvPr>
            <p:ph idx="1"/>
          </p:nvPr>
        </p:nvSpPr>
        <p:spPr>
          <a:xfrm>
            <a:off x="838199" y="1387930"/>
            <a:ext cx="11032671" cy="4789034"/>
          </a:xfrm>
        </p:spPr>
        <p:txBody>
          <a:bodyPr>
            <a:normAutofit fontScale="92500"/>
          </a:bodyPr>
          <a:lstStyle/>
          <a:p>
            <a:r>
              <a:rPr lang="es-ES" b="1" dirty="0"/>
              <a:t>Comunicación y Coordinación</a:t>
            </a:r>
          </a:p>
          <a:p>
            <a:r>
              <a:rPr lang="es-ES" b="1" dirty="0"/>
              <a:t>Colaboración entre Operadores: </a:t>
            </a:r>
            <a:r>
              <a:rPr lang="es-ES" dirty="0"/>
              <a:t>Coordinar con otros operadores y partes interesadas para gestionar eficazmente la capacidad y la prioridad de transporte.</a:t>
            </a:r>
          </a:p>
          <a:p>
            <a:r>
              <a:rPr lang="es-ES" b="1" dirty="0"/>
              <a:t>Transparencia: </a:t>
            </a:r>
            <a:r>
              <a:rPr lang="es-ES" dirty="0"/>
              <a:t>Mantener una comunicación clara con los clientes y partes interesadas sobre las prioridades y disponibilidad de transporte.</a:t>
            </a:r>
          </a:p>
          <a:p>
            <a:r>
              <a:rPr lang="es-ES" b="1" dirty="0"/>
              <a:t>Monitoreo y Control</a:t>
            </a:r>
            <a:endParaRPr lang="es-ES" dirty="0"/>
          </a:p>
          <a:p>
            <a:pPr>
              <a:buFont typeface="Arial" panose="020B0604020202020204" pitchFamily="34" charset="0"/>
              <a:buChar char="•"/>
            </a:pPr>
            <a:r>
              <a:rPr lang="es-ES" b="1" dirty="0"/>
              <a:t>Sistema SCADA:</a:t>
            </a:r>
            <a:r>
              <a:rPr lang="es-ES" dirty="0"/>
              <a:t> Utilizar sistemas de control y adquisición de datos (SCADA) para monitorear y ajustar las prioridades de transporte en tiempo real.</a:t>
            </a:r>
          </a:p>
          <a:p>
            <a:pPr>
              <a:buFont typeface="Arial" panose="020B0604020202020204" pitchFamily="34" charset="0"/>
              <a:buChar char="•"/>
            </a:pPr>
            <a:r>
              <a:rPr lang="es-ES" b="1" dirty="0"/>
              <a:t>Análisis de Datos:</a:t>
            </a:r>
            <a:r>
              <a:rPr lang="es-ES" dirty="0"/>
              <a:t> Analizar datos operativos para tomar decisiones informadas sobre la asignación de capacidad y la gestión de prioridades.</a:t>
            </a:r>
          </a:p>
          <a:p>
            <a:endParaRPr lang="es-ES" dirty="0"/>
          </a:p>
        </p:txBody>
      </p:sp>
    </p:spTree>
    <p:extLst>
      <p:ext uri="{BB962C8B-B14F-4D97-AF65-F5344CB8AC3E}">
        <p14:creationId xmlns:p14="http://schemas.microsoft.com/office/powerpoint/2010/main" val="4259220558"/>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AA19E6F5-05DC-9995-611E-161294A54025}"/>
              </a:ext>
            </a:extLst>
          </p:cNvPr>
          <p:cNvSpPr>
            <a:spLocks noGrp="1"/>
          </p:cNvSpPr>
          <p:nvPr>
            <p:ph type="title"/>
          </p:nvPr>
        </p:nvSpPr>
        <p:spPr>
          <a:xfrm>
            <a:off x="838199" y="183009"/>
            <a:ext cx="8436430" cy="996053"/>
          </a:xfrm>
        </p:spPr>
        <p:txBody>
          <a:bodyPr>
            <a:normAutofit/>
          </a:bodyPr>
          <a:lstStyle/>
          <a:p>
            <a:r>
              <a:rPr lang="es-ES" sz="2800" dirty="0"/>
              <a:t>EJEMPLOS DE PRIORIDAD DE TRANSPORTE EN EL SECTOR</a:t>
            </a:r>
          </a:p>
        </p:txBody>
      </p:sp>
      <p:sp>
        <p:nvSpPr>
          <p:cNvPr id="3" name="Marcador de contenido 2">
            <a:extLst>
              <a:ext uri="{FF2B5EF4-FFF2-40B4-BE49-F238E27FC236}">
                <a16:creationId xmlns:a16="http://schemas.microsoft.com/office/drawing/2014/main" id="{9A3A338C-2F44-961B-B316-9D3B1B3352AF}"/>
              </a:ext>
            </a:extLst>
          </p:cNvPr>
          <p:cNvSpPr>
            <a:spLocks noGrp="1"/>
          </p:cNvSpPr>
          <p:nvPr>
            <p:ph idx="1"/>
          </p:nvPr>
        </p:nvSpPr>
        <p:spPr>
          <a:xfrm>
            <a:off x="838199" y="1387930"/>
            <a:ext cx="11032671" cy="4789034"/>
          </a:xfrm>
        </p:spPr>
        <p:txBody>
          <a:bodyPr>
            <a:normAutofit fontScale="92500" lnSpcReduction="20000"/>
          </a:bodyPr>
          <a:lstStyle/>
          <a:p>
            <a:r>
              <a:rPr lang="es-ES" b="1" dirty="0"/>
              <a:t>Transporte de Crudo y Productos Refinados</a:t>
            </a:r>
            <a:endParaRPr lang="es-ES" dirty="0"/>
          </a:p>
          <a:p>
            <a:pPr>
              <a:buFont typeface="Arial" panose="020B0604020202020204" pitchFamily="34" charset="0"/>
              <a:buChar char="•"/>
            </a:pPr>
            <a:r>
              <a:rPr lang="es-ES" b="1" dirty="0"/>
              <a:t>Prioridad en el Transporte de Crudo:</a:t>
            </a:r>
            <a:r>
              <a:rPr lang="es-ES" dirty="0"/>
              <a:t> En regiones con alta producción de petróleo, el transporte de crudo puede tener prioridad sobre productos refinados para garantizar el flujo continuo hacia las refinerías.</a:t>
            </a:r>
          </a:p>
          <a:p>
            <a:pPr>
              <a:buFont typeface="Arial" panose="020B0604020202020204" pitchFamily="34" charset="0"/>
              <a:buChar char="•"/>
            </a:pPr>
            <a:r>
              <a:rPr lang="es-ES" b="1" dirty="0"/>
              <a:t>Distribución de Productos Refinados:</a:t>
            </a:r>
            <a:r>
              <a:rPr lang="es-ES" dirty="0"/>
              <a:t> Los productos refinados, como gasolina y diésel, pueden tener prioridades ajustadas según la demanda del mercado y el suministro a estaciones de servicio.</a:t>
            </a:r>
          </a:p>
          <a:p>
            <a:r>
              <a:rPr lang="es-ES" b="1" dirty="0"/>
              <a:t>Gas Natural</a:t>
            </a:r>
            <a:endParaRPr lang="es-ES" dirty="0"/>
          </a:p>
          <a:p>
            <a:pPr>
              <a:buFont typeface="Arial" panose="020B0604020202020204" pitchFamily="34" charset="0"/>
              <a:buChar char="•"/>
            </a:pPr>
            <a:r>
              <a:rPr lang="es-ES" b="1" dirty="0"/>
              <a:t>Transporte de Gas para Generación de Energía:</a:t>
            </a:r>
            <a:r>
              <a:rPr lang="es-ES" dirty="0"/>
              <a:t> El gas natural destinado a la generación de energía eléctrica puede recibir prioridad debido a su importancia para el suministro de electricidad.</a:t>
            </a:r>
          </a:p>
          <a:p>
            <a:pPr>
              <a:buFont typeface="Arial" panose="020B0604020202020204" pitchFamily="34" charset="0"/>
              <a:buChar char="•"/>
            </a:pPr>
            <a:r>
              <a:rPr lang="es-ES" b="1" dirty="0"/>
              <a:t>Distribución a Consumidores Industriales:</a:t>
            </a:r>
            <a:r>
              <a:rPr lang="es-ES" dirty="0"/>
              <a:t> Las industrias que dependen del gas para procesos críticos pueden tener prioridad en la asignación de capacidad.</a:t>
            </a:r>
          </a:p>
          <a:p>
            <a:endParaRPr lang="es-ES" dirty="0"/>
          </a:p>
        </p:txBody>
      </p:sp>
    </p:spTree>
    <p:extLst>
      <p:ext uri="{BB962C8B-B14F-4D97-AF65-F5344CB8AC3E}">
        <p14:creationId xmlns:p14="http://schemas.microsoft.com/office/powerpoint/2010/main" val="3142487709"/>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AA19E6F5-05DC-9995-611E-161294A54025}"/>
              </a:ext>
            </a:extLst>
          </p:cNvPr>
          <p:cNvSpPr>
            <a:spLocks noGrp="1"/>
          </p:cNvSpPr>
          <p:nvPr>
            <p:ph type="title"/>
          </p:nvPr>
        </p:nvSpPr>
        <p:spPr>
          <a:xfrm>
            <a:off x="838199" y="183009"/>
            <a:ext cx="10515600" cy="996053"/>
          </a:xfrm>
        </p:spPr>
        <p:txBody>
          <a:bodyPr>
            <a:normAutofit/>
          </a:bodyPr>
          <a:lstStyle/>
          <a:p>
            <a:endParaRPr lang="es-ES" sz="2800" dirty="0"/>
          </a:p>
        </p:txBody>
      </p:sp>
      <p:sp>
        <p:nvSpPr>
          <p:cNvPr id="3" name="Marcador de contenido 2">
            <a:extLst>
              <a:ext uri="{FF2B5EF4-FFF2-40B4-BE49-F238E27FC236}">
                <a16:creationId xmlns:a16="http://schemas.microsoft.com/office/drawing/2014/main" id="{9A3A338C-2F44-961B-B316-9D3B1B3352AF}"/>
              </a:ext>
            </a:extLst>
          </p:cNvPr>
          <p:cNvSpPr>
            <a:spLocks noGrp="1"/>
          </p:cNvSpPr>
          <p:nvPr>
            <p:ph idx="1"/>
          </p:nvPr>
        </p:nvSpPr>
        <p:spPr>
          <a:xfrm>
            <a:off x="838199" y="1387930"/>
            <a:ext cx="11032671" cy="4789034"/>
          </a:xfrm>
        </p:spPr>
        <p:txBody>
          <a:bodyPr>
            <a:normAutofit/>
          </a:bodyPr>
          <a:lstStyle/>
          <a:p>
            <a:r>
              <a:rPr lang="es-ES" b="1" dirty="0"/>
              <a:t>Emergencias y Mantenimiento</a:t>
            </a:r>
            <a:endParaRPr lang="es-ES" dirty="0"/>
          </a:p>
          <a:p>
            <a:pPr>
              <a:buFont typeface="Arial" panose="020B0604020202020204" pitchFamily="34" charset="0"/>
              <a:buChar char="•"/>
            </a:pPr>
            <a:r>
              <a:rPr lang="es-ES" b="1" dirty="0"/>
              <a:t>Transporte para Emergencias:</a:t>
            </a:r>
            <a:r>
              <a:rPr lang="es-ES" dirty="0"/>
              <a:t> Durante eventos de emergencia, como desastres naturales o fallos en infraestructura, el transporte de recursos y equipos necesarios para la respuesta puede recibir máxima prioridad.</a:t>
            </a:r>
          </a:p>
          <a:p>
            <a:pPr>
              <a:buFont typeface="Arial" panose="020B0604020202020204" pitchFamily="34" charset="0"/>
              <a:buChar char="•"/>
            </a:pPr>
            <a:r>
              <a:rPr lang="es-ES" b="1" dirty="0"/>
              <a:t>Mantenimiento de Infraestructura:</a:t>
            </a:r>
            <a:r>
              <a:rPr lang="es-ES" dirty="0"/>
              <a:t> Durante el mantenimiento programado, la prioridad puede ajustarse para minimizar el impacto en el suministro.</a:t>
            </a:r>
          </a:p>
          <a:p>
            <a:endParaRPr lang="es-ES" dirty="0"/>
          </a:p>
        </p:txBody>
      </p:sp>
    </p:spTree>
    <p:extLst>
      <p:ext uri="{BB962C8B-B14F-4D97-AF65-F5344CB8AC3E}">
        <p14:creationId xmlns:p14="http://schemas.microsoft.com/office/powerpoint/2010/main" val="2503930836"/>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AA19E6F5-05DC-9995-611E-161294A54025}"/>
              </a:ext>
            </a:extLst>
          </p:cNvPr>
          <p:cNvSpPr>
            <a:spLocks noGrp="1"/>
          </p:cNvSpPr>
          <p:nvPr>
            <p:ph type="title"/>
          </p:nvPr>
        </p:nvSpPr>
        <p:spPr>
          <a:xfrm>
            <a:off x="838199" y="183009"/>
            <a:ext cx="10515600" cy="996053"/>
          </a:xfrm>
        </p:spPr>
        <p:txBody>
          <a:bodyPr>
            <a:normAutofit/>
          </a:bodyPr>
          <a:lstStyle/>
          <a:p>
            <a:endParaRPr lang="es-ES" sz="2800" dirty="0"/>
          </a:p>
        </p:txBody>
      </p:sp>
      <p:sp>
        <p:nvSpPr>
          <p:cNvPr id="3" name="Marcador de contenido 2">
            <a:extLst>
              <a:ext uri="{FF2B5EF4-FFF2-40B4-BE49-F238E27FC236}">
                <a16:creationId xmlns:a16="http://schemas.microsoft.com/office/drawing/2014/main" id="{9A3A338C-2F44-961B-B316-9D3B1B3352AF}"/>
              </a:ext>
            </a:extLst>
          </p:cNvPr>
          <p:cNvSpPr>
            <a:spLocks noGrp="1"/>
          </p:cNvSpPr>
          <p:nvPr>
            <p:ph idx="1"/>
          </p:nvPr>
        </p:nvSpPr>
        <p:spPr>
          <a:xfrm>
            <a:off x="838199" y="1387930"/>
            <a:ext cx="11032671" cy="4789034"/>
          </a:xfrm>
        </p:spPr>
        <p:txBody>
          <a:bodyPr>
            <a:normAutofit/>
          </a:bodyPr>
          <a:lstStyle/>
          <a:p>
            <a:pPr algn="just"/>
            <a:r>
              <a:rPr lang="es-ES" dirty="0"/>
              <a:t>La </a:t>
            </a:r>
            <a:r>
              <a:rPr lang="es-ES" b="1" dirty="0"/>
              <a:t>prioridad de transporte</a:t>
            </a:r>
            <a:r>
              <a:rPr lang="es-ES" dirty="0"/>
              <a:t> en el sector de petróleo y gas es esencial para gestionar eficientemente la infraestructura de transporte, optimizar la capacidad y asegurar un suministro continuo. Los factores que determinan la prioridad incluyen la demanda del mercado, consideraciones de seguridad, capacidad de infraestructura, consideraciones económicas y regulaciones. Implementar una estrategia de prioridad de transporte efectiva requiere una planificación adecuada, optimización de rutas, comunicación clara y monitoreo en tiempo real.</a:t>
            </a:r>
          </a:p>
        </p:txBody>
      </p:sp>
    </p:spTree>
    <p:extLst>
      <p:ext uri="{BB962C8B-B14F-4D97-AF65-F5344CB8AC3E}">
        <p14:creationId xmlns:p14="http://schemas.microsoft.com/office/powerpoint/2010/main" val="198065464"/>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AA19E6F5-05DC-9995-611E-161294A54025}"/>
              </a:ext>
            </a:extLst>
          </p:cNvPr>
          <p:cNvSpPr>
            <a:spLocks noGrp="1"/>
          </p:cNvSpPr>
          <p:nvPr>
            <p:ph type="title"/>
          </p:nvPr>
        </p:nvSpPr>
        <p:spPr>
          <a:xfrm>
            <a:off x="838199" y="183009"/>
            <a:ext cx="9236530" cy="1204921"/>
          </a:xfrm>
        </p:spPr>
        <p:txBody>
          <a:bodyPr>
            <a:normAutofit/>
          </a:bodyPr>
          <a:lstStyle/>
          <a:p>
            <a:r>
              <a:rPr lang="es-ES" sz="2400" dirty="0"/>
              <a:t>TRANSPORTE:CONSTRUCCION DE UN GASEODUCTO,OPERACIÓN Y MANTENIMIENTO DE DUCTOS,SISTEMA SCADA</a:t>
            </a:r>
          </a:p>
        </p:txBody>
      </p:sp>
      <p:sp>
        <p:nvSpPr>
          <p:cNvPr id="3" name="Marcador de contenido 2">
            <a:extLst>
              <a:ext uri="{FF2B5EF4-FFF2-40B4-BE49-F238E27FC236}">
                <a16:creationId xmlns:a16="http://schemas.microsoft.com/office/drawing/2014/main" id="{9A3A338C-2F44-961B-B316-9D3B1B3352AF}"/>
              </a:ext>
            </a:extLst>
          </p:cNvPr>
          <p:cNvSpPr>
            <a:spLocks noGrp="1"/>
          </p:cNvSpPr>
          <p:nvPr>
            <p:ph idx="1"/>
          </p:nvPr>
        </p:nvSpPr>
        <p:spPr>
          <a:xfrm>
            <a:off x="838199" y="1387930"/>
            <a:ext cx="11032671" cy="4789034"/>
          </a:xfrm>
        </p:spPr>
        <p:txBody>
          <a:bodyPr>
            <a:normAutofit fontScale="92500" lnSpcReduction="10000"/>
          </a:bodyPr>
          <a:lstStyle/>
          <a:p>
            <a:pPr marL="0" indent="0" algn="just">
              <a:buNone/>
            </a:pPr>
            <a:r>
              <a:rPr lang="es-ES" b="1" dirty="0"/>
              <a:t>Construcción de Gaseoducto.</a:t>
            </a:r>
          </a:p>
          <a:p>
            <a:pPr algn="just"/>
            <a:r>
              <a:rPr lang="es-ES" dirty="0"/>
              <a:t>La construcción de gasoductos  es un proceso complejo que implica varios pasos técnicos, normativos y administrativos.</a:t>
            </a:r>
          </a:p>
          <a:p>
            <a:pPr marL="0" indent="0" algn="just">
              <a:buNone/>
            </a:pPr>
            <a:r>
              <a:rPr lang="es-ES" b="1" dirty="0"/>
              <a:t>Planificación y Estudio de Viabilidad</a:t>
            </a:r>
          </a:p>
          <a:p>
            <a:pPr algn="just">
              <a:buFont typeface="Arial" panose="020B0604020202020204" pitchFamily="34" charset="0"/>
              <a:buChar char="•"/>
            </a:pPr>
            <a:r>
              <a:rPr lang="es-ES" b="1" dirty="0"/>
              <a:t>Estudios Preliminares</a:t>
            </a:r>
            <a:r>
              <a:rPr lang="es-ES" dirty="0"/>
              <a:t>: Antes de iniciar la construcción, se realizan estudios de viabilidad que incluyen evaluaciones técnicas, económicas, y ambientales. Esto incluye estudios de impacto ambiental, análisis de suelo, y estudios de demanda para asegurar que el gasoducto satisfaga las necesidades futuras.</a:t>
            </a:r>
          </a:p>
          <a:p>
            <a:pPr algn="just">
              <a:buFont typeface="Arial" panose="020B0604020202020204" pitchFamily="34" charset="0"/>
              <a:buChar char="•"/>
            </a:pPr>
            <a:r>
              <a:rPr lang="es-ES" b="1" dirty="0"/>
              <a:t>Permisos y Licencias</a:t>
            </a:r>
            <a:r>
              <a:rPr lang="es-ES" dirty="0"/>
              <a:t>: La construcción de un gasoducto requiere obtener permisos de diversas autoridades. En Perú, estos permisos pueden incluir aprobaciones del </a:t>
            </a:r>
            <a:r>
              <a:rPr lang="es-ES" b="1" dirty="0"/>
              <a:t>Ministerio de Energía y Minas (MEM)</a:t>
            </a:r>
            <a:r>
              <a:rPr lang="es-ES" dirty="0"/>
              <a:t>, la </a:t>
            </a:r>
            <a:r>
              <a:rPr lang="es-ES" b="1" dirty="0"/>
              <a:t>Agencia de Evaluación y Fiscalización Ambiental (OEFA)</a:t>
            </a:r>
            <a:r>
              <a:rPr lang="es-ES" dirty="0"/>
              <a:t>, y permisos locales de los gobiernos regionales y municipales.</a:t>
            </a:r>
          </a:p>
          <a:p>
            <a:endParaRPr lang="es-ES" dirty="0"/>
          </a:p>
        </p:txBody>
      </p:sp>
    </p:spTree>
    <p:extLst>
      <p:ext uri="{BB962C8B-B14F-4D97-AF65-F5344CB8AC3E}">
        <p14:creationId xmlns:p14="http://schemas.microsoft.com/office/powerpoint/2010/main" val="4164386523"/>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AA19E6F5-05DC-9995-611E-161294A54025}"/>
              </a:ext>
            </a:extLst>
          </p:cNvPr>
          <p:cNvSpPr>
            <a:spLocks noGrp="1"/>
          </p:cNvSpPr>
          <p:nvPr>
            <p:ph type="title"/>
          </p:nvPr>
        </p:nvSpPr>
        <p:spPr>
          <a:xfrm>
            <a:off x="838199" y="183009"/>
            <a:ext cx="10515600" cy="996053"/>
          </a:xfrm>
        </p:spPr>
        <p:txBody>
          <a:bodyPr>
            <a:normAutofit/>
          </a:bodyPr>
          <a:lstStyle/>
          <a:p>
            <a:endParaRPr lang="es-ES" sz="2800" dirty="0"/>
          </a:p>
        </p:txBody>
      </p:sp>
      <p:sp>
        <p:nvSpPr>
          <p:cNvPr id="3" name="Marcador de contenido 2">
            <a:extLst>
              <a:ext uri="{FF2B5EF4-FFF2-40B4-BE49-F238E27FC236}">
                <a16:creationId xmlns:a16="http://schemas.microsoft.com/office/drawing/2014/main" id="{9A3A338C-2F44-961B-B316-9D3B1B3352AF}"/>
              </a:ext>
            </a:extLst>
          </p:cNvPr>
          <p:cNvSpPr>
            <a:spLocks noGrp="1"/>
          </p:cNvSpPr>
          <p:nvPr>
            <p:ph idx="1"/>
          </p:nvPr>
        </p:nvSpPr>
        <p:spPr>
          <a:xfrm>
            <a:off x="838199" y="1387930"/>
            <a:ext cx="11032671" cy="4789034"/>
          </a:xfrm>
        </p:spPr>
        <p:txBody>
          <a:bodyPr>
            <a:normAutofit fontScale="92500"/>
          </a:bodyPr>
          <a:lstStyle/>
          <a:p>
            <a:pPr marL="0" indent="0">
              <a:buNone/>
            </a:pPr>
            <a:r>
              <a:rPr lang="es-ES" b="1" dirty="0"/>
              <a:t>Diseño y Ingeniería</a:t>
            </a:r>
          </a:p>
          <a:p>
            <a:pPr>
              <a:buFont typeface="Arial" panose="020B0604020202020204" pitchFamily="34" charset="0"/>
              <a:buChar char="•"/>
            </a:pPr>
            <a:r>
              <a:rPr lang="es-ES" b="1" dirty="0"/>
              <a:t>Diseño del Gasoducto</a:t>
            </a:r>
            <a:r>
              <a:rPr lang="es-ES" dirty="0"/>
              <a:t>: El diseño del gasoducto incluye la selección de materiales (como acero o polietileno para tuberías), el cálculo de la presión de operación, y la disposición de estaciones de compresión, válvulas, y sistemas de seguridad. Los diseños deben cumplir con las normativas peruanas, como la </a:t>
            </a:r>
            <a:r>
              <a:rPr lang="es-ES" b="1" dirty="0"/>
              <a:t>Norma Técnica Peruana (NTP)</a:t>
            </a:r>
            <a:r>
              <a:rPr lang="es-ES" dirty="0"/>
              <a:t> y las directrices de </a:t>
            </a:r>
            <a:r>
              <a:rPr lang="es-ES" b="1" dirty="0"/>
              <a:t>Osinergmin</a:t>
            </a:r>
            <a:r>
              <a:rPr lang="es-ES" dirty="0"/>
              <a:t> (Organismo Supervisor de la Inversión en Energía y Minería).</a:t>
            </a:r>
          </a:p>
          <a:p>
            <a:pPr>
              <a:buFont typeface="Arial" panose="020B0604020202020204" pitchFamily="34" charset="0"/>
              <a:buChar char="•"/>
            </a:pPr>
            <a:r>
              <a:rPr lang="es-ES" b="1" dirty="0"/>
              <a:t>Seguridad y Normativas</a:t>
            </a:r>
            <a:r>
              <a:rPr lang="es-ES" dirty="0"/>
              <a:t>: El diseño debe seguir los estándares de seguridad y calidad establecidos en el </a:t>
            </a:r>
            <a:r>
              <a:rPr lang="es-ES" b="1" dirty="0"/>
              <a:t>Reglamento de Seguridad para Instalaciones de Hidrocarburos</a:t>
            </a:r>
            <a:r>
              <a:rPr lang="es-ES" dirty="0"/>
              <a:t> y otros documentos normativos relevantes. En Perú, la </a:t>
            </a:r>
            <a:r>
              <a:rPr lang="es-ES" b="1" dirty="0"/>
              <a:t>Ley de Hidrocarburos</a:t>
            </a:r>
            <a:r>
              <a:rPr lang="es-ES" dirty="0"/>
              <a:t> y el </a:t>
            </a:r>
            <a:r>
              <a:rPr lang="es-ES" b="1" dirty="0"/>
              <a:t>Reglamento de Transporte de Hidrocarburos</a:t>
            </a:r>
            <a:r>
              <a:rPr lang="es-ES" dirty="0"/>
              <a:t> establecen los requisitos para la construcción y operación de gasoductos.</a:t>
            </a:r>
          </a:p>
          <a:p>
            <a:endParaRPr lang="es-ES" dirty="0"/>
          </a:p>
        </p:txBody>
      </p:sp>
    </p:spTree>
    <p:extLst>
      <p:ext uri="{BB962C8B-B14F-4D97-AF65-F5344CB8AC3E}">
        <p14:creationId xmlns:p14="http://schemas.microsoft.com/office/powerpoint/2010/main" val="2233923104"/>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AA19E6F5-05DC-9995-611E-161294A54025}"/>
              </a:ext>
            </a:extLst>
          </p:cNvPr>
          <p:cNvSpPr>
            <a:spLocks noGrp="1"/>
          </p:cNvSpPr>
          <p:nvPr>
            <p:ph type="title"/>
          </p:nvPr>
        </p:nvSpPr>
        <p:spPr>
          <a:xfrm>
            <a:off x="838199" y="183009"/>
            <a:ext cx="10515600" cy="996053"/>
          </a:xfrm>
        </p:spPr>
        <p:txBody>
          <a:bodyPr>
            <a:normAutofit/>
          </a:bodyPr>
          <a:lstStyle/>
          <a:p>
            <a:endParaRPr lang="es-ES" sz="2800" dirty="0"/>
          </a:p>
        </p:txBody>
      </p:sp>
      <p:sp>
        <p:nvSpPr>
          <p:cNvPr id="3" name="Marcador de contenido 2">
            <a:extLst>
              <a:ext uri="{FF2B5EF4-FFF2-40B4-BE49-F238E27FC236}">
                <a16:creationId xmlns:a16="http://schemas.microsoft.com/office/drawing/2014/main" id="{9A3A338C-2F44-961B-B316-9D3B1B3352AF}"/>
              </a:ext>
            </a:extLst>
          </p:cNvPr>
          <p:cNvSpPr>
            <a:spLocks noGrp="1"/>
          </p:cNvSpPr>
          <p:nvPr>
            <p:ph idx="1"/>
          </p:nvPr>
        </p:nvSpPr>
        <p:spPr>
          <a:xfrm>
            <a:off x="838199" y="1387930"/>
            <a:ext cx="11032671" cy="4789034"/>
          </a:xfrm>
        </p:spPr>
        <p:txBody>
          <a:bodyPr>
            <a:normAutofit fontScale="92500"/>
          </a:bodyPr>
          <a:lstStyle/>
          <a:p>
            <a:pPr marL="0" indent="0">
              <a:buNone/>
            </a:pPr>
            <a:r>
              <a:rPr lang="es-ES" b="1" dirty="0"/>
              <a:t>Construcción</a:t>
            </a:r>
          </a:p>
          <a:p>
            <a:pPr>
              <a:buFont typeface="Arial" panose="020B0604020202020204" pitchFamily="34" charset="0"/>
              <a:buChar char="•"/>
            </a:pPr>
            <a:r>
              <a:rPr lang="es-ES" b="1" dirty="0"/>
              <a:t>Preparación del Terreno</a:t>
            </a:r>
            <a:r>
              <a:rPr lang="es-ES" dirty="0"/>
              <a:t>: La construcción comienza con la preparación del terreno, que incluye la limpieza del área, la excavación de zanjas, y la preparación para el tendido de tuberías.</a:t>
            </a:r>
          </a:p>
          <a:p>
            <a:pPr>
              <a:buFont typeface="Arial" panose="020B0604020202020204" pitchFamily="34" charset="0"/>
              <a:buChar char="•"/>
            </a:pPr>
            <a:r>
              <a:rPr lang="es-ES" b="1" dirty="0"/>
              <a:t>Instalación de Tuberías</a:t>
            </a:r>
            <a:r>
              <a:rPr lang="es-ES" dirty="0"/>
              <a:t>: Las tuberías se colocan en la zanja, se unen mediante soldadura o técnicas de unión, y se realizan pruebas de presión para asegurar la integridad del sistema. En Perú, la calidad de la soldadura y la instalación deben cumplir con los estándares internacionales y locales.</a:t>
            </a:r>
          </a:p>
          <a:p>
            <a:pPr>
              <a:buFont typeface="Arial" panose="020B0604020202020204" pitchFamily="34" charset="0"/>
              <a:buChar char="•"/>
            </a:pPr>
            <a:r>
              <a:rPr lang="es-ES" b="1" dirty="0"/>
              <a:t>Construcción de Infraestructura Adicional</a:t>
            </a:r>
            <a:r>
              <a:rPr lang="es-ES" dirty="0"/>
              <a:t>: Esto incluye la instalación de estaciones de compresión, válvulas, y sistemas de control. También se construyen instalaciones de medición para monitorear el flujo y la presión del gas.</a:t>
            </a:r>
          </a:p>
          <a:p>
            <a:endParaRPr lang="es-ES" dirty="0"/>
          </a:p>
        </p:txBody>
      </p:sp>
    </p:spTree>
    <p:extLst>
      <p:ext uri="{BB962C8B-B14F-4D97-AF65-F5344CB8AC3E}">
        <p14:creationId xmlns:p14="http://schemas.microsoft.com/office/powerpoint/2010/main" val="4251235520"/>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AA19E6F5-05DC-9995-611E-161294A54025}"/>
              </a:ext>
            </a:extLst>
          </p:cNvPr>
          <p:cNvSpPr>
            <a:spLocks noGrp="1"/>
          </p:cNvSpPr>
          <p:nvPr>
            <p:ph type="title"/>
          </p:nvPr>
        </p:nvSpPr>
        <p:spPr>
          <a:xfrm>
            <a:off x="838199" y="183009"/>
            <a:ext cx="10515600" cy="996053"/>
          </a:xfrm>
        </p:spPr>
        <p:txBody>
          <a:bodyPr>
            <a:normAutofit/>
          </a:bodyPr>
          <a:lstStyle/>
          <a:p>
            <a:endParaRPr lang="es-ES" sz="2800" dirty="0"/>
          </a:p>
        </p:txBody>
      </p:sp>
      <p:sp>
        <p:nvSpPr>
          <p:cNvPr id="3" name="Marcador de contenido 2">
            <a:extLst>
              <a:ext uri="{FF2B5EF4-FFF2-40B4-BE49-F238E27FC236}">
                <a16:creationId xmlns:a16="http://schemas.microsoft.com/office/drawing/2014/main" id="{9A3A338C-2F44-961B-B316-9D3B1B3352AF}"/>
              </a:ext>
            </a:extLst>
          </p:cNvPr>
          <p:cNvSpPr>
            <a:spLocks noGrp="1"/>
          </p:cNvSpPr>
          <p:nvPr>
            <p:ph idx="1"/>
          </p:nvPr>
        </p:nvSpPr>
        <p:spPr>
          <a:xfrm>
            <a:off x="838199" y="1387930"/>
            <a:ext cx="11032671" cy="4789034"/>
          </a:xfrm>
        </p:spPr>
        <p:txBody>
          <a:bodyPr>
            <a:normAutofit/>
          </a:bodyPr>
          <a:lstStyle/>
          <a:p>
            <a:pPr marL="0" indent="0">
              <a:buNone/>
            </a:pPr>
            <a:r>
              <a:rPr lang="es-ES" b="1" dirty="0"/>
              <a:t>Operación y Mantenimiento</a:t>
            </a:r>
          </a:p>
          <a:p>
            <a:pPr>
              <a:buFont typeface="Arial" panose="020B0604020202020204" pitchFamily="34" charset="0"/>
              <a:buChar char="•"/>
            </a:pPr>
            <a:r>
              <a:rPr lang="es-ES" b="1" dirty="0"/>
              <a:t>Sistema SCADA</a:t>
            </a:r>
            <a:r>
              <a:rPr lang="es-ES" dirty="0"/>
              <a:t>: Se instala un sistema SCADA para la supervisión y control en tiempo real del gasoducto. Esto permite monitorear la presión, el flujo, y otras variables críticas, además de detectar y responder a incidentes de manera rápida.</a:t>
            </a:r>
          </a:p>
          <a:p>
            <a:pPr>
              <a:buFont typeface="Arial" panose="020B0604020202020204" pitchFamily="34" charset="0"/>
              <a:buChar char="•"/>
            </a:pPr>
            <a:r>
              <a:rPr lang="es-ES" b="1" dirty="0"/>
              <a:t>Mantenimiento Regular</a:t>
            </a:r>
            <a:r>
              <a:rPr lang="es-ES" dirty="0"/>
              <a:t>: Se implementa un programa de mantenimiento regular que incluye inspecciones periódicas, pruebas de presión, y revisiones de los equipos y las tuberías. La normativa peruana exige un mantenimiento riguroso para garantizar la seguridad y la continuidad del servicio.</a:t>
            </a:r>
          </a:p>
          <a:p>
            <a:endParaRPr lang="es-ES" dirty="0"/>
          </a:p>
        </p:txBody>
      </p:sp>
    </p:spTree>
    <p:extLst>
      <p:ext uri="{BB962C8B-B14F-4D97-AF65-F5344CB8AC3E}">
        <p14:creationId xmlns:p14="http://schemas.microsoft.com/office/powerpoint/2010/main" val="1746838645"/>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AA19E6F5-05DC-9995-611E-161294A54025}"/>
              </a:ext>
            </a:extLst>
          </p:cNvPr>
          <p:cNvSpPr>
            <a:spLocks noGrp="1"/>
          </p:cNvSpPr>
          <p:nvPr>
            <p:ph type="title"/>
          </p:nvPr>
        </p:nvSpPr>
        <p:spPr>
          <a:xfrm>
            <a:off x="838199" y="183009"/>
            <a:ext cx="10515600" cy="996053"/>
          </a:xfrm>
        </p:spPr>
        <p:txBody>
          <a:bodyPr>
            <a:normAutofit/>
          </a:bodyPr>
          <a:lstStyle/>
          <a:p>
            <a:endParaRPr lang="es-ES" sz="2800" dirty="0"/>
          </a:p>
        </p:txBody>
      </p:sp>
      <p:sp>
        <p:nvSpPr>
          <p:cNvPr id="3" name="Marcador de contenido 2">
            <a:extLst>
              <a:ext uri="{FF2B5EF4-FFF2-40B4-BE49-F238E27FC236}">
                <a16:creationId xmlns:a16="http://schemas.microsoft.com/office/drawing/2014/main" id="{9A3A338C-2F44-961B-B316-9D3B1B3352AF}"/>
              </a:ext>
            </a:extLst>
          </p:cNvPr>
          <p:cNvSpPr>
            <a:spLocks noGrp="1"/>
          </p:cNvSpPr>
          <p:nvPr>
            <p:ph idx="1"/>
          </p:nvPr>
        </p:nvSpPr>
        <p:spPr>
          <a:xfrm>
            <a:off x="838199" y="1387930"/>
            <a:ext cx="11032671" cy="4789034"/>
          </a:xfrm>
        </p:spPr>
        <p:txBody>
          <a:bodyPr>
            <a:normAutofit/>
          </a:bodyPr>
          <a:lstStyle/>
          <a:p>
            <a:pPr marL="0" indent="0">
              <a:buNone/>
            </a:pPr>
            <a:r>
              <a:rPr lang="es-ES" b="1" dirty="0"/>
              <a:t>Aspectos Ambientales y Sociales</a:t>
            </a:r>
          </a:p>
          <a:p>
            <a:pPr>
              <a:buFont typeface="Arial" panose="020B0604020202020204" pitchFamily="34" charset="0"/>
              <a:buChar char="•"/>
            </a:pPr>
            <a:r>
              <a:rPr lang="es-ES" b="1" dirty="0"/>
              <a:t>Evaluación de Impacto Ambiental (EIA)</a:t>
            </a:r>
            <a:r>
              <a:rPr lang="es-ES" dirty="0"/>
              <a:t>: En Perú, cualquier proyecto de construcción de gasoductos debe pasar por una Evaluación de Impacto Ambiental que evalúe los posibles efectos negativos sobre el medio ambiente y las comunidades locales. Las medidas de mitigación deben ser implementadas para minimizar el impacto ambiental.</a:t>
            </a:r>
          </a:p>
          <a:p>
            <a:pPr>
              <a:buFont typeface="Arial" panose="020B0604020202020204" pitchFamily="34" charset="0"/>
              <a:buChar char="•"/>
            </a:pPr>
            <a:r>
              <a:rPr lang="es-ES" b="1" dirty="0"/>
              <a:t>Consulta y Participación Social</a:t>
            </a:r>
            <a:r>
              <a:rPr lang="es-ES" dirty="0"/>
              <a:t>: Es importante realizar consultas con las comunidades afectadas por la construcción del gasoducto. La legislación peruana requiere la participación de las comunidades locales para garantizar que se aborden sus preocupaciones y se obtenga su consentimiento para la ejecución del proyecto.</a:t>
            </a:r>
          </a:p>
          <a:p>
            <a:endParaRPr lang="es-ES" dirty="0"/>
          </a:p>
        </p:txBody>
      </p:sp>
    </p:spTree>
    <p:extLst>
      <p:ext uri="{BB962C8B-B14F-4D97-AF65-F5344CB8AC3E}">
        <p14:creationId xmlns:p14="http://schemas.microsoft.com/office/powerpoint/2010/main" val="2854913613"/>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AA19E6F5-05DC-9995-611E-161294A54025}"/>
              </a:ext>
            </a:extLst>
          </p:cNvPr>
          <p:cNvSpPr>
            <a:spLocks noGrp="1"/>
          </p:cNvSpPr>
          <p:nvPr>
            <p:ph type="title"/>
          </p:nvPr>
        </p:nvSpPr>
        <p:spPr>
          <a:xfrm>
            <a:off x="838199" y="183009"/>
            <a:ext cx="10515600" cy="996053"/>
          </a:xfrm>
        </p:spPr>
        <p:txBody>
          <a:bodyPr>
            <a:normAutofit/>
          </a:bodyPr>
          <a:lstStyle/>
          <a:p>
            <a:endParaRPr lang="es-ES" sz="2800" dirty="0"/>
          </a:p>
        </p:txBody>
      </p:sp>
      <p:sp>
        <p:nvSpPr>
          <p:cNvPr id="3" name="Marcador de contenido 2">
            <a:extLst>
              <a:ext uri="{FF2B5EF4-FFF2-40B4-BE49-F238E27FC236}">
                <a16:creationId xmlns:a16="http://schemas.microsoft.com/office/drawing/2014/main" id="{9A3A338C-2F44-961B-B316-9D3B1B3352AF}"/>
              </a:ext>
            </a:extLst>
          </p:cNvPr>
          <p:cNvSpPr>
            <a:spLocks noGrp="1"/>
          </p:cNvSpPr>
          <p:nvPr>
            <p:ph idx="1"/>
          </p:nvPr>
        </p:nvSpPr>
        <p:spPr>
          <a:xfrm>
            <a:off x="838199" y="1387930"/>
            <a:ext cx="11032671" cy="4789034"/>
          </a:xfrm>
        </p:spPr>
        <p:txBody>
          <a:bodyPr>
            <a:normAutofit/>
          </a:bodyPr>
          <a:lstStyle/>
          <a:p>
            <a:pPr marL="0" indent="0">
              <a:buNone/>
            </a:pPr>
            <a:r>
              <a:rPr lang="es-ES" b="1" dirty="0"/>
              <a:t>Cumplimiento Regulatorio</a:t>
            </a:r>
          </a:p>
          <a:p>
            <a:pPr>
              <a:buFont typeface="Arial" panose="020B0604020202020204" pitchFamily="34" charset="0"/>
              <a:buChar char="•"/>
            </a:pPr>
            <a:r>
              <a:rPr lang="es-ES" b="1" dirty="0"/>
              <a:t>Regulación y Supervisión</a:t>
            </a:r>
            <a:r>
              <a:rPr lang="es-ES" dirty="0"/>
              <a:t>: El gasoducto debe cumplir con las regulaciones establecidas por el </a:t>
            </a:r>
            <a:r>
              <a:rPr lang="es-ES" b="1" dirty="0"/>
              <a:t>Organismo Supervisor de la Inversión en Energía y Minería (Osinergmin)</a:t>
            </a:r>
            <a:r>
              <a:rPr lang="es-ES" dirty="0"/>
              <a:t>, que supervisa y regula el sector de hidrocarburos en Perú. Osinergmin asegura que el gasoducto opere de manera segura y eficiente, cumpliendo con los estándares técnicos y de seguridad.</a:t>
            </a:r>
          </a:p>
          <a:p>
            <a:pPr>
              <a:buFont typeface="Arial" panose="020B0604020202020204" pitchFamily="34" charset="0"/>
              <a:buChar char="•"/>
            </a:pPr>
            <a:r>
              <a:rPr lang="es-ES" b="1" dirty="0"/>
              <a:t>Certificación y Aprobación</a:t>
            </a:r>
            <a:r>
              <a:rPr lang="es-ES" dirty="0"/>
              <a:t>: Antes de entrar en operación, el gasoducto debe ser certificado y aprobado por las autoridades competentes, asegurando que cumple con todos los requisitos legales y técnicos.</a:t>
            </a:r>
          </a:p>
          <a:p>
            <a:endParaRPr lang="es-ES" dirty="0"/>
          </a:p>
        </p:txBody>
      </p:sp>
    </p:spTree>
    <p:extLst>
      <p:ext uri="{BB962C8B-B14F-4D97-AF65-F5344CB8AC3E}">
        <p14:creationId xmlns:p14="http://schemas.microsoft.com/office/powerpoint/2010/main" val="2284733483"/>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AA19E6F5-05DC-9995-611E-161294A54025}"/>
              </a:ext>
            </a:extLst>
          </p:cNvPr>
          <p:cNvSpPr>
            <a:spLocks noGrp="1"/>
          </p:cNvSpPr>
          <p:nvPr>
            <p:ph type="title"/>
          </p:nvPr>
        </p:nvSpPr>
        <p:spPr>
          <a:xfrm>
            <a:off x="838199" y="183009"/>
            <a:ext cx="10515600" cy="996053"/>
          </a:xfrm>
        </p:spPr>
        <p:txBody>
          <a:bodyPr>
            <a:normAutofit/>
          </a:bodyPr>
          <a:lstStyle/>
          <a:p>
            <a:endParaRPr lang="es-ES" sz="2800" dirty="0"/>
          </a:p>
        </p:txBody>
      </p:sp>
      <p:sp>
        <p:nvSpPr>
          <p:cNvPr id="3" name="Marcador de contenido 2">
            <a:extLst>
              <a:ext uri="{FF2B5EF4-FFF2-40B4-BE49-F238E27FC236}">
                <a16:creationId xmlns:a16="http://schemas.microsoft.com/office/drawing/2014/main" id="{9A3A338C-2F44-961B-B316-9D3B1B3352AF}"/>
              </a:ext>
            </a:extLst>
          </p:cNvPr>
          <p:cNvSpPr>
            <a:spLocks noGrp="1"/>
          </p:cNvSpPr>
          <p:nvPr>
            <p:ph idx="1"/>
          </p:nvPr>
        </p:nvSpPr>
        <p:spPr>
          <a:xfrm>
            <a:off x="838199" y="1387930"/>
            <a:ext cx="11032671" cy="4789034"/>
          </a:xfrm>
        </p:spPr>
        <p:txBody>
          <a:bodyPr>
            <a:normAutofit/>
          </a:bodyPr>
          <a:lstStyle/>
          <a:p>
            <a:pPr marL="0" indent="0">
              <a:buNone/>
            </a:pPr>
            <a:r>
              <a:rPr lang="es-ES" b="1" dirty="0"/>
              <a:t>Contexto Adicional en Perú</a:t>
            </a:r>
          </a:p>
          <a:p>
            <a:pPr>
              <a:buFont typeface="Arial" panose="020B0604020202020204" pitchFamily="34" charset="0"/>
              <a:buChar char="•"/>
            </a:pPr>
            <a:r>
              <a:rPr lang="es-ES" b="1" dirty="0"/>
              <a:t>Geografía y Clima</a:t>
            </a:r>
            <a:r>
              <a:rPr lang="es-ES" dirty="0"/>
              <a:t>: Perú presenta desafíos geográficos y climáticos únicos, como la topografía montañosa y las condiciones climáticas extremas en ciertas regiones. Estos factores deben ser considerados durante la planificación y construcción para garantizar la durabilidad y seguridad del gasoducto.</a:t>
            </a:r>
          </a:p>
          <a:p>
            <a:pPr>
              <a:buFont typeface="Arial" panose="020B0604020202020204" pitchFamily="34" charset="0"/>
              <a:buChar char="•"/>
            </a:pPr>
            <a:r>
              <a:rPr lang="es-ES" b="1" dirty="0"/>
              <a:t>Inversión y Financiamiento</a:t>
            </a:r>
            <a:r>
              <a:rPr lang="es-ES" dirty="0"/>
              <a:t>: La construcción de gasoductos en Perú puede requerir inversiones significativas. El financiamiento puede provenir de fondos públicos, inversiones privadas, o asociaciones público-privadas.</a:t>
            </a:r>
          </a:p>
          <a:p>
            <a:endParaRPr lang="es-ES" dirty="0"/>
          </a:p>
        </p:txBody>
      </p:sp>
    </p:spTree>
    <p:extLst>
      <p:ext uri="{BB962C8B-B14F-4D97-AF65-F5344CB8AC3E}">
        <p14:creationId xmlns:p14="http://schemas.microsoft.com/office/powerpoint/2010/main" val="4263469735"/>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AA19E6F5-05DC-9995-611E-161294A54025}"/>
              </a:ext>
            </a:extLst>
          </p:cNvPr>
          <p:cNvSpPr>
            <a:spLocks noGrp="1"/>
          </p:cNvSpPr>
          <p:nvPr>
            <p:ph type="title"/>
          </p:nvPr>
        </p:nvSpPr>
        <p:spPr>
          <a:xfrm>
            <a:off x="838199" y="183009"/>
            <a:ext cx="10515600" cy="996053"/>
          </a:xfrm>
        </p:spPr>
        <p:txBody>
          <a:bodyPr>
            <a:normAutofit/>
          </a:bodyPr>
          <a:lstStyle/>
          <a:p>
            <a:r>
              <a:rPr lang="es-ES" sz="2800" dirty="0"/>
              <a:t>OPERACIÓN Y MANTENIMIENTO DE DUCTOS</a:t>
            </a:r>
          </a:p>
        </p:txBody>
      </p:sp>
      <p:sp>
        <p:nvSpPr>
          <p:cNvPr id="3" name="Marcador de contenido 2">
            <a:extLst>
              <a:ext uri="{FF2B5EF4-FFF2-40B4-BE49-F238E27FC236}">
                <a16:creationId xmlns:a16="http://schemas.microsoft.com/office/drawing/2014/main" id="{9A3A338C-2F44-961B-B316-9D3B1B3352AF}"/>
              </a:ext>
            </a:extLst>
          </p:cNvPr>
          <p:cNvSpPr>
            <a:spLocks noGrp="1"/>
          </p:cNvSpPr>
          <p:nvPr>
            <p:ph idx="1"/>
          </p:nvPr>
        </p:nvSpPr>
        <p:spPr>
          <a:xfrm>
            <a:off x="838199" y="1387930"/>
            <a:ext cx="11032671" cy="4789034"/>
          </a:xfrm>
        </p:spPr>
        <p:txBody>
          <a:bodyPr>
            <a:normAutofit fontScale="85000" lnSpcReduction="20000"/>
          </a:bodyPr>
          <a:lstStyle/>
          <a:p>
            <a:pPr algn="just"/>
            <a:r>
              <a:rPr lang="es-ES" dirty="0"/>
              <a:t>La operación y mantenimiento de ductos para el transporte de gas natural son cruciales para garantizar un suministro seguro, eficiente y continuo. Este proceso involucra una serie de actividades diseñadas para asegurar la integridad del sistema y la seguridad de las operaciones.</a:t>
            </a:r>
          </a:p>
          <a:p>
            <a:pPr algn="just"/>
            <a:r>
              <a:rPr lang="es-ES" b="1" dirty="0"/>
              <a:t>Operación de Ductos</a:t>
            </a:r>
          </a:p>
          <a:p>
            <a:pPr algn="just">
              <a:buFont typeface="Arial" panose="020B0604020202020204" pitchFamily="34" charset="0"/>
              <a:buChar char="•"/>
            </a:pPr>
            <a:r>
              <a:rPr lang="es-ES" b="1" dirty="0"/>
              <a:t>Control de Presión y Flujo</a:t>
            </a:r>
            <a:r>
              <a:rPr lang="es-ES" dirty="0"/>
              <a:t>: Los ductos operan bajo condiciones de presión específicas, que se controlan y monitorean continuamente. El gas natural se transporta a alta presión para facilitar su movimiento a lo largo del ducto. Los sistemas de control permiten ajustar la presión y el flujo del gas en tiempo real para mantener las condiciones óptimas de operación.</a:t>
            </a:r>
          </a:p>
          <a:p>
            <a:pPr algn="just">
              <a:buFont typeface="Arial" panose="020B0604020202020204" pitchFamily="34" charset="0"/>
              <a:buChar char="•"/>
            </a:pPr>
            <a:r>
              <a:rPr lang="es-ES" b="1" dirty="0"/>
              <a:t>Sistema SCADA</a:t>
            </a:r>
            <a:r>
              <a:rPr lang="es-ES" dirty="0"/>
              <a:t>: Un Sistema de Control y Adquisición de Datos (SCADA) es fundamental para la operación moderna de ductos. Este sistema permite la supervisión en tiempo real de todos los parámetros operacionales, como la presión, el flujo, la temperatura, y el estado de las válvulas. Además, SCADA facilita la detección temprana de problemas y la implementación de acciones correctivas.</a:t>
            </a:r>
          </a:p>
          <a:p>
            <a:pPr algn="just"/>
            <a:endParaRPr lang="es-ES" dirty="0"/>
          </a:p>
        </p:txBody>
      </p:sp>
    </p:spTree>
    <p:extLst>
      <p:ext uri="{BB962C8B-B14F-4D97-AF65-F5344CB8AC3E}">
        <p14:creationId xmlns:p14="http://schemas.microsoft.com/office/powerpoint/2010/main" val="3949628388"/>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AA19E6F5-05DC-9995-611E-161294A54025}"/>
              </a:ext>
            </a:extLst>
          </p:cNvPr>
          <p:cNvSpPr>
            <a:spLocks noGrp="1"/>
          </p:cNvSpPr>
          <p:nvPr>
            <p:ph type="title"/>
          </p:nvPr>
        </p:nvSpPr>
        <p:spPr>
          <a:xfrm>
            <a:off x="838199" y="183009"/>
            <a:ext cx="10515600" cy="996053"/>
          </a:xfrm>
        </p:spPr>
        <p:txBody>
          <a:bodyPr>
            <a:normAutofit/>
          </a:bodyPr>
          <a:lstStyle/>
          <a:p>
            <a:endParaRPr lang="es-ES" sz="2800" dirty="0"/>
          </a:p>
        </p:txBody>
      </p:sp>
      <p:sp>
        <p:nvSpPr>
          <p:cNvPr id="3" name="Marcador de contenido 2">
            <a:extLst>
              <a:ext uri="{FF2B5EF4-FFF2-40B4-BE49-F238E27FC236}">
                <a16:creationId xmlns:a16="http://schemas.microsoft.com/office/drawing/2014/main" id="{9A3A338C-2F44-961B-B316-9D3B1B3352AF}"/>
              </a:ext>
            </a:extLst>
          </p:cNvPr>
          <p:cNvSpPr>
            <a:spLocks noGrp="1"/>
          </p:cNvSpPr>
          <p:nvPr>
            <p:ph idx="1"/>
          </p:nvPr>
        </p:nvSpPr>
        <p:spPr>
          <a:xfrm>
            <a:off x="838199" y="1387930"/>
            <a:ext cx="11032671" cy="4789034"/>
          </a:xfrm>
        </p:spPr>
        <p:txBody>
          <a:bodyPr>
            <a:normAutofit/>
          </a:bodyPr>
          <a:lstStyle/>
          <a:p>
            <a:pPr algn="just"/>
            <a:r>
              <a:rPr lang="es-ES" b="1" dirty="0"/>
              <a:t>Estaciones de Compresión: </a:t>
            </a:r>
            <a:r>
              <a:rPr lang="es-ES" dirty="0"/>
              <a:t>En ductos largos, se instalan estaciones de compresión para mantener la presión del gas a lo largo del trayecto. Estas estaciones contienen compresores que aumentan la presión del gas para asegurar que llegue a su destino sin pérdidas de presión significativas.</a:t>
            </a:r>
          </a:p>
          <a:p>
            <a:pPr algn="just"/>
            <a:r>
              <a:rPr lang="es-ES" b="1" dirty="0"/>
              <a:t>Regulación y Medición: </a:t>
            </a:r>
            <a:r>
              <a:rPr lang="es-ES" dirty="0"/>
              <a:t>Se utilizan equipos de medición y regulación para controlar el flujo de gas y garantizar que cumpla con los requisitos contractuales y de seguridad. Los medidores de flujo, las válvulas reguladoras, y otros dispositivos aseguran que el gas se entregue en las cantidades y presiones correctas.</a:t>
            </a:r>
          </a:p>
        </p:txBody>
      </p:sp>
    </p:spTree>
    <p:extLst>
      <p:ext uri="{BB962C8B-B14F-4D97-AF65-F5344CB8AC3E}">
        <p14:creationId xmlns:p14="http://schemas.microsoft.com/office/powerpoint/2010/main" val="3952867773"/>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AA19E6F5-05DC-9995-611E-161294A54025}"/>
              </a:ext>
            </a:extLst>
          </p:cNvPr>
          <p:cNvSpPr>
            <a:spLocks noGrp="1"/>
          </p:cNvSpPr>
          <p:nvPr>
            <p:ph type="title"/>
          </p:nvPr>
        </p:nvSpPr>
        <p:spPr>
          <a:xfrm>
            <a:off x="838199" y="183009"/>
            <a:ext cx="10515600" cy="996053"/>
          </a:xfrm>
        </p:spPr>
        <p:txBody>
          <a:bodyPr>
            <a:normAutofit/>
          </a:bodyPr>
          <a:lstStyle/>
          <a:p>
            <a:endParaRPr lang="es-ES" sz="2800" dirty="0"/>
          </a:p>
        </p:txBody>
      </p:sp>
      <p:sp>
        <p:nvSpPr>
          <p:cNvPr id="3" name="Marcador de contenido 2">
            <a:extLst>
              <a:ext uri="{FF2B5EF4-FFF2-40B4-BE49-F238E27FC236}">
                <a16:creationId xmlns:a16="http://schemas.microsoft.com/office/drawing/2014/main" id="{9A3A338C-2F44-961B-B316-9D3B1B3352AF}"/>
              </a:ext>
            </a:extLst>
          </p:cNvPr>
          <p:cNvSpPr>
            <a:spLocks noGrp="1"/>
          </p:cNvSpPr>
          <p:nvPr>
            <p:ph idx="1"/>
          </p:nvPr>
        </p:nvSpPr>
        <p:spPr>
          <a:xfrm>
            <a:off x="838199" y="1387929"/>
            <a:ext cx="11032671" cy="5029199"/>
          </a:xfrm>
        </p:spPr>
        <p:txBody>
          <a:bodyPr>
            <a:normAutofit fontScale="92500" lnSpcReduction="20000"/>
          </a:bodyPr>
          <a:lstStyle/>
          <a:p>
            <a:pPr algn="just"/>
            <a:r>
              <a:rPr lang="es-ES" b="1" dirty="0"/>
              <a:t>Mantenimiento de Ductos</a:t>
            </a:r>
          </a:p>
          <a:p>
            <a:pPr algn="just"/>
            <a:r>
              <a:rPr lang="es-ES" dirty="0"/>
              <a:t>El mantenimiento de ductos es esencial para prevenir fallos y garantizar la seguridad y la eficiencia del sistema. Incluye actividades preventivas, predictivas y correctivas:</a:t>
            </a:r>
          </a:p>
          <a:p>
            <a:pPr algn="just"/>
            <a:r>
              <a:rPr lang="es-ES" b="1" dirty="0"/>
              <a:t>Mantenimiento Preventivo: </a:t>
            </a:r>
            <a:r>
              <a:rPr lang="es-ES" dirty="0"/>
              <a:t>Este tipo de mantenimiento se realiza de forma regular para evitar problemas antes de que ocurran. Incluye inspecciones visuales, limpieza de equipos, y revisiones de rutina de componentes clave como válvulas y bombas. Las actividades de mantenimiento preventivo están programadas según intervalos específicos establecidos por las normativas y las mejores prácticas.</a:t>
            </a:r>
          </a:p>
          <a:p>
            <a:pPr algn="just"/>
            <a:r>
              <a:rPr lang="es-ES" b="1" dirty="0"/>
              <a:t>Mantenimiento Predictivo: </a:t>
            </a:r>
            <a:r>
              <a:rPr lang="es-ES" dirty="0"/>
              <a:t>Utiliza técnicas de monitoreo y análisis para predecir posibles fallos antes de que ocurran. Esto puede incluir el análisis de vibraciones, termografía infrarroja, y análisis de aceite para detectar signos de desgaste o fallos inminentes. Las tecnologías avanzadas permiten prever problemas y realizar intervenciones antes de que afecten la operación del ducto.</a:t>
            </a:r>
          </a:p>
        </p:txBody>
      </p:sp>
    </p:spTree>
    <p:extLst>
      <p:ext uri="{BB962C8B-B14F-4D97-AF65-F5344CB8AC3E}">
        <p14:creationId xmlns:p14="http://schemas.microsoft.com/office/powerpoint/2010/main" val="1225178130"/>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Marcador de contenido 2">
            <a:extLst>
              <a:ext uri="{FF2B5EF4-FFF2-40B4-BE49-F238E27FC236}">
                <a16:creationId xmlns:a16="http://schemas.microsoft.com/office/drawing/2014/main" id="{9A3A338C-2F44-961B-B316-9D3B1B3352AF}"/>
              </a:ext>
            </a:extLst>
          </p:cNvPr>
          <p:cNvSpPr>
            <a:spLocks noGrp="1"/>
          </p:cNvSpPr>
          <p:nvPr>
            <p:ph idx="1"/>
          </p:nvPr>
        </p:nvSpPr>
        <p:spPr>
          <a:xfrm>
            <a:off x="772885" y="1032095"/>
            <a:ext cx="11032671" cy="5825905"/>
          </a:xfrm>
        </p:spPr>
        <p:txBody>
          <a:bodyPr>
            <a:normAutofit fontScale="92500" lnSpcReduction="10000"/>
          </a:bodyPr>
          <a:lstStyle/>
          <a:p>
            <a:r>
              <a:rPr lang="es-ES" b="1" dirty="0"/>
              <a:t>Mantenimiento Correctivo: </a:t>
            </a:r>
            <a:r>
              <a:rPr lang="es-ES" dirty="0"/>
              <a:t>Se realiza cuando se detecta un fallo o problema que requiere reparación inmediata. El mantenimiento correctivo puede implicar la reparación o reemplazo de componentes defectuosos, como secciones de tubería, válvulas o equipos de compresión.</a:t>
            </a:r>
          </a:p>
          <a:p>
            <a:r>
              <a:rPr lang="es-ES" b="1" dirty="0"/>
              <a:t>Inspección y Evaluación de Integridad</a:t>
            </a:r>
            <a:r>
              <a:rPr lang="es-ES" dirty="0"/>
              <a:t>: Las inspecciones regulares son cruciales para evaluar la integridad del ducto. Esto puede incluir:</a:t>
            </a:r>
          </a:p>
          <a:p>
            <a:r>
              <a:rPr lang="es-ES" b="1" dirty="0"/>
              <a:t>Inspección Interna (</a:t>
            </a:r>
            <a:r>
              <a:rPr lang="es-ES" b="1" dirty="0" err="1"/>
              <a:t>Pigs</a:t>
            </a:r>
            <a:r>
              <a:rPr lang="es-ES" b="1" dirty="0"/>
              <a:t>): </a:t>
            </a:r>
            <a:r>
              <a:rPr lang="es-ES" dirty="0"/>
              <a:t>Se utilizan dispositivos llamados "</a:t>
            </a:r>
            <a:r>
              <a:rPr lang="es-ES" dirty="0" err="1"/>
              <a:t>pigs</a:t>
            </a:r>
            <a:r>
              <a:rPr lang="es-ES" dirty="0"/>
              <a:t>" para inspeccionar el interior de las tuberías. Estos dispositivos recorren el ducto y recogen datos sobre la condición interna, como corrosión o acumulación de residuos.</a:t>
            </a:r>
          </a:p>
          <a:p>
            <a:r>
              <a:rPr lang="es-ES" b="1" dirty="0"/>
              <a:t>Inspección por Ultrasonido</a:t>
            </a:r>
            <a:r>
              <a:rPr lang="es-ES" dirty="0"/>
              <a:t>: Se utiliza para medir el grosor de la pared del ducto y detectar posibles problemas como corrosión o fisuras.</a:t>
            </a:r>
          </a:p>
          <a:p>
            <a:r>
              <a:rPr lang="es-ES" b="1" dirty="0"/>
              <a:t>Inspección Visual y Geofísica: </a:t>
            </a:r>
            <a:r>
              <a:rPr lang="es-ES" dirty="0"/>
              <a:t>Inspecciones visuales en la superficie y técnicas geofísicas, como el radar de penetración terrestre (GPR), pueden identificar problemas en la estructura externa del ducto.</a:t>
            </a:r>
          </a:p>
        </p:txBody>
      </p:sp>
    </p:spTree>
    <p:extLst>
      <p:ext uri="{BB962C8B-B14F-4D97-AF65-F5344CB8AC3E}">
        <p14:creationId xmlns:p14="http://schemas.microsoft.com/office/powerpoint/2010/main" val="3208344134"/>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AA19E6F5-05DC-9995-611E-161294A54025}"/>
              </a:ext>
            </a:extLst>
          </p:cNvPr>
          <p:cNvSpPr>
            <a:spLocks noGrp="1"/>
          </p:cNvSpPr>
          <p:nvPr>
            <p:ph type="title"/>
          </p:nvPr>
        </p:nvSpPr>
        <p:spPr>
          <a:xfrm>
            <a:off x="838199" y="183009"/>
            <a:ext cx="10515600" cy="996053"/>
          </a:xfrm>
        </p:spPr>
        <p:txBody>
          <a:bodyPr>
            <a:normAutofit/>
          </a:bodyPr>
          <a:lstStyle/>
          <a:p>
            <a:endParaRPr lang="es-ES" sz="2800" dirty="0"/>
          </a:p>
        </p:txBody>
      </p:sp>
      <p:sp>
        <p:nvSpPr>
          <p:cNvPr id="3" name="Marcador de contenido 2">
            <a:extLst>
              <a:ext uri="{FF2B5EF4-FFF2-40B4-BE49-F238E27FC236}">
                <a16:creationId xmlns:a16="http://schemas.microsoft.com/office/drawing/2014/main" id="{9A3A338C-2F44-961B-B316-9D3B1B3352AF}"/>
              </a:ext>
            </a:extLst>
          </p:cNvPr>
          <p:cNvSpPr>
            <a:spLocks noGrp="1"/>
          </p:cNvSpPr>
          <p:nvPr>
            <p:ph idx="1"/>
          </p:nvPr>
        </p:nvSpPr>
        <p:spPr>
          <a:xfrm>
            <a:off x="838199" y="1387929"/>
            <a:ext cx="11032671" cy="5045527"/>
          </a:xfrm>
        </p:spPr>
        <p:txBody>
          <a:bodyPr>
            <a:normAutofit fontScale="92500" lnSpcReduction="20000"/>
          </a:bodyPr>
          <a:lstStyle/>
          <a:p>
            <a:pPr marL="0" indent="0">
              <a:buNone/>
            </a:pPr>
            <a:r>
              <a:rPr lang="es-ES" b="1" dirty="0"/>
              <a:t>Seguridad y Gestión de Riesgos</a:t>
            </a:r>
          </a:p>
          <a:p>
            <a:pPr>
              <a:buFont typeface="Arial" panose="020B0604020202020204" pitchFamily="34" charset="0"/>
              <a:buChar char="•"/>
            </a:pPr>
            <a:r>
              <a:rPr lang="es-ES" b="1" dirty="0"/>
              <a:t>Procedimientos de Seguridad</a:t>
            </a:r>
            <a:r>
              <a:rPr lang="es-ES" dirty="0"/>
              <a:t>: La operación y mantenimiento de ductos deben seguir estrictos procedimientos de seguridad para prevenir accidentes. Esto incluye el uso de equipos de protección personal (EPP), la implementación de protocolos de emergencia, y la formación continua del personal en prácticas de seguridad.</a:t>
            </a:r>
          </a:p>
          <a:p>
            <a:pPr>
              <a:buFont typeface="Arial" panose="020B0604020202020204" pitchFamily="34" charset="0"/>
              <a:buChar char="•"/>
            </a:pPr>
            <a:r>
              <a:rPr lang="es-ES" b="1" dirty="0"/>
              <a:t>Gestión de Emergencias</a:t>
            </a:r>
            <a:r>
              <a:rPr lang="es-ES" dirty="0"/>
              <a:t>: Se deben tener planes de contingencia y procedimientos para responder a emergencias como fugas o rupturas. Esto incluye la capacitación del personal en la respuesta a emergencias y la instalación de equipos de detección de fugas y sistemas de cierre automático.</a:t>
            </a:r>
          </a:p>
          <a:p>
            <a:pPr>
              <a:buFont typeface="Arial" panose="020B0604020202020204" pitchFamily="34" charset="0"/>
              <a:buChar char="•"/>
            </a:pPr>
            <a:r>
              <a:rPr lang="es-ES" b="1" dirty="0"/>
              <a:t>Normativas y Cumplimiento</a:t>
            </a:r>
            <a:r>
              <a:rPr lang="es-ES" dirty="0"/>
              <a:t>: La operación y mantenimiento deben cumplir con las normativas locales e internacionales de seguridad y medio ambiente. En Perú, por ejemplo, se deben seguir las directrices establecidas por </a:t>
            </a:r>
            <a:r>
              <a:rPr lang="es-ES" b="1" dirty="0"/>
              <a:t>Osinergmin</a:t>
            </a:r>
            <a:r>
              <a:rPr lang="es-ES" dirty="0"/>
              <a:t> y otras autoridades reguladoras, además de las normativas específicas del </a:t>
            </a:r>
            <a:r>
              <a:rPr lang="es-ES" b="1" dirty="0"/>
              <a:t>Reglamento de Seguridad para Instalaciones de Hidrocarburos</a:t>
            </a:r>
            <a:r>
              <a:rPr lang="es-ES" dirty="0"/>
              <a:t>.</a:t>
            </a:r>
          </a:p>
          <a:p>
            <a:endParaRPr lang="es-ES" dirty="0"/>
          </a:p>
        </p:txBody>
      </p:sp>
    </p:spTree>
    <p:extLst>
      <p:ext uri="{BB962C8B-B14F-4D97-AF65-F5344CB8AC3E}">
        <p14:creationId xmlns:p14="http://schemas.microsoft.com/office/powerpoint/2010/main" val="921577052"/>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AA19E6F5-05DC-9995-611E-161294A54025}"/>
              </a:ext>
            </a:extLst>
          </p:cNvPr>
          <p:cNvSpPr>
            <a:spLocks noGrp="1"/>
          </p:cNvSpPr>
          <p:nvPr>
            <p:ph type="title"/>
          </p:nvPr>
        </p:nvSpPr>
        <p:spPr>
          <a:xfrm>
            <a:off x="838199" y="183009"/>
            <a:ext cx="10515600" cy="996053"/>
          </a:xfrm>
        </p:spPr>
        <p:txBody>
          <a:bodyPr>
            <a:normAutofit/>
          </a:bodyPr>
          <a:lstStyle/>
          <a:p>
            <a:endParaRPr lang="es-ES" sz="2800" dirty="0"/>
          </a:p>
        </p:txBody>
      </p:sp>
      <p:sp>
        <p:nvSpPr>
          <p:cNvPr id="3" name="Marcador de contenido 2">
            <a:extLst>
              <a:ext uri="{FF2B5EF4-FFF2-40B4-BE49-F238E27FC236}">
                <a16:creationId xmlns:a16="http://schemas.microsoft.com/office/drawing/2014/main" id="{9A3A338C-2F44-961B-B316-9D3B1B3352AF}"/>
              </a:ext>
            </a:extLst>
          </p:cNvPr>
          <p:cNvSpPr>
            <a:spLocks noGrp="1"/>
          </p:cNvSpPr>
          <p:nvPr>
            <p:ph idx="1"/>
          </p:nvPr>
        </p:nvSpPr>
        <p:spPr>
          <a:xfrm>
            <a:off x="838199" y="1387930"/>
            <a:ext cx="11032671" cy="4789034"/>
          </a:xfrm>
        </p:spPr>
        <p:txBody>
          <a:bodyPr>
            <a:normAutofit/>
          </a:bodyPr>
          <a:lstStyle/>
          <a:p>
            <a:r>
              <a:rPr lang="es-ES" b="1" dirty="0"/>
              <a:t>Documentación y Registro</a:t>
            </a:r>
          </a:p>
          <a:p>
            <a:pPr>
              <a:buFont typeface="Arial" panose="020B0604020202020204" pitchFamily="34" charset="0"/>
              <a:buChar char="•"/>
            </a:pPr>
            <a:r>
              <a:rPr lang="es-ES" b="1" dirty="0"/>
              <a:t>Registro de Actividades</a:t>
            </a:r>
            <a:r>
              <a:rPr lang="es-ES" dirty="0"/>
              <a:t>: Es fundamental mantener registros detallados de todas las actividades de operación y mantenimiento. Esto incluye registros de inspecciones, reparaciones, y modificaciones realizadas, así como informes de incidentes y acciones correctivas.</a:t>
            </a:r>
          </a:p>
          <a:p>
            <a:pPr>
              <a:buFont typeface="Arial" panose="020B0604020202020204" pitchFamily="34" charset="0"/>
              <a:buChar char="•"/>
            </a:pPr>
            <a:r>
              <a:rPr lang="es-ES" b="1" dirty="0"/>
              <a:t>Auditorías y Revisiones</a:t>
            </a:r>
            <a:r>
              <a:rPr lang="es-ES" dirty="0"/>
              <a:t>: Las auditorías internas y revisiones periódicas ayudan a asegurar que las prácticas de operación y mantenimiento cumplan con los estándares y normativas. Estas auditorías también identifican áreas de mejora y optimización.</a:t>
            </a:r>
          </a:p>
          <a:p>
            <a:endParaRPr lang="es-ES" dirty="0"/>
          </a:p>
        </p:txBody>
      </p:sp>
    </p:spTree>
    <p:extLst>
      <p:ext uri="{BB962C8B-B14F-4D97-AF65-F5344CB8AC3E}">
        <p14:creationId xmlns:p14="http://schemas.microsoft.com/office/powerpoint/2010/main" val="2503935181"/>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AA19E6F5-05DC-9995-611E-161294A54025}"/>
              </a:ext>
            </a:extLst>
          </p:cNvPr>
          <p:cNvSpPr>
            <a:spLocks noGrp="1"/>
          </p:cNvSpPr>
          <p:nvPr>
            <p:ph type="title"/>
          </p:nvPr>
        </p:nvSpPr>
        <p:spPr>
          <a:xfrm>
            <a:off x="838199" y="183009"/>
            <a:ext cx="10515600" cy="996053"/>
          </a:xfrm>
        </p:spPr>
        <p:txBody>
          <a:bodyPr>
            <a:normAutofit/>
          </a:bodyPr>
          <a:lstStyle/>
          <a:p>
            <a:endParaRPr lang="es-ES" sz="2800" dirty="0"/>
          </a:p>
        </p:txBody>
      </p:sp>
      <p:sp>
        <p:nvSpPr>
          <p:cNvPr id="3" name="Marcador de contenido 2">
            <a:extLst>
              <a:ext uri="{FF2B5EF4-FFF2-40B4-BE49-F238E27FC236}">
                <a16:creationId xmlns:a16="http://schemas.microsoft.com/office/drawing/2014/main" id="{9A3A338C-2F44-961B-B316-9D3B1B3352AF}"/>
              </a:ext>
            </a:extLst>
          </p:cNvPr>
          <p:cNvSpPr>
            <a:spLocks noGrp="1"/>
          </p:cNvSpPr>
          <p:nvPr>
            <p:ph idx="1"/>
          </p:nvPr>
        </p:nvSpPr>
        <p:spPr>
          <a:xfrm>
            <a:off x="723899" y="2759530"/>
            <a:ext cx="11032671" cy="2726870"/>
          </a:xfrm>
        </p:spPr>
        <p:txBody>
          <a:bodyPr>
            <a:normAutofit/>
          </a:bodyPr>
          <a:lstStyle/>
          <a:p>
            <a:pPr algn="just"/>
            <a:r>
              <a:rPr lang="es-ES" dirty="0"/>
              <a:t>La adecuada operación y mantenimiento de ductos para el transporte de gas natural son esenciales para asegurar un suministro continuo, seguro y eficiente. Implementar prácticas robustas en estas áreas ayuda a prevenir fallos y minimizar los riesgos asociados con el transporte de gas</a:t>
            </a:r>
            <a:r>
              <a:rPr lang="es-ES"/>
              <a:t>. </a:t>
            </a:r>
            <a:endParaRPr lang="es-ES" dirty="0"/>
          </a:p>
        </p:txBody>
      </p:sp>
    </p:spTree>
    <p:extLst>
      <p:ext uri="{BB962C8B-B14F-4D97-AF65-F5344CB8AC3E}">
        <p14:creationId xmlns:p14="http://schemas.microsoft.com/office/powerpoint/2010/main" val="1115235001"/>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AA19E6F5-05DC-9995-611E-161294A54025}"/>
              </a:ext>
            </a:extLst>
          </p:cNvPr>
          <p:cNvSpPr>
            <a:spLocks noGrp="1"/>
          </p:cNvSpPr>
          <p:nvPr>
            <p:ph type="title"/>
          </p:nvPr>
        </p:nvSpPr>
        <p:spPr>
          <a:xfrm>
            <a:off x="838199" y="183009"/>
            <a:ext cx="8909958" cy="996053"/>
          </a:xfrm>
        </p:spPr>
        <p:txBody>
          <a:bodyPr>
            <a:normAutofit/>
          </a:bodyPr>
          <a:lstStyle/>
          <a:p>
            <a:r>
              <a:rPr lang="es-ES" sz="2800" dirty="0"/>
              <a:t>SISTEMA SCADA(SUPERVISORY CONTROL AND DATA ACQUISITION)</a:t>
            </a:r>
          </a:p>
        </p:txBody>
      </p:sp>
      <p:sp>
        <p:nvSpPr>
          <p:cNvPr id="3" name="Marcador de contenido 2">
            <a:extLst>
              <a:ext uri="{FF2B5EF4-FFF2-40B4-BE49-F238E27FC236}">
                <a16:creationId xmlns:a16="http://schemas.microsoft.com/office/drawing/2014/main" id="{9A3A338C-2F44-961B-B316-9D3B1B3352AF}"/>
              </a:ext>
            </a:extLst>
          </p:cNvPr>
          <p:cNvSpPr>
            <a:spLocks noGrp="1"/>
          </p:cNvSpPr>
          <p:nvPr>
            <p:ph idx="1"/>
          </p:nvPr>
        </p:nvSpPr>
        <p:spPr>
          <a:xfrm>
            <a:off x="838199" y="1387930"/>
            <a:ext cx="11032671" cy="4789034"/>
          </a:xfrm>
        </p:spPr>
        <p:txBody>
          <a:bodyPr>
            <a:normAutofit/>
          </a:bodyPr>
          <a:lstStyle/>
          <a:p>
            <a:r>
              <a:rPr lang="es-ES" dirty="0"/>
              <a:t>El Sistema SCADA (</a:t>
            </a:r>
            <a:r>
              <a:rPr lang="es-ES" dirty="0" err="1"/>
              <a:t>Supervisory</a:t>
            </a:r>
            <a:r>
              <a:rPr lang="es-ES" dirty="0"/>
              <a:t> Control and Data </a:t>
            </a:r>
            <a:r>
              <a:rPr lang="es-ES" dirty="0" err="1"/>
              <a:t>Acquisition</a:t>
            </a:r>
            <a:r>
              <a:rPr lang="es-ES" dirty="0"/>
              <a:t>) es una tecnología fundamental para la supervisión y control de procesos industriales, incluidos los sistemas de transporte y distribución de gas natural.</a:t>
            </a:r>
          </a:p>
          <a:p>
            <a:r>
              <a:rPr lang="es-ES" dirty="0"/>
              <a:t>SCADA es un sistema de control industrial que permite a los operadores supervisar y controlar procesos a distancia. Es ampliamente utilizado en industrias como la energía, el agua y el tratamiento de aguas residuales, y el gas natural. El sistema SCADA integra hardware y software para proporcionar una interfaz centralizada que permite la gestión de procesos complejos en tiempo real.</a:t>
            </a:r>
          </a:p>
        </p:txBody>
      </p:sp>
    </p:spTree>
    <p:extLst>
      <p:ext uri="{BB962C8B-B14F-4D97-AF65-F5344CB8AC3E}">
        <p14:creationId xmlns:p14="http://schemas.microsoft.com/office/powerpoint/2010/main" val="2933017330"/>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Marcador de contenido 2">
            <a:extLst>
              <a:ext uri="{FF2B5EF4-FFF2-40B4-BE49-F238E27FC236}">
                <a16:creationId xmlns:a16="http://schemas.microsoft.com/office/drawing/2014/main" id="{9A3A338C-2F44-961B-B316-9D3B1B3352AF}"/>
              </a:ext>
            </a:extLst>
          </p:cNvPr>
          <p:cNvSpPr>
            <a:spLocks noGrp="1"/>
          </p:cNvSpPr>
          <p:nvPr>
            <p:ph idx="1"/>
          </p:nvPr>
        </p:nvSpPr>
        <p:spPr>
          <a:xfrm>
            <a:off x="838199" y="1028700"/>
            <a:ext cx="11032671" cy="5148264"/>
          </a:xfrm>
        </p:spPr>
        <p:txBody>
          <a:bodyPr>
            <a:normAutofit fontScale="77500" lnSpcReduction="20000"/>
          </a:bodyPr>
          <a:lstStyle/>
          <a:p>
            <a:r>
              <a:rPr lang="es-ES" b="1" dirty="0"/>
              <a:t>Componentes de un Sistema SCADA</a:t>
            </a:r>
          </a:p>
          <a:p>
            <a:pPr>
              <a:buFont typeface="Arial" panose="020B0604020202020204" pitchFamily="34" charset="0"/>
              <a:buChar char="•"/>
            </a:pPr>
            <a:r>
              <a:rPr lang="es-ES" b="1" dirty="0"/>
              <a:t>Estaciones de Trabajo del Operador</a:t>
            </a:r>
            <a:r>
              <a:rPr lang="es-ES" dirty="0"/>
              <a:t>: Interfaz gráfica que permite a los operadores interactuar con el sistema SCADA. Aquí se visualizan datos en tiempo real, se generan informes, y se envían comandos para el control de procesos.</a:t>
            </a:r>
          </a:p>
          <a:p>
            <a:pPr>
              <a:buFont typeface="Arial" panose="020B0604020202020204" pitchFamily="34" charset="0"/>
              <a:buChar char="•"/>
            </a:pPr>
            <a:r>
              <a:rPr lang="es-ES" b="1" dirty="0"/>
              <a:t>Controladores Lógicos Programables (PLC)</a:t>
            </a:r>
            <a:r>
              <a:rPr lang="es-ES" dirty="0"/>
              <a:t>: Dispositivos que se utilizan para controlar procesos específicos. Recogen datos de sensores y envían comandos a equipos como bombas, válvulas, y compresores. Los PLC están conectados al sistema SCADA para transmitir datos y recibir instrucciones.</a:t>
            </a:r>
          </a:p>
          <a:p>
            <a:pPr>
              <a:buFont typeface="Arial" panose="020B0604020202020204" pitchFamily="34" charset="0"/>
              <a:buChar char="•"/>
            </a:pPr>
            <a:r>
              <a:rPr lang="es-ES" b="1" dirty="0"/>
              <a:t>Unidades de Terminal Remota (RTU)</a:t>
            </a:r>
            <a:r>
              <a:rPr lang="es-ES" dirty="0"/>
              <a:t>: Dispositivos similares a los PLC pero generalmente ubicados en sitios remotos. Recogen datos de campo y envían información al SCADA.</a:t>
            </a:r>
          </a:p>
          <a:p>
            <a:pPr>
              <a:buFont typeface="Arial" panose="020B0604020202020204" pitchFamily="34" charset="0"/>
              <a:buChar char="•"/>
            </a:pPr>
            <a:r>
              <a:rPr lang="es-ES" b="1" dirty="0"/>
              <a:t>Sensores y Actuadores</a:t>
            </a:r>
            <a:r>
              <a:rPr lang="es-ES" dirty="0"/>
              <a:t>: Sensores miden parámetros como la presión, la temperatura y el flujo, mientras que los actuadores controlan elementos del proceso, como válvulas y motores.</a:t>
            </a:r>
          </a:p>
          <a:p>
            <a:pPr>
              <a:buFont typeface="Arial" panose="020B0604020202020204" pitchFamily="34" charset="0"/>
              <a:buChar char="•"/>
            </a:pPr>
            <a:r>
              <a:rPr lang="es-ES" b="1" dirty="0"/>
              <a:t>Servidores SCADA</a:t>
            </a:r>
            <a:r>
              <a:rPr lang="es-ES" dirty="0"/>
              <a:t>: Equipos que almacenan datos históricos, ejecutan aplicaciones SCADA y gestionan la comunicación entre estaciones de trabajo, PLC y </a:t>
            </a:r>
            <a:r>
              <a:rPr lang="es-ES" dirty="0" err="1"/>
              <a:t>RTUs</a:t>
            </a:r>
            <a:r>
              <a:rPr lang="es-ES" dirty="0"/>
              <a:t>.</a:t>
            </a:r>
          </a:p>
          <a:p>
            <a:pPr>
              <a:buFont typeface="Arial" panose="020B0604020202020204" pitchFamily="34" charset="0"/>
              <a:buChar char="•"/>
            </a:pPr>
            <a:r>
              <a:rPr lang="es-ES" b="1" dirty="0"/>
              <a:t>Red de Comunicación</a:t>
            </a:r>
            <a:r>
              <a:rPr lang="es-ES" dirty="0"/>
              <a:t>: La infraestructura de red que conecta todos los componentes del sistema SCADA. Puede incluir redes Ethernet, enlaces de radio, y comunicaciones por satélite.</a:t>
            </a:r>
          </a:p>
          <a:p>
            <a:endParaRPr lang="es-ES" dirty="0"/>
          </a:p>
        </p:txBody>
      </p:sp>
    </p:spTree>
    <p:extLst>
      <p:ext uri="{BB962C8B-B14F-4D97-AF65-F5344CB8AC3E}">
        <p14:creationId xmlns:p14="http://schemas.microsoft.com/office/powerpoint/2010/main" val="1525249405"/>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AA19E6F5-05DC-9995-611E-161294A54025}"/>
              </a:ext>
            </a:extLst>
          </p:cNvPr>
          <p:cNvSpPr>
            <a:spLocks noGrp="1"/>
          </p:cNvSpPr>
          <p:nvPr>
            <p:ph type="title"/>
          </p:nvPr>
        </p:nvSpPr>
        <p:spPr>
          <a:xfrm>
            <a:off x="838199" y="183009"/>
            <a:ext cx="10515600" cy="996053"/>
          </a:xfrm>
        </p:spPr>
        <p:txBody>
          <a:bodyPr>
            <a:normAutofit/>
          </a:bodyPr>
          <a:lstStyle/>
          <a:p>
            <a:endParaRPr lang="es-ES" sz="2800" dirty="0"/>
          </a:p>
        </p:txBody>
      </p:sp>
      <p:sp>
        <p:nvSpPr>
          <p:cNvPr id="3" name="Marcador de contenido 2">
            <a:extLst>
              <a:ext uri="{FF2B5EF4-FFF2-40B4-BE49-F238E27FC236}">
                <a16:creationId xmlns:a16="http://schemas.microsoft.com/office/drawing/2014/main" id="{9A3A338C-2F44-961B-B316-9D3B1B3352AF}"/>
              </a:ext>
            </a:extLst>
          </p:cNvPr>
          <p:cNvSpPr>
            <a:spLocks noGrp="1"/>
          </p:cNvSpPr>
          <p:nvPr>
            <p:ph idx="1"/>
          </p:nvPr>
        </p:nvSpPr>
        <p:spPr>
          <a:xfrm>
            <a:off x="838199" y="1387930"/>
            <a:ext cx="11032671" cy="4789034"/>
          </a:xfrm>
        </p:spPr>
        <p:txBody>
          <a:bodyPr>
            <a:normAutofit fontScale="77500" lnSpcReduction="20000"/>
          </a:bodyPr>
          <a:lstStyle/>
          <a:p>
            <a:pPr marL="0" indent="0">
              <a:buNone/>
            </a:pPr>
            <a:r>
              <a:rPr lang="es-ES" b="1" dirty="0"/>
              <a:t>Funciones Principales de SCADA</a:t>
            </a:r>
          </a:p>
          <a:p>
            <a:pPr>
              <a:buFont typeface="Arial" panose="020B0604020202020204" pitchFamily="34" charset="0"/>
              <a:buChar char="•"/>
            </a:pPr>
            <a:r>
              <a:rPr lang="es-ES" b="1" dirty="0"/>
              <a:t>Monitoreo en Tiempo Real</a:t>
            </a:r>
            <a:r>
              <a:rPr lang="es-ES" dirty="0"/>
              <a:t>: Proporciona datos en tiempo real sobre el estado de los procesos, permitiendo a los operadores visualizar el desempeño del sistema a través de gráficos, tablas y diagramas.</a:t>
            </a:r>
          </a:p>
          <a:p>
            <a:pPr>
              <a:buFont typeface="Arial" panose="020B0604020202020204" pitchFamily="34" charset="0"/>
              <a:buChar char="•"/>
            </a:pPr>
            <a:r>
              <a:rPr lang="es-ES" b="1" dirty="0"/>
              <a:t>Control Remoto</a:t>
            </a:r>
            <a:r>
              <a:rPr lang="es-ES" dirty="0"/>
              <a:t>: Permite a los operadores enviar comandos y ajustes a los equipos desde una ubicación central. Esto incluye la apertura o cierre de válvulas, el encendido o apagado de bombas, y otros controles del proceso.</a:t>
            </a:r>
          </a:p>
          <a:p>
            <a:pPr>
              <a:buFont typeface="Arial" panose="020B0604020202020204" pitchFamily="34" charset="0"/>
              <a:buChar char="•"/>
            </a:pPr>
            <a:r>
              <a:rPr lang="es-ES" b="1" dirty="0"/>
              <a:t>Adquisición de Datos</a:t>
            </a:r>
            <a:r>
              <a:rPr lang="es-ES" dirty="0"/>
              <a:t>: Recoge y almacena datos operacionales de sensores y dispositivos en el campo. Estos datos se utilizan para el análisis y la toma de decisiones.</a:t>
            </a:r>
          </a:p>
          <a:p>
            <a:pPr>
              <a:buFont typeface="Arial" panose="020B0604020202020204" pitchFamily="34" charset="0"/>
              <a:buChar char="•"/>
            </a:pPr>
            <a:r>
              <a:rPr lang="es-ES" b="1" dirty="0"/>
              <a:t>Generación de Alarmas y Eventos</a:t>
            </a:r>
            <a:r>
              <a:rPr lang="es-ES" dirty="0"/>
              <a:t>: El sistema SCADA puede generar alertas y notificaciones automáticas en caso de condiciones anormales o fallos. Esto permite una respuesta rápida a problemas potenciales.</a:t>
            </a:r>
          </a:p>
          <a:p>
            <a:pPr>
              <a:buFont typeface="Arial" panose="020B0604020202020204" pitchFamily="34" charset="0"/>
              <a:buChar char="•"/>
            </a:pPr>
            <a:r>
              <a:rPr lang="es-ES" b="1" dirty="0"/>
              <a:t>Análisis y Reportes</a:t>
            </a:r>
            <a:r>
              <a:rPr lang="es-ES" dirty="0"/>
              <a:t>: Ofrece herramientas para analizar datos históricos y generar informes. Esto ayuda a identificar tendencias, realizar diagnósticos, y planificar el mantenimiento.</a:t>
            </a:r>
          </a:p>
          <a:p>
            <a:pPr>
              <a:buFont typeface="Arial" panose="020B0604020202020204" pitchFamily="34" charset="0"/>
              <a:buChar char="•"/>
            </a:pPr>
            <a:r>
              <a:rPr lang="es-ES" b="1" dirty="0"/>
              <a:t>Historización de Datos</a:t>
            </a:r>
            <a:r>
              <a:rPr lang="es-ES" dirty="0"/>
              <a:t>: Almacena datos operacionales y de eventos para su revisión posterior. Esto es esencial para la auditoría, el análisis de fallos, y la mejora continua.</a:t>
            </a:r>
          </a:p>
          <a:p>
            <a:endParaRPr lang="es-ES" dirty="0"/>
          </a:p>
        </p:txBody>
      </p:sp>
    </p:spTree>
    <p:extLst>
      <p:ext uri="{BB962C8B-B14F-4D97-AF65-F5344CB8AC3E}">
        <p14:creationId xmlns:p14="http://schemas.microsoft.com/office/powerpoint/2010/main" val="3978626737"/>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Marcador de contenido 2">
            <a:extLst>
              <a:ext uri="{FF2B5EF4-FFF2-40B4-BE49-F238E27FC236}">
                <a16:creationId xmlns:a16="http://schemas.microsoft.com/office/drawing/2014/main" id="{9A3A338C-2F44-961B-B316-9D3B1B3352AF}"/>
              </a:ext>
            </a:extLst>
          </p:cNvPr>
          <p:cNvSpPr>
            <a:spLocks noGrp="1"/>
          </p:cNvSpPr>
          <p:nvPr>
            <p:ph idx="1"/>
          </p:nvPr>
        </p:nvSpPr>
        <p:spPr>
          <a:xfrm>
            <a:off x="707570" y="1159329"/>
            <a:ext cx="11032671" cy="5355772"/>
          </a:xfrm>
        </p:spPr>
        <p:txBody>
          <a:bodyPr>
            <a:normAutofit fontScale="92500" lnSpcReduction="10000"/>
          </a:bodyPr>
          <a:lstStyle/>
          <a:p>
            <a:pPr marL="0" indent="0">
              <a:buNone/>
            </a:pPr>
            <a:r>
              <a:rPr lang="es-ES" b="1" dirty="0"/>
              <a:t>Aplicaciones en el Transporte de Gas Natural</a:t>
            </a:r>
          </a:p>
          <a:p>
            <a:pPr>
              <a:buFont typeface="Arial" panose="020B0604020202020204" pitchFamily="34" charset="0"/>
              <a:buChar char="•"/>
            </a:pPr>
            <a:r>
              <a:rPr lang="es-ES" b="1" dirty="0"/>
              <a:t>Monitoreo de la Integridad del Ducto</a:t>
            </a:r>
            <a:r>
              <a:rPr lang="es-ES" dirty="0"/>
              <a:t>: SCADA permite el monitoreo continuo de la presión, el flujo, y la temperatura en diferentes secciones del ducto. Esto es crucial para detectar fugas o anomalías que podrían comprometer la seguridad del sistema.</a:t>
            </a:r>
          </a:p>
          <a:p>
            <a:pPr>
              <a:buFont typeface="Arial" panose="020B0604020202020204" pitchFamily="34" charset="0"/>
              <a:buChar char="•"/>
            </a:pPr>
            <a:r>
              <a:rPr lang="es-ES" b="1" dirty="0"/>
              <a:t>Control de Estaciones de Compresión</a:t>
            </a:r>
            <a:r>
              <a:rPr lang="es-ES" dirty="0"/>
              <a:t>: Los sistemas SCADA gestionan el funcionamiento de las estaciones de compresión, ajustando la presión del gas según las necesidades del sistema y asegurando un flujo constante.</a:t>
            </a:r>
          </a:p>
          <a:p>
            <a:pPr>
              <a:buFont typeface="Arial" panose="020B0604020202020204" pitchFamily="34" charset="0"/>
              <a:buChar char="•"/>
            </a:pPr>
            <a:r>
              <a:rPr lang="es-ES" b="1" dirty="0"/>
              <a:t>Gestión de Emergencias</a:t>
            </a:r>
            <a:r>
              <a:rPr lang="es-ES" dirty="0"/>
              <a:t>: En caso de una fuga o fallo, el sistema SCADA puede activar alarmas, cerrar válvulas automáticamente, y notificar a los operadores para una rápida intervención.</a:t>
            </a:r>
          </a:p>
          <a:p>
            <a:pPr>
              <a:buFont typeface="Arial" panose="020B0604020202020204" pitchFamily="34" charset="0"/>
              <a:buChar char="•"/>
            </a:pPr>
            <a:r>
              <a:rPr lang="es-ES" b="1" dirty="0"/>
              <a:t>Optimización de Operaciones</a:t>
            </a:r>
            <a:r>
              <a:rPr lang="es-ES" dirty="0"/>
              <a:t>: Permite a los operadores ajustar parámetros operacionales para mejorar la eficiencia y reducir costos. También ayuda a identificar y solucionar problemas operativos antes de que afecten el rendimiento del sistema.</a:t>
            </a:r>
          </a:p>
          <a:p>
            <a:endParaRPr lang="es-ES" dirty="0"/>
          </a:p>
        </p:txBody>
      </p:sp>
    </p:spTree>
    <p:extLst>
      <p:ext uri="{BB962C8B-B14F-4D97-AF65-F5344CB8AC3E}">
        <p14:creationId xmlns:p14="http://schemas.microsoft.com/office/powerpoint/2010/main" val="3676861539"/>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AA19E6F5-05DC-9995-611E-161294A54025}"/>
              </a:ext>
            </a:extLst>
          </p:cNvPr>
          <p:cNvSpPr>
            <a:spLocks noGrp="1"/>
          </p:cNvSpPr>
          <p:nvPr>
            <p:ph type="title"/>
          </p:nvPr>
        </p:nvSpPr>
        <p:spPr>
          <a:xfrm>
            <a:off x="838199" y="183009"/>
            <a:ext cx="10515600" cy="996053"/>
          </a:xfrm>
        </p:spPr>
        <p:txBody>
          <a:bodyPr>
            <a:normAutofit/>
          </a:bodyPr>
          <a:lstStyle/>
          <a:p>
            <a:endParaRPr lang="es-ES" sz="2800" dirty="0"/>
          </a:p>
        </p:txBody>
      </p:sp>
      <p:sp>
        <p:nvSpPr>
          <p:cNvPr id="3" name="Marcador de contenido 2">
            <a:extLst>
              <a:ext uri="{FF2B5EF4-FFF2-40B4-BE49-F238E27FC236}">
                <a16:creationId xmlns:a16="http://schemas.microsoft.com/office/drawing/2014/main" id="{9A3A338C-2F44-961B-B316-9D3B1B3352AF}"/>
              </a:ext>
            </a:extLst>
          </p:cNvPr>
          <p:cNvSpPr>
            <a:spLocks noGrp="1"/>
          </p:cNvSpPr>
          <p:nvPr>
            <p:ph idx="1"/>
          </p:nvPr>
        </p:nvSpPr>
        <p:spPr>
          <a:xfrm>
            <a:off x="838199" y="1387930"/>
            <a:ext cx="11032671" cy="4789034"/>
          </a:xfrm>
        </p:spPr>
        <p:txBody>
          <a:bodyPr>
            <a:normAutofit fontScale="92500" lnSpcReduction="10000"/>
          </a:bodyPr>
          <a:lstStyle/>
          <a:p>
            <a:r>
              <a:rPr lang="es-ES" b="1" dirty="0"/>
              <a:t>Beneficios de SCADA</a:t>
            </a:r>
          </a:p>
          <a:p>
            <a:pPr>
              <a:buFont typeface="Arial" panose="020B0604020202020204" pitchFamily="34" charset="0"/>
              <a:buChar char="•"/>
            </a:pPr>
            <a:r>
              <a:rPr lang="es-ES" b="1" dirty="0"/>
              <a:t>Mejora de la Seguridad</a:t>
            </a:r>
            <a:r>
              <a:rPr lang="es-ES" dirty="0"/>
              <a:t>: La capacidad de detectar y responder rápidamente a condiciones anormales ayuda a prevenir accidentes y asegurar la seguridad de las operaciones.</a:t>
            </a:r>
          </a:p>
          <a:p>
            <a:pPr>
              <a:buFont typeface="Arial" panose="020B0604020202020204" pitchFamily="34" charset="0"/>
              <a:buChar char="•"/>
            </a:pPr>
            <a:r>
              <a:rPr lang="es-ES" b="1" dirty="0"/>
              <a:t>Eficiencia Operacional</a:t>
            </a:r>
            <a:r>
              <a:rPr lang="es-ES" dirty="0"/>
              <a:t>: La automatización y el monitoreo en tiempo real optimizan el rendimiento del sistema y reducen la necesidad de intervención manual.</a:t>
            </a:r>
          </a:p>
          <a:p>
            <a:pPr>
              <a:buFont typeface="Arial" panose="020B0604020202020204" pitchFamily="34" charset="0"/>
              <a:buChar char="•"/>
            </a:pPr>
            <a:r>
              <a:rPr lang="es-ES" b="1" dirty="0"/>
              <a:t>Reducción de Costos</a:t>
            </a:r>
            <a:r>
              <a:rPr lang="es-ES" dirty="0"/>
              <a:t>: La capacidad para realizar mantenimiento predictivo y evitar fallos permite reducir costos operativos y de reparación.</a:t>
            </a:r>
          </a:p>
          <a:p>
            <a:pPr>
              <a:buFont typeface="Arial" panose="020B0604020202020204" pitchFamily="34" charset="0"/>
              <a:buChar char="•"/>
            </a:pPr>
            <a:r>
              <a:rPr lang="es-ES" b="1" dirty="0"/>
              <a:t>Toma de Decisiones Informadas</a:t>
            </a:r>
            <a:r>
              <a:rPr lang="es-ES" dirty="0"/>
              <a:t>: Los datos detallados y los informes generados por SCADA facilitan la toma de decisiones basadas en información precisa y actualizada</a:t>
            </a:r>
          </a:p>
          <a:p>
            <a:endParaRPr lang="es-ES" dirty="0"/>
          </a:p>
        </p:txBody>
      </p:sp>
    </p:spTree>
    <p:extLst>
      <p:ext uri="{BB962C8B-B14F-4D97-AF65-F5344CB8AC3E}">
        <p14:creationId xmlns:p14="http://schemas.microsoft.com/office/powerpoint/2010/main" val="922371814"/>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AA19E6F5-05DC-9995-611E-161294A54025}"/>
              </a:ext>
            </a:extLst>
          </p:cNvPr>
          <p:cNvSpPr>
            <a:spLocks noGrp="1"/>
          </p:cNvSpPr>
          <p:nvPr>
            <p:ph type="title"/>
          </p:nvPr>
        </p:nvSpPr>
        <p:spPr>
          <a:xfrm>
            <a:off x="838199" y="183009"/>
            <a:ext cx="10515600" cy="996053"/>
          </a:xfrm>
        </p:spPr>
        <p:txBody>
          <a:bodyPr>
            <a:normAutofit/>
          </a:bodyPr>
          <a:lstStyle/>
          <a:p>
            <a:endParaRPr lang="es-ES" sz="2800" dirty="0"/>
          </a:p>
        </p:txBody>
      </p:sp>
      <p:sp>
        <p:nvSpPr>
          <p:cNvPr id="3" name="Marcador de contenido 2">
            <a:extLst>
              <a:ext uri="{FF2B5EF4-FFF2-40B4-BE49-F238E27FC236}">
                <a16:creationId xmlns:a16="http://schemas.microsoft.com/office/drawing/2014/main" id="{9A3A338C-2F44-961B-B316-9D3B1B3352AF}"/>
              </a:ext>
            </a:extLst>
          </p:cNvPr>
          <p:cNvSpPr>
            <a:spLocks noGrp="1"/>
          </p:cNvSpPr>
          <p:nvPr>
            <p:ph idx="1"/>
          </p:nvPr>
        </p:nvSpPr>
        <p:spPr>
          <a:xfrm>
            <a:off x="838199" y="1387930"/>
            <a:ext cx="11032671" cy="4789034"/>
          </a:xfrm>
        </p:spPr>
        <p:txBody>
          <a:bodyPr>
            <a:normAutofit/>
          </a:bodyPr>
          <a:lstStyle/>
          <a:p>
            <a:pPr marL="0" indent="0">
              <a:buNone/>
            </a:pPr>
            <a:r>
              <a:rPr lang="es-ES" b="1" dirty="0"/>
              <a:t>Retos y Consideraciones</a:t>
            </a:r>
          </a:p>
          <a:p>
            <a:pPr>
              <a:buFont typeface="Arial" panose="020B0604020202020204" pitchFamily="34" charset="0"/>
              <a:buChar char="•"/>
            </a:pPr>
            <a:r>
              <a:rPr lang="es-ES" b="1" dirty="0"/>
              <a:t>Ciberseguridad</a:t>
            </a:r>
            <a:r>
              <a:rPr lang="es-ES" dirty="0"/>
              <a:t>: Dado que los sistemas SCADA están conectados a redes y pueden ser accesibles a través de Internet, es crucial implementar medidas de ciberseguridad para proteger contra ataques y accesos no autorizados.</a:t>
            </a:r>
          </a:p>
          <a:p>
            <a:pPr>
              <a:buFont typeface="Arial" panose="020B0604020202020204" pitchFamily="34" charset="0"/>
              <a:buChar char="•"/>
            </a:pPr>
            <a:r>
              <a:rPr lang="es-ES" b="1" dirty="0"/>
              <a:t>Mantenimiento y Actualización</a:t>
            </a:r>
            <a:r>
              <a:rPr lang="es-ES" dirty="0"/>
              <a:t>: Los sistemas SCADA requieren mantenimiento regular y actualizaciones para asegurar que sigan funcionando correctamente y sean compatibles con nuevas tecnologías.</a:t>
            </a:r>
          </a:p>
          <a:p>
            <a:pPr>
              <a:buFont typeface="Arial" panose="020B0604020202020204" pitchFamily="34" charset="0"/>
              <a:buChar char="•"/>
            </a:pPr>
            <a:r>
              <a:rPr lang="es-ES" b="1" dirty="0"/>
              <a:t>Interoperabilidad</a:t>
            </a:r>
            <a:r>
              <a:rPr lang="es-ES" dirty="0"/>
              <a:t>: En sistemas complejos, asegurar que diferentes dispositivos y tecnologías sean compatibles y puedan integrarse efectivamente es un desafío importante.</a:t>
            </a:r>
          </a:p>
          <a:p>
            <a:endParaRPr lang="es-ES" dirty="0"/>
          </a:p>
        </p:txBody>
      </p:sp>
    </p:spTree>
    <p:extLst>
      <p:ext uri="{BB962C8B-B14F-4D97-AF65-F5344CB8AC3E}">
        <p14:creationId xmlns:p14="http://schemas.microsoft.com/office/powerpoint/2010/main" val="2054349978"/>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Marcador de contenido 2">
            <a:extLst>
              <a:ext uri="{FF2B5EF4-FFF2-40B4-BE49-F238E27FC236}">
                <a16:creationId xmlns:a16="http://schemas.microsoft.com/office/drawing/2014/main" id="{9A3A338C-2F44-961B-B316-9D3B1B3352AF}"/>
              </a:ext>
            </a:extLst>
          </p:cNvPr>
          <p:cNvSpPr>
            <a:spLocks noGrp="1"/>
          </p:cNvSpPr>
          <p:nvPr>
            <p:ph idx="1"/>
          </p:nvPr>
        </p:nvSpPr>
        <p:spPr>
          <a:xfrm>
            <a:off x="838199" y="1387930"/>
            <a:ext cx="11032671" cy="4789034"/>
          </a:xfrm>
        </p:spPr>
        <p:txBody>
          <a:bodyPr>
            <a:normAutofit/>
          </a:bodyPr>
          <a:lstStyle/>
          <a:p>
            <a:pPr algn="just"/>
            <a:r>
              <a:rPr lang="es-ES" dirty="0"/>
              <a:t>En resumen, el sistema SCADA es una herramienta poderosa para la supervisión y control de procesos industriales, proporcionando una visión integral del funcionamiento de sistemas complejos como el transporte de gas natural. Permite una gestión eficiente, segura y basada en datos, fundamental para el éxito operativo. </a:t>
            </a:r>
          </a:p>
        </p:txBody>
      </p:sp>
    </p:spTree>
    <p:extLst>
      <p:ext uri="{BB962C8B-B14F-4D97-AF65-F5344CB8AC3E}">
        <p14:creationId xmlns:p14="http://schemas.microsoft.com/office/powerpoint/2010/main" val="1659329238"/>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AA19E6F5-05DC-9995-611E-161294A54025}"/>
              </a:ext>
            </a:extLst>
          </p:cNvPr>
          <p:cNvSpPr>
            <a:spLocks noGrp="1"/>
          </p:cNvSpPr>
          <p:nvPr>
            <p:ph type="title"/>
          </p:nvPr>
        </p:nvSpPr>
        <p:spPr>
          <a:xfrm>
            <a:off x="838199" y="183009"/>
            <a:ext cx="8779330" cy="996053"/>
          </a:xfrm>
        </p:spPr>
        <p:txBody>
          <a:bodyPr>
            <a:normAutofit/>
          </a:bodyPr>
          <a:lstStyle/>
          <a:p>
            <a:r>
              <a:rPr lang="es-ES" sz="2800" dirty="0"/>
              <a:t>Distribución de Gas Natural: Tendido de Redes en Perú</a:t>
            </a:r>
            <a:endParaRPr lang="es-ES" sz="6000" dirty="0"/>
          </a:p>
        </p:txBody>
      </p:sp>
      <p:sp>
        <p:nvSpPr>
          <p:cNvPr id="3" name="Marcador de contenido 2">
            <a:extLst>
              <a:ext uri="{FF2B5EF4-FFF2-40B4-BE49-F238E27FC236}">
                <a16:creationId xmlns:a16="http://schemas.microsoft.com/office/drawing/2014/main" id="{9A3A338C-2F44-961B-B316-9D3B1B3352AF}"/>
              </a:ext>
            </a:extLst>
          </p:cNvPr>
          <p:cNvSpPr>
            <a:spLocks noGrp="1"/>
          </p:cNvSpPr>
          <p:nvPr>
            <p:ph idx="1"/>
          </p:nvPr>
        </p:nvSpPr>
        <p:spPr>
          <a:xfrm>
            <a:off x="838199" y="1387930"/>
            <a:ext cx="11032671" cy="4789034"/>
          </a:xfrm>
        </p:spPr>
        <p:txBody>
          <a:bodyPr>
            <a:normAutofit/>
          </a:bodyPr>
          <a:lstStyle/>
          <a:p>
            <a:r>
              <a:rPr lang="es-ES" dirty="0"/>
              <a:t>La distribución de gas natural en Perú es un componente clave del sistema de suministro de energía que permite llevar gas desde los puntos de entrada en el país hasta los consumidores finales. Esto se realiza a través de una red de tuberías que transportan el gas a presiones más bajas en comparación con las utilizadas en el transporte principal.</a:t>
            </a:r>
          </a:p>
          <a:p>
            <a:r>
              <a:rPr lang="es-ES" b="1" dirty="0"/>
              <a:t>Proceso de Tendido de Redes</a:t>
            </a:r>
          </a:p>
          <a:p>
            <a:r>
              <a:rPr lang="es-ES" dirty="0"/>
              <a:t>El tendido de redes para la distribución de gas natural implica varias etapas, desde la planificación y diseño hasta la construcción e inspección:</a:t>
            </a:r>
          </a:p>
          <a:p>
            <a:endParaRPr lang="es-ES" dirty="0"/>
          </a:p>
        </p:txBody>
      </p:sp>
    </p:spTree>
    <p:extLst>
      <p:ext uri="{BB962C8B-B14F-4D97-AF65-F5344CB8AC3E}">
        <p14:creationId xmlns:p14="http://schemas.microsoft.com/office/powerpoint/2010/main" val="4086028576"/>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AA19E6F5-05DC-9995-611E-161294A54025}"/>
              </a:ext>
            </a:extLst>
          </p:cNvPr>
          <p:cNvSpPr>
            <a:spLocks noGrp="1"/>
          </p:cNvSpPr>
          <p:nvPr>
            <p:ph type="title"/>
          </p:nvPr>
        </p:nvSpPr>
        <p:spPr>
          <a:xfrm>
            <a:off x="838199" y="183009"/>
            <a:ext cx="10515600" cy="996053"/>
          </a:xfrm>
        </p:spPr>
        <p:txBody>
          <a:bodyPr>
            <a:normAutofit/>
          </a:bodyPr>
          <a:lstStyle/>
          <a:p>
            <a:endParaRPr lang="es-ES" sz="2800" dirty="0"/>
          </a:p>
        </p:txBody>
      </p:sp>
      <p:sp>
        <p:nvSpPr>
          <p:cNvPr id="3" name="Marcador de contenido 2">
            <a:extLst>
              <a:ext uri="{FF2B5EF4-FFF2-40B4-BE49-F238E27FC236}">
                <a16:creationId xmlns:a16="http://schemas.microsoft.com/office/drawing/2014/main" id="{9A3A338C-2F44-961B-B316-9D3B1B3352AF}"/>
              </a:ext>
            </a:extLst>
          </p:cNvPr>
          <p:cNvSpPr>
            <a:spLocks noGrp="1"/>
          </p:cNvSpPr>
          <p:nvPr>
            <p:ph idx="1"/>
          </p:nvPr>
        </p:nvSpPr>
        <p:spPr>
          <a:xfrm>
            <a:off x="838199" y="1387930"/>
            <a:ext cx="11032671" cy="4789034"/>
          </a:xfrm>
        </p:spPr>
        <p:txBody>
          <a:bodyPr>
            <a:normAutofit fontScale="92500" lnSpcReduction="10000"/>
          </a:bodyPr>
          <a:lstStyle/>
          <a:p>
            <a:r>
              <a:rPr lang="es-ES" b="1" dirty="0"/>
              <a:t>Planificación y Diseño</a:t>
            </a:r>
          </a:p>
          <a:p>
            <a:pPr>
              <a:buFont typeface="Arial" panose="020B0604020202020204" pitchFamily="34" charset="0"/>
              <a:buChar char="•"/>
            </a:pPr>
            <a:r>
              <a:rPr lang="es-ES" b="1" dirty="0"/>
              <a:t>Estudio de Demanda y Viabilidad</a:t>
            </a:r>
            <a:r>
              <a:rPr lang="es-ES" dirty="0"/>
              <a:t>: Antes de iniciar el tendido de redes, se realiza un estudio de demanda para determinar las necesidades de gas en las áreas específicas. En Perú, esto también incluye considerar el crecimiento futuro y la expansión potencial del suministro.</a:t>
            </a:r>
          </a:p>
          <a:p>
            <a:pPr>
              <a:buFont typeface="Arial" panose="020B0604020202020204" pitchFamily="34" charset="0"/>
              <a:buChar char="•"/>
            </a:pPr>
            <a:r>
              <a:rPr lang="es-ES" b="1" dirty="0"/>
              <a:t>Diseño de la Red</a:t>
            </a:r>
            <a:r>
              <a:rPr lang="es-ES" dirty="0"/>
              <a:t>: El diseño de la red de distribución incluye la determinación del trazado de las tuberías, la selección de materiales, y el cálculo de presiones y diámetros de tuberías. En Perú, el diseño debe cumplir con las normativas establecidas por </a:t>
            </a:r>
            <a:r>
              <a:rPr lang="es-ES" b="1" dirty="0"/>
              <a:t>Osinergmin</a:t>
            </a:r>
            <a:r>
              <a:rPr lang="es-ES" dirty="0"/>
              <a:t> y las </a:t>
            </a:r>
            <a:r>
              <a:rPr lang="es-ES" b="1" dirty="0"/>
              <a:t>Normas Técnicas Peruanas (NTP)</a:t>
            </a:r>
            <a:r>
              <a:rPr lang="es-ES" dirty="0"/>
              <a:t> aplicables.</a:t>
            </a:r>
          </a:p>
          <a:p>
            <a:pPr>
              <a:buFont typeface="Arial" panose="020B0604020202020204" pitchFamily="34" charset="0"/>
              <a:buChar char="•"/>
            </a:pPr>
            <a:r>
              <a:rPr lang="es-ES" b="1" dirty="0"/>
              <a:t>Permisos y Licencias</a:t>
            </a:r>
            <a:r>
              <a:rPr lang="es-ES" dirty="0"/>
              <a:t>: Se deben obtener los permisos necesarios de autoridades locales y regionales. Esto incluye aprobaciones del </a:t>
            </a:r>
            <a:r>
              <a:rPr lang="es-ES" b="1" dirty="0"/>
              <a:t>Ministerio de Energía y Minas (MEM)</a:t>
            </a:r>
            <a:r>
              <a:rPr lang="es-ES" dirty="0"/>
              <a:t>, la </a:t>
            </a:r>
            <a:r>
              <a:rPr lang="es-ES" b="1" dirty="0"/>
              <a:t>Agencia de Evaluación y Fiscalización Ambiental (OEFA)</a:t>
            </a:r>
            <a:r>
              <a:rPr lang="es-ES" dirty="0"/>
              <a:t>, y permisos municipales.</a:t>
            </a:r>
          </a:p>
          <a:p>
            <a:endParaRPr lang="es-ES" dirty="0"/>
          </a:p>
        </p:txBody>
      </p:sp>
    </p:spTree>
    <p:extLst>
      <p:ext uri="{BB962C8B-B14F-4D97-AF65-F5344CB8AC3E}">
        <p14:creationId xmlns:p14="http://schemas.microsoft.com/office/powerpoint/2010/main" val="500347889"/>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AA19E6F5-05DC-9995-611E-161294A54025}"/>
              </a:ext>
            </a:extLst>
          </p:cNvPr>
          <p:cNvSpPr>
            <a:spLocks noGrp="1"/>
          </p:cNvSpPr>
          <p:nvPr>
            <p:ph type="title"/>
          </p:nvPr>
        </p:nvSpPr>
        <p:spPr>
          <a:xfrm>
            <a:off x="838199" y="183009"/>
            <a:ext cx="10515600" cy="996053"/>
          </a:xfrm>
        </p:spPr>
        <p:txBody>
          <a:bodyPr>
            <a:normAutofit/>
          </a:bodyPr>
          <a:lstStyle/>
          <a:p>
            <a:endParaRPr lang="es-ES" sz="2800" dirty="0"/>
          </a:p>
        </p:txBody>
      </p:sp>
      <p:sp>
        <p:nvSpPr>
          <p:cNvPr id="3" name="Marcador de contenido 2">
            <a:extLst>
              <a:ext uri="{FF2B5EF4-FFF2-40B4-BE49-F238E27FC236}">
                <a16:creationId xmlns:a16="http://schemas.microsoft.com/office/drawing/2014/main" id="{9A3A338C-2F44-961B-B316-9D3B1B3352AF}"/>
              </a:ext>
            </a:extLst>
          </p:cNvPr>
          <p:cNvSpPr>
            <a:spLocks noGrp="1"/>
          </p:cNvSpPr>
          <p:nvPr>
            <p:ph idx="1"/>
          </p:nvPr>
        </p:nvSpPr>
        <p:spPr>
          <a:xfrm>
            <a:off x="838199" y="1387930"/>
            <a:ext cx="11032671" cy="4789034"/>
          </a:xfrm>
        </p:spPr>
        <p:txBody>
          <a:bodyPr>
            <a:normAutofit fontScale="92500" lnSpcReduction="20000"/>
          </a:bodyPr>
          <a:lstStyle/>
          <a:p>
            <a:r>
              <a:rPr lang="es-ES" b="1" dirty="0"/>
              <a:t>Construcción de la Red</a:t>
            </a:r>
          </a:p>
          <a:p>
            <a:pPr>
              <a:buFont typeface="Arial" panose="020B0604020202020204" pitchFamily="34" charset="0"/>
              <a:buChar char="•"/>
            </a:pPr>
            <a:r>
              <a:rPr lang="es-ES" b="1" dirty="0"/>
              <a:t>Preparación del Terreno</a:t>
            </a:r>
            <a:r>
              <a:rPr lang="es-ES" dirty="0"/>
              <a:t>: La construcción comienza con la preparación del terreno, que incluye excavación de zanjas para colocar las tuberías. En áreas urbanas, esto puede requerir coordinación con servicios públicos existentes y manejo de tráfico.</a:t>
            </a:r>
          </a:p>
          <a:p>
            <a:pPr>
              <a:buFont typeface="Arial" panose="020B0604020202020204" pitchFamily="34" charset="0"/>
              <a:buChar char="•"/>
            </a:pPr>
            <a:r>
              <a:rPr lang="es-ES" b="1" dirty="0"/>
              <a:t>Instalación de Tuberías</a:t>
            </a:r>
            <a:r>
              <a:rPr lang="es-ES" dirty="0"/>
              <a:t>: Las tuberías se colocan en las zanjas y se unen mediante técnicas de soldadura o unión mecánica. En Perú, se utilizan comúnmente tuberías de acero para redes de mayor presión y polietileno para redes de baja presión.</a:t>
            </a:r>
          </a:p>
          <a:p>
            <a:pPr>
              <a:buFont typeface="Arial" panose="020B0604020202020204" pitchFamily="34" charset="0"/>
              <a:buChar char="•"/>
            </a:pPr>
            <a:r>
              <a:rPr lang="es-ES" b="1" dirty="0"/>
              <a:t>Construcción de Infraestructura Adicional</a:t>
            </a:r>
            <a:r>
              <a:rPr lang="es-ES" dirty="0"/>
              <a:t>: Se instalan válvulas de control, estaciones de medición y equipos de regulación. Estos componentes permiten ajustar la presión del gas y controlar el flujo en la red.</a:t>
            </a:r>
          </a:p>
          <a:p>
            <a:pPr>
              <a:buFont typeface="Arial" panose="020B0604020202020204" pitchFamily="34" charset="0"/>
              <a:buChar char="•"/>
            </a:pPr>
            <a:r>
              <a:rPr lang="es-ES" b="1" dirty="0"/>
              <a:t>Pruebas de Presión</a:t>
            </a:r>
            <a:r>
              <a:rPr lang="es-ES" dirty="0"/>
              <a:t>: Se realizan pruebas de presión para asegurar la integridad de la red y detectar posibles fugas. Estas pruebas son cruciales para garantizar la seguridad y funcionalidad del sistema.</a:t>
            </a:r>
          </a:p>
          <a:p>
            <a:endParaRPr lang="es-ES" dirty="0"/>
          </a:p>
        </p:txBody>
      </p:sp>
    </p:spTree>
    <p:extLst>
      <p:ext uri="{BB962C8B-B14F-4D97-AF65-F5344CB8AC3E}">
        <p14:creationId xmlns:p14="http://schemas.microsoft.com/office/powerpoint/2010/main" val="908128523"/>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AA19E6F5-05DC-9995-611E-161294A54025}"/>
              </a:ext>
            </a:extLst>
          </p:cNvPr>
          <p:cNvSpPr>
            <a:spLocks noGrp="1"/>
          </p:cNvSpPr>
          <p:nvPr>
            <p:ph type="title"/>
          </p:nvPr>
        </p:nvSpPr>
        <p:spPr>
          <a:xfrm>
            <a:off x="838199" y="183009"/>
            <a:ext cx="10515600" cy="996053"/>
          </a:xfrm>
        </p:spPr>
        <p:txBody>
          <a:bodyPr>
            <a:normAutofit/>
          </a:bodyPr>
          <a:lstStyle/>
          <a:p>
            <a:endParaRPr lang="es-ES" sz="2800" dirty="0"/>
          </a:p>
        </p:txBody>
      </p:sp>
      <p:sp>
        <p:nvSpPr>
          <p:cNvPr id="3" name="Marcador de contenido 2">
            <a:extLst>
              <a:ext uri="{FF2B5EF4-FFF2-40B4-BE49-F238E27FC236}">
                <a16:creationId xmlns:a16="http://schemas.microsoft.com/office/drawing/2014/main" id="{9A3A338C-2F44-961B-B316-9D3B1B3352AF}"/>
              </a:ext>
            </a:extLst>
          </p:cNvPr>
          <p:cNvSpPr>
            <a:spLocks noGrp="1"/>
          </p:cNvSpPr>
          <p:nvPr>
            <p:ph idx="1"/>
          </p:nvPr>
        </p:nvSpPr>
        <p:spPr>
          <a:xfrm>
            <a:off x="838199" y="1387930"/>
            <a:ext cx="11032671" cy="4789034"/>
          </a:xfrm>
        </p:spPr>
        <p:txBody>
          <a:bodyPr>
            <a:normAutofit lnSpcReduction="10000"/>
          </a:bodyPr>
          <a:lstStyle/>
          <a:p>
            <a:r>
              <a:rPr lang="es-ES" b="1" dirty="0"/>
              <a:t>Operación y Mantenimiento</a:t>
            </a:r>
          </a:p>
          <a:p>
            <a:pPr>
              <a:buFont typeface="Arial" panose="020B0604020202020204" pitchFamily="34" charset="0"/>
              <a:buChar char="•"/>
            </a:pPr>
            <a:r>
              <a:rPr lang="es-ES" b="1" dirty="0"/>
              <a:t>Monitoreo y Control</a:t>
            </a:r>
            <a:r>
              <a:rPr lang="es-ES" dirty="0"/>
              <a:t>: La operación de la red de distribución se realiza mediante sistemas SCADA y equipos de control que monitorean la presión, el flujo, y otros parámetros críticos.</a:t>
            </a:r>
          </a:p>
          <a:p>
            <a:pPr>
              <a:buFont typeface="Arial" panose="020B0604020202020204" pitchFamily="34" charset="0"/>
              <a:buChar char="•"/>
            </a:pPr>
            <a:r>
              <a:rPr lang="es-ES" b="1" dirty="0"/>
              <a:t>Mantenimiento Preventivo y Correctivo</a:t>
            </a:r>
            <a:r>
              <a:rPr lang="es-ES" dirty="0"/>
              <a:t>: Se implementa un programa de mantenimiento que incluye inspecciones regulares y la reparación de cualquier defecto o daño en la red. El mantenimiento preventivo ayuda a evitar problemas futuros, mientras que el mantenimiento correctivo aborda fallos inesperados.</a:t>
            </a:r>
          </a:p>
          <a:p>
            <a:pPr>
              <a:buFont typeface="Arial" panose="020B0604020202020204" pitchFamily="34" charset="0"/>
              <a:buChar char="•"/>
            </a:pPr>
            <a:r>
              <a:rPr lang="es-ES" b="1" dirty="0"/>
              <a:t>Inspección de Integridad</a:t>
            </a:r>
            <a:r>
              <a:rPr lang="es-ES" dirty="0"/>
              <a:t>: Las inspecciones periódicas incluyen el uso de tecnologías como el ultrasonido para evaluar el estado de las tuberías y detectar corrosión o daños.</a:t>
            </a:r>
          </a:p>
          <a:p>
            <a:endParaRPr lang="es-ES" dirty="0"/>
          </a:p>
        </p:txBody>
      </p:sp>
    </p:spTree>
    <p:extLst>
      <p:ext uri="{BB962C8B-B14F-4D97-AF65-F5344CB8AC3E}">
        <p14:creationId xmlns:p14="http://schemas.microsoft.com/office/powerpoint/2010/main" val="3322337531"/>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Marcador de contenido 2">
            <a:extLst>
              <a:ext uri="{FF2B5EF4-FFF2-40B4-BE49-F238E27FC236}">
                <a16:creationId xmlns:a16="http://schemas.microsoft.com/office/drawing/2014/main" id="{9A3A338C-2F44-961B-B316-9D3B1B3352AF}"/>
              </a:ext>
            </a:extLst>
          </p:cNvPr>
          <p:cNvSpPr>
            <a:spLocks noGrp="1"/>
          </p:cNvSpPr>
          <p:nvPr>
            <p:ph idx="1"/>
          </p:nvPr>
        </p:nvSpPr>
        <p:spPr>
          <a:xfrm>
            <a:off x="838199" y="1110343"/>
            <a:ext cx="11032671" cy="5066621"/>
          </a:xfrm>
        </p:spPr>
        <p:txBody>
          <a:bodyPr>
            <a:normAutofit fontScale="85000" lnSpcReduction="20000"/>
          </a:bodyPr>
          <a:lstStyle/>
          <a:p>
            <a:pPr algn="just"/>
            <a:r>
              <a:rPr lang="es-ES" b="1" dirty="0"/>
              <a:t>Normativas y Regulaciones en Perú</a:t>
            </a:r>
          </a:p>
          <a:p>
            <a:pPr algn="just">
              <a:buFont typeface="Arial" panose="020B0604020202020204" pitchFamily="34" charset="0"/>
              <a:buChar char="•"/>
            </a:pPr>
            <a:r>
              <a:rPr lang="es-ES" b="1" dirty="0"/>
              <a:t>Reglamento de Seguridad para Instalaciones de Hidrocarburos</a:t>
            </a:r>
            <a:r>
              <a:rPr lang="es-ES" dirty="0"/>
              <a:t>: Este reglamento establece los requisitos técnicos y de seguridad para la construcción y operación de redes de distribución de gas natural en Perú. Incluye especificaciones sobre el diseño, la construcción y el mantenimiento de las redes.</a:t>
            </a:r>
          </a:p>
          <a:p>
            <a:pPr algn="just">
              <a:buFont typeface="Arial" panose="020B0604020202020204" pitchFamily="34" charset="0"/>
              <a:buChar char="•"/>
            </a:pPr>
            <a:r>
              <a:rPr lang="es-ES" b="1" dirty="0"/>
              <a:t>Normas Técnicas Peruanas (NTP)</a:t>
            </a:r>
            <a:r>
              <a:rPr lang="es-ES" dirty="0"/>
              <a:t>: Las NTP proporcionan estándares técnicos para la construcción y operación de redes de distribución. Estas normas aseguran que las instalaciones cumplan con los requisitos de calidad y seguridad.</a:t>
            </a:r>
          </a:p>
          <a:p>
            <a:pPr algn="just">
              <a:buFont typeface="Arial" panose="020B0604020202020204" pitchFamily="34" charset="0"/>
              <a:buChar char="•"/>
            </a:pPr>
            <a:r>
              <a:rPr lang="es-ES" b="1" dirty="0"/>
              <a:t>Osinergmin</a:t>
            </a:r>
            <a:r>
              <a:rPr lang="es-ES" dirty="0"/>
              <a:t>: El </a:t>
            </a:r>
            <a:r>
              <a:rPr lang="es-ES" b="1" dirty="0"/>
              <a:t>Organismo Supervisor de la Inversión en Energía y Minería (Osinergmin)</a:t>
            </a:r>
            <a:r>
              <a:rPr lang="es-ES" dirty="0"/>
              <a:t> es el ente regulador que supervisa la operación y mantenimiento de las redes de distribución de gas en Perú. Osinergmin establece normativas y realiza auditorías para asegurar el cumplimiento de los estándares.</a:t>
            </a:r>
          </a:p>
          <a:p>
            <a:pPr algn="just">
              <a:buFont typeface="Arial" panose="020B0604020202020204" pitchFamily="34" charset="0"/>
              <a:buChar char="•"/>
            </a:pPr>
            <a:r>
              <a:rPr lang="es-ES" b="1" dirty="0"/>
              <a:t>Agencia de Evaluación y Fiscalización Ambiental (OEFA)</a:t>
            </a:r>
            <a:r>
              <a:rPr lang="es-ES" dirty="0"/>
              <a:t>: OEFA se encarga de la evaluación y fiscalización de los impactos ambientales relacionados con la construcción de redes de distribución. Asegura que los proyectos cumplan con los requisitos ambientales y minimicen el impacto en el entorno.</a:t>
            </a:r>
          </a:p>
          <a:p>
            <a:endParaRPr lang="es-ES" dirty="0"/>
          </a:p>
        </p:txBody>
      </p:sp>
    </p:spTree>
    <p:extLst>
      <p:ext uri="{BB962C8B-B14F-4D97-AF65-F5344CB8AC3E}">
        <p14:creationId xmlns:p14="http://schemas.microsoft.com/office/powerpoint/2010/main" val="830865087"/>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Marcador de contenido 2">
            <a:extLst>
              <a:ext uri="{FF2B5EF4-FFF2-40B4-BE49-F238E27FC236}">
                <a16:creationId xmlns:a16="http://schemas.microsoft.com/office/drawing/2014/main" id="{9A3A338C-2F44-961B-B316-9D3B1B3352AF}"/>
              </a:ext>
            </a:extLst>
          </p:cNvPr>
          <p:cNvSpPr>
            <a:spLocks noGrp="1"/>
          </p:cNvSpPr>
          <p:nvPr>
            <p:ph idx="1"/>
          </p:nvPr>
        </p:nvSpPr>
        <p:spPr>
          <a:xfrm>
            <a:off x="838199" y="1191986"/>
            <a:ext cx="11032671" cy="4984978"/>
          </a:xfrm>
        </p:spPr>
        <p:txBody>
          <a:bodyPr>
            <a:normAutofit fontScale="92500" lnSpcReduction="10000"/>
          </a:bodyPr>
          <a:lstStyle/>
          <a:p>
            <a:pPr marL="0" indent="0" algn="just">
              <a:buNone/>
            </a:pPr>
            <a:r>
              <a:rPr lang="es-ES" b="1" dirty="0"/>
              <a:t>Consideraciones Ambientales y Sociales</a:t>
            </a:r>
          </a:p>
          <a:p>
            <a:pPr algn="just">
              <a:buFont typeface="Arial" panose="020B0604020202020204" pitchFamily="34" charset="0"/>
              <a:buChar char="•"/>
            </a:pPr>
            <a:r>
              <a:rPr lang="es-ES" b="1" dirty="0"/>
              <a:t>Impacto Ambiental</a:t>
            </a:r>
            <a:r>
              <a:rPr lang="es-ES" dirty="0"/>
              <a:t>: La construcción de redes de distribución debe considerar los impactos ambientales y tomar medidas para mitigar cualquier efecto negativo. Esto incluye la restauración del terreno después de la construcción y la gestión de residuos.</a:t>
            </a:r>
          </a:p>
          <a:p>
            <a:pPr algn="just">
              <a:buFont typeface="Arial" panose="020B0604020202020204" pitchFamily="34" charset="0"/>
              <a:buChar char="•"/>
            </a:pPr>
            <a:r>
              <a:rPr lang="es-ES" b="1" dirty="0"/>
              <a:t>Participación Comunitaria</a:t>
            </a:r>
            <a:r>
              <a:rPr lang="es-ES" dirty="0"/>
              <a:t>: Es importante involucrar a las comunidades locales en el proceso de planificación y construcción para abordar sus preocupaciones y obtener su apoyo. Esto puede incluir consultas públicas y reuniones con residentes afectados.</a:t>
            </a:r>
          </a:p>
          <a:p>
            <a:pPr algn="just">
              <a:buFont typeface="Arial" panose="020B0604020202020204" pitchFamily="34" charset="0"/>
              <a:buChar char="•"/>
            </a:pPr>
            <a:r>
              <a:rPr lang="es-ES" b="1" dirty="0"/>
              <a:t>Seguridad y Salud</a:t>
            </a:r>
            <a:r>
              <a:rPr lang="es-ES" dirty="0"/>
              <a:t>: Se deben implementar medidas para proteger la salud y seguridad de los trabajadores y del público durante la construcción y operación de la red. Esto incluye el uso de equipos de protección personal (EPP) y la capacitación adecuada del personal.</a:t>
            </a:r>
          </a:p>
          <a:p>
            <a:endParaRPr lang="es-ES" dirty="0"/>
          </a:p>
        </p:txBody>
      </p:sp>
    </p:spTree>
    <p:extLst>
      <p:ext uri="{BB962C8B-B14F-4D97-AF65-F5344CB8AC3E}">
        <p14:creationId xmlns:p14="http://schemas.microsoft.com/office/powerpoint/2010/main" val="1342772654"/>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Marcador de contenido 2">
            <a:extLst>
              <a:ext uri="{FF2B5EF4-FFF2-40B4-BE49-F238E27FC236}">
                <a16:creationId xmlns:a16="http://schemas.microsoft.com/office/drawing/2014/main" id="{9A3A338C-2F44-961B-B316-9D3B1B3352AF}"/>
              </a:ext>
            </a:extLst>
          </p:cNvPr>
          <p:cNvSpPr>
            <a:spLocks noGrp="1"/>
          </p:cNvSpPr>
          <p:nvPr>
            <p:ph idx="1"/>
          </p:nvPr>
        </p:nvSpPr>
        <p:spPr>
          <a:xfrm>
            <a:off x="898072" y="1191985"/>
            <a:ext cx="11032671" cy="4984978"/>
          </a:xfrm>
        </p:spPr>
        <p:txBody>
          <a:bodyPr>
            <a:normAutofit fontScale="92500"/>
          </a:bodyPr>
          <a:lstStyle/>
          <a:p>
            <a:pPr marL="0" indent="0" algn="just">
              <a:buNone/>
            </a:pPr>
            <a:r>
              <a:rPr lang="es-ES" b="1" dirty="0"/>
              <a:t>Desafíos y Oportunidades</a:t>
            </a:r>
          </a:p>
          <a:p>
            <a:pPr algn="just">
              <a:buFont typeface="Arial" panose="020B0604020202020204" pitchFamily="34" charset="0"/>
              <a:buChar char="•"/>
            </a:pPr>
            <a:r>
              <a:rPr lang="es-ES" b="1" dirty="0"/>
              <a:t>Desafíos</a:t>
            </a:r>
            <a:r>
              <a:rPr lang="es-ES" dirty="0"/>
              <a:t>: Entre los desafíos se encuentran la coordinación con otras infraestructuras urbanas, la gestión de terrenos y permisos, y la adaptación a las condiciones geográficas y climáticas variadas de Perú.</a:t>
            </a:r>
          </a:p>
          <a:p>
            <a:pPr algn="just">
              <a:buFont typeface="Arial" panose="020B0604020202020204" pitchFamily="34" charset="0"/>
              <a:buChar char="•"/>
            </a:pPr>
            <a:r>
              <a:rPr lang="es-ES" b="1" dirty="0"/>
              <a:t>Oportunidades</a:t>
            </a:r>
            <a:r>
              <a:rPr lang="es-ES" dirty="0"/>
              <a:t>: La expansión de redes de distribución puede mejorar el acceso al gas natural, apoyar el desarrollo económico y contribuir a la reducción de emisiones al promover el uso de una fuente de energía más limpia.</a:t>
            </a:r>
          </a:p>
          <a:p>
            <a:pPr algn="just"/>
            <a:r>
              <a:rPr lang="es-ES" dirty="0"/>
              <a:t> En resumen, el tendido de redes de distribución de gas natural en Perú es un proceso complejo que requiere una planificación cuidadosa, cumplimiento de normativas, y un enfoque en la seguridad y el impacto ambiental. La adecuada implementación de estos sistemas es fundamental para asegurar un suministro confiable y eficiente de gas natural a los consumidores finales</a:t>
            </a:r>
          </a:p>
        </p:txBody>
      </p:sp>
    </p:spTree>
    <p:extLst>
      <p:ext uri="{BB962C8B-B14F-4D97-AF65-F5344CB8AC3E}">
        <p14:creationId xmlns:p14="http://schemas.microsoft.com/office/powerpoint/2010/main" val="4286974331"/>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505381496"/>
      </p:ext>
    </p:extLst>
  </p:cSld>
  <p:clrMapOvr>
    <a:masterClrMapping/>
  </p:clrMapOvr>
</p:sld>
</file>

<file path=ppt/theme/theme1.xml><?xml version="1.0" encoding="utf-8"?>
<a:theme xmlns:a="http://schemas.openxmlformats.org/drawingml/2006/main" name="Tema de Offic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22441</TotalTime>
  <Words>6297</Words>
  <Application>Microsoft Office PowerPoint</Application>
  <PresentationFormat>Panorámica</PresentationFormat>
  <Paragraphs>287</Paragraphs>
  <Slides>62</Slides>
  <Notes>0</Notes>
  <HiddenSlides>0</HiddenSlides>
  <MMClips>0</MMClips>
  <ScaleCrop>false</ScaleCrop>
  <HeadingPairs>
    <vt:vector size="6" baseType="variant">
      <vt:variant>
        <vt:lpstr>Fuentes usadas</vt:lpstr>
      </vt:variant>
      <vt:variant>
        <vt:i4>4</vt:i4>
      </vt:variant>
      <vt:variant>
        <vt:lpstr>Tema</vt:lpstr>
      </vt:variant>
      <vt:variant>
        <vt:i4>1</vt:i4>
      </vt:variant>
      <vt:variant>
        <vt:lpstr>Títulos de diapositiva</vt:lpstr>
      </vt:variant>
      <vt:variant>
        <vt:i4>62</vt:i4>
      </vt:variant>
    </vt:vector>
  </HeadingPairs>
  <TitlesOfParts>
    <vt:vector size="67" baseType="lpstr">
      <vt:lpstr>Arial</vt:lpstr>
      <vt:lpstr>Calibri</vt:lpstr>
      <vt:lpstr>Outfit</vt:lpstr>
      <vt:lpstr>Prompt</vt:lpstr>
      <vt:lpstr>Tema de Office</vt:lpstr>
      <vt:lpstr>Presentación de PowerPoint</vt:lpstr>
      <vt:lpstr>Presentación de PowerPoint</vt:lpstr>
      <vt:lpstr>TRANSPORTE Y DISTRIBUCION</vt:lpstr>
      <vt:lpstr>INTRODUCCION</vt:lpstr>
      <vt:lpstr>Presentación de PowerPoint</vt:lpstr>
      <vt:lpstr>NORMATIVA VIGENTE</vt:lpstr>
      <vt:lpstr>Presentación de PowerPoint</vt:lpstr>
      <vt:lpstr>Presentación de PowerPoint</vt:lpstr>
      <vt:lpstr>Presentación de PowerPoint</vt:lpstr>
      <vt:lpstr>NORMAS TECNICAS Y DE SEGURIDAD</vt:lpstr>
      <vt:lpstr>Presentación de PowerPoint</vt:lpstr>
      <vt:lpstr>ENTIDADES REGULADORAS Y SUPERVISORES</vt:lpstr>
      <vt:lpstr>ASPECTOS AMBIENTALES Y DE SEGURIDAD</vt:lpstr>
      <vt:lpstr>Presentación de PowerPoint</vt:lpstr>
      <vt:lpstr>FACTOR DE MANTENIMIENTO (FM)</vt:lpstr>
      <vt:lpstr>DEFINICION Y OBJETIVO</vt:lpstr>
      <vt:lpstr>Presentación de PowerPoint</vt:lpstr>
      <vt:lpstr>Presentación de PowerPoint</vt:lpstr>
      <vt:lpstr>Presentación de PowerPoint</vt:lpstr>
      <vt:lpstr>ESTRATEGIAS Y TECNICAS DE MANTENIMIENTO</vt:lpstr>
      <vt:lpstr>Presentación de PowerPoint</vt:lpstr>
      <vt:lpstr>NORMATIVA Y REGULACIONES RELACIONADAS</vt:lpstr>
      <vt:lpstr>IMPLEMENTACION DEL FACTOR DE MANTENIMIENTO</vt:lpstr>
      <vt:lpstr>Presentación de PowerPoint</vt:lpstr>
      <vt:lpstr>PRIORIDAD DE TRANSPORTE</vt:lpstr>
      <vt:lpstr>FACTORES QUE DETERMINAN LA PRIORIDAD DE TRANSPORTE</vt:lpstr>
      <vt:lpstr>Presentación de PowerPoint</vt:lpstr>
      <vt:lpstr>Presentación de PowerPoint</vt:lpstr>
      <vt:lpstr>IMPLEMENTACION DE LA PRIORIDAD DE TRANSPORTE</vt:lpstr>
      <vt:lpstr>Presentación de PowerPoint</vt:lpstr>
      <vt:lpstr>EJEMPLOS DE PRIORIDAD DE TRANSPORTE EN EL SECTOR</vt:lpstr>
      <vt:lpstr>Presentación de PowerPoint</vt:lpstr>
      <vt:lpstr>Presentación de PowerPoint</vt:lpstr>
      <vt:lpstr>TRANSPORTE:CONSTRUCCION DE UN GASEODUCTO,OPERACIÓN Y MANTENIMIENTO DE DUCTOS,SISTEMA SCADA</vt:lpstr>
      <vt:lpstr>Presentación de PowerPoint</vt:lpstr>
      <vt:lpstr>Presentación de PowerPoint</vt:lpstr>
      <vt:lpstr>Presentación de PowerPoint</vt:lpstr>
      <vt:lpstr>Presentación de PowerPoint</vt:lpstr>
      <vt:lpstr>Presentación de PowerPoint</vt:lpstr>
      <vt:lpstr>Presentación de PowerPoint</vt:lpstr>
      <vt:lpstr>OPERACIÓN Y MANTENIMIENTO DE DUCTOS</vt:lpstr>
      <vt:lpstr>Presentación de PowerPoint</vt:lpstr>
      <vt:lpstr>Presentación de PowerPoint</vt:lpstr>
      <vt:lpstr>Presentación de PowerPoint</vt:lpstr>
      <vt:lpstr>Presentación de PowerPoint</vt:lpstr>
      <vt:lpstr>Presentación de PowerPoint</vt:lpstr>
      <vt:lpstr>Presentación de PowerPoint</vt:lpstr>
      <vt:lpstr>SISTEMA SCADA(SUPERVISORY CONTROL AND DATA ACQUISITION)</vt:lpstr>
      <vt:lpstr>Presentación de PowerPoint</vt:lpstr>
      <vt:lpstr>Presentación de PowerPoint</vt:lpstr>
      <vt:lpstr>Presentación de PowerPoint</vt:lpstr>
      <vt:lpstr>Presentación de PowerPoint</vt:lpstr>
      <vt:lpstr>Presentación de PowerPoint</vt:lpstr>
      <vt:lpstr>Presentación de PowerPoint</vt:lpstr>
      <vt:lpstr>Distribución de Gas Natural: Tendido de Redes en Perú</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Presentación de PowerPoint</dc:title>
  <dc:creator>Ci5D2</dc:creator>
  <cp:lastModifiedBy>Benji Jonathan Cruzate Contreras</cp:lastModifiedBy>
  <cp:revision>43</cp:revision>
  <dcterms:created xsi:type="dcterms:W3CDTF">2022-04-19T18:02:09Z</dcterms:created>
  <dcterms:modified xsi:type="dcterms:W3CDTF">2024-09-11T02:41:09Z</dcterms:modified>
</cp:coreProperties>
</file>