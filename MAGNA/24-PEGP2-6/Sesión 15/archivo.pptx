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80" r:id="rId4"/>
    <p:sldId id="495" r:id="rId5"/>
    <p:sldId id="508" r:id="rId6"/>
    <p:sldId id="524" r:id="rId7"/>
    <p:sldId id="526" r:id="rId8"/>
    <p:sldId id="523" r:id="rId9"/>
    <p:sldId id="525" r:id="rId10"/>
    <p:sldId id="527" r:id="rId11"/>
    <p:sldId id="528" r:id="rId12"/>
    <p:sldId id="529" r:id="rId13"/>
    <p:sldId id="530" r:id="rId14"/>
    <p:sldId id="531" r:id="rId15"/>
    <p:sldId id="532" r:id="rId16"/>
    <p:sldId id="533" r:id="rId17"/>
    <p:sldId id="534" r:id="rId18"/>
    <p:sldId id="536" r:id="rId19"/>
    <p:sldId id="537" r:id="rId20"/>
    <p:sldId id="538" r:id="rId21"/>
    <p:sldId id="539" r:id="rId22"/>
    <p:sldId id="540" r:id="rId23"/>
    <p:sldId id="541" r:id="rId24"/>
    <p:sldId id="542" r:id="rId25"/>
    <p:sldId id="543" r:id="rId26"/>
    <p:sldId id="544" r:id="rId27"/>
    <p:sldId id="545" r:id="rId28"/>
    <p:sldId id="546" r:id="rId29"/>
    <p:sldId id="547" r:id="rId30"/>
    <p:sldId id="548" r:id="rId31"/>
    <p:sldId id="549" r:id="rId32"/>
    <p:sldId id="550" r:id="rId33"/>
    <p:sldId id="551" r:id="rId34"/>
    <p:sldId id="552" r:id="rId35"/>
    <p:sldId id="553" r:id="rId36"/>
    <p:sldId id="554" r:id="rId37"/>
    <p:sldId id="555" r:id="rId38"/>
    <p:sldId id="556" r:id="rId39"/>
    <p:sldId id="557" r:id="rId40"/>
    <p:sldId id="558" r:id="rId41"/>
    <p:sldId id="559" r:id="rId42"/>
    <p:sldId id="560" r:id="rId43"/>
    <p:sldId id="561" r:id="rId44"/>
    <p:sldId id="535" r:id="rId45"/>
    <p:sldId id="562" r:id="rId46"/>
    <p:sldId id="563" r:id="rId47"/>
    <p:sldId id="564" r:id="rId48"/>
    <p:sldId id="565" r:id="rId49"/>
    <p:sldId id="566" r:id="rId50"/>
    <p:sldId id="567" r:id="rId51"/>
    <p:sldId id="568" r:id="rId52"/>
    <p:sldId id="569" r:id="rId53"/>
    <p:sldId id="570" r:id="rId54"/>
    <p:sldId id="571" r:id="rId55"/>
    <p:sldId id="572" r:id="rId56"/>
    <p:sldId id="573" r:id="rId57"/>
    <p:sldId id="574" r:id="rId58"/>
    <p:sldId id="575" r:id="rId59"/>
    <p:sldId id="576" r:id="rId60"/>
    <p:sldId id="578" r:id="rId61"/>
    <p:sldId id="579" r:id="rId62"/>
    <p:sldId id="580" r:id="rId63"/>
    <p:sldId id="581" r:id="rId64"/>
    <p:sldId id="582" r:id="rId65"/>
    <p:sldId id="583" r:id="rId66"/>
    <p:sldId id="577" r:id="rId67"/>
    <p:sldId id="584" r:id="rId68"/>
    <p:sldId id="260" r:id="rId6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24/09/2024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24/09/2024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24/09/2024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24/09/2024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24/09/2024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24/09/2024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24/09/2024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24/09/2024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881271" y="2551837"/>
            <a:ext cx="10429458" cy="1754326"/>
          </a:xfrm>
          <a:prstGeom prst="rect">
            <a:avLst/>
          </a:prstGeom>
        </p:spPr>
        <p:txBody>
          <a:bodyPr wrap="none">
            <a:spAutoFit/>
          </a:bodyPr>
          <a:lstStyle/>
          <a:p>
            <a:pPr algn="ctr"/>
            <a:r>
              <a:rPr lang="es-ES" sz="5400" b="1" dirty="0">
                <a:solidFill>
                  <a:srgbClr val="00F3B5"/>
                </a:solidFill>
                <a:latin typeface="Prompt" panose="00000500000000000000" pitchFamily="2" charset="-34"/>
                <a:cs typeface="Prompt" panose="00000500000000000000" pitchFamily="2" charset="-34"/>
              </a:rPr>
              <a:t>ESPECIALIZACION EN  </a:t>
            </a:r>
          </a:p>
          <a:p>
            <a:pPr algn="ctr"/>
            <a:r>
              <a:rPr lang="es-ES" sz="5400" dirty="0">
                <a:solidFill>
                  <a:schemeClr val="bg1"/>
                </a:solidFill>
                <a:latin typeface="Prompt" panose="00000800000000000000" pitchFamily="2" charset="-34"/>
                <a:cs typeface="Prompt" panose="00000800000000000000" pitchFamily="2" charset="-34"/>
              </a:rPr>
              <a:t>GESTION DE GAS Y PETROLEO</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C7009-B4AD-8BBA-4EE5-7DE0D730117F}"/>
              </a:ext>
            </a:extLst>
          </p:cNvPr>
          <p:cNvSpPr>
            <a:spLocks noGrp="1"/>
          </p:cNvSpPr>
          <p:nvPr>
            <p:ph type="title"/>
          </p:nvPr>
        </p:nvSpPr>
        <p:spPr>
          <a:xfrm>
            <a:off x="1099457" y="2865729"/>
            <a:ext cx="10515600" cy="1325563"/>
          </a:xfrm>
        </p:spPr>
        <p:txBody>
          <a:bodyPr/>
          <a:lstStyle/>
          <a:p>
            <a:r>
              <a:rPr lang="es-ES" dirty="0"/>
              <a:t>EVALUACION ECONOMICA DE PROYECTOS DE HIDROCARBUROS</a:t>
            </a:r>
            <a:endParaRPr lang="es-PE" dirty="0"/>
          </a:p>
        </p:txBody>
      </p:sp>
      <p:sp>
        <p:nvSpPr>
          <p:cNvPr id="3" name="Título 1">
            <a:extLst>
              <a:ext uri="{FF2B5EF4-FFF2-40B4-BE49-F238E27FC236}">
                <a16:creationId xmlns:a16="http://schemas.microsoft.com/office/drawing/2014/main" id="{73653071-40EA-CFBA-6A3F-E65A5E1FB43D}"/>
              </a:ext>
            </a:extLst>
          </p:cNvPr>
          <p:cNvSpPr txBox="1">
            <a:spLocks/>
          </p:cNvSpPr>
          <p:nvPr/>
        </p:nvSpPr>
        <p:spPr>
          <a:xfrm>
            <a:off x="838200" y="10750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dirty="0"/>
              <a:t>MODULO VIII</a:t>
            </a:r>
            <a:endParaRPr lang="es-PE" dirty="0"/>
          </a:p>
        </p:txBody>
      </p:sp>
    </p:spTree>
    <p:extLst>
      <p:ext uri="{BB962C8B-B14F-4D97-AF65-F5344CB8AC3E}">
        <p14:creationId xmlns:p14="http://schemas.microsoft.com/office/powerpoint/2010/main" val="3161412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La evaluación económica de proyectos de hidrocarburos es crucial para determinar la viabilidad y rentabilidad de las inversiones en el sector.</a:t>
            </a:r>
          </a:p>
          <a:p>
            <a:pPr marL="0" indent="0" algn="just">
              <a:buNone/>
            </a:pPr>
            <a:r>
              <a:rPr lang="es-ES" dirty="0"/>
              <a:t>Se debe tener en cuenta lo siguiente:</a:t>
            </a:r>
            <a:endParaRPr lang="es-ES" b="1" dirty="0"/>
          </a:p>
          <a:p>
            <a:r>
              <a:rPr lang="es-ES" b="1" dirty="0"/>
              <a:t>Entorno Económico en Perú</a:t>
            </a:r>
          </a:p>
          <a:p>
            <a:pPr algn="just">
              <a:buFont typeface="Arial" panose="020B0604020202020204" pitchFamily="34" charset="0"/>
              <a:buChar char="•"/>
            </a:pPr>
            <a:r>
              <a:rPr lang="es-ES" b="1" dirty="0"/>
              <a:t>Crecimiento Económico</a:t>
            </a:r>
            <a:r>
              <a:rPr lang="es-ES" dirty="0"/>
              <a:t>: Perú ha experimentado un crecimiento económico significativo en las últimas décadas, aunque con fluctuaciones. El crecimiento económico impacta directamente en la demanda de energía, incluida la energía derivada de hidrocarburos. Factores como la estabilidad económica y las políticas de desarrollo influyen en la inversión en el sector de hidrocarburos.</a:t>
            </a:r>
          </a:p>
        </p:txBody>
      </p:sp>
    </p:spTree>
    <p:extLst>
      <p:ext uri="{BB962C8B-B14F-4D97-AF65-F5344CB8AC3E}">
        <p14:creationId xmlns:p14="http://schemas.microsoft.com/office/powerpoint/2010/main" val="369568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3951513"/>
          </a:xfrm>
        </p:spPr>
        <p:txBody>
          <a:bodyPr>
            <a:normAutofit/>
          </a:bodyPr>
          <a:lstStyle/>
          <a:p>
            <a:pPr algn="just"/>
            <a:r>
              <a:rPr lang="es-ES" b="1" dirty="0"/>
              <a:t>Producto Interno Bruto (PIB): </a:t>
            </a:r>
            <a:r>
              <a:rPr lang="es-ES" dirty="0"/>
              <a:t>Perú ha tenido un crecimiento relativamente alto en comparación con otros países de la región, aunque en los últimos años el ritmo de crecimiento ha sido más moderado debido a desafíos internos y externos.</a:t>
            </a:r>
          </a:p>
          <a:p>
            <a:pPr algn="just"/>
            <a:r>
              <a:rPr lang="es-ES" b="1" dirty="0"/>
              <a:t>Inflación y Tipo de Cambio: </a:t>
            </a:r>
            <a:r>
              <a:rPr lang="es-ES" dirty="0"/>
              <a:t>La inflación en Perú ha sido relativamente baja en comparación con muchos países en desarrollo, pero los cambios en el tipo de cambio pueden afectar el costo de los insumos importados y la rentabilidad de los proyectos de hidrocarburos.</a:t>
            </a:r>
          </a:p>
        </p:txBody>
      </p:sp>
    </p:spTree>
    <p:extLst>
      <p:ext uri="{BB962C8B-B14F-4D97-AF65-F5344CB8AC3E}">
        <p14:creationId xmlns:p14="http://schemas.microsoft.com/office/powerpoint/2010/main" val="3383032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Política Fiscal y Monetaria:</a:t>
            </a:r>
            <a:endParaRPr lang="es-ES" dirty="0"/>
          </a:p>
          <a:p>
            <a:pPr algn="just">
              <a:buFont typeface="Arial" panose="020B0604020202020204" pitchFamily="34" charset="0"/>
              <a:buChar char="•"/>
            </a:pPr>
            <a:r>
              <a:rPr lang="es-ES" b="1" dirty="0"/>
              <a:t>Política Fiscal:</a:t>
            </a:r>
            <a:r>
              <a:rPr lang="es-ES" dirty="0"/>
              <a:t> El gobierno peruano maneja un marco fiscal relativamente estable, pero la política fiscal puede influir en el sector de hidrocarburos a través de impuestos y regalías. Perú cobra regalías a las empresas de hidrocarburos, y las tasas pueden cambiar en respuesta a las condiciones del mercado o a políticas gubernamentales.</a:t>
            </a:r>
          </a:p>
          <a:p>
            <a:pPr algn="just">
              <a:buFont typeface="Arial" panose="020B0604020202020204" pitchFamily="34" charset="0"/>
              <a:buChar char="•"/>
            </a:pPr>
            <a:r>
              <a:rPr lang="es-ES" b="1" dirty="0"/>
              <a:t>Política Monetaria:</a:t>
            </a:r>
            <a:r>
              <a:rPr lang="es-ES" dirty="0"/>
              <a:t> El Banco Central de Reserva del Perú (BCRP) maneja la política monetaria con el objetivo de controlar la inflación y mantener la estabilidad económica. Las tasas de interés establecidas por el BCRP afectan el costo del financiamiento para proyectos de inversión, incluyendo los de hidrocarburos.</a:t>
            </a:r>
          </a:p>
          <a:p>
            <a:endParaRPr lang="es-ES" dirty="0"/>
          </a:p>
        </p:txBody>
      </p:sp>
    </p:spTree>
    <p:extLst>
      <p:ext uri="{BB962C8B-B14F-4D97-AF65-F5344CB8AC3E}">
        <p14:creationId xmlns:p14="http://schemas.microsoft.com/office/powerpoint/2010/main" val="1481499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pPr marL="0" indent="0" algn="just">
              <a:buNone/>
            </a:pPr>
            <a:r>
              <a:rPr lang="es-ES" b="1" dirty="0"/>
              <a:t>Inversión Extranjera Directa (IED)</a:t>
            </a:r>
          </a:p>
          <a:p>
            <a:pPr algn="just"/>
            <a:r>
              <a:rPr lang="es-ES" dirty="0"/>
              <a:t> Perú ha atraído inversiones significativas en el sector de hidrocarburos debido a sus reservas y potencial de producción. La estabilidad política y económica, junto con incentivos fiscales, ha sido clave para atraer inversores extranjeros.</a:t>
            </a:r>
          </a:p>
          <a:p>
            <a:pPr marL="0" indent="0" algn="just">
              <a:buNone/>
            </a:pPr>
            <a:r>
              <a:rPr lang="es-ES" b="1" dirty="0"/>
              <a:t>Regulaciones y Políticas Sectoriales:</a:t>
            </a:r>
            <a:endParaRPr lang="es-ES" dirty="0"/>
          </a:p>
          <a:p>
            <a:pPr algn="just">
              <a:buFont typeface="Arial" panose="020B0604020202020204" pitchFamily="34" charset="0"/>
              <a:buChar char="•"/>
            </a:pPr>
            <a:r>
              <a:rPr lang="es-ES" b="1" dirty="0"/>
              <a:t>Normativa Ambiental:</a:t>
            </a:r>
            <a:r>
              <a:rPr lang="es-ES" dirty="0"/>
              <a:t> Perú tiene un marco regulatorio para la protección ambiental que afecta la explotación de recursos naturales, incluidos los hidrocarburos. La ley exige estudios de impacto ambiental y puede imponer sanciones por incumplimiento.</a:t>
            </a:r>
          </a:p>
          <a:p>
            <a:pPr algn="just">
              <a:buFont typeface="Arial" panose="020B0604020202020204" pitchFamily="34" charset="0"/>
              <a:buChar char="•"/>
            </a:pPr>
            <a:r>
              <a:rPr lang="es-ES" b="1" dirty="0"/>
              <a:t>Política Energética:</a:t>
            </a:r>
            <a:r>
              <a:rPr lang="es-ES" dirty="0"/>
              <a:t> El gobierno peruano establece políticas para promover la explotación sostenible de recursos y diversificar la matriz energética, lo que incluye incentivos para la inversión en hidrocarburos y energías renovables.</a:t>
            </a:r>
          </a:p>
          <a:p>
            <a:pPr algn="just"/>
            <a:endParaRPr lang="es-ES" dirty="0"/>
          </a:p>
        </p:txBody>
      </p:sp>
    </p:spTree>
    <p:extLst>
      <p:ext uri="{BB962C8B-B14F-4D97-AF65-F5344CB8AC3E}">
        <p14:creationId xmlns:p14="http://schemas.microsoft.com/office/powerpoint/2010/main" val="4192780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Comercio Internacional en Relación con Perú</a:t>
            </a:r>
            <a:endParaRPr lang="es-ES" sz="60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Exportaciones e Importaciones de Hidrocarburos:</a:t>
            </a:r>
          </a:p>
          <a:p>
            <a:pPr marL="0" indent="0">
              <a:buNone/>
            </a:pPr>
            <a:endParaRPr lang="es-ES" dirty="0"/>
          </a:p>
          <a:p>
            <a:pPr algn="just">
              <a:buFont typeface="Arial" panose="020B0604020202020204" pitchFamily="34" charset="0"/>
              <a:buChar char="•"/>
            </a:pPr>
            <a:r>
              <a:rPr lang="es-ES" b="1" dirty="0"/>
              <a:t>Exportaciones:</a:t>
            </a:r>
            <a:r>
              <a:rPr lang="es-ES" dirty="0"/>
              <a:t> Perú es un exportador neto de hidrocarburos, especialmente de petróleo crudo y gas natural. Los principales destinos de exportación para el petróleo peruano incluyen Estados Unidos, China y otras economías en desarrollo. En cuanto al gas natural, Perú también ha exportado a mercados internacionales a través de su planta de licuefacción de gas natural (LNG).</a:t>
            </a:r>
          </a:p>
          <a:p>
            <a:pPr algn="just">
              <a:buFont typeface="Arial" panose="020B0604020202020204" pitchFamily="34" charset="0"/>
              <a:buChar char="•"/>
            </a:pPr>
            <a:r>
              <a:rPr lang="es-ES" b="1" dirty="0"/>
              <a:t>Importaciones:</a:t>
            </a:r>
            <a:r>
              <a:rPr lang="es-ES" dirty="0"/>
              <a:t> Aunque Perú es un exportador de hidrocarburos, también importa productos refinados y ciertos insumos para la industria petrolera que no se producen localmente.</a:t>
            </a:r>
          </a:p>
          <a:p>
            <a:endParaRPr lang="es-ES" dirty="0"/>
          </a:p>
        </p:txBody>
      </p:sp>
    </p:spTree>
    <p:extLst>
      <p:ext uri="{BB962C8B-B14F-4D97-AF65-F5344CB8AC3E}">
        <p14:creationId xmlns:p14="http://schemas.microsoft.com/office/powerpoint/2010/main" val="846708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Precios Internacionales y Mercado Global:</a:t>
            </a:r>
            <a:endParaRPr lang="es-ES" dirty="0"/>
          </a:p>
          <a:p>
            <a:pPr algn="just">
              <a:buFont typeface="Arial" panose="020B0604020202020204" pitchFamily="34" charset="0"/>
              <a:buChar char="•"/>
            </a:pPr>
            <a:r>
              <a:rPr lang="es-ES" b="1" dirty="0"/>
              <a:t>Precios Internacionales:</a:t>
            </a:r>
            <a:r>
              <a:rPr lang="es-ES" dirty="0"/>
              <a:t> Los precios internacionales del petróleo y del gas natural influyen en los ingresos de exportación de Perú. Las fluctuaciones en los precios globales pueden afectar el balance comercial del país y, por ende, la economía.</a:t>
            </a:r>
          </a:p>
          <a:p>
            <a:pPr algn="just">
              <a:buFont typeface="Arial" panose="020B0604020202020204" pitchFamily="34" charset="0"/>
              <a:buChar char="•"/>
            </a:pPr>
            <a:r>
              <a:rPr lang="es-ES" b="1" dirty="0"/>
              <a:t>Mercados Internacionales:</a:t>
            </a:r>
            <a:r>
              <a:rPr lang="es-ES" dirty="0"/>
              <a:t> Perú está integrado en los mercados internacionales a través de acuerdos comerciales y la participación en mercados de futuros y otros mecanismos financieros que afectan los precios de los hidrocarburos.</a:t>
            </a:r>
          </a:p>
          <a:p>
            <a:endParaRPr lang="es-ES" dirty="0"/>
          </a:p>
        </p:txBody>
      </p:sp>
    </p:spTree>
    <p:extLst>
      <p:ext uri="{BB962C8B-B14F-4D97-AF65-F5344CB8AC3E}">
        <p14:creationId xmlns:p14="http://schemas.microsoft.com/office/powerpoint/2010/main" val="3195364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Acuerdos Comerciales y Aranceles:</a:t>
            </a:r>
            <a:endParaRPr lang="es-ES" dirty="0"/>
          </a:p>
          <a:p>
            <a:pPr algn="just">
              <a:buFont typeface="Arial" panose="020B0604020202020204" pitchFamily="34" charset="0"/>
              <a:buChar char="•"/>
            </a:pPr>
            <a:r>
              <a:rPr lang="es-ES" b="1" dirty="0"/>
              <a:t>Tratados y Acuerdos Comerciales:</a:t>
            </a:r>
            <a:r>
              <a:rPr lang="es-ES" dirty="0"/>
              <a:t> Perú ha firmado varios acuerdos de libre comercio con países y bloques económicos importantes, como Estados Unidos, la Unión Europea, y China. Estos acuerdos facilitan el acceso a mercados internacionales y pueden influir en el comercio de hidrocarburos al reducir barreras arancelarias.</a:t>
            </a:r>
          </a:p>
          <a:p>
            <a:pPr algn="just">
              <a:buFont typeface="Arial" panose="020B0604020202020204" pitchFamily="34" charset="0"/>
              <a:buChar char="•"/>
            </a:pPr>
            <a:r>
              <a:rPr lang="es-ES" b="1" dirty="0"/>
              <a:t>Políticas Arancelarias:</a:t>
            </a:r>
            <a:r>
              <a:rPr lang="es-ES" dirty="0"/>
              <a:t> Las políticas arancelarias peruanas impactan los costos de importación de tecnología y equipos necesarios para la explotación de hidrocarburos. Las reducciones arancelarias o los incentivos para la importación de tecnología pueden mejorar la competitividad del sector.</a:t>
            </a:r>
          </a:p>
          <a:p>
            <a:endParaRPr lang="es-ES" dirty="0"/>
          </a:p>
        </p:txBody>
      </p:sp>
    </p:spTree>
    <p:extLst>
      <p:ext uri="{BB962C8B-B14F-4D97-AF65-F5344CB8AC3E}">
        <p14:creationId xmlns:p14="http://schemas.microsoft.com/office/powerpoint/2010/main" val="415612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Infraestructura y Logística:</a:t>
            </a:r>
            <a:endParaRPr lang="es-ES" dirty="0"/>
          </a:p>
          <a:p>
            <a:pPr algn="just">
              <a:buFont typeface="Arial" panose="020B0604020202020204" pitchFamily="34" charset="0"/>
              <a:buChar char="•"/>
            </a:pPr>
            <a:r>
              <a:rPr lang="es-ES" b="1" dirty="0"/>
              <a:t>Transporte y Logística:</a:t>
            </a:r>
            <a:r>
              <a:rPr lang="es-ES" dirty="0"/>
              <a:t> La infraestructura para el transporte de hidrocarburos en Perú incluye oleoductos, gaseoductos, y puertos de exportación. La modernización y expansión de esta infraestructura son cruciales para mantener la eficiencia en la exportación e importación de hidrocarburos.</a:t>
            </a:r>
          </a:p>
          <a:p>
            <a:pPr algn="just">
              <a:buFont typeface="Arial" panose="020B0604020202020204" pitchFamily="34" charset="0"/>
              <a:buChar char="•"/>
            </a:pPr>
            <a:r>
              <a:rPr lang="es-ES" b="1" dirty="0"/>
              <a:t>Inversiones en Infraestructura:</a:t>
            </a:r>
            <a:r>
              <a:rPr lang="es-ES" dirty="0"/>
              <a:t> Inversiones en infraestructura para el transporte y almacenamiento de hidrocarburos pueden mejorar la competitividad del sector y facilitar el acceso a mercados internacionales.</a:t>
            </a:r>
          </a:p>
          <a:p>
            <a:endParaRPr lang="es-ES" dirty="0"/>
          </a:p>
        </p:txBody>
      </p:sp>
    </p:spTree>
    <p:extLst>
      <p:ext uri="{BB962C8B-B14F-4D97-AF65-F5344CB8AC3E}">
        <p14:creationId xmlns:p14="http://schemas.microsoft.com/office/powerpoint/2010/main" val="646115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Impacto de la Política Internacional:</a:t>
            </a:r>
            <a:endParaRPr lang="es-ES" dirty="0"/>
          </a:p>
          <a:p>
            <a:pPr algn="just">
              <a:buFont typeface="Arial" panose="020B0604020202020204" pitchFamily="34" charset="0"/>
              <a:buChar char="•"/>
            </a:pPr>
            <a:r>
              <a:rPr lang="es-ES" b="1" dirty="0"/>
              <a:t>Relaciones Internacionales:</a:t>
            </a:r>
            <a:r>
              <a:rPr lang="es-ES" dirty="0"/>
              <a:t> Las relaciones diplomáticas y comerciales de Perú con países productores y consumidores de hidrocarburos influyen en su posición en el mercado global. Las tensiones geopolíticas y las políticas de comercio internacional pueden afectar los flujos comerciales de hidrocarburos.</a:t>
            </a:r>
          </a:p>
          <a:p>
            <a:pPr algn="just">
              <a:buFont typeface="Arial" panose="020B0604020202020204" pitchFamily="34" charset="0"/>
              <a:buChar char="•"/>
            </a:pPr>
            <a:r>
              <a:rPr lang="es-ES" b="1" dirty="0"/>
              <a:t>Cambio Climático y Regulaciones Internacionales:</a:t>
            </a:r>
            <a:r>
              <a:rPr lang="es-ES" dirty="0"/>
              <a:t> Las iniciativas globales para combatir el cambio climático pueden impactar la demanda de hidrocarburos. Las regulaciones internacionales y acuerdos sobre emisiones pueden influir en la estrategia de explotación y comercialización de hidrocarburos en Perú.</a:t>
            </a:r>
          </a:p>
          <a:p>
            <a:endParaRPr lang="es-ES" dirty="0"/>
          </a:p>
        </p:txBody>
      </p:sp>
    </p:spTree>
    <p:extLst>
      <p:ext uri="{BB962C8B-B14F-4D97-AF65-F5344CB8AC3E}">
        <p14:creationId xmlns:p14="http://schemas.microsoft.com/office/powerpoint/2010/main" val="619860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9334501" cy="996053"/>
          </a:xfrm>
        </p:spPr>
        <p:txBody>
          <a:bodyPr>
            <a:normAutofit/>
          </a:bodyPr>
          <a:lstStyle/>
          <a:p>
            <a:r>
              <a:rPr lang="es-ES" sz="2400" dirty="0"/>
              <a:t>Finanzas y Evaluación de Proyectos de Inversión en Hidrocarburos en Perú</a:t>
            </a:r>
            <a:endParaRPr lang="es-ES" sz="54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marL="0" indent="0">
              <a:buNone/>
            </a:pPr>
            <a:r>
              <a:rPr lang="es-ES" b="1" dirty="0"/>
              <a:t>Aspectos Financieros Clave</a:t>
            </a:r>
          </a:p>
          <a:p>
            <a:r>
              <a:rPr lang="es-ES" b="1" dirty="0"/>
              <a:t>1.1. Estimación de Costos</a:t>
            </a:r>
            <a:endParaRPr lang="es-ES" dirty="0"/>
          </a:p>
          <a:p>
            <a:pPr>
              <a:buFont typeface="Arial" panose="020B0604020202020204" pitchFamily="34" charset="0"/>
              <a:buChar char="•"/>
            </a:pPr>
            <a:r>
              <a:rPr lang="es-ES" b="1" dirty="0"/>
              <a:t>Costos de Exploración y Desarrollo:</a:t>
            </a:r>
            <a:r>
              <a:rPr lang="es-ES" dirty="0"/>
              <a:t> La exploración de nuevas reservas de hidrocarburos puede ser costosa y arriesgada. Los costos incluyen estudios geológicos, perforación de pozos exploratorios, y la adquisición de permisos. En Perú, los costos de exploración pueden variar dependiendo de la ubicación geográfica y la complejidad del yacimiento.</a:t>
            </a:r>
          </a:p>
          <a:p>
            <a:pPr>
              <a:buFont typeface="Arial" panose="020B0604020202020204" pitchFamily="34" charset="0"/>
              <a:buChar char="•"/>
            </a:pPr>
            <a:r>
              <a:rPr lang="es-ES" b="1" dirty="0"/>
              <a:t>Costos de Producción:</a:t>
            </a:r>
            <a:r>
              <a:rPr lang="es-ES" dirty="0"/>
              <a:t> Incluyen los gastos operativos necesarios para extraer y procesar hidrocarburos. Esto abarca la construcción y mantenimiento de infraestructura, como oleoductos y plataformas de perforación, así como los costos laborales y materiales.</a:t>
            </a:r>
          </a:p>
          <a:p>
            <a:pPr>
              <a:buFont typeface="Arial" panose="020B0604020202020204" pitchFamily="34" charset="0"/>
              <a:buChar char="•"/>
            </a:pPr>
            <a:r>
              <a:rPr lang="es-ES" b="1" dirty="0"/>
              <a:t>Costos de Cierre:</a:t>
            </a:r>
            <a:r>
              <a:rPr lang="es-ES" dirty="0"/>
              <a:t> Al final de la vida útil del proyecto, se deben considerar los costos asociados con el cierre y rehabilitación del sitio, que están regulados por las normativas ambientales en Perú.</a:t>
            </a:r>
          </a:p>
          <a:p>
            <a:endParaRPr lang="es-ES" dirty="0"/>
          </a:p>
        </p:txBody>
      </p:sp>
    </p:spTree>
    <p:extLst>
      <p:ext uri="{BB962C8B-B14F-4D97-AF65-F5344CB8AC3E}">
        <p14:creationId xmlns:p14="http://schemas.microsoft.com/office/powerpoint/2010/main" val="2750992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b="1" dirty="0"/>
              <a:t>1.2. Análisis de Ingresos</a:t>
            </a:r>
            <a:endParaRPr lang="es-ES" dirty="0"/>
          </a:p>
          <a:p>
            <a:pPr algn="just">
              <a:buFont typeface="Arial" panose="020B0604020202020204" pitchFamily="34" charset="0"/>
              <a:buChar char="•"/>
            </a:pPr>
            <a:r>
              <a:rPr lang="es-ES" b="1" dirty="0"/>
              <a:t>Precios Internacionales:</a:t>
            </a:r>
            <a:r>
              <a:rPr lang="es-ES" dirty="0"/>
              <a:t> Los ingresos de un proyecto de hidrocarburos en Perú están estrechamente vinculados a los precios internacionales de petróleo y gas natural. La volatilidad en los precios globales puede afectar significativamente los ingresos esperados. Perú, al ser un exportador, está expuesto a las fluctuaciones en los mercados internacionales.</a:t>
            </a:r>
          </a:p>
          <a:p>
            <a:pPr algn="just">
              <a:buFont typeface="Arial" panose="020B0604020202020204" pitchFamily="34" charset="0"/>
              <a:buChar char="•"/>
            </a:pPr>
            <a:r>
              <a:rPr lang="es-ES" b="1" dirty="0"/>
              <a:t>Reservas y Producción:</a:t>
            </a:r>
            <a:r>
              <a:rPr lang="es-ES" dirty="0"/>
              <a:t> La estimación de reservas probadas y la tasa de producción esperada son fundamentales para proyectar los ingresos. La calidad de las reservas y la eficiencia en la producción pueden impactar los ingresos generados por un proyecto.</a:t>
            </a:r>
          </a:p>
          <a:p>
            <a:endParaRPr lang="es-ES" dirty="0"/>
          </a:p>
        </p:txBody>
      </p:sp>
    </p:spTree>
    <p:extLst>
      <p:ext uri="{BB962C8B-B14F-4D97-AF65-F5344CB8AC3E}">
        <p14:creationId xmlns:p14="http://schemas.microsoft.com/office/powerpoint/2010/main" val="1364813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1.3. Costo del Capital y Financiación</a:t>
            </a:r>
            <a:endParaRPr lang="es-ES" dirty="0"/>
          </a:p>
          <a:p>
            <a:pPr algn="just">
              <a:buFont typeface="Arial" panose="020B0604020202020204" pitchFamily="34" charset="0"/>
              <a:buChar char="•"/>
            </a:pPr>
            <a:r>
              <a:rPr lang="es-ES" b="1" dirty="0"/>
              <a:t>Fuentes de Financiación:</a:t>
            </a:r>
            <a:r>
              <a:rPr lang="es-ES" dirty="0"/>
              <a:t> Los proyectos de hidrocarburos suelen requerir una combinación de financiamiento propio y externo. Las fuentes de financiación incluyen préstamos bancarios, emisión de deuda, y capital de riesgo. Las tasas de interés y las condiciones de los préstamos pueden influir en el costo total del capital.</a:t>
            </a:r>
          </a:p>
          <a:p>
            <a:pPr algn="just">
              <a:buFont typeface="Arial" panose="020B0604020202020204" pitchFamily="34" charset="0"/>
              <a:buChar char="•"/>
            </a:pPr>
            <a:r>
              <a:rPr lang="es-ES" b="1" dirty="0"/>
              <a:t>Estructura de Capital:</a:t>
            </a:r>
            <a:r>
              <a:rPr lang="es-ES" dirty="0"/>
              <a:t> La estructura de capital del proyecto, es decir, la proporción de deuda y capital propio, afecta el riesgo y el retorno esperado. La financiación con deuda puede aumentar el apalancamiento financiero pero también el riesgo financiero.</a:t>
            </a:r>
          </a:p>
          <a:p>
            <a:endParaRPr lang="es-ES" dirty="0"/>
          </a:p>
        </p:txBody>
      </p:sp>
    </p:spTree>
    <p:extLst>
      <p:ext uri="{BB962C8B-B14F-4D97-AF65-F5344CB8AC3E}">
        <p14:creationId xmlns:p14="http://schemas.microsoft.com/office/powerpoint/2010/main" val="2160621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marL="0" indent="0" algn="just">
              <a:buNone/>
            </a:pPr>
            <a:r>
              <a:rPr lang="es-ES" b="1" dirty="0"/>
              <a:t>1.4. Evaluación Financiera</a:t>
            </a:r>
            <a:endParaRPr lang="es-ES" dirty="0"/>
          </a:p>
          <a:p>
            <a:pPr algn="just">
              <a:buFont typeface="Arial" panose="020B0604020202020204" pitchFamily="34" charset="0"/>
              <a:buChar char="•"/>
            </a:pPr>
            <a:r>
              <a:rPr lang="es-ES" b="1" dirty="0"/>
              <a:t>Valor Actual Neto (VAN):</a:t>
            </a:r>
            <a:r>
              <a:rPr lang="es-ES" dirty="0"/>
              <a:t> El VAN se calcula descontando los flujos de caja futuros esperados al costo del capital. Un VAN positivo indica que el proyecto es rentable. En Perú, la evaluación del VAN debe tener en cuenta los impuestos y regalías específicas del país.</a:t>
            </a:r>
          </a:p>
          <a:p>
            <a:pPr algn="just">
              <a:buFont typeface="Arial" panose="020B0604020202020204" pitchFamily="34" charset="0"/>
              <a:buChar char="•"/>
            </a:pPr>
            <a:r>
              <a:rPr lang="es-ES" b="1" dirty="0"/>
              <a:t>Tasa Interna de Retorno (TIR):</a:t>
            </a:r>
            <a:r>
              <a:rPr lang="es-ES" dirty="0"/>
              <a:t> La TIR es la tasa de descuento que hace que el VAN sea cero. Una TIR superior al costo del capital indica un proyecto atractivo. La TIR debe ser evaluada en el contexto de las tasas de interés locales y los riesgos asociados.</a:t>
            </a:r>
          </a:p>
          <a:p>
            <a:pPr algn="just">
              <a:buFont typeface="Arial" panose="020B0604020202020204" pitchFamily="34" charset="0"/>
              <a:buChar char="•"/>
            </a:pPr>
            <a:r>
              <a:rPr lang="es-ES" b="1" dirty="0"/>
              <a:t>Periodo de Recuperación:</a:t>
            </a:r>
            <a:r>
              <a:rPr lang="es-ES" dirty="0"/>
              <a:t> Este indicador mide el tiempo necesario para recuperar la inversión inicial a partir de los flujos de caja netos. En Perú, los proyectos de hidrocarburos suelen tener periodos de recuperación largos debido a los altos costos iniciales y la naturaleza a largo plazo de la explotación de recursos.</a:t>
            </a:r>
          </a:p>
          <a:p>
            <a:endParaRPr lang="es-ES" dirty="0"/>
          </a:p>
        </p:txBody>
      </p:sp>
    </p:spTree>
    <p:extLst>
      <p:ext uri="{BB962C8B-B14F-4D97-AF65-F5344CB8AC3E}">
        <p14:creationId xmlns:p14="http://schemas.microsoft.com/office/powerpoint/2010/main" val="4076469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Aspectos Específicos de Perú</a:t>
            </a:r>
          </a:p>
          <a:p>
            <a:r>
              <a:rPr lang="es-ES" b="1" dirty="0"/>
              <a:t>2.1. Régimen Fiscal y Regalías</a:t>
            </a:r>
            <a:endParaRPr lang="es-ES" dirty="0"/>
          </a:p>
          <a:p>
            <a:pPr>
              <a:buFont typeface="Arial" panose="020B0604020202020204" pitchFamily="34" charset="0"/>
              <a:buChar char="•"/>
            </a:pPr>
            <a:r>
              <a:rPr lang="es-ES" b="1" dirty="0"/>
              <a:t>Regalías y Derechos:</a:t>
            </a:r>
            <a:r>
              <a:rPr lang="es-ES" dirty="0"/>
              <a:t> Perú cobra regalías sobre la producción de hidrocarburos, que varían según el tipo de recurso y el volumen producido. Las regalías pueden ser un porcentaje de los ingresos generados por la venta de hidrocarburos o un monto fijo.</a:t>
            </a:r>
          </a:p>
          <a:p>
            <a:pPr>
              <a:buFont typeface="Arial" panose="020B0604020202020204" pitchFamily="34" charset="0"/>
              <a:buChar char="•"/>
            </a:pPr>
            <a:r>
              <a:rPr lang="es-ES" b="1" dirty="0"/>
              <a:t>Impuestos:</a:t>
            </a:r>
            <a:r>
              <a:rPr lang="es-ES" dirty="0"/>
              <a:t> Además de las regalías, las empresas de hidrocarburos deben cumplir con el régimen fiscal del país, que incluye impuestos sobre la renta y posibles contribuciones adicionales. El entorno fiscal en Perú puede afectar la rentabilidad de los proyectos.</a:t>
            </a:r>
          </a:p>
          <a:p>
            <a:endParaRPr lang="es-ES" dirty="0"/>
          </a:p>
        </p:txBody>
      </p:sp>
    </p:spTree>
    <p:extLst>
      <p:ext uri="{BB962C8B-B14F-4D97-AF65-F5344CB8AC3E}">
        <p14:creationId xmlns:p14="http://schemas.microsoft.com/office/powerpoint/2010/main" val="1451831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b="1" dirty="0"/>
              <a:t>2.2. Regulaciones Ambientales</a:t>
            </a:r>
            <a:endParaRPr lang="es-ES" dirty="0"/>
          </a:p>
          <a:p>
            <a:pPr algn="just">
              <a:buFont typeface="Arial" panose="020B0604020202020204" pitchFamily="34" charset="0"/>
              <a:buChar char="•"/>
            </a:pPr>
            <a:r>
              <a:rPr lang="es-ES" b="1" dirty="0"/>
              <a:t>Estudios de Impacto Ambiental (EIA):</a:t>
            </a:r>
            <a:r>
              <a:rPr lang="es-ES" dirty="0"/>
              <a:t> Los proyectos de hidrocarburos en Perú deben someterse a estudios de impacto ambiental y obtener permisos antes de iniciar la explotación. El cumplimiento con las normativas ambientales es crucial para evitar sanciones y retrasos en el proyecto.</a:t>
            </a:r>
          </a:p>
          <a:p>
            <a:pPr algn="just">
              <a:buFont typeface="Arial" panose="020B0604020202020204" pitchFamily="34" charset="0"/>
              <a:buChar char="•"/>
            </a:pPr>
            <a:r>
              <a:rPr lang="es-ES" b="1" dirty="0"/>
              <a:t>Normativas de Seguridad:</a:t>
            </a:r>
            <a:r>
              <a:rPr lang="es-ES" dirty="0"/>
              <a:t> Perú tiene regulaciones estrictas en materia de seguridad laboral y operativa en la industria de hidrocarburos. Cumplir con estas normativas puede implicar costos adicionales, pero es esencial para la operación segura y legal del proyecto.</a:t>
            </a:r>
          </a:p>
          <a:p>
            <a:endParaRPr lang="es-ES" dirty="0"/>
          </a:p>
        </p:txBody>
      </p:sp>
    </p:spTree>
    <p:extLst>
      <p:ext uri="{BB962C8B-B14F-4D97-AF65-F5344CB8AC3E}">
        <p14:creationId xmlns:p14="http://schemas.microsoft.com/office/powerpoint/2010/main" val="1771746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b="1" dirty="0"/>
              <a:t>2.3. Riesgos Políticos y Económicos</a:t>
            </a:r>
            <a:endParaRPr lang="es-ES" dirty="0"/>
          </a:p>
          <a:p>
            <a:pPr algn="just">
              <a:buFont typeface="Arial" panose="020B0604020202020204" pitchFamily="34" charset="0"/>
              <a:buChar char="•"/>
            </a:pPr>
            <a:r>
              <a:rPr lang="es-ES" b="1" dirty="0"/>
              <a:t>Estabilidad Política:</a:t>
            </a:r>
            <a:r>
              <a:rPr lang="es-ES" dirty="0"/>
              <a:t> La estabilidad política en Perú puede afectar la seguridad de las inversiones. Cambios en el gobierno o en las políticas económicas pueden influir en la rentabilidad y continuidad de los proyectos de hidrocarburos.</a:t>
            </a:r>
          </a:p>
          <a:p>
            <a:pPr algn="just">
              <a:buFont typeface="Arial" panose="020B0604020202020204" pitchFamily="34" charset="0"/>
              <a:buChar char="•"/>
            </a:pPr>
            <a:r>
              <a:rPr lang="es-ES" b="1" dirty="0"/>
              <a:t>Riesgos Económicos:</a:t>
            </a:r>
            <a:r>
              <a:rPr lang="es-ES" dirty="0"/>
              <a:t> Factores como la inflación, la fluctuación del tipo de cambio y las políticas monetarias del país también afectan la viabilidad económica de los proyectos. La gestión efectiva de estos riesgos es esencial para proteger los márgenes de ganancia.</a:t>
            </a:r>
          </a:p>
          <a:p>
            <a:endParaRPr lang="es-ES" dirty="0"/>
          </a:p>
        </p:txBody>
      </p:sp>
    </p:spTree>
    <p:extLst>
      <p:ext uri="{BB962C8B-B14F-4D97-AF65-F5344CB8AC3E}">
        <p14:creationId xmlns:p14="http://schemas.microsoft.com/office/powerpoint/2010/main" val="2377937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b="1" dirty="0"/>
              <a:t>2.4. Infraestructura y Logística</a:t>
            </a:r>
            <a:endParaRPr lang="es-ES" dirty="0"/>
          </a:p>
          <a:p>
            <a:pPr algn="just">
              <a:buFont typeface="Arial" panose="020B0604020202020204" pitchFamily="34" charset="0"/>
              <a:buChar char="•"/>
            </a:pPr>
            <a:r>
              <a:rPr lang="es-ES" b="1" dirty="0"/>
              <a:t>Transporte y Exportación:</a:t>
            </a:r>
            <a:r>
              <a:rPr lang="es-ES" dirty="0"/>
              <a:t> La infraestructura para el transporte de hidrocarburos en Perú, como oleoductos y puertos, es crucial para la operación eficiente de los proyectos. La inversión en infraestructura adecuada puede mejorar la competitividad y reducir costos.</a:t>
            </a:r>
          </a:p>
          <a:p>
            <a:pPr algn="just">
              <a:buFont typeface="Arial" panose="020B0604020202020204" pitchFamily="34" charset="0"/>
              <a:buChar char="•"/>
            </a:pPr>
            <a:r>
              <a:rPr lang="es-ES" b="1" dirty="0"/>
              <a:t>Acceso a Mercados Internacionales:</a:t>
            </a:r>
            <a:r>
              <a:rPr lang="es-ES" dirty="0"/>
              <a:t> La capacidad de exportar hidrocarburos a mercados internacionales es importante para maximizar los ingresos. Las instalaciones portuarias y la logística de exportación deben ser gestionadas eficazmente para asegurar el acceso a mercados globales.</a:t>
            </a:r>
          </a:p>
          <a:p>
            <a:endParaRPr lang="es-ES" dirty="0"/>
          </a:p>
        </p:txBody>
      </p:sp>
    </p:spTree>
    <p:extLst>
      <p:ext uri="{BB962C8B-B14F-4D97-AF65-F5344CB8AC3E}">
        <p14:creationId xmlns:p14="http://schemas.microsoft.com/office/powerpoint/2010/main" val="1785024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2824841"/>
          </a:xfrm>
        </p:spPr>
        <p:txBody>
          <a:bodyPr>
            <a:normAutofit/>
          </a:bodyPr>
          <a:lstStyle/>
          <a:p>
            <a:pPr marL="0" indent="0" algn="just">
              <a:buNone/>
            </a:pPr>
            <a:r>
              <a:rPr lang="es-ES" dirty="0"/>
              <a:t>La evaluación financiera y la planificación de proyectos de inversión en hidrocarburos en Perú requieren un análisis detallado de costos, ingresos, estructura de capital, y riesgos específicos del país. La comprensión del entorno fiscal, las regulaciones ambientales, y los aspectos logísticos son fundamentales para asegurar la viabilidad y rentabilidad de los proyectos en el sector energético peruano.</a:t>
            </a:r>
          </a:p>
        </p:txBody>
      </p:sp>
    </p:spTree>
    <p:extLst>
      <p:ext uri="{BB962C8B-B14F-4D97-AF65-F5344CB8AC3E}">
        <p14:creationId xmlns:p14="http://schemas.microsoft.com/office/powerpoint/2010/main" val="1593461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400" dirty="0"/>
              <a:t>Comercio Internacional de Hidrocarburos</a:t>
            </a:r>
            <a:endParaRPr lang="es-ES" sz="54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a:bodyPr>
          <a:lstStyle/>
          <a:p>
            <a:pPr marL="0" indent="0" algn="just">
              <a:buNone/>
            </a:pPr>
            <a:r>
              <a:rPr lang="es-ES" b="1" dirty="0"/>
              <a:t>Mercado Global de Hidrocarburos</a:t>
            </a:r>
          </a:p>
          <a:p>
            <a:pPr algn="just"/>
            <a:r>
              <a:rPr lang="es-ES" b="1" dirty="0"/>
              <a:t>1.1. Precios Internacionales</a:t>
            </a:r>
            <a:endParaRPr lang="es-ES" dirty="0"/>
          </a:p>
          <a:p>
            <a:pPr algn="just">
              <a:buFont typeface="Arial" panose="020B0604020202020204" pitchFamily="34" charset="0"/>
              <a:buChar char="•"/>
            </a:pPr>
            <a:r>
              <a:rPr lang="es-ES" b="1" dirty="0"/>
              <a:t>Determinación de Precios:</a:t>
            </a:r>
            <a:r>
              <a:rPr lang="es-ES" dirty="0"/>
              <a:t> Los precios internacionales de petróleo y gas natural son determinados por mercados globales y pueden ser altamente volátiles. Los precios del petróleo suelen ser referenciados a índices como el Brent Crude (para el crudo del Mar del Norte) y el West Texas </a:t>
            </a:r>
            <a:r>
              <a:rPr lang="es-ES" dirty="0" err="1"/>
              <a:t>Intermediate</a:t>
            </a:r>
            <a:r>
              <a:rPr lang="es-ES" dirty="0"/>
              <a:t> (WTI, para el crudo de EE.UU.). Para el gas natural, el índice más común es el Henry Hub para EE.UU. y el TTF para Europa.</a:t>
            </a:r>
          </a:p>
          <a:p>
            <a:pPr algn="just">
              <a:buFont typeface="Arial" panose="020B0604020202020204" pitchFamily="34" charset="0"/>
              <a:buChar char="•"/>
            </a:pPr>
            <a:r>
              <a:rPr lang="es-ES" b="1" dirty="0"/>
              <a:t>Factores que Influyen en los Precios:</a:t>
            </a:r>
            <a:r>
              <a:rPr lang="es-ES" dirty="0"/>
              <a:t> La oferta y demanda global, las tensiones geopolíticas, las políticas de producción de países como los miembros de la OPEP (Organización de Países Exportadores de Petróleo), y las condiciones económicas globales influyen en los precios internacionales.</a:t>
            </a:r>
          </a:p>
          <a:p>
            <a:endParaRPr lang="es-ES" dirty="0"/>
          </a:p>
        </p:txBody>
      </p:sp>
    </p:spTree>
    <p:extLst>
      <p:ext uri="{BB962C8B-B14F-4D97-AF65-F5344CB8AC3E}">
        <p14:creationId xmlns:p14="http://schemas.microsoft.com/office/powerpoint/2010/main" val="575338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1.2. Oferta y Demanda</a:t>
            </a:r>
            <a:endParaRPr lang="es-ES" dirty="0"/>
          </a:p>
          <a:p>
            <a:pPr algn="just">
              <a:buFont typeface="Arial" panose="020B0604020202020204" pitchFamily="34" charset="0"/>
              <a:buChar char="•"/>
            </a:pPr>
            <a:r>
              <a:rPr lang="es-ES" b="1" dirty="0"/>
              <a:t>Principales Productores:</a:t>
            </a:r>
            <a:r>
              <a:rPr lang="es-ES" dirty="0"/>
              <a:t> Los países que producen grandes volúmenes de petróleo incluyen Arabia Saudita, Rusia, y Estados Unidos. En el caso del gas natural, Rusia, Estados Unidos y Qatar son jugadores clave.</a:t>
            </a:r>
          </a:p>
          <a:p>
            <a:pPr algn="just">
              <a:buFont typeface="Arial" panose="020B0604020202020204" pitchFamily="34" charset="0"/>
              <a:buChar char="•"/>
            </a:pPr>
            <a:r>
              <a:rPr lang="es-ES" b="1" dirty="0"/>
              <a:t>Principales Consumidores:</a:t>
            </a:r>
            <a:r>
              <a:rPr lang="es-ES" dirty="0"/>
              <a:t> Los países con alta demanda de hidrocarburos incluyen China, Estados Unidos, y países europeos como Alemania y Francia. El crecimiento industrial y el consumo energético en estos países influencian la demanda global.</a:t>
            </a:r>
          </a:p>
          <a:p>
            <a:endParaRPr lang="es-ES" dirty="0"/>
          </a:p>
        </p:txBody>
      </p:sp>
    </p:spTree>
    <p:extLst>
      <p:ext uri="{BB962C8B-B14F-4D97-AF65-F5344CB8AC3E}">
        <p14:creationId xmlns:p14="http://schemas.microsoft.com/office/powerpoint/2010/main" val="3951733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marL="0" indent="0" algn="just">
              <a:buNone/>
            </a:pPr>
            <a:r>
              <a:rPr lang="es-ES" b="1" dirty="0"/>
              <a:t>Transporte de Hidrocarburos</a:t>
            </a:r>
          </a:p>
          <a:p>
            <a:pPr algn="just"/>
            <a:r>
              <a:rPr lang="es-ES" b="1" dirty="0"/>
              <a:t>2.1. Métodos de Transporte</a:t>
            </a:r>
            <a:endParaRPr lang="es-ES" dirty="0"/>
          </a:p>
          <a:p>
            <a:pPr algn="just">
              <a:buFont typeface="Arial" panose="020B0604020202020204" pitchFamily="34" charset="0"/>
              <a:buChar char="•"/>
            </a:pPr>
            <a:r>
              <a:rPr lang="es-ES" b="1" dirty="0"/>
              <a:t>Oleoductos y Gaseoductos:</a:t>
            </a:r>
            <a:r>
              <a:rPr lang="es-ES" dirty="0"/>
              <a:t> Los oleoductos transportan petróleo crudo y productos refinados desde los lugares de producción hasta los centros de consumo o exportación. Los gaseoductos transportan gas natural a través de largas distancias. Ejemplos incluyen el oleoducto Trans-Alaska y el gaseoducto Nord </a:t>
            </a:r>
            <a:r>
              <a:rPr lang="es-ES" dirty="0" err="1"/>
              <a:t>Stream</a:t>
            </a:r>
            <a:r>
              <a:rPr lang="es-ES" dirty="0"/>
              <a:t>.</a:t>
            </a:r>
          </a:p>
          <a:p>
            <a:pPr algn="just">
              <a:buFont typeface="Arial" panose="020B0604020202020204" pitchFamily="34" charset="0"/>
              <a:buChar char="•"/>
            </a:pPr>
            <a:r>
              <a:rPr lang="es-ES" b="1" dirty="0"/>
              <a:t>Transporte Marítimo:</a:t>
            </a:r>
            <a:r>
              <a:rPr lang="es-ES" dirty="0"/>
              <a:t> El petróleo crudo y los productos refinados se transportan a menudo por mar en buques cisterna (superpetroleros para el crudo y buques de productos refinados). El gas natural licuado (GNL) se transporta en buques especializados, después de ser licuado a temperaturas extremadamente bajas.</a:t>
            </a:r>
          </a:p>
          <a:p>
            <a:pPr algn="just">
              <a:buFont typeface="Arial" panose="020B0604020202020204" pitchFamily="34" charset="0"/>
              <a:buChar char="•"/>
            </a:pPr>
            <a:r>
              <a:rPr lang="es-ES" b="1" dirty="0"/>
              <a:t>Transporte por Ferrocarril y Carretera:</a:t>
            </a:r>
            <a:r>
              <a:rPr lang="es-ES" dirty="0"/>
              <a:t> En algunos casos, especialmente en regiones sin infraestructura de oleoductos, el petróleo y sus derivados se transportan por ferrocarril o camiones.</a:t>
            </a:r>
          </a:p>
          <a:p>
            <a:endParaRPr lang="es-ES" dirty="0"/>
          </a:p>
        </p:txBody>
      </p:sp>
    </p:spTree>
    <p:extLst>
      <p:ext uri="{BB962C8B-B14F-4D97-AF65-F5344CB8AC3E}">
        <p14:creationId xmlns:p14="http://schemas.microsoft.com/office/powerpoint/2010/main" val="3805025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2.2. Infraestructura Portuaria y Logística</a:t>
            </a:r>
            <a:endParaRPr lang="es-ES" dirty="0"/>
          </a:p>
          <a:p>
            <a:pPr algn="just">
              <a:buFont typeface="Arial" panose="020B0604020202020204" pitchFamily="34" charset="0"/>
              <a:buChar char="•"/>
            </a:pPr>
            <a:r>
              <a:rPr lang="es-ES" b="1" dirty="0"/>
              <a:t>Puertos de Exportación e Importación:</a:t>
            </a:r>
            <a:r>
              <a:rPr lang="es-ES" dirty="0"/>
              <a:t> Los puertos desempeñan un papel crucial en el comercio internacional de hidrocarburos. Puertos como el de Ras </a:t>
            </a:r>
            <a:r>
              <a:rPr lang="es-ES" dirty="0" err="1"/>
              <a:t>Tanura</a:t>
            </a:r>
            <a:r>
              <a:rPr lang="es-ES" dirty="0"/>
              <a:t> en Arabia Saudita y el puerto de Houston en EE.UU. son importantes puntos de tránsito para el petróleo crudo. Para el GNL, puertos como el de Sabine Pass en EE.UU. y el de Yamal en Rusia son clave.</a:t>
            </a:r>
          </a:p>
          <a:p>
            <a:pPr algn="just">
              <a:buFont typeface="Arial" panose="020B0604020202020204" pitchFamily="34" charset="0"/>
              <a:buChar char="•"/>
            </a:pPr>
            <a:r>
              <a:rPr lang="es-ES" b="1" dirty="0"/>
              <a:t>Almacenamiento y Logística:</a:t>
            </a:r>
            <a:r>
              <a:rPr lang="es-ES" dirty="0"/>
              <a:t> La infraestructura de almacenamiento en puertos y en tierra es fundamental para manejar el flujo de hidrocarburos. La capacidad de almacenamiento afecta la capacidad de respuesta a las fluctuaciones de la oferta y demanda.</a:t>
            </a:r>
          </a:p>
          <a:p>
            <a:endParaRPr lang="es-ES" dirty="0"/>
          </a:p>
        </p:txBody>
      </p:sp>
    </p:spTree>
    <p:extLst>
      <p:ext uri="{BB962C8B-B14F-4D97-AF65-F5344CB8AC3E}">
        <p14:creationId xmlns:p14="http://schemas.microsoft.com/office/powerpoint/2010/main" val="3219525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Regulaciones y Normativas</a:t>
            </a:r>
          </a:p>
          <a:p>
            <a:pPr algn="just"/>
            <a:r>
              <a:rPr lang="es-ES" b="1" dirty="0"/>
              <a:t>3.1. Normativas Internacionales</a:t>
            </a:r>
            <a:endParaRPr lang="es-ES" dirty="0"/>
          </a:p>
          <a:p>
            <a:pPr algn="just">
              <a:buFont typeface="Arial" panose="020B0604020202020204" pitchFamily="34" charset="0"/>
              <a:buChar char="•"/>
            </a:pPr>
            <a:r>
              <a:rPr lang="es-ES" b="1" dirty="0"/>
              <a:t>Acuerdos Internacionales:</a:t>
            </a:r>
            <a:r>
              <a:rPr lang="es-ES" dirty="0"/>
              <a:t> Existen acuerdos y tratados internacionales que regulan el comercio de hidrocarburos. Por ejemplo, la Convención de las Naciones Unidas sobre el Derecho del Mar (UNCLOS) regula el acceso y uso de los recursos en las zonas económicas exclusivas.</a:t>
            </a:r>
          </a:p>
          <a:p>
            <a:pPr algn="just">
              <a:buFont typeface="Arial" panose="020B0604020202020204" pitchFamily="34" charset="0"/>
              <a:buChar char="•"/>
            </a:pPr>
            <a:r>
              <a:rPr lang="es-ES" b="1" dirty="0"/>
              <a:t>Regulaciones Ambientales:</a:t>
            </a:r>
            <a:r>
              <a:rPr lang="es-ES" dirty="0"/>
              <a:t> Los estándares ambientales internacionales, como los protocolos de la ONU sobre cambio climático, afectan la forma en que se exploran, extraen, y transportan los hidrocarburos.</a:t>
            </a:r>
          </a:p>
          <a:p>
            <a:endParaRPr lang="es-ES" dirty="0"/>
          </a:p>
        </p:txBody>
      </p:sp>
    </p:spTree>
    <p:extLst>
      <p:ext uri="{BB962C8B-B14F-4D97-AF65-F5344CB8AC3E}">
        <p14:creationId xmlns:p14="http://schemas.microsoft.com/office/powerpoint/2010/main" val="3942283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551216"/>
            <a:ext cx="11032671" cy="4789034"/>
          </a:xfrm>
        </p:spPr>
        <p:txBody>
          <a:bodyPr>
            <a:normAutofit/>
          </a:bodyPr>
          <a:lstStyle/>
          <a:p>
            <a:pPr marL="0" indent="0" algn="just">
              <a:buNone/>
            </a:pPr>
            <a:r>
              <a:rPr lang="es-ES" b="1" dirty="0"/>
              <a:t>3.2. Políticas Nacionales</a:t>
            </a:r>
            <a:endParaRPr lang="es-ES" dirty="0"/>
          </a:p>
          <a:p>
            <a:pPr algn="just">
              <a:buFont typeface="Arial" panose="020B0604020202020204" pitchFamily="34" charset="0"/>
              <a:buChar char="•"/>
            </a:pPr>
            <a:r>
              <a:rPr lang="es-ES" b="1" dirty="0"/>
              <a:t>Políticas de Exportación e Importación:</a:t>
            </a:r>
            <a:r>
              <a:rPr lang="es-ES" dirty="0"/>
              <a:t> Los países productores de hidrocarburos pueden tener políticas que regulan las exportaciones e importaciones para proteger sus recursos y maximizar los ingresos.</a:t>
            </a:r>
          </a:p>
          <a:p>
            <a:pPr algn="just">
              <a:buFont typeface="Arial" panose="020B0604020202020204" pitchFamily="34" charset="0"/>
              <a:buChar char="•"/>
            </a:pPr>
            <a:r>
              <a:rPr lang="es-ES" b="1" dirty="0"/>
              <a:t>Regulaciones de Seguridad y Salud:</a:t>
            </a:r>
            <a:r>
              <a:rPr lang="es-ES" dirty="0"/>
              <a:t> Los países importadores pueden imponer regulaciones estrictas en cuanto a la seguridad y la salud en el transporte y procesamiento de hidrocarburos para minimizar los riesgos y impactos ambientales.</a:t>
            </a:r>
          </a:p>
          <a:p>
            <a:endParaRPr lang="es-ES" dirty="0"/>
          </a:p>
        </p:txBody>
      </p:sp>
    </p:spTree>
    <p:extLst>
      <p:ext uri="{BB962C8B-B14F-4D97-AF65-F5344CB8AC3E}">
        <p14:creationId xmlns:p14="http://schemas.microsoft.com/office/powerpoint/2010/main" val="25620534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Acuerdos Comerciales y Estrategias</a:t>
            </a:r>
          </a:p>
          <a:p>
            <a:pPr algn="just"/>
            <a:r>
              <a:rPr lang="es-ES" b="1" dirty="0"/>
              <a:t>4.1. Contratos de Compra y Venta</a:t>
            </a:r>
            <a:endParaRPr lang="es-ES" dirty="0"/>
          </a:p>
          <a:p>
            <a:pPr algn="just">
              <a:buFont typeface="Arial" panose="020B0604020202020204" pitchFamily="34" charset="0"/>
              <a:buChar char="•"/>
            </a:pPr>
            <a:r>
              <a:rPr lang="es-ES" b="1" dirty="0"/>
              <a:t>Contratos a Largo Plazo vs. Spot:</a:t>
            </a:r>
            <a:r>
              <a:rPr lang="es-ES" dirty="0"/>
              <a:t> Los contratos a largo plazo suelen ofrecer precios fijos y estabilidad en el suministro, mientras que los contratos spot se negocian en el mercado al contado y pueden ofrecer precios más flexibles basados en las condiciones actuales del mercado.</a:t>
            </a:r>
          </a:p>
          <a:p>
            <a:pPr algn="just">
              <a:buFont typeface="Arial" panose="020B0604020202020204" pitchFamily="34" charset="0"/>
              <a:buChar char="•"/>
            </a:pPr>
            <a:r>
              <a:rPr lang="es-ES" b="1" dirty="0"/>
              <a:t>Contratos de Futuros y Opciones:</a:t>
            </a:r>
            <a:r>
              <a:rPr lang="es-ES" dirty="0"/>
              <a:t> Los contratos de futuros permiten a las empresas fijar precios para la compra o venta de hidrocarburos en una fecha futura, ayudando a gestionar el riesgo de precio. Las opciones proporcionan el derecho, pero no la obligación, de comprar o vender a precios establecidos.</a:t>
            </a:r>
          </a:p>
          <a:p>
            <a:endParaRPr lang="es-ES" dirty="0"/>
          </a:p>
        </p:txBody>
      </p:sp>
    </p:spTree>
    <p:extLst>
      <p:ext uri="{BB962C8B-B14F-4D97-AF65-F5344CB8AC3E}">
        <p14:creationId xmlns:p14="http://schemas.microsoft.com/office/powerpoint/2010/main" val="2645484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b="1" dirty="0"/>
              <a:t>4.2. Estrategias Empresariales</a:t>
            </a:r>
            <a:endParaRPr lang="es-ES" dirty="0"/>
          </a:p>
          <a:p>
            <a:pPr algn="just">
              <a:buFont typeface="Arial" panose="020B0604020202020204" pitchFamily="34" charset="0"/>
              <a:buChar char="•"/>
            </a:pPr>
            <a:r>
              <a:rPr lang="es-ES" b="1" dirty="0"/>
              <a:t>Diversificación:</a:t>
            </a:r>
            <a:r>
              <a:rPr lang="es-ES" dirty="0"/>
              <a:t> Las empresas pueden diversificar sus operaciones para incluir tanto producción como refinación y comercialización, lo que les permite mitigar riesgos y maximizar beneficios.</a:t>
            </a:r>
          </a:p>
          <a:p>
            <a:pPr algn="just">
              <a:buFont typeface="Arial" panose="020B0604020202020204" pitchFamily="34" charset="0"/>
              <a:buChar char="•"/>
            </a:pPr>
            <a:r>
              <a:rPr lang="es-ES" b="1" dirty="0"/>
              <a:t>Inversiones en Infraestructura:</a:t>
            </a:r>
            <a:r>
              <a:rPr lang="es-ES" dirty="0"/>
              <a:t> La inversión en infraestructura propia, como oleoductos y plantas de GNL, puede ayudar a reducir costos y aumentar la eficiencia operativa.</a:t>
            </a:r>
          </a:p>
          <a:p>
            <a:endParaRPr lang="es-ES" dirty="0"/>
          </a:p>
        </p:txBody>
      </p:sp>
    </p:spTree>
    <p:extLst>
      <p:ext uri="{BB962C8B-B14F-4D97-AF65-F5344CB8AC3E}">
        <p14:creationId xmlns:p14="http://schemas.microsoft.com/office/powerpoint/2010/main" val="861321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29"/>
            <a:ext cx="11032671" cy="5287061"/>
          </a:xfrm>
        </p:spPr>
        <p:txBody>
          <a:bodyPr>
            <a:normAutofit fontScale="92500" lnSpcReduction="20000"/>
          </a:bodyPr>
          <a:lstStyle/>
          <a:p>
            <a:pPr marL="0" indent="0" algn="just">
              <a:buNone/>
            </a:pPr>
            <a:r>
              <a:rPr lang="es-ES" b="1" dirty="0"/>
              <a:t> Desafíos y Oportunidades</a:t>
            </a:r>
          </a:p>
          <a:p>
            <a:pPr algn="just"/>
            <a:r>
              <a:rPr lang="es-ES" b="1" dirty="0"/>
              <a:t>5.1. Desafíos</a:t>
            </a:r>
            <a:endParaRPr lang="es-ES" dirty="0"/>
          </a:p>
          <a:p>
            <a:pPr algn="just">
              <a:buFont typeface="Arial" panose="020B0604020202020204" pitchFamily="34" charset="0"/>
              <a:buChar char="•"/>
            </a:pPr>
            <a:r>
              <a:rPr lang="es-ES" b="1" dirty="0"/>
              <a:t>Volatilidad de Precios:</a:t>
            </a:r>
            <a:r>
              <a:rPr lang="es-ES" dirty="0"/>
              <a:t> La volatilidad de los precios internacionales puede impactar los márgenes de ganancia y la estabilidad financiera de las empresas involucradas en el comercio de hidrocarburos.</a:t>
            </a:r>
          </a:p>
          <a:p>
            <a:pPr algn="just">
              <a:buFont typeface="Arial" panose="020B0604020202020204" pitchFamily="34" charset="0"/>
              <a:buChar char="•"/>
            </a:pPr>
            <a:r>
              <a:rPr lang="es-ES" b="1" dirty="0"/>
              <a:t>Riesgos Geopolíticos:</a:t>
            </a:r>
            <a:r>
              <a:rPr lang="es-ES" dirty="0"/>
              <a:t> Las tensiones políticas y conflictos en regiones productoras de hidrocarburos pueden afectar el suministro y los precios en el mercado global.</a:t>
            </a:r>
          </a:p>
          <a:p>
            <a:pPr algn="just"/>
            <a:r>
              <a:rPr lang="es-ES" b="1" dirty="0"/>
              <a:t>5.2. Oportunidades</a:t>
            </a:r>
            <a:endParaRPr lang="es-ES" dirty="0"/>
          </a:p>
          <a:p>
            <a:pPr algn="just">
              <a:buFont typeface="Arial" panose="020B0604020202020204" pitchFamily="34" charset="0"/>
              <a:buChar char="•"/>
            </a:pPr>
            <a:r>
              <a:rPr lang="es-ES" b="1" dirty="0"/>
              <a:t>Crecimiento en la Demanda:</a:t>
            </a:r>
            <a:r>
              <a:rPr lang="es-ES" dirty="0"/>
              <a:t> El crecimiento en las economías emergentes y el aumento en el consumo de energía ofrecen oportunidades para los exportadores de hidrocarburos.</a:t>
            </a:r>
          </a:p>
          <a:p>
            <a:pPr algn="just">
              <a:buFont typeface="Arial" panose="020B0604020202020204" pitchFamily="34" charset="0"/>
              <a:buChar char="•"/>
            </a:pPr>
            <a:r>
              <a:rPr lang="es-ES" b="1" dirty="0"/>
              <a:t>Innovaciones Tecnológicas:</a:t>
            </a:r>
            <a:r>
              <a:rPr lang="es-ES" dirty="0"/>
              <a:t> Las innovaciones en tecnologías de extracción y transporte, como la fracturación hidráulica (</a:t>
            </a:r>
            <a:r>
              <a:rPr lang="es-ES" dirty="0" err="1"/>
              <a:t>fracking</a:t>
            </a:r>
            <a:r>
              <a:rPr lang="es-ES" dirty="0"/>
              <a:t>) y el GNL, están creando nuevas oportunidades y mercados en el comercio internacional.</a:t>
            </a:r>
          </a:p>
          <a:p>
            <a:endParaRPr lang="es-ES" dirty="0"/>
          </a:p>
        </p:txBody>
      </p:sp>
    </p:spTree>
    <p:extLst>
      <p:ext uri="{BB962C8B-B14F-4D97-AF65-F5344CB8AC3E}">
        <p14:creationId xmlns:p14="http://schemas.microsoft.com/office/powerpoint/2010/main" val="3951770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400" dirty="0"/>
              <a:t>Comercio Internacional de Hidrocarburos</a:t>
            </a:r>
            <a:endParaRPr lang="es-ES" sz="54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10000"/>
          </a:bodyPr>
          <a:lstStyle/>
          <a:p>
            <a:pPr marL="0" indent="0">
              <a:buNone/>
            </a:pPr>
            <a:r>
              <a:rPr lang="es-ES" b="1" dirty="0"/>
              <a:t>Aspectos Clave del Comercio Internacional de Hidrocarburos</a:t>
            </a:r>
          </a:p>
          <a:p>
            <a:pPr algn="just"/>
            <a:r>
              <a:rPr lang="es-ES" b="1" dirty="0"/>
              <a:t>1.1. Precios Internacionales</a:t>
            </a:r>
            <a:endParaRPr lang="es-ES" dirty="0"/>
          </a:p>
          <a:p>
            <a:pPr algn="just">
              <a:buFont typeface="Arial" panose="020B0604020202020204" pitchFamily="34" charset="0"/>
              <a:buChar char="•"/>
            </a:pPr>
            <a:r>
              <a:rPr lang="es-ES" b="1" dirty="0"/>
              <a:t>Formación de Precios:</a:t>
            </a:r>
            <a:r>
              <a:rPr lang="es-ES" dirty="0"/>
              <a:t> Los precios internacionales del petróleo y el gas natural se determinan en mercados globales y pueden ser muy volátiles. El petróleo crudo se cotiza en índices como el Brent Crude y el West Texas </a:t>
            </a:r>
            <a:r>
              <a:rPr lang="es-ES" dirty="0" err="1"/>
              <a:t>Intermediate</a:t>
            </a:r>
            <a:r>
              <a:rPr lang="es-ES" dirty="0"/>
              <a:t> (WTI). El gas natural se comercializa a través de contratos de largo plazo y en mercados spot; el índice Henry Hub es una referencia importante en EE.UU., mientras que el TTF (</a:t>
            </a:r>
            <a:r>
              <a:rPr lang="es-ES" dirty="0" err="1"/>
              <a:t>Title</a:t>
            </a:r>
            <a:r>
              <a:rPr lang="es-ES" dirty="0"/>
              <a:t> Transfer </a:t>
            </a:r>
            <a:r>
              <a:rPr lang="es-ES" dirty="0" err="1"/>
              <a:t>Facility</a:t>
            </a:r>
            <a:r>
              <a:rPr lang="es-ES" dirty="0"/>
              <a:t>) es significativo en Europa.</a:t>
            </a:r>
          </a:p>
          <a:p>
            <a:pPr algn="just">
              <a:buFont typeface="Arial" panose="020B0604020202020204" pitchFamily="34" charset="0"/>
              <a:buChar char="•"/>
            </a:pPr>
            <a:r>
              <a:rPr lang="es-ES" b="1" dirty="0"/>
              <a:t>Factores de Influencia:</a:t>
            </a:r>
            <a:r>
              <a:rPr lang="es-ES" dirty="0"/>
              <a:t> Los precios están afectados por la oferta y demanda global, decisiones de producción de la OPEP y otros países productores, eventos geopolíticos, y cambios en la política económica global. Las fluctuaciones en estos precios pueden afectar significativamente a los países exportadores e importadores.</a:t>
            </a:r>
          </a:p>
          <a:p>
            <a:endParaRPr lang="es-ES" dirty="0"/>
          </a:p>
        </p:txBody>
      </p:sp>
    </p:spTree>
    <p:extLst>
      <p:ext uri="{BB962C8B-B14F-4D97-AF65-F5344CB8AC3E}">
        <p14:creationId xmlns:p14="http://schemas.microsoft.com/office/powerpoint/2010/main" val="4225630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1.2. Métodos de Transporte</a:t>
            </a:r>
            <a:endParaRPr lang="es-ES" dirty="0"/>
          </a:p>
          <a:p>
            <a:pPr>
              <a:buFont typeface="Arial" panose="020B0604020202020204" pitchFamily="34" charset="0"/>
              <a:buChar char="•"/>
            </a:pPr>
            <a:r>
              <a:rPr lang="es-ES" b="1" dirty="0"/>
              <a:t>Oleoductos y Gaseoductos:</a:t>
            </a:r>
            <a:r>
              <a:rPr lang="es-ES" dirty="0"/>
              <a:t> Los oleoductos y gaseoductos transportan petróleo y gas natural desde los sitios de producción hasta los centros de consumo o puertos de exportación. Ejemplos son el oleoducto de Trans-Alaska y el gaseoducto Nord </a:t>
            </a:r>
            <a:r>
              <a:rPr lang="es-ES" dirty="0" err="1"/>
              <a:t>Stream</a:t>
            </a:r>
            <a:r>
              <a:rPr lang="es-ES" dirty="0"/>
              <a:t>. La infraestructura de transporte es crucial para el comercio, y la falta de infraestructura adecuada puede limitar el acceso a mercados internacionales.</a:t>
            </a:r>
          </a:p>
          <a:p>
            <a:pPr>
              <a:buFont typeface="Arial" panose="020B0604020202020204" pitchFamily="34" charset="0"/>
              <a:buChar char="•"/>
            </a:pPr>
            <a:r>
              <a:rPr lang="es-ES" b="1" dirty="0"/>
              <a:t>Transporte Marítimo:</a:t>
            </a:r>
            <a:r>
              <a:rPr lang="es-ES" dirty="0"/>
              <a:t> El petróleo se transporta principalmente en superpetroleros y los productos refinados en buques cisterna. El gas natural licuado (GNL) se transporta en buques especializados después de ser licuado. La capacidad portuaria y la logística de carga y descarga son importantes para facilitar el comercio.</a:t>
            </a:r>
          </a:p>
          <a:p>
            <a:endParaRPr lang="es-ES" dirty="0"/>
          </a:p>
        </p:txBody>
      </p:sp>
    </p:spTree>
    <p:extLst>
      <p:ext uri="{BB962C8B-B14F-4D97-AF65-F5344CB8AC3E}">
        <p14:creationId xmlns:p14="http://schemas.microsoft.com/office/powerpoint/2010/main" val="4210383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1.3. Regulaciones y Normativas</a:t>
            </a:r>
            <a:endParaRPr lang="es-ES" dirty="0"/>
          </a:p>
          <a:p>
            <a:pPr>
              <a:buFont typeface="Arial" panose="020B0604020202020204" pitchFamily="34" charset="0"/>
              <a:buChar char="•"/>
            </a:pPr>
            <a:r>
              <a:rPr lang="es-ES" b="1" dirty="0"/>
              <a:t>Normativas Internacionales:</a:t>
            </a:r>
            <a:r>
              <a:rPr lang="es-ES" dirty="0"/>
              <a:t> Existen acuerdos y tratados internacionales que regulan el comercio de hidrocarburos. Por ejemplo, la Convención de las Naciones Unidas sobre el Derecho del Mar (UNCLOS) establece normas para la exploración y explotación de recursos en las zonas económicas exclusivas (ZEE).</a:t>
            </a:r>
          </a:p>
          <a:p>
            <a:pPr>
              <a:buFont typeface="Arial" panose="020B0604020202020204" pitchFamily="34" charset="0"/>
              <a:buChar char="•"/>
            </a:pPr>
            <a:r>
              <a:rPr lang="es-ES" b="1" dirty="0"/>
              <a:t>Regulaciones Ambientales:</a:t>
            </a:r>
            <a:r>
              <a:rPr lang="es-ES" dirty="0"/>
              <a:t> Las regulaciones internacionales sobre el cambio climático y las emisiones afectan cómo se exploran, extraen, y transportan los hidrocarburos. Los estándares ambientales internacionales están diseñados para minimizar los impactos ambientales negativos.</a:t>
            </a:r>
          </a:p>
          <a:p>
            <a:endParaRPr lang="es-ES" dirty="0"/>
          </a:p>
        </p:txBody>
      </p:sp>
    </p:spTree>
    <p:extLst>
      <p:ext uri="{BB962C8B-B14F-4D97-AF65-F5344CB8AC3E}">
        <p14:creationId xmlns:p14="http://schemas.microsoft.com/office/powerpoint/2010/main" val="3706669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1.4. Contratos Comerciales</a:t>
            </a:r>
            <a:endParaRPr lang="es-ES" dirty="0"/>
          </a:p>
          <a:p>
            <a:pPr algn="just">
              <a:buFont typeface="Arial" panose="020B0604020202020204" pitchFamily="34" charset="0"/>
              <a:buChar char="•"/>
            </a:pPr>
            <a:r>
              <a:rPr lang="es-ES" b="1" dirty="0"/>
              <a:t>Contratos a Largo Plazo vs. Spot:</a:t>
            </a:r>
            <a:r>
              <a:rPr lang="es-ES" dirty="0"/>
              <a:t> Los contratos a largo plazo ofrecen estabilidad en el suministro y precios preestablecidos, mientras que los contratos spot se basan en precios actuales y pueden ofrecer flexibilidad.</a:t>
            </a:r>
          </a:p>
          <a:p>
            <a:pPr algn="just">
              <a:buFont typeface="Arial" panose="020B0604020202020204" pitchFamily="34" charset="0"/>
              <a:buChar char="•"/>
            </a:pPr>
            <a:r>
              <a:rPr lang="es-ES" b="1" dirty="0"/>
              <a:t>Contratos de Futuros y Opciones:</a:t>
            </a:r>
            <a:r>
              <a:rPr lang="es-ES" dirty="0"/>
              <a:t> Los contratos de futuros permiten fijar precios para compras o ventas futuras, ayudando a gestionar el riesgo de precio. Las opciones ofrecen el derecho, pero no la obligación, de comprar o vender a precios establecidos.</a:t>
            </a:r>
          </a:p>
          <a:p>
            <a:endParaRPr lang="es-ES" dirty="0"/>
          </a:p>
        </p:txBody>
      </p:sp>
    </p:spTree>
    <p:extLst>
      <p:ext uri="{BB962C8B-B14F-4D97-AF65-F5344CB8AC3E}">
        <p14:creationId xmlns:p14="http://schemas.microsoft.com/office/powerpoint/2010/main" val="17489862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8518072" cy="996053"/>
          </a:xfrm>
        </p:spPr>
        <p:txBody>
          <a:bodyPr>
            <a:normAutofit/>
          </a:bodyPr>
          <a:lstStyle/>
          <a:p>
            <a:r>
              <a:rPr lang="es-ES" sz="2400" b="1" dirty="0"/>
              <a:t>Impacto del Comercio Internacional de Hidrocarburos en Perú</a:t>
            </a:r>
            <a:endParaRPr lang="es-ES" sz="54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Exportaciones e Importaciones de Hidrocarburos</a:t>
            </a:r>
            <a:endParaRPr lang="es-ES" dirty="0"/>
          </a:p>
          <a:p>
            <a:pPr algn="just">
              <a:buFont typeface="Arial" panose="020B0604020202020204" pitchFamily="34" charset="0"/>
              <a:buChar char="•"/>
            </a:pPr>
            <a:r>
              <a:rPr lang="es-ES" b="1" dirty="0"/>
              <a:t>Exportaciones:</a:t>
            </a:r>
            <a:r>
              <a:rPr lang="es-ES" dirty="0"/>
              <a:t> Perú es un exportador neto de hidrocarburos, principalmente petróleo crudo y gas natural. Los principales destinos de exportación son mercados en Asia (como China y Corea del Sur) y Estados Unidos. El petróleo y el gas natural se exportan a través de puertos en el Pacífico, como el puerto de Talara, y mediante gaseoductos hacia mercados regionales.</a:t>
            </a:r>
          </a:p>
          <a:p>
            <a:pPr algn="just">
              <a:buFont typeface="Arial" panose="020B0604020202020204" pitchFamily="34" charset="0"/>
              <a:buChar char="•"/>
            </a:pPr>
            <a:r>
              <a:rPr lang="es-ES" b="1" dirty="0"/>
              <a:t>Importaciones:</a:t>
            </a:r>
            <a:r>
              <a:rPr lang="es-ES" dirty="0"/>
              <a:t> Aunque Perú exporta hidrocarburos, también importa productos refinados y ciertos insumos para la industria. Las importaciones incluyen combustibles refinados y equipos técnicos necesarios para la extracción y procesamiento de hidrocarburos.</a:t>
            </a:r>
          </a:p>
          <a:p>
            <a:endParaRPr lang="es-ES" dirty="0"/>
          </a:p>
        </p:txBody>
      </p:sp>
    </p:spTree>
    <p:extLst>
      <p:ext uri="{BB962C8B-B14F-4D97-AF65-F5344CB8AC3E}">
        <p14:creationId xmlns:p14="http://schemas.microsoft.com/office/powerpoint/2010/main" val="357319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marL="0" indent="0">
              <a:buNone/>
            </a:pPr>
            <a:r>
              <a:rPr lang="es-ES" b="1" dirty="0"/>
              <a:t>2.2. Influencia en la Economía Peruana</a:t>
            </a:r>
            <a:endParaRPr lang="es-ES" dirty="0"/>
          </a:p>
          <a:p>
            <a:pPr>
              <a:buFont typeface="Arial" panose="020B0604020202020204" pitchFamily="34" charset="0"/>
              <a:buChar char="•"/>
            </a:pPr>
            <a:r>
              <a:rPr lang="es-ES" b="1" dirty="0"/>
              <a:t>Ingresos por Exportación:</a:t>
            </a:r>
            <a:r>
              <a:rPr lang="es-ES" dirty="0"/>
              <a:t> Las exportaciones de hidrocarburos son una fuente significativa de ingresos para el gobierno peruano, que se traduce en regalías y derechos de explotación. Estos ingresos impactan el balance comercial y la estabilidad económica del país.</a:t>
            </a:r>
          </a:p>
          <a:p>
            <a:pPr>
              <a:buFont typeface="Arial" panose="020B0604020202020204" pitchFamily="34" charset="0"/>
              <a:buChar char="•"/>
            </a:pPr>
            <a:r>
              <a:rPr lang="es-ES" b="1" dirty="0"/>
              <a:t>Inversiones Extranjeras:</a:t>
            </a:r>
            <a:r>
              <a:rPr lang="es-ES" dirty="0"/>
              <a:t> El sector de hidrocarburos atrae inversiones extranjeras directas (IED), que son importantes para el desarrollo de infraestructura y tecnología. Estas inversiones pueden contribuir al crecimiento económico y a la creación de empleo.</a:t>
            </a:r>
          </a:p>
          <a:p>
            <a:pPr>
              <a:buFont typeface="Arial" panose="020B0604020202020204" pitchFamily="34" charset="0"/>
              <a:buChar char="•"/>
            </a:pPr>
            <a:r>
              <a:rPr lang="es-ES" b="1" dirty="0"/>
              <a:t>Impacto de los Precios Internacionales:</a:t>
            </a:r>
            <a:r>
              <a:rPr lang="es-ES" dirty="0"/>
              <a:t> La fluctuación en los precios internacionales de petróleo y gas puede afectar los ingresos nacionales. Los precios bajos pueden reducir los ingresos por exportaciones y afectar el presupuesto estatal, mientras que los precios altos pueden aumentar los ingresos pero también generar presiones inflacionarias.</a:t>
            </a:r>
          </a:p>
          <a:p>
            <a:endParaRPr lang="es-ES" dirty="0"/>
          </a:p>
        </p:txBody>
      </p:sp>
    </p:spTree>
    <p:extLst>
      <p:ext uri="{BB962C8B-B14F-4D97-AF65-F5344CB8AC3E}">
        <p14:creationId xmlns:p14="http://schemas.microsoft.com/office/powerpoint/2010/main" val="40394210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2.3. Infraestructura y Logística</a:t>
            </a:r>
            <a:endParaRPr lang="es-ES" dirty="0"/>
          </a:p>
          <a:p>
            <a:pPr algn="just">
              <a:buFont typeface="Arial" panose="020B0604020202020204" pitchFamily="34" charset="0"/>
              <a:buChar char="•"/>
            </a:pPr>
            <a:r>
              <a:rPr lang="es-ES" b="1" dirty="0"/>
              <a:t>Infraestructura Portuaria:</a:t>
            </a:r>
            <a:r>
              <a:rPr lang="es-ES" dirty="0"/>
              <a:t> Perú tiene puertos clave para la exportación de hidrocarburos. La infraestructura portuaria y de transporte debe estar bien desarrollada para asegurar una exportación eficiente y reducir costos logísticos.</a:t>
            </a:r>
          </a:p>
          <a:p>
            <a:pPr algn="just">
              <a:buFont typeface="Arial" panose="020B0604020202020204" pitchFamily="34" charset="0"/>
              <a:buChar char="•"/>
            </a:pPr>
            <a:r>
              <a:rPr lang="es-ES" b="1" dirty="0"/>
              <a:t>Gaseoductos:</a:t>
            </a:r>
            <a:r>
              <a:rPr lang="es-ES" dirty="0"/>
              <a:t> Los gaseoductos que conectan Perú con mercados vecinos, como el gaseoducto Perú-Brasil, son esenciales para exportar gas natural. La infraestructura de transporte de gas debe ser robusta para facilitar el comercio y la integración regional.</a:t>
            </a:r>
          </a:p>
          <a:p>
            <a:endParaRPr lang="es-ES" dirty="0"/>
          </a:p>
        </p:txBody>
      </p:sp>
    </p:spTree>
    <p:extLst>
      <p:ext uri="{BB962C8B-B14F-4D97-AF65-F5344CB8AC3E}">
        <p14:creationId xmlns:p14="http://schemas.microsoft.com/office/powerpoint/2010/main" val="1933747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dirty="0"/>
              <a:t>El comercio internacional de hidrocarburos tiene un impacto significativo en la economía de Perú. La exportación de petróleo y gas natural genera ingresos cruciales para el país, mientras que la volatilidad de los precios internacionales y las regulaciones ambientales presentan desafíos. La infraestructura de transporte y las políticas gubernamentales son factores clave que influyen en la efectividad del comercio de hidrocarburos y en el desarrollo económico de Perú. La capacidad para gestionar estos aspectos y adaptarse a las condiciones globales es esencial para maximizar los beneficios y mitigar los riesgos en el comercio internacional de hidrocarburos.</a:t>
            </a:r>
          </a:p>
        </p:txBody>
      </p:sp>
    </p:spTree>
    <p:extLst>
      <p:ext uri="{BB962C8B-B14F-4D97-AF65-F5344CB8AC3E}">
        <p14:creationId xmlns:p14="http://schemas.microsoft.com/office/powerpoint/2010/main" val="17623436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400" dirty="0"/>
              <a:t>Cobertura de Riesgos en el Sector de Hidrocarburos</a:t>
            </a:r>
            <a:endParaRPr lang="es-ES" sz="54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Tipos de Riesgos en Proyectos de Hidrocarburos</a:t>
            </a:r>
          </a:p>
          <a:p>
            <a:r>
              <a:rPr lang="es-ES" b="1" dirty="0"/>
              <a:t>1.1. Riesgos Financieros</a:t>
            </a:r>
            <a:endParaRPr lang="es-ES" dirty="0"/>
          </a:p>
          <a:p>
            <a:pPr>
              <a:buFont typeface="Arial" panose="020B0604020202020204" pitchFamily="34" charset="0"/>
              <a:buChar char="•"/>
            </a:pPr>
            <a:r>
              <a:rPr lang="es-ES" b="1" dirty="0"/>
              <a:t>Volatilidad de Precios:</a:t>
            </a:r>
            <a:r>
              <a:rPr lang="es-ES" dirty="0"/>
              <a:t> Los precios del petróleo y del gas natural son altamente volátiles y pueden fluctuar debido a factores globales como la oferta y demanda, decisiones de la OPEP, y tensiones geopolíticas. Esta volatilidad puede afectar los ingresos y los márgenes de beneficio.</a:t>
            </a:r>
          </a:p>
          <a:p>
            <a:pPr>
              <a:buFont typeface="Arial" panose="020B0604020202020204" pitchFamily="34" charset="0"/>
              <a:buChar char="•"/>
            </a:pPr>
            <a:r>
              <a:rPr lang="es-ES" b="1" dirty="0"/>
              <a:t>Tipo de Cambio:</a:t>
            </a:r>
            <a:r>
              <a:rPr lang="es-ES" dirty="0"/>
              <a:t> Dado que las transacciones internacionales en el sector se realizan en diferentes monedas, las fluctuaciones en los tipos de cambio pueden afectar los costos y los ingresos.</a:t>
            </a:r>
          </a:p>
          <a:p>
            <a:pPr>
              <a:buFont typeface="Arial" panose="020B0604020202020204" pitchFamily="34" charset="0"/>
              <a:buChar char="•"/>
            </a:pPr>
            <a:r>
              <a:rPr lang="es-ES" b="1" dirty="0"/>
              <a:t>Costos de Capital:</a:t>
            </a:r>
            <a:r>
              <a:rPr lang="es-ES" dirty="0"/>
              <a:t> Los cambios en las tasas de interés pueden impactar el costo de los préstamos y la estructura de capital de un proyecto. Un aumento en las tasas de interés puede elevar el costo de financiamiento.</a:t>
            </a:r>
          </a:p>
          <a:p>
            <a:endParaRPr lang="es-ES" dirty="0"/>
          </a:p>
        </p:txBody>
      </p:sp>
    </p:spTree>
    <p:extLst>
      <p:ext uri="{BB962C8B-B14F-4D97-AF65-F5344CB8AC3E}">
        <p14:creationId xmlns:p14="http://schemas.microsoft.com/office/powerpoint/2010/main" val="2903669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b="1" dirty="0"/>
              <a:t>Riesgos Operativos</a:t>
            </a:r>
            <a:endParaRPr lang="es-ES" dirty="0"/>
          </a:p>
          <a:p>
            <a:pPr algn="just">
              <a:buFont typeface="Arial" panose="020B0604020202020204" pitchFamily="34" charset="0"/>
              <a:buChar char="•"/>
            </a:pPr>
            <a:r>
              <a:rPr lang="es-ES" b="1" dirty="0"/>
              <a:t>Riesgos Técnicos:</a:t>
            </a:r>
            <a:r>
              <a:rPr lang="es-ES" dirty="0"/>
              <a:t> Estos incluyen problemas con la tecnología de perforación, fallos en el equipo, y desafíos en la extracción y procesamiento. La tecnología en el sector de hidrocarburos es compleja y los fallos pueden resultar costosos.</a:t>
            </a:r>
          </a:p>
          <a:p>
            <a:pPr algn="just">
              <a:buFont typeface="Arial" panose="020B0604020202020204" pitchFamily="34" charset="0"/>
              <a:buChar char="•"/>
            </a:pPr>
            <a:r>
              <a:rPr lang="es-ES" b="1" dirty="0"/>
              <a:t>Riesgos de Infraestructura:</a:t>
            </a:r>
            <a:r>
              <a:rPr lang="es-ES" dirty="0"/>
              <a:t> Incluyen daños a la infraestructura de transporte y almacenamiento, como oleoductos y gaseoductos. El mantenimiento y la integridad de estas infraestructuras son cruciales para la operación continua del proyecto.</a:t>
            </a:r>
          </a:p>
          <a:p>
            <a:endParaRPr lang="es-ES" dirty="0"/>
          </a:p>
        </p:txBody>
      </p:sp>
    </p:spTree>
    <p:extLst>
      <p:ext uri="{BB962C8B-B14F-4D97-AF65-F5344CB8AC3E}">
        <p14:creationId xmlns:p14="http://schemas.microsoft.com/office/powerpoint/2010/main" val="2598857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1.3. Riesgos Ambientales y Regulatorios</a:t>
            </a:r>
            <a:endParaRPr lang="es-ES" dirty="0"/>
          </a:p>
          <a:p>
            <a:pPr>
              <a:buFont typeface="Arial" panose="020B0604020202020204" pitchFamily="34" charset="0"/>
              <a:buChar char="•"/>
            </a:pPr>
            <a:r>
              <a:rPr lang="es-ES" b="1" dirty="0"/>
              <a:t>Impacto Ambiental:</a:t>
            </a:r>
            <a:r>
              <a:rPr lang="es-ES" dirty="0"/>
              <a:t> La explotación de hidrocarburos puede tener efectos negativos sobre el medio ambiente, como la contaminación de aguas y suelos. Los daños ambientales pueden resultar en sanciones y costos de remediación.</a:t>
            </a:r>
          </a:p>
          <a:p>
            <a:pPr>
              <a:buFont typeface="Arial" panose="020B0604020202020204" pitchFamily="34" charset="0"/>
              <a:buChar char="•"/>
            </a:pPr>
            <a:r>
              <a:rPr lang="es-ES" b="1" dirty="0"/>
              <a:t>Cumplimiento Regulatorio:</a:t>
            </a:r>
            <a:r>
              <a:rPr lang="es-ES" dirty="0"/>
              <a:t> Las regulaciones ambientales y de seguridad son estrictas y pueden cambiar con el tiempo. El incumplimiento puede resultar en multas, sanciones y restricciones operativas.</a:t>
            </a:r>
          </a:p>
          <a:p>
            <a:endParaRPr lang="es-ES" dirty="0"/>
          </a:p>
        </p:txBody>
      </p:sp>
    </p:spTree>
    <p:extLst>
      <p:ext uri="{BB962C8B-B14F-4D97-AF65-F5344CB8AC3E}">
        <p14:creationId xmlns:p14="http://schemas.microsoft.com/office/powerpoint/2010/main" val="29867692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b="1" dirty="0"/>
              <a:t>1.4. Riesgos Geopolíticos y Políticos</a:t>
            </a:r>
            <a:endParaRPr lang="es-ES" dirty="0"/>
          </a:p>
          <a:p>
            <a:pPr algn="just">
              <a:buFont typeface="Arial" panose="020B0604020202020204" pitchFamily="34" charset="0"/>
              <a:buChar char="•"/>
            </a:pPr>
            <a:r>
              <a:rPr lang="es-ES" b="1" dirty="0"/>
              <a:t>Inestabilidad Política:</a:t>
            </a:r>
            <a:r>
              <a:rPr lang="es-ES" dirty="0"/>
              <a:t> La inestabilidad en los países productores puede afectar la continuidad de las operaciones y la seguridad de los proyectos. Las políticas gubernamentales pueden cambiar, impactando las condiciones de operación y los incentivos fiscales.</a:t>
            </a:r>
          </a:p>
          <a:p>
            <a:pPr algn="just">
              <a:buFont typeface="Arial" panose="020B0604020202020204" pitchFamily="34" charset="0"/>
              <a:buChar char="•"/>
            </a:pPr>
            <a:r>
              <a:rPr lang="es-ES" b="1" dirty="0"/>
              <a:t>Tensiones Geopolíticas:</a:t>
            </a:r>
            <a:r>
              <a:rPr lang="es-ES" dirty="0"/>
              <a:t> Los conflictos internacionales y las sanciones pueden afectar el comercio de hidrocarburos, las inversiones extranjeras y el acceso a mercados internacionales.</a:t>
            </a:r>
          </a:p>
          <a:p>
            <a:endParaRPr lang="es-ES" dirty="0"/>
          </a:p>
        </p:txBody>
      </p:sp>
    </p:spTree>
    <p:extLst>
      <p:ext uri="{BB962C8B-B14F-4D97-AF65-F5344CB8AC3E}">
        <p14:creationId xmlns:p14="http://schemas.microsoft.com/office/powerpoint/2010/main" val="36410964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1.5. Riesgos de Mercado</a:t>
            </a:r>
            <a:endParaRPr lang="es-ES" dirty="0"/>
          </a:p>
          <a:p>
            <a:pPr algn="just">
              <a:buFont typeface="Arial" panose="020B0604020202020204" pitchFamily="34" charset="0"/>
              <a:buChar char="•"/>
            </a:pPr>
            <a:r>
              <a:rPr lang="es-ES" b="1" dirty="0"/>
              <a:t>Competencia:</a:t>
            </a:r>
            <a:r>
              <a:rPr lang="es-ES" dirty="0"/>
              <a:t> La entrada de nuevos competidores y cambios en la dinámica del mercado pueden afectar la participación en el mercado y los precios.</a:t>
            </a:r>
          </a:p>
          <a:p>
            <a:pPr algn="just">
              <a:buFont typeface="Arial" panose="020B0604020202020204" pitchFamily="34" charset="0"/>
              <a:buChar char="•"/>
            </a:pPr>
            <a:r>
              <a:rPr lang="es-ES" b="1" dirty="0"/>
              <a:t>Demanda del Mercado:</a:t>
            </a:r>
            <a:r>
              <a:rPr lang="es-ES" dirty="0"/>
              <a:t> Cambios en la demanda global de hidrocarburos, impulsados por políticas de cambio climático o desarrollo de energías alternativas, pueden afectar la rentabilidad.</a:t>
            </a:r>
          </a:p>
          <a:p>
            <a:endParaRPr lang="es-ES" dirty="0"/>
          </a:p>
        </p:txBody>
      </p:sp>
    </p:spTree>
    <p:extLst>
      <p:ext uri="{BB962C8B-B14F-4D97-AF65-F5344CB8AC3E}">
        <p14:creationId xmlns:p14="http://schemas.microsoft.com/office/powerpoint/2010/main" val="30318173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pPr marL="0" indent="0">
              <a:buNone/>
            </a:pPr>
            <a:r>
              <a:rPr lang="es-ES" b="1" dirty="0"/>
              <a:t>Estrategias de Cobertura de Riesgos</a:t>
            </a:r>
          </a:p>
          <a:p>
            <a:r>
              <a:rPr lang="es-ES" b="1" dirty="0"/>
              <a:t>2.1. Cobertura Financiera</a:t>
            </a:r>
            <a:endParaRPr lang="es-ES" dirty="0"/>
          </a:p>
          <a:p>
            <a:pPr>
              <a:buFont typeface="Arial" panose="020B0604020202020204" pitchFamily="34" charset="0"/>
              <a:buChar char="•"/>
            </a:pPr>
            <a:r>
              <a:rPr lang="es-ES" b="1" dirty="0"/>
              <a:t>Contratos de Futuros y Opciones:</a:t>
            </a:r>
            <a:r>
              <a:rPr lang="es-ES" dirty="0"/>
              <a:t> Estos instrumentos financieros permiten fijar precios futuros para el petróleo y el gas, ayudando a gestionar la volatilidad de los precios. Las opciones brindan flexibilidad adicional en la fijación de precios futuros.</a:t>
            </a:r>
          </a:p>
          <a:p>
            <a:pPr>
              <a:buFont typeface="Arial" panose="020B0604020202020204" pitchFamily="34" charset="0"/>
              <a:buChar char="•"/>
            </a:pPr>
            <a:r>
              <a:rPr lang="es-ES" b="1" dirty="0" err="1"/>
              <a:t>Hedging</a:t>
            </a:r>
            <a:r>
              <a:rPr lang="es-ES" b="1" dirty="0"/>
              <a:t> de Tipos de Cambio:</a:t>
            </a:r>
            <a:r>
              <a:rPr lang="es-ES" dirty="0"/>
              <a:t> Las empresas pueden utilizar contratos a término y swaps de divisas para protegerse contra las fluctuaciones en los tipos de cambio.</a:t>
            </a:r>
          </a:p>
          <a:p>
            <a:pPr>
              <a:buFont typeface="Arial" panose="020B0604020202020204" pitchFamily="34" charset="0"/>
              <a:buChar char="•"/>
            </a:pPr>
            <a:r>
              <a:rPr lang="es-ES" b="1" dirty="0"/>
              <a:t>Seguro de Riesgo Operativo:</a:t>
            </a:r>
            <a:r>
              <a:rPr lang="es-ES" dirty="0"/>
              <a:t> Los seguros pueden cubrir pérdidas derivadas de fallos técnicos y daños a la infraestructura. Es crucial para proteger los activos y operaciones frente a imprevistos.</a:t>
            </a:r>
          </a:p>
          <a:p>
            <a:endParaRPr lang="es-ES" dirty="0"/>
          </a:p>
        </p:txBody>
      </p:sp>
    </p:spTree>
    <p:extLst>
      <p:ext uri="{BB962C8B-B14F-4D97-AF65-F5344CB8AC3E}">
        <p14:creationId xmlns:p14="http://schemas.microsoft.com/office/powerpoint/2010/main" val="27383145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179062"/>
            <a:ext cx="11032671" cy="4997902"/>
          </a:xfrm>
        </p:spPr>
        <p:txBody>
          <a:bodyPr>
            <a:normAutofit fontScale="85000" lnSpcReduction="10000"/>
          </a:bodyPr>
          <a:lstStyle/>
          <a:p>
            <a:pPr marL="0" indent="0" algn="just">
              <a:buNone/>
            </a:pPr>
            <a:r>
              <a:rPr lang="es-ES" b="1" dirty="0"/>
              <a:t>2.2. Gestión de Riesgos Operativos</a:t>
            </a:r>
            <a:endParaRPr lang="es-ES" dirty="0"/>
          </a:p>
          <a:p>
            <a:pPr algn="just">
              <a:buFont typeface="Arial" panose="020B0604020202020204" pitchFamily="34" charset="0"/>
              <a:buChar char="•"/>
            </a:pPr>
            <a:r>
              <a:rPr lang="es-ES" b="1" dirty="0"/>
              <a:t>Mantenimiento Preventivo y Predictivo:</a:t>
            </a:r>
            <a:r>
              <a:rPr lang="es-ES" dirty="0"/>
              <a:t> Implementar programas de mantenimiento para la infraestructura y el equipo para reducir la probabilidad de fallos operativos. Utilizar tecnología avanzada para predecir y mitigar problemas técnicos.</a:t>
            </a:r>
          </a:p>
          <a:p>
            <a:pPr algn="just">
              <a:buFont typeface="Arial" panose="020B0604020202020204" pitchFamily="34" charset="0"/>
              <a:buChar char="•"/>
            </a:pPr>
            <a:r>
              <a:rPr lang="es-ES" b="1" dirty="0"/>
              <a:t>Planes de Contingencia:</a:t>
            </a:r>
            <a:r>
              <a:rPr lang="es-ES" dirty="0"/>
              <a:t> Desarrollar y mantener planes de contingencia para enfrentar interrupciones operativas, como desastres naturales o fallos críticos en la infraestructura.</a:t>
            </a:r>
          </a:p>
          <a:p>
            <a:pPr marL="0" indent="0">
              <a:buNone/>
            </a:pPr>
            <a:r>
              <a:rPr lang="es-ES" b="1" dirty="0"/>
              <a:t>2.3. Cumplimiento Regulatorio y Gestión Ambiental</a:t>
            </a:r>
            <a:endParaRPr lang="es-ES" dirty="0"/>
          </a:p>
          <a:p>
            <a:pPr>
              <a:buFont typeface="Arial" panose="020B0604020202020204" pitchFamily="34" charset="0"/>
              <a:buChar char="•"/>
            </a:pPr>
            <a:r>
              <a:rPr lang="es-ES" b="1" dirty="0"/>
              <a:t>Cumplimiento Normativo:</a:t>
            </a:r>
            <a:r>
              <a:rPr lang="es-ES" dirty="0"/>
              <a:t> Establecer sistemas robustos para monitorear y asegurar el cumplimiento con las regulaciones ambientales y de seguridad. Implementar prácticas que superen los requisitos regulatorios para reducir el riesgo de sanciones.</a:t>
            </a:r>
          </a:p>
          <a:p>
            <a:pPr>
              <a:buFont typeface="Arial" panose="020B0604020202020204" pitchFamily="34" charset="0"/>
              <a:buChar char="•"/>
            </a:pPr>
            <a:r>
              <a:rPr lang="es-ES" b="1" dirty="0"/>
              <a:t>Gestión Ambiental:</a:t>
            </a:r>
            <a:r>
              <a:rPr lang="es-ES" dirty="0"/>
              <a:t> Desarrollar e implementar estrategias de gestión ambiental para minimizar el impacto y los riesgos asociados. Invertir en tecnologías y prácticas sostenibles para reducir el riesgo de daños </a:t>
            </a:r>
            <a:r>
              <a:rPr lang="es-ES" dirty="0" err="1"/>
              <a:t>ambientale</a:t>
            </a:r>
            <a:endParaRPr lang="es-ES" dirty="0"/>
          </a:p>
          <a:p>
            <a:pPr algn="just">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4576055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10000"/>
          </a:bodyPr>
          <a:lstStyle/>
          <a:p>
            <a:pPr marL="0" indent="0" algn="just">
              <a:buNone/>
            </a:pPr>
            <a:r>
              <a:rPr lang="es-ES" b="1" dirty="0"/>
              <a:t>2.4. Mitigación de Riesgos Geopolíticos</a:t>
            </a:r>
            <a:endParaRPr lang="es-ES" dirty="0"/>
          </a:p>
          <a:p>
            <a:pPr algn="just">
              <a:buFont typeface="Arial" panose="020B0604020202020204" pitchFamily="34" charset="0"/>
              <a:buChar char="•"/>
            </a:pPr>
            <a:r>
              <a:rPr lang="es-ES" b="1" dirty="0"/>
              <a:t>Diversificación Geográfica:</a:t>
            </a:r>
            <a:r>
              <a:rPr lang="es-ES" dirty="0"/>
              <a:t> Diversificar las inversiones y operaciones en diferentes regiones para reducir la exposición a riesgos geopolíticos específicos de un país.</a:t>
            </a:r>
          </a:p>
          <a:p>
            <a:pPr algn="just">
              <a:buFont typeface="Arial" panose="020B0604020202020204" pitchFamily="34" charset="0"/>
              <a:buChar char="•"/>
            </a:pPr>
            <a:r>
              <a:rPr lang="es-ES" b="1" dirty="0"/>
              <a:t>Monitoreo Político:</a:t>
            </a:r>
            <a:r>
              <a:rPr lang="es-ES" dirty="0"/>
              <a:t> Mantener un monitoreo constante de las condiciones políticas y geopolíticas en los países de operación para anticipar y gestionar riesgos potenciales.</a:t>
            </a:r>
          </a:p>
          <a:p>
            <a:pPr marL="0" indent="0" algn="just">
              <a:buNone/>
            </a:pPr>
            <a:r>
              <a:rPr lang="es-ES" b="1" dirty="0"/>
              <a:t>2.5. Estrategias de Mercado</a:t>
            </a:r>
            <a:endParaRPr lang="es-ES" dirty="0"/>
          </a:p>
          <a:p>
            <a:pPr algn="just">
              <a:buFont typeface="Arial" panose="020B0604020202020204" pitchFamily="34" charset="0"/>
              <a:buChar char="•"/>
            </a:pPr>
            <a:r>
              <a:rPr lang="es-ES" b="1" dirty="0"/>
              <a:t>Investigación de Mercado y Análisis Competitivo:</a:t>
            </a:r>
            <a:r>
              <a:rPr lang="es-ES" dirty="0"/>
              <a:t> Realizar estudios de mercado para entender la dinámica de la oferta y la demanda. Analizar a los competidores para anticipar cambios en el mercado y ajustar las estrategias comerciales.</a:t>
            </a:r>
          </a:p>
          <a:p>
            <a:pPr algn="just">
              <a:buFont typeface="Arial" panose="020B0604020202020204" pitchFamily="34" charset="0"/>
              <a:buChar char="•"/>
            </a:pPr>
            <a:r>
              <a:rPr lang="es-ES" b="1" dirty="0"/>
              <a:t>Adaptación a Tendencias Energéticas:</a:t>
            </a:r>
            <a:r>
              <a:rPr lang="es-ES" dirty="0"/>
              <a:t> Ajustar las estrategias a las tendencias globales en el sector energético, como el aumento de las energías renovables, para diversificar la oferta y reducir la dependencia de los hidrocarburos tradicionales.</a:t>
            </a:r>
          </a:p>
          <a:p>
            <a:endParaRPr lang="es-ES" dirty="0"/>
          </a:p>
        </p:txBody>
      </p:sp>
    </p:spTree>
    <p:extLst>
      <p:ext uri="{BB962C8B-B14F-4D97-AF65-F5344CB8AC3E}">
        <p14:creationId xmlns:p14="http://schemas.microsoft.com/office/powerpoint/2010/main" val="39239556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 Implementación y Monitoreo de la Cobertura de Riesgos</a:t>
            </a:r>
          </a:p>
          <a:p>
            <a:r>
              <a:rPr lang="es-ES" b="1" dirty="0"/>
              <a:t>3.1. Evaluación Continua de Riesgos</a:t>
            </a:r>
            <a:endParaRPr lang="es-ES" dirty="0"/>
          </a:p>
          <a:p>
            <a:pPr>
              <a:buFont typeface="Arial" panose="020B0604020202020204" pitchFamily="34" charset="0"/>
              <a:buChar char="•"/>
            </a:pPr>
            <a:r>
              <a:rPr lang="es-ES" b="1" dirty="0"/>
              <a:t>Identificación y Evaluación:</a:t>
            </a:r>
            <a:r>
              <a:rPr lang="es-ES" dirty="0"/>
              <a:t> Realizar evaluaciones periódicas para identificar nuevos riesgos y evaluar los existentes. La dinámica del mercado y los cambios regulatorios pueden introducir nuevos riesgos.</a:t>
            </a:r>
          </a:p>
          <a:p>
            <a:pPr>
              <a:buFont typeface="Arial" panose="020B0604020202020204" pitchFamily="34" charset="0"/>
              <a:buChar char="•"/>
            </a:pPr>
            <a:r>
              <a:rPr lang="es-ES" b="1" dirty="0"/>
              <a:t>Monitoreo de Indicadores:</a:t>
            </a:r>
            <a:r>
              <a:rPr lang="es-ES" dirty="0"/>
              <a:t> Establecer indicadores clave para monitorear los riesgos y la efectividad de las estrategias de cobertura. Utilizar herramientas y software avanzados para realizar un seguimiento continuo.</a:t>
            </a:r>
          </a:p>
          <a:p>
            <a:endParaRPr lang="es-ES" dirty="0"/>
          </a:p>
        </p:txBody>
      </p:sp>
    </p:spTree>
    <p:extLst>
      <p:ext uri="{BB962C8B-B14F-4D97-AF65-F5344CB8AC3E}">
        <p14:creationId xmlns:p14="http://schemas.microsoft.com/office/powerpoint/2010/main" val="2227789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b="1" dirty="0"/>
              <a:t>3.2. Comunicación y Capacitación</a:t>
            </a:r>
            <a:endParaRPr lang="es-ES" dirty="0"/>
          </a:p>
          <a:p>
            <a:pPr algn="just">
              <a:buFont typeface="Arial" panose="020B0604020202020204" pitchFamily="34" charset="0"/>
              <a:buChar char="•"/>
            </a:pPr>
            <a:r>
              <a:rPr lang="es-ES" b="1" dirty="0"/>
              <a:t>Capacitación del Personal:</a:t>
            </a:r>
            <a:r>
              <a:rPr lang="es-ES" dirty="0"/>
              <a:t> Asegurarse de que el personal esté capacitado en la gestión de riesgos y las políticas de cobertura. La formación debe incluir la comprensión de los procesos y herramientas de mitigación de riesgos.</a:t>
            </a:r>
          </a:p>
          <a:p>
            <a:pPr algn="just">
              <a:buFont typeface="Arial" panose="020B0604020202020204" pitchFamily="34" charset="0"/>
              <a:buChar char="•"/>
            </a:pPr>
            <a:r>
              <a:rPr lang="es-ES" b="1" dirty="0"/>
              <a:t>Comunicación Interna:</a:t>
            </a:r>
            <a:r>
              <a:rPr lang="es-ES" dirty="0"/>
              <a:t> Mantener una comunicación efectiva sobre los riesgos y las estrategias de cobertura dentro de la organización. Asegurarse de que todos los niveles comprendan sus roles en la gestión de riesgos.</a:t>
            </a:r>
          </a:p>
          <a:p>
            <a:endParaRPr lang="es-ES" dirty="0"/>
          </a:p>
        </p:txBody>
      </p:sp>
    </p:spTree>
    <p:extLst>
      <p:ext uri="{BB962C8B-B14F-4D97-AF65-F5344CB8AC3E}">
        <p14:creationId xmlns:p14="http://schemas.microsoft.com/office/powerpoint/2010/main" val="17483473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b="1" dirty="0"/>
              <a:t>3.3. Revisión y Ajuste de Estrategias</a:t>
            </a:r>
            <a:endParaRPr lang="es-ES" dirty="0"/>
          </a:p>
          <a:p>
            <a:pPr algn="just">
              <a:buFont typeface="Arial" panose="020B0604020202020204" pitchFamily="34" charset="0"/>
              <a:buChar char="•"/>
            </a:pPr>
            <a:r>
              <a:rPr lang="es-ES" b="1" dirty="0"/>
              <a:t>Revisión Periódica:</a:t>
            </a:r>
            <a:r>
              <a:rPr lang="es-ES" dirty="0"/>
              <a:t> Realizar revisiones periódicas de las estrategias de cobertura para asegurar que sean efectivas y adecuadas a las condiciones actuales. Ajustar las estrategias según sea necesario para enfrentar cambios en el entorno operativo y del mercado.</a:t>
            </a:r>
          </a:p>
          <a:p>
            <a:pPr algn="just">
              <a:buFont typeface="Arial" panose="020B0604020202020204" pitchFamily="34" charset="0"/>
              <a:buChar char="•"/>
            </a:pPr>
            <a:r>
              <a:rPr lang="es-ES" b="1" dirty="0"/>
              <a:t>Lecciones Aprendidas:</a:t>
            </a:r>
            <a:r>
              <a:rPr lang="es-ES" dirty="0"/>
              <a:t> Analizar eventos pasados y experiencias para aprender y mejorar las estrategias de gestión de riesgos. Aplicar lecciones aprendidas para fortalecer la cobertura y la resiliencia de futuros proyectos.</a:t>
            </a:r>
          </a:p>
          <a:p>
            <a:endParaRPr lang="es-ES" dirty="0"/>
          </a:p>
        </p:txBody>
      </p:sp>
    </p:spTree>
    <p:extLst>
      <p:ext uri="{BB962C8B-B14F-4D97-AF65-F5344CB8AC3E}">
        <p14:creationId xmlns:p14="http://schemas.microsoft.com/office/powerpoint/2010/main" val="9984627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dirty="0"/>
              <a:t>La cobertura de riesgos en proyectos de hidrocarburos es esencial para gestionar la incertidumbre y proteger la rentabilidad. Implementar una estrategia integral que aborde los riesgos financieros, operativos, ambientales, geopolíticos y de mercado ayuda a asegurar la viabilidad y el éxito de los proyectos. La evaluación continua, el monitoreo y la adaptación de las estrategias de cobertura son fundamentales para enfrentar los desafíos y aprovechar las oportunidades en el dinámico sector de hidrocarburos.</a:t>
            </a:r>
          </a:p>
        </p:txBody>
      </p:sp>
    </p:spTree>
    <p:extLst>
      <p:ext uri="{BB962C8B-B14F-4D97-AF65-F5344CB8AC3E}">
        <p14:creationId xmlns:p14="http://schemas.microsoft.com/office/powerpoint/2010/main" val="40020285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800" dirty="0"/>
              <a:t>Mercados de Futuro </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Mercados de Futuros en el Sector de Petróleo y Gas</a:t>
            </a:r>
          </a:p>
          <a:p>
            <a:r>
              <a:rPr lang="es-ES" b="1" dirty="0"/>
              <a:t>1. Concepto de Mercados de Futuros</a:t>
            </a:r>
          </a:p>
          <a:p>
            <a:r>
              <a:rPr lang="es-ES" dirty="0"/>
              <a:t>Los mercados de futuros son plataformas donde los participantes pueden comprar y vender contratos de futuros. Un contrato de futuros es un acuerdo para comprar o vender un activo, como petróleo o gas natural, a un precio predeterminado en una fecha futura específica. Estos contratos se utilizan para especular sobre los movimientos de precios o para cubrir riesgos asociados con la volatilidad de precios.</a:t>
            </a:r>
          </a:p>
          <a:p>
            <a:endParaRPr lang="es-ES" dirty="0"/>
          </a:p>
        </p:txBody>
      </p:sp>
    </p:spTree>
    <p:extLst>
      <p:ext uri="{BB962C8B-B14F-4D97-AF65-F5344CB8AC3E}">
        <p14:creationId xmlns:p14="http://schemas.microsoft.com/office/powerpoint/2010/main" val="28918972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pPr marL="0" indent="0">
              <a:buNone/>
            </a:pPr>
            <a:r>
              <a:rPr lang="es-ES" b="1" dirty="0"/>
              <a:t>2. Características de los Contratos de Futuros</a:t>
            </a:r>
          </a:p>
          <a:p>
            <a:r>
              <a:rPr lang="es-ES" dirty="0"/>
              <a:t>**2.1. </a:t>
            </a:r>
            <a:r>
              <a:rPr lang="es-ES" b="1" dirty="0"/>
              <a:t>Estandarización</a:t>
            </a:r>
            <a:endParaRPr lang="es-ES" dirty="0"/>
          </a:p>
          <a:p>
            <a:pPr>
              <a:buFont typeface="Arial" panose="020B0604020202020204" pitchFamily="34" charset="0"/>
              <a:buChar char="•"/>
            </a:pPr>
            <a:r>
              <a:rPr lang="es-ES" b="1" dirty="0"/>
              <a:t>Especificaciones:</a:t>
            </a:r>
            <a:r>
              <a:rPr lang="es-ES" dirty="0"/>
              <a:t> Los contratos de futuros están estandarizados en términos de cantidad, calidad y fecha de vencimiento. Por ejemplo, un contrato de futuros de petróleo crudo en el NYMEX (New York </a:t>
            </a:r>
            <a:r>
              <a:rPr lang="es-ES" dirty="0" err="1"/>
              <a:t>Mercantile</a:t>
            </a:r>
            <a:r>
              <a:rPr lang="es-ES" dirty="0"/>
              <a:t> Exchange) puede representar 1,000 barriles de petróleo crudo con una calidad específica y una fecha de vencimiento definida.</a:t>
            </a:r>
          </a:p>
          <a:p>
            <a:pPr>
              <a:buFont typeface="Arial" panose="020B0604020202020204" pitchFamily="34" charset="0"/>
              <a:buChar char="•"/>
            </a:pPr>
            <a:r>
              <a:rPr lang="es-ES" b="1" dirty="0"/>
              <a:t>Liquidación:</a:t>
            </a:r>
            <a:r>
              <a:rPr lang="es-ES" dirty="0"/>
              <a:t> Los contratos pueden ser liquidados mediante entrega física del activo o mediante una liquidación en efectivo, dependiendo de las reglas del mercado.</a:t>
            </a:r>
          </a:p>
          <a:p>
            <a:r>
              <a:rPr lang="es-ES" dirty="0"/>
              <a:t>**2.2. </a:t>
            </a:r>
            <a:r>
              <a:rPr lang="es-ES" b="1" dirty="0"/>
              <a:t>Precio y Fecha de Vencimiento</a:t>
            </a:r>
            <a:endParaRPr lang="es-ES" dirty="0"/>
          </a:p>
          <a:p>
            <a:pPr>
              <a:buFont typeface="Arial" panose="020B0604020202020204" pitchFamily="34" charset="0"/>
              <a:buChar char="•"/>
            </a:pPr>
            <a:r>
              <a:rPr lang="es-ES" b="1" dirty="0"/>
              <a:t>Precio:</a:t>
            </a:r>
            <a:r>
              <a:rPr lang="es-ES" dirty="0"/>
              <a:t> El precio de los contratos de futuros se determina en el mercado de futuros y puede variar en función de la oferta y demanda, así como de las expectativas sobre el futuro.</a:t>
            </a:r>
          </a:p>
          <a:p>
            <a:pPr>
              <a:buFont typeface="Arial" panose="020B0604020202020204" pitchFamily="34" charset="0"/>
              <a:buChar char="•"/>
            </a:pPr>
            <a:r>
              <a:rPr lang="es-ES" b="1" dirty="0"/>
              <a:t>Fecha de Vencimiento:</a:t>
            </a:r>
            <a:r>
              <a:rPr lang="es-ES" dirty="0"/>
              <a:t> Cada contrato de futuros tiene una fecha de vencimiento específica, en la cual el contrato debe ser cerrado o liquidado.</a:t>
            </a:r>
          </a:p>
          <a:p>
            <a:endParaRPr lang="es-ES" dirty="0"/>
          </a:p>
        </p:txBody>
      </p:sp>
    </p:spTree>
    <p:extLst>
      <p:ext uri="{BB962C8B-B14F-4D97-AF65-F5344CB8AC3E}">
        <p14:creationId xmlns:p14="http://schemas.microsoft.com/office/powerpoint/2010/main" val="17806676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dirty="0"/>
              <a:t>*2.3. </a:t>
            </a:r>
            <a:r>
              <a:rPr lang="es-ES" b="1" dirty="0"/>
              <a:t>Margen y Apalancamiento</a:t>
            </a:r>
            <a:endParaRPr lang="es-ES" dirty="0"/>
          </a:p>
          <a:p>
            <a:pPr>
              <a:buFont typeface="Arial" panose="020B0604020202020204" pitchFamily="34" charset="0"/>
              <a:buChar char="•"/>
            </a:pPr>
            <a:r>
              <a:rPr lang="es-ES" b="1" dirty="0"/>
              <a:t>Requisitos de Margen:</a:t>
            </a:r>
            <a:r>
              <a:rPr lang="es-ES" dirty="0"/>
              <a:t> Para participar en los mercados de futuros, los operadores deben depositar un margen, que es una fracción del valor total del contrato. Esto permite a los participantes utilizar apalancamiento para controlar grandes posiciones con una inversión relativamente pequeña.</a:t>
            </a:r>
          </a:p>
          <a:p>
            <a:pPr>
              <a:buFont typeface="Arial" panose="020B0604020202020204" pitchFamily="34" charset="0"/>
              <a:buChar char="•"/>
            </a:pPr>
            <a:r>
              <a:rPr lang="es-ES" b="1" dirty="0"/>
              <a:t>Apalancamiento:</a:t>
            </a:r>
            <a:r>
              <a:rPr lang="es-ES" dirty="0"/>
              <a:t> El apalancamiento puede amplificar tanto las ganancias como las pérdidas, aumentando el riesgo asociado con el comercio de futuros.</a:t>
            </a:r>
          </a:p>
          <a:p>
            <a:endParaRPr lang="es-ES" dirty="0"/>
          </a:p>
        </p:txBody>
      </p:sp>
    </p:spTree>
    <p:extLst>
      <p:ext uri="{BB962C8B-B14F-4D97-AF65-F5344CB8AC3E}">
        <p14:creationId xmlns:p14="http://schemas.microsoft.com/office/powerpoint/2010/main" val="2405994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marL="0" indent="0" algn="just">
              <a:buNone/>
            </a:pPr>
            <a:r>
              <a:rPr lang="es-ES" b="1" dirty="0"/>
              <a:t>Principales Mercados de Futuros en Petróleo y Gas</a:t>
            </a:r>
          </a:p>
          <a:p>
            <a:pPr algn="just"/>
            <a:r>
              <a:rPr lang="es-ES" dirty="0"/>
              <a:t>**3.1. </a:t>
            </a:r>
            <a:r>
              <a:rPr lang="es-ES" b="1" dirty="0"/>
              <a:t>New York </a:t>
            </a:r>
            <a:r>
              <a:rPr lang="es-ES" b="1" dirty="0" err="1"/>
              <a:t>Mercantile</a:t>
            </a:r>
            <a:r>
              <a:rPr lang="es-ES" b="1" dirty="0"/>
              <a:t> Exchange (NYMEX)</a:t>
            </a:r>
            <a:endParaRPr lang="es-ES" dirty="0"/>
          </a:p>
          <a:p>
            <a:pPr algn="just">
              <a:buFont typeface="Arial" panose="020B0604020202020204" pitchFamily="34" charset="0"/>
              <a:buChar char="•"/>
            </a:pPr>
            <a:r>
              <a:rPr lang="es-ES" b="1" dirty="0"/>
              <a:t>Petróleo Crudo:</a:t>
            </a:r>
            <a:r>
              <a:rPr lang="es-ES" dirty="0"/>
              <a:t> NYMEX ofrece contratos de futuros para el petróleo crudo West Texas </a:t>
            </a:r>
            <a:r>
              <a:rPr lang="es-ES" dirty="0" err="1"/>
              <a:t>Intermediate</a:t>
            </a:r>
            <a:r>
              <a:rPr lang="es-ES" dirty="0"/>
              <a:t> (WTI), que es uno de los índices de referencia más importantes para el crudo en América del Norte.</a:t>
            </a:r>
          </a:p>
          <a:p>
            <a:pPr algn="just">
              <a:buFont typeface="Arial" panose="020B0604020202020204" pitchFamily="34" charset="0"/>
              <a:buChar char="•"/>
            </a:pPr>
            <a:r>
              <a:rPr lang="es-ES" b="1" dirty="0"/>
              <a:t>Gas Natural:</a:t>
            </a:r>
            <a:r>
              <a:rPr lang="es-ES" dirty="0"/>
              <a:t> NYMEX también ofrece contratos de futuros para el gas natural, con el índice Henry Hub siendo el principal referente para el gas natural en EE.UU.</a:t>
            </a:r>
          </a:p>
          <a:p>
            <a:pPr algn="just"/>
            <a:r>
              <a:rPr lang="es-ES" dirty="0"/>
              <a:t>**3.2. </a:t>
            </a:r>
            <a:r>
              <a:rPr lang="es-ES" b="1" dirty="0"/>
              <a:t>Intercontinental Exchange (ICE)</a:t>
            </a:r>
            <a:endParaRPr lang="es-ES" dirty="0"/>
          </a:p>
          <a:p>
            <a:pPr algn="just">
              <a:buFont typeface="Arial" panose="020B0604020202020204" pitchFamily="34" charset="0"/>
              <a:buChar char="•"/>
            </a:pPr>
            <a:r>
              <a:rPr lang="es-ES" b="1" dirty="0"/>
              <a:t>Petróleo Crudo Brent:</a:t>
            </a:r>
            <a:r>
              <a:rPr lang="es-ES" dirty="0"/>
              <a:t> ICE ofrece contratos de futuros para el petróleo crudo Brent, que es un índice de referencia global para el crudo del Mar del Norte.</a:t>
            </a:r>
          </a:p>
          <a:p>
            <a:pPr algn="just">
              <a:buFont typeface="Arial" panose="020B0604020202020204" pitchFamily="34" charset="0"/>
              <a:buChar char="•"/>
            </a:pPr>
            <a:r>
              <a:rPr lang="es-ES" b="1" dirty="0"/>
              <a:t>Gas Natural:</a:t>
            </a:r>
            <a:r>
              <a:rPr lang="es-ES" dirty="0"/>
              <a:t> ICE también ofrece contratos de futuros para el gas natural en mercados internacionales.</a:t>
            </a:r>
          </a:p>
          <a:p>
            <a:endParaRPr lang="es-ES" dirty="0"/>
          </a:p>
        </p:txBody>
      </p:sp>
    </p:spTree>
    <p:extLst>
      <p:ext uri="{BB962C8B-B14F-4D97-AF65-F5344CB8AC3E}">
        <p14:creationId xmlns:p14="http://schemas.microsoft.com/office/powerpoint/2010/main" val="6547669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dirty="0"/>
              <a:t>*3.3. </a:t>
            </a:r>
            <a:r>
              <a:rPr lang="es-ES" b="1" dirty="0" err="1"/>
              <a:t>Other</a:t>
            </a:r>
            <a:r>
              <a:rPr lang="es-ES" b="1" dirty="0"/>
              <a:t> </a:t>
            </a:r>
            <a:r>
              <a:rPr lang="es-ES" b="1" dirty="0" err="1"/>
              <a:t>Exchanges</a:t>
            </a:r>
            <a:endParaRPr lang="es-ES" dirty="0"/>
          </a:p>
          <a:p>
            <a:pPr algn="just">
              <a:buFont typeface="Arial" panose="020B0604020202020204" pitchFamily="34" charset="0"/>
              <a:buChar char="•"/>
            </a:pPr>
            <a:r>
              <a:rPr lang="es-ES" b="1" dirty="0"/>
              <a:t>ICE Futures </a:t>
            </a:r>
            <a:r>
              <a:rPr lang="es-ES" b="1" dirty="0" err="1"/>
              <a:t>Europe</a:t>
            </a:r>
            <a:r>
              <a:rPr lang="es-ES" b="1" dirty="0"/>
              <a:t>:</a:t>
            </a:r>
            <a:r>
              <a:rPr lang="es-ES" dirty="0"/>
              <a:t> Además del Brent, ICE Futures </a:t>
            </a:r>
            <a:r>
              <a:rPr lang="es-ES" dirty="0" err="1"/>
              <a:t>Europe</a:t>
            </a:r>
            <a:r>
              <a:rPr lang="es-ES" dirty="0"/>
              <a:t> ofrece otros contratos de futuros relacionados con el petróleo y gas en mercados internacionales.</a:t>
            </a:r>
          </a:p>
          <a:p>
            <a:pPr algn="just">
              <a:buFont typeface="Arial" panose="020B0604020202020204" pitchFamily="34" charset="0"/>
              <a:buChar char="•"/>
            </a:pPr>
            <a:r>
              <a:rPr lang="es-ES" b="1" dirty="0"/>
              <a:t>Dalian </a:t>
            </a:r>
            <a:r>
              <a:rPr lang="es-ES" b="1" dirty="0" err="1"/>
              <a:t>Commodity</a:t>
            </a:r>
            <a:r>
              <a:rPr lang="es-ES" b="1" dirty="0"/>
              <a:t> Exchange (DCE):</a:t>
            </a:r>
            <a:r>
              <a:rPr lang="es-ES" dirty="0"/>
              <a:t> En China, el DCE ofrece contratos de futuros para el petróleo crudo y el gas natural, reflejando el creciente papel de China en los mercados de energía globales.</a:t>
            </a:r>
          </a:p>
          <a:p>
            <a:pPr marL="0" indent="0">
              <a:buNone/>
            </a:pPr>
            <a:endParaRPr lang="es-ES" dirty="0"/>
          </a:p>
        </p:txBody>
      </p:sp>
    </p:spTree>
    <p:extLst>
      <p:ext uri="{BB962C8B-B14F-4D97-AF65-F5344CB8AC3E}">
        <p14:creationId xmlns:p14="http://schemas.microsoft.com/office/powerpoint/2010/main" val="24883054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29"/>
            <a:ext cx="11032671" cy="5287061"/>
          </a:xfrm>
        </p:spPr>
        <p:txBody>
          <a:bodyPr>
            <a:normAutofit fontScale="85000" lnSpcReduction="10000"/>
          </a:bodyPr>
          <a:lstStyle/>
          <a:p>
            <a:pPr marL="0" indent="0" algn="just">
              <a:buNone/>
            </a:pPr>
            <a:r>
              <a:rPr lang="es-ES" b="1" dirty="0"/>
              <a:t>Uso de Contratos de Futuros en el Sector de Hidrocarburos</a:t>
            </a:r>
          </a:p>
          <a:p>
            <a:pPr algn="just"/>
            <a:r>
              <a:rPr lang="es-ES" dirty="0"/>
              <a:t>**4.1. </a:t>
            </a:r>
            <a:r>
              <a:rPr lang="es-ES" b="1" dirty="0"/>
              <a:t>Cobertura de Riesgos</a:t>
            </a:r>
            <a:endParaRPr lang="es-ES" dirty="0"/>
          </a:p>
          <a:p>
            <a:pPr algn="just">
              <a:buFont typeface="Arial" panose="020B0604020202020204" pitchFamily="34" charset="0"/>
              <a:buChar char="•"/>
            </a:pPr>
            <a:r>
              <a:rPr lang="es-ES" b="1" dirty="0" err="1"/>
              <a:t>Hedging</a:t>
            </a:r>
            <a:r>
              <a:rPr lang="es-ES" b="1" dirty="0"/>
              <a:t>:</a:t>
            </a:r>
            <a:r>
              <a:rPr lang="es-ES" dirty="0"/>
              <a:t> Las empresas de petróleo y gas utilizan contratos de futuros para cubrirse contra la volatilidad de precios. Al fijar un precio futuro, las empresas pueden protegerse contra caídas inesperadas en los precios del petróleo o gas, asegurando ingresos estables.</a:t>
            </a:r>
          </a:p>
          <a:p>
            <a:pPr algn="just">
              <a:buFont typeface="Arial" panose="020B0604020202020204" pitchFamily="34" charset="0"/>
              <a:buChar char="•"/>
            </a:pPr>
            <a:r>
              <a:rPr lang="es-ES" b="1" dirty="0"/>
              <a:t>Gestión de Inventarios:</a:t>
            </a:r>
            <a:r>
              <a:rPr lang="es-ES" dirty="0"/>
              <a:t> Los contratos de futuros también ayudan a las empresas a gestionar los riesgos asociados con la acumulación y el almacenamiento de grandes volúmenes de hidrocarburos.</a:t>
            </a:r>
          </a:p>
          <a:p>
            <a:pPr algn="just"/>
            <a:r>
              <a:rPr lang="es-ES" dirty="0"/>
              <a:t>**4.2. </a:t>
            </a:r>
            <a:r>
              <a:rPr lang="es-ES" b="1" dirty="0"/>
              <a:t>Especulación</a:t>
            </a:r>
            <a:endParaRPr lang="es-ES" dirty="0"/>
          </a:p>
          <a:p>
            <a:pPr algn="just">
              <a:buFont typeface="Arial" panose="020B0604020202020204" pitchFamily="34" charset="0"/>
              <a:buChar char="•"/>
            </a:pPr>
            <a:r>
              <a:rPr lang="es-ES" b="1" dirty="0"/>
              <a:t>Inversores y </a:t>
            </a:r>
            <a:r>
              <a:rPr lang="es-ES" b="1" dirty="0" err="1"/>
              <a:t>Traders</a:t>
            </a:r>
            <a:r>
              <a:rPr lang="es-ES" b="1" dirty="0"/>
              <a:t>:</a:t>
            </a:r>
            <a:r>
              <a:rPr lang="es-ES" dirty="0"/>
              <a:t> Los inversores y </a:t>
            </a:r>
            <a:r>
              <a:rPr lang="es-ES" dirty="0" err="1"/>
              <a:t>traders</a:t>
            </a:r>
            <a:r>
              <a:rPr lang="es-ES" dirty="0"/>
              <a:t> especulan sobre los movimientos de precios utilizando contratos de futuros. Al anticipar las fluctuaciones del mercado, pueden buscar beneficiarse de los cambios en los precios del petróleo y gas.</a:t>
            </a:r>
          </a:p>
          <a:p>
            <a:pPr algn="just">
              <a:buFont typeface="Arial" panose="020B0604020202020204" pitchFamily="34" charset="0"/>
              <a:buChar char="•"/>
            </a:pPr>
            <a:r>
              <a:rPr lang="es-ES" b="1" dirty="0"/>
              <a:t>Estrategias de Trading:</a:t>
            </a:r>
            <a:r>
              <a:rPr lang="es-ES" dirty="0"/>
              <a:t> Los participantes pueden utilizar diversas estrategias, como la arbitraje, para aprovechar las diferencias de precios entre mercados o contratos.</a:t>
            </a:r>
          </a:p>
          <a:p>
            <a:endParaRPr lang="es-ES" dirty="0"/>
          </a:p>
        </p:txBody>
      </p:sp>
    </p:spTree>
    <p:extLst>
      <p:ext uri="{BB962C8B-B14F-4D97-AF65-F5344CB8AC3E}">
        <p14:creationId xmlns:p14="http://schemas.microsoft.com/office/powerpoint/2010/main" val="19130265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92500" lnSpcReduction="20000"/>
          </a:bodyPr>
          <a:lstStyle/>
          <a:p>
            <a:pPr algn="just"/>
            <a:r>
              <a:rPr lang="es-ES" dirty="0"/>
              <a:t>**4.3. </a:t>
            </a:r>
            <a:r>
              <a:rPr lang="es-ES" b="1" dirty="0"/>
              <a:t>Formación de Precios</a:t>
            </a:r>
            <a:endParaRPr lang="es-ES" dirty="0"/>
          </a:p>
          <a:p>
            <a:pPr algn="just">
              <a:buFont typeface="Arial" panose="020B0604020202020204" pitchFamily="34" charset="0"/>
              <a:buChar char="•"/>
            </a:pPr>
            <a:r>
              <a:rPr lang="es-ES" b="1" dirty="0"/>
              <a:t>Referencia de Precios:</a:t>
            </a:r>
            <a:r>
              <a:rPr lang="es-ES" dirty="0"/>
              <a:t> Los precios de los contratos de futuros influyen en los precios al contado de los hidrocarburos, ya que reflejan las expectativas del mercado sobre los precios futuros. Estos precios pueden ser utilizados como referencia para contratos físicos y acuerdos comerciales.</a:t>
            </a:r>
          </a:p>
          <a:p>
            <a:pPr marL="0" indent="0" algn="just">
              <a:buNone/>
            </a:pPr>
            <a:r>
              <a:rPr lang="es-ES" b="1" dirty="0"/>
              <a:t>Ventajas y Desventajas de los Mercados de Futuros</a:t>
            </a:r>
          </a:p>
          <a:p>
            <a:pPr algn="just"/>
            <a:r>
              <a:rPr lang="es-ES" dirty="0"/>
              <a:t>**5.1. </a:t>
            </a:r>
            <a:r>
              <a:rPr lang="es-ES" b="1" dirty="0"/>
              <a:t>Ventajas</a:t>
            </a:r>
            <a:endParaRPr lang="es-ES" dirty="0"/>
          </a:p>
          <a:p>
            <a:pPr algn="just">
              <a:buFont typeface="Arial" panose="020B0604020202020204" pitchFamily="34" charset="0"/>
              <a:buChar char="•"/>
            </a:pPr>
            <a:r>
              <a:rPr lang="es-ES" b="1" dirty="0"/>
              <a:t>Gestión de Riesgos:</a:t>
            </a:r>
            <a:r>
              <a:rPr lang="es-ES" dirty="0"/>
              <a:t> Los contratos de futuros permiten a los participantes gestionar y mitigar el riesgo asociado con la volatilidad de los precios.</a:t>
            </a:r>
          </a:p>
          <a:p>
            <a:pPr algn="just">
              <a:buFont typeface="Arial" panose="020B0604020202020204" pitchFamily="34" charset="0"/>
              <a:buChar char="•"/>
            </a:pPr>
            <a:r>
              <a:rPr lang="es-ES" b="1" dirty="0"/>
              <a:t>Liquidez y Acceso:</a:t>
            </a:r>
            <a:r>
              <a:rPr lang="es-ES" dirty="0"/>
              <a:t> Los mercados de futuros proporcionan un alto nivel de liquidez y acceso a diversos participantes, desde grandes empresas hasta pequeños inversores.</a:t>
            </a:r>
          </a:p>
          <a:p>
            <a:pPr algn="just">
              <a:buFont typeface="Arial" panose="020B0604020202020204" pitchFamily="34" charset="0"/>
              <a:buChar char="•"/>
            </a:pPr>
            <a:r>
              <a:rPr lang="es-ES" b="1" dirty="0"/>
              <a:t>Transparencia:</a:t>
            </a:r>
            <a:r>
              <a:rPr lang="es-ES" dirty="0"/>
              <a:t> La estandarización y la regulación en los mercados de futuros aportan transparencia y confianza en los precios y las transacciones.</a:t>
            </a:r>
          </a:p>
          <a:p>
            <a:endParaRPr lang="es-ES" dirty="0"/>
          </a:p>
        </p:txBody>
      </p:sp>
    </p:spTree>
    <p:extLst>
      <p:ext uri="{BB962C8B-B14F-4D97-AF65-F5344CB8AC3E}">
        <p14:creationId xmlns:p14="http://schemas.microsoft.com/office/powerpoint/2010/main" val="5054348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dirty="0"/>
              <a:t>*5.2. </a:t>
            </a:r>
            <a:r>
              <a:rPr lang="es-ES" b="1" dirty="0"/>
              <a:t>Desventajas</a:t>
            </a:r>
            <a:endParaRPr lang="es-ES" dirty="0"/>
          </a:p>
          <a:p>
            <a:pPr algn="just">
              <a:buFont typeface="Arial" panose="020B0604020202020204" pitchFamily="34" charset="0"/>
              <a:buChar char="•"/>
            </a:pPr>
            <a:r>
              <a:rPr lang="es-ES" b="1" dirty="0"/>
              <a:t>Riesgo de Apalancamiento:</a:t>
            </a:r>
            <a:r>
              <a:rPr lang="es-ES" dirty="0"/>
              <a:t> El apalancamiento puede amplificar tanto las ganancias como las pérdidas, lo que puede resultar en riesgos significativos para los participantes.</a:t>
            </a:r>
          </a:p>
          <a:p>
            <a:pPr algn="just">
              <a:buFont typeface="Arial" panose="020B0604020202020204" pitchFamily="34" charset="0"/>
              <a:buChar char="•"/>
            </a:pPr>
            <a:r>
              <a:rPr lang="es-ES" b="1" dirty="0"/>
              <a:t>Volatilidad de Precios:</a:t>
            </a:r>
            <a:r>
              <a:rPr lang="es-ES" dirty="0"/>
              <a:t> La volatilidad inherente en los mercados de futuros puede llevar a movimientos bruscos en los precios, afectando a los participantes que no están bien preparados.</a:t>
            </a:r>
          </a:p>
          <a:p>
            <a:pPr algn="just">
              <a:buFont typeface="Arial" panose="020B0604020202020204" pitchFamily="34" charset="0"/>
              <a:buChar char="•"/>
            </a:pPr>
            <a:r>
              <a:rPr lang="es-ES" b="1" dirty="0"/>
              <a:t>Complexidad:</a:t>
            </a:r>
            <a:r>
              <a:rPr lang="es-ES" dirty="0"/>
              <a:t> Los mercados de futuros pueden ser complejos y difíciles de entender para los nuevos participantes, requiriendo conocimientos especializados y experiencia.</a:t>
            </a:r>
          </a:p>
          <a:p>
            <a:endParaRPr lang="es-ES" dirty="0"/>
          </a:p>
        </p:txBody>
      </p:sp>
    </p:spTree>
    <p:extLst>
      <p:ext uri="{BB962C8B-B14F-4D97-AF65-F5344CB8AC3E}">
        <p14:creationId xmlns:p14="http://schemas.microsoft.com/office/powerpoint/2010/main" val="11046319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fontScale="85000" lnSpcReduction="20000"/>
          </a:bodyPr>
          <a:lstStyle/>
          <a:p>
            <a:pPr marL="0" indent="0" algn="just">
              <a:buNone/>
            </a:pPr>
            <a:r>
              <a:rPr lang="es-ES" b="1" dirty="0"/>
              <a:t>Impacto en el Sector de Hidrocarburos</a:t>
            </a:r>
          </a:p>
          <a:p>
            <a:pPr algn="just"/>
            <a:r>
              <a:rPr lang="es-ES" dirty="0"/>
              <a:t>**6.1. </a:t>
            </a:r>
            <a:r>
              <a:rPr lang="es-ES" b="1" dirty="0"/>
              <a:t>Estabilidad Financiera</a:t>
            </a:r>
            <a:endParaRPr lang="es-ES" dirty="0"/>
          </a:p>
          <a:p>
            <a:pPr algn="just">
              <a:buFont typeface="Arial" panose="020B0604020202020204" pitchFamily="34" charset="0"/>
              <a:buChar char="•"/>
            </a:pPr>
            <a:r>
              <a:rPr lang="es-ES" b="1" dirty="0"/>
              <a:t>Ingresos Previsibles:</a:t>
            </a:r>
            <a:r>
              <a:rPr lang="es-ES" dirty="0"/>
              <a:t> Las empresas de hidrocarburos que utilizan contratos de futuros para cobertura pueden asegurar ingresos más estables, ayudando a la planificación financiera y la estabilidad económica.</a:t>
            </a:r>
          </a:p>
          <a:p>
            <a:pPr algn="just">
              <a:buFont typeface="Arial" panose="020B0604020202020204" pitchFamily="34" charset="0"/>
              <a:buChar char="•"/>
            </a:pPr>
            <a:r>
              <a:rPr lang="es-ES" b="1" dirty="0"/>
              <a:t>Reducción de Riesgos:</a:t>
            </a:r>
            <a:r>
              <a:rPr lang="es-ES" dirty="0"/>
              <a:t> La cobertura mediante futuros ayuda a reducir la exposición a riesgos de precios, protegiendo los márgenes de beneficio y facilitando una gestión financiera más efectiva.</a:t>
            </a:r>
          </a:p>
          <a:p>
            <a:pPr algn="just"/>
            <a:r>
              <a:rPr lang="es-ES" dirty="0"/>
              <a:t>**6.2. </a:t>
            </a:r>
            <a:r>
              <a:rPr lang="es-ES" b="1" dirty="0"/>
              <a:t>Estrategias de Negocio</a:t>
            </a:r>
            <a:endParaRPr lang="es-ES" dirty="0"/>
          </a:p>
          <a:p>
            <a:pPr algn="just">
              <a:buFont typeface="Arial" panose="020B0604020202020204" pitchFamily="34" charset="0"/>
              <a:buChar char="•"/>
            </a:pPr>
            <a:r>
              <a:rPr lang="es-ES" b="1" dirty="0"/>
              <a:t>Optimización de Operaciones:</a:t>
            </a:r>
            <a:r>
              <a:rPr lang="es-ES" dirty="0"/>
              <a:t> La utilización de contratos de futuros permite a las empresas optimizar sus operaciones y estrategias de marketing, alineando la producción y el suministro con las expectativas del mercado.</a:t>
            </a:r>
          </a:p>
          <a:p>
            <a:pPr algn="just">
              <a:buFont typeface="Arial" panose="020B0604020202020204" pitchFamily="34" charset="0"/>
              <a:buChar char="•"/>
            </a:pPr>
            <a:r>
              <a:rPr lang="es-ES" b="1" dirty="0"/>
              <a:t>Flexibilidad en Contratos Físicos:</a:t>
            </a:r>
            <a:r>
              <a:rPr lang="es-ES" dirty="0"/>
              <a:t> Las empresas pueden utilizar los precios de futuros como referencia para negociar contratos físicos y ajustar sus estrategias comerciales en función de las expectativas del mercado.</a:t>
            </a:r>
          </a:p>
          <a:p>
            <a:endParaRPr lang="es-ES" dirty="0"/>
          </a:p>
        </p:txBody>
      </p:sp>
    </p:spTree>
    <p:extLst>
      <p:ext uri="{BB962C8B-B14F-4D97-AF65-F5344CB8AC3E}">
        <p14:creationId xmlns:p14="http://schemas.microsoft.com/office/powerpoint/2010/main" val="8481747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algn="just"/>
            <a:r>
              <a:rPr lang="es-ES" dirty="0"/>
              <a:t>Los mercados de futuros en el sector de petróleo y gas son herramientas esenciales para la gestión de riesgos, la especulación y la formación de precios. Los contratos de futuros permiten a las empresas y a los inversores manejar la volatilidad de los precios y planificar con mayor precisión. A pesar de sus ventajas, también presentan riesgos significativos que requieren una comprensión sólida y una gestión adecuada. La utilización efectiva de estos contratos puede ofrecer estabilidad financiera y ventajas estratégicas en el dinámico mercado de hidrocarburos.</a:t>
            </a:r>
          </a:p>
        </p:txBody>
      </p:sp>
    </p:spTree>
    <p:extLst>
      <p:ext uri="{BB962C8B-B14F-4D97-AF65-F5344CB8AC3E}">
        <p14:creationId xmlns:p14="http://schemas.microsoft.com/office/powerpoint/2010/main" val="15576812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r>
              <a:rPr lang="es-ES" sz="2400" dirty="0"/>
              <a:t>Impacto de los Mercados de Futuros en Perú</a:t>
            </a:r>
            <a:endParaRPr lang="es-ES" sz="54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Estabilidad Financiera y Económica</a:t>
            </a:r>
          </a:p>
          <a:p>
            <a:r>
              <a:rPr lang="es-ES" dirty="0"/>
              <a:t>**1.1. </a:t>
            </a:r>
            <a:r>
              <a:rPr lang="es-ES" b="1" dirty="0"/>
              <a:t>Ingresos por Exportación</a:t>
            </a:r>
            <a:endParaRPr lang="es-ES" dirty="0"/>
          </a:p>
          <a:p>
            <a:pPr>
              <a:buFont typeface="Arial" panose="020B0604020202020204" pitchFamily="34" charset="0"/>
              <a:buChar char="•"/>
            </a:pPr>
            <a:r>
              <a:rPr lang="es-ES" b="1" dirty="0"/>
              <a:t>Fijación de Precios:</a:t>
            </a:r>
            <a:r>
              <a:rPr lang="es-ES" dirty="0"/>
              <a:t> Las empresas peruanas productoras de petróleo y gas que participan en los mercados de futuros pueden utilizar estos contratos para fijar precios futuros para sus exportaciones. Esto les ayuda a asegurar ingresos más estables, independientemente de la volatilidad de los precios internacionales en el mercado spot.</a:t>
            </a:r>
          </a:p>
          <a:p>
            <a:pPr>
              <a:buFont typeface="Arial" panose="020B0604020202020204" pitchFamily="34" charset="0"/>
              <a:buChar char="•"/>
            </a:pPr>
            <a:r>
              <a:rPr lang="es-ES" b="1" dirty="0"/>
              <a:t>Protección Contra Caídas de Precios:</a:t>
            </a:r>
            <a:r>
              <a:rPr lang="es-ES" dirty="0"/>
              <a:t> Al utilizar contratos de futuros para fijar precios de venta, las empresas peruanas pueden protegerse contra caídas inesperadas en los precios del petróleo y gas, asegurando así una mayor previsibilidad en sus ingresos.</a:t>
            </a:r>
          </a:p>
          <a:p>
            <a:endParaRPr lang="es-ES" dirty="0"/>
          </a:p>
        </p:txBody>
      </p:sp>
    </p:spTree>
    <p:extLst>
      <p:ext uri="{BB962C8B-B14F-4D97-AF65-F5344CB8AC3E}">
        <p14:creationId xmlns:p14="http://schemas.microsoft.com/office/powerpoint/2010/main" val="19857531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dirty="0"/>
              <a:t>1.2. </a:t>
            </a:r>
            <a:r>
              <a:rPr lang="es-ES" b="1" dirty="0"/>
              <a:t>Planificación Financiera</a:t>
            </a:r>
            <a:endParaRPr lang="es-ES" dirty="0"/>
          </a:p>
          <a:p>
            <a:pPr>
              <a:buFont typeface="Arial" panose="020B0604020202020204" pitchFamily="34" charset="0"/>
              <a:buChar char="•"/>
            </a:pPr>
            <a:r>
              <a:rPr lang="es-ES" b="1" dirty="0"/>
              <a:t>Presupuesto Estatal:</a:t>
            </a:r>
            <a:r>
              <a:rPr lang="es-ES" dirty="0"/>
              <a:t> Los ingresos provenientes de las exportaciones de hidrocarburos constituyen una parte significativa del presupuesto nacional. La estabilidad en los ingresos por exportaciones, facilitada por la cobertura de precios mediante futuros, ayuda al gobierno a planificar mejor el presupuesto y reducir la incertidumbre financiera.</a:t>
            </a:r>
          </a:p>
          <a:p>
            <a:pPr>
              <a:buFont typeface="Arial" panose="020B0604020202020204" pitchFamily="34" charset="0"/>
              <a:buChar char="•"/>
            </a:pPr>
            <a:r>
              <a:rPr lang="es-ES" b="1" dirty="0"/>
              <a:t>Inversiones y Desarrollo:</a:t>
            </a:r>
            <a:r>
              <a:rPr lang="es-ES" dirty="0"/>
              <a:t> Empresas que aseguran precios futuros estables pueden planificar con mayor confianza sus inversiones en infraestructura, exploración y desarrollo, impulsando el crecimiento económico en el sector.</a:t>
            </a:r>
          </a:p>
          <a:p>
            <a:endParaRPr lang="es-ES" dirty="0"/>
          </a:p>
        </p:txBody>
      </p:sp>
    </p:spTree>
    <p:extLst>
      <p:ext uri="{BB962C8B-B14F-4D97-AF65-F5344CB8AC3E}">
        <p14:creationId xmlns:p14="http://schemas.microsoft.com/office/powerpoint/2010/main" val="33304118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Estrategias de Empresas</a:t>
            </a:r>
          </a:p>
          <a:p>
            <a:r>
              <a:rPr lang="es-ES" dirty="0"/>
              <a:t>**2.1. </a:t>
            </a:r>
            <a:r>
              <a:rPr lang="es-ES" b="1" dirty="0"/>
              <a:t>Gestión de Riesgos</a:t>
            </a:r>
            <a:endParaRPr lang="es-ES" dirty="0"/>
          </a:p>
          <a:p>
            <a:pPr>
              <a:buFont typeface="Arial" panose="020B0604020202020204" pitchFamily="34" charset="0"/>
              <a:buChar char="•"/>
            </a:pPr>
            <a:r>
              <a:rPr lang="es-ES" b="1" dirty="0"/>
              <a:t>Cobertura de Precios:</a:t>
            </a:r>
            <a:r>
              <a:rPr lang="es-ES" dirty="0"/>
              <a:t> Las empresas de hidrocarburos en Perú, como Petroperú, pueden utilizar contratos de futuros para gestionar el riesgo asociado con la volatilidad de los precios internacionales. Esto les permite estabilizar sus márgenes y mantener operaciones eficientes, independientemente de las fluctuaciones en los mercados globales.</a:t>
            </a:r>
          </a:p>
          <a:p>
            <a:pPr>
              <a:buFont typeface="Arial" panose="020B0604020202020204" pitchFamily="34" charset="0"/>
              <a:buChar char="•"/>
            </a:pPr>
            <a:r>
              <a:rPr lang="es-ES" b="1" dirty="0"/>
              <a:t>Planificación de Producción:</a:t>
            </a:r>
            <a:r>
              <a:rPr lang="es-ES" dirty="0"/>
              <a:t> La cobertura mediante futuros permite a las empresas ajustar sus estrategias de producción y comercialización con base en expectativas más seguras sobre los precios futuros.</a:t>
            </a:r>
          </a:p>
          <a:p>
            <a:endParaRPr lang="es-ES" dirty="0"/>
          </a:p>
        </p:txBody>
      </p:sp>
    </p:spTree>
    <p:extLst>
      <p:ext uri="{BB962C8B-B14F-4D97-AF65-F5344CB8AC3E}">
        <p14:creationId xmlns:p14="http://schemas.microsoft.com/office/powerpoint/2010/main" val="16802744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r>
              <a:rPr lang="es-ES" b="1" dirty="0"/>
              <a:t>Competitividad</a:t>
            </a:r>
            <a:endParaRPr lang="es-ES" dirty="0"/>
          </a:p>
          <a:p>
            <a:pPr>
              <a:buFont typeface="Arial" panose="020B0604020202020204" pitchFamily="34" charset="0"/>
              <a:buChar char="•"/>
            </a:pPr>
            <a:r>
              <a:rPr lang="es-ES" b="1" dirty="0"/>
              <a:t>Posicionamiento en el Mercado:</a:t>
            </a:r>
            <a:r>
              <a:rPr lang="es-ES" dirty="0"/>
              <a:t> Las empresas que gestionan eficazmente los riesgos de precios pueden mejorar su competitividad en el mercado global. Una gestión eficiente de precios puede permitirles ofrecer precios más atractivos en los contratos físicos y adaptarse mejor a las condiciones del mercado.</a:t>
            </a:r>
          </a:p>
          <a:p>
            <a:pPr>
              <a:buFont typeface="Arial" panose="020B0604020202020204" pitchFamily="34" charset="0"/>
              <a:buChar char="•"/>
            </a:pPr>
            <a:r>
              <a:rPr lang="es-ES" b="1" dirty="0"/>
              <a:t>Optimización de Recursos:</a:t>
            </a:r>
            <a:r>
              <a:rPr lang="es-ES" dirty="0"/>
              <a:t> Al asegurar precios futuros, las empresas pueden optimizar la asignación de recursos y realizar inversiones estratégicas sin preocuparse excesivamente por la volatilidad del mercado.</a:t>
            </a:r>
          </a:p>
          <a:p>
            <a:endParaRPr lang="es-ES" dirty="0"/>
          </a:p>
        </p:txBody>
      </p:sp>
    </p:spTree>
    <p:extLst>
      <p:ext uri="{BB962C8B-B14F-4D97-AF65-F5344CB8AC3E}">
        <p14:creationId xmlns:p14="http://schemas.microsoft.com/office/powerpoint/2010/main" val="22234244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b="1" dirty="0"/>
              <a:t>Impacto en el Comercio Internacional</a:t>
            </a:r>
          </a:p>
          <a:p>
            <a:r>
              <a:rPr lang="es-ES" dirty="0"/>
              <a:t>**3.1. </a:t>
            </a:r>
            <a:r>
              <a:rPr lang="es-ES" b="1" dirty="0"/>
              <a:t>Transacciones Internacionales</a:t>
            </a:r>
            <a:endParaRPr lang="es-ES" dirty="0"/>
          </a:p>
          <a:p>
            <a:pPr>
              <a:buFont typeface="Arial" panose="020B0604020202020204" pitchFamily="34" charset="0"/>
              <a:buChar char="•"/>
            </a:pPr>
            <a:r>
              <a:rPr lang="es-ES" b="1" dirty="0"/>
              <a:t>Negociación de Contratos:</a:t>
            </a:r>
            <a:r>
              <a:rPr lang="es-ES" dirty="0"/>
              <a:t> Las empresas peruanas que exportan petróleo y gas pueden negociar contratos físicos basados en precios de futuros, lo que puede influir en sus términos comerciales y en la competencia en el mercado internacional.</a:t>
            </a:r>
          </a:p>
          <a:p>
            <a:pPr>
              <a:buFont typeface="Arial" panose="020B0604020202020204" pitchFamily="34" charset="0"/>
              <a:buChar char="•"/>
            </a:pPr>
            <a:r>
              <a:rPr lang="es-ES" b="1" dirty="0"/>
              <a:t>Transacciones en Moneda Extranjera:</a:t>
            </a:r>
            <a:r>
              <a:rPr lang="es-ES" dirty="0"/>
              <a:t> La cobertura mediante futuros puede afectar la forma en que las empresas manejan las transacciones en moneda extranjera, ayudando a mitigar el riesgo asociado con las fluctuaciones de tipo de cambio</a:t>
            </a:r>
          </a:p>
          <a:p>
            <a:endParaRPr lang="es-ES" dirty="0"/>
          </a:p>
        </p:txBody>
      </p:sp>
    </p:spTree>
    <p:extLst>
      <p:ext uri="{BB962C8B-B14F-4D97-AF65-F5344CB8AC3E}">
        <p14:creationId xmlns:p14="http://schemas.microsoft.com/office/powerpoint/2010/main" val="23457641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buNone/>
            </a:pPr>
            <a:r>
              <a:rPr lang="es-ES" dirty="0"/>
              <a:t>*3.2. </a:t>
            </a:r>
            <a:r>
              <a:rPr lang="es-ES" b="1" dirty="0"/>
              <a:t>Influencia en la Balanza Comercial</a:t>
            </a:r>
            <a:endParaRPr lang="es-ES" dirty="0"/>
          </a:p>
          <a:p>
            <a:pPr>
              <a:buFont typeface="Arial" panose="020B0604020202020204" pitchFamily="34" charset="0"/>
              <a:buChar char="•"/>
            </a:pPr>
            <a:r>
              <a:rPr lang="es-ES" b="1" dirty="0"/>
              <a:t>Impacto en Exportaciones:</a:t>
            </a:r>
            <a:r>
              <a:rPr lang="es-ES" dirty="0"/>
              <a:t> Una mayor estabilidad en los precios de exportación puede contribuir a una balanza comercial más equilibrada y predecible. Esto puede ayudar a mantener un flujo constante de divisas hacia el país y contribuir al crecimiento económico.</a:t>
            </a:r>
          </a:p>
          <a:p>
            <a:pPr>
              <a:buFont typeface="Arial" panose="020B0604020202020204" pitchFamily="34" charset="0"/>
              <a:buChar char="•"/>
            </a:pPr>
            <a:r>
              <a:rPr lang="es-ES" b="1" dirty="0"/>
              <a:t>Reducción de Riesgos:</a:t>
            </a:r>
            <a:r>
              <a:rPr lang="es-ES" dirty="0"/>
              <a:t> La capacidad para gestionar riesgos de precios puede hacer que el sector de hidrocarburos sea más atractivo para inversores y empresas extranjeras, promoviendo un entorno comercial más saludable.</a:t>
            </a:r>
          </a:p>
          <a:p>
            <a:endParaRPr lang="es-ES" dirty="0"/>
          </a:p>
        </p:txBody>
      </p:sp>
    </p:spTree>
    <p:extLst>
      <p:ext uri="{BB962C8B-B14F-4D97-AF65-F5344CB8AC3E}">
        <p14:creationId xmlns:p14="http://schemas.microsoft.com/office/powerpoint/2010/main" val="3955394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838199" y="183009"/>
            <a:ext cx="10515600" cy="996053"/>
          </a:xfrm>
        </p:spPr>
        <p:txBody>
          <a:bodyPr>
            <a:normAutofit/>
          </a:bodyPr>
          <a:lstStyle/>
          <a:p>
            <a:endParaRPr lang="es-ES" sz="2800" dirty="0"/>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a:bodyPr>
          <a:lstStyle/>
          <a:p>
            <a:pPr marL="0" indent="0" algn="just">
              <a:buNone/>
            </a:pPr>
            <a:r>
              <a:rPr lang="es-ES" dirty="0"/>
              <a:t>Los mercados de futuros tienen un impacto significativo en el sector de hidrocarburos en Perú, proporcionando herramientas clave para la gestión de riesgos y la estabilidad financiera. Permiten a las empresas y al gobierno manejar la volatilidad de precios, planificar con mayor certeza y optimizar sus estrategias comerciales. Sin embargo, también presentan riesgos que deben ser gestionados con cuidado para maximizar los beneficios y minimizar las posibles desventajas. La participación activa en estos mercados puede ofrecer ventajas estratégicas y contribuir al crecimiento económico y a la estabilidad del sector en Perú.</a:t>
            </a:r>
          </a:p>
        </p:txBody>
      </p:sp>
    </p:spTree>
    <p:extLst>
      <p:ext uri="{BB962C8B-B14F-4D97-AF65-F5344CB8AC3E}">
        <p14:creationId xmlns:p14="http://schemas.microsoft.com/office/powerpoint/2010/main" val="11604231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22494</TotalTime>
  <Words>6573</Words>
  <Application>Microsoft Office PowerPoint</Application>
  <PresentationFormat>Panorámica</PresentationFormat>
  <Paragraphs>247</Paragraphs>
  <Slides>68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68</vt:i4>
      </vt:variant>
    </vt:vector>
  </HeadingPairs>
  <TitlesOfParts>
    <vt:vector size="73" baseType="lpstr">
      <vt:lpstr>Arial</vt:lpstr>
      <vt:lpstr>Calibri</vt:lpstr>
      <vt:lpstr>Outfit</vt:lpstr>
      <vt:lpstr>Prompt</vt:lpstr>
      <vt:lpstr>Tema de Office</vt:lpstr>
      <vt:lpstr>Presentación de PowerPoint</vt:lpstr>
      <vt:lpstr>Presentación de PowerPoint</vt:lpstr>
      <vt:lpstr>EVALUACION ECONOMICA DE PROYECTOS DE HIDROCARBUROS</vt:lpstr>
      <vt:lpstr>Presentación de PowerPoint</vt:lpstr>
      <vt:lpstr>Presentación de PowerPoint</vt:lpstr>
      <vt:lpstr>Presentación de PowerPoint</vt:lpstr>
      <vt:lpstr>Presentación de PowerPoint</vt:lpstr>
      <vt:lpstr>Comercio Internacional en Relación con Perú</vt:lpstr>
      <vt:lpstr>Presentación de PowerPoint</vt:lpstr>
      <vt:lpstr>Presentación de PowerPoint</vt:lpstr>
      <vt:lpstr>Presentación de PowerPoint</vt:lpstr>
      <vt:lpstr>Presentación de PowerPoint</vt:lpstr>
      <vt:lpstr>Finanzas y Evaluación de Proyectos de Inversión en Hidrocarburos en Perú</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Comercio Internacional de Hidrocarburos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Comercio Internacional de Hidrocarburos</vt:lpstr>
      <vt:lpstr>Presentación de PowerPoint</vt:lpstr>
      <vt:lpstr>Presentación de PowerPoint</vt:lpstr>
      <vt:lpstr>Presentación de PowerPoint</vt:lpstr>
      <vt:lpstr>Impacto del Comercio Internacional de Hidrocarburos en Perú</vt:lpstr>
      <vt:lpstr>Presentación de PowerPoint</vt:lpstr>
      <vt:lpstr>Presentación de PowerPoint</vt:lpstr>
      <vt:lpstr>Presentación de PowerPoint</vt:lpstr>
      <vt:lpstr>Cobertura de Riesgos en el Sector de Hidrocarburos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Mercados de Futuro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Impacto de los Mercados de Futuros en Perú</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Benji Jonathan Cruzate Contreras</cp:lastModifiedBy>
  <cp:revision>45</cp:revision>
  <dcterms:created xsi:type="dcterms:W3CDTF">2022-04-19T18:02:09Z</dcterms:created>
  <dcterms:modified xsi:type="dcterms:W3CDTF">2024-09-25T02:32:36Z</dcterms:modified>
</cp:coreProperties>
</file>