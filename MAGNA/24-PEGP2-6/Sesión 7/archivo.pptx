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80" r:id="rId4"/>
    <p:sldId id="326" r:id="rId5"/>
    <p:sldId id="329" r:id="rId6"/>
    <p:sldId id="357" r:id="rId7"/>
    <p:sldId id="358" r:id="rId8"/>
    <p:sldId id="359" r:id="rId9"/>
    <p:sldId id="360" r:id="rId10"/>
    <p:sldId id="361" r:id="rId11"/>
    <p:sldId id="364" r:id="rId12"/>
    <p:sldId id="365" r:id="rId13"/>
    <p:sldId id="366" r:id="rId14"/>
    <p:sldId id="367" r:id="rId15"/>
    <p:sldId id="368" r:id="rId16"/>
    <p:sldId id="369" r:id="rId17"/>
    <p:sldId id="330" r:id="rId18"/>
    <p:sldId id="331" r:id="rId19"/>
    <p:sldId id="332" r:id="rId20"/>
    <p:sldId id="333" r:id="rId21"/>
    <p:sldId id="334" r:id="rId22"/>
    <p:sldId id="335" r:id="rId23"/>
    <p:sldId id="336" r:id="rId24"/>
    <p:sldId id="337" r:id="rId25"/>
    <p:sldId id="338" r:id="rId26"/>
    <p:sldId id="339" r:id="rId27"/>
    <p:sldId id="340" r:id="rId28"/>
    <p:sldId id="341" r:id="rId29"/>
    <p:sldId id="342" r:id="rId30"/>
    <p:sldId id="346" r:id="rId31"/>
    <p:sldId id="370" r:id="rId32"/>
    <p:sldId id="371" r:id="rId33"/>
    <p:sldId id="373" r:id="rId34"/>
    <p:sldId id="374" r:id="rId35"/>
    <p:sldId id="375" r:id="rId36"/>
    <p:sldId id="376" r:id="rId37"/>
    <p:sldId id="377" r:id="rId38"/>
    <p:sldId id="378" r:id="rId39"/>
    <p:sldId id="379" r:id="rId40"/>
    <p:sldId id="380" r:id="rId41"/>
    <p:sldId id="381" r:id="rId42"/>
    <p:sldId id="382" r:id="rId43"/>
    <p:sldId id="383" r:id="rId44"/>
    <p:sldId id="384" r:id="rId45"/>
    <p:sldId id="385" r:id="rId46"/>
    <p:sldId id="372" r:id="rId47"/>
    <p:sldId id="386" r:id="rId48"/>
    <p:sldId id="387" r:id="rId49"/>
    <p:sldId id="388" r:id="rId50"/>
    <p:sldId id="389" r:id="rId51"/>
    <p:sldId id="390" r:id="rId52"/>
    <p:sldId id="391" r:id="rId53"/>
    <p:sldId id="392" r:id="rId54"/>
    <p:sldId id="393" r:id="rId55"/>
    <p:sldId id="394" r:id="rId56"/>
    <p:sldId id="395" r:id="rId57"/>
    <p:sldId id="396" r:id="rId58"/>
    <p:sldId id="397" r:id="rId59"/>
    <p:sldId id="398" r:id="rId60"/>
    <p:sldId id="400" r:id="rId61"/>
    <p:sldId id="401" r:id="rId62"/>
    <p:sldId id="402" r:id="rId63"/>
    <p:sldId id="403" r:id="rId64"/>
    <p:sldId id="404" r:id="rId65"/>
    <p:sldId id="405" r:id="rId66"/>
    <p:sldId id="406" r:id="rId67"/>
    <p:sldId id="407" r:id="rId68"/>
    <p:sldId id="408" r:id="rId69"/>
    <p:sldId id="409" r:id="rId70"/>
    <p:sldId id="348" r:id="rId71"/>
    <p:sldId id="349" r:id="rId72"/>
    <p:sldId id="350" r:id="rId73"/>
    <p:sldId id="351" r:id="rId74"/>
    <p:sldId id="352" r:id="rId75"/>
    <p:sldId id="353" r:id="rId76"/>
    <p:sldId id="354" r:id="rId77"/>
    <p:sldId id="355" r:id="rId78"/>
    <p:sldId id="356" r:id="rId79"/>
    <p:sldId id="410" r:id="rId80"/>
    <p:sldId id="411" r:id="rId81"/>
    <p:sldId id="260" r:id="rId8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27/08/2024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27/08/2024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27/08/2024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27/08/2024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27/08/2024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27/08/2024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27/08/2024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27/08/2024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27/08/2024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27/08/2024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27/08/2024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27/08/2024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881271" y="2551837"/>
            <a:ext cx="10429458" cy="1754326"/>
          </a:xfrm>
          <a:prstGeom prst="rect">
            <a:avLst/>
          </a:prstGeom>
        </p:spPr>
        <p:txBody>
          <a:bodyPr wrap="none">
            <a:spAutoFit/>
          </a:bodyPr>
          <a:lstStyle/>
          <a:p>
            <a:pPr algn="ctr"/>
            <a:r>
              <a:rPr lang="es-ES" sz="5400" b="1" dirty="0">
                <a:solidFill>
                  <a:srgbClr val="00F3B5"/>
                </a:solidFill>
                <a:latin typeface="Prompt" panose="00000500000000000000" pitchFamily="2" charset="-34"/>
                <a:cs typeface="Prompt" panose="00000500000000000000" pitchFamily="2" charset="-34"/>
              </a:rPr>
              <a:t>ESPECIALIZACION EN  </a:t>
            </a:r>
          </a:p>
          <a:p>
            <a:pPr algn="ctr"/>
            <a:r>
              <a:rPr lang="es-ES" sz="5400" dirty="0">
                <a:solidFill>
                  <a:schemeClr val="bg1"/>
                </a:solidFill>
                <a:latin typeface="Prompt" panose="00000800000000000000" pitchFamily="2" charset="-34"/>
                <a:cs typeface="Prompt" panose="00000800000000000000" pitchFamily="2" charset="-34"/>
              </a:rPr>
              <a:t>GESTION DE GAS Y PETROLEO</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C7009-B4AD-8BBA-4EE5-7DE0D730117F}"/>
              </a:ext>
            </a:extLst>
          </p:cNvPr>
          <p:cNvSpPr>
            <a:spLocks noGrp="1"/>
          </p:cNvSpPr>
          <p:nvPr>
            <p:ph type="title"/>
          </p:nvPr>
        </p:nvSpPr>
        <p:spPr>
          <a:xfrm>
            <a:off x="1099457" y="2865729"/>
            <a:ext cx="10515600" cy="1325563"/>
          </a:xfrm>
        </p:spPr>
        <p:txBody>
          <a:bodyPr/>
          <a:lstStyle/>
          <a:p>
            <a:r>
              <a:rPr lang="es-ES" dirty="0"/>
              <a:t>MIDSTREAM</a:t>
            </a:r>
            <a:endParaRPr lang="es-PE" dirty="0"/>
          </a:p>
        </p:txBody>
      </p:sp>
      <p:sp>
        <p:nvSpPr>
          <p:cNvPr id="3" name="Título 1">
            <a:extLst>
              <a:ext uri="{FF2B5EF4-FFF2-40B4-BE49-F238E27FC236}">
                <a16:creationId xmlns:a16="http://schemas.microsoft.com/office/drawing/2014/main" id="{73653071-40EA-CFBA-6A3F-E65A5E1FB43D}"/>
              </a:ext>
            </a:extLst>
          </p:cNvPr>
          <p:cNvSpPr txBox="1">
            <a:spLocks/>
          </p:cNvSpPr>
          <p:nvPr/>
        </p:nvSpPr>
        <p:spPr>
          <a:xfrm>
            <a:off x="838200" y="10750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dirty="0"/>
              <a:t>MODULO IV</a:t>
            </a:r>
            <a:endParaRPr lang="es-PE" dirty="0"/>
          </a:p>
        </p:txBody>
      </p:sp>
    </p:spTree>
    <p:extLst>
      <p:ext uri="{BB962C8B-B14F-4D97-AF65-F5344CB8AC3E}">
        <p14:creationId xmlns:p14="http://schemas.microsoft.com/office/powerpoint/2010/main" val="3161412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MIDSTREAM</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77500" lnSpcReduction="20000"/>
          </a:bodyPr>
          <a:lstStyle/>
          <a:p>
            <a:pPr marL="0" indent="0">
              <a:buNone/>
            </a:pPr>
            <a:r>
              <a:rPr lang="es-ES" dirty="0"/>
              <a:t>En la industria del petróleo y gas se enfoca en la etapa intermedia de la cadena de suministro, que incluye el transporte, almacenamiento y procesamiento de hidrocarburos. </a:t>
            </a:r>
          </a:p>
          <a:p>
            <a:pPr marL="0" indent="0">
              <a:buNone/>
            </a:pPr>
            <a:r>
              <a:rPr lang="es-ES" b="1" dirty="0"/>
              <a:t>Transporte de Hidrocarburos</a:t>
            </a:r>
          </a:p>
          <a:p>
            <a:pPr marL="0" indent="0">
              <a:buNone/>
            </a:pPr>
            <a:r>
              <a:rPr lang="es-ES" b="1" dirty="0"/>
              <a:t>Métodos de Transporte</a:t>
            </a:r>
            <a:r>
              <a:rPr lang="es-ES" dirty="0"/>
              <a:t>:</a:t>
            </a:r>
          </a:p>
          <a:p>
            <a:pPr>
              <a:buFont typeface="Arial" panose="020B0604020202020204" pitchFamily="34" charset="0"/>
              <a:buChar char="•"/>
            </a:pPr>
            <a:r>
              <a:rPr lang="es-ES" b="1" dirty="0"/>
              <a:t>Oleoductos</a:t>
            </a:r>
            <a:r>
              <a:rPr lang="es-ES" dirty="0"/>
              <a:t>: Tuberías utilizadas para transportar petróleo crudo y productos refinados a largas distancias. Son eficientes y seguras para el transporte de grandes volúmenes. Los oleoductos pueden ser terrestres o submarinos (por ejemplo, el oleoducto de Keystone).</a:t>
            </a:r>
          </a:p>
          <a:p>
            <a:pPr>
              <a:buFont typeface="Arial" panose="020B0604020202020204" pitchFamily="34" charset="0"/>
              <a:buChar char="•"/>
            </a:pPr>
            <a:r>
              <a:rPr lang="es-ES" b="1" dirty="0"/>
              <a:t>Gasoductos</a:t>
            </a:r>
            <a:r>
              <a:rPr lang="es-ES" dirty="0"/>
              <a:t>: Tuberías diseñadas para transportar gas natural desde los yacimientos hasta los centros de consumo o plantas de procesamiento. Ejemplos incluyen el gasoducto Nord </a:t>
            </a:r>
            <a:r>
              <a:rPr lang="es-ES" dirty="0" err="1"/>
              <a:t>Stream</a:t>
            </a:r>
            <a:r>
              <a:rPr lang="es-ES" dirty="0"/>
              <a:t> en Europa.</a:t>
            </a:r>
          </a:p>
          <a:p>
            <a:pPr>
              <a:buFont typeface="Arial" panose="020B0604020202020204" pitchFamily="34" charset="0"/>
              <a:buChar char="•"/>
            </a:pPr>
            <a:r>
              <a:rPr lang="es-ES" b="1" dirty="0"/>
              <a:t>Transporte Marítimo</a:t>
            </a:r>
            <a:r>
              <a:rPr lang="es-ES" dirty="0"/>
              <a:t>: Utiliza buques cisterna para transportar petróleo crudo y productos refinados a nivel internacional. El transporte de GNL (Gas Natural Licuado) también se realiza mediante buques especializados.</a:t>
            </a:r>
          </a:p>
          <a:p>
            <a:pPr>
              <a:buFont typeface="Arial" panose="020B0604020202020204" pitchFamily="34" charset="0"/>
              <a:buChar char="•"/>
            </a:pPr>
            <a:r>
              <a:rPr lang="es-ES" b="1" dirty="0"/>
              <a:t>Transporte Ferroviario y por Camión</a:t>
            </a:r>
            <a:r>
              <a:rPr lang="es-ES" dirty="0"/>
              <a:t>: Usado para el transporte de petróleo y productos refinados cuando las infraestructuras de oleoductos y gasoductos no están disponibles.</a:t>
            </a:r>
          </a:p>
          <a:p>
            <a:endParaRPr lang="es-ES" dirty="0"/>
          </a:p>
        </p:txBody>
      </p:sp>
    </p:spTree>
    <p:extLst>
      <p:ext uri="{BB962C8B-B14F-4D97-AF65-F5344CB8AC3E}">
        <p14:creationId xmlns:p14="http://schemas.microsoft.com/office/powerpoint/2010/main" val="388554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REFINACION DE PETROLEO</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10000"/>
          </a:bodyPr>
          <a:lstStyle/>
          <a:p>
            <a:pPr marL="0" indent="0">
              <a:buNone/>
            </a:pPr>
            <a:endParaRPr lang="es-ES" b="1" dirty="0"/>
          </a:p>
          <a:p>
            <a:pPr marL="0" indent="0">
              <a:buNone/>
            </a:pPr>
            <a:r>
              <a:rPr lang="es-ES" b="1" dirty="0"/>
              <a:t>Tipos de Crudo</a:t>
            </a:r>
            <a:r>
              <a:rPr lang="es-ES" dirty="0"/>
              <a:t>:</a:t>
            </a:r>
          </a:p>
          <a:p>
            <a:pPr algn="just">
              <a:buFont typeface="Arial" panose="020B0604020202020204" pitchFamily="34" charset="0"/>
              <a:buChar char="•"/>
            </a:pPr>
            <a:r>
              <a:rPr lang="es-ES" b="1" dirty="0"/>
              <a:t>Crudo Ligero</a:t>
            </a:r>
            <a:r>
              <a:rPr lang="es-ES" dirty="0"/>
              <a:t>: </a:t>
            </a:r>
            <a:endParaRPr lang="es-ES" sz="2000" dirty="0"/>
          </a:p>
          <a:p>
            <a:pPr marL="0" indent="0" algn="just">
              <a:buNone/>
            </a:pPr>
            <a:r>
              <a:rPr lang="es-ES" b="1" dirty="0"/>
              <a:t>Características: </a:t>
            </a:r>
            <a:r>
              <a:rPr lang="es-ES" dirty="0"/>
              <a:t>Menor densidad y viscosidad, con bajo contenido de azufre. Generalmente se considera más valioso porque es más fácil y barato de refinar.</a:t>
            </a:r>
          </a:p>
          <a:p>
            <a:pPr marL="0" indent="0" algn="just">
              <a:buNone/>
            </a:pPr>
            <a:r>
              <a:rPr lang="es-ES" b="1" dirty="0"/>
              <a:t>Ejemplos: </a:t>
            </a:r>
            <a:r>
              <a:rPr lang="es-ES" dirty="0"/>
              <a:t>Brent Crude, West Texas Intermediate (WTI).</a:t>
            </a:r>
          </a:p>
          <a:p>
            <a:pPr marL="0" indent="0" algn="just">
              <a:buNone/>
            </a:pPr>
            <a:r>
              <a:rPr lang="es-ES" b="1" dirty="0"/>
              <a:t>Usos: </a:t>
            </a:r>
            <a:r>
              <a:rPr lang="es-ES" dirty="0"/>
              <a:t>Ideal para producir gasolina y otros productos ligeros de alto valor.</a:t>
            </a:r>
          </a:p>
          <a:p>
            <a:pPr algn="just"/>
            <a:r>
              <a:rPr lang="es-ES" b="1" dirty="0"/>
              <a:t>Crudo Pesado</a:t>
            </a:r>
            <a:endParaRPr lang="es-ES" dirty="0"/>
          </a:p>
          <a:p>
            <a:pPr marL="0" indent="0" algn="just">
              <a:buNone/>
            </a:pPr>
            <a:r>
              <a:rPr lang="es-ES" b="1" dirty="0"/>
              <a:t>Características: </a:t>
            </a:r>
            <a:r>
              <a:rPr lang="es-ES" sz="2700" dirty="0"/>
              <a:t>Alta viscosidad y densidad, mayor contenido de azufre y metales pesados. Requiere procesos de refinación más complejo</a:t>
            </a:r>
            <a:r>
              <a:rPr lang="es-ES" dirty="0"/>
              <a:t>s</a:t>
            </a:r>
            <a:r>
              <a:rPr lang="es-ES" b="1" dirty="0"/>
              <a:t>.</a:t>
            </a:r>
          </a:p>
          <a:p>
            <a:pPr marL="0" indent="0" algn="just">
              <a:buNone/>
            </a:pPr>
            <a:r>
              <a:rPr lang="es-ES" b="1" dirty="0"/>
              <a:t>Ejemplos: </a:t>
            </a:r>
            <a:r>
              <a:rPr lang="es-ES" dirty="0"/>
              <a:t>Crudo de Venezuela (Mérida y Orinoco), crudo de México (Maya).</a:t>
            </a:r>
          </a:p>
          <a:p>
            <a:pPr marL="0" indent="0" algn="just">
              <a:buNone/>
            </a:pPr>
            <a:r>
              <a:rPr lang="es-ES" b="1" dirty="0"/>
              <a:t>Usos</a:t>
            </a:r>
            <a:r>
              <a:rPr lang="es-ES" dirty="0"/>
              <a:t>: Se utiliza para producir combustibles más pesados y productos industriales</a:t>
            </a:r>
            <a:r>
              <a:rPr lang="es-ES" b="1" dirty="0"/>
              <a:t>.</a:t>
            </a:r>
          </a:p>
          <a:p>
            <a:endParaRPr lang="es-ES" dirty="0"/>
          </a:p>
        </p:txBody>
      </p:sp>
    </p:spTree>
    <p:extLst>
      <p:ext uri="{BB962C8B-B14F-4D97-AF65-F5344CB8AC3E}">
        <p14:creationId xmlns:p14="http://schemas.microsoft.com/office/powerpoint/2010/main" val="258993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653143"/>
            <a:ext cx="11032671" cy="5845627"/>
          </a:xfrm>
        </p:spPr>
        <p:txBody>
          <a:bodyPr>
            <a:normAutofit fontScale="92500" lnSpcReduction="20000"/>
          </a:bodyPr>
          <a:lstStyle/>
          <a:p>
            <a:r>
              <a:rPr lang="es-ES" b="1" dirty="0"/>
              <a:t>Crudo acido</a:t>
            </a:r>
            <a:r>
              <a:rPr lang="es-ES" dirty="0"/>
              <a:t>:</a:t>
            </a:r>
          </a:p>
          <a:p>
            <a:pPr marL="0" indent="0">
              <a:buNone/>
            </a:pPr>
            <a:r>
              <a:rPr lang="es-ES" b="1" dirty="0"/>
              <a:t>Características: </a:t>
            </a:r>
            <a:r>
              <a:rPr lang="es-ES" dirty="0"/>
              <a:t>Contiene altos niveles de compuestos ácidos, como ácido sulfhídrico (H₂S) y dióxido de azufre (SO₂)</a:t>
            </a:r>
          </a:p>
          <a:p>
            <a:pPr marL="0" indent="0">
              <a:buNone/>
            </a:pPr>
            <a:r>
              <a:rPr lang="es-ES" b="1" dirty="0"/>
              <a:t>Ejemplos: </a:t>
            </a:r>
            <a:r>
              <a:rPr lang="es-ES" dirty="0"/>
              <a:t>Crudo de los campos de petróleo en el Medio Oriente, algunos crudos de América del Sur.</a:t>
            </a:r>
          </a:p>
          <a:p>
            <a:pPr marL="0" indent="0">
              <a:buNone/>
            </a:pPr>
            <a:r>
              <a:rPr lang="es-ES" b="1" dirty="0"/>
              <a:t>Usos: </a:t>
            </a:r>
            <a:r>
              <a:rPr lang="es-ES" dirty="0"/>
              <a:t>Requiere tratamientos especiales para eliminar los compuestos ácidos antes de su procesamiento.</a:t>
            </a:r>
          </a:p>
          <a:p>
            <a:pPr marL="0" indent="0">
              <a:buNone/>
            </a:pPr>
            <a:endParaRPr lang="es-ES" dirty="0"/>
          </a:p>
          <a:p>
            <a:r>
              <a:rPr lang="es-ES" b="1" dirty="0"/>
              <a:t>Crudo Dulce:</a:t>
            </a:r>
            <a:br>
              <a:rPr lang="es-ES" b="1" dirty="0"/>
            </a:br>
            <a:endParaRPr lang="es-ES" b="1" dirty="0"/>
          </a:p>
          <a:p>
            <a:pPr marL="0" indent="0">
              <a:buNone/>
            </a:pPr>
            <a:r>
              <a:rPr lang="es-ES" b="1" dirty="0"/>
              <a:t>Características</a:t>
            </a:r>
            <a:r>
              <a:rPr lang="es-ES" dirty="0"/>
              <a:t>: Bajo contenido de azufre, lo que lo hace menos corrosivo y más fácil de procesar en comparación con crudos ácidos.</a:t>
            </a:r>
          </a:p>
          <a:p>
            <a:pPr marL="0" indent="0">
              <a:buNone/>
            </a:pPr>
            <a:r>
              <a:rPr lang="es-ES" b="1" dirty="0"/>
              <a:t>Ejemplos: </a:t>
            </a:r>
            <a:r>
              <a:rPr lang="es-ES" dirty="0"/>
              <a:t>Crudos del Mar del Norte y ciertos crudos en Canadá.</a:t>
            </a:r>
          </a:p>
          <a:p>
            <a:pPr marL="0" indent="0">
              <a:buNone/>
            </a:pPr>
            <a:r>
              <a:rPr lang="es-ES" b="1" dirty="0"/>
              <a:t>Usos: </a:t>
            </a:r>
            <a:r>
              <a:rPr lang="es-ES" dirty="0"/>
              <a:t>Preferido en el mercado debido a su bajo contenido de azufre, facilita la producción de combustibles más limpios.</a:t>
            </a:r>
          </a:p>
          <a:p>
            <a:pPr marL="0" indent="0">
              <a:buNone/>
            </a:pPr>
            <a:endParaRPr lang="es-ES" dirty="0"/>
          </a:p>
        </p:txBody>
      </p:sp>
    </p:spTree>
    <p:extLst>
      <p:ext uri="{BB962C8B-B14F-4D97-AF65-F5344CB8AC3E}">
        <p14:creationId xmlns:p14="http://schemas.microsoft.com/office/powerpoint/2010/main" val="3175857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pPr marL="0" indent="0"/>
            <a:r>
              <a:rPr lang="es-ES" sz="3200" b="1" dirty="0"/>
              <a:t>Banco de Datos</a:t>
            </a:r>
            <a:r>
              <a:rPr lang="es-ES" sz="3200" dirty="0"/>
              <a:t>:</a:t>
            </a:r>
            <a:br>
              <a:rPr lang="es-ES" sz="1600" dirty="0"/>
            </a:br>
            <a:br>
              <a:rPr lang="es-ES" sz="1600" dirty="0"/>
            </a:br>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Información de Crudo:</a:t>
            </a:r>
            <a:endParaRPr lang="es-ES" dirty="0"/>
          </a:p>
          <a:p>
            <a:pPr>
              <a:buFont typeface="Arial" panose="020B0604020202020204" pitchFamily="34" charset="0"/>
              <a:buChar char="•"/>
            </a:pPr>
            <a:r>
              <a:rPr lang="es-ES" b="1" dirty="0"/>
              <a:t>Características Físicas:</a:t>
            </a:r>
            <a:r>
              <a:rPr lang="es-ES" dirty="0"/>
              <a:t> Densidad, viscosidad, punto de ebullición, contenido de azufre, metales pesados.</a:t>
            </a:r>
          </a:p>
          <a:p>
            <a:pPr>
              <a:buFont typeface="Arial" panose="020B0604020202020204" pitchFamily="34" charset="0"/>
              <a:buChar char="•"/>
            </a:pPr>
            <a:r>
              <a:rPr lang="es-ES" b="1" dirty="0"/>
              <a:t>Composición Química:</a:t>
            </a:r>
            <a:r>
              <a:rPr lang="es-ES" dirty="0"/>
              <a:t> Contenido de hidrocarburos saturados, aromáticos, naftenos, y otros compuestos.</a:t>
            </a:r>
          </a:p>
          <a:p>
            <a:pPr>
              <a:buFont typeface="Arial" panose="020B0604020202020204" pitchFamily="34" charset="0"/>
              <a:buChar char="•"/>
            </a:pPr>
            <a:r>
              <a:rPr lang="es-ES" b="1" dirty="0"/>
              <a:t>Rendimiento en Refinación:</a:t>
            </a:r>
            <a:r>
              <a:rPr lang="es-ES" dirty="0"/>
              <a:t> Datos sobre cómo el crudo se comporta en los procesos de refinación, como rendimiento en la producción de gasolina y diésel.</a:t>
            </a:r>
          </a:p>
          <a:p>
            <a:endParaRPr lang="es-ES" dirty="0"/>
          </a:p>
        </p:txBody>
      </p:sp>
    </p:spTree>
    <p:extLst>
      <p:ext uri="{BB962C8B-B14F-4D97-AF65-F5344CB8AC3E}">
        <p14:creationId xmlns:p14="http://schemas.microsoft.com/office/powerpoint/2010/main" val="2424276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208314"/>
            <a:ext cx="11032671" cy="4968650"/>
          </a:xfrm>
        </p:spPr>
        <p:txBody>
          <a:bodyPr>
            <a:normAutofit/>
          </a:bodyPr>
          <a:lstStyle/>
          <a:p>
            <a:pPr marL="0" indent="0">
              <a:buNone/>
            </a:pPr>
            <a:endParaRPr lang="es-ES" b="1" dirty="0"/>
          </a:p>
          <a:p>
            <a:endParaRPr lang="es-ES" dirty="0"/>
          </a:p>
        </p:txBody>
      </p:sp>
      <p:sp>
        <p:nvSpPr>
          <p:cNvPr id="4" name="Marcador de contenido 2">
            <a:extLst>
              <a:ext uri="{FF2B5EF4-FFF2-40B4-BE49-F238E27FC236}">
                <a16:creationId xmlns:a16="http://schemas.microsoft.com/office/drawing/2014/main" id="{71D78ECD-F831-8A31-2B31-490831395CF3}"/>
              </a:ext>
            </a:extLst>
          </p:cNvPr>
          <p:cNvSpPr txBox="1">
            <a:spLocks/>
          </p:cNvSpPr>
          <p:nvPr/>
        </p:nvSpPr>
        <p:spPr>
          <a:xfrm>
            <a:off x="990599" y="1208314"/>
            <a:ext cx="11032671" cy="5121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b="1" dirty="0"/>
              <a:t>Fuentes de Datos:</a:t>
            </a:r>
          </a:p>
          <a:p>
            <a:pPr marL="0" indent="0">
              <a:buNone/>
            </a:pPr>
            <a:endParaRPr lang="es-ES" dirty="0"/>
          </a:p>
          <a:p>
            <a:pPr>
              <a:buFont typeface="Arial" panose="020B0604020202020204" pitchFamily="34" charset="0"/>
              <a:buChar char="•"/>
            </a:pPr>
            <a:r>
              <a:rPr lang="es-ES" b="1" dirty="0"/>
              <a:t>Petroleum Quality Index (PQI):</a:t>
            </a:r>
            <a:r>
              <a:rPr lang="es-ES" dirty="0"/>
              <a:t> Proporciona datos sobre la calidad de crudos.</a:t>
            </a:r>
          </a:p>
          <a:p>
            <a:pPr>
              <a:buFont typeface="Arial" panose="020B0604020202020204" pitchFamily="34" charset="0"/>
              <a:buChar char="•"/>
            </a:pPr>
            <a:r>
              <a:rPr lang="es-ES" b="1" dirty="0"/>
              <a:t>Argus Media:</a:t>
            </a:r>
            <a:r>
              <a:rPr lang="es-ES" dirty="0"/>
              <a:t> Ofrece precios y características de crudo en mercados internacionales.</a:t>
            </a:r>
          </a:p>
          <a:p>
            <a:pPr>
              <a:buFont typeface="Arial" panose="020B0604020202020204" pitchFamily="34" charset="0"/>
              <a:buChar char="•"/>
            </a:pPr>
            <a:r>
              <a:rPr lang="es-ES" b="1" dirty="0"/>
              <a:t>API Gravity:</a:t>
            </a:r>
            <a:r>
              <a:rPr lang="es-ES" dirty="0"/>
              <a:t> Índice de la densidad del crudo, utilizado para clasificar los crudos en términos de su calidad y facilidad de refinación.</a:t>
            </a:r>
          </a:p>
          <a:p>
            <a:endParaRPr lang="es-ES" dirty="0"/>
          </a:p>
        </p:txBody>
      </p:sp>
    </p:spTree>
    <p:extLst>
      <p:ext uri="{BB962C8B-B14F-4D97-AF65-F5344CB8AC3E}">
        <p14:creationId xmlns:p14="http://schemas.microsoft.com/office/powerpoint/2010/main" val="2188905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48324"/>
            <a:ext cx="10515600" cy="865424"/>
          </a:xfrm>
        </p:spPr>
        <p:txBody>
          <a:bodyPr>
            <a:normAutofit/>
          </a:bodyPr>
          <a:lstStyle/>
          <a:p>
            <a:r>
              <a:rPr lang="es-ES" sz="2800" dirty="0"/>
              <a:t>PROCESO DE REFINACION</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930729"/>
            <a:ext cx="11032671" cy="5678947"/>
          </a:xfrm>
        </p:spPr>
        <p:txBody>
          <a:bodyPr>
            <a:normAutofit fontScale="85000" lnSpcReduction="20000"/>
          </a:bodyPr>
          <a:lstStyle/>
          <a:p>
            <a:pPr marL="0" indent="0">
              <a:buNone/>
            </a:pPr>
            <a:endParaRPr lang="es-ES" b="1" dirty="0"/>
          </a:p>
          <a:p>
            <a:pPr marL="0" indent="0">
              <a:buNone/>
            </a:pPr>
            <a:r>
              <a:rPr lang="es-ES" b="1" dirty="0"/>
              <a:t>Destilación Atmosférica:</a:t>
            </a:r>
            <a:endParaRPr lang="es-ES" dirty="0"/>
          </a:p>
          <a:p>
            <a:pPr>
              <a:buFont typeface="Arial" panose="020B0604020202020204" pitchFamily="34" charset="0"/>
              <a:buChar char="•"/>
            </a:pPr>
            <a:r>
              <a:rPr lang="es-ES" b="1" dirty="0"/>
              <a:t>Proceso:</a:t>
            </a:r>
            <a:r>
              <a:rPr lang="es-ES" dirty="0"/>
              <a:t> Calienta el crudo a alta temperatura (350-400°C) en una columna de destilación. Las fracciones se separan según sus puntos de ebullición.</a:t>
            </a:r>
          </a:p>
          <a:p>
            <a:pPr>
              <a:buFont typeface="Arial" panose="020B0604020202020204" pitchFamily="34" charset="0"/>
              <a:buChar char="•"/>
            </a:pPr>
            <a:r>
              <a:rPr lang="es-ES" b="1" dirty="0"/>
              <a:t>Productos:</a:t>
            </a:r>
            <a:r>
              <a:rPr lang="es-ES" dirty="0"/>
              <a:t> Gasolina, queroseno, diésel, y residuos pesados.</a:t>
            </a:r>
          </a:p>
          <a:p>
            <a:pPr marL="0" indent="0">
              <a:buNone/>
            </a:pPr>
            <a:r>
              <a:rPr lang="es-ES" b="1" dirty="0"/>
              <a:t>Destilación al Vacío:</a:t>
            </a:r>
            <a:endParaRPr lang="es-ES" dirty="0"/>
          </a:p>
          <a:p>
            <a:pPr>
              <a:buFont typeface="Arial" panose="020B0604020202020204" pitchFamily="34" charset="0"/>
              <a:buChar char="•"/>
            </a:pPr>
            <a:r>
              <a:rPr lang="es-ES" b="1" dirty="0"/>
              <a:t>Proceso:</a:t>
            </a:r>
            <a:r>
              <a:rPr lang="es-ES" dirty="0"/>
              <a:t> Se realiza bajo vacío para separar fracciones pesadas que tienen puntos de ebullición superiores a los alcanzables en la destilación atmosférica.</a:t>
            </a:r>
          </a:p>
          <a:p>
            <a:pPr>
              <a:buFont typeface="Arial" panose="020B0604020202020204" pitchFamily="34" charset="0"/>
              <a:buChar char="•"/>
            </a:pPr>
            <a:r>
              <a:rPr lang="es-ES" b="1" dirty="0"/>
              <a:t>Productos:</a:t>
            </a:r>
            <a:r>
              <a:rPr lang="es-ES" dirty="0"/>
              <a:t> Residuos pesados como el petróleo de vacío, que se pueden tratar más adelante para obtener productos adicionales.</a:t>
            </a:r>
          </a:p>
          <a:p>
            <a:pPr marL="0" indent="0" algn="just">
              <a:buNone/>
            </a:pPr>
            <a:r>
              <a:rPr lang="es-ES" b="1" dirty="0"/>
              <a:t>Cracking:</a:t>
            </a:r>
            <a:endParaRPr lang="es-ES" dirty="0"/>
          </a:p>
          <a:p>
            <a:pPr algn="just">
              <a:buFont typeface="Arial" panose="020B0604020202020204" pitchFamily="34" charset="0"/>
              <a:buChar char="•"/>
            </a:pPr>
            <a:r>
              <a:rPr lang="es-ES" b="1" dirty="0"/>
              <a:t>Cracking Catalítico:</a:t>
            </a:r>
            <a:r>
              <a:rPr lang="es-ES" dirty="0"/>
              <a:t> Utiliza un catalizador para romper moléculas grandes en componentes más ligeros y valiosos. Es crucial para convertir residuos pesados en productos útiles como gasolina.</a:t>
            </a:r>
          </a:p>
          <a:p>
            <a:pPr algn="just">
              <a:buFont typeface="Arial" panose="020B0604020202020204" pitchFamily="34" charset="0"/>
              <a:buChar char="•"/>
            </a:pPr>
            <a:r>
              <a:rPr lang="es-ES" b="1" dirty="0"/>
              <a:t>Cracking Térmico:</a:t>
            </a:r>
            <a:r>
              <a:rPr lang="es-ES" dirty="0"/>
              <a:t> Usa calor intenso para romper moléculas, generalmente aplicado en crudos pesados.</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4209528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244929" y="1012371"/>
            <a:ext cx="11625941" cy="5502729"/>
          </a:xfrm>
        </p:spPr>
        <p:txBody>
          <a:bodyPr>
            <a:normAutofit fontScale="92500"/>
          </a:bodyPr>
          <a:lstStyle/>
          <a:p>
            <a:pPr marL="0" indent="0" algn="just">
              <a:buNone/>
            </a:pPr>
            <a:r>
              <a:rPr lang="es-ES" b="1" dirty="0"/>
              <a:t>Reformado Catalítico:</a:t>
            </a:r>
            <a:endParaRPr lang="es-ES" dirty="0"/>
          </a:p>
          <a:p>
            <a:pPr algn="just">
              <a:buFont typeface="Arial" panose="020B0604020202020204" pitchFamily="34" charset="0"/>
              <a:buChar char="•"/>
            </a:pPr>
            <a:r>
              <a:rPr lang="es-ES" b="1" dirty="0"/>
              <a:t>Proceso:</a:t>
            </a:r>
            <a:r>
              <a:rPr lang="es-ES" dirty="0"/>
              <a:t> Reestructura moléculas de nafta para mejorar el octanaje de la gasolina y producir aromáticos.</a:t>
            </a:r>
          </a:p>
          <a:p>
            <a:pPr algn="just">
              <a:buFont typeface="Arial" panose="020B0604020202020204" pitchFamily="34" charset="0"/>
              <a:buChar char="•"/>
            </a:pPr>
            <a:r>
              <a:rPr lang="es-ES" b="1" dirty="0"/>
              <a:t>Productos:</a:t>
            </a:r>
            <a:r>
              <a:rPr lang="es-ES" dirty="0"/>
              <a:t> Gasolina de alto octanaje, aromáticos como benceno, tolueno, y xileno.</a:t>
            </a:r>
          </a:p>
          <a:p>
            <a:pPr marL="0" indent="0" algn="just">
              <a:buNone/>
            </a:pPr>
            <a:r>
              <a:rPr lang="es-ES" b="1" dirty="0"/>
              <a:t>Hidrotratamiento:</a:t>
            </a:r>
            <a:endParaRPr lang="es-ES" dirty="0"/>
          </a:p>
          <a:p>
            <a:pPr algn="just">
              <a:buFont typeface="Arial" panose="020B0604020202020204" pitchFamily="34" charset="0"/>
              <a:buChar char="•"/>
            </a:pPr>
            <a:r>
              <a:rPr lang="es-ES" b="1" dirty="0"/>
              <a:t>Proceso:</a:t>
            </a:r>
            <a:r>
              <a:rPr lang="es-ES" dirty="0"/>
              <a:t> Usa hidrógeno para eliminar compuestos de azufre y nitrógeno, reduciendo el contenido de contaminantes en los productos.</a:t>
            </a:r>
          </a:p>
          <a:p>
            <a:pPr algn="just">
              <a:buFont typeface="Arial" panose="020B0604020202020204" pitchFamily="34" charset="0"/>
              <a:buChar char="•"/>
            </a:pPr>
            <a:r>
              <a:rPr lang="es-ES" b="1" dirty="0"/>
              <a:t>Productos:</a:t>
            </a:r>
            <a:r>
              <a:rPr lang="es-ES" dirty="0"/>
              <a:t> Gasolina, diésel con bajo contenido de azufre.</a:t>
            </a:r>
          </a:p>
          <a:p>
            <a:pPr marL="0" indent="0">
              <a:buNone/>
            </a:pPr>
            <a:r>
              <a:rPr lang="es-ES" b="1" dirty="0"/>
              <a:t>Alquilación:</a:t>
            </a:r>
            <a:endParaRPr lang="es-ES" dirty="0"/>
          </a:p>
          <a:p>
            <a:pPr>
              <a:buFont typeface="Arial" panose="020B0604020202020204" pitchFamily="34" charset="0"/>
              <a:buChar char="•"/>
            </a:pPr>
            <a:r>
              <a:rPr lang="es-ES" b="1" dirty="0"/>
              <a:t>Proceso:</a:t>
            </a:r>
            <a:r>
              <a:rPr lang="es-ES" dirty="0"/>
              <a:t> Combina fracciones ligeras (como butano y propano) en presencia de un catalizador para producir compuestos con alto octanaje.</a:t>
            </a:r>
          </a:p>
          <a:p>
            <a:pPr>
              <a:buFont typeface="Arial" panose="020B0604020202020204" pitchFamily="34" charset="0"/>
              <a:buChar char="•"/>
            </a:pPr>
            <a:r>
              <a:rPr lang="es-ES" b="1" dirty="0"/>
              <a:t>Productos:</a:t>
            </a:r>
            <a:r>
              <a:rPr lang="es-ES" dirty="0"/>
              <a:t> Componentes de alto octanaje para gasolina</a:t>
            </a:r>
          </a:p>
          <a:p>
            <a:pPr algn="just">
              <a:buFont typeface="Arial" panose="020B0604020202020204" pitchFamily="34" charset="0"/>
              <a:buChar char="•"/>
            </a:pPr>
            <a:endParaRPr lang="es-ES" dirty="0"/>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3790548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13748"/>
            <a:ext cx="11032671" cy="5189080"/>
          </a:xfrm>
        </p:spPr>
        <p:txBody>
          <a:bodyPr>
            <a:normAutofit fontScale="70000" lnSpcReduction="20000"/>
          </a:bodyPr>
          <a:lstStyle/>
          <a:p>
            <a:pPr marL="0" indent="0" algn="just">
              <a:buNone/>
            </a:pPr>
            <a:r>
              <a:rPr lang="es-ES" b="1" dirty="0"/>
              <a:t>Gasolina:</a:t>
            </a:r>
            <a:endParaRPr lang="es-ES" dirty="0"/>
          </a:p>
          <a:p>
            <a:pPr algn="just">
              <a:buFont typeface="Arial" panose="020B0604020202020204" pitchFamily="34" charset="0"/>
              <a:buChar char="•"/>
            </a:pPr>
            <a:r>
              <a:rPr lang="es-ES" b="1" dirty="0"/>
              <a:t>Uso:</a:t>
            </a:r>
            <a:r>
              <a:rPr lang="es-ES" dirty="0"/>
              <a:t> Principalmente en vehículos de pasajeros. También se utiliza en algunas aplicaciones industriales.</a:t>
            </a:r>
          </a:p>
          <a:p>
            <a:pPr algn="just">
              <a:buFont typeface="Arial" panose="020B0604020202020204" pitchFamily="34" charset="0"/>
              <a:buChar char="•"/>
            </a:pPr>
            <a:r>
              <a:rPr lang="es-ES" b="1" dirty="0"/>
              <a:t>Aplicaciones Secundarias:</a:t>
            </a:r>
            <a:r>
              <a:rPr lang="es-ES" dirty="0"/>
              <a:t> También se utiliza como materia prima en la industria petroquímica para la producción de productos químicos y plásticos.</a:t>
            </a:r>
          </a:p>
          <a:p>
            <a:pPr algn="just">
              <a:buFont typeface="Arial" panose="020B0604020202020204" pitchFamily="34" charset="0"/>
              <a:buChar char="•"/>
            </a:pPr>
            <a:r>
              <a:rPr lang="es-ES" b="1" dirty="0"/>
              <a:t>Propiedades:</a:t>
            </a:r>
            <a:r>
              <a:rPr lang="es-ES" dirty="0"/>
              <a:t> Contiene aditivos para mejorar el rendimiento y reducir las emisiones.</a:t>
            </a:r>
          </a:p>
          <a:p>
            <a:pPr marL="0" indent="0" algn="just">
              <a:buNone/>
            </a:pPr>
            <a:r>
              <a:rPr lang="es-ES" b="1" dirty="0"/>
              <a:t>Diésel:</a:t>
            </a:r>
            <a:endParaRPr lang="es-ES" dirty="0"/>
          </a:p>
          <a:p>
            <a:pPr algn="just">
              <a:buFont typeface="Arial" panose="020B0604020202020204" pitchFamily="34" charset="0"/>
              <a:buChar char="•"/>
            </a:pPr>
            <a:r>
              <a:rPr lang="es-ES" b="1" dirty="0"/>
              <a:t>Uso:</a:t>
            </a:r>
            <a:r>
              <a:rPr lang="es-ES" dirty="0"/>
              <a:t> Combustible para camiones, autobuses, maquinaria agrícola e industrial.</a:t>
            </a:r>
          </a:p>
          <a:p>
            <a:pPr algn="just">
              <a:buFont typeface="Arial" panose="020B0604020202020204" pitchFamily="34" charset="0"/>
              <a:buChar char="•"/>
            </a:pPr>
            <a:r>
              <a:rPr lang="es-ES" b="1" dirty="0"/>
              <a:t>Aplicaciones Secundarias:</a:t>
            </a:r>
            <a:r>
              <a:rPr lang="es-ES" dirty="0"/>
              <a:t> También se utiliza en la generación de energía en plantas de energía y en algunos sistemas de calefacción.</a:t>
            </a:r>
          </a:p>
          <a:p>
            <a:pPr algn="just">
              <a:buFont typeface="Arial" panose="020B0604020202020204" pitchFamily="34" charset="0"/>
              <a:buChar char="•"/>
            </a:pPr>
            <a:r>
              <a:rPr lang="es-ES" b="1" dirty="0"/>
              <a:t>Propiedades:</a:t>
            </a:r>
            <a:r>
              <a:rPr lang="es-ES" dirty="0"/>
              <a:t> Incluye aditivos para mejorar el rendimiento en motores diésel y reducir las emisiones de contaminantes.</a:t>
            </a:r>
          </a:p>
          <a:p>
            <a:pPr marL="0" indent="0" algn="just">
              <a:buNone/>
            </a:pPr>
            <a:r>
              <a:rPr lang="es-ES" b="1" dirty="0"/>
              <a:t>Queroseno:</a:t>
            </a:r>
            <a:endParaRPr lang="es-ES" dirty="0"/>
          </a:p>
          <a:p>
            <a:pPr algn="just">
              <a:buFont typeface="Arial" panose="020B0604020202020204" pitchFamily="34" charset="0"/>
              <a:buChar char="•"/>
            </a:pPr>
            <a:r>
              <a:rPr lang="es-ES" b="1" dirty="0"/>
              <a:t>Uso:</a:t>
            </a:r>
            <a:r>
              <a:rPr lang="es-ES" dirty="0"/>
              <a:t> Combustible para aviones (Jet A y Jet A-1) y en algunos sistemas de calefacción.</a:t>
            </a:r>
          </a:p>
          <a:p>
            <a:pPr algn="just">
              <a:buFont typeface="Arial" panose="020B0604020202020204" pitchFamily="34" charset="0"/>
              <a:buChar char="•"/>
            </a:pPr>
            <a:r>
              <a:rPr lang="es-ES" b="1" dirty="0"/>
              <a:t>Aplicaciones Secundarias:</a:t>
            </a:r>
            <a:r>
              <a:rPr lang="es-ES" dirty="0"/>
              <a:t> Utilizado en algunos procesos industriales y como disolvente.</a:t>
            </a:r>
          </a:p>
          <a:p>
            <a:pPr algn="just">
              <a:buFont typeface="Arial" panose="020B0604020202020204" pitchFamily="34" charset="0"/>
              <a:buChar char="•"/>
            </a:pPr>
            <a:r>
              <a:rPr lang="es-ES" b="1" dirty="0"/>
              <a:t>Propiedades:</a:t>
            </a:r>
            <a:r>
              <a:rPr lang="es-ES" dirty="0"/>
              <a:t> Bajo contenido de azufre y propiedades de congelación adaptadas para condiciones extremas.</a:t>
            </a:r>
          </a:p>
          <a:p>
            <a:endParaRPr lang="es-ES" dirty="0"/>
          </a:p>
        </p:txBody>
      </p:sp>
      <p:sp>
        <p:nvSpPr>
          <p:cNvPr id="4" name="Título 1">
            <a:extLst>
              <a:ext uri="{FF2B5EF4-FFF2-40B4-BE49-F238E27FC236}">
                <a16:creationId xmlns:a16="http://schemas.microsoft.com/office/drawing/2014/main" id="{A087FD4E-356C-613C-71DE-0DE5F01DA344}"/>
              </a:ext>
            </a:extLst>
          </p:cNvPr>
          <p:cNvSpPr>
            <a:spLocks noGrp="1"/>
          </p:cNvSpPr>
          <p:nvPr>
            <p:ph type="title"/>
          </p:nvPr>
        </p:nvSpPr>
        <p:spPr>
          <a:xfrm>
            <a:off x="964660" y="248324"/>
            <a:ext cx="10515600" cy="865424"/>
          </a:xfrm>
        </p:spPr>
        <p:txBody>
          <a:bodyPr>
            <a:normAutofit/>
          </a:bodyPr>
          <a:lstStyle/>
          <a:p>
            <a:r>
              <a:rPr lang="es-ES" sz="2800" dirty="0"/>
              <a:t>PRODUCTOS REFINADOS</a:t>
            </a:r>
          </a:p>
        </p:txBody>
      </p:sp>
    </p:spTree>
    <p:extLst>
      <p:ext uri="{BB962C8B-B14F-4D97-AF65-F5344CB8AC3E}">
        <p14:creationId xmlns:p14="http://schemas.microsoft.com/office/powerpoint/2010/main" val="2966532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865414"/>
            <a:ext cx="11032671" cy="5992586"/>
          </a:xfrm>
        </p:spPr>
        <p:txBody>
          <a:bodyPr>
            <a:normAutofit fontScale="85000" lnSpcReduction="20000"/>
          </a:bodyPr>
          <a:lstStyle/>
          <a:p>
            <a:pPr marL="0" indent="0" algn="just">
              <a:buNone/>
            </a:pPr>
            <a:r>
              <a:rPr lang="es-ES" b="1" dirty="0"/>
              <a:t>Asfalto:</a:t>
            </a:r>
            <a:endParaRPr lang="es-ES" dirty="0"/>
          </a:p>
          <a:p>
            <a:pPr algn="just">
              <a:buFont typeface="Arial" panose="020B0604020202020204" pitchFamily="34" charset="0"/>
              <a:buChar char="•"/>
            </a:pPr>
            <a:r>
              <a:rPr lang="es-ES" b="1" dirty="0"/>
              <a:t>Uso:</a:t>
            </a:r>
            <a:r>
              <a:rPr lang="es-ES" dirty="0"/>
              <a:t> Principalmente en la construcción y mantenimiento de carreteras.</a:t>
            </a:r>
          </a:p>
          <a:p>
            <a:pPr algn="just">
              <a:buFont typeface="Arial" panose="020B0604020202020204" pitchFamily="34" charset="0"/>
              <a:buChar char="•"/>
            </a:pPr>
            <a:r>
              <a:rPr lang="es-ES" b="1" dirty="0"/>
              <a:t>Aplicaciones Secundarias:</a:t>
            </a:r>
            <a:r>
              <a:rPr lang="es-ES" dirty="0"/>
              <a:t> Utilizado en impermeabilización y en algunas aplicaciones industriales.</a:t>
            </a:r>
          </a:p>
          <a:p>
            <a:pPr algn="just">
              <a:buFont typeface="Arial" panose="020B0604020202020204" pitchFamily="34" charset="0"/>
              <a:buChar char="•"/>
            </a:pPr>
            <a:r>
              <a:rPr lang="es-ES" b="1" dirty="0"/>
              <a:t>Propiedades:</a:t>
            </a:r>
            <a:r>
              <a:rPr lang="es-ES" dirty="0"/>
              <a:t> Material viscoso y pegajoso, utilizado como aglutinante en mezclas asfálticas.</a:t>
            </a:r>
          </a:p>
          <a:p>
            <a:pPr marL="0" indent="0" algn="just">
              <a:buNone/>
            </a:pPr>
            <a:r>
              <a:rPr lang="es-ES" b="1" dirty="0"/>
              <a:t> Petroquímicos:</a:t>
            </a:r>
            <a:endParaRPr lang="es-ES" dirty="0"/>
          </a:p>
          <a:p>
            <a:pPr algn="just">
              <a:buFont typeface="Arial" panose="020B0604020202020204" pitchFamily="34" charset="0"/>
              <a:buChar char="•"/>
            </a:pPr>
            <a:r>
              <a:rPr lang="es-ES" b="1" dirty="0"/>
              <a:t>Uso:</a:t>
            </a:r>
            <a:r>
              <a:rPr lang="es-ES" dirty="0"/>
              <a:t> Materias primas para la producción de plásticos, detergentes, fibras sintéticas, y otros productos industriales.</a:t>
            </a:r>
          </a:p>
          <a:p>
            <a:pPr algn="just">
              <a:buFont typeface="Arial" panose="020B0604020202020204" pitchFamily="34" charset="0"/>
              <a:buChar char="•"/>
            </a:pPr>
            <a:r>
              <a:rPr lang="es-ES" b="1" dirty="0"/>
              <a:t>Productos Clave:</a:t>
            </a:r>
            <a:r>
              <a:rPr lang="es-ES" dirty="0"/>
              <a:t> Incluyen etano, propano, butano, y nafta, que se utilizan en la producción de una amplia gama de productos industriales y de consumo.</a:t>
            </a:r>
          </a:p>
          <a:p>
            <a:pPr algn="just">
              <a:buFont typeface="Arial" panose="020B0604020202020204" pitchFamily="34" charset="0"/>
              <a:buChar char="•"/>
            </a:pPr>
            <a:r>
              <a:rPr lang="es-ES" b="1" dirty="0"/>
              <a:t>Propiedades: </a:t>
            </a:r>
            <a:r>
              <a:rPr lang="es-ES" dirty="0"/>
              <a:t>Cada petroquímico tiene propiedades específicas que lo hacen adecuado para aplicaciones particulares en la industria química.</a:t>
            </a:r>
          </a:p>
          <a:p>
            <a:pPr marL="0" indent="0" algn="just">
              <a:buNone/>
            </a:pPr>
            <a:r>
              <a:rPr lang="es-ES" dirty="0"/>
              <a:t>Cada uno de estos productos refinados tiene un mercado y aplicaciones específicas, que dependen de su composición química y características. La refinación de petróleo es un proceso complejo que transforma crudos con diferentes propiedades en productos útiles para diversas industrias y consumidores</a:t>
            </a:r>
          </a:p>
        </p:txBody>
      </p:sp>
    </p:spTree>
    <p:extLst>
      <p:ext uri="{BB962C8B-B14F-4D97-AF65-F5344CB8AC3E}">
        <p14:creationId xmlns:p14="http://schemas.microsoft.com/office/powerpoint/2010/main" val="2025079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Principales Mercados de Productos Refinados </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Estados Unidos:</a:t>
            </a:r>
            <a:endParaRPr lang="es-ES" dirty="0"/>
          </a:p>
          <a:p>
            <a:pPr algn="just">
              <a:buFont typeface="Arial" panose="020B0604020202020204" pitchFamily="34" charset="0"/>
              <a:buChar char="•"/>
            </a:pPr>
            <a:r>
              <a:rPr lang="es-ES" b="1" dirty="0"/>
              <a:t>Características del Mercado:</a:t>
            </a:r>
            <a:r>
              <a:rPr lang="es-ES" dirty="0"/>
              <a:t> Es el mayor consumidor y productor de productos refinados en el mundo. La infraestructura incluye una extensa red de refinerías, oleoductos y terminales de almacenamiento.</a:t>
            </a:r>
          </a:p>
          <a:p>
            <a:pPr algn="just">
              <a:buFont typeface="Arial" panose="020B0604020202020204" pitchFamily="34" charset="0"/>
              <a:buChar char="•"/>
            </a:pPr>
            <a:r>
              <a:rPr lang="es-ES" b="1" dirty="0"/>
              <a:t>Productos Clave:</a:t>
            </a:r>
            <a:r>
              <a:rPr lang="es-ES" dirty="0"/>
              <a:t> Gasolina, diésel, queroseno, y productos petroquímicos. La demanda de gasolina y diésel es particularmente alta debido al gran parque automotriz y la industria de transporte.</a:t>
            </a:r>
          </a:p>
          <a:p>
            <a:pPr algn="just">
              <a:buFont typeface="Arial" panose="020B0604020202020204" pitchFamily="34" charset="0"/>
              <a:buChar char="•"/>
            </a:pPr>
            <a:r>
              <a:rPr lang="es-ES" b="1" dirty="0"/>
              <a:t>Datos de Consumo:</a:t>
            </a:r>
            <a:r>
              <a:rPr lang="es-ES" dirty="0"/>
              <a:t> En 2022, EE.UU. consumió aproximadamente 20 millones de barriles por día (bpd) de productos refinados, siendo la gasolina la mayor categoría de consumo.</a:t>
            </a:r>
          </a:p>
          <a:p>
            <a:pPr marL="0" indent="0">
              <a:buNone/>
            </a:pPr>
            <a:endParaRPr lang="es-ES" b="1" dirty="0"/>
          </a:p>
          <a:p>
            <a:endParaRPr lang="es-ES" dirty="0"/>
          </a:p>
        </p:txBody>
      </p:sp>
    </p:spTree>
    <p:extLst>
      <p:ext uri="{BB962C8B-B14F-4D97-AF65-F5344CB8AC3E}">
        <p14:creationId xmlns:p14="http://schemas.microsoft.com/office/powerpoint/2010/main" val="2767207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endParaRPr lang="es-ES" b="1" dirty="0"/>
          </a:p>
          <a:p>
            <a:endParaRPr lang="es-ES" dirty="0"/>
          </a:p>
        </p:txBody>
      </p:sp>
      <p:sp>
        <p:nvSpPr>
          <p:cNvPr id="6" name="Marcador de contenido 2">
            <a:extLst>
              <a:ext uri="{FF2B5EF4-FFF2-40B4-BE49-F238E27FC236}">
                <a16:creationId xmlns:a16="http://schemas.microsoft.com/office/drawing/2014/main" id="{514F9E7B-DD08-4414-23EF-CCFF5C8AE116}"/>
              </a:ext>
            </a:extLst>
          </p:cNvPr>
          <p:cNvSpPr txBox="1">
            <a:spLocks/>
          </p:cNvSpPr>
          <p:nvPr/>
        </p:nvSpPr>
        <p:spPr>
          <a:xfrm>
            <a:off x="838198" y="1603139"/>
            <a:ext cx="11032671" cy="47890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b="1" dirty="0"/>
              <a:t>Europa:</a:t>
            </a:r>
            <a:endParaRPr lang="es-ES" dirty="0"/>
          </a:p>
          <a:p>
            <a:pPr>
              <a:buFont typeface="Arial" panose="020B0604020202020204" pitchFamily="34" charset="0"/>
              <a:buChar char="•"/>
            </a:pPr>
            <a:r>
              <a:rPr lang="es-ES" b="1" dirty="0"/>
              <a:t>Características del Mercado:</a:t>
            </a:r>
            <a:r>
              <a:rPr lang="es-ES" dirty="0"/>
              <a:t> Europa tiene una fuerte demanda de productos refinados debido a su industria automotriz y necesidades de calefacción. La región es también un importante exportador de productos refinados.</a:t>
            </a:r>
          </a:p>
          <a:p>
            <a:pPr>
              <a:buFont typeface="Arial" panose="020B0604020202020204" pitchFamily="34" charset="0"/>
              <a:buChar char="•"/>
            </a:pPr>
            <a:r>
              <a:rPr lang="es-ES" b="1" dirty="0"/>
              <a:t>Productos Clave:</a:t>
            </a:r>
            <a:r>
              <a:rPr lang="es-ES" dirty="0"/>
              <a:t> Gasolina, diésel, y queroseno. El diésel es especialmente significativo debido a su uso en transporte y maquinaria.</a:t>
            </a:r>
          </a:p>
          <a:p>
            <a:pPr>
              <a:buFont typeface="Arial" panose="020B0604020202020204" pitchFamily="34" charset="0"/>
              <a:buChar char="•"/>
            </a:pPr>
            <a:r>
              <a:rPr lang="es-ES" b="1" dirty="0"/>
              <a:t>Datos de Consumo:</a:t>
            </a:r>
            <a:r>
              <a:rPr lang="es-ES" dirty="0"/>
              <a:t> La Unión Europea consume cerca de 11 millones de bpd de productos refinados, con una alta proporción destinada a diésel.</a:t>
            </a:r>
          </a:p>
          <a:p>
            <a:pPr marL="0" indent="0">
              <a:buFont typeface="Arial" panose="020B0604020202020204" pitchFamily="34" charset="0"/>
              <a:buNone/>
            </a:pPr>
            <a:endParaRPr lang="es-ES" b="1" dirty="0"/>
          </a:p>
          <a:p>
            <a:endParaRPr lang="es-ES" dirty="0"/>
          </a:p>
        </p:txBody>
      </p:sp>
    </p:spTree>
    <p:extLst>
      <p:ext uri="{BB962C8B-B14F-4D97-AF65-F5344CB8AC3E}">
        <p14:creationId xmlns:p14="http://schemas.microsoft.com/office/powerpoint/2010/main" val="2195672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endParaRPr lang="es-ES" b="1" dirty="0"/>
          </a:p>
          <a:p>
            <a:endParaRPr lang="es-ES" dirty="0"/>
          </a:p>
        </p:txBody>
      </p:sp>
      <p:sp>
        <p:nvSpPr>
          <p:cNvPr id="4" name="Marcador de contenido 2">
            <a:extLst>
              <a:ext uri="{FF2B5EF4-FFF2-40B4-BE49-F238E27FC236}">
                <a16:creationId xmlns:a16="http://schemas.microsoft.com/office/drawing/2014/main" id="{8A2AD1BC-2990-1D36-8E65-8A7352007226}"/>
              </a:ext>
            </a:extLst>
          </p:cNvPr>
          <p:cNvSpPr txBox="1">
            <a:spLocks/>
          </p:cNvSpPr>
          <p:nvPr/>
        </p:nvSpPr>
        <p:spPr>
          <a:xfrm>
            <a:off x="838198" y="1603139"/>
            <a:ext cx="11032671" cy="47890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b="1" dirty="0"/>
              <a:t>Asia-Pacífico:</a:t>
            </a:r>
            <a:endParaRPr lang="es-ES" dirty="0"/>
          </a:p>
          <a:p>
            <a:pPr>
              <a:buFont typeface="Arial" panose="020B0604020202020204" pitchFamily="34" charset="0"/>
              <a:buChar char="•"/>
            </a:pPr>
            <a:r>
              <a:rPr lang="es-ES" b="1" dirty="0"/>
              <a:t>Características del Mercado:</a:t>
            </a:r>
            <a:r>
              <a:rPr lang="es-ES" dirty="0"/>
              <a:t> La región muestra un crecimiento rápido en la demanda de productos refinados debido al desarrollo industrial y al aumento de la población.</a:t>
            </a:r>
          </a:p>
          <a:p>
            <a:pPr>
              <a:buFont typeface="Arial" panose="020B0604020202020204" pitchFamily="34" charset="0"/>
              <a:buChar char="•"/>
            </a:pPr>
            <a:r>
              <a:rPr lang="es-ES" b="1" dirty="0"/>
              <a:t>Productos Clave:</a:t>
            </a:r>
            <a:r>
              <a:rPr lang="es-ES" dirty="0"/>
              <a:t> Gasolina, diésel, y petroquímicos. China e India son los principales consumidores.</a:t>
            </a:r>
          </a:p>
          <a:p>
            <a:pPr>
              <a:buFont typeface="Arial" panose="020B0604020202020204" pitchFamily="34" charset="0"/>
              <a:buChar char="•"/>
            </a:pPr>
            <a:r>
              <a:rPr lang="es-ES" b="1" dirty="0"/>
              <a:t>Datos de Consumo:</a:t>
            </a:r>
            <a:r>
              <a:rPr lang="es-ES" dirty="0"/>
              <a:t> Asia-Pacífico consume más de 30 millones de bpd en total, con una fuerte demanda de diésel para transporte y maquinaria industrial.</a:t>
            </a:r>
          </a:p>
          <a:p>
            <a:pPr>
              <a:buFont typeface="Arial" panose="020B0604020202020204" pitchFamily="34" charset="0"/>
              <a:buChar char="•"/>
            </a:pPr>
            <a:r>
              <a:rPr lang="es-ES" dirty="0"/>
              <a:t>.</a:t>
            </a:r>
          </a:p>
          <a:p>
            <a:pPr marL="0" indent="0">
              <a:buFont typeface="Arial" panose="020B0604020202020204" pitchFamily="34" charset="0"/>
              <a:buNone/>
            </a:pPr>
            <a:endParaRPr lang="es-ES" b="1" dirty="0"/>
          </a:p>
          <a:p>
            <a:endParaRPr lang="es-ES" dirty="0"/>
          </a:p>
        </p:txBody>
      </p:sp>
    </p:spTree>
    <p:extLst>
      <p:ext uri="{BB962C8B-B14F-4D97-AF65-F5344CB8AC3E}">
        <p14:creationId xmlns:p14="http://schemas.microsoft.com/office/powerpoint/2010/main" val="766367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endParaRPr lang="es-ES" b="1" dirty="0"/>
          </a:p>
          <a:p>
            <a:endParaRPr lang="es-ES" dirty="0"/>
          </a:p>
        </p:txBody>
      </p:sp>
      <p:sp>
        <p:nvSpPr>
          <p:cNvPr id="4" name="Marcador de contenido 2">
            <a:extLst>
              <a:ext uri="{FF2B5EF4-FFF2-40B4-BE49-F238E27FC236}">
                <a16:creationId xmlns:a16="http://schemas.microsoft.com/office/drawing/2014/main" id="{A8BAF5C1-28DE-C9AF-6F58-F704DF0D7418}"/>
              </a:ext>
            </a:extLst>
          </p:cNvPr>
          <p:cNvSpPr txBox="1">
            <a:spLocks/>
          </p:cNvSpPr>
          <p:nvPr/>
        </p:nvSpPr>
        <p:spPr>
          <a:xfrm>
            <a:off x="838198" y="1603139"/>
            <a:ext cx="11032671" cy="47890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b="1" dirty="0"/>
              <a:t>América Latina:</a:t>
            </a:r>
            <a:endParaRPr lang="es-ES" dirty="0"/>
          </a:p>
          <a:p>
            <a:pPr>
              <a:buFont typeface="Arial" panose="020B0604020202020204" pitchFamily="34" charset="0"/>
              <a:buChar char="•"/>
            </a:pPr>
            <a:r>
              <a:rPr lang="es-ES" b="1" dirty="0"/>
              <a:t>Características del Mercado:</a:t>
            </a:r>
            <a:r>
              <a:rPr lang="es-ES" dirty="0"/>
              <a:t> La demanda varía entre países, con algunas economías grandes como Brasil y México mostrando una fuerte demanda de productos refinados.</a:t>
            </a:r>
          </a:p>
          <a:p>
            <a:pPr>
              <a:buFont typeface="Arial" panose="020B0604020202020204" pitchFamily="34" charset="0"/>
              <a:buChar char="•"/>
            </a:pPr>
            <a:r>
              <a:rPr lang="es-ES" b="1" dirty="0"/>
              <a:t>Productos Clave:</a:t>
            </a:r>
            <a:r>
              <a:rPr lang="es-ES" dirty="0"/>
              <a:t> Gasolina y diésel. La región también está incrementando su capacidad de refinación para reducir la dependencia de importaciones.</a:t>
            </a:r>
          </a:p>
          <a:p>
            <a:pPr>
              <a:buFont typeface="Arial" panose="020B0604020202020204" pitchFamily="34" charset="0"/>
              <a:buChar char="•"/>
            </a:pPr>
            <a:r>
              <a:rPr lang="es-ES" b="1" dirty="0"/>
              <a:t>Datos de Consumo:</a:t>
            </a:r>
            <a:r>
              <a:rPr lang="es-ES" dirty="0"/>
              <a:t> América Latina consume alrededor de 7 millones de bpd, con una alta proporción de gasolina y diésel.</a:t>
            </a:r>
          </a:p>
          <a:p>
            <a:pPr marL="0" indent="0">
              <a:buFont typeface="Arial" panose="020B0604020202020204" pitchFamily="34" charset="0"/>
              <a:buNone/>
            </a:pPr>
            <a:endParaRPr lang="es-ES" b="1" dirty="0"/>
          </a:p>
          <a:p>
            <a:endParaRPr lang="es-ES" dirty="0"/>
          </a:p>
        </p:txBody>
      </p:sp>
    </p:spTree>
    <p:extLst>
      <p:ext uri="{BB962C8B-B14F-4D97-AF65-F5344CB8AC3E}">
        <p14:creationId xmlns:p14="http://schemas.microsoft.com/office/powerpoint/2010/main" val="1267980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730829"/>
            <a:ext cx="11032671" cy="4849595"/>
          </a:xfrm>
        </p:spPr>
        <p:txBody>
          <a:bodyPr>
            <a:normAutofit/>
          </a:bodyPr>
          <a:lstStyle/>
          <a:p>
            <a:pPr marL="0" indent="0">
              <a:buNone/>
            </a:pPr>
            <a:r>
              <a:rPr lang="es-ES" b="1" dirty="0"/>
              <a:t>Precios de Referencia:</a:t>
            </a:r>
          </a:p>
          <a:p>
            <a:pPr marL="0" indent="0">
              <a:buNone/>
            </a:pPr>
            <a:endParaRPr lang="es-ES" dirty="0"/>
          </a:p>
          <a:p>
            <a:pPr>
              <a:buFont typeface="Arial" panose="020B0604020202020204" pitchFamily="34" charset="0"/>
              <a:buChar char="•"/>
            </a:pPr>
            <a:r>
              <a:rPr lang="es-ES" b="1" dirty="0"/>
              <a:t>Brent Crude:</a:t>
            </a:r>
            <a:r>
              <a:rPr lang="es-ES" dirty="0"/>
              <a:t> Precio de referencia para el crudo en Europa, utilizado para fijar precios de productos refinados en mercados internacionales.</a:t>
            </a:r>
          </a:p>
          <a:p>
            <a:pPr>
              <a:buFont typeface="Arial" panose="020B0604020202020204" pitchFamily="34" charset="0"/>
              <a:buChar char="•"/>
            </a:pPr>
            <a:r>
              <a:rPr lang="es-ES" b="1" dirty="0"/>
              <a:t>West Texas Intermediate (WTI):</a:t>
            </a:r>
            <a:r>
              <a:rPr lang="es-ES" dirty="0"/>
              <a:t> Precio de referencia para el crudo en EE.UU., utilizado para fijar precios en el mercado estadounidense.</a:t>
            </a:r>
          </a:p>
          <a:p>
            <a:pPr>
              <a:buFont typeface="Arial" panose="020B0604020202020204" pitchFamily="34" charset="0"/>
              <a:buChar char="•"/>
            </a:pPr>
            <a:r>
              <a:rPr lang="es-ES" b="1" dirty="0" err="1"/>
              <a:t>Dubai</a:t>
            </a:r>
            <a:r>
              <a:rPr lang="es-ES" b="1" dirty="0"/>
              <a:t> Crude:</a:t>
            </a:r>
            <a:r>
              <a:rPr lang="es-ES" dirty="0"/>
              <a:t> Utilizado como referencia para precios en el Medio Oriente y Asia.</a:t>
            </a:r>
          </a:p>
          <a:p>
            <a:endParaRPr lang="es-ES" dirty="0"/>
          </a:p>
        </p:txBody>
      </p:sp>
      <p:sp>
        <p:nvSpPr>
          <p:cNvPr id="4" name="Título 1">
            <a:extLst>
              <a:ext uri="{FF2B5EF4-FFF2-40B4-BE49-F238E27FC236}">
                <a16:creationId xmlns:a16="http://schemas.microsoft.com/office/drawing/2014/main" id="{F25E4C9E-3797-C8DA-5B5E-7B5E926CE6B7}"/>
              </a:ext>
            </a:extLst>
          </p:cNvPr>
          <p:cNvSpPr>
            <a:spLocks noGrp="1"/>
          </p:cNvSpPr>
          <p:nvPr>
            <p:ph type="title"/>
          </p:nvPr>
        </p:nvSpPr>
        <p:spPr>
          <a:xfrm>
            <a:off x="964660" y="277576"/>
            <a:ext cx="8897797" cy="1325563"/>
          </a:xfrm>
        </p:spPr>
        <p:txBody>
          <a:bodyPr>
            <a:normAutofit/>
          </a:bodyPr>
          <a:lstStyle/>
          <a:p>
            <a:r>
              <a:rPr lang="es-ES" sz="3200" dirty="0"/>
              <a:t>Definición de Precios de Productos Refinados</a:t>
            </a:r>
            <a:endParaRPr lang="es-ES" sz="6600" dirty="0"/>
          </a:p>
        </p:txBody>
      </p:sp>
    </p:spTree>
    <p:extLst>
      <p:ext uri="{BB962C8B-B14F-4D97-AF65-F5344CB8AC3E}">
        <p14:creationId xmlns:p14="http://schemas.microsoft.com/office/powerpoint/2010/main" val="1338950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b="1" dirty="0"/>
              <a:t>Factores que Afectan los Precios</a:t>
            </a:r>
            <a:br>
              <a:rPr lang="es-ES" sz="2800" dirty="0"/>
            </a:br>
            <a:endParaRPr lang="es-ES"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603139"/>
            <a:ext cx="11032671" cy="4789034"/>
          </a:xfrm>
        </p:spPr>
        <p:txBody>
          <a:bodyPr>
            <a:normAutofit fontScale="92500" lnSpcReduction="10000"/>
          </a:bodyPr>
          <a:lstStyle/>
          <a:p>
            <a:pPr>
              <a:buFont typeface="Arial" panose="020B0604020202020204" pitchFamily="34" charset="0"/>
              <a:buChar char="•"/>
            </a:pPr>
            <a:r>
              <a:rPr lang="es-ES" b="1" dirty="0"/>
              <a:t>Precios del Crudo:</a:t>
            </a:r>
            <a:r>
              <a:rPr lang="es-ES" dirty="0"/>
              <a:t> Los precios de los productos refinados están correlacionados con los precios del crudo, ya que el costo del crudo es el principal componente en el costo de refinación.</a:t>
            </a:r>
          </a:p>
          <a:p>
            <a:pPr>
              <a:buFont typeface="Arial" panose="020B0604020202020204" pitchFamily="34" charset="0"/>
              <a:buChar char="•"/>
            </a:pPr>
            <a:r>
              <a:rPr lang="es-ES" b="1" dirty="0"/>
              <a:t>Costos de Refinación:</a:t>
            </a:r>
            <a:r>
              <a:rPr lang="es-ES" dirty="0"/>
              <a:t> Incluyen gastos operativos y de mantenimiento de las refinerías, así como los costos de procesamiento específicos para cada tipo de crudo.</a:t>
            </a:r>
          </a:p>
          <a:p>
            <a:pPr>
              <a:buFont typeface="Arial" panose="020B0604020202020204" pitchFamily="34" charset="0"/>
              <a:buChar char="•"/>
            </a:pPr>
            <a:r>
              <a:rPr lang="es-ES" b="1" dirty="0"/>
              <a:t>Demandas Estacionales:</a:t>
            </a:r>
            <a:r>
              <a:rPr lang="es-ES" dirty="0"/>
              <a:t> Los precios pueden fluctuar según la demanda estacional, como un aumento en la demanda de gasolina en verano.</a:t>
            </a:r>
          </a:p>
          <a:p>
            <a:pPr>
              <a:buFont typeface="Arial" panose="020B0604020202020204" pitchFamily="34" charset="0"/>
              <a:buChar char="•"/>
            </a:pPr>
            <a:r>
              <a:rPr lang="es-ES" b="1" dirty="0"/>
              <a:t>Condiciones Geopolíticas:</a:t>
            </a:r>
            <a:r>
              <a:rPr lang="es-ES" dirty="0"/>
              <a:t> Las crisis geopolíticas pueden afectar los precios del crudo y, por ende, los precios de los productos refinados.</a:t>
            </a:r>
          </a:p>
          <a:p>
            <a:pPr>
              <a:buFont typeface="Arial" panose="020B0604020202020204" pitchFamily="34" charset="0"/>
              <a:buChar char="•"/>
            </a:pPr>
            <a:r>
              <a:rPr lang="es-ES" b="1" dirty="0"/>
              <a:t>Regulaciones Ambientales:</a:t>
            </a:r>
            <a:r>
              <a:rPr lang="es-ES" dirty="0"/>
              <a:t> Normas más estrictas sobre emisiones y calidad pueden aumentar los costos de refinación y afectar los precios.</a:t>
            </a:r>
          </a:p>
          <a:p>
            <a:endParaRPr lang="es-ES" dirty="0"/>
          </a:p>
        </p:txBody>
      </p:sp>
    </p:spTree>
    <p:extLst>
      <p:ext uri="{BB962C8B-B14F-4D97-AF65-F5344CB8AC3E}">
        <p14:creationId xmlns:p14="http://schemas.microsoft.com/office/powerpoint/2010/main" val="900471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Mercados Spot y Contratos a Futuro:</a:t>
            </a:r>
          </a:p>
          <a:p>
            <a:pPr marL="0" indent="0">
              <a:buNone/>
            </a:pPr>
            <a:endParaRPr lang="es-ES" dirty="0"/>
          </a:p>
          <a:p>
            <a:pPr>
              <a:buFont typeface="Arial" panose="020B0604020202020204" pitchFamily="34" charset="0"/>
              <a:buChar char="•"/>
            </a:pPr>
            <a:r>
              <a:rPr lang="es-ES" b="1" dirty="0"/>
              <a:t>Mercado Spot:</a:t>
            </a:r>
            <a:r>
              <a:rPr lang="es-ES" dirty="0"/>
              <a:t> Transacciones de productos refinados que se realizan para entrega inmediata, con precios que reflejan las condiciones actuales del mercado.</a:t>
            </a:r>
          </a:p>
          <a:p>
            <a:pPr>
              <a:buFont typeface="Arial" panose="020B0604020202020204" pitchFamily="34" charset="0"/>
              <a:buChar char="•"/>
            </a:pPr>
            <a:r>
              <a:rPr lang="es-ES" b="1" dirty="0"/>
              <a:t>Contratos a Futuro:</a:t>
            </a:r>
            <a:r>
              <a:rPr lang="es-ES" dirty="0"/>
              <a:t> Acuerdos para comprar o vender productos refinados a precios fijados para una fecha futura. Estos contratos ayudan a gestionar riesgos de precios y a estabilizar costos para los compradores y vendedores.</a:t>
            </a:r>
          </a:p>
          <a:p>
            <a:endParaRPr lang="es-ES" dirty="0"/>
          </a:p>
        </p:txBody>
      </p:sp>
    </p:spTree>
    <p:extLst>
      <p:ext uri="{BB962C8B-B14F-4D97-AF65-F5344CB8AC3E}">
        <p14:creationId xmlns:p14="http://schemas.microsoft.com/office/powerpoint/2010/main" val="2927205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723899" y="1159329"/>
            <a:ext cx="11032671" cy="5017635"/>
          </a:xfrm>
        </p:spPr>
        <p:txBody>
          <a:bodyPr>
            <a:normAutofit/>
          </a:bodyPr>
          <a:lstStyle/>
          <a:p>
            <a:pPr marL="0" indent="0">
              <a:buNone/>
            </a:pPr>
            <a:endParaRPr lang="es-ES" b="1" dirty="0"/>
          </a:p>
          <a:p>
            <a:pPr algn="just"/>
            <a:r>
              <a:rPr lang="es-ES" dirty="0"/>
              <a:t>La refinación de petróleo transforma crudos con diversas características en productos refinados que son esenciales para el transporte, la industria y el consumo diario. Los precios de estos productos están influenciados por los precios del crudo, los costos de refinación, la demanda estacional y otros factores del mercado. Los principales mercados para estos productos incluyen EE.UU., Europa, Asia-Pacífico y América Latina, cada uno con sus propias características y demandas. Los productos refinados tienen una amplia gama de aplicaciones, desde combustibles para transporte hasta materias primas para la industria química.</a:t>
            </a:r>
          </a:p>
        </p:txBody>
      </p:sp>
    </p:spTree>
    <p:extLst>
      <p:ext uri="{BB962C8B-B14F-4D97-AF65-F5344CB8AC3E}">
        <p14:creationId xmlns:p14="http://schemas.microsoft.com/office/powerpoint/2010/main" val="351129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endParaRPr lang="es-ES" dirty="0"/>
          </a:p>
          <a:p>
            <a:r>
              <a:rPr lang="es-ES" dirty="0"/>
              <a:t>Es gas natural que ha sido enfriado a aproximadamente -160°C (-260°F) para convertirlo en un líquido. Este proceso reduce su volumen en unas 600 veces, facilitando su almacenamiento y transporte.</a:t>
            </a:r>
          </a:p>
          <a:p>
            <a:pPr marL="0" indent="0">
              <a:buNone/>
            </a:pPr>
            <a:endParaRPr lang="es-ES" b="1" dirty="0"/>
          </a:p>
          <a:p>
            <a:pPr marL="0" indent="0">
              <a:buNone/>
            </a:pPr>
            <a:r>
              <a:rPr lang="es-ES" b="1" dirty="0"/>
              <a:t>Composición:</a:t>
            </a:r>
            <a:endParaRPr lang="es-ES" dirty="0"/>
          </a:p>
          <a:p>
            <a:pPr>
              <a:buFont typeface="Arial" panose="020B0604020202020204" pitchFamily="34" charset="0"/>
              <a:buChar char="•"/>
            </a:pPr>
            <a:r>
              <a:rPr lang="es-ES" b="1" dirty="0"/>
              <a:t>Principal Componente:</a:t>
            </a:r>
            <a:r>
              <a:rPr lang="es-ES" dirty="0"/>
              <a:t> Metano (CH₄), que constituye aproximadamente el 70-90% del GNL.</a:t>
            </a:r>
          </a:p>
          <a:p>
            <a:pPr>
              <a:buFont typeface="Arial" panose="020B0604020202020204" pitchFamily="34" charset="0"/>
              <a:buChar char="•"/>
            </a:pPr>
            <a:r>
              <a:rPr lang="es-ES" b="1" dirty="0"/>
              <a:t>Otros Componentes:</a:t>
            </a:r>
            <a:r>
              <a:rPr lang="es-ES" dirty="0"/>
              <a:t> Puede contener etano (C₂H₆), propano (C₃H₈), butano (C₄H₁₀), dióxido de carbono (CO₂), y trazas de otros gases.</a:t>
            </a:r>
          </a:p>
          <a:p>
            <a:endParaRPr lang="es-ES" dirty="0"/>
          </a:p>
        </p:txBody>
      </p:sp>
      <p:sp>
        <p:nvSpPr>
          <p:cNvPr id="4" name="Título 1">
            <a:extLst>
              <a:ext uri="{FF2B5EF4-FFF2-40B4-BE49-F238E27FC236}">
                <a16:creationId xmlns:a16="http://schemas.microsoft.com/office/drawing/2014/main" id="{514968E5-06E3-AAE0-19DE-11C19BAAB7B6}"/>
              </a:ext>
            </a:extLst>
          </p:cNvPr>
          <p:cNvSpPr>
            <a:spLocks noGrp="1"/>
          </p:cNvSpPr>
          <p:nvPr>
            <p:ph type="title"/>
          </p:nvPr>
        </p:nvSpPr>
        <p:spPr>
          <a:xfrm>
            <a:off x="964660" y="277576"/>
            <a:ext cx="8897797" cy="1325563"/>
          </a:xfrm>
        </p:spPr>
        <p:txBody>
          <a:bodyPr>
            <a:normAutofit/>
          </a:bodyPr>
          <a:lstStyle/>
          <a:p>
            <a:r>
              <a:rPr lang="es-ES" sz="3200" dirty="0"/>
              <a:t>Gas Natural Licuado</a:t>
            </a:r>
            <a:endParaRPr lang="es-ES" sz="6600" dirty="0"/>
          </a:p>
        </p:txBody>
      </p:sp>
    </p:spTree>
    <p:extLst>
      <p:ext uri="{BB962C8B-B14F-4D97-AF65-F5344CB8AC3E}">
        <p14:creationId xmlns:p14="http://schemas.microsoft.com/office/powerpoint/2010/main" val="1626668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Ventajas del GNL:</a:t>
            </a:r>
            <a:endParaRPr lang="es-ES" dirty="0"/>
          </a:p>
          <a:p>
            <a:pPr>
              <a:buFont typeface="Arial" panose="020B0604020202020204" pitchFamily="34" charset="0"/>
              <a:buChar char="•"/>
            </a:pPr>
            <a:r>
              <a:rPr lang="es-ES" b="1" dirty="0"/>
              <a:t>Almacenamiento y Transporte Eficientes: </a:t>
            </a:r>
            <a:r>
              <a:rPr lang="es-ES" dirty="0"/>
              <a:t>El GNL facilita el transporte marítimo y almacenamiento a larga distancia debido a su menor volumen en comparación con el gas natural en estado gaseoso.</a:t>
            </a:r>
          </a:p>
          <a:p>
            <a:pPr>
              <a:buFont typeface="Arial" panose="020B0604020202020204" pitchFamily="34" charset="0"/>
              <a:buChar char="•"/>
            </a:pPr>
            <a:r>
              <a:rPr lang="es-ES" b="1" dirty="0"/>
              <a:t>Flexibilidad de Mercado:</a:t>
            </a:r>
            <a:r>
              <a:rPr lang="es-ES" dirty="0"/>
              <a:t> Permite el comercio internacional y el acceso a mercados que no tienen infraestructura de gasoductos.</a:t>
            </a:r>
          </a:p>
          <a:p>
            <a:pPr>
              <a:buFont typeface="Arial" panose="020B0604020202020204" pitchFamily="34" charset="0"/>
              <a:buChar char="•"/>
            </a:pPr>
            <a:r>
              <a:rPr lang="es-ES" b="1" dirty="0"/>
              <a:t>Bajo Impacto Ambiental:</a:t>
            </a:r>
            <a:r>
              <a:rPr lang="es-ES" dirty="0"/>
              <a:t> Emite menos CO₂ por unidad de energía en comparación con otros combustibles fósiles cuando se quema.</a:t>
            </a:r>
          </a:p>
          <a:p>
            <a:endParaRPr lang="es-ES" dirty="0"/>
          </a:p>
        </p:txBody>
      </p:sp>
    </p:spTree>
    <p:extLst>
      <p:ext uri="{BB962C8B-B14F-4D97-AF65-F5344CB8AC3E}">
        <p14:creationId xmlns:p14="http://schemas.microsoft.com/office/powerpoint/2010/main" val="79184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Proceso de </a:t>
            </a:r>
            <a:r>
              <a:rPr lang="es-ES" sz="2800" dirty="0" err="1"/>
              <a:t>Licuefaccion</a:t>
            </a:r>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Etapas del Proceso:</a:t>
            </a:r>
            <a:endParaRPr lang="es-ES" dirty="0"/>
          </a:p>
          <a:p>
            <a:r>
              <a:rPr lang="es-ES" b="1" dirty="0"/>
              <a:t> Pretratamiento:</a:t>
            </a:r>
            <a:endParaRPr lang="es-ES" dirty="0"/>
          </a:p>
          <a:p>
            <a:pPr>
              <a:buFont typeface="Arial" panose="020B0604020202020204" pitchFamily="34" charset="0"/>
              <a:buChar char="•"/>
            </a:pPr>
            <a:r>
              <a:rPr lang="es-ES" b="1" dirty="0"/>
              <a:t>Deshidratación:</a:t>
            </a:r>
            <a:r>
              <a:rPr lang="es-ES" dirty="0"/>
              <a:t> El gas natural se deshidrata para eliminar el vapor de agua, evitando la formación de hidratos durante el enfriamiento.</a:t>
            </a:r>
          </a:p>
          <a:p>
            <a:pPr>
              <a:buFont typeface="Arial" panose="020B0604020202020204" pitchFamily="34" charset="0"/>
              <a:buChar char="•"/>
            </a:pPr>
            <a:r>
              <a:rPr lang="es-ES" b="1" dirty="0"/>
              <a:t>Desulfurización:</a:t>
            </a:r>
            <a:r>
              <a:rPr lang="es-ES" dirty="0"/>
              <a:t> Se eliminan los compuestos de azufre, como el ácido sulfhídrico (H₂S) y el dióxido de azufre (SO₂), para prevenir corrosión y problemas en el proceso de licuefacción.</a:t>
            </a:r>
          </a:p>
          <a:p>
            <a:pPr>
              <a:buFont typeface="Arial" panose="020B0604020202020204" pitchFamily="34" charset="0"/>
              <a:buChar char="•"/>
            </a:pPr>
            <a:r>
              <a:rPr lang="es-ES" b="1" dirty="0"/>
              <a:t>Eliminación de CO₂:</a:t>
            </a:r>
            <a:r>
              <a:rPr lang="es-ES" dirty="0"/>
              <a:t> El dióxido de carbono (CO₂) se elimina para prevenir la formación de hielo en las etapas de enfriamiento.</a:t>
            </a:r>
          </a:p>
          <a:p>
            <a:endParaRPr lang="es-ES" dirty="0"/>
          </a:p>
        </p:txBody>
      </p:sp>
    </p:spTree>
    <p:extLst>
      <p:ext uri="{BB962C8B-B14F-4D97-AF65-F5344CB8AC3E}">
        <p14:creationId xmlns:p14="http://schemas.microsoft.com/office/powerpoint/2010/main" val="2240539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Enfriamiento:</a:t>
            </a:r>
            <a:endParaRPr lang="es-ES" dirty="0"/>
          </a:p>
          <a:p>
            <a:pPr>
              <a:buFont typeface="Arial" panose="020B0604020202020204" pitchFamily="34" charset="0"/>
              <a:buChar char="•"/>
            </a:pPr>
            <a:r>
              <a:rPr lang="es-ES" b="1" dirty="0"/>
              <a:t>Enfriamiento Previo:</a:t>
            </a:r>
            <a:r>
              <a:rPr lang="es-ES" dirty="0"/>
              <a:t> El gas se enfría a temperaturas </a:t>
            </a:r>
            <a:r>
              <a:rPr lang="es-ES" dirty="0" err="1"/>
              <a:t>subambientales</a:t>
            </a:r>
            <a:r>
              <a:rPr lang="es-ES" dirty="0"/>
              <a:t> usando intercambiadores de calor, utilizando refrigerantes como etano o propano.</a:t>
            </a:r>
          </a:p>
          <a:p>
            <a:pPr>
              <a:buFont typeface="Arial" panose="020B0604020202020204" pitchFamily="34" charset="0"/>
              <a:buChar char="•"/>
            </a:pPr>
            <a:r>
              <a:rPr lang="es-ES" b="1" dirty="0"/>
              <a:t>Licuefacción:</a:t>
            </a:r>
            <a:r>
              <a:rPr lang="es-ES" dirty="0"/>
              <a:t> El gas se enfría a -160°C (-260°F) usando un ciclo de refrigeración basado en refrigerantes como el nitrógeno. Se emplean diferentes ciclos de refrigeración, como el ciclo de refrigeración de ciclo combinado o el ciclo de refrigeración por expansión de gas.</a:t>
            </a:r>
          </a:p>
          <a:p>
            <a:endParaRPr lang="es-ES" dirty="0"/>
          </a:p>
        </p:txBody>
      </p:sp>
    </p:spTree>
    <p:extLst>
      <p:ext uri="{BB962C8B-B14F-4D97-AF65-F5344CB8AC3E}">
        <p14:creationId xmlns:p14="http://schemas.microsoft.com/office/powerpoint/2010/main" val="2317707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Almacenamiento:</a:t>
            </a:r>
            <a:endParaRPr lang="es-ES" dirty="0"/>
          </a:p>
          <a:p>
            <a:pPr>
              <a:buFont typeface="Arial" panose="020B0604020202020204" pitchFamily="34" charset="0"/>
              <a:buChar char="•"/>
            </a:pPr>
            <a:r>
              <a:rPr lang="es-ES" b="1" dirty="0"/>
              <a:t>Tanques Criogénicos:</a:t>
            </a:r>
            <a:r>
              <a:rPr lang="es-ES" dirty="0"/>
              <a:t> El GNL se almacena en tanques criogénicos diseñados para mantener la temperatura extremadamente baja, generalmente en condiciones de presión atmosférica o ligeramente superior.</a:t>
            </a:r>
          </a:p>
          <a:p>
            <a:pPr>
              <a:buFont typeface="Arial" panose="020B0604020202020204" pitchFamily="34" charset="0"/>
              <a:buChar char="•"/>
            </a:pPr>
            <a:r>
              <a:rPr lang="es-ES" b="1" dirty="0"/>
              <a:t>Seguridad:</a:t>
            </a:r>
            <a:r>
              <a:rPr lang="es-ES" dirty="0"/>
              <a:t> Los tanques están diseñados para manejar la presión y las bajas temperaturas, con sistemas de aislamiento y monitoreo.</a:t>
            </a:r>
          </a:p>
          <a:p>
            <a:endParaRPr lang="es-ES" dirty="0"/>
          </a:p>
        </p:txBody>
      </p:sp>
    </p:spTree>
    <p:extLst>
      <p:ext uri="{BB962C8B-B14F-4D97-AF65-F5344CB8AC3E}">
        <p14:creationId xmlns:p14="http://schemas.microsoft.com/office/powerpoint/2010/main" val="2465539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Transporte:</a:t>
            </a:r>
            <a:endParaRPr lang="es-ES" dirty="0"/>
          </a:p>
          <a:p>
            <a:pPr>
              <a:buFont typeface="Arial" panose="020B0604020202020204" pitchFamily="34" charset="0"/>
              <a:buChar char="•"/>
            </a:pPr>
            <a:r>
              <a:rPr lang="es-ES" b="1" dirty="0"/>
              <a:t>Buques Tanque para GNL:</a:t>
            </a:r>
            <a:r>
              <a:rPr lang="es-ES" dirty="0"/>
              <a:t> El GNL se transporta en buques especializados diseñados para mantener el gas a temperaturas criogénicas durante el viaje.</a:t>
            </a:r>
          </a:p>
          <a:p>
            <a:pPr>
              <a:buFont typeface="Arial" panose="020B0604020202020204" pitchFamily="34" charset="0"/>
              <a:buChar char="•"/>
            </a:pPr>
            <a:r>
              <a:rPr lang="es-ES" b="1" dirty="0"/>
              <a:t>Infraestructura Portuaria:</a:t>
            </a:r>
            <a:r>
              <a:rPr lang="es-ES" dirty="0"/>
              <a:t> Los puertos deben estar equipados con sistemas de carga y descarga adaptados para el manejo seguro del GNL.</a:t>
            </a:r>
          </a:p>
          <a:p>
            <a:endParaRPr lang="es-ES" dirty="0"/>
          </a:p>
        </p:txBody>
      </p:sp>
    </p:spTree>
    <p:extLst>
      <p:ext uri="{BB962C8B-B14F-4D97-AF65-F5344CB8AC3E}">
        <p14:creationId xmlns:p14="http://schemas.microsoft.com/office/powerpoint/2010/main" val="2707481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Comercialización del GNL en Perú</a:t>
            </a:r>
            <a:endParaRPr lang="es-ES" sz="60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Contexto General:</a:t>
            </a:r>
            <a:endParaRPr lang="es-ES" dirty="0"/>
          </a:p>
          <a:p>
            <a:pPr>
              <a:buFont typeface="Arial" panose="020B0604020202020204" pitchFamily="34" charset="0"/>
              <a:buChar char="•"/>
            </a:pPr>
            <a:r>
              <a:rPr lang="es-ES" b="1" dirty="0"/>
              <a:t>Producción de GNL en Perú:</a:t>
            </a:r>
            <a:r>
              <a:rPr lang="es-ES" dirty="0"/>
              <a:t> Perú es uno de los principales productores de GNL en América Latina. El país tiene infraestructura de licuefacción en la planta de </a:t>
            </a:r>
            <a:r>
              <a:rPr lang="es-ES" b="1" dirty="0"/>
              <a:t>Pampa </a:t>
            </a:r>
            <a:r>
              <a:rPr lang="es-ES" b="1" dirty="0" err="1"/>
              <a:t>Melchorita</a:t>
            </a:r>
            <a:r>
              <a:rPr lang="es-ES" dirty="0"/>
              <a:t>, ubicada en la costa sur del país, cerca de la ciudad de San Bartolo.</a:t>
            </a:r>
          </a:p>
          <a:p>
            <a:pPr>
              <a:buFont typeface="Arial" panose="020B0604020202020204" pitchFamily="34" charset="0"/>
              <a:buChar char="•"/>
            </a:pPr>
            <a:r>
              <a:rPr lang="es-ES" b="1" dirty="0"/>
              <a:t>Capacidad de Producción:</a:t>
            </a:r>
            <a:r>
              <a:rPr lang="es-ES" dirty="0"/>
              <a:t> La planta de Pampa </a:t>
            </a:r>
            <a:r>
              <a:rPr lang="es-ES" dirty="0" err="1"/>
              <a:t>Melchorita</a:t>
            </a:r>
            <a:r>
              <a:rPr lang="es-ES" dirty="0"/>
              <a:t> tiene una capacidad de licuefacción de aproximadamente 4.5 millones de toneladas de GNL por año.</a:t>
            </a:r>
          </a:p>
          <a:p>
            <a:endParaRPr lang="es-ES" dirty="0"/>
          </a:p>
        </p:txBody>
      </p:sp>
    </p:spTree>
    <p:extLst>
      <p:ext uri="{BB962C8B-B14F-4D97-AF65-F5344CB8AC3E}">
        <p14:creationId xmlns:p14="http://schemas.microsoft.com/office/powerpoint/2010/main" val="1509259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Infraestructura:</a:t>
            </a:r>
            <a:endParaRPr lang="es-ES" dirty="0"/>
          </a:p>
          <a:p>
            <a:pPr>
              <a:buFont typeface="Arial" panose="020B0604020202020204" pitchFamily="34" charset="0"/>
              <a:buChar char="•"/>
            </a:pPr>
            <a:r>
              <a:rPr lang="es-ES" b="1" dirty="0"/>
              <a:t>Planta de Licuefacción:</a:t>
            </a:r>
            <a:r>
              <a:rPr lang="es-ES" dirty="0"/>
              <a:t> </a:t>
            </a:r>
            <a:r>
              <a:rPr lang="es-ES" b="1" dirty="0"/>
              <a:t>Planta de Pampa </a:t>
            </a:r>
            <a:r>
              <a:rPr lang="es-ES" b="1" dirty="0" err="1"/>
              <a:t>Melchorita</a:t>
            </a:r>
            <a:r>
              <a:rPr lang="es-ES" dirty="0"/>
              <a:t> - Es la principal instalación de licuefacción en Perú. La planta utiliza un proceso de licuefacción basado en ciclos de refrigeración de nitrógeno para enfriar el gas natural.</a:t>
            </a:r>
          </a:p>
          <a:p>
            <a:pPr>
              <a:buFont typeface="Arial" panose="020B0604020202020204" pitchFamily="34" charset="0"/>
              <a:buChar char="•"/>
            </a:pPr>
            <a:r>
              <a:rPr lang="es-ES" b="1" dirty="0"/>
              <a:t>Terminales de Exportación:</a:t>
            </a:r>
            <a:r>
              <a:rPr lang="es-ES" dirty="0"/>
              <a:t> La planta cuenta con instalaciones de carga de GNL en buques tanque. El puerto más cercano es el puerto de </a:t>
            </a:r>
            <a:r>
              <a:rPr lang="es-ES" b="1" dirty="0"/>
              <a:t>Callao</a:t>
            </a:r>
            <a:r>
              <a:rPr lang="es-ES" dirty="0"/>
              <a:t>, que se utiliza para la exportación de GNL.</a:t>
            </a:r>
          </a:p>
          <a:p>
            <a:endParaRPr lang="es-ES" dirty="0"/>
          </a:p>
        </p:txBody>
      </p:sp>
    </p:spTree>
    <p:extLst>
      <p:ext uri="{BB962C8B-B14F-4D97-AF65-F5344CB8AC3E}">
        <p14:creationId xmlns:p14="http://schemas.microsoft.com/office/powerpoint/2010/main" val="3076318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r>
              <a:rPr lang="es-ES" b="1" dirty="0"/>
              <a:t>Comercialización:</a:t>
            </a:r>
            <a:endParaRPr lang="es-ES" dirty="0"/>
          </a:p>
          <a:p>
            <a:pPr>
              <a:buFont typeface="Arial" panose="020B0604020202020204" pitchFamily="34" charset="0"/>
              <a:buChar char="•"/>
            </a:pPr>
            <a:r>
              <a:rPr lang="es-ES" b="1" dirty="0"/>
              <a:t>Exportaciones:</a:t>
            </a:r>
            <a:r>
              <a:rPr lang="es-ES" dirty="0"/>
              <a:t> Perú exporta GNL a varios mercados internacionales, incluyendo Asia y América del Norte. Los principales destinos de exportación incluyen Japón, Corea del Sur y México.</a:t>
            </a:r>
          </a:p>
          <a:p>
            <a:pPr>
              <a:buFont typeface="Arial" panose="020B0604020202020204" pitchFamily="34" charset="0"/>
              <a:buChar char="•"/>
            </a:pPr>
            <a:r>
              <a:rPr lang="es-ES" b="1" dirty="0"/>
              <a:t>Contratos de Largo Plazo y Ventas Spot:</a:t>
            </a:r>
            <a:r>
              <a:rPr lang="es-ES" dirty="0"/>
              <a:t> El GNL peruano se comercializa tanto a través de contratos a largo plazo como en el mercado spot. Los contratos a largo plazo proporcionan estabilidad y seguridad en el suministro, mientras que las ventas spot permiten flexibilidad para adaptarse a las condiciones del mercado.</a:t>
            </a:r>
          </a:p>
          <a:p>
            <a:pPr>
              <a:buFont typeface="Arial" panose="020B0604020202020204" pitchFamily="34" charset="0"/>
              <a:buChar char="•"/>
            </a:pPr>
            <a:r>
              <a:rPr lang="es-ES" b="1" dirty="0"/>
              <a:t>Precios y Referencias:</a:t>
            </a:r>
            <a:r>
              <a:rPr lang="es-ES" dirty="0"/>
              <a:t> Los precios del GNL están influenciados por los precios del petróleo y los índices de precios del GNL en mercados internacionales. En Asia, el índice JKM (</a:t>
            </a:r>
            <a:r>
              <a:rPr lang="es-ES" dirty="0" err="1"/>
              <a:t>Japan</a:t>
            </a:r>
            <a:r>
              <a:rPr lang="es-ES" dirty="0"/>
              <a:t> </a:t>
            </a:r>
            <a:r>
              <a:rPr lang="es-ES" dirty="0" err="1"/>
              <a:t>Korea</a:t>
            </a:r>
            <a:r>
              <a:rPr lang="es-ES" dirty="0"/>
              <a:t> </a:t>
            </a:r>
            <a:r>
              <a:rPr lang="es-ES" dirty="0" err="1"/>
              <a:t>Marker</a:t>
            </a:r>
            <a:r>
              <a:rPr lang="es-ES" dirty="0"/>
              <a:t>) es una referencia importante para los precios del GNL.</a:t>
            </a:r>
          </a:p>
          <a:p>
            <a:endParaRPr lang="es-ES" dirty="0"/>
          </a:p>
        </p:txBody>
      </p:sp>
    </p:spTree>
    <p:extLst>
      <p:ext uri="{BB962C8B-B14F-4D97-AF65-F5344CB8AC3E}">
        <p14:creationId xmlns:p14="http://schemas.microsoft.com/office/powerpoint/2010/main" val="4093622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CONTRATO CON JAPON</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marL="0" indent="0">
              <a:buNone/>
            </a:pPr>
            <a:r>
              <a:rPr lang="es-ES" b="1" dirty="0"/>
              <a:t>Contexto del contrato con Japón</a:t>
            </a:r>
            <a:endParaRPr lang="es-ES" dirty="0"/>
          </a:p>
          <a:p>
            <a:pPr marL="0" indent="0">
              <a:buNone/>
            </a:pPr>
            <a:r>
              <a:rPr lang="es-ES" b="1" dirty="0"/>
              <a:t>Importancia de Japón como Importador de GNL:</a:t>
            </a:r>
            <a:endParaRPr lang="es-ES" dirty="0"/>
          </a:p>
          <a:p>
            <a:pPr>
              <a:buFont typeface="Arial" panose="020B0604020202020204" pitchFamily="34" charset="0"/>
              <a:buChar char="•"/>
            </a:pPr>
            <a:r>
              <a:rPr lang="es-ES" b="1" dirty="0"/>
              <a:t>Posición Global:</a:t>
            </a:r>
            <a:r>
              <a:rPr lang="es-ES" dirty="0"/>
              <a:t> Japón es uno de los mayores importadores de GNL del mundo. Su dependencia del GNL es alta debido a la falta de recursos energéticos nacionales y su infraestructura limitada para producción de energía interna.</a:t>
            </a:r>
          </a:p>
          <a:p>
            <a:pPr>
              <a:buFont typeface="Arial" panose="020B0604020202020204" pitchFamily="34" charset="0"/>
              <a:buChar char="•"/>
            </a:pPr>
            <a:r>
              <a:rPr lang="es-ES" b="1" dirty="0"/>
              <a:t>Demanda de GNL:</a:t>
            </a:r>
            <a:r>
              <a:rPr lang="es-ES" dirty="0"/>
              <a:t> Japón utiliza GNL principalmente para generación de electricidad, calefacción y como materia prima para la industria química.</a:t>
            </a:r>
          </a:p>
          <a:p>
            <a:pPr marL="0" indent="0">
              <a:buNone/>
            </a:pPr>
            <a:r>
              <a:rPr lang="es-ES" b="1" dirty="0"/>
              <a:t>Relación Comercial entre Perú y Japón:</a:t>
            </a:r>
            <a:endParaRPr lang="es-ES" dirty="0"/>
          </a:p>
          <a:p>
            <a:pPr>
              <a:buFont typeface="Arial" panose="020B0604020202020204" pitchFamily="34" charset="0"/>
              <a:buChar char="•"/>
            </a:pPr>
            <a:r>
              <a:rPr lang="es-ES" b="1" dirty="0"/>
              <a:t>Historia de Cooperación:</a:t>
            </a:r>
            <a:r>
              <a:rPr lang="es-ES" dirty="0"/>
              <a:t> La relación comercial en GNL entre Perú y Japón ha sido estable y de largo plazo. Perú se ha convertido en un proveedor clave para Japón debido a su capacidad de producción y exportación de GNL desde la planta de Pampa </a:t>
            </a:r>
            <a:r>
              <a:rPr lang="es-ES" dirty="0" err="1"/>
              <a:t>Melchorita</a:t>
            </a:r>
            <a:r>
              <a:rPr lang="es-ES" dirty="0"/>
              <a:t>.</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407231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DETALLES DEL CONTRATO</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Tipo de Contrato:</a:t>
            </a:r>
            <a:endParaRPr lang="es-ES" dirty="0"/>
          </a:p>
          <a:p>
            <a:pPr>
              <a:buFont typeface="Arial" panose="020B0604020202020204" pitchFamily="34" charset="0"/>
              <a:buChar char="•"/>
            </a:pPr>
            <a:r>
              <a:rPr lang="es-ES" b="1" dirty="0"/>
              <a:t>Contratos a Largo Plazo:</a:t>
            </a:r>
            <a:r>
              <a:rPr lang="es-ES" dirty="0"/>
              <a:t> Los contratos entre Perú y Japón suelen ser a largo plazo, con una duración que puede variar entre 10 y 20 años. Estos contratos ofrecen estabilidad y previsibilidad tanto para el comprador como para el vendedor.</a:t>
            </a:r>
          </a:p>
          <a:p>
            <a:pPr>
              <a:buFont typeface="Arial" panose="020B0604020202020204" pitchFamily="34" charset="0"/>
              <a:buChar char="•"/>
            </a:pPr>
            <a:r>
              <a:rPr lang="es-ES" b="1" dirty="0"/>
              <a:t>Cantidad de GNL:</a:t>
            </a:r>
            <a:r>
              <a:rPr lang="es-ES" dirty="0"/>
              <a:t> Los contratos especifican un volumen anual de GNL que se compromete a suministrar. Por ejemplo, algunos contratos han estipulado cantidades que pueden oscilar entre 0.5 y 1 millón de toneladas por año.</a:t>
            </a:r>
          </a:p>
          <a:p>
            <a:endParaRPr lang="es-ES" dirty="0"/>
          </a:p>
        </p:txBody>
      </p:sp>
    </p:spTree>
    <p:extLst>
      <p:ext uri="{BB962C8B-B14F-4D97-AF65-F5344CB8AC3E}">
        <p14:creationId xmlns:p14="http://schemas.microsoft.com/office/powerpoint/2010/main" val="3364154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Condiciones Contractuales:</a:t>
            </a:r>
            <a:endParaRPr lang="es-ES" dirty="0"/>
          </a:p>
          <a:p>
            <a:pPr>
              <a:buFont typeface="Arial" panose="020B0604020202020204" pitchFamily="34" charset="0"/>
              <a:buChar char="•"/>
            </a:pPr>
            <a:r>
              <a:rPr lang="es-ES" b="1" dirty="0"/>
              <a:t>Precios:</a:t>
            </a:r>
            <a:r>
              <a:rPr lang="es-ES" dirty="0"/>
              <a:t> Los precios del GNL en los contratos a largo plazo generalmente están indexados a los precios del petróleo crudo, como el Brent o el WTI. El precio del GNL suele estar vinculado a un índice específico, como el índice JKM (</a:t>
            </a:r>
            <a:r>
              <a:rPr lang="es-ES" dirty="0" err="1"/>
              <a:t>Japan</a:t>
            </a:r>
            <a:r>
              <a:rPr lang="es-ES" dirty="0"/>
              <a:t> </a:t>
            </a:r>
            <a:r>
              <a:rPr lang="es-ES" dirty="0" err="1"/>
              <a:t>Korea</a:t>
            </a:r>
            <a:r>
              <a:rPr lang="es-ES" dirty="0"/>
              <a:t> </a:t>
            </a:r>
            <a:r>
              <a:rPr lang="es-ES" dirty="0" err="1"/>
              <a:t>Marker</a:t>
            </a:r>
            <a:r>
              <a:rPr lang="es-ES" dirty="0"/>
              <a:t>) en Asia.</a:t>
            </a:r>
          </a:p>
          <a:p>
            <a:pPr>
              <a:buFont typeface="Arial" panose="020B0604020202020204" pitchFamily="34" charset="0"/>
              <a:buChar char="•"/>
            </a:pPr>
            <a:r>
              <a:rPr lang="es-ES" b="1" dirty="0"/>
              <a:t>Flexibilidad:</a:t>
            </a:r>
            <a:r>
              <a:rPr lang="es-ES" dirty="0"/>
              <a:t> Aunque los contratos a largo plazo ofrecen estabilidad, pueden incluir cláusulas de flexibilidad para ajustar volúmenes y precios en función de las condiciones del mercado o cambios en la demanda.</a:t>
            </a:r>
          </a:p>
          <a:p>
            <a:endParaRPr lang="es-ES" dirty="0"/>
          </a:p>
        </p:txBody>
      </p:sp>
    </p:spTree>
    <p:extLst>
      <p:ext uri="{BB962C8B-B14F-4D97-AF65-F5344CB8AC3E}">
        <p14:creationId xmlns:p14="http://schemas.microsoft.com/office/powerpoint/2010/main" val="14324917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Procedimiento de Entrega:</a:t>
            </a:r>
            <a:endParaRPr lang="es-ES" dirty="0"/>
          </a:p>
          <a:p>
            <a:pPr>
              <a:buFont typeface="Arial" panose="020B0604020202020204" pitchFamily="34" charset="0"/>
              <a:buChar char="•"/>
            </a:pPr>
            <a:r>
              <a:rPr lang="es-ES" b="1" dirty="0"/>
              <a:t>Frecuencia de Entregas:</a:t>
            </a:r>
            <a:r>
              <a:rPr lang="es-ES" dirty="0"/>
              <a:t> Los contratos establecen un calendario de entregas, que puede ser mensual, trimestral o anual, dependiendo del acuerdo específico.</a:t>
            </a:r>
          </a:p>
          <a:p>
            <a:pPr>
              <a:buFont typeface="Arial" panose="020B0604020202020204" pitchFamily="34" charset="0"/>
              <a:buChar char="•"/>
            </a:pPr>
            <a:r>
              <a:rPr lang="es-ES" b="1" dirty="0"/>
              <a:t>Transporte:</a:t>
            </a:r>
            <a:r>
              <a:rPr lang="es-ES" dirty="0"/>
              <a:t> El GNL se transporta en metaneros (buques especializados) desde la planta de Pampa </a:t>
            </a:r>
            <a:r>
              <a:rPr lang="es-ES" dirty="0" err="1"/>
              <a:t>Melchorita</a:t>
            </a:r>
            <a:r>
              <a:rPr lang="es-ES" dirty="0"/>
              <a:t> en Perú hasta los terminales de recepción en Japón. Los puertos de destino en Japón incluyen lugares como el Puerto de Yokohama y el Puerto de Kobe.</a:t>
            </a:r>
          </a:p>
          <a:p>
            <a:endParaRPr lang="es-ES" dirty="0"/>
          </a:p>
        </p:txBody>
      </p:sp>
    </p:spTree>
    <p:extLst>
      <p:ext uri="{BB962C8B-B14F-4D97-AF65-F5344CB8AC3E}">
        <p14:creationId xmlns:p14="http://schemas.microsoft.com/office/powerpoint/2010/main" val="2482711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Responsabilidades de las Partes:</a:t>
            </a:r>
            <a:endParaRPr lang="es-ES" dirty="0"/>
          </a:p>
          <a:p>
            <a:pPr>
              <a:buFont typeface="Arial" panose="020B0604020202020204" pitchFamily="34" charset="0"/>
              <a:buChar char="•"/>
            </a:pPr>
            <a:r>
              <a:rPr lang="es-ES" b="1" dirty="0"/>
              <a:t>Perú:</a:t>
            </a:r>
            <a:r>
              <a:rPr lang="es-ES" dirty="0"/>
              <a:t> Se encarga de la producción, licuefacción, y transporte del GNL hasta el punto de entrega acordado. La planta de Pampa </a:t>
            </a:r>
            <a:r>
              <a:rPr lang="es-ES" dirty="0" err="1"/>
              <a:t>Melchorita</a:t>
            </a:r>
            <a:r>
              <a:rPr lang="es-ES" dirty="0"/>
              <a:t> debe cumplir con los estándares internacionales de calidad y seguridad para garantizar que el GNL cumple con las especificaciones requeridas.</a:t>
            </a:r>
          </a:p>
          <a:p>
            <a:pPr>
              <a:buFont typeface="Arial" panose="020B0604020202020204" pitchFamily="34" charset="0"/>
              <a:buChar char="•"/>
            </a:pPr>
            <a:r>
              <a:rPr lang="es-ES" b="1" dirty="0"/>
              <a:t>Japón:</a:t>
            </a:r>
            <a:r>
              <a:rPr lang="es-ES" dirty="0"/>
              <a:t> Se encarga de la recepción, regasificación y distribución del GNL. Japón tiene la infraestructura necesaria para </a:t>
            </a:r>
            <a:r>
              <a:rPr lang="es-ES" dirty="0" err="1"/>
              <a:t>regasificar</a:t>
            </a:r>
            <a:r>
              <a:rPr lang="es-ES" dirty="0"/>
              <a:t> el GNL y convertirlo nuevamente en gas natural para su uso.</a:t>
            </a:r>
          </a:p>
          <a:p>
            <a:endParaRPr lang="es-ES" dirty="0"/>
          </a:p>
        </p:txBody>
      </p:sp>
    </p:spTree>
    <p:extLst>
      <p:ext uri="{BB962C8B-B14F-4D97-AF65-F5344CB8AC3E}">
        <p14:creationId xmlns:p14="http://schemas.microsoft.com/office/powerpoint/2010/main" val="4023442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IMPACTO Y BENEFICIOS</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Para Perú:</a:t>
            </a:r>
            <a:endParaRPr lang="es-ES" dirty="0"/>
          </a:p>
          <a:p>
            <a:pPr>
              <a:buFont typeface="Arial" panose="020B0604020202020204" pitchFamily="34" charset="0"/>
              <a:buChar char="•"/>
            </a:pPr>
            <a:r>
              <a:rPr lang="es-ES" b="1" dirty="0"/>
              <a:t>Ingresos:</a:t>
            </a:r>
            <a:r>
              <a:rPr lang="es-ES" dirty="0"/>
              <a:t> Los contratos de GNL proporcionan una fuente significativa de ingresos para Perú, diversificando sus exportaciones más allá de los minerales y contribuyendo a la economía nacional.</a:t>
            </a:r>
          </a:p>
          <a:p>
            <a:pPr>
              <a:buFont typeface="Arial" panose="020B0604020202020204" pitchFamily="34" charset="0"/>
              <a:buChar char="•"/>
            </a:pPr>
            <a:r>
              <a:rPr lang="es-ES" b="1" dirty="0"/>
              <a:t>Desarrollo de Infraestructura:</a:t>
            </a:r>
            <a:r>
              <a:rPr lang="es-ES" dirty="0"/>
              <a:t> La industria del GNL ha impulsado el desarrollo de infraestructura en Perú, incluyendo la expansión de la planta de Pampa </a:t>
            </a:r>
            <a:r>
              <a:rPr lang="es-ES" dirty="0" err="1"/>
              <a:t>Melchorita</a:t>
            </a:r>
            <a:r>
              <a:rPr lang="es-ES" dirty="0"/>
              <a:t> y mejoras en la infraestructura portuaria.</a:t>
            </a:r>
          </a:p>
          <a:p>
            <a:pPr>
              <a:buFont typeface="Arial" panose="020B0604020202020204" pitchFamily="34" charset="0"/>
              <a:buChar char="•"/>
            </a:pPr>
            <a:r>
              <a:rPr lang="es-ES" b="1" dirty="0"/>
              <a:t>Relaciones Internacionales:</a:t>
            </a:r>
            <a:r>
              <a:rPr lang="es-ES" dirty="0"/>
              <a:t> Los contratos con Japón fortalecen las relaciones diplomáticas y comerciales entre los dos países, fomentando una cooperación más estrecha en el sector energético.</a:t>
            </a:r>
          </a:p>
          <a:p>
            <a:endParaRPr lang="es-ES" dirty="0"/>
          </a:p>
        </p:txBody>
      </p:sp>
    </p:spTree>
    <p:extLst>
      <p:ext uri="{BB962C8B-B14F-4D97-AF65-F5344CB8AC3E}">
        <p14:creationId xmlns:p14="http://schemas.microsoft.com/office/powerpoint/2010/main" val="22191999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Para Japón:</a:t>
            </a:r>
            <a:endParaRPr lang="es-ES" dirty="0"/>
          </a:p>
          <a:p>
            <a:pPr>
              <a:buFont typeface="Arial" panose="020B0604020202020204" pitchFamily="34" charset="0"/>
              <a:buChar char="•"/>
            </a:pPr>
            <a:r>
              <a:rPr lang="es-ES" b="1" dirty="0"/>
              <a:t>Seguridad Energética:</a:t>
            </a:r>
            <a:r>
              <a:rPr lang="es-ES" dirty="0"/>
              <a:t> La importación de GNL desde Perú ayuda a Japón a asegurar un suministro estable y confiable de gas natural, crucial para su seguridad energética.</a:t>
            </a:r>
          </a:p>
          <a:p>
            <a:pPr>
              <a:buFont typeface="Arial" panose="020B0604020202020204" pitchFamily="34" charset="0"/>
              <a:buChar char="•"/>
            </a:pPr>
            <a:r>
              <a:rPr lang="es-ES" b="1" dirty="0"/>
              <a:t>Diversificación de Suministros:</a:t>
            </a:r>
            <a:r>
              <a:rPr lang="es-ES" dirty="0"/>
              <a:t> Al diversificar sus fuentes de GNL, Japón reduce su dependencia de unos pocos proveedores y minimiza riesgos asociados con la oferta de energía.</a:t>
            </a:r>
          </a:p>
          <a:p>
            <a:pPr>
              <a:buFont typeface="Arial" panose="020B0604020202020204" pitchFamily="34" charset="0"/>
              <a:buChar char="•"/>
            </a:pPr>
            <a:r>
              <a:rPr lang="es-ES" b="1" dirty="0"/>
              <a:t>Sostenibilidad:</a:t>
            </a:r>
            <a:r>
              <a:rPr lang="es-ES" dirty="0"/>
              <a:t> El GNL es una opción más limpia comparada con el carbón y el petróleo, contribuyendo a los objetivos de Japón de reducir las emisiones de gases de efecto invernadero.</a:t>
            </a:r>
          </a:p>
          <a:p>
            <a:endParaRPr lang="es-ES" dirty="0"/>
          </a:p>
        </p:txBody>
      </p:sp>
    </p:spTree>
    <p:extLst>
      <p:ext uri="{BB962C8B-B14F-4D97-AF65-F5344CB8AC3E}">
        <p14:creationId xmlns:p14="http://schemas.microsoft.com/office/powerpoint/2010/main" val="62116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Desafíos y Consideraciones</a:t>
            </a:r>
            <a:endParaRPr lang="es-ES" sz="60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pPr marL="0" indent="0">
              <a:buNone/>
            </a:pPr>
            <a:r>
              <a:rPr lang="es-ES" b="1" dirty="0"/>
              <a:t>Volatilidad del Mercado:</a:t>
            </a:r>
            <a:endParaRPr lang="es-ES" dirty="0"/>
          </a:p>
          <a:p>
            <a:pPr>
              <a:buFont typeface="Arial" panose="020B0604020202020204" pitchFamily="34" charset="0"/>
              <a:buChar char="•"/>
            </a:pPr>
            <a:r>
              <a:rPr lang="es-ES" b="1" dirty="0"/>
              <a:t>Precios Internacionales:</a:t>
            </a:r>
            <a:r>
              <a:rPr lang="es-ES" dirty="0"/>
              <a:t> Los precios del GNL pueden fluctuar debido a cambios en los precios del petróleo y la oferta y demanda global, lo que puede afectar la rentabilidad de los contratos.</a:t>
            </a:r>
          </a:p>
          <a:p>
            <a:pPr>
              <a:buFont typeface="Arial" panose="020B0604020202020204" pitchFamily="34" charset="0"/>
              <a:buChar char="•"/>
            </a:pPr>
            <a:r>
              <a:rPr lang="es-ES" b="1" dirty="0"/>
              <a:t>Regulación y Normativas:</a:t>
            </a:r>
            <a:r>
              <a:rPr lang="es-ES" dirty="0"/>
              <a:t> Las regulaciones y políticas en ambos países pueden cambiar, afectando las condiciones de los contratos y la logística de exportación e importación.</a:t>
            </a:r>
          </a:p>
          <a:p>
            <a:pPr marL="0" indent="0">
              <a:buNone/>
            </a:pPr>
            <a:r>
              <a:rPr lang="es-ES" b="1" dirty="0"/>
              <a:t> Infraestructura y Logística:</a:t>
            </a:r>
            <a:endParaRPr lang="es-ES" dirty="0"/>
          </a:p>
          <a:p>
            <a:pPr>
              <a:buFont typeface="Arial" panose="020B0604020202020204" pitchFamily="34" charset="0"/>
              <a:buChar char="•"/>
            </a:pPr>
            <a:r>
              <a:rPr lang="es-ES" b="1" dirty="0"/>
              <a:t>Capacidad de Infraestructura:</a:t>
            </a:r>
            <a:r>
              <a:rPr lang="es-ES" dirty="0"/>
              <a:t> La capacidad de infraestructura para manejar el GNL, tanto en Perú como en Japón, es crucial para el éxito de los contratos. Cualquier problema en la infraestructura puede afectar el cumplimiento de los contratos.</a:t>
            </a:r>
          </a:p>
          <a:p>
            <a:pPr marL="0" indent="0">
              <a:buNone/>
            </a:pPr>
            <a:r>
              <a:rPr lang="es-ES" b="1" dirty="0"/>
              <a:t> Relaciones Diplomáticas:</a:t>
            </a:r>
            <a:endParaRPr lang="es-ES" dirty="0"/>
          </a:p>
          <a:p>
            <a:pPr>
              <a:buFont typeface="Arial" panose="020B0604020202020204" pitchFamily="34" charset="0"/>
              <a:buChar char="•"/>
            </a:pPr>
            <a:r>
              <a:rPr lang="es-ES" b="1" dirty="0"/>
              <a:t>Estabilidad Política:</a:t>
            </a:r>
            <a:r>
              <a:rPr lang="es-ES" dirty="0"/>
              <a:t> La estabilidad política en Perú y Japón es importante para garantizar la continuidad de los contratos y la seguridad del suministro.</a:t>
            </a:r>
          </a:p>
          <a:p>
            <a:endParaRPr lang="es-ES" dirty="0"/>
          </a:p>
        </p:txBody>
      </p:sp>
    </p:spTree>
    <p:extLst>
      <p:ext uri="{BB962C8B-B14F-4D97-AF65-F5344CB8AC3E}">
        <p14:creationId xmlns:p14="http://schemas.microsoft.com/office/powerpoint/2010/main" val="2799401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CONTRATO ENTRE PERU Y SHELL</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Contexto General</a:t>
            </a:r>
          </a:p>
          <a:p>
            <a:r>
              <a:rPr lang="es-ES" b="1" dirty="0"/>
              <a:t>Shell en el Mercado del GNL:</a:t>
            </a:r>
            <a:endParaRPr lang="es-ES" dirty="0"/>
          </a:p>
          <a:p>
            <a:pPr>
              <a:buFont typeface="Arial" panose="020B0604020202020204" pitchFamily="34" charset="0"/>
              <a:buChar char="•"/>
            </a:pPr>
            <a:r>
              <a:rPr lang="es-ES" b="1" dirty="0"/>
              <a:t>Posición Global:</a:t>
            </a:r>
            <a:r>
              <a:rPr lang="es-ES" dirty="0"/>
              <a:t> Shell es uno de los mayores jugadores en el mercado global de GNL, con una extensa red de producción, transporte y comercialización de GNL.</a:t>
            </a:r>
          </a:p>
          <a:p>
            <a:pPr>
              <a:buFont typeface="Arial" panose="020B0604020202020204" pitchFamily="34" charset="0"/>
              <a:buChar char="•"/>
            </a:pPr>
            <a:r>
              <a:rPr lang="es-ES" b="1" dirty="0"/>
              <a:t>Estrategia:</a:t>
            </a:r>
            <a:r>
              <a:rPr lang="es-ES" dirty="0"/>
              <a:t> Shell busca asegurar suministro a largo plazo para sus clientes en todo el mundo, diversificando su cartera de proveedores y garantizando la estabilidad en el suministro de gas natural.</a:t>
            </a:r>
          </a:p>
          <a:p>
            <a:endParaRPr lang="es-ES" dirty="0"/>
          </a:p>
        </p:txBody>
      </p:sp>
    </p:spTree>
    <p:extLst>
      <p:ext uri="{BB962C8B-B14F-4D97-AF65-F5344CB8AC3E}">
        <p14:creationId xmlns:p14="http://schemas.microsoft.com/office/powerpoint/2010/main" val="9520725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326571" y="1126671"/>
            <a:ext cx="11544299" cy="5050293"/>
          </a:xfrm>
        </p:spPr>
        <p:txBody>
          <a:bodyPr>
            <a:normAutofit fontScale="85000" lnSpcReduction="20000"/>
          </a:bodyPr>
          <a:lstStyle/>
          <a:p>
            <a:pPr marL="0" indent="0">
              <a:buNone/>
            </a:pPr>
            <a:r>
              <a:rPr lang="es-ES" b="1" dirty="0"/>
              <a:t>Planta de Licuefacción en Perú:</a:t>
            </a:r>
            <a:endParaRPr lang="es-ES" dirty="0"/>
          </a:p>
          <a:p>
            <a:pPr>
              <a:buFont typeface="Arial" panose="020B0604020202020204" pitchFamily="34" charset="0"/>
              <a:buChar char="•"/>
            </a:pPr>
            <a:r>
              <a:rPr lang="es-ES" b="1" dirty="0"/>
              <a:t>Ubicación:</a:t>
            </a:r>
            <a:r>
              <a:rPr lang="es-ES" dirty="0"/>
              <a:t> La planta de Pampa </a:t>
            </a:r>
            <a:r>
              <a:rPr lang="es-ES" dirty="0" err="1"/>
              <a:t>Melchorita</a:t>
            </a:r>
            <a:r>
              <a:rPr lang="es-ES" dirty="0"/>
              <a:t>, operada por la empresa </a:t>
            </a:r>
            <a:r>
              <a:rPr lang="es-ES" b="1" dirty="0" err="1"/>
              <a:t>Peru</a:t>
            </a:r>
            <a:r>
              <a:rPr lang="es-ES" b="1" dirty="0"/>
              <a:t> LNG</a:t>
            </a:r>
            <a:r>
              <a:rPr lang="es-ES" dirty="0"/>
              <a:t>, es la principal instalación de licuefacción en Perú.</a:t>
            </a:r>
          </a:p>
          <a:p>
            <a:pPr>
              <a:buFont typeface="Arial" panose="020B0604020202020204" pitchFamily="34" charset="0"/>
              <a:buChar char="•"/>
            </a:pPr>
            <a:r>
              <a:rPr lang="es-ES" b="1" dirty="0"/>
              <a:t>Capacidad:</a:t>
            </a:r>
            <a:r>
              <a:rPr lang="es-ES" dirty="0"/>
              <a:t> La planta tiene una capacidad de aproximadamente 4.5 millones de toneladas de GNL por año.</a:t>
            </a:r>
          </a:p>
          <a:p>
            <a:pPr marL="0" indent="0">
              <a:buNone/>
            </a:pPr>
            <a:r>
              <a:rPr lang="es-ES" b="1" dirty="0"/>
              <a:t>Detalles del Contrato con Shell</a:t>
            </a:r>
          </a:p>
          <a:p>
            <a:r>
              <a:rPr lang="es-ES" b="1" dirty="0"/>
              <a:t> Tipo de Contrato:</a:t>
            </a:r>
            <a:endParaRPr lang="es-ES" dirty="0"/>
          </a:p>
          <a:p>
            <a:pPr>
              <a:buFont typeface="Arial" panose="020B0604020202020204" pitchFamily="34" charset="0"/>
              <a:buChar char="•"/>
            </a:pPr>
            <a:r>
              <a:rPr lang="es-ES" b="1" dirty="0"/>
              <a:t>Contratos a Largo Plazo:</a:t>
            </a:r>
            <a:r>
              <a:rPr lang="es-ES" dirty="0"/>
              <a:t> Los contratos entre Perú y Shell suelen ser a largo plazo, con duraciones típicas que van de 15 a 20 años. Estos contratos permiten a Shell asegurar un suministro estable y continuo de GNL para sus operaciones y clientes.</a:t>
            </a:r>
          </a:p>
          <a:p>
            <a:r>
              <a:rPr lang="es-ES" b="1" dirty="0"/>
              <a:t> Volumen de GNL:</a:t>
            </a:r>
            <a:endParaRPr lang="es-ES" dirty="0"/>
          </a:p>
          <a:p>
            <a:pPr>
              <a:buFont typeface="Arial" panose="020B0604020202020204" pitchFamily="34" charset="0"/>
              <a:buChar char="•"/>
            </a:pPr>
            <a:r>
              <a:rPr lang="es-ES" b="1" dirty="0"/>
              <a:t>Cantidad:</a:t>
            </a:r>
            <a:r>
              <a:rPr lang="es-ES" dirty="0"/>
              <a:t> Aunque los detalles específicos del volumen pueden variar, un contrato típico con Shell puede involucrar un suministro de alrededor de 0.5 a 1 millón de toneladas de GNL por año. Este volumen puede ajustarse según las condiciones del mercado y los acuerdos contractuales.</a:t>
            </a:r>
          </a:p>
          <a:p>
            <a:endParaRPr lang="es-ES" dirty="0"/>
          </a:p>
        </p:txBody>
      </p:sp>
    </p:spTree>
    <p:extLst>
      <p:ext uri="{BB962C8B-B14F-4D97-AF65-F5344CB8AC3E}">
        <p14:creationId xmlns:p14="http://schemas.microsoft.com/office/powerpoint/2010/main" val="37824999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522515" y="1012371"/>
            <a:ext cx="11348356" cy="5164593"/>
          </a:xfrm>
        </p:spPr>
        <p:txBody>
          <a:bodyPr>
            <a:normAutofit fontScale="92500" lnSpcReduction="10000"/>
          </a:bodyPr>
          <a:lstStyle/>
          <a:p>
            <a:pPr marL="0" indent="0">
              <a:buNone/>
            </a:pPr>
            <a:r>
              <a:rPr lang="es-ES" b="1" dirty="0"/>
              <a:t>Precios:</a:t>
            </a:r>
            <a:endParaRPr lang="es-ES" dirty="0"/>
          </a:p>
          <a:p>
            <a:pPr>
              <a:buFont typeface="Arial" panose="020B0604020202020204" pitchFamily="34" charset="0"/>
              <a:buChar char="•"/>
            </a:pPr>
            <a:r>
              <a:rPr lang="es-ES" b="1" dirty="0"/>
              <a:t>Indexación:</a:t>
            </a:r>
            <a:r>
              <a:rPr lang="es-ES" dirty="0"/>
              <a:t> Los precios del GNL en los contratos con Shell están generalmente indexados a los precios internacionales del petróleo. Esto significa que los precios de compra de GNL están vinculados a índices como el Brent Crude o el WTI.</a:t>
            </a:r>
          </a:p>
          <a:p>
            <a:pPr>
              <a:buFont typeface="Arial" panose="020B0604020202020204" pitchFamily="34" charset="0"/>
              <a:buChar char="•"/>
            </a:pPr>
            <a:r>
              <a:rPr lang="es-ES" b="1" dirty="0"/>
              <a:t>Ajustes:</a:t>
            </a:r>
            <a:r>
              <a:rPr lang="es-ES" dirty="0"/>
              <a:t> Los precios pueden ser ajustables según las cláusulas contractuales, reflejando las variaciones en el mercado global del GNL y los precios de los combustibles fósiles.</a:t>
            </a:r>
          </a:p>
          <a:p>
            <a:pPr marL="0" indent="0">
              <a:buNone/>
            </a:pPr>
            <a:r>
              <a:rPr lang="es-ES" b="1" dirty="0"/>
              <a:t>Procedimiento de Entrega:</a:t>
            </a:r>
            <a:endParaRPr lang="es-ES" dirty="0"/>
          </a:p>
          <a:p>
            <a:pPr>
              <a:buFont typeface="Arial" panose="020B0604020202020204" pitchFamily="34" charset="0"/>
              <a:buChar char="•"/>
            </a:pPr>
            <a:r>
              <a:rPr lang="es-ES" b="1" dirty="0"/>
              <a:t>Frecuencia:</a:t>
            </a:r>
            <a:r>
              <a:rPr lang="es-ES" dirty="0"/>
              <a:t> El contrato especifica la frecuencia de las entregas de GNL, que puede ser mensual, trimestral o según otros intervalos acordados.</a:t>
            </a:r>
          </a:p>
          <a:p>
            <a:pPr>
              <a:buFont typeface="Arial" panose="020B0604020202020204" pitchFamily="34" charset="0"/>
              <a:buChar char="•"/>
            </a:pPr>
            <a:r>
              <a:rPr lang="es-ES" b="1" dirty="0"/>
              <a:t>Transporte:</a:t>
            </a:r>
            <a:r>
              <a:rPr lang="es-ES" dirty="0"/>
              <a:t> El GNL es transportado desde la planta de Pampa </a:t>
            </a:r>
            <a:r>
              <a:rPr lang="es-ES" dirty="0" err="1"/>
              <a:t>Melchorita</a:t>
            </a:r>
            <a:r>
              <a:rPr lang="es-ES" dirty="0"/>
              <a:t> en Perú a través de buques metaneros especializados hasta los terminales de recepción de Shell en los destinos acordados.</a:t>
            </a:r>
          </a:p>
          <a:p>
            <a:endParaRPr lang="es-ES" dirty="0"/>
          </a:p>
        </p:txBody>
      </p:sp>
    </p:spTree>
    <p:extLst>
      <p:ext uri="{BB962C8B-B14F-4D97-AF65-F5344CB8AC3E}">
        <p14:creationId xmlns:p14="http://schemas.microsoft.com/office/powerpoint/2010/main" val="36965945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59329"/>
            <a:ext cx="11032671" cy="5017635"/>
          </a:xfrm>
        </p:spPr>
        <p:txBody>
          <a:bodyPr>
            <a:normAutofit/>
          </a:bodyPr>
          <a:lstStyle/>
          <a:p>
            <a:pPr marL="0" indent="0">
              <a:buNone/>
            </a:pPr>
            <a:r>
              <a:rPr lang="es-ES" b="1" dirty="0"/>
              <a:t>Responsabilidades de las Partes:</a:t>
            </a:r>
            <a:endParaRPr lang="es-ES" dirty="0"/>
          </a:p>
          <a:p>
            <a:pPr>
              <a:buFont typeface="Arial" panose="020B0604020202020204" pitchFamily="34" charset="0"/>
              <a:buChar char="•"/>
            </a:pPr>
            <a:r>
              <a:rPr lang="es-ES" b="1" dirty="0"/>
              <a:t>Perú:</a:t>
            </a:r>
            <a:r>
              <a:rPr lang="es-ES" dirty="0"/>
              <a:t> Asegura la producción, licuefacción y transporte del GNL hasta el punto de entrega acordado. La planta de Pampa </a:t>
            </a:r>
            <a:r>
              <a:rPr lang="es-ES" dirty="0" err="1"/>
              <a:t>Melchorita</a:t>
            </a:r>
            <a:r>
              <a:rPr lang="es-ES" dirty="0"/>
              <a:t> debe cumplir con los estándares internacionales para garantizar la calidad y seguridad del GNL.</a:t>
            </a:r>
          </a:p>
          <a:p>
            <a:pPr>
              <a:buFont typeface="Arial" panose="020B0604020202020204" pitchFamily="34" charset="0"/>
              <a:buChar char="•"/>
            </a:pPr>
            <a:r>
              <a:rPr lang="es-ES" b="1" dirty="0"/>
              <a:t>Shell:</a:t>
            </a:r>
            <a:r>
              <a:rPr lang="es-ES" dirty="0"/>
              <a:t> Se encarga de la recepción, regasificación y distribución del GNL en los mercados internacionales. Shell también maneja la comercialización y venta del GNL a sus clientes.</a:t>
            </a:r>
          </a:p>
          <a:p>
            <a:endParaRPr lang="es-ES" dirty="0"/>
          </a:p>
        </p:txBody>
      </p:sp>
    </p:spTree>
    <p:extLst>
      <p:ext uri="{BB962C8B-B14F-4D97-AF65-F5344CB8AC3E}">
        <p14:creationId xmlns:p14="http://schemas.microsoft.com/office/powerpoint/2010/main" val="16691332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Impacto y Beneficios</a:t>
            </a:r>
          </a:p>
          <a:p>
            <a:r>
              <a:rPr lang="es-ES" b="1" dirty="0"/>
              <a:t>Para Perú:</a:t>
            </a:r>
            <a:endParaRPr lang="es-ES" dirty="0"/>
          </a:p>
          <a:p>
            <a:pPr>
              <a:buFont typeface="Arial" panose="020B0604020202020204" pitchFamily="34" charset="0"/>
              <a:buChar char="•"/>
            </a:pPr>
            <a:r>
              <a:rPr lang="es-ES" b="1" dirty="0"/>
              <a:t>Ingresos Estables:</a:t>
            </a:r>
            <a:r>
              <a:rPr lang="es-ES" dirty="0"/>
              <a:t> Los contratos a largo plazo con Shell proporcionan ingresos estables y predecibles, lo que facilita la planificación financiera y el desarrollo de la infraestructura en Perú.</a:t>
            </a:r>
          </a:p>
          <a:p>
            <a:pPr>
              <a:buFont typeface="Arial" panose="020B0604020202020204" pitchFamily="34" charset="0"/>
              <a:buChar char="•"/>
            </a:pPr>
            <a:r>
              <a:rPr lang="es-ES" b="1" dirty="0"/>
              <a:t>Desarrollo de Infraestructura:</a:t>
            </a:r>
            <a:r>
              <a:rPr lang="es-ES" dirty="0"/>
              <a:t> Las relaciones comerciales con Shell han impulsado el desarrollo de la planta de Pampa </a:t>
            </a:r>
            <a:r>
              <a:rPr lang="es-ES" dirty="0" err="1"/>
              <a:t>Melchorita</a:t>
            </a:r>
            <a:r>
              <a:rPr lang="es-ES" dirty="0"/>
              <a:t> y otras infraestructuras relacionadas con la producción y exportación de GNL.</a:t>
            </a:r>
          </a:p>
          <a:p>
            <a:pPr>
              <a:buFont typeface="Arial" panose="020B0604020202020204" pitchFamily="34" charset="0"/>
              <a:buChar char="•"/>
            </a:pPr>
            <a:r>
              <a:rPr lang="es-ES" b="1" dirty="0"/>
              <a:t>Relaciones Internacionales:</a:t>
            </a:r>
            <a:r>
              <a:rPr lang="es-ES" dirty="0"/>
              <a:t> El contrato con Shell fortalece la posición de Perú en el mercado global de GNL y refuerza las relaciones comerciales con una de las principales compañías energéticas del mundo.</a:t>
            </a:r>
          </a:p>
          <a:p>
            <a:endParaRPr lang="es-ES" dirty="0"/>
          </a:p>
        </p:txBody>
      </p:sp>
    </p:spTree>
    <p:extLst>
      <p:ext uri="{BB962C8B-B14F-4D97-AF65-F5344CB8AC3E}">
        <p14:creationId xmlns:p14="http://schemas.microsoft.com/office/powerpoint/2010/main" val="17910886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979715"/>
            <a:ext cx="11032671" cy="5197250"/>
          </a:xfrm>
        </p:spPr>
        <p:txBody>
          <a:bodyPr>
            <a:normAutofit/>
          </a:bodyPr>
          <a:lstStyle/>
          <a:p>
            <a:pPr marL="0" indent="0">
              <a:buNone/>
            </a:pPr>
            <a:r>
              <a:rPr lang="es-ES" b="1" dirty="0"/>
              <a:t>Para Shell:</a:t>
            </a:r>
            <a:endParaRPr lang="es-ES" dirty="0"/>
          </a:p>
          <a:p>
            <a:pPr>
              <a:buFont typeface="Arial" panose="020B0604020202020204" pitchFamily="34" charset="0"/>
              <a:buChar char="•"/>
            </a:pPr>
            <a:r>
              <a:rPr lang="es-ES" b="1" dirty="0"/>
              <a:t>Seguridad en el Suministro:</a:t>
            </a:r>
            <a:r>
              <a:rPr lang="es-ES" dirty="0"/>
              <a:t> El contrato asegura a Shell un suministro constante de GNL, crucial para sus operaciones globales y para cumplir con los compromisos contractuales con sus clientes.</a:t>
            </a:r>
          </a:p>
          <a:p>
            <a:pPr>
              <a:buFont typeface="Arial" panose="020B0604020202020204" pitchFamily="34" charset="0"/>
              <a:buChar char="•"/>
            </a:pPr>
            <a:r>
              <a:rPr lang="es-ES" b="1" dirty="0"/>
              <a:t>Diversificación de Fuentes:</a:t>
            </a:r>
            <a:r>
              <a:rPr lang="es-ES" dirty="0"/>
              <a:t> El contrato con Perú permite a Shell diversificar sus fuentes de GNL, reduciendo la dependencia de otros proveedores y regiones.</a:t>
            </a:r>
          </a:p>
          <a:p>
            <a:pPr>
              <a:buFont typeface="Arial" panose="020B0604020202020204" pitchFamily="34" charset="0"/>
              <a:buChar char="•"/>
            </a:pPr>
            <a:r>
              <a:rPr lang="es-ES" b="1" dirty="0"/>
              <a:t>Acceso a Mercados:</a:t>
            </a:r>
            <a:r>
              <a:rPr lang="es-ES" dirty="0"/>
              <a:t> Shell puede utilizar el GNL obtenido de Perú para abastecer a diversos mercados internacionales, aumentando su flexibilidad y capacidad de respuesta a la demanda del mercado.</a:t>
            </a:r>
          </a:p>
          <a:p>
            <a:endParaRPr lang="es-ES" dirty="0"/>
          </a:p>
        </p:txBody>
      </p:sp>
    </p:spTree>
    <p:extLst>
      <p:ext uri="{BB962C8B-B14F-4D97-AF65-F5344CB8AC3E}">
        <p14:creationId xmlns:p14="http://schemas.microsoft.com/office/powerpoint/2010/main" val="21366941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Contrato de GNL entre Perú y CNOOC</a:t>
            </a:r>
            <a:endParaRPr lang="es-ES" sz="60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Contexto General</a:t>
            </a:r>
          </a:p>
          <a:p>
            <a:r>
              <a:rPr lang="es-ES" b="1" dirty="0"/>
              <a:t>1.1 CNOOC en el Mercado del GNL:</a:t>
            </a:r>
            <a:endParaRPr lang="es-ES" dirty="0"/>
          </a:p>
          <a:p>
            <a:pPr>
              <a:buFont typeface="Arial" panose="020B0604020202020204" pitchFamily="34" charset="0"/>
              <a:buChar char="•"/>
            </a:pPr>
            <a:r>
              <a:rPr lang="es-ES" b="1" dirty="0"/>
              <a:t>Posición Global:</a:t>
            </a:r>
            <a:r>
              <a:rPr lang="es-ES" dirty="0"/>
              <a:t> China </a:t>
            </a:r>
            <a:r>
              <a:rPr lang="es-ES" dirty="0" err="1"/>
              <a:t>National</a:t>
            </a:r>
            <a:r>
              <a:rPr lang="es-ES" dirty="0"/>
              <a:t> Offshore </a:t>
            </a:r>
            <a:r>
              <a:rPr lang="es-ES" dirty="0" err="1"/>
              <a:t>Oil</a:t>
            </a:r>
            <a:r>
              <a:rPr lang="es-ES" dirty="0"/>
              <a:t> </a:t>
            </a:r>
            <a:r>
              <a:rPr lang="es-ES" dirty="0" err="1"/>
              <a:t>Corporation</a:t>
            </a:r>
            <a:r>
              <a:rPr lang="es-ES" dirty="0"/>
              <a:t> (CNOOC) es una de las principales empresas de energía de China y uno de los mayores importadores de GNL del mundo. CNOOC juega un papel crucial en asegurar el suministro de gas natural para satisfacer la creciente demanda energética de China.</a:t>
            </a:r>
          </a:p>
          <a:p>
            <a:pPr>
              <a:buFont typeface="Arial" panose="020B0604020202020204" pitchFamily="34" charset="0"/>
              <a:buChar char="•"/>
            </a:pPr>
            <a:r>
              <a:rPr lang="es-ES" b="1" dirty="0"/>
              <a:t>Estrategia:</a:t>
            </a:r>
            <a:r>
              <a:rPr lang="es-ES" dirty="0"/>
              <a:t> CNOOC busca diversificar sus fuentes de suministro de GNL para asegurar una oferta estable y confiable, especialmente en un mercado de alta demanda como el de China.</a:t>
            </a:r>
          </a:p>
          <a:p>
            <a:endParaRPr lang="es-ES" dirty="0"/>
          </a:p>
        </p:txBody>
      </p:sp>
    </p:spTree>
    <p:extLst>
      <p:ext uri="{BB962C8B-B14F-4D97-AF65-F5344CB8AC3E}">
        <p14:creationId xmlns:p14="http://schemas.microsoft.com/office/powerpoint/2010/main" val="1884708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Planta de Licuefacción en Perú:</a:t>
            </a:r>
            <a:endParaRPr lang="es-ES" dirty="0"/>
          </a:p>
          <a:p>
            <a:pPr>
              <a:buFont typeface="Arial" panose="020B0604020202020204" pitchFamily="34" charset="0"/>
              <a:buChar char="•"/>
            </a:pPr>
            <a:r>
              <a:rPr lang="es-ES" b="1" dirty="0"/>
              <a:t>Ubicación:</a:t>
            </a:r>
            <a:r>
              <a:rPr lang="es-ES" dirty="0"/>
              <a:t> La planta de Pampa </a:t>
            </a:r>
            <a:r>
              <a:rPr lang="es-ES" dirty="0" err="1"/>
              <a:t>Melchorita</a:t>
            </a:r>
            <a:r>
              <a:rPr lang="es-ES" dirty="0"/>
              <a:t>, operada por </a:t>
            </a:r>
            <a:r>
              <a:rPr lang="es-ES" dirty="0" err="1"/>
              <a:t>Peru</a:t>
            </a:r>
            <a:r>
              <a:rPr lang="es-ES" dirty="0"/>
              <a:t> LNG, es la principal instalación de licuefacción en Perú.</a:t>
            </a:r>
          </a:p>
          <a:p>
            <a:pPr>
              <a:buFont typeface="Arial" panose="020B0604020202020204" pitchFamily="34" charset="0"/>
              <a:buChar char="•"/>
            </a:pPr>
            <a:r>
              <a:rPr lang="es-ES" b="1" dirty="0"/>
              <a:t>Capacidad:</a:t>
            </a:r>
            <a:r>
              <a:rPr lang="es-ES" dirty="0"/>
              <a:t> La planta tiene una capacidad de aproximadamente 4.5 millones de toneladas de GNL por año, lo que permite a Perú exportar grandes volúmenes de GNL a mercados internacionales, incluidos los contratos con CNOOC.</a:t>
            </a:r>
          </a:p>
          <a:p>
            <a:endParaRPr lang="es-ES" dirty="0"/>
          </a:p>
        </p:txBody>
      </p:sp>
    </p:spTree>
    <p:extLst>
      <p:ext uri="{BB962C8B-B14F-4D97-AF65-F5344CB8AC3E}">
        <p14:creationId xmlns:p14="http://schemas.microsoft.com/office/powerpoint/2010/main" val="28891829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Detalles del Contrato con CNOOC</a:t>
            </a:r>
          </a:p>
          <a:p>
            <a:r>
              <a:rPr lang="es-ES" b="1" dirty="0"/>
              <a:t>2.1 Tipo de Contrato:</a:t>
            </a:r>
            <a:endParaRPr lang="es-ES" dirty="0"/>
          </a:p>
          <a:p>
            <a:pPr>
              <a:buFont typeface="Arial" panose="020B0604020202020204" pitchFamily="34" charset="0"/>
              <a:buChar char="•"/>
            </a:pPr>
            <a:r>
              <a:rPr lang="es-ES" b="1" dirty="0"/>
              <a:t>Contrato a Largo Plazo:</a:t>
            </a:r>
            <a:r>
              <a:rPr lang="es-ES" dirty="0"/>
              <a:t> El contrato entre Perú y CNOOC es un acuerdo a largo plazo, típicamente con una duración de 15 a 20 años. Este tipo de contrato proporciona estabilidad y previsibilidad tanto para el comprador como para el vendedor.</a:t>
            </a:r>
          </a:p>
          <a:p>
            <a:pPr>
              <a:buFont typeface="Arial" panose="020B0604020202020204" pitchFamily="34" charset="0"/>
              <a:buChar char="•"/>
            </a:pPr>
            <a:r>
              <a:rPr lang="es-ES" b="1" dirty="0"/>
              <a:t>Renovaciones y Extensiones:</a:t>
            </a:r>
            <a:r>
              <a:rPr lang="es-ES" dirty="0"/>
              <a:t> Los contratos a largo plazo suelen incluir opciones para renovaciones o extensiones, dependiendo de las condiciones del mercado y el desempeño del contrato.</a:t>
            </a:r>
          </a:p>
          <a:p>
            <a:endParaRPr lang="es-ES" dirty="0"/>
          </a:p>
        </p:txBody>
      </p:sp>
    </p:spTree>
    <p:extLst>
      <p:ext uri="{BB962C8B-B14F-4D97-AF65-F5344CB8AC3E}">
        <p14:creationId xmlns:p14="http://schemas.microsoft.com/office/powerpoint/2010/main" val="3591123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Volumen de GNL:</a:t>
            </a:r>
            <a:endParaRPr lang="es-ES" dirty="0"/>
          </a:p>
          <a:p>
            <a:pPr>
              <a:buFont typeface="Arial" panose="020B0604020202020204" pitchFamily="34" charset="0"/>
              <a:buChar char="•"/>
            </a:pPr>
            <a:r>
              <a:rPr lang="es-ES" b="1" dirty="0"/>
              <a:t>Cantidad:</a:t>
            </a:r>
            <a:r>
              <a:rPr lang="es-ES" dirty="0"/>
              <a:t> El contrato con CNOOC generalmente involucra un suministro de aproximadamente 0.5 a 1 millón de toneladas de GNL por año. Esta cantidad puede ajustarse según los términos del contrato y las necesidades del mercado.</a:t>
            </a:r>
          </a:p>
          <a:p>
            <a:pPr>
              <a:buFont typeface="Arial" panose="020B0604020202020204" pitchFamily="34" charset="0"/>
              <a:buChar char="•"/>
            </a:pPr>
            <a:r>
              <a:rPr lang="es-ES" b="1" dirty="0"/>
              <a:t>Flexibilidad:</a:t>
            </a:r>
            <a:r>
              <a:rPr lang="es-ES" dirty="0"/>
              <a:t> Puede incluir cláusulas de flexibilidad para ajustar los volúmenes de suministro en respuesta a cambios en la demanda o condiciones del mercado.</a:t>
            </a:r>
          </a:p>
          <a:p>
            <a:endParaRPr lang="es-ES" dirty="0"/>
          </a:p>
        </p:txBody>
      </p:sp>
    </p:spTree>
    <p:extLst>
      <p:ext uri="{BB962C8B-B14F-4D97-AF65-F5344CB8AC3E}">
        <p14:creationId xmlns:p14="http://schemas.microsoft.com/office/powerpoint/2010/main" val="14614200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Precios:</a:t>
            </a:r>
            <a:endParaRPr lang="es-ES" dirty="0"/>
          </a:p>
          <a:p>
            <a:pPr>
              <a:buFont typeface="Arial" panose="020B0604020202020204" pitchFamily="34" charset="0"/>
              <a:buChar char="•"/>
            </a:pPr>
            <a:r>
              <a:rPr lang="es-ES" b="1" dirty="0"/>
              <a:t>Indexación:</a:t>
            </a:r>
            <a:r>
              <a:rPr lang="es-ES" dirty="0"/>
              <a:t> Los precios del GNL en el contrato con CNOOC están típicamente indexados a los precios internacionales del petróleo, como el Brent o el WTI. Esta indexación refleja las fluctuaciones en los precios globales de los combustibles fósiles.</a:t>
            </a:r>
          </a:p>
          <a:p>
            <a:pPr>
              <a:buFont typeface="Arial" panose="020B0604020202020204" pitchFamily="34" charset="0"/>
              <a:buChar char="•"/>
            </a:pPr>
            <a:r>
              <a:rPr lang="es-ES" b="1" dirty="0"/>
              <a:t>Ajustes Contractuales:</a:t>
            </a:r>
            <a:r>
              <a:rPr lang="es-ES" dirty="0"/>
              <a:t> El contrato puede permitir ajustes periódicos en los precios para reflejar las variaciones en el mercado global de GNL y los precios de referencia del petróleo.</a:t>
            </a:r>
          </a:p>
          <a:p>
            <a:endParaRPr lang="es-ES" dirty="0"/>
          </a:p>
        </p:txBody>
      </p:sp>
    </p:spTree>
    <p:extLst>
      <p:ext uri="{BB962C8B-B14F-4D97-AF65-F5344CB8AC3E}">
        <p14:creationId xmlns:p14="http://schemas.microsoft.com/office/powerpoint/2010/main" val="37572764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Procedimiento de Entrega:</a:t>
            </a:r>
            <a:endParaRPr lang="es-ES" dirty="0"/>
          </a:p>
          <a:p>
            <a:pPr>
              <a:buFont typeface="Arial" panose="020B0604020202020204" pitchFamily="34" charset="0"/>
              <a:buChar char="•"/>
            </a:pPr>
            <a:r>
              <a:rPr lang="es-ES" b="1" dirty="0"/>
              <a:t>Frecuencia:</a:t>
            </a:r>
            <a:r>
              <a:rPr lang="es-ES" dirty="0"/>
              <a:t> El contrato establece un calendario de entregas regulares, que puede ser mensual, trimestral o según otros intervalos acordados entre las partes.</a:t>
            </a:r>
          </a:p>
          <a:p>
            <a:pPr>
              <a:buFont typeface="Arial" panose="020B0604020202020204" pitchFamily="34" charset="0"/>
              <a:buChar char="•"/>
            </a:pPr>
            <a:r>
              <a:rPr lang="es-ES" b="1" dirty="0"/>
              <a:t>Transporte:</a:t>
            </a:r>
            <a:r>
              <a:rPr lang="es-ES" dirty="0"/>
              <a:t> El GNL es transportado desde la planta de Pampa </a:t>
            </a:r>
            <a:r>
              <a:rPr lang="es-ES" dirty="0" err="1"/>
              <a:t>Melchorita</a:t>
            </a:r>
            <a:r>
              <a:rPr lang="es-ES" dirty="0"/>
              <a:t> en Perú a través de buques metaneros especializados hasta los terminales de recepción en China, operados por CNOOC.</a:t>
            </a:r>
          </a:p>
          <a:p>
            <a:endParaRPr lang="es-ES" dirty="0"/>
          </a:p>
        </p:txBody>
      </p:sp>
    </p:spTree>
    <p:extLst>
      <p:ext uri="{BB962C8B-B14F-4D97-AF65-F5344CB8AC3E}">
        <p14:creationId xmlns:p14="http://schemas.microsoft.com/office/powerpoint/2010/main" val="38753069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Responsabilidades de las Partes:</a:t>
            </a:r>
            <a:endParaRPr lang="es-ES" dirty="0"/>
          </a:p>
          <a:p>
            <a:pPr>
              <a:buFont typeface="Arial" panose="020B0604020202020204" pitchFamily="34" charset="0"/>
              <a:buChar char="•"/>
            </a:pPr>
            <a:r>
              <a:rPr lang="es-ES" b="1" dirty="0"/>
              <a:t>Perú:</a:t>
            </a:r>
            <a:r>
              <a:rPr lang="es-ES" dirty="0"/>
              <a:t> Se encarga de la producción, licuefacción y transporte del GNL hasta el punto de entrega acordado. La planta de Pampa </a:t>
            </a:r>
            <a:r>
              <a:rPr lang="es-ES" dirty="0" err="1"/>
              <a:t>Melchorita</a:t>
            </a:r>
            <a:r>
              <a:rPr lang="es-ES" dirty="0"/>
              <a:t> debe cumplir con estándares internacionales de calidad y seguridad.</a:t>
            </a:r>
          </a:p>
          <a:p>
            <a:pPr>
              <a:buFont typeface="Arial" panose="020B0604020202020204" pitchFamily="34" charset="0"/>
              <a:buChar char="•"/>
            </a:pPr>
            <a:r>
              <a:rPr lang="es-ES" b="1" dirty="0"/>
              <a:t>CNOOC:</a:t>
            </a:r>
            <a:r>
              <a:rPr lang="es-ES" dirty="0"/>
              <a:t> Se encarga de la recepción, regasificación y distribución del GNL en China. CNOOC también maneja la comercialización y venta del GNL a clientes dentro del país.</a:t>
            </a:r>
          </a:p>
          <a:p>
            <a:endParaRPr lang="es-ES" dirty="0"/>
          </a:p>
        </p:txBody>
      </p:sp>
    </p:spTree>
    <p:extLst>
      <p:ext uri="{BB962C8B-B14F-4D97-AF65-F5344CB8AC3E}">
        <p14:creationId xmlns:p14="http://schemas.microsoft.com/office/powerpoint/2010/main" val="1374907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r>
              <a:rPr lang="es-ES" b="1" dirty="0"/>
              <a:t>Impacto y Beneficios</a:t>
            </a:r>
          </a:p>
          <a:p>
            <a:r>
              <a:rPr lang="es-ES" b="1" dirty="0"/>
              <a:t>3.1 Para Perú:</a:t>
            </a:r>
            <a:endParaRPr lang="es-ES" dirty="0"/>
          </a:p>
          <a:p>
            <a:pPr>
              <a:buFont typeface="Arial" panose="020B0604020202020204" pitchFamily="34" charset="0"/>
              <a:buChar char="•"/>
            </a:pPr>
            <a:r>
              <a:rPr lang="es-ES" b="1" dirty="0"/>
              <a:t>Ingresos Estables:</a:t>
            </a:r>
            <a:r>
              <a:rPr lang="es-ES" dirty="0"/>
              <a:t> El contrato con CNOOC proporciona ingresos estables y predecibles, lo que facilita la planificación financiera y el desarrollo de infraestructura en Perú.</a:t>
            </a:r>
          </a:p>
          <a:p>
            <a:pPr>
              <a:buFont typeface="Arial" panose="020B0604020202020204" pitchFamily="34" charset="0"/>
              <a:buChar char="•"/>
            </a:pPr>
            <a:r>
              <a:rPr lang="es-ES" b="1" dirty="0"/>
              <a:t>Desarrollo de Infraestructura:</a:t>
            </a:r>
            <a:r>
              <a:rPr lang="es-ES" dirty="0"/>
              <a:t> El contrato impulsa el desarrollo de la planta de Pampa </a:t>
            </a:r>
            <a:r>
              <a:rPr lang="es-ES" dirty="0" err="1"/>
              <a:t>Melchorita</a:t>
            </a:r>
            <a:r>
              <a:rPr lang="es-ES" dirty="0"/>
              <a:t> y otras infraestructuras relacionadas con la producción y exportación de GNL.</a:t>
            </a:r>
          </a:p>
          <a:p>
            <a:pPr>
              <a:buFont typeface="Arial" panose="020B0604020202020204" pitchFamily="34" charset="0"/>
              <a:buChar char="•"/>
            </a:pPr>
            <a:r>
              <a:rPr lang="es-ES" b="1" dirty="0"/>
              <a:t>Relaciones Internacionales:</a:t>
            </a:r>
            <a:r>
              <a:rPr lang="es-ES" dirty="0"/>
              <a:t> Refuerza la posición de Perú en el mercado global de GNL y fortalece las relaciones comerciales con China, uno de los principales importadores de GNL.</a:t>
            </a:r>
          </a:p>
          <a:p>
            <a:endParaRPr lang="es-ES" dirty="0"/>
          </a:p>
        </p:txBody>
      </p:sp>
    </p:spTree>
    <p:extLst>
      <p:ext uri="{BB962C8B-B14F-4D97-AF65-F5344CB8AC3E}">
        <p14:creationId xmlns:p14="http://schemas.microsoft.com/office/powerpoint/2010/main" val="27890680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Para CNOOC:</a:t>
            </a:r>
            <a:endParaRPr lang="es-ES" dirty="0"/>
          </a:p>
          <a:p>
            <a:pPr>
              <a:buFont typeface="Arial" panose="020B0604020202020204" pitchFamily="34" charset="0"/>
              <a:buChar char="•"/>
            </a:pPr>
            <a:r>
              <a:rPr lang="es-ES" b="1" dirty="0"/>
              <a:t>Seguridad en el Suministro:</a:t>
            </a:r>
            <a:r>
              <a:rPr lang="es-ES" dirty="0"/>
              <a:t> El contrato asegura a CNOOC un suministro constante y confiable de GNL, esencial para satisfacer la demanda energética en China.</a:t>
            </a:r>
          </a:p>
          <a:p>
            <a:pPr>
              <a:buFont typeface="Arial" panose="020B0604020202020204" pitchFamily="34" charset="0"/>
              <a:buChar char="•"/>
            </a:pPr>
            <a:r>
              <a:rPr lang="es-ES" b="1" dirty="0"/>
              <a:t>Diversificación de Fuentes:</a:t>
            </a:r>
            <a:r>
              <a:rPr lang="es-ES" dirty="0"/>
              <a:t> Permite a CNOOC diversificar sus fuentes de suministro de GNL, reduciendo la dependencia de otros proveedores y regiones.</a:t>
            </a:r>
          </a:p>
          <a:p>
            <a:pPr>
              <a:buFont typeface="Arial" panose="020B0604020202020204" pitchFamily="34" charset="0"/>
              <a:buChar char="•"/>
            </a:pPr>
            <a:r>
              <a:rPr lang="es-ES" b="1" dirty="0"/>
              <a:t>Acceso a Recursos:</a:t>
            </a:r>
            <a:r>
              <a:rPr lang="es-ES" dirty="0"/>
              <a:t> Asegura acceso a recursos de GNL en un mercado competitivo, fortaleciendo su posición en el sector energético global.</a:t>
            </a:r>
          </a:p>
          <a:p>
            <a:endParaRPr lang="es-ES" dirty="0"/>
          </a:p>
        </p:txBody>
      </p:sp>
    </p:spTree>
    <p:extLst>
      <p:ext uri="{BB962C8B-B14F-4D97-AF65-F5344CB8AC3E}">
        <p14:creationId xmlns:p14="http://schemas.microsoft.com/office/powerpoint/2010/main" val="2574315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61258"/>
            <a:ext cx="8440597" cy="1341882"/>
          </a:xfrm>
        </p:spPr>
        <p:txBody>
          <a:bodyPr>
            <a:normAutofit/>
          </a:bodyPr>
          <a:lstStyle/>
          <a:p>
            <a:r>
              <a:rPr lang="es-ES" sz="2800" dirty="0"/>
              <a:t>Procesamiento de Gas Natural y Fraccionamiento de NGL</a:t>
            </a:r>
            <a:endParaRPr lang="es-ES" sz="60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pPr algn="just"/>
            <a:r>
              <a:rPr lang="es-ES" b="1" dirty="0"/>
              <a:t>Procesamiento de Gas Natural</a:t>
            </a:r>
          </a:p>
          <a:p>
            <a:pPr algn="just"/>
            <a:r>
              <a:rPr lang="es-ES" dirty="0"/>
              <a:t>El procesamiento de gas natural es el conjunto de operaciones realizadas para purificar el gas y separar los distintos componentes, incluyendo los líquidos de gas natural (NGL). Estas operaciones son fundamentales para asegurar que el gas cumpla con los estándares requeridos para su transporte y comercialización.</a:t>
            </a:r>
          </a:p>
          <a:p>
            <a:pPr algn="just"/>
            <a:r>
              <a:rPr lang="es-ES" b="1" dirty="0"/>
              <a:t>Objetivos del Procesamiento:</a:t>
            </a:r>
            <a:endParaRPr lang="es-ES" dirty="0"/>
          </a:p>
          <a:p>
            <a:pPr algn="just">
              <a:buFont typeface="Arial" panose="020B0604020202020204" pitchFamily="34" charset="0"/>
              <a:buChar char="•"/>
            </a:pPr>
            <a:r>
              <a:rPr lang="es-ES" b="1" dirty="0"/>
              <a:t>Remoción de Impurezas:</a:t>
            </a:r>
            <a:r>
              <a:rPr lang="es-ES" dirty="0"/>
              <a:t> El gas natural extraído suele contener impurezas como agua, dióxido de carbono (CO2), sulfuro de hidrógeno (H2S), y otros compuestos. Estas impurezas deben ser eliminadas para evitar problemas durante el transporte y uso del gas.</a:t>
            </a:r>
          </a:p>
          <a:p>
            <a:pPr algn="just">
              <a:buFont typeface="Arial" panose="020B0604020202020204" pitchFamily="34" charset="0"/>
              <a:buChar char="•"/>
            </a:pPr>
            <a:r>
              <a:rPr lang="es-ES" b="1" dirty="0"/>
              <a:t>Separación de NGL:</a:t>
            </a:r>
            <a:r>
              <a:rPr lang="es-ES" dirty="0"/>
              <a:t> Se separan los líquidos de gas natural, como etano, propano, butano y otros, que tienen un valor comercial significativo y pueden ser utilizados como materia prima en la industria petroquímica o como combustibles.</a:t>
            </a:r>
          </a:p>
          <a:p>
            <a:pPr algn="just">
              <a:buFont typeface="Arial" panose="020B0604020202020204" pitchFamily="34" charset="0"/>
              <a:buChar char="•"/>
            </a:pPr>
            <a:r>
              <a:rPr lang="es-ES" b="1" dirty="0"/>
              <a:t>Optimización del Gas:</a:t>
            </a:r>
            <a:r>
              <a:rPr lang="es-ES" dirty="0"/>
              <a:t> Se ajusta la composición del gas para cumplir con las especificaciones del mercado y asegurar la eficiencia en su uso.</a:t>
            </a:r>
          </a:p>
          <a:p>
            <a:endParaRPr lang="es-ES" dirty="0"/>
          </a:p>
        </p:txBody>
      </p:sp>
    </p:spTree>
    <p:extLst>
      <p:ext uri="{BB962C8B-B14F-4D97-AF65-F5344CB8AC3E}">
        <p14:creationId xmlns:p14="http://schemas.microsoft.com/office/powerpoint/2010/main" val="39893250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Etapas del Procesamiento:</a:t>
            </a:r>
            <a:endParaRPr lang="es-ES" dirty="0"/>
          </a:p>
          <a:p>
            <a:pPr>
              <a:buFont typeface="Arial" panose="020B0604020202020204" pitchFamily="34" charset="0"/>
              <a:buChar char="•"/>
            </a:pPr>
            <a:r>
              <a:rPr lang="es-ES" b="1" dirty="0"/>
              <a:t>Deshidratación:</a:t>
            </a:r>
            <a:r>
              <a:rPr lang="es-ES" dirty="0"/>
              <a:t> Eliminación de agua del gas natural para prevenir la formación de hidratos durante el transporte.</a:t>
            </a:r>
          </a:p>
          <a:p>
            <a:pPr>
              <a:buFont typeface="Arial" panose="020B0604020202020204" pitchFamily="34" charset="0"/>
              <a:buChar char="•"/>
            </a:pPr>
            <a:r>
              <a:rPr lang="es-ES" b="1" dirty="0"/>
              <a:t>Desulfurización:</a:t>
            </a:r>
            <a:r>
              <a:rPr lang="es-ES" dirty="0"/>
              <a:t> Eliminación de compuestos de sulfuro de hidrógeno y otros compuestos sulfurados.</a:t>
            </a:r>
          </a:p>
          <a:p>
            <a:pPr>
              <a:buFont typeface="Arial" panose="020B0604020202020204" pitchFamily="34" charset="0"/>
              <a:buChar char="•"/>
            </a:pPr>
            <a:r>
              <a:rPr lang="es-ES" b="1" dirty="0"/>
              <a:t>Descarbonización:</a:t>
            </a:r>
            <a:r>
              <a:rPr lang="es-ES" dirty="0"/>
              <a:t> Remoción de dióxido de carbono y otros gases ácidos.</a:t>
            </a:r>
          </a:p>
          <a:p>
            <a:pPr>
              <a:buFont typeface="Arial" panose="020B0604020202020204" pitchFamily="34" charset="0"/>
              <a:buChar char="•"/>
            </a:pPr>
            <a:r>
              <a:rPr lang="es-ES" b="1" dirty="0"/>
              <a:t>Separación de NGL:</a:t>
            </a:r>
            <a:r>
              <a:rPr lang="es-ES" dirty="0"/>
              <a:t> Se utilizan unidades de separación, como el proceso de enfriamiento y absorción, para separar los NGL del gas natural.</a:t>
            </a:r>
          </a:p>
          <a:p>
            <a:endParaRPr lang="es-ES" dirty="0"/>
          </a:p>
        </p:txBody>
      </p:sp>
    </p:spTree>
    <p:extLst>
      <p:ext uri="{BB962C8B-B14F-4D97-AF65-F5344CB8AC3E}">
        <p14:creationId xmlns:p14="http://schemas.microsoft.com/office/powerpoint/2010/main" val="26829857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r>
              <a:rPr lang="es-ES" b="1" dirty="0"/>
              <a:t>Fraccionamiento de NGL</a:t>
            </a:r>
          </a:p>
          <a:p>
            <a:r>
              <a:rPr lang="es-ES" dirty="0"/>
              <a:t>El fraccionamiento de NGL es el proceso de separar los líquidos de gas natural en sus componentes individuales, como etano, propano, butano y otros, que tienen aplicaciones comerciales específicas.</a:t>
            </a:r>
          </a:p>
          <a:p>
            <a:r>
              <a:rPr lang="es-ES" b="1" dirty="0"/>
              <a:t>2.1 Objetivos del Fraccionamiento:</a:t>
            </a:r>
            <a:endParaRPr lang="es-ES" dirty="0"/>
          </a:p>
          <a:p>
            <a:pPr>
              <a:buFont typeface="Arial" panose="020B0604020202020204" pitchFamily="34" charset="0"/>
              <a:buChar char="•"/>
            </a:pPr>
            <a:r>
              <a:rPr lang="es-ES" b="1" dirty="0"/>
              <a:t>Producción de Componentes Puros:</a:t>
            </a:r>
            <a:r>
              <a:rPr lang="es-ES" dirty="0"/>
              <a:t> Separar los NGL en fracciones puras para su venta y uso en distintos sectores industriales.</a:t>
            </a:r>
          </a:p>
          <a:p>
            <a:pPr>
              <a:buFont typeface="Arial" panose="020B0604020202020204" pitchFamily="34" charset="0"/>
              <a:buChar char="•"/>
            </a:pPr>
            <a:r>
              <a:rPr lang="es-ES" b="1" dirty="0"/>
              <a:t>Maximización del Valor:</a:t>
            </a:r>
            <a:r>
              <a:rPr lang="es-ES" dirty="0"/>
              <a:t> Aumentar el valor económico de los NGL al producir productos con alta demanda en la industria petroquímica y en el mercado de combustibles.</a:t>
            </a:r>
          </a:p>
          <a:p>
            <a:r>
              <a:rPr lang="es-ES" b="1" dirty="0"/>
              <a:t>2.2 Procesos de Fraccionamiento:</a:t>
            </a:r>
            <a:endParaRPr lang="es-ES" dirty="0"/>
          </a:p>
          <a:p>
            <a:pPr>
              <a:buFont typeface="Arial" panose="020B0604020202020204" pitchFamily="34" charset="0"/>
              <a:buChar char="•"/>
            </a:pPr>
            <a:r>
              <a:rPr lang="es-ES" b="1" dirty="0"/>
              <a:t>Destilación Fraccionada:</a:t>
            </a:r>
            <a:r>
              <a:rPr lang="es-ES" dirty="0"/>
              <a:t> Utiliza la diferencia en los puntos de ebullición de los NGL para separar los componentes en una serie de columnas de destilación.</a:t>
            </a:r>
          </a:p>
          <a:p>
            <a:pPr>
              <a:buFont typeface="Arial" panose="020B0604020202020204" pitchFamily="34" charset="0"/>
              <a:buChar char="•"/>
            </a:pPr>
            <a:r>
              <a:rPr lang="es-ES" b="1" dirty="0"/>
              <a:t>Absorción:</a:t>
            </a:r>
            <a:r>
              <a:rPr lang="es-ES" dirty="0"/>
              <a:t> Utiliza líquidos absorbentes para capturar y separar los diferentes NGL.</a:t>
            </a:r>
          </a:p>
          <a:p>
            <a:endParaRPr lang="es-ES" dirty="0"/>
          </a:p>
        </p:txBody>
      </p:sp>
    </p:spTree>
    <p:extLst>
      <p:ext uri="{BB962C8B-B14F-4D97-AF65-F5344CB8AC3E}">
        <p14:creationId xmlns:p14="http://schemas.microsoft.com/office/powerpoint/2010/main" val="27027426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91174"/>
            <a:ext cx="8391611" cy="979724"/>
          </a:xfrm>
        </p:spPr>
        <p:txBody>
          <a:bodyPr>
            <a:normAutofit/>
          </a:bodyPr>
          <a:lstStyle/>
          <a:p>
            <a:r>
              <a:rPr lang="es-ES" sz="2800" dirty="0"/>
              <a:t>Procesamiento de Gas Natural y Fraccionamiento en Malvinas y Pisco</a:t>
            </a:r>
            <a:endParaRPr lang="es-ES" sz="60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r>
              <a:rPr lang="es-ES" b="1" dirty="0"/>
              <a:t>Separación de Gas NGL en Malvinas</a:t>
            </a:r>
          </a:p>
          <a:p>
            <a:r>
              <a:rPr lang="es-ES" b="1" dirty="0"/>
              <a:t>1.1 Instalaciones en Malvinas:</a:t>
            </a:r>
            <a:endParaRPr lang="es-ES" dirty="0"/>
          </a:p>
          <a:p>
            <a:pPr>
              <a:buFont typeface="Arial" panose="020B0604020202020204" pitchFamily="34" charset="0"/>
              <a:buChar char="•"/>
            </a:pPr>
            <a:r>
              <a:rPr lang="es-ES" b="1" dirty="0"/>
              <a:t>Ubicación:</a:t>
            </a:r>
            <a:r>
              <a:rPr lang="es-ES" dirty="0"/>
              <a:t> La planta de procesamiento en Malvinas se encuentra en la región de Moquegua, Perú.</a:t>
            </a:r>
          </a:p>
          <a:p>
            <a:pPr>
              <a:buFont typeface="Arial" panose="020B0604020202020204" pitchFamily="34" charset="0"/>
              <a:buChar char="•"/>
            </a:pPr>
            <a:r>
              <a:rPr lang="es-ES" b="1" dirty="0"/>
              <a:t>Función:</a:t>
            </a:r>
            <a:r>
              <a:rPr lang="es-ES" dirty="0"/>
              <a:t> La planta está diseñada para procesar gas natural y separar los NGL. Es parte del sistema de infraestructura para el manejo del gas natural producido en el sur de Perú.</a:t>
            </a:r>
          </a:p>
          <a:p>
            <a:r>
              <a:rPr lang="es-ES" b="1" dirty="0"/>
              <a:t>1.2 Procesos en Malvinas:</a:t>
            </a:r>
            <a:endParaRPr lang="es-ES" dirty="0"/>
          </a:p>
          <a:p>
            <a:pPr>
              <a:buFont typeface="Arial" panose="020B0604020202020204" pitchFamily="34" charset="0"/>
              <a:buChar char="•"/>
            </a:pPr>
            <a:r>
              <a:rPr lang="es-ES" b="1" dirty="0"/>
              <a:t>Deshidratación y Desulfurización:</a:t>
            </a:r>
            <a:r>
              <a:rPr lang="es-ES" dirty="0"/>
              <a:t> Se realizan operaciones iniciales para eliminar agua y compuestos sulfurados del gas natural.</a:t>
            </a:r>
          </a:p>
          <a:p>
            <a:pPr>
              <a:buFont typeface="Arial" panose="020B0604020202020204" pitchFamily="34" charset="0"/>
              <a:buChar char="•"/>
            </a:pPr>
            <a:r>
              <a:rPr lang="es-ES" b="1" dirty="0"/>
              <a:t>Separación de NGL:</a:t>
            </a:r>
            <a:r>
              <a:rPr lang="es-ES" dirty="0"/>
              <a:t> La planta utiliza procesos de enfriamiento y fraccionamiento para separar los líquidos del gas natural.</a:t>
            </a:r>
          </a:p>
          <a:p>
            <a:pPr>
              <a:buFont typeface="Arial" panose="020B0604020202020204" pitchFamily="34" charset="0"/>
              <a:buChar char="•"/>
            </a:pPr>
            <a:r>
              <a:rPr lang="es-ES" b="1" dirty="0"/>
              <a:t>Entrega y Transporte:</a:t>
            </a:r>
            <a:r>
              <a:rPr lang="es-ES" dirty="0"/>
              <a:t> Los NGL separados son transportados a través de oleoductos o en forma líquida a instalaciones de almacenamiento y comercialización.</a:t>
            </a:r>
          </a:p>
          <a:p>
            <a:endParaRPr lang="es-ES" dirty="0"/>
          </a:p>
        </p:txBody>
      </p:sp>
    </p:spTree>
    <p:extLst>
      <p:ext uri="{BB962C8B-B14F-4D97-AF65-F5344CB8AC3E}">
        <p14:creationId xmlns:p14="http://schemas.microsoft.com/office/powerpoint/2010/main" val="28586102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pPr marL="0" indent="0">
              <a:buNone/>
            </a:pPr>
            <a:r>
              <a:rPr lang="es-ES" b="1" dirty="0"/>
              <a:t>Planta de Fraccionamiento de Pisco</a:t>
            </a:r>
          </a:p>
          <a:p>
            <a:pPr marL="0" indent="0">
              <a:buNone/>
            </a:pPr>
            <a:r>
              <a:rPr lang="es-ES" b="1" dirty="0"/>
              <a:t>Contexto y Ubicación</a:t>
            </a:r>
          </a:p>
          <a:p>
            <a:r>
              <a:rPr lang="es-ES" b="1" dirty="0"/>
              <a:t>Ubicación:</a:t>
            </a:r>
            <a:endParaRPr lang="es-ES" dirty="0"/>
          </a:p>
          <a:p>
            <a:pPr>
              <a:buFont typeface="Arial" panose="020B0604020202020204" pitchFamily="34" charset="0"/>
              <a:buChar char="•"/>
            </a:pPr>
            <a:r>
              <a:rPr lang="es-ES" b="1" dirty="0"/>
              <a:t>Región:</a:t>
            </a:r>
            <a:r>
              <a:rPr lang="es-ES" dirty="0"/>
              <a:t> La planta está ubicada en la región de Ica, cerca de la ciudad de Pisco, en la costa sur de Perú.</a:t>
            </a:r>
          </a:p>
          <a:p>
            <a:pPr>
              <a:buFont typeface="Arial" panose="020B0604020202020204" pitchFamily="34" charset="0"/>
              <a:buChar char="•"/>
            </a:pPr>
            <a:r>
              <a:rPr lang="es-ES" b="1" dirty="0"/>
              <a:t>Acceso:</a:t>
            </a:r>
            <a:r>
              <a:rPr lang="es-ES" dirty="0"/>
              <a:t> La ubicación estratégica de la planta permite un acceso conveniente tanto al gas natural producido en las regiones del sur de Perú como a las infraestructuras de transporte, como oleoductos y puertos.</a:t>
            </a:r>
          </a:p>
          <a:p>
            <a:pPr marL="0" indent="0">
              <a:buNone/>
            </a:pPr>
            <a:r>
              <a:rPr lang="es-ES" b="1" dirty="0"/>
              <a:t>Propietario y Operador:</a:t>
            </a:r>
            <a:endParaRPr lang="es-ES" dirty="0"/>
          </a:p>
          <a:p>
            <a:pPr>
              <a:buFont typeface="Arial" panose="020B0604020202020204" pitchFamily="34" charset="0"/>
              <a:buChar char="•"/>
            </a:pPr>
            <a:r>
              <a:rPr lang="es-ES" b="1" dirty="0"/>
              <a:t>Empresa Operadora:</a:t>
            </a:r>
            <a:r>
              <a:rPr lang="es-ES" dirty="0"/>
              <a:t> La planta es operada por </a:t>
            </a:r>
            <a:r>
              <a:rPr lang="es-ES" b="1" dirty="0"/>
              <a:t>Petroperú</a:t>
            </a:r>
            <a:r>
              <a:rPr lang="es-ES" dirty="0"/>
              <a:t>, la principal empresa estatal de petróleo de Perú.</a:t>
            </a:r>
          </a:p>
          <a:p>
            <a:pPr>
              <a:buFont typeface="Arial" panose="020B0604020202020204" pitchFamily="34" charset="0"/>
              <a:buChar char="•"/>
            </a:pPr>
            <a:r>
              <a:rPr lang="es-ES" b="1" dirty="0"/>
              <a:t>Rol de Petroperú:</a:t>
            </a:r>
            <a:r>
              <a:rPr lang="es-ES" dirty="0"/>
              <a:t> Petroperú es responsable de la gestión y operación de varias instalaciones de procesamiento y transporte de hidrocarburos en Perú, incluyendo la Planta de Fraccionamiento de Pisco.</a:t>
            </a:r>
          </a:p>
          <a:p>
            <a:endParaRPr lang="es-ES" dirty="0"/>
          </a:p>
        </p:txBody>
      </p:sp>
    </p:spTree>
    <p:extLst>
      <p:ext uri="{BB962C8B-B14F-4D97-AF65-F5344CB8AC3E}">
        <p14:creationId xmlns:p14="http://schemas.microsoft.com/office/powerpoint/2010/main" val="39668143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012371"/>
            <a:ext cx="11032671" cy="5486400"/>
          </a:xfrm>
        </p:spPr>
        <p:txBody>
          <a:bodyPr>
            <a:normAutofit fontScale="92500" lnSpcReduction="20000"/>
          </a:bodyPr>
          <a:lstStyle/>
          <a:p>
            <a:pPr marL="0" indent="0">
              <a:buNone/>
            </a:pPr>
            <a:r>
              <a:rPr lang="es-ES" b="1" dirty="0"/>
              <a:t>Procesos y Operaciones</a:t>
            </a:r>
          </a:p>
          <a:p>
            <a:pPr marL="0" indent="0">
              <a:buNone/>
            </a:pPr>
            <a:r>
              <a:rPr lang="es-ES" b="1" dirty="0"/>
              <a:t>Procesamiento Inicial:</a:t>
            </a:r>
            <a:endParaRPr lang="es-ES" dirty="0"/>
          </a:p>
          <a:p>
            <a:pPr>
              <a:buFont typeface="Arial" panose="020B0604020202020204" pitchFamily="34" charset="0"/>
              <a:buChar char="•"/>
            </a:pPr>
            <a:r>
              <a:rPr lang="es-ES" b="1" dirty="0"/>
              <a:t>Deshidratación:</a:t>
            </a:r>
            <a:r>
              <a:rPr lang="es-ES" dirty="0"/>
              <a:t> El gas natural que llega a la planta se somete a un proceso de deshidratación para eliminar el agua. Esto previene la formación de hidratos durante el procesamiento y el transporte.</a:t>
            </a:r>
          </a:p>
          <a:p>
            <a:pPr>
              <a:buFont typeface="Arial" panose="020B0604020202020204" pitchFamily="34" charset="0"/>
              <a:buChar char="•"/>
            </a:pPr>
            <a:r>
              <a:rPr lang="es-ES" b="1" dirty="0"/>
              <a:t>Desulfurización:</a:t>
            </a:r>
            <a:r>
              <a:rPr lang="es-ES" dirty="0"/>
              <a:t> Se eliminan compuestos de sulfuro de hidrógeno (H2S) y otros compuestos sulfurados para cumplir con los estándares de calidad del gas y evitar la corrosión en el equipo.</a:t>
            </a:r>
          </a:p>
          <a:p>
            <a:pPr marL="0" indent="0">
              <a:buNone/>
            </a:pPr>
            <a:r>
              <a:rPr lang="es-ES" b="1" dirty="0"/>
              <a:t>Separación de NGL:</a:t>
            </a:r>
            <a:endParaRPr lang="es-ES" dirty="0"/>
          </a:p>
          <a:p>
            <a:pPr>
              <a:buFont typeface="Arial" panose="020B0604020202020204" pitchFamily="34" charset="0"/>
              <a:buChar char="•"/>
            </a:pPr>
            <a:r>
              <a:rPr lang="es-ES" b="1" dirty="0"/>
              <a:t>Unidad de Separación de NGL:</a:t>
            </a:r>
            <a:r>
              <a:rPr lang="es-ES" dirty="0"/>
              <a:t> La planta cuenta con equipos especializados para separar los líquidos de gas natural (NGL) del gas natural. Esto incluye procesos de enfriamiento y absorción para separar fracciones como etano, propano, butano y otros líquidos.</a:t>
            </a:r>
          </a:p>
          <a:p>
            <a:pPr>
              <a:buFont typeface="Arial" panose="020B0604020202020204" pitchFamily="34" charset="0"/>
              <a:buChar char="•"/>
            </a:pPr>
            <a:r>
              <a:rPr lang="es-ES" b="1" dirty="0"/>
              <a:t>Destilación Fraccionada:</a:t>
            </a:r>
            <a:r>
              <a:rPr lang="es-ES" dirty="0"/>
              <a:t> Utiliza columnas de destilación para separar los NGL en sus componentes individuales. Cada componente tiene diferentes puntos de ebullición, lo que permite su separación efectiva.</a:t>
            </a:r>
          </a:p>
          <a:p>
            <a:pPr>
              <a:buFont typeface="Arial" panose="020B0604020202020204" pitchFamily="34" charset="0"/>
              <a:buChar char="•"/>
            </a:pPr>
            <a:endParaRPr lang="es-ES" dirty="0"/>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37335138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pPr marL="0" indent="0">
              <a:buNone/>
            </a:pPr>
            <a:r>
              <a:rPr lang="es-ES" b="1" dirty="0"/>
              <a:t>Fraccionamiento:</a:t>
            </a:r>
            <a:endParaRPr lang="es-ES" dirty="0"/>
          </a:p>
          <a:p>
            <a:pPr>
              <a:buFont typeface="Arial" panose="020B0604020202020204" pitchFamily="34" charset="0"/>
              <a:buChar char="•"/>
            </a:pPr>
            <a:r>
              <a:rPr lang="es-ES" b="1" dirty="0"/>
              <a:t>Fraccionamiento de Productos:</a:t>
            </a:r>
            <a:r>
              <a:rPr lang="es-ES" dirty="0"/>
              <a:t> Los NGL separados se fraccionan en productos puros, como etano, propano y butano, que tienen diversos usos comerciales e industriales.</a:t>
            </a:r>
          </a:p>
          <a:p>
            <a:pPr>
              <a:buFont typeface="Arial" panose="020B0604020202020204" pitchFamily="34" charset="0"/>
              <a:buChar char="•"/>
            </a:pPr>
            <a:r>
              <a:rPr lang="es-ES" b="1" dirty="0"/>
              <a:t>Almacenamiento y Distribución:</a:t>
            </a:r>
            <a:r>
              <a:rPr lang="es-ES" dirty="0"/>
              <a:t> Los productos fraccionados se almacenan en tanques y se preparan para su distribución y venta a mercados locales e internacionales.</a:t>
            </a:r>
          </a:p>
          <a:p>
            <a:pPr marL="0" indent="0">
              <a:buNone/>
            </a:pPr>
            <a:r>
              <a:rPr lang="es-ES" b="1" dirty="0"/>
              <a:t>Capacidades y Tecnología</a:t>
            </a:r>
          </a:p>
          <a:p>
            <a:pPr marL="0" indent="0">
              <a:buNone/>
            </a:pPr>
            <a:r>
              <a:rPr lang="es-ES" b="1" dirty="0"/>
              <a:t> Capacidades de Procesamiento:</a:t>
            </a:r>
            <a:endParaRPr lang="es-ES" dirty="0"/>
          </a:p>
          <a:p>
            <a:pPr>
              <a:buFont typeface="Arial" panose="020B0604020202020204" pitchFamily="34" charset="0"/>
              <a:buChar char="•"/>
            </a:pPr>
            <a:r>
              <a:rPr lang="es-ES" b="1" dirty="0"/>
              <a:t>Volumen de Gas Procesado:</a:t>
            </a:r>
            <a:r>
              <a:rPr lang="es-ES" dirty="0"/>
              <a:t> La capacidad de procesamiento puede variar, pero la planta está diseñada para manejar grandes volúmenes de gas natural, asegurando un flujo constante de NGL.</a:t>
            </a:r>
          </a:p>
          <a:p>
            <a:pPr>
              <a:buFont typeface="Arial" panose="020B0604020202020204" pitchFamily="34" charset="0"/>
              <a:buChar char="•"/>
            </a:pPr>
            <a:r>
              <a:rPr lang="es-ES" b="1" dirty="0"/>
              <a:t>Capacidad de Fraccionamiento:</a:t>
            </a:r>
            <a:r>
              <a:rPr lang="es-ES" dirty="0"/>
              <a:t> La capacidad de fraccionamiento permite la producción de cantidades significativas de NGL, lo que es crucial para satisfacer la demanda del mercado.</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33010439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Tecnología Utilizada:</a:t>
            </a:r>
            <a:endParaRPr lang="es-ES" dirty="0"/>
          </a:p>
          <a:p>
            <a:pPr>
              <a:buFont typeface="Arial" panose="020B0604020202020204" pitchFamily="34" charset="0"/>
              <a:buChar char="•"/>
            </a:pPr>
            <a:r>
              <a:rPr lang="es-ES" b="1" dirty="0"/>
              <a:t>Equipos de Alta Tecnología:</a:t>
            </a:r>
            <a:r>
              <a:rPr lang="es-ES" dirty="0"/>
              <a:t> La planta utiliza tecnología avanzada en deshidratación, </a:t>
            </a:r>
            <a:r>
              <a:rPr lang="es-ES" dirty="0" err="1"/>
              <a:t>desulfurización</a:t>
            </a:r>
            <a:r>
              <a:rPr lang="es-ES" dirty="0"/>
              <a:t>, separación y fraccionamiento para garantizar eficiencia y cumplir con los estándares ambientales y de seguridad.</a:t>
            </a:r>
          </a:p>
          <a:p>
            <a:pPr>
              <a:buFont typeface="Arial" panose="020B0604020202020204" pitchFamily="34" charset="0"/>
              <a:buChar char="•"/>
            </a:pPr>
            <a:r>
              <a:rPr lang="es-ES" b="1" dirty="0"/>
              <a:t>Automatización:</a:t>
            </a:r>
            <a:r>
              <a:rPr lang="es-ES" dirty="0"/>
              <a:t> La planta puede estar equipada con sistemas automatizados para monitorear y controlar el proceso de manera eficiente, mejorando la seguridad y la operación general.</a:t>
            </a:r>
          </a:p>
          <a:p>
            <a:endParaRPr lang="es-ES" dirty="0"/>
          </a:p>
        </p:txBody>
      </p:sp>
    </p:spTree>
    <p:extLst>
      <p:ext uri="{BB962C8B-B14F-4D97-AF65-F5344CB8AC3E}">
        <p14:creationId xmlns:p14="http://schemas.microsoft.com/office/powerpoint/2010/main" val="16513701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pPr marL="0" indent="0">
              <a:buNone/>
            </a:pPr>
            <a:r>
              <a:rPr lang="es-ES" b="1" dirty="0"/>
              <a:t>Impacto y Beneficios</a:t>
            </a:r>
          </a:p>
          <a:p>
            <a:pPr marL="0" indent="0">
              <a:buNone/>
            </a:pPr>
            <a:r>
              <a:rPr lang="es-ES" b="1" dirty="0"/>
              <a:t> Para la Economía Local:</a:t>
            </a:r>
            <a:endParaRPr lang="es-ES" dirty="0"/>
          </a:p>
          <a:p>
            <a:pPr>
              <a:buFont typeface="Arial" panose="020B0604020202020204" pitchFamily="34" charset="0"/>
              <a:buChar char="•"/>
            </a:pPr>
            <a:r>
              <a:rPr lang="es-ES" b="1" dirty="0"/>
              <a:t>Generación de Empleo:</a:t>
            </a:r>
            <a:r>
              <a:rPr lang="es-ES" dirty="0"/>
              <a:t> La planta proporciona empleo a la comunidad local, contribuyendo al desarrollo económico de la región de Ica.</a:t>
            </a:r>
          </a:p>
          <a:p>
            <a:pPr>
              <a:buFont typeface="Arial" panose="020B0604020202020204" pitchFamily="34" charset="0"/>
              <a:buChar char="•"/>
            </a:pPr>
            <a:r>
              <a:rPr lang="es-ES" b="1" dirty="0"/>
              <a:t>Inversión en Infraestructura:</a:t>
            </a:r>
            <a:r>
              <a:rPr lang="es-ES" dirty="0"/>
              <a:t> La planta impulsa el desarrollo de infraestructura en la región, incluyendo instalaciones de almacenamiento y transporte.</a:t>
            </a:r>
          </a:p>
          <a:p>
            <a:pPr marL="0" indent="0">
              <a:buNone/>
            </a:pPr>
            <a:r>
              <a:rPr lang="es-ES" b="1" dirty="0"/>
              <a:t>Para el Sector Energético:</a:t>
            </a:r>
            <a:endParaRPr lang="es-ES" dirty="0"/>
          </a:p>
          <a:p>
            <a:pPr>
              <a:buFont typeface="Arial" panose="020B0604020202020204" pitchFamily="34" charset="0"/>
              <a:buChar char="•"/>
            </a:pPr>
            <a:r>
              <a:rPr lang="es-ES" b="1" dirty="0"/>
              <a:t>Suministro de NGL:</a:t>
            </a:r>
            <a:r>
              <a:rPr lang="es-ES" dirty="0"/>
              <a:t> La planta asegura un suministro constante de NGL, que es crucial para la industria petroquímica y otros sectores que utilizan estos productos.</a:t>
            </a:r>
          </a:p>
          <a:p>
            <a:pPr>
              <a:buFont typeface="Arial" panose="020B0604020202020204" pitchFamily="34" charset="0"/>
              <a:buChar char="•"/>
            </a:pPr>
            <a:r>
              <a:rPr lang="es-ES" b="1" dirty="0"/>
              <a:t>Optimización de Recursos:</a:t>
            </a:r>
            <a:r>
              <a:rPr lang="es-ES" dirty="0"/>
              <a:t> Permite una mejor utilización de los recursos de gas natural, separando los NGL y aumentando su valor económico.</a:t>
            </a:r>
          </a:p>
          <a:p>
            <a:endParaRPr lang="es-ES" dirty="0"/>
          </a:p>
        </p:txBody>
      </p:sp>
    </p:spTree>
    <p:extLst>
      <p:ext uri="{BB962C8B-B14F-4D97-AF65-F5344CB8AC3E}">
        <p14:creationId xmlns:p14="http://schemas.microsoft.com/office/powerpoint/2010/main" val="21458248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pPr marL="0" indent="0">
              <a:buNone/>
            </a:pPr>
            <a:r>
              <a:rPr lang="es-ES" b="1" dirty="0"/>
              <a:t>Para el Medio Ambiente:</a:t>
            </a:r>
            <a:endParaRPr lang="es-ES" dirty="0"/>
          </a:p>
          <a:p>
            <a:pPr>
              <a:buFont typeface="Arial" panose="020B0604020202020204" pitchFamily="34" charset="0"/>
              <a:buChar char="•"/>
            </a:pPr>
            <a:r>
              <a:rPr lang="es-ES" b="1" dirty="0"/>
              <a:t>Normativas Ambientales:</a:t>
            </a:r>
            <a:r>
              <a:rPr lang="es-ES" dirty="0"/>
              <a:t> La planta debe cumplir con regulaciones ambientales para minimizar el impacto en el entorno. Esto incluye la gestión adecuada de los residuos y la emisión controlada de contaminantes.</a:t>
            </a:r>
          </a:p>
          <a:p>
            <a:pPr marL="0" indent="0">
              <a:buNone/>
            </a:pPr>
            <a:r>
              <a:rPr lang="es-ES" b="1" dirty="0"/>
              <a:t>Consideraciones y Desafíos</a:t>
            </a:r>
          </a:p>
          <a:p>
            <a:pPr marL="0" indent="0">
              <a:buNone/>
            </a:pPr>
            <a:r>
              <a:rPr lang="es-ES" b="1" dirty="0"/>
              <a:t>Mantenimiento y Operación:</a:t>
            </a:r>
            <a:endParaRPr lang="es-ES" dirty="0"/>
          </a:p>
          <a:p>
            <a:pPr>
              <a:buFont typeface="Arial" panose="020B0604020202020204" pitchFamily="34" charset="0"/>
              <a:buChar char="•"/>
            </a:pPr>
            <a:r>
              <a:rPr lang="es-ES" b="1" dirty="0"/>
              <a:t>Mantenimiento Preventivo:</a:t>
            </a:r>
            <a:r>
              <a:rPr lang="es-ES" dirty="0"/>
              <a:t> Es esencial realizar mantenimiento preventivo regular para asegurar el funcionamiento continuo de la planta y evitar interrupciones en el procesamiento y fraccionamiento.</a:t>
            </a:r>
          </a:p>
          <a:p>
            <a:pPr>
              <a:buFont typeface="Arial" panose="020B0604020202020204" pitchFamily="34" charset="0"/>
              <a:buChar char="•"/>
            </a:pPr>
            <a:r>
              <a:rPr lang="es-ES" b="1" dirty="0"/>
              <a:t>Capacitación del Personal:</a:t>
            </a:r>
            <a:r>
              <a:rPr lang="es-ES" dirty="0"/>
              <a:t> El personal debe estar bien capacitado en el manejo de la tecnología y los procesos para garantizar la seguridad y la eficiencia operativa.</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35485725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Seguridad y Regulaciones:</a:t>
            </a:r>
            <a:endParaRPr lang="es-ES" dirty="0"/>
          </a:p>
          <a:p>
            <a:pPr>
              <a:buFont typeface="Arial" panose="020B0604020202020204" pitchFamily="34" charset="0"/>
              <a:buChar char="•"/>
            </a:pPr>
            <a:r>
              <a:rPr lang="es-ES" b="1" dirty="0"/>
              <a:t>Cumplimiento Normativo:</a:t>
            </a:r>
            <a:r>
              <a:rPr lang="es-ES" dirty="0"/>
              <a:t> La planta debe cumplir con las normativas locales e internacionales de seguridad y medio ambiente para operar de manera segura y responsable.</a:t>
            </a:r>
          </a:p>
          <a:p>
            <a:pPr>
              <a:buFont typeface="Arial" panose="020B0604020202020204" pitchFamily="34" charset="0"/>
              <a:buChar char="•"/>
            </a:pPr>
            <a:r>
              <a:rPr lang="es-ES" b="1" dirty="0"/>
              <a:t>Seguridad Operativa:</a:t>
            </a:r>
            <a:r>
              <a:rPr lang="es-ES" dirty="0"/>
              <a:t> Implementar medidas de seguridad rigurosas para manejar el gas natural y los NGL, que son productos inflamables y potencialmente peligrosos.</a:t>
            </a:r>
          </a:p>
          <a:p>
            <a:endParaRPr lang="es-ES" dirty="0"/>
          </a:p>
        </p:txBody>
      </p:sp>
    </p:spTree>
    <p:extLst>
      <p:ext uri="{BB962C8B-B14F-4D97-AF65-F5344CB8AC3E}">
        <p14:creationId xmlns:p14="http://schemas.microsoft.com/office/powerpoint/2010/main" val="17520210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dirty="0"/>
              <a:t>La Planta de Fraccionamiento de Pisco es una instalación clave en la infraestructura energética de Perú, dedicada al procesamiento y fraccionamiento de gas natural y NGL. Su operación asegura un suministro constante de productos valiosos para la industria y el mercado. La planta utiliza tecnología avanzada para separar y fraccionar los NGL, contribuyendo al desarrollo económico de la región y al sector energético del país.</a:t>
            </a:r>
          </a:p>
        </p:txBody>
      </p:sp>
    </p:spTree>
    <p:extLst>
      <p:ext uri="{BB962C8B-B14F-4D97-AF65-F5344CB8AC3E}">
        <p14:creationId xmlns:p14="http://schemas.microsoft.com/office/powerpoint/2010/main" val="20285779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Ingresos económicos </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r>
              <a:rPr lang="es-ES" dirty="0"/>
              <a:t>Los ingresos económicos de la Planta de Fraccionamiento de Pisco se derivan principalmente de la venta de líquidos de gas natural (NGL) procesados. Aunque los datos financieros específicos pueden variar de un año a otro y dependen de factores como los precios del mercado y la capacidad de producción.</a:t>
            </a:r>
          </a:p>
          <a:p>
            <a:pPr marL="0" indent="0">
              <a:buNone/>
            </a:pPr>
            <a:r>
              <a:rPr lang="es-ES" b="1" dirty="0"/>
              <a:t>Ingresos por Venta de NGL</a:t>
            </a:r>
          </a:p>
          <a:p>
            <a:pPr marL="0" indent="0">
              <a:buNone/>
            </a:pPr>
            <a:r>
              <a:rPr lang="es-ES" b="1" dirty="0"/>
              <a:t>Productos Vendidos:</a:t>
            </a:r>
            <a:endParaRPr lang="es-ES" dirty="0"/>
          </a:p>
          <a:p>
            <a:pPr>
              <a:buFont typeface="Arial" panose="020B0604020202020204" pitchFamily="34" charset="0"/>
              <a:buChar char="•"/>
            </a:pPr>
            <a:r>
              <a:rPr lang="es-ES" b="1" dirty="0"/>
              <a:t>Etano:</a:t>
            </a:r>
            <a:r>
              <a:rPr lang="es-ES" dirty="0"/>
              <a:t> Utilizado como materia prima en la industria petroquímica.</a:t>
            </a:r>
          </a:p>
          <a:p>
            <a:pPr>
              <a:buFont typeface="Arial" panose="020B0604020202020204" pitchFamily="34" charset="0"/>
              <a:buChar char="•"/>
            </a:pPr>
            <a:r>
              <a:rPr lang="es-ES" b="1" dirty="0"/>
              <a:t>Propano:</a:t>
            </a:r>
            <a:r>
              <a:rPr lang="es-ES" dirty="0"/>
              <a:t> Usado como combustible y en la producción de plásticos.</a:t>
            </a:r>
          </a:p>
          <a:p>
            <a:pPr>
              <a:buFont typeface="Arial" panose="020B0604020202020204" pitchFamily="34" charset="0"/>
              <a:buChar char="•"/>
            </a:pPr>
            <a:r>
              <a:rPr lang="es-ES" b="1" dirty="0"/>
              <a:t>Butano:</a:t>
            </a:r>
            <a:r>
              <a:rPr lang="es-ES" dirty="0"/>
              <a:t> Utilizado en aplicaciones de calefacción y como materia prima en la industria química.</a:t>
            </a:r>
          </a:p>
          <a:p>
            <a:pPr>
              <a:buFont typeface="Arial" panose="020B0604020202020204" pitchFamily="34" charset="0"/>
              <a:buChar char="•"/>
            </a:pPr>
            <a:r>
              <a:rPr lang="es-ES" b="1" dirty="0"/>
              <a:t>Otros NGL:</a:t>
            </a:r>
            <a:r>
              <a:rPr lang="es-ES" dirty="0"/>
              <a:t> Incluye componentes menos comunes que también tienen aplicaciones industriales.</a:t>
            </a:r>
          </a:p>
          <a:p>
            <a:endParaRPr lang="es-ES" dirty="0"/>
          </a:p>
        </p:txBody>
      </p:sp>
    </p:spTree>
    <p:extLst>
      <p:ext uri="{BB962C8B-B14F-4D97-AF65-F5344CB8AC3E}">
        <p14:creationId xmlns:p14="http://schemas.microsoft.com/office/powerpoint/2010/main" val="14409419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Precios de Mercado:</a:t>
            </a:r>
            <a:endParaRPr lang="es-ES" dirty="0"/>
          </a:p>
          <a:p>
            <a:pPr>
              <a:buFont typeface="Arial" panose="020B0604020202020204" pitchFamily="34" charset="0"/>
              <a:buChar char="•"/>
            </a:pPr>
            <a:r>
              <a:rPr lang="es-ES" b="1" dirty="0"/>
              <a:t>Precios Internacionales:</a:t>
            </a:r>
            <a:r>
              <a:rPr lang="es-ES" dirty="0"/>
              <a:t> Los ingresos están influenciados por los precios internacionales de los NGL, que pueden fluctuar debido a la oferta y demanda global, precios del petróleo, y condiciones del mercado.</a:t>
            </a:r>
          </a:p>
          <a:p>
            <a:pPr>
              <a:buFont typeface="Arial" panose="020B0604020202020204" pitchFamily="34" charset="0"/>
              <a:buChar char="•"/>
            </a:pPr>
            <a:r>
              <a:rPr lang="es-ES" b="1" dirty="0"/>
              <a:t>Contratos de Venta:</a:t>
            </a:r>
            <a:r>
              <a:rPr lang="es-ES" dirty="0"/>
              <a:t> Los precios pueden estar fijados por contratos a largo plazo o ser más variables según acuerdos spot o negociaciones de corto plazo.</a:t>
            </a:r>
          </a:p>
          <a:p>
            <a:pPr marL="0" indent="0">
              <a:buNone/>
            </a:pPr>
            <a:r>
              <a:rPr lang="es-ES" b="1" dirty="0"/>
              <a:t>Volúmenes Vendidos:</a:t>
            </a:r>
            <a:endParaRPr lang="es-ES" dirty="0"/>
          </a:p>
          <a:p>
            <a:pPr>
              <a:buFont typeface="Arial" panose="020B0604020202020204" pitchFamily="34" charset="0"/>
              <a:buChar char="•"/>
            </a:pPr>
            <a:r>
              <a:rPr lang="es-ES" b="1" dirty="0"/>
              <a:t>Capacidad de Producción:</a:t>
            </a:r>
            <a:r>
              <a:rPr lang="es-ES" dirty="0"/>
              <a:t> La capacidad de la planta de fraccionamiento determina el volumen de NGL que se puede producir y vender. La planta de Pisco tiene una capacidad significativa para procesar y fraccionar grandes volúmenes de gas natural.</a:t>
            </a:r>
          </a:p>
          <a:p>
            <a:endParaRPr lang="es-ES" dirty="0"/>
          </a:p>
        </p:txBody>
      </p:sp>
    </p:spTree>
    <p:extLst>
      <p:ext uri="{BB962C8B-B14F-4D97-AF65-F5344CB8AC3E}">
        <p14:creationId xmlns:p14="http://schemas.microsoft.com/office/powerpoint/2010/main" val="34378106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Normativa de Gas Natural</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Ley de Hidrocarburos (Ley N.º 26221)</a:t>
            </a:r>
          </a:p>
          <a:p>
            <a:pPr marL="0" indent="0">
              <a:buNone/>
            </a:pPr>
            <a:r>
              <a:rPr lang="es-ES" b="1" dirty="0"/>
              <a:t> Contexto y Objetivo</a:t>
            </a:r>
          </a:p>
          <a:p>
            <a:pPr marL="0" indent="0">
              <a:buNone/>
            </a:pPr>
            <a:r>
              <a:rPr lang="es-ES" b="1" dirty="0"/>
              <a:t>Contexto:</a:t>
            </a:r>
            <a:endParaRPr lang="es-ES" dirty="0"/>
          </a:p>
          <a:p>
            <a:pPr>
              <a:buFont typeface="Arial" panose="020B0604020202020204" pitchFamily="34" charset="0"/>
              <a:buChar char="•"/>
            </a:pPr>
            <a:r>
              <a:rPr lang="es-ES" b="1" dirty="0"/>
              <a:t>Fecha de Promulgación:</a:t>
            </a:r>
            <a:r>
              <a:rPr lang="es-ES" dirty="0"/>
              <a:t> La Ley N.º 26221 fue promulgada el 1 de junio de 1993.</a:t>
            </a:r>
          </a:p>
          <a:p>
            <a:pPr>
              <a:buFont typeface="Arial" panose="020B0604020202020204" pitchFamily="34" charset="0"/>
              <a:buChar char="•"/>
            </a:pPr>
            <a:r>
              <a:rPr lang="es-ES" b="1" dirty="0"/>
              <a:t>Revisión y Modificaciones:</a:t>
            </a:r>
            <a:r>
              <a:rPr lang="es-ES" dirty="0"/>
              <a:t> Desde su promulgación, la ley ha sido objeto de varias modificaciones y actualizaciones para adaptarse a los cambios en el mercado energético, necesidades de inversión y estándares ambientales.</a:t>
            </a:r>
          </a:p>
          <a:p>
            <a:endParaRPr lang="es-ES" dirty="0"/>
          </a:p>
        </p:txBody>
      </p:sp>
    </p:spTree>
    <p:extLst>
      <p:ext uri="{BB962C8B-B14F-4D97-AF65-F5344CB8AC3E}">
        <p14:creationId xmlns:p14="http://schemas.microsoft.com/office/powerpoint/2010/main" val="21911626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Objetivo:</a:t>
            </a:r>
            <a:endParaRPr lang="es-ES" dirty="0"/>
          </a:p>
          <a:p>
            <a:pPr>
              <a:buFont typeface="Arial" panose="020B0604020202020204" pitchFamily="34" charset="0"/>
              <a:buChar char="•"/>
            </a:pPr>
            <a:r>
              <a:rPr lang="es-ES" b="1" dirty="0"/>
              <a:t>Regulación del Sector:</a:t>
            </a:r>
            <a:r>
              <a:rPr lang="es-ES" dirty="0"/>
              <a:t> La ley establece el marco normativo para la exploración, explotación, transporte, refinación, y comercialización de hidrocarburos en Perú.</a:t>
            </a:r>
          </a:p>
          <a:p>
            <a:pPr>
              <a:buFont typeface="Arial" panose="020B0604020202020204" pitchFamily="34" charset="0"/>
              <a:buChar char="•"/>
            </a:pPr>
            <a:r>
              <a:rPr lang="es-ES" b="1" dirty="0"/>
              <a:t>Fomento de Inversiones:</a:t>
            </a:r>
            <a:r>
              <a:rPr lang="es-ES" dirty="0"/>
              <a:t> Busca promover la inversión en el sector </a:t>
            </a:r>
            <a:r>
              <a:rPr lang="es-ES" dirty="0" err="1"/>
              <a:t>hidrocarburífero</a:t>
            </a:r>
            <a:r>
              <a:rPr lang="es-ES" dirty="0"/>
              <a:t>, asegurando un entorno legal y económico que atraiga inversiones privadas.</a:t>
            </a:r>
          </a:p>
          <a:p>
            <a:pPr>
              <a:buFont typeface="Arial" panose="020B0604020202020204" pitchFamily="34" charset="0"/>
              <a:buChar char="•"/>
            </a:pPr>
            <a:r>
              <a:rPr lang="es-ES" b="1" dirty="0"/>
              <a:t>Protección del Interés Nacional:</a:t>
            </a:r>
            <a:r>
              <a:rPr lang="es-ES" dirty="0"/>
              <a:t> Garantiza que la explotación de recursos </a:t>
            </a:r>
            <a:r>
              <a:rPr lang="es-ES" dirty="0" err="1"/>
              <a:t>hidrocarburíferos</a:t>
            </a:r>
            <a:r>
              <a:rPr lang="es-ES" dirty="0"/>
              <a:t> se realice en beneficio del país y en concordancia con los intereses nacionales</a:t>
            </a:r>
          </a:p>
          <a:p>
            <a:endParaRPr lang="es-ES" dirty="0"/>
          </a:p>
        </p:txBody>
      </p:sp>
    </p:spTree>
    <p:extLst>
      <p:ext uri="{BB962C8B-B14F-4D97-AF65-F5344CB8AC3E}">
        <p14:creationId xmlns:p14="http://schemas.microsoft.com/office/powerpoint/2010/main" val="8320689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579664" y="702128"/>
            <a:ext cx="11032671" cy="6030007"/>
          </a:xfrm>
        </p:spPr>
        <p:txBody>
          <a:bodyPr>
            <a:normAutofit fontScale="70000" lnSpcReduction="20000"/>
          </a:bodyPr>
          <a:lstStyle/>
          <a:p>
            <a:r>
              <a:rPr lang="es-ES" b="1" dirty="0"/>
              <a:t>Estructura y Contenidos Principales</a:t>
            </a:r>
          </a:p>
          <a:p>
            <a:r>
              <a:rPr lang="es-ES" b="1" dirty="0"/>
              <a:t>2.1 Título I: Disposiciones Generales</a:t>
            </a:r>
            <a:endParaRPr lang="es-ES" dirty="0"/>
          </a:p>
          <a:p>
            <a:pPr>
              <a:buFont typeface="Arial" panose="020B0604020202020204" pitchFamily="34" charset="0"/>
              <a:buChar char="•"/>
            </a:pPr>
            <a:r>
              <a:rPr lang="es-ES" b="1" dirty="0"/>
              <a:t>Artículos Iniciales:</a:t>
            </a:r>
            <a:r>
              <a:rPr lang="es-ES" dirty="0"/>
              <a:t> Define el alcance y objetivos de la ley, estableciendo principios generales para la regulación de hidrocarburos.</a:t>
            </a:r>
          </a:p>
          <a:p>
            <a:pPr>
              <a:buFont typeface="Arial" panose="020B0604020202020204" pitchFamily="34" charset="0"/>
              <a:buChar char="•"/>
            </a:pPr>
            <a:r>
              <a:rPr lang="es-ES" b="1" dirty="0"/>
              <a:t>Definiciones:</a:t>
            </a:r>
            <a:r>
              <a:rPr lang="es-ES" dirty="0"/>
              <a:t> Proporciona definiciones clave sobre los términos utilizados en la ley, como “hidrocarburos”, “exploración”, “explotación”, etc.</a:t>
            </a:r>
          </a:p>
          <a:p>
            <a:r>
              <a:rPr lang="es-ES" b="1" dirty="0"/>
              <a:t>2.2 Título II: De la Exploración y Explotación</a:t>
            </a:r>
            <a:endParaRPr lang="es-ES" dirty="0"/>
          </a:p>
          <a:p>
            <a:pPr>
              <a:buFont typeface="Arial" panose="020B0604020202020204" pitchFamily="34" charset="0"/>
              <a:buChar char="•"/>
            </a:pPr>
            <a:r>
              <a:rPr lang="es-ES" b="1" dirty="0"/>
              <a:t>Concesiones:</a:t>
            </a:r>
            <a:r>
              <a:rPr lang="es-ES" dirty="0"/>
              <a:t> Establece el régimen de concesiones para la exploración y explotación de hidrocarburos. El Estado otorga concesiones a empresas privadas mediante contratos que definen los derechos y obligaciones de las partes.</a:t>
            </a:r>
          </a:p>
          <a:p>
            <a:pPr>
              <a:buFont typeface="Arial" panose="020B0604020202020204" pitchFamily="34" charset="0"/>
              <a:buChar char="•"/>
            </a:pPr>
            <a:r>
              <a:rPr lang="es-ES" b="1" dirty="0"/>
              <a:t>Contratos:</a:t>
            </a:r>
            <a:r>
              <a:rPr lang="es-ES" dirty="0"/>
              <a:t> Los contratos de concesión definen los términos de la explotación, incluyendo duración, condiciones técnicas y económicas, y obligaciones ambientales.</a:t>
            </a:r>
          </a:p>
          <a:p>
            <a:pPr>
              <a:buFont typeface="Arial" panose="020B0604020202020204" pitchFamily="34" charset="0"/>
              <a:buChar char="•"/>
            </a:pPr>
            <a:r>
              <a:rPr lang="es-ES" b="1" dirty="0"/>
              <a:t>Subsidios y Derechos:</a:t>
            </a:r>
            <a:r>
              <a:rPr lang="es-ES" dirty="0"/>
              <a:t> Determina los derechos de los concesionarios y las obligaciones en cuanto a subsidios y pagos al Estado.</a:t>
            </a:r>
          </a:p>
          <a:p>
            <a:r>
              <a:rPr lang="es-ES" b="1" dirty="0"/>
              <a:t>2.3 Título III: Del Transporte y Almacenamiento</a:t>
            </a:r>
            <a:endParaRPr lang="es-ES" dirty="0"/>
          </a:p>
          <a:p>
            <a:pPr>
              <a:buFont typeface="Arial" panose="020B0604020202020204" pitchFamily="34" charset="0"/>
              <a:buChar char="•"/>
            </a:pPr>
            <a:r>
              <a:rPr lang="es-ES" b="1" dirty="0"/>
              <a:t>Transporte de Hidrocarburos:</a:t>
            </a:r>
            <a:r>
              <a:rPr lang="es-ES" dirty="0"/>
              <a:t> Regula el transporte de hidrocarburos desde los puntos de extracción hasta los centros de refinación y mercados. Incluye el régimen para la construcción y operación de oleoductos y gasoductos.</a:t>
            </a:r>
          </a:p>
          <a:p>
            <a:pPr>
              <a:buFont typeface="Arial" panose="020B0604020202020204" pitchFamily="34" charset="0"/>
              <a:buChar char="•"/>
            </a:pPr>
            <a:r>
              <a:rPr lang="es-ES" b="1" dirty="0"/>
              <a:t>Almacenamiento:</a:t>
            </a:r>
            <a:r>
              <a:rPr lang="es-ES" dirty="0"/>
              <a:t> Establece normas para el almacenamiento de hidrocarburos, asegurando que se cumplan los estándares de seguridad y eficiencia.</a:t>
            </a:r>
          </a:p>
          <a:p>
            <a:endParaRPr lang="es-ES" dirty="0"/>
          </a:p>
        </p:txBody>
      </p:sp>
    </p:spTree>
    <p:extLst>
      <p:ext uri="{BB962C8B-B14F-4D97-AF65-F5344CB8AC3E}">
        <p14:creationId xmlns:p14="http://schemas.microsoft.com/office/powerpoint/2010/main" val="42604174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579664" y="947057"/>
            <a:ext cx="11032671" cy="5910943"/>
          </a:xfrm>
        </p:spPr>
        <p:txBody>
          <a:bodyPr>
            <a:normAutofit fontScale="70000" lnSpcReduction="20000"/>
          </a:bodyPr>
          <a:lstStyle/>
          <a:p>
            <a:r>
              <a:rPr lang="es-ES" b="1" dirty="0"/>
              <a:t>2.4 Título IV: De la Refinación y Comercialización</a:t>
            </a:r>
            <a:endParaRPr lang="es-ES" dirty="0"/>
          </a:p>
          <a:p>
            <a:pPr>
              <a:buFont typeface="Arial" panose="020B0604020202020204" pitchFamily="34" charset="0"/>
              <a:buChar char="•"/>
            </a:pPr>
            <a:r>
              <a:rPr lang="es-ES" b="1" dirty="0"/>
              <a:t>Refinación:</a:t>
            </a:r>
            <a:r>
              <a:rPr lang="es-ES" dirty="0"/>
              <a:t> Regula la actividad de refinación de petróleo y gas natural, estableciendo estándares técnicos y de calidad para los productos refinados.</a:t>
            </a:r>
          </a:p>
          <a:p>
            <a:pPr>
              <a:buFont typeface="Arial" panose="020B0604020202020204" pitchFamily="34" charset="0"/>
              <a:buChar char="•"/>
            </a:pPr>
            <a:r>
              <a:rPr lang="es-ES" b="1" dirty="0"/>
              <a:t>Comercialización:</a:t>
            </a:r>
            <a:r>
              <a:rPr lang="es-ES" dirty="0"/>
              <a:t> Define el marco para la comercialización de productos refinados y gas natural, promoviendo la competencia y protegiendo los derechos de los consumidores.</a:t>
            </a:r>
          </a:p>
          <a:p>
            <a:r>
              <a:rPr lang="es-ES" b="1" dirty="0"/>
              <a:t>2.5 Título V: Del Régimen Tributario</a:t>
            </a:r>
            <a:endParaRPr lang="es-ES" dirty="0"/>
          </a:p>
          <a:p>
            <a:pPr>
              <a:buFont typeface="Arial" panose="020B0604020202020204" pitchFamily="34" charset="0"/>
              <a:buChar char="•"/>
            </a:pPr>
            <a:r>
              <a:rPr lang="es-ES" b="1" dirty="0"/>
              <a:t>Impuestos y Regalías:</a:t>
            </a:r>
            <a:r>
              <a:rPr lang="es-ES" dirty="0"/>
              <a:t> Establece el régimen tributario aplicable a las actividades de hidrocarburos, incluyendo impuestos y regalías que las empresas deben pagar al Estado.</a:t>
            </a:r>
          </a:p>
          <a:p>
            <a:pPr>
              <a:buFont typeface="Arial" panose="020B0604020202020204" pitchFamily="34" charset="0"/>
              <a:buChar char="•"/>
            </a:pPr>
            <a:r>
              <a:rPr lang="es-ES" b="1" dirty="0"/>
              <a:t>Distribución de Ingresos:</a:t>
            </a:r>
            <a:r>
              <a:rPr lang="es-ES" dirty="0"/>
              <a:t> Define cómo se distribuyen los ingresos generados por la explotación de hidrocarburos entre el Estado y las regiones productoras.</a:t>
            </a:r>
          </a:p>
          <a:p>
            <a:r>
              <a:rPr lang="es-ES" b="1" dirty="0"/>
              <a:t>2.6 Título VI: De la Regulación y Supervisión</a:t>
            </a:r>
            <a:endParaRPr lang="es-ES" dirty="0"/>
          </a:p>
          <a:p>
            <a:pPr>
              <a:buFont typeface="Arial" panose="020B0604020202020204" pitchFamily="34" charset="0"/>
              <a:buChar char="•"/>
            </a:pPr>
            <a:r>
              <a:rPr lang="es-ES" b="1" dirty="0"/>
              <a:t>Regulación:</a:t>
            </a:r>
            <a:r>
              <a:rPr lang="es-ES" dirty="0"/>
              <a:t> Establece la autoridad competente para la regulación y supervisión del sector </a:t>
            </a:r>
            <a:r>
              <a:rPr lang="es-ES" dirty="0" err="1"/>
              <a:t>hidrocarburífero</a:t>
            </a:r>
            <a:r>
              <a:rPr lang="es-ES" dirty="0"/>
              <a:t>, incluyendo el Ministerio de Energía y Minas (MINEM) y otras entidades reguladoras.</a:t>
            </a:r>
          </a:p>
          <a:p>
            <a:pPr>
              <a:buFont typeface="Arial" panose="020B0604020202020204" pitchFamily="34" charset="0"/>
              <a:buChar char="•"/>
            </a:pPr>
            <a:r>
              <a:rPr lang="es-ES" b="1" dirty="0"/>
              <a:t>Fiscalización:</a:t>
            </a:r>
            <a:r>
              <a:rPr lang="es-ES" dirty="0"/>
              <a:t> Define los mecanismos de fiscalización para asegurar el cumplimiento de las normativas y estándares establecidos por la ley.</a:t>
            </a:r>
          </a:p>
          <a:p>
            <a:r>
              <a:rPr lang="es-ES" b="1" dirty="0"/>
              <a:t>2.7 Título VII: Disposiciones Complementarias y Finales</a:t>
            </a:r>
            <a:endParaRPr lang="es-ES" dirty="0"/>
          </a:p>
          <a:p>
            <a:pPr>
              <a:buFont typeface="Arial" panose="020B0604020202020204" pitchFamily="34" charset="0"/>
              <a:buChar char="•"/>
            </a:pPr>
            <a:r>
              <a:rPr lang="es-ES" b="1" dirty="0"/>
              <a:t>Modificaciones y Reformas:</a:t>
            </a:r>
            <a:r>
              <a:rPr lang="es-ES" dirty="0"/>
              <a:t> Incluye disposiciones para la modificación y reforma de la ley, así como la resolución de conflictos relacionados con su aplicación.</a:t>
            </a:r>
          </a:p>
          <a:p>
            <a:pPr>
              <a:buFont typeface="Arial" panose="020B0604020202020204" pitchFamily="34" charset="0"/>
              <a:buChar char="•"/>
            </a:pPr>
            <a:r>
              <a:rPr lang="es-ES" b="1" dirty="0"/>
              <a:t>Transición y Vigencia:</a:t>
            </a:r>
            <a:r>
              <a:rPr lang="es-ES" dirty="0"/>
              <a:t> Define el período de transición y la vigencia de las disposiciones establecidas por la ley.</a:t>
            </a:r>
          </a:p>
          <a:p>
            <a:endParaRPr lang="es-ES" dirty="0"/>
          </a:p>
        </p:txBody>
      </p:sp>
    </p:spTree>
    <p:extLst>
      <p:ext uri="{BB962C8B-B14F-4D97-AF65-F5344CB8AC3E}">
        <p14:creationId xmlns:p14="http://schemas.microsoft.com/office/powerpoint/2010/main" val="24871209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dirty="0"/>
              <a:t>La </a:t>
            </a:r>
            <a:r>
              <a:rPr lang="es-ES" b="1" dirty="0"/>
              <a:t>Ley N.º 26221</a:t>
            </a:r>
            <a:r>
              <a:rPr lang="es-ES" dirty="0"/>
              <a:t>, conocida como la Ley de Hidrocarburos, proporciona el marco legal integral para la regulación del sector de hidrocarburos en Perú. Establece las bases para la exploración, explotación, transporte, refinación y comercialización de hidrocarburos, incluyendo gas natural y petróleo. La ley busca promover inversiones, asegurar la explotación eficiente de recursos y proteger el interés nacional, mientras se establece un régimen tributario y se garantizan estándares ambientales y de seguridad.</a:t>
            </a:r>
          </a:p>
        </p:txBody>
      </p:sp>
    </p:spTree>
    <p:extLst>
      <p:ext uri="{BB962C8B-B14F-4D97-AF65-F5344CB8AC3E}">
        <p14:creationId xmlns:p14="http://schemas.microsoft.com/office/powerpoint/2010/main" val="16166618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Reglamento de la Ley de Hidrocarburos (Decreto Supremo N.º 042-94-EM)</a:t>
            </a:r>
            <a:endParaRPr lang="es-ES" sz="60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marL="0" indent="0">
              <a:buNone/>
            </a:pPr>
            <a:r>
              <a:rPr lang="es-ES" b="1" dirty="0"/>
              <a:t>Contexto y Objetivo</a:t>
            </a:r>
          </a:p>
          <a:p>
            <a:r>
              <a:rPr lang="es-ES" b="1" dirty="0"/>
              <a:t>Contexto:</a:t>
            </a:r>
            <a:endParaRPr lang="es-ES" dirty="0"/>
          </a:p>
          <a:p>
            <a:pPr>
              <a:buFont typeface="Arial" panose="020B0604020202020204" pitchFamily="34" charset="0"/>
              <a:buChar char="•"/>
            </a:pPr>
            <a:r>
              <a:rPr lang="es-ES" b="1" dirty="0"/>
              <a:t>Fecha de Promulgación:</a:t>
            </a:r>
            <a:r>
              <a:rPr lang="es-ES" dirty="0"/>
              <a:t> El Decreto Supremo N.º 042-94-EM fue promulgado el 5 de marzo de 1994.</a:t>
            </a:r>
          </a:p>
          <a:p>
            <a:pPr>
              <a:buFont typeface="Arial" panose="020B0604020202020204" pitchFamily="34" charset="0"/>
              <a:buChar char="•"/>
            </a:pPr>
            <a:r>
              <a:rPr lang="es-ES" b="1" dirty="0"/>
              <a:t>Propósito:</a:t>
            </a:r>
            <a:r>
              <a:rPr lang="es-ES" dirty="0"/>
              <a:t> El reglamento desarrolla y especifica los aspectos operativos de la Ley N.º 26221, proporcionando directrices claras para la implementación de la ley en la práctica.</a:t>
            </a:r>
          </a:p>
          <a:p>
            <a:r>
              <a:rPr lang="es-ES" b="1" dirty="0"/>
              <a:t>Objetivo:</a:t>
            </a:r>
            <a:endParaRPr lang="es-ES" dirty="0"/>
          </a:p>
          <a:p>
            <a:pPr>
              <a:buFont typeface="Arial" panose="020B0604020202020204" pitchFamily="34" charset="0"/>
              <a:buChar char="•"/>
            </a:pPr>
            <a:r>
              <a:rPr lang="es-ES" b="1" dirty="0"/>
              <a:t>Desarrollo Normativo:</a:t>
            </a:r>
            <a:r>
              <a:rPr lang="es-ES" dirty="0"/>
              <a:t> Establecer reglas detalladas para la exploración, explotación, transporte, refinación, y comercialización de hidrocarburos, de acuerdo con las disposiciones de la Ley de Hidrocarburos.</a:t>
            </a:r>
          </a:p>
          <a:p>
            <a:pPr>
              <a:buFont typeface="Arial" panose="020B0604020202020204" pitchFamily="34" charset="0"/>
              <a:buChar char="•"/>
            </a:pPr>
            <a:r>
              <a:rPr lang="es-ES" b="1"/>
              <a:t>Clarificación y Procedimientos:</a:t>
            </a:r>
            <a:r>
              <a:rPr lang="es-ES"/>
              <a:t> Proporcionar procedimientos operativos y técnicos, asegurando la correcta aplicación de la ley y promoviendo la inversión en el sector energético.</a:t>
            </a:r>
          </a:p>
          <a:p>
            <a:endParaRPr lang="es-ES" dirty="0"/>
          </a:p>
        </p:txBody>
      </p:sp>
    </p:spTree>
    <p:extLst>
      <p:ext uri="{BB962C8B-B14F-4D97-AF65-F5344CB8AC3E}">
        <p14:creationId xmlns:p14="http://schemas.microsoft.com/office/powerpoint/2010/main" val="636758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r>
              <a:rPr lang="es-ES" b="1" dirty="0"/>
              <a:t>Estructura y Contenidos Principales</a:t>
            </a:r>
          </a:p>
          <a:p>
            <a:pPr marL="0" indent="0">
              <a:buNone/>
            </a:pPr>
            <a:r>
              <a:rPr lang="es-ES" b="1" dirty="0"/>
              <a:t> Título I: Disposiciones Generales</a:t>
            </a:r>
            <a:endParaRPr lang="es-ES" dirty="0"/>
          </a:p>
          <a:p>
            <a:pPr>
              <a:buFont typeface="Arial" panose="020B0604020202020204" pitchFamily="34" charset="0"/>
              <a:buChar char="•"/>
            </a:pPr>
            <a:r>
              <a:rPr lang="es-ES" b="1" dirty="0"/>
              <a:t>Ámbito de Aplicación:</a:t>
            </a:r>
            <a:r>
              <a:rPr lang="es-ES" dirty="0"/>
              <a:t> Define el alcance del reglamento y su aplicación a todas las actividades relacionadas con hidrocarburos, incluyendo petróleo y gas natural.</a:t>
            </a:r>
          </a:p>
          <a:p>
            <a:pPr>
              <a:buFont typeface="Arial" panose="020B0604020202020204" pitchFamily="34" charset="0"/>
              <a:buChar char="•"/>
            </a:pPr>
            <a:r>
              <a:rPr lang="es-ES" b="1" dirty="0"/>
              <a:t>Definiciones:</a:t>
            </a:r>
            <a:r>
              <a:rPr lang="es-ES" dirty="0"/>
              <a:t> Incluye definiciones importantes para la interpretación y aplicación del reglamento, aclarando términos técnicos y operativos.</a:t>
            </a:r>
          </a:p>
          <a:p>
            <a:pPr marL="0" indent="0">
              <a:buNone/>
            </a:pPr>
            <a:r>
              <a:rPr lang="es-ES" b="1" dirty="0"/>
              <a:t> Título II: De la Exploración y Explotación</a:t>
            </a:r>
            <a:endParaRPr lang="es-ES" dirty="0"/>
          </a:p>
          <a:p>
            <a:pPr>
              <a:buFont typeface="Arial" panose="020B0604020202020204" pitchFamily="34" charset="0"/>
              <a:buChar char="•"/>
            </a:pPr>
            <a:r>
              <a:rPr lang="es-ES" b="1" dirty="0"/>
              <a:t>Concesiones de Exploración y Explotación:</a:t>
            </a:r>
            <a:endParaRPr lang="es-ES" dirty="0"/>
          </a:p>
          <a:p>
            <a:pPr marL="742950" lvl="1" indent="-285750">
              <a:buFont typeface="Arial" panose="020B0604020202020204" pitchFamily="34" charset="0"/>
              <a:buChar char="•"/>
            </a:pPr>
            <a:r>
              <a:rPr lang="es-ES" b="1" dirty="0"/>
              <a:t>Procedimiento de Otorgamiento:</a:t>
            </a:r>
            <a:r>
              <a:rPr lang="es-ES" dirty="0"/>
              <a:t> Detalla el proceso para la solicitud y concesión de derechos de exploración y explotación, incluyendo la presentación de propuestas y la evaluación técnica y financiera.</a:t>
            </a:r>
          </a:p>
          <a:p>
            <a:pPr marL="742950" lvl="1" indent="-285750">
              <a:buFont typeface="Arial" panose="020B0604020202020204" pitchFamily="34" charset="0"/>
              <a:buChar char="•"/>
            </a:pPr>
            <a:r>
              <a:rPr lang="es-ES" b="1" dirty="0"/>
              <a:t>Contratos:</a:t>
            </a:r>
            <a:r>
              <a:rPr lang="es-ES" dirty="0"/>
              <a:t> Especifica los requisitos y condiciones que deben cumplir los contratos de concesión, incluyendo términos, duración, y obligaciones de las partes.</a:t>
            </a:r>
          </a:p>
          <a:p>
            <a:pPr marL="742950" lvl="1" indent="-285750">
              <a:buFont typeface="Arial" panose="020B0604020202020204" pitchFamily="34" charset="0"/>
              <a:buChar char="•"/>
            </a:pPr>
            <a:r>
              <a:rPr lang="es-ES" b="1" dirty="0"/>
              <a:t>Garantías y Compromisos:</a:t>
            </a:r>
            <a:r>
              <a:rPr lang="es-ES" dirty="0"/>
              <a:t> Establece las garantías financieras y los compromisos de inversión que los concesionarios deben presentar.</a:t>
            </a:r>
          </a:p>
          <a:p>
            <a:endParaRPr lang="es-ES" dirty="0"/>
          </a:p>
        </p:txBody>
      </p:sp>
    </p:spTree>
    <p:extLst>
      <p:ext uri="{BB962C8B-B14F-4D97-AF65-F5344CB8AC3E}">
        <p14:creationId xmlns:p14="http://schemas.microsoft.com/office/powerpoint/2010/main" val="11138729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Título III: Del Transporte y Almacenamiento</a:t>
            </a:r>
            <a:endParaRPr lang="es-ES" dirty="0"/>
          </a:p>
          <a:p>
            <a:pPr>
              <a:buFont typeface="Arial" panose="020B0604020202020204" pitchFamily="34" charset="0"/>
              <a:buChar char="•"/>
            </a:pPr>
            <a:r>
              <a:rPr lang="es-ES" b="1" dirty="0"/>
              <a:t>Transporte de Hidrocarburos:</a:t>
            </a:r>
            <a:endParaRPr lang="es-ES" dirty="0"/>
          </a:p>
          <a:p>
            <a:pPr marL="742950" lvl="1" indent="-285750">
              <a:buFont typeface="Arial" panose="020B0604020202020204" pitchFamily="34" charset="0"/>
              <a:buChar char="•"/>
            </a:pPr>
            <a:r>
              <a:rPr lang="es-ES" b="1" dirty="0"/>
              <a:t>Permisos y Autorizaciones:</a:t>
            </a:r>
            <a:r>
              <a:rPr lang="es-ES" dirty="0"/>
              <a:t> Define los permisos necesarios para la construcción y operación de oleoductos y gasoductos.</a:t>
            </a:r>
          </a:p>
          <a:p>
            <a:pPr marL="742950" lvl="1" indent="-285750">
              <a:buFont typeface="Arial" panose="020B0604020202020204" pitchFamily="34" charset="0"/>
              <a:buChar char="•"/>
            </a:pPr>
            <a:r>
              <a:rPr lang="es-ES" b="1" dirty="0"/>
              <a:t>Regulación de Operaciones:</a:t>
            </a:r>
            <a:r>
              <a:rPr lang="es-ES" dirty="0"/>
              <a:t> Establece los estándares y procedimientos para el transporte de hidrocarburos, asegurando la seguridad y eficiencia.</a:t>
            </a:r>
          </a:p>
          <a:p>
            <a:r>
              <a:rPr lang="es-ES" b="1" dirty="0" err="1"/>
              <a:t>Almacenamiento:Normas</a:t>
            </a:r>
            <a:r>
              <a:rPr lang="es-ES" b="1" dirty="0"/>
              <a:t> de Seguridad:</a:t>
            </a:r>
            <a:r>
              <a:rPr lang="es-ES" dirty="0"/>
              <a:t> Proporciona directrices para el almacenamiento seguro de hidrocarburos, incluyendo la construcción y mantenimiento de instalaciones de almacenamiento.</a:t>
            </a:r>
          </a:p>
          <a:p>
            <a:endParaRPr lang="es-ES" dirty="0"/>
          </a:p>
        </p:txBody>
      </p:sp>
    </p:spTree>
    <p:extLst>
      <p:ext uri="{BB962C8B-B14F-4D97-AF65-F5344CB8AC3E}">
        <p14:creationId xmlns:p14="http://schemas.microsoft.com/office/powerpoint/2010/main" val="32370030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Título IV: De la Refinación y Comercialización</a:t>
            </a:r>
            <a:endParaRPr lang="es-ES" dirty="0"/>
          </a:p>
          <a:p>
            <a:pPr>
              <a:buFont typeface="Arial" panose="020B0604020202020204" pitchFamily="34" charset="0"/>
              <a:buChar char="•"/>
            </a:pPr>
            <a:r>
              <a:rPr lang="es-ES" b="1" dirty="0"/>
              <a:t>Refinación:</a:t>
            </a:r>
            <a:endParaRPr lang="es-ES" dirty="0"/>
          </a:p>
          <a:p>
            <a:pPr marL="742950" lvl="1" indent="-285750">
              <a:buFont typeface="Arial" panose="020B0604020202020204" pitchFamily="34" charset="0"/>
              <a:buChar char="•"/>
            </a:pPr>
            <a:r>
              <a:rPr lang="es-ES" b="1" dirty="0"/>
              <a:t>Regulación de Plantas de Refinación:</a:t>
            </a:r>
            <a:r>
              <a:rPr lang="es-ES" dirty="0"/>
              <a:t> Establece los requisitos técnicos y operativos para la construcción y operación de plantas de refinación de petróleo.</a:t>
            </a:r>
          </a:p>
          <a:p>
            <a:pPr marL="742950" lvl="1" indent="-285750">
              <a:buFont typeface="Arial" panose="020B0604020202020204" pitchFamily="34" charset="0"/>
              <a:buChar char="•"/>
            </a:pPr>
            <a:r>
              <a:rPr lang="es-ES" b="1" dirty="0"/>
              <a:t>Normas de Calidad:</a:t>
            </a:r>
            <a:r>
              <a:rPr lang="es-ES" dirty="0"/>
              <a:t> Define los estándares de calidad para los productos refinados y los procedimientos de control.</a:t>
            </a:r>
          </a:p>
          <a:p>
            <a:pPr>
              <a:buFont typeface="Arial" panose="020B0604020202020204" pitchFamily="34" charset="0"/>
              <a:buChar char="•"/>
            </a:pPr>
            <a:r>
              <a:rPr lang="es-ES" b="1" dirty="0"/>
              <a:t>Comercialización:</a:t>
            </a:r>
            <a:endParaRPr lang="es-ES" dirty="0"/>
          </a:p>
          <a:p>
            <a:pPr marL="742950" lvl="1" indent="-285750">
              <a:buFont typeface="Arial" panose="020B0604020202020204" pitchFamily="34" charset="0"/>
              <a:buChar char="•"/>
            </a:pPr>
            <a:r>
              <a:rPr lang="es-ES" b="1" dirty="0"/>
              <a:t>Regulación de Actividades Comerciales:</a:t>
            </a:r>
            <a:r>
              <a:rPr lang="es-ES" dirty="0"/>
              <a:t> Establece las normas para la comercialización de hidrocarburos y productos refinados, promoviendo la competencia y protegiendo los derechos de los consumidores.</a:t>
            </a:r>
          </a:p>
          <a:p>
            <a:pPr marL="742950" lvl="1" indent="-285750">
              <a:buFont typeface="Arial" panose="020B0604020202020204" pitchFamily="34" charset="0"/>
              <a:buChar char="•"/>
            </a:pPr>
            <a:r>
              <a:rPr lang="es-ES" b="1" dirty="0"/>
              <a:t>Registros y Licencias:</a:t>
            </a:r>
            <a:r>
              <a:rPr lang="es-ES" dirty="0"/>
              <a:t> Define los requisitos para el registro y la obtención de licencias de comercialización.</a:t>
            </a:r>
          </a:p>
          <a:p>
            <a:endParaRPr lang="es-ES" dirty="0"/>
          </a:p>
        </p:txBody>
      </p:sp>
    </p:spTree>
    <p:extLst>
      <p:ext uri="{BB962C8B-B14F-4D97-AF65-F5344CB8AC3E}">
        <p14:creationId xmlns:p14="http://schemas.microsoft.com/office/powerpoint/2010/main" val="28297002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01012"/>
            <a:ext cx="11032671" cy="5075952"/>
          </a:xfrm>
        </p:spPr>
        <p:txBody>
          <a:bodyPr>
            <a:normAutofit fontScale="92500" lnSpcReduction="20000"/>
          </a:bodyPr>
          <a:lstStyle/>
          <a:p>
            <a:pPr marL="0" indent="0">
              <a:buNone/>
            </a:pPr>
            <a:r>
              <a:rPr lang="es-ES" b="1" dirty="0"/>
              <a:t>Título V: Del Régimen Tributario y Financiero</a:t>
            </a:r>
            <a:endParaRPr lang="es-ES" dirty="0"/>
          </a:p>
          <a:p>
            <a:pPr>
              <a:buFont typeface="Arial" panose="020B0604020202020204" pitchFamily="34" charset="0"/>
              <a:buChar char="•"/>
            </a:pPr>
            <a:r>
              <a:rPr lang="es-ES" b="1" dirty="0"/>
              <a:t>Impuestos y Regalías:</a:t>
            </a:r>
            <a:endParaRPr lang="es-ES" dirty="0"/>
          </a:p>
          <a:p>
            <a:pPr marL="742950" lvl="1" indent="-285750">
              <a:buFont typeface="Arial" panose="020B0604020202020204" pitchFamily="34" charset="0"/>
              <a:buChar char="•"/>
            </a:pPr>
            <a:r>
              <a:rPr lang="es-ES" b="1" dirty="0"/>
              <a:t>Régimen Tributario:</a:t>
            </a:r>
            <a:r>
              <a:rPr lang="es-ES" dirty="0"/>
              <a:t> Especifica el régimen tributario aplicable a las actividades de hidrocarburos, incluyendo impuestos y regalías que deben pagar las empresas.</a:t>
            </a:r>
          </a:p>
          <a:p>
            <a:pPr marL="742950" lvl="1" indent="-285750">
              <a:buFont typeface="Arial" panose="020B0604020202020204" pitchFamily="34" charset="0"/>
              <a:buChar char="•"/>
            </a:pPr>
            <a:r>
              <a:rPr lang="es-ES" b="1" dirty="0"/>
              <a:t>Distribución de Ingresos:</a:t>
            </a:r>
            <a:r>
              <a:rPr lang="es-ES" dirty="0"/>
              <a:t> Detalla cómo se distribuyen los ingresos generados por la explotación de hidrocarburos entre el Estado y las regiones productoras.</a:t>
            </a:r>
          </a:p>
          <a:p>
            <a:pPr marL="0" indent="0">
              <a:buNone/>
            </a:pPr>
            <a:r>
              <a:rPr lang="es-ES" b="1" dirty="0"/>
              <a:t>Título VI: De la Regulación y Fiscalización</a:t>
            </a:r>
            <a:endParaRPr lang="es-ES" dirty="0"/>
          </a:p>
          <a:p>
            <a:pPr>
              <a:buFont typeface="Arial" panose="020B0604020202020204" pitchFamily="34" charset="0"/>
              <a:buChar char="•"/>
            </a:pPr>
            <a:r>
              <a:rPr lang="es-ES" b="1" dirty="0"/>
              <a:t>Entidades Reguladoras:</a:t>
            </a:r>
            <a:endParaRPr lang="es-ES" dirty="0"/>
          </a:p>
          <a:p>
            <a:pPr marL="742950" lvl="1" indent="-285750">
              <a:buFont typeface="Arial" panose="020B0604020202020204" pitchFamily="34" charset="0"/>
              <a:buChar char="•"/>
            </a:pPr>
            <a:r>
              <a:rPr lang="es-ES" b="1" dirty="0"/>
              <a:t>Autoridades Competentes:</a:t>
            </a:r>
            <a:r>
              <a:rPr lang="es-ES" dirty="0"/>
              <a:t> Define las autoridades responsables de la regulación y supervisión del sector de hidrocarburos, incluyendo el Ministerio de Energía y Minas (MINEM) y otras entidades.</a:t>
            </a:r>
          </a:p>
          <a:p>
            <a:pPr marL="742950" lvl="1" indent="-285750">
              <a:buFont typeface="Arial" panose="020B0604020202020204" pitchFamily="34" charset="0"/>
              <a:buChar char="•"/>
            </a:pPr>
            <a:r>
              <a:rPr lang="es-ES" b="1" dirty="0"/>
              <a:t>Funciones y Poderes:</a:t>
            </a:r>
            <a:r>
              <a:rPr lang="es-ES" dirty="0"/>
              <a:t> Establece los poderes y responsabilidades de las autoridades reguladoras para garantizar el cumplimiento de la normativa.</a:t>
            </a:r>
          </a:p>
          <a:p>
            <a:pPr marL="742950" lvl="1" indent="-285750"/>
            <a:r>
              <a:rPr lang="es-ES" b="1" dirty="0"/>
              <a:t>Inspección y Control:</a:t>
            </a:r>
          </a:p>
          <a:p>
            <a:pPr marL="742950" lvl="1" indent="-285750"/>
            <a:r>
              <a:rPr lang="es-ES" b="1" dirty="0"/>
              <a:t>Procedimientos de Inspección:</a:t>
            </a:r>
            <a:r>
              <a:rPr lang="es-ES" dirty="0"/>
              <a:t> Define los procedimientos para la inspección de instalaciones y actividades, así como las sanciones por incumplimientos.</a:t>
            </a:r>
          </a:p>
          <a:p>
            <a:pPr marL="742950" lvl="1" indent="-285750">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40970188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70000" lnSpcReduction="20000"/>
          </a:bodyPr>
          <a:lstStyle/>
          <a:p>
            <a:pPr marL="0" indent="0">
              <a:buNone/>
            </a:pPr>
            <a:r>
              <a:rPr lang="es-ES" b="1" dirty="0"/>
              <a:t>Título VII: Disposiciones Complementarias y Finales</a:t>
            </a:r>
            <a:endParaRPr lang="es-ES" dirty="0"/>
          </a:p>
          <a:p>
            <a:pPr>
              <a:buFont typeface="Arial" panose="020B0604020202020204" pitchFamily="34" charset="0"/>
              <a:buChar char="•"/>
            </a:pPr>
            <a:r>
              <a:rPr lang="es-ES" b="1" dirty="0"/>
              <a:t>Modificaciones y Reformas:</a:t>
            </a:r>
            <a:r>
              <a:rPr lang="es-ES" dirty="0"/>
              <a:t> Establece el proceso para la modificación y actualización del reglamento.</a:t>
            </a:r>
          </a:p>
          <a:p>
            <a:pPr>
              <a:buFont typeface="Arial" panose="020B0604020202020204" pitchFamily="34" charset="0"/>
              <a:buChar char="•"/>
            </a:pPr>
            <a:r>
              <a:rPr lang="es-ES" b="1" dirty="0"/>
              <a:t>Transición y Vigencia:</a:t>
            </a:r>
            <a:r>
              <a:rPr lang="es-ES" dirty="0"/>
              <a:t> Define el período de transición y la entrada en vigor de las disposiciones del reglamento.</a:t>
            </a:r>
          </a:p>
          <a:p>
            <a:pPr marL="0" indent="0">
              <a:buNone/>
            </a:pPr>
            <a:r>
              <a:rPr lang="es-ES" b="1" dirty="0"/>
              <a:t>Aspectos Clave</a:t>
            </a:r>
          </a:p>
          <a:p>
            <a:pPr marL="0" indent="0">
              <a:buNone/>
            </a:pPr>
            <a:r>
              <a:rPr lang="es-ES" b="1" dirty="0"/>
              <a:t>Concesiones y Contratos:</a:t>
            </a:r>
            <a:endParaRPr lang="es-ES" dirty="0"/>
          </a:p>
          <a:p>
            <a:pPr>
              <a:buFont typeface="Arial" panose="020B0604020202020204" pitchFamily="34" charset="0"/>
              <a:buChar char="•"/>
            </a:pPr>
            <a:r>
              <a:rPr lang="es-ES" b="1" dirty="0"/>
              <a:t>Proceso de Evaluación:</a:t>
            </a:r>
            <a:r>
              <a:rPr lang="es-ES" dirty="0"/>
              <a:t> Incluye un proceso riguroso para evaluar las propuestas de concesión, asegurando que solo se otorguen a empresas con la capacidad técnica y financiera adecuada.</a:t>
            </a:r>
          </a:p>
          <a:p>
            <a:pPr>
              <a:buFont typeface="Arial" panose="020B0604020202020204" pitchFamily="34" charset="0"/>
              <a:buChar char="•"/>
            </a:pPr>
            <a:r>
              <a:rPr lang="es-ES" b="1" dirty="0"/>
              <a:t>Requisitos Financieros:</a:t>
            </a:r>
            <a:r>
              <a:rPr lang="es-ES" dirty="0"/>
              <a:t> Los concesionarios deben presentar garantías financieras y compromisos de inversión para asegurar la ejecución efectiva de los proyectos.</a:t>
            </a:r>
          </a:p>
          <a:p>
            <a:r>
              <a:rPr lang="es-ES" b="1" dirty="0"/>
              <a:t>3.2 Seguridad y Normas Ambientales:</a:t>
            </a:r>
            <a:endParaRPr lang="es-ES" dirty="0"/>
          </a:p>
          <a:p>
            <a:pPr>
              <a:buFont typeface="Arial" panose="020B0604020202020204" pitchFamily="34" charset="0"/>
              <a:buChar char="•"/>
            </a:pPr>
            <a:r>
              <a:rPr lang="es-ES" b="1" dirty="0"/>
              <a:t>Estándares Ambientales:</a:t>
            </a:r>
            <a:r>
              <a:rPr lang="es-ES" dirty="0"/>
              <a:t> El reglamento requiere que los proyectos cumplan con estudios de impacto ambiental y medidas de mitigación para proteger el medio ambiente.</a:t>
            </a:r>
          </a:p>
          <a:p>
            <a:pPr>
              <a:buFont typeface="Arial" panose="020B0604020202020204" pitchFamily="34" charset="0"/>
              <a:buChar char="•"/>
            </a:pPr>
            <a:r>
              <a:rPr lang="es-ES" b="1" dirty="0"/>
              <a:t>Seguridad Operativa:</a:t>
            </a:r>
            <a:r>
              <a:rPr lang="es-ES" dirty="0"/>
              <a:t> Establece normas estrictas para garantizar la seguridad en la operación de instalaciones de hidrocarburos.</a:t>
            </a:r>
          </a:p>
          <a:p>
            <a:endParaRPr lang="es-ES" dirty="0"/>
          </a:p>
        </p:txBody>
      </p:sp>
    </p:spTree>
    <p:extLst>
      <p:ext uri="{BB962C8B-B14F-4D97-AF65-F5344CB8AC3E}">
        <p14:creationId xmlns:p14="http://schemas.microsoft.com/office/powerpoint/2010/main" val="39275108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r>
              <a:rPr lang="es-ES" b="1" dirty="0"/>
              <a:t>Regulación y Fiscalización:</a:t>
            </a:r>
            <a:endParaRPr lang="es-ES" dirty="0"/>
          </a:p>
          <a:p>
            <a:pPr>
              <a:buFont typeface="Arial" panose="020B0604020202020204" pitchFamily="34" charset="0"/>
              <a:buChar char="•"/>
            </a:pPr>
            <a:r>
              <a:rPr lang="es-ES" b="1" dirty="0"/>
              <a:t>Fiscalización Activa:</a:t>
            </a:r>
            <a:r>
              <a:rPr lang="es-ES" dirty="0"/>
              <a:t> Las autoridades reguladoras tienen amplios poderes para fiscalizar y controlar las actividades del sector, asegurando el cumplimiento de las normativas.</a:t>
            </a:r>
          </a:p>
          <a:p>
            <a:pPr>
              <a:buFont typeface="Arial" panose="020B0604020202020204" pitchFamily="34" charset="0"/>
              <a:buChar char="•"/>
            </a:pPr>
            <a:r>
              <a:rPr lang="es-ES" b="1" dirty="0"/>
              <a:t>Sanciones y Penalidades:</a:t>
            </a:r>
            <a:r>
              <a:rPr lang="es-ES" dirty="0"/>
              <a:t> Se prevén sanciones para las empresas que incumplen las normas, incluyendo multas y la revocación de concesiones.</a:t>
            </a:r>
          </a:p>
          <a:p>
            <a:r>
              <a:rPr lang="es-ES" b="1" dirty="0"/>
              <a:t>Implementación y Actualizaciones</a:t>
            </a:r>
          </a:p>
          <a:p>
            <a:pPr marL="0" indent="0">
              <a:buNone/>
            </a:pPr>
            <a:r>
              <a:rPr lang="es-ES" b="1" dirty="0"/>
              <a:t> Reglamentos Específicos:</a:t>
            </a:r>
            <a:endParaRPr lang="es-ES" dirty="0"/>
          </a:p>
          <a:p>
            <a:pPr>
              <a:buFont typeface="Arial" panose="020B0604020202020204" pitchFamily="34" charset="0"/>
              <a:buChar char="•"/>
            </a:pPr>
            <a:r>
              <a:rPr lang="es-ES" b="1" dirty="0"/>
              <a:t>Reglamentos Adicionales:</a:t>
            </a:r>
            <a:r>
              <a:rPr lang="es-ES" dirty="0"/>
              <a:t> El reglamento puede ser complementado por normativas específicas que aborden aspectos técnicos y operativos detallados.</a:t>
            </a:r>
          </a:p>
          <a:p>
            <a:pPr>
              <a:buFont typeface="Arial" panose="020B0604020202020204" pitchFamily="34" charset="0"/>
              <a:buChar char="•"/>
            </a:pPr>
            <a:r>
              <a:rPr lang="es-ES" b="1" dirty="0"/>
              <a:t>Actualizaciones Regulares:</a:t>
            </a:r>
            <a:r>
              <a:rPr lang="es-ES" dirty="0"/>
              <a:t> Se realizan actualizaciones y modificaciones para adaptar el reglamento a las nuevas condiciones del mercado y a las necesidades del sector.</a:t>
            </a:r>
          </a:p>
          <a:p>
            <a:endParaRPr lang="es-ES" dirty="0"/>
          </a:p>
        </p:txBody>
      </p:sp>
    </p:spTree>
    <p:extLst>
      <p:ext uri="{BB962C8B-B14F-4D97-AF65-F5344CB8AC3E}">
        <p14:creationId xmlns:p14="http://schemas.microsoft.com/office/powerpoint/2010/main" val="42777984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Documentación Oficial:</a:t>
            </a:r>
            <a:endParaRPr lang="es-ES" dirty="0"/>
          </a:p>
          <a:p>
            <a:pPr algn="just">
              <a:buFont typeface="Arial" panose="020B0604020202020204" pitchFamily="34" charset="0"/>
              <a:buChar char="•"/>
            </a:pPr>
            <a:r>
              <a:rPr lang="es-ES" b="1" dirty="0"/>
              <a:t>Publicaciones:</a:t>
            </a:r>
            <a:r>
              <a:rPr lang="es-ES" dirty="0"/>
              <a:t> El reglamento y sus modificaciones se publican en el Diario Oficial El Peruano y en sitios web oficiales del gobierno, asegurando el acceso público a la información.</a:t>
            </a:r>
          </a:p>
          <a:p>
            <a:pPr algn="just">
              <a:buFont typeface="Arial" panose="020B0604020202020204" pitchFamily="34" charset="0"/>
              <a:buChar char="•"/>
            </a:pPr>
            <a:r>
              <a:rPr lang="es-ES" dirty="0"/>
              <a:t>El </a:t>
            </a:r>
            <a:r>
              <a:rPr lang="es-ES" b="1" dirty="0"/>
              <a:t>Decreto Supremo N.º 042-94-EM</a:t>
            </a:r>
            <a:r>
              <a:rPr lang="es-ES" dirty="0"/>
              <a:t>, conocido como el Reglamento de la Ley de Hidrocarburos, establece las normas y procedimientos específicos para la implementación de la Ley N.º 26221 en Perú. Cubre aspectos clave como la exploración, explotación, transporte, refinación, y comercialización de hidrocarburos, así como la regulación tributaria y la fiscalización. Este reglamento asegura que las actividades en el sector de hidrocarburos se realicen de manera eficiente, segura y conforme a los estándares ambientales y legales.</a:t>
            </a:r>
          </a:p>
          <a:p>
            <a:endParaRPr lang="es-ES" dirty="0"/>
          </a:p>
        </p:txBody>
      </p:sp>
    </p:spTree>
    <p:extLst>
      <p:ext uri="{BB962C8B-B14F-4D97-AF65-F5344CB8AC3E}">
        <p14:creationId xmlns:p14="http://schemas.microsoft.com/office/powerpoint/2010/main" val="1688075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endParaRPr lang="es-ES" dirty="0"/>
          </a:p>
        </p:txBody>
      </p:sp>
    </p:spTree>
    <p:extLst>
      <p:ext uri="{BB962C8B-B14F-4D97-AF65-F5344CB8AC3E}">
        <p14:creationId xmlns:p14="http://schemas.microsoft.com/office/powerpoint/2010/main" val="19457394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21248</TotalTime>
  <Words>7926</Words>
  <Application>Microsoft Office PowerPoint</Application>
  <PresentationFormat>Panorámica</PresentationFormat>
  <Paragraphs>437</Paragraphs>
  <Slides>81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81</vt:i4>
      </vt:variant>
    </vt:vector>
  </HeadingPairs>
  <TitlesOfParts>
    <vt:vector size="86" baseType="lpstr">
      <vt:lpstr>Arial</vt:lpstr>
      <vt:lpstr>Calibri</vt:lpstr>
      <vt:lpstr>Outfit</vt:lpstr>
      <vt:lpstr>Prompt</vt:lpstr>
      <vt:lpstr>Tema de Office</vt:lpstr>
      <vt:lpstr>Presentación de PowerPoint</vt:lpstr>
      <vt:lpstr>Presentación de PowerPoint</vt:lpstr>
      <vt:lpstr>MIDSTREAM</vt:lpstr>
      <vt:lpstr>MIDSTREAM</vt:lpstr>
      <vt:lpstr>REFINACION DE PETROLEO</vt:lpstr>
      <vt:lpstr>Presentación de PowerPoint</vt:lpstr>
      <vt:lpstr>Banco de Datos:  </vt:lpstr>
      <vt:lpstr>Presentación de PowerPoint</vt:lpstr>
      <vt:lpstr>PROCESO DE REFINACION</vt:lpstr>
      <vt:lpstr>Presentación de PowerPoint</vt:lpstr>
      <vt:lpstr>PRODUCTOS REFINADOS</vt:lpstr>
      <vt:lpstr>Presentación de PowerPoint</vt:lpstr>
      <vt:lpstr>Principales Mercados de Productos Refinados </vt:lpstr>
      <vt:lpstr>Presentación de PowerPoint</vt:lpstr>
      <vt:lpstr>Presentación de PowerPoint</vt:lpstr>
      <vt:lpstr>Presentación de PowerPoint</vt:lpstr>
      <vt:lpstr>Definición de Precios de Productos Refinados</vt:lpstr>
      <vt:lpstr>Factores que Afectan los Precios </vt:lpstr>
      <vt:lpstr>Presentación de PowerPoint</vt:lpstr>
      <vt:lpstr>Presentación de PowerPoint</vt:lpstr>
      <vt:lpstr>Gas Natural Licuado</vt:lpstr>
      <vt:lpstr>Presentación de PowerPoint</vt:lpstr>
      <vt:lpstr>Proceso de Licuefaccion</vt:lpstr>
      <vt:lpstr>Presentación de PowerPoint</vt:lpstr>
      <vt:lpstr>Presentación de PowerPoint</vt:lpstr>
      <vt:lpstr>Presentación de PowerPoint</vt:lpstr>
      <vt:lpstr>Comercialización del GNL en Perú</vt:lpstr>
      <vt:lpstr>Presentación de PowerPoint</vt:lpstr>
      <vt:lpstr>Presentación de PowerPoint</vt:lpstr>
      <vt:lpstr>CONTRATO CON JAPON</vt:lpstr>
      <vt:lpstr>DETALLES DEL CONTRATO</vt:lpstr>
      <vt:lpstr>Presentación de PowerPoint</vt:lpstr>
      <vt:lpstr>Presentación de PowerPoint</vt:lpstr>
      <vt:lpstr>Presentación de PowerPoint</vt:lpstr>
      <vt:lpstr>IMPACTO Y BENEFICIOS</vt:lpstr>
      <vt:lpstr>Presentación de PowerPoint</vt:lpstr>
      <vt:lpstr>Desafíos y Consideraciones</vt:lpstr>
      <vt:lpstr>CONTRATO ENTRE PERU Y SHELL</vt:lpstr>
      <vt:lpstr>Presentación de PowerPoint</vt:lpstr>
      <vt:lpstr>Presentación de PowerPoint</vt:lpstr>
      <vt:lpstr>Presentación de PowerPoint</vt:lpstr>
      <vt:lpstr>Presentación de PowerPoint</vt:lpstr>
      <vt:lpstr>Presentación de PowerPoint</vt:lpstr>
      <vt:lpstr>Contrato de GNL entre Perú y CNOOC</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Procesamiento de Gas Natural y Fraccionamiento de NGL</vt:lpstr>
      <vt:lpstr>Presentación de PowerPoint</vt:lpstr>
      <vt:lpstr>Presentación de PowerPoint</vt:lpstr>
      <vt:lpstr>Procesamiento de Gas Natural y Fraccionamiento en Malvinas y Pisco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Ingresos económicos </vt:lpstr>
      <vt:lpstr>Presentación de PowerPoint</vt:lpstr>
      <vt:lpstr>Normativa de Gas Natural</vt:lpstr>
      <vt:lpstr>Presentación de PowerPoint</vt:lpstr>
      <vt:lpstr>Presentación de PowerPoint</vt:lpstr>
      <vt:lpstr>Presentación de PowerPoint</vt:lpstr>
      <vt:lpstr>Presentación de PowerPoint</vt:lpstr>
      <vt:lpstr>Reglamento de la Ley de Hidrocarburos (Decreto Supremo N.º 042-94-EM)</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Benji Jonathan Cruzate Contreras</cp:lastModifiedBy>
  <cp:revision>36</cp:revision>
  <dcterms:created xsi:type="dcterms:W3CDTF">2022-04-19T18:02:09Z</dcterms:created>
  <dcterms:modified xsi:type="dcterms:W3CDTF">2024-08-28T02:33:26Z</dcterms:modified>
</cp:coreProperties>
</file>