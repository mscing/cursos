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2" r:id="rId3"/>
    <p:sldId id="280" r:id="rId4"/>
    <p:sldId id="584" r:id="rId5"/>
    <p:sldId id="585" r:id="rId6"/>
    <p:sldId id="586" r:id="rId7"/>
    <p:sldId id="587" r:id="rId8"/>
    <p:sldId id="588" r:id="rId9"/>
    <p:sldId id="589" r:id="rId10"/>
    <p:sldId id="590" r:id="rId11"/>
    <p:sldId id="591" r:id="rId12"/>
    <p:sldId id="592" r:id="rId13"/>
    <p:sldId id="593" r:id="rId14"/>
    <p:sldId id="594" r:id="rId15"/>
    <p:sldId id="595" r:id="rId16"/>
    <p:sldId id="596" r:id="rId17"/>
    <p:sldId id="597" r:id="rId18"/>
    <p:sldId id="598" r:id="rId19"/>
    <p:sldId id="599" r:id="rId20"/>
    <p:sldId id="600" r:id="rId21"/>
    <p:sldId id="601" r:id="rId22"/>
    <p:sldId id="602" r:id="rId23"/>
    <p:sldId id="603" r:id="rId24"/>
    <p:sldId id="604" r:id="rId25"/>
    <p:sldId id="605" r:id="rId26"/>
    <p:sldId id="606" r:id="rId27"/>
    <p:sldId id="607" r:id="rId28"/>
    <p:sldId id="608" r:id="rId29"/>
    <p:sldId id="609" r:id="rId30"/>
    <p:sldId id="610" r:id="rId31"/>
    <p:sldId id="612" r:id="rId32"/>
    <p:sldId id="613" r:id="rId33"/>
    <p:sldId id="614" r:id="rId34"/>
    <p:sldId id="615" r:id="rId35"/>
    <p:sldId id="616" r:id="rId36"/>
    <p:sldId id="617" r:id="rId37"/>
    <p:sldId id="618" r:id="rId38"/>
    <p:sldId id="619" r:id="rId39"/>
    <p:sldId id="620" r:id="rId40"/>
    <p:sldId id="621" r:id="rId41"/>
    <p:sldId id="622" r:id="rId42"/>
    <p:sldId id="623" r:id="rId43"/>
    <p:sldId id="624" r:id="rId44"/>
    <p:sldId id="628" r:id="rId45"/>
    <p:sldId id="629" r:id="rId46"/>
    <p:sldId id="631" r:id="rId47"/>
    <p:sldId id="630" r:id="rId48"/>
    <p:sldId id="632" r:id="rId49"/>
    <p:sldId id="633" r:id="rId50"/>
    <p:sldId id="634" r:id="rId51"/>
    <p:sldId id="635" r:id="rId52"/>
    <p:sldId id="636" r:id="rId53"/>
    <p:sldId id="637" r:id="rId54"/>
    <p:sldId id="638" r:id="rId55"/>
    <p:sldId id="639" r:id="rId56"/>
    <p:sldId id="640" r:id="rId57"/>
    <p:sldId id="641" r:id="rId58"/>
    <p:sldId id="642" r:id="rId59"/>
    <p:sldId id="643" r:id="rId60"/>
    <p:sldId id="644" r:id="rId61"/>
    <p:sldId id="645" r:id="rId62"/>
    <p:sldId id="646" r:id="rId63"/>
    <p:sldId id="647" r:id="rId64"/>
    <p:sldId id="648" r:id="rId65"/>
    <p:sldId id="649" r:id="rId66"/>
    <p:sldId id="650" r:id="rId67"/>
    <p:sldId id="651" r:id="rId68"/>
    <p:sldId id="652" r:id="rId69"/>
    <p:sldId id="653" r:id="rId70"/>
    <p:sldId id="654" r:id="rId71"/>
    <p:sldId id="655" r:id="rId72"/>
    <p:sldId id="656" r:id="rId73"/>
    <p:sldId id="260" r:id="rId74"/>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F3B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47" d="100"/>
          <a:sy n="47" d="100"/>
        </p:scale>
        <p:origin x="77" y="82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p>
        </p:txBody>
      </p:sp>
      <p:sp>
        <p:nvSpPr>
          <p:cNvPr id="3" name="Subtítulo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editar el estilo de subtítulo del patrón</a:t>
            </a:r>
          </a:p>
        </p:txBody>
      </p:sp>
      <p:sp>
        <p:nvSpPr>
          <p:cNvPr id="4" name="Marcador de fecha 3"/>
          <p:cNvSpPr>
            <a:spLocks noGrp="1"/>
          </p:cNvSpPr>
          <p:nvPr>
            <p:ph type="dt" sz="half" idx="10"/>
          </p:nvPr>
        </p:nvSpPr>
        <p:spPr/>
        <p:txBody>
          <a:bodyPr/>
          <a:lstStyle/>
          <a:p>
            <a:fld id="{CC231CB2-8F63-4ACB-AA28-38CB9C3B0788}" type="datetimeFigureOut">
              <a:rPr lang="es-ES" smtClean="0"/>
              <a:t>24/09/2024</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918155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contenido 2"/>
          <p:cNvSpPr>
            <a:spLocks noGrp="1"/>
          </p:cNvSpPr>
          <p:nvPr>
            <p:ph idx="1"/>
          </p:nvPr>
        </p:nvSpPr>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10"/>
          </p:nvPr>
        </p:nvSpPr>
        <p:spPr/>
        <p:txBody>
          <a:bodyPr/>
          <a:lstStyle/>
          <a:p>
            <a:fld id="{CC231CB2-8F63-4ACB-AA28-38CB9C3B0788}" type="datetimeFigureOut">
              <a:rPr lang="es-ES" smtClean="0"/>
              <a:t>24/09/2024</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8945228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p>
        </p:txBody>
      </p:sp>
      <p:sp>
        <p:nvSpPr>
          <p:cNvPr id="3" name="Marcador de texto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Editar el estilo de texto del patrón</a:t>
            </a:r>
          </a:p>
        </p:txBody>
      </p:sp>
      <p:sp>
        <p:nvSpPr>
          <p:cNvPr id="4" name="Marcador de fecha 3"/>
          <p:cNvSpPr>
            <a:spLocks noGrp="1"/>
          </p:cNvSpPr>
          <p:nvPr>
            <p:ph type="dt" sz="half" idx="10"/>
          </p:nvPr>
        </p:nvSpPr>
        <p:spPr/>
        <p:txBody>
          <a:bodyPr/>
          <a:lstStyle/>
          <a:p>
            <a:fld id="{CC231CB2-8F63-4ACB-AA28-38CB9C3B0788}" type="datetimeFigureOut">
              <a:rPr lang="es-ES" smtClean="0"/>
              <a:t>24/09/2024</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35937309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contenido 2"/>
          <p:cNvSpPr>
            <a:spLocks noGrp="1"/>
          </p:cNvSpPr>
          <p:nvPr>
            <p:ph sz="half" idx="1"/>
          </p:nvPr>
        </p:nvSpPr>
        <p:spPr>
          <a:xfrm>
            <a:off x="838200" y="1825625"/>
            <a:ext cx="5181600" cy="435133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contenido 3"/>
          <p:cNvSpPr>
            <a:spLocks noGrp="1"/>
          </p:cNvSpPr>
          <p:nvPr>
            <p:ph sz="half" idx="2"/>
          </p:nvPr>
        </p:nvSpPr>
        <p:spPr>
          <a:xfrm>
            <a:off x="6172200" y="1825625"/>
            <a:ext cx="5181600" cy="435133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fecha 4"/>
          <p:cNvSpPr>
            <a:spLocks noGrp="1"/>
          </p:cNvSpPr>
          <p:nvPr>
            <p:ph type="dt" sz="half" idx="10"/>
          </p:nvPr>
        </p:nvSpPr>
        <p:spPr/>
        <p:txBody>
          <a:bodyPr/>
          <a:lstStyle/>
          <a:p>
            <a:fld id="{CC231CB2-8F63-4ACB-AA28-38CB9C3B0788}" type="datetimeFigureOut">
              <a:rPr lang="es-ES" smtClean="0"/>
              <a:t>24/09/2024</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36462442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a:xfrm>
            <a:off x="839788" y="365125"/>
            <a:ext cx="10515600" cy="1325563"/>
          </a:xfrm>
        </p:spPr>
        <p:txBody>
          <a:bodyPr/>
          <a:lstStyle/>
          <a:p>
            <a:r>
              <a:rPr lang="es-ES"/>
              <a:t>Haga clic para modificar el estilo de título del patrón</a:t>
            </a:r>
          </a:p>
        </p:txBody>
      </p:sp>
      <p:sp>
        <p:nvSpPr>
          <p:cNvPr id="3" name="Marcador de tex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4" name="Marcador de contenido 3"/>
          <p:cNvSpPr>
            <a:spLocks noGrp="1"/>
          </p:cNvSpPr>
          <p:nvPr>
            <p:ph sz="half" idx="2"/>
          </p:nvPr>
        </p:nvSpPr>
        <p:spPr>
          <a:xfrm>
            <a:off x="839788" y="2505075"/>
            <a:ext cx="5157787" cy="368458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tex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6" name="Marcador de contenido 5"/>
          <p:cNvSpPr>
            <a:spLocks noGrp="1"/>
          </p:cNvSpPr>
          <p:nvPr>
            <p:ph sz="quarter" idx="4"/>
          </p:nvPr>
        </p:nvSpPr>
        <p:spPr>
          <a:xfrm>
            <a:off x="6172200" y="2505075"/>
            <a:ext cx="5183188" cy="368458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7" name="Marcador de fecha 6"/>
          <p:cNvSpPr>
            <a:spLocks noGrp="1"/>
          </p:cNvSpPr>
          <p:nvPr>
            <p:ph type="dt" sz="half" idx="10"/>
          </p:nvPr>
        </p:nvSpPr>
        <p:spPr/>
        <p:txBody>
          <a:bodyPr/>
          <a:lstStyle/>
          <a:p>
            <a:fld id="{CC231CB2-8F63-4ACB-AA28-38CB9C3B0788}" type="datetimeFigureOut">
              <a:rPr lang="es-ES" smtClean="0"/>
              <a:t>24/09/2024</a:t>
            </a:fld>
            <a:endParaRPr lang="es-ES"/>
          </a:p>
        </p:txBody>
      </p:sp>
      <p:sp>
        <p:nvSpPr>
          <p:cNvPr id="8" name="Marcador de pie de página 7"/>
          <p:cNvSpPr>
            <a:spLocks noGrp="1"/>
          </p:cNvSpPr>
          <p:nvPr>
            <p:ph type="ftr" sz="quarter" idx="11"/>
          </p:nvPr>
        </p:nvSpPr>
        <p:spPr/>
        <p:txBody>
          <a:bodyPr/>
          <a:lstStyle/>
          <a:p>
            <a:endParaRPr lang="es-ES"/>
          </a:p>
        </p:txBody>
      </p:sp>
      <p:sp>
        <p:nvSpPr>
          <p:cNvPr id="9" name="Marcador de número de diapositiva 8"/>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4962326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fecha 2"/>
          <p:cNvSpPr>
            <a:spLocks noGrp="1"/>
          </p:cNvSpPr>
          <p:nvPr>
            <p:ph type="dt" sz="half" idx="10"/>
          </p:nvPr>
        </p:nvSpPr>
        <p:spPr/>
        <p:txBody>
          <a:bodyPr/>
          <a:lstStyle/>
          <a:p>
            <a:fld id="{CC231CB2-8F63-4ACB-AA28-38CB9C3B0788}" type="datetimeFigureOut">
              <a:rPr lang="es-ES" smtClean="0"/>
              <a:t>24/09/2024</a:t>
            </a:fld>
            <a:endParaRPr lang="es-ES"/>
          </a:p>
        </p:txBody>
      </p:sp>
      <p:sp>
        <p:nvSpPr>
          <p:cNvPr id="4" name="Marcador de pie de página 3"/>
          <p:cNvSpPr>
            <a:spLocks noGrp="1"/>
          </p:cNvSpPr>
          <p:nvPr>
            <p:ph type="ftr" sz="quarter" idx="11"/>
          </p:nvPr>
        </p:nvSpPr>
        <p:spPr/>
        <p:txBody>
          <a:bodyPr/>
          <a:lstStyle/>
          <a:p>
            <a:endParaRPr lang="es-ES"/>
          </a:p>
        </p:txBody>
      </p:sp>
      <p:sp>
        <p:nvSpPr>
          <p:cNvPr id="5" name="Marcador de número de diapositiva 4"/>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19899152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fld id="{CC231CB2-8F63-4ACB-AA28-38CB9C3B0788}" type="datetimeFigureOut">
              <a:rPr lang="es-ES" smtClean="0"/>
              <a:t>24/09/2024</a:t>
            </a:fld>
            <a:endParaRPr lang="es-ES"/>
          </a:p>
        </p:txBody>
      </p:sp>
      <p:sp>
        <p:nvSpPr>
          <p:cNvPr id="3" name="Marcador de pie de página 2"/>
          <p:cNvSpPr>
            <a:spLocks noGrp="1"/>
          </p:cNvSpPr>
          <p:nvPr>
            <p:ph type="ftr" sz="quarter" idx="11"/>
          </p:nvPr>
        </p:nvSpPr>
        <p:spPr/>
        <p:txBody>
          <a:bodyPr/>
          <a:lstStyle/>
          <a:p>
            <a:endParaRPr lang="es-ES"/>
          </a:p>
        </p:txBody>
      </p:sp>
      <p:sp>
        <p:nvSpPr>
          <p:cNvPr id="4" name="Marcador de número de diapositiva 3"/>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11624063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contenid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el estilo de texto del patrón</a:t>
            </a:r>
          </a:p>
        </p:txBody>
      </p:sp>
      <p:sp>
        <p:nvSpPr>
          <p:cNvPr id="5" name="Marcador de fecha 4"/>
          <p:cNvSpPr>
            <a:spLocks noGrp="1"/>
          </p:cNvSpPr>
          <p:nvPr>
            <p:ph type="dt" sz="half" idx="10"/>
          </p:nvPr>
        </p:nvSpPr>
        <p:spPr/>
        <p:txBody>
          <a:bodyPr/>
          <a:lstStyle/>
          <a:p>
            <a:fld id="{CC231CB2-8F63-4ACB-AA28-38CB9C3B0788}" type="datetimeFigureOut">
              <a:rPr lang="es-ES" smtClean="0"/>
              <a:t>24/09/2024</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19998094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posición de imagen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el estilo de texto del patrón</a:t>
            </a:r>
          </a:p>
        </p:txBody>
      </p:sp>
      <p:sp>
        <p:nvSpPr>
          <p:cNvPr id="5" name="Marcador de fecha 4"/>
          <p:cNvSpPr>
            <a:spLocks noGrp="1"/>
          </p:cNvSpPr>
          <p:nvPr>
            <p:ph type="dt" sz="half" idx="10"/>
          </p:nvPr>
        </p:nvSpPr>
        <p:spPr/>
        <p:txBody>
          <a:bodyPr/>
          <a:lstStyle/>
          <a:p>
            <a:fld id="{CC231CB2-8F63-4ACB-AA28-38CB9C3B0788}" type="datetimeFigureOut">
              <a:rPr lang="es-ES" smtClean="0"/>
              <a:t>24/09/2024</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2196911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texto vertical 2"/>
          <p:cNvSpPr>
            <a:spLocks noGrp="1"/>
          </p:cNvSpPr>
          <p:nvPr>
            <p:ph type="body" orient="vert" idx="1"/>
          </p:nvPr>
        </p:nvSpPr>
        <p:spPr/>
        <p:txBody>
          <a:bodyPr vert="eaVert"/>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10"/>
          </p:nvPr>
        </p:nvSpPr>
        <p:spPr/>
        <p:txBody>
          <a:bodyPr/>
          <a:lstStyle/>
          <a:p>
            <a:fld id="{CC231CB2-8F63-4ACB-AA28-38CB9C3B0788}" type="datetimeFigureOut">
              <a:rPr lang="es-ES" smtClean="0"/>
              <a:t>24/09/2024</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27292735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8724900" y="365125"/>
            <a:ext cx="2628900" cy="5811838"/>
          </a:xfrm>
        </p:spPr>
        <p:txBody>
          <a:bodyPr vert="eaVert"/>
          <a:lstStyle/>
          <a:p>
            <a:r>
              <a:rPr lang="es-ES"/>
              <a:t>Haga clic para modificar el estilo de título del patrón</a:t>
            </a:r>
          </a:p>
        </p:txBody>
      </p:sp>
      <p:sp>
        <p:nvSpPr>
          <p:cNvPr id="3" name="Marcador de texto vertical 2"/>
          <p:cNvSpPr>
            <a:spLocks noGrp="1"/>
          </p:cNvSpPr>
          <p:nvPr>
            <p:ph type="body" orient="vert" idx="1"/>
          </p:nvPr>
        </p:nvSpPr>
        <p:spPr>
          <a:xfrm>
            <a:off x="838200" y="365125"/>
            <a:ext cx="7734300" cy="5811838"/>
          </a:xfrm>
        </p:spPr>
        <p:txBody>
          <a:bodyPr vert="eaVert"/>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10"/>
          </p:nvPr>
        </p:nvSpPr>
        <p:spPr/>
        <p:txBody>
          <a:bodyPr/>
          <a:lstStyle/>
          <a:p>
            <a:fld id="{CC231CB2-8F63-4ACB-AA28-38CB9C3B0788}" type="datetimeFigureOut">
              <a:rPr lang="es-ES" smtClean="0"/>
              <a:t>24/09/2024</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20731078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p>
        </p:txBody>
      </p:sp>
      <p:sp>
        <p:nvSpPr>
          <p:cNvPr id="3"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C231CB2-8F63-4ACB-AA28-38CB9C3B0788}" type="datetimeFigureOut">
              <a:rPr lang="es-ES" smtClean="0"/>
              <a:t>24/09/2024</a:t>
            </a:fld>
            <a:endParaRPr lang="es-ES"/>
          </a:p>
        </p:txBody>
      </p:sp>
      <p:sp>
        <p:nvSpPr>
          <p:cNvPr id="5" name="Marcador de pie de pá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S"/>
          </a:p>
        </p:txBody>
      </p:sp>
      <p:sp>
        <p:nvSpPr>
          <p:cNvPr id="6" name="Marcador de número de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4A79FA8-4D08-4E50-BBA2-D88CCB263461}" type="slidenum">
              <a:rPr lang="es-ES" smtClean="0"/>
              <a:t>‹Nº›</a:t>
            </a:fld>
            <a:endParaRPr lang="es-ES"/>
          </a:p>
        </p:txBody>
      </p:sp>
    </p:spTree>
    <p:extLst>
      <p:ext uri="{BB962C8B-B14F-4D97-AF65-F5344CB8AC3E}">
        <p14:creationId xmlns:p14="http://schemas.microsoft.com/office/powerpoint/2010/main" val="29808196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b="1" kern="1200">
          <a:solidFill>
            <a:schemeClr val="tx1"/>
          </a:solidFill>
          <a:latin typeface="Prompt" panose="00000500000000000000" pitchFamily="2" charset="-34"/>
          <a:ea typeface="+mj-ea"/>
          <a:cs typeface="Prompt" panose="00000500000000000000" pitchFamily="2" charset="-34"/>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Outfit"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utfit"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utfit"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utfit"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utfit"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058027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Rectángulo 5"/>
          <p:cNvSpPr/>
          <p:nvPr/>
        </p:nvSpPr>
        <p:spPr>
          <a:xfrm>
            <a:off x="881271" y="2551837"/>
            <a:ext cx="10429458" cy="1754326"/>
          </a:xfrm>
          <a:prstGeom prst="rect">
            <a:avLst/>
          </a:prstGeom>
        </p:spPr>
        <p:txBody>
          <a:bodyPr wrap="none">
            <a:spAutoFit/>
          </a:bodyPr>
          <a:lstStyle/>
          <a:p>
            <a:pPr algn="ctr"/>
            <a:r>
              <a:rPr lang="es-ES" sz="5400" b="1" dirty="0">
                <a:solidFill>
                  <a:srgbClr val="00F3B5"/>
                </a:solidFill>
                <a:latin typeface="Prompt" panose="00000500000000000000" pitchFamily="2" charset="-34"/>
                <a:cs typeface="Prompt" panose="00000500000000000000" pitchFamily="2" charset="-34"/>
              </a:rPr>
              <a:t>ESPECIALIZACION EN  </a:t>
            </a:r>
          </a:p>
          <a:p>
            <a:pPr algn="ctr"/>
            <a:r>
              <a:rPr lang="es-ES" sz="5400" dirty="0">
                <a:solidFill>
                  <a:schemeClr val="bg1"/>
                </a:solidFill>
                <a:latin typeface="Prompt" panose="00000800000000000000" pitchFamily="2" charset="-34"/>
                <a:cs typeface="Prompt" panose="00000800000000000000" pitchFamily="2" charset="-34"/>
              </a:rPr>
              <a:t>GESTION DE GAS Y PETROLEO</a:t>
            </a:r>
          </a:p>
        </p:txBody>
      </p:sp>
    </p:spTree>
    <p:extLst>
      <p:ext uri="{BB962C8B-B14F-4D97-AF65-F5344CB8AC3E}">
        <p14:creationId xmlns:p14="http://schemas.microsoft.com/office/powerpoint/2010/main" val="18256197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04C7009-B4AD-8BBA-4EE5-7DE0D730117F}"/>
              </a:ext>
            </a:extLst>
          </p:cNvPr>
          <p:cNvSpPr>
            <a:spLocks noGrp="1"/>
          </p:cNvSpPr>
          <p:nvPr>
            <p:ph type="title"/>
          </p:nvPr>
        </p:nvSpPr>
        <p:spPr>
          <a:xfrm>
            <a:off x="1099457" y="2865729"/>
            <a:ext cx="10515600" cy="1325563"/>
          </a:xfrm>
        </p:spPr>
        <p:txBody>
          <a:bodyPr/>
          <a:lstStyle/>
          <a:p>
            <a:r>
              <a:rPr lang="es-ES" dirty="0"/>
              <a:t>TECNOLOGIA OFF SHORE Y FRACKING</a:t>
            </a:r>
            <a:endParaRPr lang="es-PE" dirty="0"/>
          </a:p>
        </p:txBody>
      </p:sp>
      <p:sp>
        <p:nvSpPr>
          <p:cNvPr id="3" name="Título 1">
            <a:extLst>
              <a:ext uri="{FF2B5EF4-FFF2-40B4-BE49-F238E27FC236}">
                <a16:creationId xmlns:a16="http://schemas.microsoft.com/office/drawing/2014/main" id="{73653071-40EA-CFBA-6A3F-E65A5E1FB43D}"/>
              </a:ext>
            </a:extLst>
          </p:cNvPr>
          <p:cNvSpPr txBox="1">
            <a:spLocks/>
          </p:cNvSpPr>
          <p:nvPr/>
        </p:nvSpPr>
        <p:spPr>
          <a:xfrm>
            <a:off x="838200" y="1075029"/>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b="1" kern="1200">
                <a:solidFill>
                  <a:schemeClr val="tx1"/>
                </a:solidFill>
                <a:latin typeface="Prompt" panose="00000500000000000000" pitchFamily="2" charset="-34"/>
                <a:ea typeface="+mj-ea"/>
                <a:cs typeface="Prompt" panose="00000500000000000000" pitchFamily="2" charset="-34"/>
              </a:defRPr>
            </a:lvl1pPr>
          </a:lstStyle>
          <a:p>
            <a:r>
              <a:rPr lang="es-ES" dirty="0"/>
              <a:t>MODULO IX</a:t>
            </a:r>
            <a:endParaRPr lang="es-PE" dirty="0"/>
          </a:p>
        </p:txBody>
      </p:sp>
    </p:spTree>
    <p:extLst>
      <p:ext uri="{BB962C8B-B14F-4D97-AF65-F5344CB8AC3E}">
        <p14:creationId xmlns:p14="http://schemas.microsoft.com/office/powerpoint/2010/main" val="31614128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19E6F5-05DC-9995-611E-161294A54025}"/>
              </a:ext>
            </a:extLst>
          </p:cNvPr>
          <p:cNvSpPr>
            <a:spLocks noGrp="1"/>
          </p:cNvSpPr>
          <p:nvPr>
            <p:ph type="title"/>
          </p:nvPr>
        </p:nvSpPr>
        <p:spPr>
          <a:xfrm>
            <a:off x="838199" y="183009"/>
            <a:ext cx="10515600" cy="996053"/>
          </a:xfrm>
        </p:spPr>
        <p:txBody>
          <a:bodyPr>
            <a:normAutofit/>
          </a:bodyPr>
          <a:lstStyle/>
          <a:p>
            <a:r>
              <a:rPr lang="es-ES" sz="2800" dirty="0"/>
              <a:t>INTRODUCCION</a:t>
            </a:r>
          </a:p>
        </p:txBody>
      </p:sp>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387930"/>
            <a:ext cx="10755087" cy="2808513"/>
          </a:xfrm>
        </p:spPr>
        <p:txBody>
          <a:bodyPr>
            <a:normAutofit/>
          </a:bodyPr>
          <a:lstStyle/>
          <a:p>
            <a:pPr marL="0" indent="0" algn="just">
              <a:buNone/>
            </a:pPr>
            <a:r>
              <a:rPr lang="es-ES" dirty="0"/>
              <a:t>En las últimas décadas, la industria energética ha visto avances significativos en la extracción de recursos naturales, destacando dos tecnologías en particular: las operaciones offshore y el fracking. Estas innovaciones han transformado la forma en que obtenemos petróleo y gas, abriendo nuevas fronteras para la producción energética, pero también han suscitado debates sobre sus impactos ambientales y sociales.</a:t>
            </a:r>
          </a:p>
        </p:txBody>
      </p:sp>
    </p:spTree>
    <p:extLst>
      <p:ext uri="{BB962C8B-B14F-4D97-AF65-F5344CB8AC3E}">
        <p14:creationId xmlns:p14="http://schemas.microsoft.com/office/powerpoint/2010/main" val="11604231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19E6F5-05DC-9995-611E-161294A54025}"/>
              </a:ext>
            </a:extLst>
          </p:cNvPr>
          <p:cNvSpPr>
            <a:spLocks noGrp="1"/>
          </p:cNvSpPr>
          <p:nvPr>
            <p:ph type="title"/>
          </p:nvPr>
        </p:nvSpPr>
        <p:spPr>
          <a:xfrm>
            <a:off x="838199" y="183009"/>
            <a:ext cx="10515600" cy="996053"/>
          </a:xfrm>
        </p:spPr>
        <p:txBody>
          <a:bodyPr>
            <a:normAutofit/>
          </a:bodyPr>
          <a:lstStyle/>
          <a:p>
            <a:r>
              <a:rPr lang="es-ES" sz="2800" dirty="0"/>
              <a:t>TECNOLOGIAS OFFSHORE</a:t>
            </a:r>
          </a:p>
        </p:txBody>
      </p:sp>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387930"/>
            <a:ext cx="11032671" cy="4789034"/>
          </a:xfrm>
        </p:spPr>
        <p:txBody>
          <a:bodyPr>
            <a:normAutofit/>
          </a:bodyPr>
          <a:lstStyle/>
          <a:p>
            <a:pPr marL="0" indent="0" algn="just">
              <a:buNone/>
            </a:pPr>
            <a:r>
              <a:rPr lang="es-ES" dirty="0"/>
              <a:t>Las tecnologías offshore se refieren a las técnicas y equipos utilizados para la exploración y extracción de petróleo y gas en el mar, lejos de la costa. Esta modalidad de explotación se ha convertido en un pilar fundamental para satisfacer la demanda global de energía, ya que muchos de los yacimientos más grandes se encuentran bajo el lecho marino. Las plataformas offshore, que pueden ser flotantes o fijas, permiten perforar profundidades significativas y gestionar la producción en entornos desafiantes. La evolución de estas tecnologías ha permitido acceder a reservas que antes eran inalcanzables, pero también ha planteado desafíos relacionados con la seguridad, el impacto ambiental y los costos de operación.</a:t>
            </a:r>
          </a:p>
        </p:txBody>
      </p:sp>
    </p:spTree>
    <p:extLst>
      <p:ext uri="{BB962C8B-B14F-4D97-AF65-F5344CB8AC3E}">
        <p14:creationId xmlns:p14="http://schemas.microsoft.com/office/powerpoint/2010/main" val="9314408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19E6F5-05DC-9995-611E-161294A54025}"/>
              </a:ext>
            </a:extLst>
          </p:cNvPr>
          <p:cNvSpPr>
            <a:spLocks noGrp="1"/>
          </p:cNvSpPr>
          <p:nvPr>
            <p:ph type="title"/>
          </p:nvPr>
        </p:nvSpPr>
        <p:spPr>
          <a:xfrm>
            <a:off x="838199" y="183009"/>
            <a:ext cx="10515600" cy="996053"/>
          </a:xfrm>
        </p:spPr>
        <p:txBody>
          <a:bodyPr>
            <a:normAutofit/>
          </a:bodyPr>
          <a:lstStyle/>
          <a:p>
            <a:r>
              <a:rPr lang="es-ES" sz="2800" dirty="0"/>
              <a:t>FRACKING</a:t>
            </a:r>
          </a:p>
        </p:txBody>
      </p:sp>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387930"/>
            <a:ext cx="11032671" cy="4789034"/>
          </a:xfrm>
        </p:spPr>
        <p:txBody>
          <a:bodyPr>
            <a:normAutofit/>
          </a:bodyPr>
          <a:lstStyle/>
          <a:p>
            <a:pPr marL="0" indent="0" algn="just">
              <a:buNone/>
            </a:pPr>
            <a:r>
              <a:rPr lang="es-ES" dirty="0"/>
              <a:t>Por otro lado, el fracking, o fracturación hidráulica, es una técnica utilizada para extraer petróleo y gas de formaciones rocosas subterráneas mediante la inyección de una mezcla de agua, arena y productos químicos a alta presión. Este proceso crea fisuras en las rocas para liberar los hidrocarburos atrapados. El fracking ha revolucionado la industria energética al permitir la explotación de formaciones no convencionales, como las lutitas, que previamente eran inaccesibles. No obstante, la técnica ha generado controversia debido a preocupaciones sobre sus impactos en el medio ambiente, incluyendo la contaminación del agua subterránea y la posible inducción de sismos.</a:t>
            </a:r>
          </a:p>
        </p:txBody>
      </p:sp>
    </p:spTree>
    <p:extLst>
      <p:ext uri="{BB962C8B-B14F-4D97-AF65-F5344CB8AC3E}">
        <p14:creationId xmlns:p14="http://schemas.microsoft.com/office/powerpoint/2010/main" val="22315799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19E6F5-05DC-9995-611E-161294A54025}"/>
              </a:ext>
            </a:extLst>
          </p:cNvPr>
          <p:cNvSpPr>
            <a:spLocks noGrp="1"/>
          </p:cNvSpPr>
          <p:nvPr>
            <p:ph type="title"/>
          </p:nvPr>
        </p:nvSpPr>
        <p:spPr>
          <a:xfrm>
            <a:off x="838199" y="183009"/>
            <a:ext cx="10515600" cy="996053"/>
          </a:xfrm>
        </p:spPr>
        <p:txBody>
          <a:bodyPr>
            <a:normAutofit/>
          </a:bodyPr>
          <a:lstStyle/>
          <a:p>
            <a:endParaRPr lang="es-ES" sz="2800" dirty="0"/>
          </a:p>
        </p:txBody>
      </p:sp>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387930"/>
            <a:ext cx="11032671" cy="4789034"/>
          </a:xfrm>
        </p:spPr>
        <p:txBody>
          <a:bodyPr>
            <a:normAutofit/>
          </a:bodyPr>
          <a:lstStyle/>
          <a:p>
            <a:pPr marL="0" indent="0" algn="just">
              <a:buNone/>
            </a:pPr>
            <a:r>
              <a:rPr lang="es-ES" dirty="0"/>
              <a:t>Ambas tecnologías han contribuido a un aumento significativo en la producción global de energía, pero también han sido objeto de escrutinio y regulación. </a:t>
            </a:r>
            <a:r>
              <a:rPr lang="es-ES"/>
              <a:t>La gestión responsable y la innovación continua en estas áreas son esenciales para equilibrar la satisfacción de la demanda energética con la protección del medio ambiente y la salud pública.</a:t>
            </a:r>
            <a:endParaRPr lang="es-ES" dirty="0"/>
          </a:p>
        </p:txBody>
      </p:sp>
    </p:spTree>
    <p:extLst>
      <p:ext uri="{BB962C8B-B14F-4D97-AF65-F5344CB8AC3E}">
        <p14:creationId xmlns:p14="http://schemas.microsoft.com/office/powerpoint/2010/main" val="1896094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19E6F5-05DC-9995-611E-161294A54025}"/>
              </a:ext>
            </a:extLst>
          </p:cNvPr>
          <p:cNvSpPr>
            <a:spLocks noGrp="1"/>
          </p:cNvSpPr>
          <p:nvPr>
            <p:ph type="title"/>
          </p:nvPr>
        </p:nvSpPr>
        <p:spPr>
          <a:xfrm>
            <a:off x="838199" y="183009"/>
            <a:ext cx="8583387" cy="959991"/>
          </a:xfrm>
        </p:spPr>
        <p:txBody>
          <a:bodyPr>
            <a:normAutofit/>
          </a:bodyPr>
          <a:lstStyle/>
          <a:p>
            <a:r>
              <a:rPr lang="es-ES" sz="2800" dirty="0"/>
              <a:t>INTRODUCCION A LAS ESTRUCTURAS E INGENIERIA OFFSHORE</a:t>
            </a:r>
          </a:p>
        </p:txBody>
      </p:sp>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930728" y="2628902"/>
            <a:ext cx="10330544" cy="2041070"/>
          </a:xfrm>
        </p:spPr>
        <p:txBody>
          <a:bodyPr>
            <a:normAutofit/>
          </a:bodyPr>
          <a:lstStyle/>
          <a:p>
            <a:pPr marL="0" indent="0" algn="just">
              <a:buNone/>
            </a:pPr>
            <a:r>
              <a:rPr lang="es-ES" dirty="0"/>
              <a:t>La ingeniería offshore es una disciplina especializada que se centra en el diseño, construcción y operación de instalaciones en entornos marinos. Esta ingeniería es crucial para la explotación de recursos submarinos, incluyendo petróleo y gas, que se encuentran en lechos marinos.</a:t>
            </a:r>
          </a:p>
        </p:txBody>
      </p:sp>
    </p:spTree>
    <p:extLst>
      <p:ext uri="{BB962C8B-B14F-4D97-AF65-F5344CB8AC3E}">
        <p14:creationId xmlns:p14="http://schemas.microsoft.com/office/powerpoint/2010/main" val="20867423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19E6F5-05DC-9995-611E-161294A54025}"/>
              </a:ext>
            </a:extLst>
          </p:cNvPr>
          <p:cNvSpPr>
            <a:spLocks noGrp="1"/>
          </p:cNvSpPr>
          <p:nvPr>
            <p:ph type="title"/>
          </p:nvPr>
        </p:nvSpPr>
        <p:spPr>
          <a:xfrm>
            <a:off x="838199" y="183009"/>
            <a:ext cx="9416144" cy="1204921"/>
          </a:xfrm>
        </p:spPr>
        <p:txBody>
          <a:bodyPr>
            <a:normAutofit/>
          </a:bodyPr>
          <a:lstStyle/>
          <a:p>
            <a:r>
              <a:rPr lang="es-ES" sz="2800" dirty="0"/>
              <a:t>PRINCIPALES ASPECTOS DE LA INGENIERIA OFFSHORE</a:t>
            </a:r>
          </a:p>
        </p:txBody>
      </p:sp>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387929"/>
            <a:ext cx="11032671" cy="5287061"/>
          </a:xfrm>
        </p:spPr>
        <p:txBody>
          <a:bodyPr>
            <a:normAutofit/>
          </a:bodyPr>
          <a:lstStyle/>
          <a:p>
            <a:pPr marL="0" indent="0">
              <a:buNone/>
            </a:pPr>
            <a:r>
              <a:rPr lang="es-ES" b="1" dirty="0"/>
              <a:t>Diseño Estructural</a:t>
            </a:r>
          </a:p>
          <a:p>
            <a:pPr>
              <a:buFont typeface="Arial" panose="020B0604020202020204" pitchFamily="34" charset="0"/>
              <a:buChar char="•"/>
            </a:pPr>
            <a:r>
              <a:rPr lang="es-ES" sz="2000" b="1" dirty="0"/>
              <a:t>Resistencia y Estabilidad</a:t>
            </a:r>
            <a:r>
              <a:rPr lang="es-ES" sz="2000" dirty="0"/>
              <a:t>:</a:t>
            </a:r>
          </a:p>
          <a:p>
            <a:pPr marL="742950" lvl="1" indent="-285750" algn="just">
              <a:buFont typeface="Arial" panose="020B0604020202020204" pitchFamily="34" charset="0"/>
              <a:buChar char="•"/>
            </a:pPr>
            <a:r>
              <a:rPr lang="es-ES" sz="2000" b="1" dirty="0"/>
              <a:t>Cargas y fuerzas</a:t>
            </a:r>
            <a:r>
              <a:rPr lang="es-ES" sz="2000" dirty="0"/>
              <a:t>: Las estructuras deben soportar diversas cargas, como peso propio, cargas dinámicas de olas, viento y terremotos. Se realizan análisis estructurales complejos para garantizar que las estructuras sean robustas.</a:t>
            </a:r>
          </a:p>
          <a:p>
            <a:pPr marL="742950" lvl="1" indent="-285750" algn="just">
              <a:buFont typeface="Arial" panose="020B0604020202020204" pitchFamily="34" charset="0"/>
              <a:buChar char="•"/>
            </a:pPr>
            <a:r>
              <a:rPr lang="es-ES" sz="2000" b="1" dirty="0"/>
              <a:t>Factores de seguridad</a:t>
            </a:r>
            <a:r>
              <a:rPr lang="es-ES" sz="2000" dirty="0"/>
              <a:t>: Se implementan márgenes de seguridad en el diseño para proteger contra eventos imprevistos, utilizando métodos de diseño de carga límite.</a:t>
            </a:r>
          </a:p>
          <a:p>
            <a:r>
              <a:rPr lang="es-ES" sz="2000" b="1" dirty="0"/>
              <a:t>Materiales:</a:t>
            </a:r>
          </a:p>
          <a:p>
            <a:pPr marL="742950" lvl="1" indent="-285750" algn="just"/>
            <a:r>
              <a:rPr lang="es-ES" sz="2000" b="1" dirty="0"/>
              <a:t>Selección de materiales</a:t>
            </a:r>
            <a:r>
              <a:rPr lang="es-ES" sz="2000" dirty="0"/>
              <a:t>: Se utilizan materiales resistentes a la corrosión, como acero inoxidable o aleaciones especiales. Además, los recubrimientos protectores son esenciales para prolongar la vida útil de las estructuras.</a:t>
            </a:r>
          </a:p>
          <a:p>
            <a:r>
              <a:rPr lang="es-ES" sz="2000" b="1" dirty="0"/>
              <a:t>Códigos y Normas</a:t>
            </a:r>
            <a:r>
              <a:rPr lang="es-ES" sz="2000" dirty="0"/>
              <a:t>:</a:t>
            </a:r>
          </a:p>
          <a:p>
            <a:pPr marL="742950" lvl="1" indent="-285750" algn="just"/>
            <a:r>
              <a:rPr lang="es-ES" sz="2000" b="1" dirty="0"/>
              <a:t>Regulaciones internacionales: </a:t>
            </a:r>
            <a:r>
              <a:rPr lang="es-ES" sz="2000" dirty="0"/>
              <a:t>Las estructuras offshore deben cumplir con estándares establecidos por organizaciones como la American </a:t>
            </a:r>
            <a:r>
              <a:rPr lang="es-ES" sz="2000" dirty="0" err="1"/>
              <a:t>Petroleum</a:t>
            </a:r>
            <a:r>
              <a:rPr lang="es-ES" sz="2000" dirty="0"/>
              <a:t> </a:t>
            </a:r>
            <a:r>
              <a:rPr lang="es-ES" sz="2000" dirty="0" err="1"/>
              <a:t>Institute</a:t>
            </a:r>
            <a:r>
              <a:rPr lang="es-ES" sz="2000" dirty="0"/>
              <a:t> (API) y la </a:t>
            </a:r>
            <a:r>
              <a:rPr lang="es-ES" sz="2000" dirty="0" err="1"/>
              <a:t>Det</a:t>
            </a:r>
            <a:r>
              <a:rPr lang="es-ES" sz="2000" dirty="0"/>
              <a:t> </a:t>
            </a:r>
            <a:r>
              <a:rPr lang="es-ES" sz="2000" dirty="0" err="1"/>
              <a:t>Norske</a:t>
            </a:r>
            <a:r>
              <a:rPr lang="es-ES" sz="2000" dirty="0"/>
              <a:t> Veritas (DNV), que regulan desde el diseño hasta la operación.</a:t>
            </a:r>
          </a:p>
          <a:p>
            <a:pPr>
              <a:buFont typeface="Arial" panose="020B0604020202020204" pitchFamily="34" charset="0"/>
              <a:buChar char="•"/>
            </a:pPr>
            <a:endParaRPr lang="es-ES" sz="2400" dirty="0"/>
          </a:p>
          <a:p>
            <a:pPr marL="742950" lvl="1" indent="-285750" algn="just">
              <a:buFont typeface="Arial" panose="020B0604020202020204" pitchFamily="34" charset="0"/>
              <a:buChar char="•"/>
            </a:pPr>
            <a:endParaRPr lang="es-ES" dirty="0"/>
          </a:p>
          <a:p>
            <a:pPr marL="0" indent="0" algn="just">
              <a:buNone/>
            </a:pPr>
            <a:endParaRPr lang="es-ES" dirty="0"/>
          </a:p>
        </p:txBody>
      </p:sp>
    </p:spTree>
    <p:extLst>
      <p:ext uri="{BB962C8B-B14F-4D97-AF65-F5344CB8AC3E}">
        <p14:creationId xmlns:p14="http://schemas.microsoft.com/office/powerpoint/2010/main" val="25059512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19E6F5-05DC-9995-611E-161294A54025}"/>
              </a:ext>
            </a:extLst>
          </p:cNvPr>
          <p:cNvSpPr>
            <a:spLocks noGrp="1"/>
          </p:cNvSpPr>
          <p:nvPr>
            <p:ph type="title"/>
          </p:nvPr>
        </p:nvSpPr>
        <p:spPr>
          <a:xfrm>
            <a:off x="838199" y="183009"/>
            <a:ext cx="10515600" cy="996053"/>
          </a:xfrm>
        </p:spPr>
        <p:txBody>
          <a:bodyPr>
            <a:normAutofit/>
          </a:bodyPr>
          <a:lstStyle/>
          <a:p>
            <a:endParaRPr lang="es-ES" sz="2800" dirty="0"/>
          </a:p>
        </p:txBody>
      </p:sp>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338943"/>
            <a:ext cx="11032671" cy="4838021"/>
          </a:xfrm>
        </p:spPr>
        <p:txBody>
          <a:bodyPr>
            <a:normAutofit fontScale="92500"/>
          </a:bodyPr>
          <a:lstStyle/>
          <a:p>
            <a:pPr marL="0" indent="0">
              <a:buNone/>
            </a:pPr>
            <a:r>
              <a:rPr lang="es-ES" sz="3000" b="1" dirty="0"/>
              <a:t>Tipos de Estructuras Offshore</a:t>
            </a:r>
          </a:p>
          <a:p>
            <a:pPr>
              <a:buFont typeface="Arial" panose="020B0604020202020204" pitchFamily="34" charset="0"/>
              <a:buChar char="•"/>
            </a:pPr>
            <a:r>
              <a:rPr lang="es-ES" b="1" dirty="0"/>
              <a:t>Estructuras Fijas</a:t>
            </a:r>
            <a:r>
              <a:rPr lang="es-ES" dirty="0"/>
              <a:t>:</a:t>
            </a:r>
          </a:p>
          <a:p>
            <a:pPr marL="742950" lvl="1" indent="-285750">
              <a:buFont typeface="Arial" panose="020B0604020202020204" pitchFamily="34" charset="0"/>
              <a:buChar char="•"/>
            </a:pPr>
            <a:r>
              <a:rPr lang="es-ES" b="1" dirty="0"/>
              <a:t>Plataformas Jack-Up</a:t>
            </a:r>
            <a:r>
              <a:rPr lang="es-ES" dirty="0"/>
              <a:t>: Estas plataformas tienen patas que se levantan sobre el lecho marino para proporcionar estabilidad. Son ideales para aguas poco profundas.</a:t>
            </a:r>
          </a:p>
          <a:p>
            <a:pPr marL="742950" lvl="1" indent="-285750">
              <a:buFont typeface="Arial" panose="020B0604020202020204" pitchFamily="34" charset="0"/>
              <a:buChar char="•"/>
            </a:pPr>
            <a:r>
              <a:rPr lang="es-ES" b="1" dirty="0"/>
              <a:t>Plataformas en Trípode</a:t>
            </a:r>
            <a:r>
              <a:rPr lang="es-ES" dirty="0"/>
              <a:t>: Diseñadas para mayor estabilidad, son ancladas al lecho marino y soportan perforación y producción en entornos más turbulentos.</a:t>
            </a:r>
          </a:p>
          <a:p>
            <a:pPr>
              <a:buFont typeface="Arial" panose="020B0604020202020204" pitchFamily="34" charset="0"/>
              <a:buChar char="•"/>
            </a:pPr>
            <a:r>
              <a:rPr lang="es-ES" b="1" dirty="0"/>
              <a:t>Estructuras Flotantes</a:t>
            </a:r>
            <a:r>
              <a:rPr lang="es-ES" dirty="0"/>
              <a:t>:</a:t>
            </a:r>
          </a:p>
          <a:p>
            <a:pPr marL="742950" lvl="1" indent="-285750">
              <a:buFont typeface="Arial" panose="020B0604020202020204" pitchFamily="34" charset="0"/>
              <a:buChar char="•"/>
            </a:pPr>
            <a:r>
              <a:rPr lang="es-ES" b="1" dirty="0"/>
              <a:t>Plataformas Semisumergibles</a:t>
            </a:r>
            <a:r>
              <a:rPr lang="es-ES" dirty="0"/>
              <a:t>: Estas estructuras son sostenidas por columnas que flotan en el agua, ofreciendo gran estabilidad en aguas profundas. Son versátiles y adecuadas para diferentes tipos de operaciones.</a:t>
            </a:r>
          </a:p>
          <a:p>
            <a:pPr marL="742950" lvl="1" indent="-285750">
              <a:buFont typeface="Arial" panose="020B0604020202020204" pitchFamily="34" charset="0"/>
              <a:buChar char="•"/>
            </a:pPr>
            <a:r>
              <a:rPr lang="es-ES" b="1" dirty="0"/>
              <a:t>FPSO (</a:t>
            </a:r>
            <a:r>
              <a:rPr lang="es-ES" b="1" dirty="0" err="1"/>
              <a:t>Floating</a:t>
            </a:r>
            <a:r>
              <a:rPr lang="es-ES" b="1" dirty="0"/>
              <a:t> </a:t>
            </a:r>
            <a:r>
              <a:rPr lang="es-ES" b="1" dirty="0" err="1"/>
              <a:t>Production</a:t>
            </a:r>
            <a:r>
              <a:rPr lang="es-ES" b="1" dirty="0"/>
              <a:t> Storage and </a:t>
            </a:r>
            <a:r>
              <a:rPr lang="es-ES" b="1" dirty="0" err="1"/>
              <a:t>Offloading</a:t>
            </a:r>
            <a:r>
              <a:rPr lang="es-ES" b="1" dirty="0"/>
              <a:t>)</a:t>
            </a:r>
            <a:r>
              <a:rPr lang="es-ES" dirty="0"/>
              <a:t>: Estas unidades flotantes extraen, procesan y almacenan hidrocarburos en alta mar, permitiendo la producción en áreas remotas.</a:t>
            </a:r>
          </a:p>
          <a:p>
            <a:pPr marL="0" indent="0" algn="just">
              <a:buNone/>
            </a:pPr>
            <a:endParaRPr lang="es-ES" dirty="0"/>
          </a:p>
        </p:txBody>
      </p:sp>
    </p:spTree>
    <p:extLst>
      <p:ext uri="{BB962C8B-B14F-4D97-AF65-F5344CB8AC3E}">
        <p14:creationId xmlns:p14="http://schemas.microsoft.com/office/powerpoint/2010/main" val="28357672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19E6F5-05DC-9995-611E-161294A54025}"/>
              </a:ext>
            </a:extLst>
          </p:cNvPr>
          <p:cNvSpPr>
            <a:spLocks noGrp="1"/>
          </p:cNvSpPr>
          <p:nvPr>
            <p:ph type="title"/>
          </p:nvPr>
        </p:nvSpPr>
        <p:spPr>
          <a:xfrm>
            <a:off x="838199" y="183009"/>
            <a:ext cx="10515600" cy="996053"/>
          </a:xfrm>
        </p:spPr>
        <p:txBody>
          <a:bodyPr>
            <a:normAutofit/>
          </a:bodyPr>
          <a:lstStyle/>
          <a:p>
            <a:endParaRPr lang="es-ES" sz="2800" dirty="0"/>
          </a:p>
        </p:txBody>
      </p:sp>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387930"/>
            <a:ext cx="11032671" cy="4789034"/>
          </a:xfrm>
        </p:spPr>
        <p:txBody>
          <a:bodyPr>
            <a:normAutofit/>
          </a:bodyPr>
          <a:lstStyle/>
          <a:p>
            <a:pPr marL="0" indent="0">
              <a:buNone/>
            </a:pPr>
            <a:r>
              <a:rPr lang="es-ES" b="1" dirty="0"/>
              <a:t>Perforación Offshore</a:t>
            </a:r>
          </a:p>
          <a:p>
            <a:pPr>
              <a:buFont typeface="Arial" panose="020B0604020202020204" pitchFamily="34" charset="0"/>
              <a:buChar char="•"/>
            </a:pPr>
            <a:r>
              <a:rPr lang="es-ES" b="1" dirty="0"/>
              <a:t>Tecnologías Avanzadas</a:t>
            </a:r>
            <a:r>
              <a:rPr lang="es-ES" dirty="0"/>
              <a:t>:</a:t>
            </a:r>
          </a:p>
          <a:p>
            <a:pPr marL="742950" lvl="1" indent="-285750">
              <a:buFont typeface="Arial" panose="020B0604020202020204" pitchFamily="34" charset="0"/>
              <a:buChar char="•"/>
            </a:pPr>
            <a:r>
              <a:rPr lang="es-ES" b="1" dirty="0"/>
              <a:t>Perforación Direccional</a:t>
            </a:r>
            <a:r>
              <a:rPr lang="es-ES" dirty="0"/>
              <a:t>: Permite perforar horizontalmente para alcanzar depósitos que no están directamente debajo de la plataforma. Esto maximiza la eficiencia y reduce el impacto ambiental.</a:t>
            </a:r>
          </a:p>
          <a:p>
            <a:pPr marL="742950" lvl="1" indent="-285750">
              <a:buFont typeface="Arial" panose="020B0604020202020204" pitchFamily="34" charset="0"/>
              <a:buChar char="•"/>
            </a:pPr>
            <a:r>
              <a:rPr lang="es-ES" b="1" dirty="0"/>
              <a:t>Perforación </a:t>
            </a:r>
            <a:r>
              <a:rPr lang="es-ES" b="1" dirty="0" err="1"/>
              <a:t>Multipozo</a:t>
            </a:r>
            <a:r>
              <a:rPr lang="es-ES" dirty="0"/>
              <a:t>: Un mismo lugar de perforación puede servir para varios pozos, lo que optimiza recursos y minimiza el uso de espacio.</a:t>
            </a:r>
          </a:p>
          <a:p>
            <a:pPr>
              <a:buFont typeface="Arial" panose="020B0604020202020204" pitchFamily="34" charset="0"/>
              <a:buChar char="•"/>
            </a:pPr>
            <a:r>
              <a:rPr lang="es-ES" b="1" dirty="0"/>
              <a:t>Equipos Especializados</a:t>
            </a:r>
            <a:r>
              <a:rPr lang="es-ES" dirty="0"/>
              <a:t>:</a:t>
            </a:r>
          </a:p>
          <a:p>
            <a:pPr marL="742950" lvl="1" indent="-285750">
              <a:buFont typeface="Arial" panose="020B0604020202020204" pitchFamily="34" charset="0"/>
              <a:buChar char="•"/>
            </a:pPr>
            <a:r>
              <a:rPr lang="es-ES" b="1" dirty="0"/>
              <a:t>Plataformas de Perforación</a:t>
            </a:r>
            <a:r>
              <a:rPr lang="es-ES" dirty="0"/>
              <a:t>: Equipadas con tecnología avanzada para perforar de manera segura y eficiente en condiciones marinas.</a:t>
            </a:r>
          </a:p>
          <a:p>
            <a:pPr marL="742950" lvl="1" indent="-285750">
              <a:buFont typeface="Arial" panose="020B0604020202020204" pitchFamily="34" charset="0"/>
              <a:buChar char="•"/>
            </a:pPr>
            <a:r>
              <a:rPr lang="es-ES" b="1" dirty="0"/>
              <a:t>Sistemas de Control de Pozo</a:t>
            </a:r>
            <a:r>
              <a:rPr lang="es-ES" dirty="0"/>
              <a:t>: Utilizados para gestionar la presión y evitar </a:t>
            </a:r>
            <a:r>
              <a:rPr lang="es-ES" dirty="0" err="1"/>
              <a:t>blowouts</a:t>
            </a:r>
            <a:r>
              <a:rPr lang="es-ES" dirty="0"/>
              <a:t> (erupciones descontroladas de petróleo o gas).</a:t>
            </a:r>
          </a:p>
          <a:p>
            <a:pPr marL="0" indent="0" algn="just">
              <a:buNone/>
            </a:pPr>
            <a:endParaRPr lang="es-ES" dirty="0"/>
          </a:p>
        </p:txBody>
      </p:sp>
    </p:spTree>
    <p:extLst>
      <p:ext uri="{BB962C8B-B14F-4D97-AF65-F5344CB8AC3E}">
        <p14:creationId xmlns:p14="http://schemas.microsoft.com/office/powerpoint/2010/main" val="32689117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19E6F5-05DC-9995-611E-161294A54025}"/>
              </a:ext>
            </a:extLst>
          </p:cNvPr>
          <p:cNvSpPr>
            <a:spLocks noGrp="1"/>
          </p:cNvSpPr>
          <p:nvPr>
            <p:ph type="title"/>
          </p:nvPr>
        </p:nvSpPr>
        <p:spPr>
          <a:xfrm>
            <a:off x="838199" y="183009"/>
            <a:ext cx="10515600" cy="996053"/>
          </a:xfrm>
        </p:spPr>
        <p:txBody>
          <a:bodyPr>
            <a:normAutofit/>
          </a:bodyPr>
          <a:lstStyle/>
          <a:p>
            <a:endParaRPr lang="es-ES" sz="2800" dirty="0"/>
          </a:p>
        </p:txBody>
      </p:sp>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387930"/>
            <a:ext cx="11032671" cy="4789034"/>
          </a:xfrm>
        </p:spPr>
        <p:txBody>
          <a:bodyPr>
            <a:normAutofit/>
          </a:bodyPr>
          <a:lstStyle/>
          <a:p>
            <a:pPr marL="0" indent="0">
              <a:buNone/>
            </a:pPr>
            <a:r>
              <a:rPr lang="es-ES" b="1" dirty="0"/>
              <a:t>Producción y Procesamiento</a:t>
            </a:r>
          </a:p>
          <a:p>
            <a:pPr>
              <a:buFont typeface="Arial" panose="020B0604020202020204" pitchFamily="34" charset="0"/>
              <a:buChar char="•"/>
            </a:pPr>
            <a:r>
              <a:rPr lang="es-ES" b="1" dirty="0"/>
              <a:t>Instalaciones de Producción</a:t>
            </a:r>
            <a:r>
              <a:rPr lang="es-ES" dirty="0"/>
              <a:t>:</a:t>
            </a:r>
          </a:p>
          <a:p>
            <a:pPr marL="742950" lvl="1" indent="-285750">
              <a:buFont typeface="Arial" panose="020B0604020202020204" pitchFamily="34" charset="0"/>
              <a:buChar char="•"/>
            </a:pPr>
            <a:r>
              <a:rPr lang="es-ES" b="1" dirty="0"/>
              <a:t>Separadores y Tratamiento</a:t>
            </a:r>
            <a:r>
              <a:rPr lang="es-ES" dirty="0"/>
              <a:t>: Equipos que separan el petróleo, gas y agua, garantizando que el producto final cumpla con las especificaciones requeridas.</a:t>
            </a:r>
          </a:p>
          <a:p>
            <a:pPr marL="742950" lvl="1" indent="-285750">
              <a:buFont typeface="Arial" panose="020B0604020202020204" pitchFamily="34" charset="0"/>
              <a:buChar char="•"/>
            </a:pPr>
            <a:r>
              <a:rPr lang="es-ES" b="1" dirty="0"/>
              <a:t>Sistemas de Compresión</a:t>
            </a:r>
            <a:r>
              <a:rPr lang="es-ES" dirty="0"/>
              <a:t>: Aumentan la presión del gas para facilitar su transporte.</a:t>
            </a:r>
          </a:p>
          <a:p>
            <a:pPr>
              <a:buFont typeface="Arial" panose="020B0604020202020204" pitchFamily="34" charset="0"/>
              <a:buChar char="•"/>
            </a:pPr>
            <a:r>
              <a:rPr lang="es-ES" b="1" dirty="0"/>
              <a:t>Transporte</a:t>
            </a:r>
            <a:r>
              <a:rPr lang="es-ES" dirty="0"/>
              <a:t>:</a:t>
            </a:r>
          </a:p>
          <a:p>
            <a:pPr marL="742950" lvl="1" indent="-285750">
              <a:buFont typeface="Arial" panose="020B0604020202020204" pitchFamily="34" charset="0"/>
              <a:buChar char="•"/>
            </a:pPr>
            <a:r>
              <a:rPr lang="es-ES" b="1" dirty="0"/>
              <a:t>Oleoductos Submarinos</a:t>
            </a:r>
            <a:r>
              <a:rPr lang="es-ES" dirty="0"/>
              <a:t>: Conectan plataformas offshore con instalaciones en tierra, requieren planificación cuidadosa para minimizar riesgos y garantizar la integridad del transporte.</a:t>
            </a:r>
          </a:p>
          <a:p>
            <a:pPr marL="742950" lvl="1" indent="-285750">
              <a:buFont typeface="Arial" panose="020B0604020202020204" pitchFamily="34" charset="0"/>
              <a:buChar char="•"/>
            </a:pPr>
            <a:r>
              <a:rPr lang="es-ES" b="1" dirty="0"/>
              <a:t>Buques Cisterna</a:t>
            </a:r>
            <a:r>
              <a:rPr lang="es-ES" dirty="0"/>
              <a:t>: Utilizados para transportar petróleo crudo desde plataformas a refinerías, deben ser capaces de navegar en condiciones marinas adversas.</a:t>
            </a:r>
          </a:p>
          <a:p>
            <a:pPr marL="0" indent="0" algn="just">
              <a:buNone/>
            </a:pPr>
            <a:endParaRPr lang="es-ES" dirty="0"/>
          </a:p>
        </p:txBody>
      </p:sp>
    </p:spTree>
    <p:extLst>
      <p:ext uri="{BB962C8B-B14F-4D97-AF65-F5344CB8AC3E}">
        <p14:creationId xmlns:p14="http://schemas.microsoft.com/office/powerpoint/2010/main" val="33415676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19E6F5-05DC-9995-611E-161294A54025}"/>
              </a:ext>
            </a:extLst>
          </p:cNvPr>
          <p:cNvSpPr>
            <a:spLocks noGrp="1"/>
          </p:cNvSpPr>
          <p:nvPr>
            <p:ph type="title"/>
          </p:nvPr>
        </p:nvSpPr>
        <p:spPr>
          <a:xfrm>
            <a:off x="838199" y="183009"/>
            <a:ext cx="10515600" cy="996053"/>
          </a:xfrm>
        </p:spPr>
        <p:txBody>
          <a:bodyPr>
            <a:normAutofit/>
          </a:bodyPr>
          <a:lstStyle/>
          <a:p>
            <a:endParaRPr lang="es-ES" sz="2800" dirty="0"/>
          </a:p>
        </p:txBody>
      </p:sp>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387930"/>
            <a:ext cx="11032671" cy="4789034"/>
          </a:xfrm>
        </p:spPr>
        <p:txBody>
          <a:bodyPr>
            <a:normAutofit/>
          </a:bodyPr>
          <a:lstStyle/>
          <a:p>
            <a:pPr marL="0" indent="0">
              <a:buNone/>
            </a:pPr>
            <a:r>
              <a:rPr lang="es-ES" b="1" dirty="0"/>
              <a:t>Aspectos Ambientales y de Seguridad</a:t>
            </a:r>
          </a:p>
          <a:p>
            <a:pPr>
              <a:buFont typeface="Arial" panose="020B0604020202020204" pitchFamily="34" charset="0"/>
              <a:buChar char="•"/>
            </a:pPr>
            <a:r>
              <a:rPr lang="es-ES" b="1" dirty="0"/>
              <a:t>Monitoreo Ambiental</a:t>
            </a:r>
            <a:r>
              <a:rPr lang="es-ES" dirty="0"/>
              <a:t>:</a:t>
            </a:r>
          </a:p>
          <a:p>
            <a:pPr marL="742950" lvl="1" indent="-285750">
              <a:buFont typeface="Arial" panose="020B0604020202020204" pitchFamily="34" charset="0"/>
              <a:buChar char="•"/>
            </a:pPr>
            <a:r>
              <a:rPr lang="es-ES" b="1" dirty="0"/>
              <a:t>Evaluaciones de Impacto</a:t>
            </a:r>
            <a:r>
              <a:rPr lang="es-ES" dirty="0"/>
              <a:t>: Antes de iniciar operaciones, se realizan estudios para evaluar el impacto ambiental y se implementan medidas de mitigación.</a:t>
            </a:r>
          </a:p>
          <a:p>
            <a:pPr marL="742950" lvl="1" indent="-285750">
              <a:buFont typeface="Arial" panose="020B0604020202020204" pitchFamily="34" charset="0"/>
              <a:buChar char="•"/>
            </a:pPr>
            <a:r>
              <a:rPr lang="es-ES" b="1" dirty="0"/>
              <a:t>Tecnologías de Monitoreo</a:t>
            </a:r>
            <a:r>
              <a:rPr lang="es-ES" dirty="0"/>
              <a:t>: Se utilizan sensores y tecnologías avanzadas para supervisar el entorno marino y detectar posibles fugas o contaminación.</a:t>
            </a:r>
          </a:p>
          <a:p>
            <a:pPr>
              <a:buFont typeface="Arial" panose="020B0604020202020204" pitchFamily="34" charset="0"/>
              <a:buChar char="•"/>
            </a:pPr>
            <a:r>
              <a:rPr lang="es-ES" b="1" dirty="0"/>
              <a:t>Seguridad Laboral</a:t>
            </a:r>
            <a:r>
              <a:rPr lang="es-ES" dirty="0"/>
              <a:t>:</a:t>
            </a:r>
          </a:p>
          <a:p>
            <a:pPr marL="742950" lvl="1" indent="-285750">
              <a:buFont typeface="Arial" panose="020B0604020202020204" pitchFamily="34" charset="0"/>
              <a:buChar char="•"/>
            </a:pPr>
            <a:r>
              <a:rPr lang="es-ES" b="1" dirty="0"/>
              <a:t>Capacitación</a:t>
            </a:r>
            <a:r>
              <a:rPr lang="es-ES" dirty="0"/>
              <a:t>: Los trabajadores deben recibir capacitación rigurosa en seguridad y respuesta a emergencias.</a:t>
            </a:r>
          </a:p>
          <a:p>
            <a:pPr marL="742950" lvl="1" indent="-285750">
              <a:buFont typeface="Arial" panose="020B0604020202020204" pitchFamily="34" charset="0"/>
              <a:buChar char="•"/>
            </a:pPr>
            <a:r>
              <a:rPr lang="es-ES" b="1" dirty="0"/>
              <a:t>Protocolos de Seguridad</a:t>
            </a:r>
            <a:r>
              <a:rPr lang="es-ES" dirty="0"/>
              <a:t>: Se establecen procedimientos de trabajo seguros, así como planes de contingencia para minimizar riesgos.</a:t>
            </a:r>
          </a:p>
          <a:p>
            <a:pPr marL="0" indent="0" algn="just">
              <a:buNone/>
            </a:pPr>
            <a:endParaRPr lang="es-ES" dirty="0"/>
          </a:p>
        </p:txBody>
      </p:sp>
    </p:spTree>
    <p:extLst>
      <p:ext uri="{BB962C8B-B14F-4D97-AF65-F5344CB8AC3E}">
        <p14:creationId xmlns:p14="http://schemas.microsoft.com/office/powerpoint/2010/main" val="26119859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19E6F5-05DC-9995-611E-161294A54025}"/>
              </a:ext>
            </a:extLst>
          </p:cNvPr>
          <p:cNvSpPr>
            <a:spLocks noGrp="1"/>
          </p:cNvSpPr>
          <p:nvPr>
            <p:ph type="title"/>
          </p:nvPr>
        </p:nvSpPr>
        <p:spPr>
          <a:xfrm>
            <a:off x="838199" y="183009"/>
            <a:ext cx="10515600" cy="996053"/>
          </a:xfrm>
        </p:spPr>
        <p:txBody>
          <a:bodyPr>
            <a:normAutofit/>
          </a:bodyPr>
          <a:lstStyle/>
          <a:p>
            <a:endParaRPr lang="es-ES" sz="2800" dirty="0"/>
          </a:p>
        </p:txBody>
      </p:sp>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387930"/>
            <a:ext cx="11032671" cy="4789034"/>
          </a:xfrm>
        </p:spPr>
        <p:txBody>
          <a:bodyPr>
            <a:normAutofit/>
          </a:bodyPr>
          <a:lstStyle/>
          <a:p>
            <a:pPr marL="0" indent="0">
              <a:buNone/>
            </a:pPr>
            <a:r>
              <a:rPr lang="es-ES" b="1" dirty="0"/>
              <a:t>Innovaciones Tecnológicas</a:t>
            </a:r>
          </a:p>
          <a:p>
            <a:pPr>
              <a:buFont typeface="Arial" panose="020B0604020202020204" pitchFamily="34" charset="0"/>
              <a:buChar char="•"/>
            </a:pPr>
            <a:r>
              <a:rPr lang="es-ES" b="1" dirty="0"/>
              <a:t>Digitalización</a:t>
            </a:r>
            <a:r>
              <a:rPr lang="es-ES" dirty="0"/>
              <a:t>:</a:t>
            </a:r>
          </a:p>
          <a:p>
            <a:pPr marL="742950" lvl="1" indent="-285750">
              <a:buFont typeface="Arial" panose="020B0604020202020204" pitchFamily="34" charset="0"/>
              <a:buChar char="•"/>
            </a:pPr>
            <a:r>
              <a:rPr lang="es-ES" b="1" dirty="0" err="1"/>
              <a:t>IoT</a:t>
            </a:r>
            <a:r>
              <a:rPr lang="es-ES" b="1" dirty="0"/>
              <a:t> y Big Data</a:t>
            </a:r>
            <a:r>
              <a:rPr lang="es-ES" dirty="0"/>
              <a:t>: El uso de sensores conectados permite recopilar datos en tiempo real sobre el funcionamiento de las instalaciones, mejorando la eficiencia operativa y la seguridad.</a:t>
            </a:r>
          </a:p>
          <a:p>
            <a:pPr marL="742950" lvl="1" indent="-285750">
              <a:buFont typeface="Arial" panose="020B0604020202020204" pitchFamily="34" charset="0"/>
              <a:buChar char="•"/>
            </a:pPr>
            <a:r>
              <a:rPr lang="es-ES" b="1" dirty="0"/>
              <a:t>Modelado y Simulación</a:t>
            </a:r>
            <a:r>
              <a:rPr lang="es-ES" dirty="0"/>
              <a:t>: Se utilizan herramientas de simulación para prever el comportamiento de las estructuras ante diversas condiciones ambientales.</a:t>
            </a:r>
          </a:p>
          <a:p>
            <a:pPr>
              <a:buFont typeface="Arial" panose="020B0604020202020204" pitchFamily="34" charset="0"/>
              <a:buChar char="•"/>
            </a:pPr>
            <a:r>
              <a:rPr lang="es-ES" b="1" dirty="0"/>
              <a:t>Energías Renovables</a:t>
            </a:r>
            <a:r>
              <a:rPr lang="es-ES" dirty="0"/>
              <a:t>:</a:t>
            </a:r>
          </a:p>
          <a:p>
            <a:pPr marL="742950" lvl="1" indent="-285750">
              <a:buFont typeface="Arial" panose="020B0604020202020204" pitchFamily="34" charset="0"/>
              <a:buChar char="•"/>
            </a:pPr>
            <a:r>
              <a:rPr lang="es-ES" b="1" dirty="0"/>
              <a:t>Integración de Energías Renovables</a:t>
            </a:r>
            <a:r>
              <a:rPr lang="es-ES" dirty="0"/>
              <a:t>: Algunas instalaciones offshore están comenzando a incorporar tecnologías de energía eólica y solar, promoviendo un enfoque más sostenible en la industria energética.</a:t>
            </a:r>
          </a:p>
          <a:p>
            <a:pPr marL="0" indent="0" algn="just">
              <a:buNone/>
            </a:pPr>
            <a:endParaRPr lang="es-ES" dirty="0"/>
          </a:p>
        </p:txBody>
      </p:sp>
    </p:spTree>
    <p:extLst>
      <p:ext uri="{BB962C8B-B14F-4D97-AF65-F5344CB8AC3E}">
        <p14:creationId xmlns:p14="http://schemas.microsoft.com/office/powerpoint/2010/main" val="1324844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19E6F5-05DC-9995-611E-161294A54025}"/>
              </a:ext>
            </a:extLst>
          </p:cNvPr>
          <p:cNvSpPr>
            <a:spLocks noGrp="1"/>
          </p:cNvSpPr>
          <p:nvPr>
            <p:ph type="title"/>
          </p:nvPr>
        </p:nvSpPr>
        <p:spPr>
          <a:xfrm>
            <a:off x="838199" y="183009"/>
            <a:ext cx="8763001" cy="1204921"/>
          </a:xfrm>
        </p:spPr>
        <p:txBody>
          <a:bodyPr>
            <a:normAutofit/>
          </a:bodyPr>
          <a:lstStyle/>
          <a:p>
            <a:r>
              <a:rPr lang="es-ES" sz="2800" dirty="0"/>
              <a:t>ESTRUCTURAS FIJAS Y FLOTANTES. PERFORACION Y PRODUCCION OFFSHORE</a:t>
            </a:r>
          </a:p>
        </p:txBody>
      </p:sp>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387930"/>
            <a:ext cx="11032671" cy="4789034"/>
          </a:xfrm>
        </p:spPr>
        <p:txBody>
          <a:bodyPr>
            <a:normAutofit/>
          </a:bodyPr>
          <a:lstStyle/>
          <a:p>
            <a:r>
              <a:rPr lang="es-ES" b="1" dirty="0"/>
              <a:t>Estructuras Fijas</a:t>
            </a:r>
          </a:p>
          <a:p>
            <a:r>
              <a:rPr lang="es-ES" dirty="0"/>
              <a:t>Las estructuras fijas son instalaciones diseñadas para estar ancladas permanentemente al lecho marino. Se utilizan principalmente en aguas poco a moderadamente profundas y son fundamentales para las operaciones de extracción de hidrocarburos. </a:t>
            </a:r>
          </a:p>
          <a:p>
            <a:pPr marL="0" indent="0" algn="just">
              <a:buNone/>
            </a:pPr>
            <a:endParaRPr lang="es-ES" dirty="0"/>
          </a:p>
        </p:txBody>
      </p:sp>
    </p:spTree>
    <p:extLst>
      <p:ext uri="{BB962C8B-B14F-4D97-AF65-F5344CB8AC3E}">
        <p14:creationId xmlns:p14="http://schemas.microsoft.com/office/powerpoint/2010/main" val="39984456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19E6F5-05DC-9995-611E-161294A54025}"/>
              </a:ext>
            </a:extLst>
          </p:cNvPr>
          <p:cNvSpPr>
            <a:spLocks noGrp="1"/>
          </p:cNvSpPr>
          <p:nvPr>
            <p:ph type="title"/>
          </p:nvPr>
        </p:nvSpPr>
        <p:spPr>
          <a:xfrm>
            <a:off x="838199" y="183009"/>
            <a:ext cx="10515600" cy="996053"/>
          </a:xfrm>
        </p:spPr>
        <p:txBody>
          <a:bodyPr>
            <a:normAutofit/>
          </a:bodyPr>
          <a:lstStyle/>
          <a:p>
            <a:r>
              <a:rPr lang="es-ES" sz="2800" dirty="0"/>
              <a:t>PRINCIPALES TIPOS DE ESTRUCTURAS FIJAS</a:t>
            </a:r>
          </a:p>
        </p:txBody>
      </p:sp>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387930"/>
            <a:ext cx="11032671" cy="4789034"/>
          </a:xfrm>
        </p:spPr>
        <p:txBody>
          <a:bodyPr>
            <a:normAutofit lnSpcReduction="10000"/>
          </a:bodyPr>
          <a:lstStyle/>
          <a:p>
            <a:r>
              <a:rPr lang="es-ES" b="1" dirty="0"/>
              <a:t>Plataformas Jack-Up</a:t>
            </a:r>
          </a:p>
          <a:p>
            <a:pPr>
              <a:buFont typeface="Arial" panose="020B0604020202020204" pitchFamily="34" charset="0"/>
              <a:buChar char="•"/>
            </a:pPr>
            <a:r>
              <a:rPr lang="es-ES" b="1" dirty="0"/>
              <a:t>Descripción</a:t>
            </a:r>
            <a:r>
              <a:rPr lang="es-ES" dirty="0"/>
              <a:t>: Estas plataformas tienen patas que se extienden hacia el fondo marino, permitiendo que la estructura se eleve por encima de la superficie del agua.</a:t>
            </a:r>
          </a:p>
          <a:p>
            <a:pPr>
              <a:buFont typeface="Arial" panose="020B0604020202020204" pitchFamily="34" charset="0"/>
              <a:buChar char="•"/>
            </a:pPr>
            <a:r>
              <a:rPr lang="es-ES" b="1" dirty="0"/>
              <a:t>Aplicaciones</a:t>
            </a:r>
            <a:r>
              <a:rPr lang="es-ES" dirty="0"/>
              <a:t>: Comúnmente utilizadas en aguas poco profundas (hasta 150 metros).</a:t>
            </a:r>
          </a:p>
          <a:p>
            <a:pPr>
              <a:buFont typeface="Arial" panose="020B0604020202020204" pitchFamily="34" charset="0"/>
              <a:buChar char="•"/>
            </a:pPr>
            <a:r>
              <a:rPr lang="es-ES" b="1" dirty="0"/>
              <a:t>Ventajas</a:t>
            </a:r>
            <a:r>
              <a:rPr lang="es-ES" dirty="0"/>
              <a:t>:</a:t>
            </a:r>
          </a:p>
          <a:p>
            <a:pPr marL="742950" lvl="1" indent="-285750">
              <a:buFont typeface="Arial" panose="020B0604020202020204" pitchFamily="34" charset="0"/>
              <a:buChar char="•"/>
            </a:pPr>
            <a:r>
              <a:rPr lang="es-ES" dirty="0"/>
              <a:t>Movilidad: Pueden ser transportadas a diferentes ubicaciones.</a:t>
            </a:r>
          </a:p>
          <a:p>
            <a:pPr marL="742950" lvl="1" indent="-285750">
              <a:buFont typeface="Arial" panose="020B0604020202020204" pitchFamily="34" charset="0"/>
              <a:buChar char="•"/>
            </a:pPr>
            <a:r>
              <a:rPr lang="es-ES" dirty="0"/>
              <a:t>Flexibilidad: Ideales para perforaciones de exploración y producción.</a:t>
            </a:r>
          </a:p>
          <a:p>
            <a:pPr>
              <a:buFont typeface="Arial" panose="020B0604020202020204" pitchFamily="34" charset="0"/>
              <a:buChar char="•"/>
            </a:pPr>
            <a:r>
              <a:rPr lang="es-ES" b="1" dirty="0"/>
              <a:t>Estructura</a:t>
            </a:r>
            <a:r>
              <a:rPr lang="es-ES" dirty="0"/>
              <a:t>: Generalmente incluyen una cubierta de trabajo donde se llevan a cabo las operaciones de perforación.</a:t>
            </a:r>
          </a:p>
          <a:p>
            <a:pPr marL="0" indent="0" algn="just">
              <a:buNone/>
            </a:pPr>
            <a:endParaRPr lang="es-ES" dirty="0"/>
          </a:p>
        </p:txBody>
      </p:sp>
    </p:spTree>
    <p:extLst>
      <p:ext uri="{BB962C8B-B14F-4D97-AF65-F5344CB8AC3E}">
        <p14:creationId xmlns:p14="http://schemas.microsoft.com/office/powerpoint/2010/main" val="424836308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19E6F5-05DC-9995-611E-161294A54025}"/>
              </a:ext>
            </a:extLst>
          </p:cNvPr>
          <p:cNvSpPr>
            <a:spLocks noGrp="1"/>
          </p:cNvSpPr>
          <p:nvPr>
            <p:ph type="title"/>
          </p:nvPr>
        </p:nvSpPr>
        <p:spPr>
          <a:xfrm>
            <a:off x="838199" y="183009"/>
            <a:ext cx="10515600" cy="996053"/>
          </a:xfrm>
        </p:spPr>
        <p:txBody>
          <a:bodyPr>
            <a:normAutofit/>
          </a:bodyPr>
          <a:lstStyle/>
          <a:p>
            <a:endParaRPr lang="es-ES" sz="2800" dirty="0"/>
          </a:p>
        </p:txBody>
      </p:sp>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387930"/>
            <a:ext cx="11032671" cy="4789034"/>
          </a:xfrm>
        </p:spPr>
        <p:txBody>
          <a:bodyPr>
            <a:normAutofit/>
          </a:bodyPr>
          <a:lstStyle/>
          <a:p>
            <a:r>
              <a:rPr lang="es-ES" b="1" dirty="0"/>
              <a:t>Plataformas de Gravedad</a:t>
            </a:r>
          </a:p>
          <a:p>
            <a:pPr>
              <a:buFont typeface="Arial" panose="020B0604020202020204" pitchFamily="34" charset="0"/>
              <a:buChar char="•"/>
            </a:pPr>
            <a:r>
              <a:rPr lang="es-ES" b="1" dirty="0"/>
              <a:t>Descripción</a:t>
            </a:r>
            <a:r>
              <a:rPr lang="es-ES" dirty="0"/>
              <a:t>: Estructuras masivas, generalmente de concreto, que se mantienen en el fondo marino gracias a su propio peso.</a:t>
            </a:r>
          </a:p>
          <a:p>
            <a:pPr>
              <a:buFont typeface="Arial" panose="020B0604020202020204" pitchFamily="34" charset="0"/>
              <a:buChar char="•"/>
            </a:pPr>
            <a:r>
              <a:rPr lang="es-ES" b="1" dirty="0"/>
              <a:t>Aplicaciones</a:t>
            </a:r>
            <a:r>
              <a:rPr lang="es-ES" dirty="0"/>
              <a:t>: Utilizadas en aguas moderadamente profundas (hasta 300 metros).</a:t>
            </a:r>
          </a:p>
          <a:p>
            <a:pPr>
              <a:buFont typeface="Arial" panose="020B0604020202020204" pitchFamily="34" charset="0"/>
              <a:buChar char="•"/>
            </a:pPr>
            <a:r>
              <a:rPr lang="es-ES" b="1" dirty="0"/>
              <a:t>Ventajas</a:t>
            </a:r>
            <a:r>
              <a:rPr lang="es-ES" dirty="0"/>
              <a:t>:</a:t>
            </a:r>
          </a:p>
          <a:p>
            <a:pPr marL="742950" lvl="1" indent="-285750">
              <a:buFont typeface="Arial" panose="020B0604020202020204" pitchFamily="34" charset="0"/>
              <a:buChar char="•"/>
            </a:pPr>
            <a:r>
              <a:rPr lang="es-ES" dirty="0"/>
              <a:t>Estabilidad: Su diseño les permite resistir fuertes corrientes y olas.</a:t>
            </a:r>
          </a:p>
          <a:p>
            <a:pPr marL="742950" lvl="1" indent="-285750">
              <a:buFont typeface="Arial" panose="020B0604020202020204" pitchFamily="34" charset="0"/>
              <a:buChar char="•"/>
            </a:pPr>
            <a:r>
              <a:rPr lang="es-ES" dirty="0"/>
              <a:t>Menor impacto visual: Su diseño es menos intrusivo en el paisaje marino.</a:t>
            </a:r>
          </a:p>
          <a:p>
            <a:pPr>
              <a:buFont typeface="Arial" panose="020B0604020202020204" pitchFamily="34" charset="0"/>
              <a:buChar char="•"/>
            </a:pPr>
            <a:r>
              <a:rPr lang="es-ES" b="1" dirty="0"/>
              <a:t>Construcción</a:t>
            </a:r>
            <a:r>
              <a:rPr lang="es-ES" dirty="0"/>
              <a:t>: A menudo se construyen en tierra y se transportan al sitio de operación.</a:t>
            </a:r>
          </a:p>
          <a:p>
            <a:pPr marL="0" indent="0" algn="just">
              <a:buNone/>
            </a:pPr>
            <a:endParaRPr lang="es-ES" dirty="0"/>
          </a:p>
        </p:txBody>
      </p:sp>
    </p:spTree>
    <p:extLst>
      <p:ext uri="{BB962C8B-B14F-4D97-AF65-F5344CB8AC3E}">
        <p14:creationId xmlns:p14="http://schemas.microsoft.com/office/powerpoint/2010/main" val="336137033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19E6F5-05DC-9995-611E-161294A54025}"/>
              </a:ext>
            </a:extLst>
          </p:cNvPr>
          <p:cNvSpPr>
            <a:spLocks noGrp="1"/>
          </p:cNvSpPr>
          <p:nvPr>
            <p:ph type="title"/>
          </p:nvPr>
        </p:nvSpPr>
        <p:spPr>
          <a:xfrm>
            <a:off x="838199" y="183009"/>
            <a:ext cx="10515600" cy="996053"/>
          </a:xfrm>
        </p:spPr>
        <p:txBody>
          <a:bodyPr>
            <a:normAutofit/>
          </a:bodyPr>
          <a:lstStyle/>
          <a:p>
            <a:endParaRPr lang="es-ES" sz="2800" dirty="0"/>
          </a:p>
        </p:txBody>
      </p:sp>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387930"/>
            <a:ext cx="11032671" cy="4789034"/>
          </a:xfrm>
        </p:spPr>
        <p:txBody>
          <a:bodyPr>
            <a:normAutofit/>
          </a:bodyPr>
          <a:lstStyle/>
          <a:p>
            <a:r>
              <a:rPr lang="es-ES" b="1" dirty="0"/>
              <a:t>Plataformas </a:t>
            </a:r>
            <a:r>
              <a:rPr lang="es-ES" b="1" dirty="0" err="1"/>
              <a:t>Monopile</a:t>
            </a:r>
            <a:endParaRPr lang="es-ES" b="1" dirty="0"/>
          </a:p>
          <a:p>
            <a:pPr>
              <a:buFont typeface="Arial" panose="020B0604020202020204" pitchFamily="34" charset="0"/>
              <a:buChar char="•"/>
            </a:pPr>
            <a:r>
              <a:rPr lang="es-ES" b="1" dirty="0"/>
              <a:t>Descripción</a:t>
            </a:r>
            <a:r>
              <a:rPr lang="es-ES" dirty="0"/>
              <a:t>: Consisten en un único soporte vertical que se hinca en el lecho marino.</a:t>
            </a:r>
          </a:p>
          <a:p>
            <a:pPr>
              <a:buFont typeface="Arial" panose="020B0604020202020204" pitchFamily="34" charset="0"/>
              <a:buChar char="•"/>
            </a:pPr>
            <a:r>
              <a:rPr lang="es-ES" b="1" dirty="0"/>
              <a:t>Aplicaciones</a:t>
            </a:r>
            <a:r>
              <a:rPr lang="es-ES" dirty="0"/>
              <a:t>: Usadas principalmente para proyectos de energía renovable, pero también pueden aplicarse en la industria del petróleo y gas.</a:t>
            </a:r>
          </a:p>
          <a:p>
            <a:pPr>
              <a:buFont typeface="Arial" panose="020B0604020202020204" pitchFamily="34" charset="0"/>
              <a:buChar char="•"/>
            </a:pPr>
            <a:r>
              <a:rPr lang="es-ES" b="1" dirty="0"/>
              <a:t>Ventajas</a:t>
            </a:r>
            <a:r>
              <a:rPr lang="es-ES" dirty="0"/>
              <a:t>:</a:t>
            </a:r>
          </a:p>
          <a:p>
            <a:pPr marL="742950" lvl="1" indent="-285750">
              <a:buFont typeface="Arial" panose="020B0604020202020204" pitchFamily="34" charset="0"/>
              <a:buChar char="•"/>
            </a:pPr>
            <a:r>
              <a:rPr lang="es-ES" dirty="0"/>
              <a:t>Simplicidad en el diseño y construcción.</a:t>
            </a:r>
          </a:p>
          <a:p>
            <a:pPr marL="742950" lvl="1" indent="-285750">
              <a:buFont typeface="Arial" panose="020B0604020202020204" pitchFamily="34" charset="0"/>
              <a:buChar char="•"/>
            </a:pPr>
            <a:r>
              <a:rPr lang="es-ES" dirty="0"/>
              <a:t>Menor costo en comparación con otras estructuras fijas.</a:t>
            </a:r>
          </a:p>
          <a:p>
            <a:pPr>
              <a:buFont typeface="Arial" panose="020B0604020202020204" pitchFamily="34" charset="0"/>
              <a:buChar char="•"/>
            </a:pPr>
            <a:r>
              <a:rPr lang="es-ES" b="1" dirty="0"/>
              <a:t>Limitaciones</a:t>
            </a:r>
            <a:r>
              <a:rPr lang="es-ES" dirty="0"/>
              <a:t>: Mejor adecuadas para aguas poco profundas.</a:t>
            </a:r>
          </a:p>
          <a:p>
            <a:pPr marL="0" indent="0" algn="just">
              <a:buNone/>
            </a:pPr>
            <a:endParaRPr lang="es-ES" dirty="0"/>
          </a:p>
        </p:txBody>
      </p:sp>
    </p:spTree>
    <p:extLst>
      <p:ext uri="{BB962C8B-B14F-4D97-AF65-F5344CB8AC3E}">
        <p14:creationId xmlns:p14="http://schemas.microsoft.com/office/powerpoint/2010/main" val="34696293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19E6F5-05DC-9995-611E-161294A54025}"/>
              </a:ext>
            </a:extLst>
          </p:cNvPr>
          <p:cNvSpPr>
            <a:spLocks noGrp="1"/>
          </p:cNvSpPr>
          <p:nvPr>
            <p:ph type="title"/>
          </p:nvPr>
        </p:nvSpPr>
        <p:spPr>
          <a:xfrm>
            <a:off x="838199" y="183009"/>
            <a:ext cx="10515600" cy="996053"/>
          </a:xfrm>
        </p:spPr>
        <p:txBody>
          <a:bodyPr>
            <a:normAutofit/>
          </a:bodyPr>
          <a:lstStyle/>
          <a:p>
            <a:endParaRPr lang="es-ES" sz="2800" dirty="0"/>
          </a:p>
        </p:txBody>
      </p:sp>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387930"/>
            <a:ext cx="11032671" cy="4789034"/>
          </a:xfrm>
        </p:spPr>
        <p:txBody>
          <a:bodyPr>
            <a:normAutofit/>
          </a:bodyPr>
          <a:lstStyle/>
          <a:p>
            <a:r>
              <a:rPr lang="es-ES" b="1" dirty="0"/>
              <a:t>Plataformas Submarinas</a:t>
            </a:r>
          </a:p>
          <a:p>
            <a:pPr>
              <a:buFont typeface="Arial" panose="020B0604020202020204" pitchFamily="34" charset="0"/>
              <a:buChar char="•"/>
            </a:pPr>
            <a:r>
              <a:rPr lang="es-ES" b="1" dirty="0"/>
              <a:t>Descripción</a:t>
            </a:r>
            <a:r>
              <a:rPr lang="es-ES" dirty="0"/>
              <a:t>: Se refiere a sistemas de equipos que se instalan en el fondo marino para la perforación y producción sin una plataforma en la superficie.</a:t>
            </a:r>
          </a:p>
          <a:p>
            <a:pPr>
              <a:buFont typeface="Arial" panose="020B0604020202020204" pitchFamily="34" charset="0"/>
              <a:buChar char="•"/>
            </a:pPr>
            <a:r>
              <a:rPr lang="es-ES" b="1" dirty="0"/>
              <a:t>Aplicaciones</a:t>
            </a:r>
            <a:r>
              <a:rPr lang="es-ES" dirty="0"/>
              <a:t>: Utilizadas en combinación con plataformas fijas para aumentar la eficiencia.</a:t>
            </a:r>
          </a:p>
          <a:p>
            <a:pPr>
              <a:buFont typeface="Arial" panose="020B0604020202020204" pitchFamily="34" charset="0"/>
              <a:buChar char="•"/>
            </a:pPr>
            <a:r>
              <a:rPr lang="es-ES" b="1" dirty="0"/>
              <a:t>Ventajas</a:t>
            </a:r>
            <a:r>
              <a:rPr lang="es-ES" dirty="0"/>
              <a:t>:</a:t>
            </a:r>
          </a:p>
          <a:p>
            <a:pPr marL="742950" lvl="1" indent="-285750">
              <a:buFont typeface="Arial" panose="020B0604020202020204" pitchFamily="34" charset="0"/>
              <a:buChar char="•"/>
            </a:pPr>
            <a:r>
              <a:rPr lang="es-ES" dirty="0"/>
              <a:t>Acceso a reservas en áreas difíciles de alcanzar.</a:t>
            </a:r>
          </a:p>
          <a:p>
            <a:pPr marL="742950" lvl="1" indent="-285750">
              <a:buFont typeface="Arial" panose="020B0604020202020204" pitchFamily="34" charset="0"/>
              <a:buChar char="•"/>
            </a:pPr>
            <a:r>
              <a:rPr lang="es-ES" dirty="0"/>
              <a:t>Reducción del impacto visual y ambiental.</a:t>
            </a:r>
          </a:p>
          <a:p>
            <a:pPr marL="0" indent="0" algn="just">
              <a:buNone/>
            </a:pPr>
            <a:endParaRPr lang="es-ES" dirty="0"/>
          </a:p>
        </p:txBody>
      </p:sp>
    </p:spTree>
    <p:extLst>
      <p:ext uri="{BB962C8B-B14F-4D97-AF65-F5344CB8AC3E}">
        <p14:creationId xmlns:p14="http://schemas.microsoft.com/office/powerpoint/2010/main" val="150989458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19E6F5-05DC-9995-611E-161294A54025}"/>
              </a:ext>
            </a:extLst>
          </p:cNvPr>
          <p:cNvSpPr>
            <a:spLocks noGrp="1"/>
          </p:cNvSpPr>
          <p:nvPr>
            <p:ph type="title"/>
          </p:nvPr>
        </p:nvSpPr>
        <p:spPr>
          <a:xfrm>
            <a:off x="838199" y="183009"/>
            <a:ext cx="10515600" cy="996053"/>
          </a:xfrm>
        </p:spPr>
        <p:txBody>
          <a:bodyPr>
            <a:normAutofit/>
          </a:bodyPr>
          <a:lstStyle/>
          <a:p>
            <a:endParaRPr lang="es-ES" sz="2800" dirty="0"/>
          </a:p>
        </p:txBody>
      </p:sp>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387930"/>
            <a:ext cx="11032671" cy="4789034"/>
          </a:xfrm>
        </p:spPr>
        <p:txBody>
          <a:bodyPr>
            <a:normAutofit fontScale="92500" lnSpcReduction="10000"/>
          </a:bodyPr>
          <a:lstStyle/>
          <a:p>
            <a:r>
              <a:rPr lang="es-ES" b="1" dirty="0"/>
              <a:t>Consideraciones de Diseño y Construcción</a:t>
            </a:r>
          </a:p>
          <a:p>
            <a:pPr>
              <a:buFont typeface="+mj-lt"/>
              <a:buAutoNum type="arabicPeriod"/>
            </a:pPr>
            <a:r>
              <a:rPr lang="es-ES" b="1" dirty="0"/>
              <a:t>Estabilidad Estructural</a:t>
            </a:r>
            <a:r>
              <a:rPr lang="es-ES" dirty="0"/>
              <a:t>:</a:t>
            </a:r>
          </a:p>
          <a:p>
            <a:pPr marL="742950" lvl="1" indent="-285750">
              <a:buFont typeface="+mj-lt"/>
              <a:buAutoNum type="arabicPeriod"/>
            </a:pPr>
            <a:r>
              <a:rPr lang="es-ES" dirty="0"/>
              <a:t>Las estructuras deben diseñarse para soportar cargas dinámicas, como olas, viento y sismos.</a:t>
            </a:r>
          </a:p>
          <a:p>
            <a:pPr marL="742950" lvl="1" indent="-285750">
              <a:buFont typeface="+mj-lt"/>
              <a:buAutoNum type="arabicPeriod"/>
            </a:pPr>
            <a:r>
              <a:rPr lang="es-ES" dirty="0"/>
              <a:t>Se utilizan simulaciones y modelos para garantizar su resistencia.</a:t>
            </a:r>
          </a:p>
          <a:p>
            <a:pPr>
              <a:buFont typeface="+mj-lt"/>
              <a:buAutoNum type="arabicPeriod"/>
            </a:pPr>
            <a:r>
              <a:rPr lang="es-ES" b="1" dirty="0"/>
              <a:t>Materiales</a:t>
            </a:r>
            <a:r>
              <a:rPr lang="es-ES" dirty="0"/>
              <a:t>:</a:t>
            </a:r>
          </a:p>
          <a:p>
            <a:pPr marL="742950" lvl="1" indent="-285750">
              <a:buFont typeface="+mj-lt"/>
              <a:buAutoNum type="arabicPeriod"/>
            </a:pPr>
            <a:r>
              <a:rPr lang="es-ES" dirty="0"/>
              <a:t>El acero y el concreto son los materiales más utilizados debido a su resistencia y durabilidad.</a:t>
            </a:r>
          </a:p>
          <a:p>
            <a:pPr marL="742950" lvl="1" indent="-285750">
              <a:buFont typeface="+mj-lt"/>
              <a:buAutoNum type="arabicPeriod"/>
            </a:pPr>
            <a:r>
              <a:rPr lang="es-ES" dirty="0"/>
              <a:t>Las estructuras están revestidas para protegerlas de la corrosión marina.</a:t>
            </a:r>
          </a:p>
          <a:p>
            <a:pPr>
              <a:buFont typeface="+mj-lt"/>
              <a:buAutoNum type="arabicPeriod"/>
            </a:pPr>
            <a:r>
              <a:rPr lang="es-ES" b="1" dirty="0"/>
              <a:t>Acceso y Seguridad</a:t>
            </a:r>
            <a:r>
              <a:rPr lang="es-ES" dirty="0"/>
              <a:t>:</a:t>
            </a:r>
          </a:p>
          <a:p>
            <a:pPr marL="742950" lvl="1" indent="-285750">
              <a:buFont typeface="+mj-lt"/>
              <a:buAutoNum type="arabicPeriod"/>
            </a:pPr>
            <a:r>
              <a:rPr lang="es-ES" dirty="0"/>
              <a:t>Se diseñan sistemas de acceso seguros para el personal que trabaja en la plataforma.</a:t>
            </a:r>
          </a:p>
          <a:p>
            <a:pPr marL="742950" lvl="1" indent="-285750">
              <a:buFont typeface="+mj-lt"/>
              <a:buAutoNum type="arabicPeriod"/>
            </a:pPr>
            <a:r>
              <a:rPr lang="es-ES" dirty="0"/>
              <a:t>Las medidas de seguridad incluyen equipos de evacuación y protocolos para emergencias.</a:t>
            </a:r>
          </a:p>
          <a:p>
            <a:pPr marL="0" indent="0" algn="just">
              <a:buNone/>
            </a:pPr>
            <a:endParaRPr lang="es-ES" dirty="0"/>
          </a:p>
        </p:txBody>
      </p:sp>
    </p:spTree>
    <p:extLst>
      <p:ext uri="{BB962C8B-B14F-4D97-AF65-F5344CB8AC3E}">
        <p14:creationId xmlns:p14="http://schemas.microsoft.com/office/powerpoint/2010/main" val="378615527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19E6F5-05DC-9995-611E-161294A54025}"/>
              </a:ext>
            </a:extLst>
          </p:cNvPr>
          <p:cNvSpPr>
            <a:spLocks noGrp="1"/>
          </p:cNvSpPr>
          <p:nvPr>
            <p:ph type="title"/>
          </p:nvPr>
        </p:nvSpPr>
        <p:spPr>
          <a:xfrm>
            <a:off x="838199" y="183009"/>
            <a:ext cx="10515600" cy="996053"/>
          </a:xfrm>
        </p:spPr>
        <p:txBody>
          <a:bodyPr>
            <a:normAutofit/>
          </a:bodyPr>
          <a:lstStyle/>
          <a:p>
            <a:endParaRPr lang="es-ES" sz="2800" dirty="0"/>
          </a:p>
        </p:txBody>
      </p:sp>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387930"/>
            <a:ext cx="11032671" cy="4789034"/>
          </a:xfrm>
        </p:spPr>
        <p:txBody>
          <a:bodyPr>
            <a:normAutofit lnSpcReduction="10000"/>
          </a:bodyPr>
          <a:lstStyle/>
          <a:p>
            <a:pPr marL="0" indent="0">
              <a:buNone/>
            </a:pPr>
            <a:r>
              <a:rPr lang="es-ES" b="1" dirty="0"/>
              <a:t>Ventajas y Desafíos</a:t>
            </a:r>
          </a:p>
          <a:p>
            <a:r>
              <a:rPr lang="es-ES" b="1" dirty="0"/>
              <a:t>Ventajas</a:t>
            </a:r>
          </a:p>
          <a:p>
            <a:pPr>
              <a:buFont typeface="Arial" panose="020B0604020202020204" pitchFamily="34" charset="0"/>
              <a:buChar char="•"/>
            </a:pPr>
            <a:r>
              <a:rPr lang="es-ES" b="1" dirty="0"/>
              <a:t>Capacidad de Producción</a:t>
            </a:r>
            <a:r>
              <a:rPr lang="es-ES" dirty="0"/>
              <a:t>: Pueden albergar instalaciones de perforación y producción de gran capacidad.</a:t>
            </a:r>
          </a:p>
          <a:p>
            <a:pPr>
              <a:buFont typeface="Arial" panose="020B0604020202020204" pitchFamily="34" charset="0"/>
              <a:buChar char="•"/>
            </a:pPr>
            <a:r>
              <a:rPr lang="es-ES" b="1" dirty="0"/>
              <a:t>Operaciones Continuas</a:t>
            </a:r>
            <a:r>
              <a:rPr lang="es-ES" dirty="0"/>
              <a:t>: Permiten la producción continua de petróleo y gas durante largos períodos.</a:t>
            </a:r>
          </a:p>
          <a:p>
            <a:pPr marL="0" indent="0">
              <a:buNone/>
            </a:pPr>
            <a:r>
              <a:rPr lang="es-ES" b="1" dirty="0"/>
              <a:t>Desafíos</a:t>
            </a:r>
          </a:p>
          <a:p>
            <a:pPr>
              <a:buFont typeface="Arial" panose="020B0604020202020204" pitchFamily="34" charset="0"/>
              <a:buChar char="•"/>
            </a:pPr>
            <a:r>
              <a:rPr lang="es-ES" b="1" dirty="0"/>
              <a:t>Condiciones Ambientales</a:t>
            </a:r>
            <a:r>
              <a:rPr lang="es-ES" dirty="0"/>
              <a:t>: Deben ser capaces de resistir condiciones climáticas extremas y la corrosión marina.</a:t>
            </a:r>
          </a:p>
          <a:p>
            <a:pPr>
              <a:buFont typeface="Arial" panose="020B0604020202020204" pitchFamily="34" charset="0"/>
              <a:buChar char="•"/>
            </a:pPr>
            <a:r>
              <a:rPr lang="es-ES" b="1" dirty="0"/>
              <a:t>Costos Iniciales</a:t>
            </a:r>
            <a:r>
              <a:rPr lang="es-ES" dirty="0"/>
              <a:t>: La construcción y el mantenimiento pueden ser costosos, especialmente en aguas profundas.</a:t>
            </a:r>
          </a:p>
          <a:p>
            <a:pPr marL="0" indent="0" algn="just">
              <a:buNone/>
            </a:pPr>
            <a:endParaRPr lang="es-ES" dirty="0"/>
          </a:p>
        </p:txBody>
      </p:sp>
    </p:spTree>
    <p:extLst>
      <p:ext uri="{BB962C8B-B14F-4D97-AF65-F5344CB8AC3E}">
        <p14:creationId xmlns:p14="http://schemas.microsoft.com/office/powerpoint/2010/main" val="260055887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19E6F5-05DC-9995-611E-161294A54025}"/>
              </a:ext>
            </a:extLst>
          </p:cNvPr>
          <p:cNvSpPr>
            <a:spLocks noGrp="1"/>
          </p:cNvSpPr>
          <p:nvPr>
            <p:ph type="title"/>
          </p:nvPr>
        </p:nvSpPr>
        <p:spPr>
          <a:xfrm>
            <a:off x="838199" y="183009"/>
            <a:ext cx="10515600" cy="996053"/>
          </a:xfrm>
        </p:spPr>
        <p:txBody>
          <a:bodyPr>
            <a:normAutofit/>
          </a:bodyPr>
          <a:lstStyle/>
          <a:p>
            <a:endParaRPr lang="es-ES" sz="2800" dirty="0"/>
          </a:p>
        </p:txBody>
      </p:sp>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387930"/>
            <a:ext cx="11032671" cy="4789034"/>
          </a:xfrm>
        </p:spPr>
        <p:txBody>
          <a:bodyPr>
            <a:normAutofit/>
          </a:bodyPr>
          <a:lstStyle/>
          <a:p>
            <a:pPr marL="0" indent="0" algn="just">
              <a:buNone/>
            </a:pPr>
            <a:r>
              <a:rPr lang="es-ES" dirty="0"/>
              <a:t>Las estructuras fijas son esenciales para las operaciones offshore de petróleo y gas, ofreciendo estabilidad y eficiencia en la extracción de hidrocarburos. Su diseño y construcción requieren una planificación cuidadosa para garantizar su funcionamiento seguro y efectivo en el entorno marino. </a:t>
            </a:r>
          </a:p>
        </p:txBody>
      </p:sp>
    </p:spTree>
    <p:extLst>
      <p:ext uri="{BB962C8B-B14F-4D97-AF65-F5344CB8AC3E}">
        <p14:creationId xmlns:p14="http://schemas.microsoft.com/office/powerpoint/2010/main" val="389204504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19E6F5-05DC-9995-611E-161294A54025}"/>
              </a:ext>
            </a:extLst>
          </p:cNvPr>
          <p:cNvSpPr>
            <a:spLocks noGrp="1"/>
          </p:cNvSpPr>
          <p:nvPr>
            <p:ph type="title"/>
          </p:nvPr>
        </p:nvSpPr>
        <p:spPr>
          <a:xfrm>
            <a:off x="838199" y="183009"/>
            <a:ext cx="10515600" cy="996053"/>
          </a:xfrm>
        </p:spPr>
        <p:txBody>
          <a:bodyPr>
            <a:normAutofit/>
          </a:bodyPr>
          <a:lstStyle/>
          <a:p>
            <a:r>
              <a:rPr lang="es-ES" sz="2800" dirty="0"/>
              <a:t>ESTRUCTUCTURAS FLOTANTES</a:t>
            </a:r>
          </a:p>
        </p:txBody>
      </p:sp>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387930"/>
            <a:ext cx="11032671" cy="2939141"/>
          </a:xfrm>
        </p:spPr>
        <p:txBody>
          <a:bodyPr>
            <a:normAutofit/>
          </a:bodyPr>
          <a:lstStyle/>
          <a:p>
            <a:pPr marL="0" indent="0" algn="just">
              <a:buNone/>
            </a:pPr>
            <a:r>
              <a:rPr lang="es-ES" dirty="0"/>
              <a:t>Las estructuras flotantes son cruciales para la exploración y producción de hidrocarburos en aguas profundas, donde las plataformas fijas no son viables. Estas estructuras están diseñadas para ofrecer estabilidad y flexibilidad en condiciones marinas adversas.</a:t>
            </a:r>
          </a:p>
        </p:txBody>
      </p:sp>
    </p:spTree>
    <p:extLst>
      <p:ext uri="{BB962C8B-B14F-4D97-AF65-F5344CB8AC3E}">
        <p14:creationId xmlns:p14="http://schemas.microsoft.com/office/powerpoint/2010/main" val="375751389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19E6F5-05DC-9995-611E-161294A54025}"/>
              </a:ext>
            </a:extLst>
          </p:cNvPr>
          <p:cNvSpPr>
            <a:spLocks noGrp="1"/>
          </p:cNvSpPr>
          <p:nvPr>
            <p:ph type="title"/>
          </p:nvPr>
        </p:nvSpPr>
        <p:spPr>
          <a:xfrm>
            <a:off x="838199" y="183009"/>
            <a:ext cx="10515600" cy="996053"/>
          </a:xfrm>
        </p:spPr>
        <p:txBody>
          <a:bodyPr>
            <a:normAutofit/>
          </a:bodyPr>
          <a:lstStyle/>
          <a:p>
            <a:r>
              <a:rPr lang="es-ES" sz="2800" dirty="0"/>
              <a:t>TIPOS DE PLATAFORMAS FLOTANTES</a:t>
            </a:r>
          </a:p>
        </p:txBody>
      </p:sp>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387930"/>
            <a:ext cx="11032671" cy="4789034"/>
          </a:xfrm>
        </p:spPr>
        <p:txBody>
          <a:bodyPr>
            <a:normAutofit fontScale="85000" lnSpcReduction="10000"/>
          </a:bodyPr>
          <a:lstStyle/>
          <a:p>
            <a:pPr marL="0" indent="0">
              <a:buNone/>
            </a:pPr>
            <a:r>
              <a:rPr lang="es-ES" b="1" dirty="0"/>
              <a:t>PLATAFORMA SEMISUMERGIBLES</a:t>
            </a:r>
          </a:p>
          <a:p>
            <a:pPr marL="0" indent="0">
              <a:buNone/>
            </a:pPr>
            <a:r>
              <a:rPr lang="es-ES" b="1" dirty="0"/>
              <a:t>Descripción</a:t>
            </a:r>
          </a:p>
          <a:p>
            <a:r>
              <a:rPr lang="es-ES" dirty="0"/>
              <a:t>Las plataformas semisumergibles son estructuras flotantes diseñadas para realizar actividades de perforación y producción de petróleo y gas en aguas profundas. Se caracterizan por su estabilidad, que se logra mediante un diseño de columnas verticales que emergen del agua y están conectadas a un fondo plano.</a:t>
            </a:r>
          </a:p>
          <a:p>
            <a:pPr marL="0" indent="0">
              <a:buNone/>
            </a:pPr>
            <a:r>
              <a:rPr lang="es-ES" b="1" dirty="0"/>
              <a:t>Diseño y Estructura</a:t>
            </a:r>
          </a:p>
          <a:p>
            <a:pPr>
              <a:buFont typeface="Arial" panose="020B0604020202020204" pitchFamily="34" charset="0"/>
              <a:buChar char="•"/>
            </a:pPr>
            <a:r>
              <a:rPr lang="es-ES" b="1" dirty="0"/>
              <a:t>Columnas Flotantes:</a:t>
            </a:r>
            <a:r>
              <a:rPr lang="es-ES" dirty="0"/>
              <a:t> La plataforma consta de varias columnas (generalmente cuatro o más) que están llenas de agua o aire. Esto les otorga flotabilidad y estabilidad.</a:t>
            </a:r>
          </a:p>
          <a:p>
            <a:pPr>
              <a:buFont typeface="Arial" panose="020B0604020202020204" pitchFamily="34" charset="0"/>
              <a:buChar char="•"/>
            </a:pPr>
            <a:r>
              <a:rPr lang="es-ES" b="1" dirty="0"/>
              <a:t>Plataforma de Trabajo:</a:t>
            </a:r>
            <a:r>
              <a:rPr lang="es-ES" dirty="0"/>
              <a:t> La parte superior de la plataforma, donde se realizan las operaciones de perforación, es resistente a las condiciones meteorológicas adversas.</a:t>
            </a:r>
          </a:p>
          <a:p>
            <a:pPr>
              <a:buFont typeface="Arial" panose="020B0604020202020204" pitchFamily="34" charset="0"/>
              <a:buChar char="•"/>
            </a:pPr>
            <a:r>
              <a:rPr lang="es-ES" b="1" dirty="0"/>
              <a:t>Sistema de Anclaje:</a:t>
            </a:r>
            <a:r>
              <a:rPr lang="es-ES" dirty="0"/>
              <a:t> Se ancla al lecho marino mediante cadenas o cables, lo que ayuda a mantener su posición y estabilidad durante las operaciones.</a:t>
            </a:r>
          </a:p>
          <a:p>
            <a:pPr marL="0" indent="0" algn="just">
              <a:buNone/>
            </a:pPr>
            <a:endParaRPr lang="es-ES" dirty="0"/>
          </a:p>
        </p:txBody>
      </p:sp>
    </p:spTree>
    <p:extLst>
      <p:ext uri="{BB962C8B-B14F-4D97-AF65-F5344CB8AC3E}">
        <p14:creationId xmlns:p14="http://schemas.microsoft.com/office/powerpoint/2010/main" val="227396001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19E6F5-05DC-9995-611E-161294A54025}"/>
              </a:ext>
            </a:extLst>
          </p:cNvPr>
          <p:cNvSpPr>
            <a:spLocks noGrp="1"/>
          </p:cNvSpPr>
          <p:nvPr>
            <p:ph type="title"/>
          </p:nvPr>
        </p:nvSpPr>
        <p:spPr>
          <a:xfrm>
            <a:off x="838199" y="183009"/>
            <a:ext cx="10515600" cy="996053"/>
          </a:xfrm>
        </p:spPr>
        <p:txBody>
          <a:bodyPr>
            <a:normAutofit/>
          </a:bodyPr>
          <a:lstStyle/>
          <a:p>
            <a:endParaRPr lang="es-ES" sz="2800" dirty="0"/>
          </a:p>
        </p:txBody>
      </p:sp>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387930"/>
            <a:ext cx="11032671" cy="4789034"/>
          </a:xfrm>
        </p:spPr>
        <p:txBody>
          <a:bodyPr>
            <a:normAutofit/>
          </a:bodyPr>
          <a:lstStyle/>
          <a:p>
            <a:pPr marL="0" indent="0">
              <a:buNone/>
            </a:pPr>
            <a:r>
              <a:rPr lang="es-ES" b="1" dirty="0"/>
              <a:t>Ventajas</a:t>
            </a:r>
          </a:p>
          <a:p>
            <a:pPr>
              <a:buFont typeface="Arial" panose="020B0604020202020204" pitchFamily="34" charset="0"/>
              <a:buChar char="•"/>
            </a:pPr>
            <a:r>
              <a:rPr lang="es-ES" b="1" dirty="0"/>
              <a:t>Estabilidad:</a:t>
            </a:r>
            <a:r>
              <a:rPr lang="es-ES" dirty="0"/>
              <a:t> Su diseño les permite resistir oleajes y vientos fuertes.</a:t>
            </a:r>
          </a:p>
          <a:p>
            <a:pPr>
              <a:buFont typeface="Arial" panose="020B0604020202020204" pitchFamily="34" charset="0"/>
              <a:buChar char="•"/>
            </a:pPr>
            <a:r>
              <a:rPr lang="es-ES" b="1" dirty="0"/>
              <a:t>Profundidad de Operación:</a:t>
            </a:r>
            <a:r>
              <a:rPr lang="es-ES" dirty="0"/>
              <a:t> Pueden operar en profundidades de hasta 3,000 metros o más.</a:t>
            </a:r>
          </a:p>
          <a:p>
            <a:pPr>
              <a:buFont typeface="Arial" panose="020B0604020202020204" pitchFamily="34" charset="0"/>
              <a:buChar char="•"/>
            </a:pPr>
            <a:r>
              <a:rPr lang="es-ES" b="1" dirty="0"/>
              <a:t>Flexibilidad:</a:t>
            </a:r>
            <a:r>
              <a:rPr lang="es-ES" dirty="0"/>
              <a:t> Permiten perforaciones en diferentes ángulos, lo que es útil para acceder a reservorios específicos.</a:t>
            </a:r>
          </a:p>
          <a:p>
            <a:pPr marL="0" indent="0" algn="just">
              <a:buNone/>
            </a:pPr>
            <a:endParaRPr lang="es-ES" dirty="0"/>
          </a:p>
        </p:txBody>
      </p:sp>
    </p:spTree>
    <p:extLst>
      <p:ext uri="{BB962C8B-B14F-4D97-AF65-F5344CB8AC3E}">
        <p14:creationId xmlns:p14="http://schemas.microsoft.com/office/powerpoint/2010/main" val="290059215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19E6F5-05DC-9995-611E-161294A54025}"/>
              </a:ext>
            </a:extLst>
          </p:cNvPr>
          <p:cNvSpPr>
            <a:spLocks noGrp="1"/>
          </p:cNvSpPr>
          <p:nvPr>
            <p:ph type="title"/>
          </p:nvPr>
        </p:nvSpPr>
        <p:spPr>
          <a:xfrm>
            <a:off x="838199" y="183009"/>
            <a:ext cx="10515600" cy="996053"/>
          </a:xfrm>
        </p:spPr>
        <p:txBody>
          <a:bodyPr>
            <a:normAutofit/>
          </a:bodyPr>
          <a:lstStyle/>
          <a:p>
            <a:endParaRPr lang="es-ES" sz="2800" dirty="0"/>
          </a:p>
        </p:txBody>
      </p:sp>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387930"/>
            <a:ext cx="11032671" cy="4789034"/>
          </a:xfrm>
        </p:spPr>
        <p:txBody>
          <a:bodyPr>
            <a:normAutofit lnSpcReduction="10000"/>
          </a:bodyPr>
          <a:lstStyle/>
          <a:p>
            <a:r>
              <a:rPr lang="es-ES" b="1" dirty="0"/>
              <a:t>Transocean's Deepwater Horizon</a:t>
            </a:r>
            <a:endParaRPr lang="es-ES" dirty="0"/>
          </a:p>
          <a:p>
            <a:pPr>
              <a:buFont typeface="Arial" panose="020B0604020202020204" pitchFamily="34" charset="0"/>
              <a:buChar char="•"/>
            </a:pPr>
            <a:r>
              <a:rPr lang="es-ES" b="1" dirty="0"/>
              <a:t>Ubicación:</a:t>
            </a:r>
            <a:r>
              <a:rPr lang="es-ES" dirty="0"/>
              <a:t> Golfo de México</a:t>
            </a:r>
          </a:p>
          <a:p>
            <a:pPr>
              <a:buFont typeface="Arial" panose="020B0604020202020204" pitchFamily="34" charset="0"/>
              <a:buChar char="•"/>
            </a:pPr>
            <a:r>
              <a:rPr lang="es-ES" b="1" dirty="0"/>
              <a:t>Características:</a:t>
            </a:r>
            <a:r>
              <a:rPr lang="es-ES" dirty="0"/>
              <a:t> Fue una de las plataformas semisumergibles más conocidas, aunque tristemente famosa por el derrame de petróleo en 2010. Tenía una capacidad de perforación en aguas profundas y era conocida por su tecnología avanzada.</a:t>
            </a:r>
          </a:p>
          <a:p>
            <a:r>
              <a:rPr lang="es-ES" b="1" dirty="0" err="1"/>
              <a:t>Statoil's</a:t>
            </a:r>
            <a:r>
              <a:rPr lang="es-ES" b="1" dirty="0"/>
              <a:t> </a:t>
            </a:r>
            <a:r>
              <a:rPr lang="es-ES" b="1" dirty="0" err="1"/>
              <a:t>Åsgard</a:t>
            </a:r>
            <a:r>
              <a:rPr lang="es-ES" b="1" dirty="0"/>
              <a:t> B</a:t>
            </a:r>
            <a:endParaRPr lang="es-ES" dirty="0"/>
          </a:p>
          <a:p>
            <a:pPr>
              <a:buFont typeface="Arial" panose="020B0604020202020204" pitchFamily="34" charset="0"/>
              <a:buChar char="•"/>
            </a:pPr>
            <a:r>
              <a:rPr lang="es-ES" b="1" dirty="0"/>
              <a:t>Ubicación:</a:t>
            </a:r>
            <a:r>
              <a:rPr lang="es-ES" dirty="0"/>
              <a:t> Mar del Norte</a:t>
            </a:r>
          </a:p>
          <a:p>
            <a:pPr>
              <a:buFont typeface="Arial" panose="020B0604020202020204" pitchFamily="34" charset="0"/>
              <a:buChar char="•"/>
            </a:pPr>
            <a:r>
              <a:rPr lang="es-ES" b="1" dirty="0"/>
              <a:t>Características:</a:t>
            </a:r>
            <a:r>
              <a:rPr lang="es-ES" dirty="0"/>
              <a:t> Utilizada para la producción de gas y petróleo, esta plataforma tiene la capacidad de operar en aguas profundas y es un ejemplo de tecnología </a:t>
            </a:r>
            <a:r>
              <a:rPr lang="es-ES" dirty="0" err="1"/>
              <a:t>semisumergible</a:t>
            </a:r>
            <a:r>
              <a:rPr lang="es-ES" dirty="0"/>
              <a:t> eficiente en condiciones adversas.</a:t>
            </a:r>
          </a:p>
          <a:p>
            <a:pPr marL="0" indent="0" algn="just">
              <a:buNone/>
            </a:pPr>
            <a:endParaRPr lang="es-ES" dirty="0"/>
          </a:p>
        </p:txBody>
      </p:sp>
    </p:spTree>
    <p:extLst>
      <p:ext uri="{BB962C8B-B14F-4D97-AF65-F5344CB8AC3E}">
        <p14:creationId xmlns:p14="http://schemas.microsoft.com/office/powerpoint/2010/main" val="151825961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19E6F5-05DC-9995-611E-161294A54025}"/>
              </a:ext>
            </a:extLst>
          </p:cNvPr>
          <p:cNvSpPr>
            <a:spLocks noGrp="1"/>
          </p:cNvSpPr>
          <p:nvPr>
            <p:ph type="title"/>
          </p:nvPr>
        </p:nvSpPr>
        <p:spPr>
          <a:xfrm>
            <a:off x="838199" y="183009"/>
            <a:ext cx="10515600" cy="996053"/>
          </a:xfrm>
        </p:spPr>
        <p:txBody>
          <a:bodyPr>
            <a:normAutofit/>
          </a:bodyPr>
          <a:lstStyle/>
          <a:p>
            <a:endParaRPr lang="es-ES" sz="2800" dirty="0"/>
          </a:p>
        </p:txBody>
      </p:sp>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387930"/>
            <a:ext cx="11032671" cy="4789034"/>
          </a:xfrm>
        </p:spPr>
        <p:txBody>
          <a:bodyPr>
            <a:normAutofit lnSpcReduction="10000"/>
          </a:bodyPr>
          <a:lstStyle/>
          <a:p>
            <a:r>
              <a:rPr lang="es-ES" b="1" dirty="0"/>
              <a:t>Chevron's Petronius</a:t>
            </a:r>
            <a:endParaRPr lang="es-ES" dirty="0"/>
          </a:p>
          <a:p>
            <a:pPr>
              <a:buFont typeface="Arial" panose="020B0604020202020204" pitchFamily="34" charset="0"/>
              <a:buChar char="•"/>
            </a:pPr>
            <a:r>
              <a:rPr lang="es-ES" b="1" dirty="0"/>
              <a:t>Ubicación:</a:t>
            </a:r>
            <a:r>
              <a:rPr lang="es-ES" dirty="0"/>
              <a:t> Golfo de México</a:t>
            </a:r>
          </a:p>
          <a:p>
            <a:pPr>
              <a:buFont typeface="Arial" panose="020B0604020202020204" pitchFamily="34" charset="0"/>
              <a:buChar char="•"/>
            </a:pPr>
            <a:r>
              <a:rPr lang="es-ES" b="1" dirty="0"/>
              <a:t>Características:</a:t>
            </a:r>
            <a:r>
              <a:rPr lang="es-ES" dirty="0"/>
              <a:t> Esta plataforma tiene una estructura </a:t>
            </a:r>
            <a:r>
              <a:rPr lang="es-ES" dirty="0" err="1"/>
              <a:t>semisumergible</a:t>
            </a:r>
            <a:r>
              <a:rPr lang="es-ES" dirty="0"/>
              <a:t> que le permite soportar condiciones de mar difíciles y es capaz de perforar a grandes profundidades. Es una de las plataformas más grandes en su tipo.</a:t>
            </a:r>
          </a:p>
          <a:p>
            <a:r>
              <a:rPr lang="es-ES" b="1" dirty="0"/>
              <a:t>Pioneer Natural Resources’ 3D Semisubmersible</a:t>
            </a:r>
            <a:endParaRPr lang="es-ES" dirty="0"/>
          </a:p>
          <a:p>
            <a:pPr>
              <a:buFont typeface="Arial" panose="020B0604020202020204" pitchFamily="34" charset="0"/>
              <a:buChar char="•"/>
            </a:pPr>
            <a:r>
              <a:rPr lang="es-ES" b="1" dirty="0"/>
              <a:t>Ubicación:</a:t>
            </a:r>
            <a:r>
              <a:rPr lang="es-ES" dirty="0"/>
              <a:t> Área del Permian </a:t>
            </a:r>
            <a:r>
              <a:rPr lang="es-ES" dirty="0" err="1"/>
              <a:t>Basin</a:t>
            </a:r>
            <a:endParaRPr lang="es-ES" dirty="0"/>
          </a:p>
          <a:p>
            <a:pPr>
              <a:buFont typeface="Arial" panose="020B0604020202020204" pitchFamily="34" charset="0"/>
              <a:buChar char="•"/>
            </a:pPr>
            <a:r>
              <a:rPr lang="es-ES" b="1" dirty="0"/>
              <a:t>Características:</a:t>
            </a:r>
            <a:r>
              <a:rPr lang="es-ES" dirty="0"/>
              <a:t> Un diseño innovador que combina características de plataformas semisumergibles con tecnologías modernas, optimizando la perforación y producción en condiciones desafiantes.</a:t>
            </a:r>
          </a:p>
          <a:p>
            <a:pPr marL="0" indent="0" algn="just">
              <a:buNone/>
            </a:pPr>
            <a:endParaRPr lang="es-ES" dirty="0"/>
          </a:p>
        </p:txBody>
      </p:sp>
    </p:spTree>
    <p:extLst>
      <p:ext uri="{BB962C8B-B14F-4D97-AF65-F5344CB8AC3E}">
        <p14:creationId xmlns:p14="http://schemas.microsoft.com/office/powerpoint/2010/main" val="215733430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19E6F5-05DC-9995-611E-161294A54025}"/>
              </a:ext>
            </a:extLst>
          </p:cNvPr>
          <p:cNvSpPr>
            <a:spLocks noGrp="1"/>
          </p:cNvSpPr>
          <p:nvPr>
            <p:ph type="title"/>
          </p:nvPr>
        </p:nvSpPr>
        <p:spPr>
          <a:xfrm>
            <a:off x="838199" y="183009"/>
            <a:ext cx="10515600" cy="996053"/>
          </a:xfrm>
        </p:spPr>
        <p:txBody>
          <a:bodyPr>
            <a:normAutofit/>
          </a:bodyPr>
          <a:lstStyle/>
          <a:p>
            <a:r>
              <a:rPr lang="es-ES" sz="2800" dirty="0"/>
              <a:t>BUQUES DE PERFORACION (DRILLSHIPS)</a:t>
            </a:r>
          </a:p>
        </p:txBody>
      </p:sp>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387930"/>
            <a:ext cx="11032671" cy="4789034"/>
          </a:xfrm>
        </p:spPr>
        <p:txBody>
          <a:bodyPr>
            <a:normAutofit/>
          </a:bodyPr>
          <a:lstStyle/>
          <a:p>
            <a:pPr marL="0" indent="0" algn="just">
              <a:buNone/>
            </a:pPr>
            <a:r>
              <a:rPr lang="es-ES" dirty="0"/>
              <a:t>Los buques de perforación son embarcaciones diseñadas específicamente para realizar perforaciones en el lecho marino en busca de petróleo y gas. Su diseño les permite operar en aguas profundas y muy profundas, donde las plataformas fijas no son viables.</a:t>
            </a:r>
          </a:p>
        </p:txBody>
      </p:sp>
    </p:spTree>
    <p:extLst>
      <p:ext uri="{BB962C8B-B14F-4D97-AF65-F5344CB8AC3E}">
        <p14:creationId xmlns:p14="http://schemas.microsoft.com/office/powerpoint/2010/main" val="232203537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19E6F5-05DC-9995-611E-161294A54025}"/>
              </a:ext>
            </a:extLst>
          </p:cNvPr>
          <p:cNvSpPr>
            <a:spLocks noGrp="1"/>
          </p:cNvSpPr>
          <p:nvPr>
            <p:ph type="title"/>
          </p:nvPr>
        </p:nvSpPr>
        <p:spPr>
          <a:xfrm>
            <a:off x="838199" y="183009"/>
            <a:ext cx="10515600" cy="996053"/>
          </a:xfrm>
        </p:spPr>
        <p:txBody>
          <a:bodyPr>
            <a:normAutofit/>
          </a:bodyPr>
          <a:lstStyle/>
          <a:p>
            <a:endParaRPr lang="es-ES" sz="2800" dirty="0"/>
          </a:p>
        </p:txBody>
      </p:sp>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387930"/>
            <a:ext cx="11032671" cy="4789034"/>
          </a:xfrm>
        </p:spPr>
        <p:txBody>
          <a:bodyPr>
            <a:normAutofit fontScale="85000" lnSpcReduction="10000"/>
          </a:bodyPr>
          <a:lstStyle/>
          <a:p>
            <a:r>
              <a:rPr lang="es-ES" b="1" dirty="0"/>
              <a:t>Diseño y Estructura</a:t>
            </a:r>
          </a:p>
          <a:p>
            <a:pPr>
              <a:buFont typeface="+mj-lt"/>
              <a:buAutoNum type="arabicPeriod"/>
            </a:pPr>
            <a:r>
              <a:rPr lang="es-ES" b="1" dirty="0"/>
              <a:t>Cuerpo del Buque:</a:t>
            </a:r>
            <a:endParaRPr lang="es-ES" dirty="0"/>
          </a:p>
          <a:p>
            <a:pPr marL="742950" lvl="1" indent="-285750">
              <a:buFont typeface="+mj-lt"/>
              <a:buAutoNum type="arabicPeriod"/>
            </a:pPr>
            <a:r>
              <a:rPr lang="es-ES" dirty="0"/>
              <a:t>Suelen tener un diseño de barco convencional, con una proa afilada para navegar eficientemente.</a:t>
            </a:r>
          </a:p>
          <a:p>
            <a:pPr marL="742950" lvl="1" indent="-285750">
              <a:buFont typeface="+mj-lt"/>
              <a:buAutoNum type="arabicPeriod"/>
            </a:pPr>
            <a:r>
              <a:rPr lang="es-ES" dirty="0"/>
              <a:t>Equipados con cascos reforzados para soportar condiciones adversas del mar.</a:t>
            </a:r>
          </a:p>
          <a:p>
            <a:pPr>
              <a:buFont typeface="+mj-lt"/>
              <a:buAutoNum type="arabicPeriod"/>
            </a:pPr>
            <a:r>
              <a:rPr lang="es-ES" b="1" dirty="0"/>
              <a:t>Equipo de Perforación:</a:t>
            </a:r>
            <a:endParaRPr lang="es-ES" dirty="0"/>
          </a:p>
          <a:p>
            <a:pPr marL="742950" lvl="1" indent="-285750">
              <a:buFont typeface="+mj-lt"/>
              <a:buAutoNum type="arabicPeriod"/>
            </a:pPr>
            <a:r>
              <a:rPr lang="es-ES" dirty="0"/>
              <a:t>Contienen un sistema de perforación montado en la cubierta, que incluye torres de perforación, motores y equipos de soporte.</a:t>
            </a:r>
          </a:p>
          <a:p>
            <a:pPr marL="742950" lvl="1" indent="-285750">
              <a:buFont typeface="+mj-lt"/>
              <a:buAutoNum type="arabicPeriod"/>
            </a:pPr>
            <a:r>
              <a:rPr lang="es-ES" dirty="0"/>
              <a:t>Pueden incluir sistemas de control avanzados para la operación y monitoreo en tiempo real.</a:t>
            </a:r>
          </a:p>
          <a:p>
            <a:pPr marL="0" indent="0">
              <a:buNone/>
            </a:pPr>
            <a:r>
              <a:rPr lang="es-ES" b="1" dirty="0"/>
              <a:t>3,Sistema de Posicionamiento Dinámico:</a:t>
            </a:r>
            <a:endParaRPr lang="es-ES" dirty="0"/>
          </a:p>
          <a:p>
            <a:pPr>
              <a:buFont typeface="Arial" panose="020B0604020202020204" pitchFamily="34" charset="0"/>
              <a:buChar char="•"/>
            </a:pPr>
            <a:r>
              <a:rPr lang="es-ES" dirty="0"/>
              <a:t>Utilizan sistemas de posicionamiento dinámico (DP) que les permiten mantenerse en una posición fija sobre el pozo, utilizando propulsores y GPS.</a:t>
            </a:r>
          </a:p>
          <a:p>
            <a:pPr>
              <a:buFont typeface="Arial" panose="020B0604020202020204" pitchFamily="34" charset="0"/>
              <a:buChar char="•"/>
            </a:pPr>
            <a:r>
              <a:rPr lang="es-ES" dirty="0"/>
              <a:t>Esto elimina la necesidad de anclajes, lo que es ideal en aguas profundas donde el fondo marino es irregular.</a:t>
            </a:r>
          </a:p>
          <a:p>
            <a:pPr marL="0" indent="0" algn="just">
              <a:buNone/>
            </a:pPr>
            <a:endParaRPr lang="es-ES" dirty="0"/>
          </a:p>
        </p:txBody>
      </p:sp>
    </p:spTree>
    <p:extLst>
      <p:ext uri="{BB962C8B-B14F-4D97-AF65-F5344CB8AC3E}">
        <p14:creationId xmlns:p14="http://schemas.microsoft.com/office/powerpoint/2010/main" val="124950203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19E6F5-05DC-9995-611E-161294A54025}"/>
              </a:ext>
            </a:extLst>
          </p:cNvPr>
          <p:cNvSpPr>
            <a:spLocks noGrp="1"/>
          </p:cNvSpPr>
          <p:nvPr>
            <p:ph type="title"/>
          </p:nvPr>
        </p:nvSpPr>
        <p:spPr>
          <a:xfrm>
            <a:off x="838199" y="183009"/>
            <a:ext cx="10515600" cy="996053"/>
          </a:xfrm>
        </p:spPr>
        <p:txBody>
          <a:bodyPr>
            <a:normAutofit/>
          </a:bodyPr>
          <a:lstStyle/>
          <a:p>
            <a:endParaRPr lang="es-ES" sz="2800" dirty="0"/>
          </a:p>
        </p:txBody>
      </p:sp>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387930"/>
            <a:ext cx="11032671" cy="4789034"/>
          </a:xfrm>
        </p:spPr>
        <p:txBody>
          <a:bodyPr>
            <a:normAutofit/>
          </a:bodyPr>
          <a:lstStyle/>
          <a:p>
            <a:r>
              <a:rPr lang="es-ES" b="1" dirty="0"/>
              <a:t>Ventajas</a:t>
            </a:r>
          </a:p>
          <a:p>
            <a:pPr>
              <a:buFont typeface="Arial" panose="020B0604020202020204" pitchFamily="34" charset="0"/>
              <a:buChar char="•"/>
            </a:pPr>
            <a:r>
              <a:rPr lang="es-ES" b="1" dirty="0"/>
              <a:t>Movilidad:</a:t>
            </a:r>
            <a:r>
              <a:rPr lang="es-ES" dirty="0"/>
              <a:t> Pueden ser trasladados fácilmente a diferentes ubicaciones de perforación, lo que permite una mayor flexibilidad en la exploración.</a:t>
            </a:r>
          </a:p>
          <a:p>
            <a:pPr>
              <a:buFont typeface="Arial" panose="020B0604020202020204" pitchFamily="34" charset="0"/>
              <a:buChar char="•"/>
            </a:pPr>
            <a:r>
              <a:rPr lang="es-ES" b="1" dirty="0"/>
              <a:t>Capacidad para Aguas Profundas:</a:t>
            </a:r>
            <a:r>
              <a:rPr lang="es-ES" dirty="0"/>
              <a:t> Pueden operar en profundidades de más de 3,000 metros, accediendo a reservas que no serían alcanzables por plataformas fijas.</a:t>
            </a:r>
          </a:p>
          <a:p>
            <a:pPr>
              <a:buFont typeface="Arial" panose="020B0604020202020204" pitchFamily="34" charset="0"/>
              <a:buChar char="•"/>
            </a:pPr>
            <a:r>
              <a:rPr lang="es-ES" b="1" dirty="0"/>
              <a:t>Tecnología Avanzada:</a:t>
            </a:r>
            <a:r>
              <a:rPr lang="es-ES" dirty="0"/>
              <a:t> Equipados con tecnología moderna que mejora la seguridad y la eficiencia de las operaciones.</a:t>
            </a:r>
          </a:p>
          <a:p>
            <a:pPr marL="0" indent="0" algn="just">
              <a:buNone/>
            </a:pPr>
            <a:endParaRPr lang="es-ES" dirty="0"/>
          </a:p>
        </p:txBody>
      </p:sp>
    </p:spTree>
    <p:extLst>
      <p:ext uri="{BB962C8B-B14F-4D97-AF65-F5344CB8AC3E}">
        <p14:creationId xmlns:p14="http://schemas.microsoft.com/office/powerpoint/2010/main" val="364747138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19E6F5-05DC-9995-611E-161294A54025}"/>
              </a:ext>
            </a:extLst>
          </p:cNvPr>
          <p:cNvSpPr>
            <a:spLocks noGrp="1"/>
          </p:cNvSpPr>
          <p:nvPr>
            <p:ph type="title"/>
          </p:nvPr>
        </p:nvSpPr>
        <p:spPr>
          <a:xfrm>
            <a:off x="838199" y="183009"/>
            <a:ext cx="10515600" cy="996053"/>
          </a:xfrm>
        </p:spPr>
        <p:txBody>
          <a:bodyPr>
            <a:normAutofit/>
          </a:bodyPr>
          <a:lstStyle/>
          <a:p>
            <a:endParaRPr lang="es-ES" sz="2800" dirty="0"/>
          </a:p>
        </p:txBody>
      </p:sp>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387930"/>
            <a:ext cx="11032671" cy="4789034"/>
          </a:xfrm>
        </p:spPr>
        <p:txBody>
          <a:bodyPr>
            <a:normAutofit/>
          </a:bodyPr>
          <a:lstStyle/>
          <a:p>
            <a:pPr marL="0" indent="0">
              <a:buNone/>
            </a:pPr>
            <a:r>
              <a:rPr lang="es-ES" b="1" dirty="0"/>
              <a:t>Transocean's </a:t>
            </a:r>
            <a:r>
              <a:rPr lang="es-ES" b="1" dirty="0" err="1"/>
              <a:t>Discoverer</a:t>
            </a:r>
            <a:r>
              <a:rPr lang="es-ES" b="1" dirty="0"/>
              <a:t> </a:t>
            </a:r>
            <a:r>
              <a:rPr lang="es-ES" b="1" dirty="0" err="1"/>
              <a:t>Inspiration</a:t>
            </a:r>
            <a:endParaRPr lang="es-ES" dirty="0"/>
          </a:p>
          <a:p>
            <a:pPr>
              <a:buFont typeface="Arial" panose="020B0604020202020204" pitchFamily="34" charset="0"/>
              <a:buChar char="•"/>
            </a:pPr>
            <a:r>
              <a:rPr lang="es-ES" b="1" dirty="0"/>
              <a:t>Ubicación:</a:t>
            </a:r>
            <a:r>
              <a:rPr lang="es-ES" dirty="0"/>
              <a:t> Utilizado en diversas exploraciones en el Golfo de México y otras regiones.</a:t>
            </a:r>
          </a:p>
          <a:p>
            <a:pPr>
              <a:buFont typeface="Arial" panose="020B0604020202020204" pitchFamily="34" charset="0"/>
              <a:buChar char="•"/>
            </a:pPr>
            <a:r>
              <a:rPr lang="es-ES" b="1" dirty="0"/>
              <a:t>Características:</a:t>
            </a:r>
            <a:r>
              <a:rPr lang="es-ES" dirty="0"/>
              <a:t> Con capacidad para operar en aguas profundas, este buque está equipado con tecnología de perforación avanzada y sistemas de DP.</a:t>
            </a:r>
          </a:p>
          <a:p>
            <a:pPr marL="0" indent="0">
              <a:buNone/>
            </a:pPr>
            <a:r>
              <a:rPr lang="es-ES" b="1" dirty="0" err="1"/>
              <a:t>Seadrill's</a:t>
            </a:r>
            <a:r>
              <a:rPr lang="es-ES" b="1" dirty="0"/>
              <a:t> West Aurora</a:t>
            </a:r>
            <a:endParaRPr lang="es-ES" dirty="0"/>
          </a:p>
          <a:p>
            <a:pPr>
              <a:buFont typeface="Arial" panose="020B0604020202020204" pitchFamily="34" charset="0"/>
              <a:buChar char="•"/>
            </a:pPr>
            <a:r>
              <a:rPr lang="es-ES" b="1" dirty="0"/>
              <a:t>Ubicación:</a:t>
            </a:r>
            <a:r>
              <a:rPr lang="es-ES" dirty="0"/>
              <a:t> Operaciones en el Mar del Norte y otras áreas.</a:t>
            </a:r>
          </a:p>
          <a:p>
            <a:pPr>
              <a:buFont typeface="Arial" panose="020B0604020202020204" pitchFamily="34" charset="0"/>
              <a:buChar char="•"/>
            </a:pPr>
            <a:r>
              <a:rPr lang="es-ES" b="1" dirty="0"/>
              <a:t>Características:</a:t>
            </a:r>
            <a:r>
              <a:rPr lang="es-ES" dirty="0"/>
              <a:t> Un buque moderno que combina capacidades de perforación en alta mar con un sistema de posicionamiento dinámico.</a:t>
            </a:r>
          </a:p>
          <a:p>
            <a:pPr marL="0" indent="0" algn="just">
              <a:buNone/>
            </a:pPr>
            <a:endParaRPr lang="es-ES" dirty="0"/>
          </a:p>
        </p:txBody>
      </p:sp>
    </p:spTree>
    <p:extLst>
      <p:ext uri="{BB962C8B-B14F-4D97-AF65-F5344CB8AC3E}">
        <p14:creationId xmlns:p14="http://schemas.microsoft.com/office/powerpoint/2010/main" val="137043477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19E6F5-05DC-9995-611E-161294A54025}"/>
              </a:ext>
            </a:extLst>
          </p:cNvPr>
          <p:cNvSpPr>
            <a:spLocks noGrp="1"/>
          </p:cNvSpPr>
          <p:nvPr>
            <p:ph type="title"/>
          </p:nvPr>
        </p:nvSpPr>
        <p:spPr>
          <a:xfrm>
            <a:off x="838199" y="183009"/>
            <a:ext cx="10515600" cy="996053"/>
          </a:xfrm>
        </p:spPr>
        <p:txBody>
          <a:bodyPr>
            <a:normAutofit/>
          </a:bodyPr>
          <a:lstStyle/>
          <a:p>
            <a:endParaRPr lang="es-ES" sz="2800" dirty="0"/>
          </a:p>
        </p:txBody>
      </p:sp>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387930"/>
            <a:ext cx="11032671" cy="4789034"/>
          </a:xfrm>
        </p:spPr>
        <p:txBody>
          <a:bodyPr>
            <a:normAutofit lnSpcReduction="10000"/>
          </a:bodyPr>
          <a:lstStyle/>
          <a:p>
            <a:pPr marL="0" indent="0">
              <a:buNone/>
            </a:pPr>
            <a:r>
              <a:rPr lang="es-ES" b="1" dirty="0"/>
              <a:t>Noble </a:t>
            </a:r>
            <a:r>
              <a:rPr lang="es-ES" b="1" dirty="0" err="1"/>
              <a:t>Corporation's</a:t>
            </a:r>
            <a:r>
              <a:rPr lang="es-ES" b="1" dirty="0"/>
              <a:t> Noble Bob Douglas</a:t>
            </a:r>
            <a:endParaRPr lang="es-ES" dirty="0"/>
          </a:p>
          <a:p>
            <a:pPr>
              <a:buFont typeface="Arial" panose="020B0604020202020204" pitchFamily="34" charset="0"/>
              <a:buChar char="•"/>
            </a:pPr>
            <a:r>
              <a:rPr lang="es-ES" b="1" dirty="0"/>
              <a:t>Ubicación:</a:t>
            </a:r>
            <a:r>
              <a:rPr lang="es-ES" dirty="0"/>
              <a:t> Ha sido utilizado en diversas campañas de perforación en aguas profundas.</a:t>
            </a:r>
          </a:p>
          <a:p>
            <a:pPr>
              <a:buFont typeface="Arial" panose="020B0604020202020204" pitchFamily="34" charset="0"/>
              <a:buChar char="•"/>
            </a:pPr>
            <a:r>
              <a:rPr lang="es-ES" b="1" dirty="0"/>
              <a:t>Características:</a:t>
            </a:r>
            <a:r>
              <a:rPr lang="es-ES" dirty="0"/>
              <a:t> Su diseño eficiente y tecnología avanzada le permiten realizar operaciones seguras y efectivas.</a:t>
            </a:r>
          </a:p>
          <a:p>
            <a:pPr marL="0" indent="0">
              <a:buNone/>
            </a:pPr>
            <a:r>
              <a:rPr lang="es-ES" b="1" dirty="0"/>
              <a:t>Maersk </a:t>
            </a:r>
            <a:r>
              <a:rPr lang="es-ES" b="1" dirty="0" err="1"/>
              <a:t>Drilling's</a:t>
            </a:r>
            <a:r>
              <a:rPr lang="es-ES" b="1" dirty="0"/>
              <a:t> Maersk </a:t>
            </a:r>
            <a:r>
              <a:rPr lang="es-ES" b="1" dirty="0" err="1"/>
              <a:t>Viking</a:t>
            </a:r>
            <a:endParaRPr lang="es-ES" dirty="0"/>
          </a:p>
          <a:p>
            <a:pPr>
              <a:buFont typeface="Arial" panose="020B0604020202020204" pitchFamily="34" charset="0"/>
              <a:buChar char="•"/>
            </a:pPr>
            <a:r>
              <a:rPr lang="es-ES" b="1" dirty="0"/>
              <a:t>Ubicación:</a:t>
            </a:r>
            <a:r>
              <a:rPr lang="es-ES" dirty="0"/>
              <a:t> Ha operado en diferentes regiones, incluyendo el Mar del Norte.</a:t>
            </a:r>
          </a:p>
          <a:p>
            <a:pPr>
              <a:buFont typeface="Arial" panose="020B0604020202020204" pitchFamily="34" charset="0"/>
              <a:buChar char="•"/>
            </a:pPr>
            <a:r>
              <a:rPr lang="es-ES" b="1" dirty="0"/>
              <a:t>Características:</a:t>
            </a:r>
            <a:r>
              <a:rPr lang="es-ES" dirty="0"/>
              <a:t> Con un enfoque en la sostenibilidad, este buque está diseñado para minimizar el impacto ambiental de las operaciones de perforación.</a:t>
            </a:r>
          </a:p>
          <a:p>
            <a:pPr marL="0" indent="0" algn="just">
              <a:buNone/>
            </a:pPr>
            <a:endParaRPr lang="es-ES" dirty="0"/>
          </a:p>
        </p:txBody>
      </p:sp>
    </p:spTree>
    <p:extLst>
      <p:ext uri="{BB962C8B-B14F-4D97-AF65-F5344CB8AC3E}">
        <p14:creationId xmlns:p14="http://schemas.microsoft.com/office/powerpoint/2010/main" val="297116360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19E6F5-05DC-9995-611E-161294A54025}"/>
              </a:ext>
            </a:extLst>
          </p:cNvPr>
          <p:cNvSpPr>
            <a:spLocks noGrp="1"/>
          </p:cNvSpPr>
          <p:nvPr>
            <p:ph type="title"/>
          </p:nvPr>
        </p:nvSpPr>
        <p:spPr>
          <a:xfrm>
            <a:off x="838199" y="183009"/>
            <a:ext cx="10515600" cy="996053"/>
          </a:xfrm>
        </p:spPr>
        <p:txBody>
          <a:bodyPr>
            <a:normAutofit/>
          </a:bodyPr>
          <a:lstStyle/>
          <a:p>
            <a:endParaRPr lang="es-ES" sz="2800" dirty="0"/>
          </a:p>
        </p:txBody>
      </p:sp>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306286"/>
            <a:ext cx="11032671" cy="5094514"/>
          </a:xfrm>
        </p:spPr>
        <p:txBody>
          <a:bodyPr>
            <a:normAutofit/>
          </a:bodyPr>
          <a:lstStyle/>
          <a:p>
            <a:pPr marL="0" indent="0" algn="just">
              <a:buNone/>
            </a:pPr>
            <a:r>
              <a:rPr lang="es-ES" b="1" dirty="0"/>
              <a:t>Consideraciones de Seguridad y Medio Ambiente</a:t>
            </a:r>
          </a:p>
          <a:p>
            <a:pPr algn="just">
              <a:buFont typeface="Arial" panose="020B0604020202020204" pitchFamily="34" charset="0"/>
              <a:buChar char="•"/>
            </a:pPr>
            <a:r>
              <a:rPr lang="es-ES" b="1" dirty="0"/>
              <a:t>Seguridad:</a:t>
            </a:r>
            <a:r>
              <a:rPr lang="es-ES" dirty="0"/>
              <a:t> Los buques de perforación deben cumplir con estrictas regulaciones de seguridad para proteger a la tripulación y prevenir derrames.</a:t>
            </a:r>
          </a:p>
          <a:p>
            <a:pPr algn="just">
              <a:buFont typeface="Arial" panose="020B0604020202020204" pitchFamily="34" charset="0"/>
              <a:buChar char="•"/>
            </a:pPr>
            <a:r>
              <a:rPr lang="es-ES" b="1" dirty="0"/>
              <a:t>Impacto Ambiental:</a:t>
            </a:r>
            <a:r>
              <a:rPr lang="es-ES" dirty="0"/>
              <a:t> Se implementan prácticas de gestión ambiental para minimizar los efectos de las operaciones en el ecosistema marino.</a:t>
            </a:r>
          </a:p>
          <a:p>
            <a:pPr marL="0" indent="0" algn="just">
              <a:buNone/>
            </a:pPr>
            <a:r>
              <a:rPr lang="es-ES" dirty="0"/>
              <a:t>Los buques de perforación son una parte esencial de la industria del petróleo y gas, especialmente en la exploración de aguas profundas. Su diseño especializado y tecnología avanzada les permiten operar de manera segura y eficiente, lo que los convierte en una herramienta clave para acceder a reservas de hidrocarburos.</a:t>
            </a:r>
          </a:p>
        </p:txBody>
      </p:sp>
    </p:spTree>
    <p:extLst>
      <p:ext uri="{BB962C8B-B14F-4D97-AF65-F5344CB8AC3E}">
        <p14:creationId xmlns:p14="http://schemas.microsoft.com/office/powerpoint/2010/main" val="88395466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19E6F5-05DC-9995-611E-161294A54025}"/>
              </a:ext>
            </a:extLst>
          </p:cNvPr>
          <p:cNvSpPr>
            <a:spLocks noGrp="1"/>
          </p:cNvSpPr>
          <p:nvPr>
            <p:ph type="title"/>
          </p:nvPr>
        </p:nvSpPr>
        <p:spPr>
          <a:xfrm>
            <a:off x="838199" y="183009"/>
            <a:ext cx="10515600" cy="996053"/>
          </a:xfrm>
        </p:spPr>
        <p:txBody>
          <a:bodyPr>
            <a:normAutofit/>
          </a:bodyPr>
          <a:lstStyle/>
          <a:p>
            <a:r>
              <a:rPr lang="es-ES" sz="2800" dirty="0"/>
              <a:t>PLATAFORMAS DE TENSION </a:t>
            </a:r>
          </a:p>
        </p:txBody>
      </p:sp>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387930"/>
            <a:ext cx="11032671" cy="4789034"/>
          </a:xfrm>
        </p:spPr>
        <p:txBody>
          <a:bodyPr>
            <a:normAutofit/>
          </a:bodyPr>
          <a:lstStyle/>
          <a:p>
            <a:pPr marL="0" indent="0" algn="just">
              <a:buNone/>
            </a:pPr>
            <a:r>
              <a:rPr lang="es-ES" dirty="0"/>
              <a:t>Las plataformas de tensión son estructuras flotantes que se utilizan para la perforación y producción de petróleo y gas en aguas profundas. Se caracterizan por su sistema de anclaje, que utiliza cables tensores que mantienen la plataforma en posición vertical y estable sobre el fondo marino.</a:t>
            </a:r>
          </a:p>
        </p:txBody>
      </p:sp>
    </p:spTree>
    <p:extLst>
      <p:ext uri="{BB962C8B-B14F-4D97-AF65-F5344CB8AC3E}">
        <p14:creationId xmlns:p14="http://schemas.microsoft.com/office/powerpoint/2010/main" val="71341036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19E6F5-05DC-9995-611E-161294A54025}"/>
              </a:ext>
            </a:extLst>
          </p:cNvPr>
          <p:cNvSpPr>
            <a:spLocks noGrp="1"/>
          </p:cNvSpPr>
          <p:nvPr>
            <p:ph type="title"/>
          </p:nvPr>
        </p:nvSpPr>
        <p:spPr>
          <a:xfrm>
            <a:off x="838199" y="183009"/>
            <a:ext cx="10515600" cy="996053"/>
          </a:xfrm>
        </p:spPr>
        <p:txBody>
          <a:bodyPr>
            <a:normAutofit/>
          </a:bodyPr>
          <a:lstStyle/>
          <a:p>
            <a:endParaRPr lang="es-ES" sz="2800" dirty="0"/>
          </a:p>
        </p:txBody>
      </p:sp>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387930"/>
            <a:ext cx="11032671" cy="4789034"/>
          </a:xfrm>
        </p:spPr>
        <p:txBody>
          <a:bodyPr>
            <a:normAutofit/>
          </a:bodyPr>
          <a:lstStyle/>
          <a:p>
            <a:pPr marL="0" indent="0">
              <a:buNone/>
            </a:pPr>
            <a:r>
              <a:rPr lang="es-ES" b="1" dirty="0"/>
              <a:t>Diseño y Estructura</a:t>
            </a:r>
          </a:p>
          <a:p>
            <a:pPr>
              <a:buFont typeface="+mj-lt"/>
              <a:buAutoNum type="arabicPeriod"/>
            </a:pPr>
            <a:r>
              <a:rPr lang="es-ES" b="1" dirty="0"/>
              <a:t>Estructura Flotante:</a:t>
            </a:r>
            <a:endParaRPr lang="es-ES" dirty="0"/>
          </a:p>
          <a:p>
            <a:pPr lvl="1"/>
            <a:r>
              <a:rPr lang="es-ES" dirty="0"/>
              <a:t>La plataforma consiste en un cuerpo flotante que puede ser una plataforma rectangular o cuadrada, diseñada para soportar el peso de las operaciones de perforación y producción.</a:t>
            </a:r>
          </a:p>
          <a:p>
            <a:pPr lvl="1"/>
            <a:r>
              <a:rPr lang="es-ES" dirty="0"/>
              <a:t>Se mantiene a flote gracias a su diseño, que incluye compartimentos de aire o espuma para proporcionar flotabilidad.</a:t>
            </a:r>
          </a:p>
          <a:p>
            <a:pPr marL="0" indent="0">
              <a:buNone/>
            </a:pPr>
            <a:r>
              <a:rPr lang="es-ES" b="1" dirty="0"/>
              <a:t>2 Sistema de Tensión:</a:t>
            </a:r>
            <a:endParaRPr lang="es-ES" dirty="0"/>
          </a:p>
          <a:p>
            <a:pPr lvl="1"/>
            <a:r>
              <a:rPr lang="es-ES" dirty="0"/>
              <a:t>Los cables de anclaje están conectados a la parte inferior de la plataforma y se extienden hacia el fondo marino, donde están fijados a una base.</a:t>
            </a:r>
          </a:p>
          <a:p>
            <a:pPr lvl="1">
              <a:lnSpc>
                <a:spcPct val="100000"/>
              </a:lnSpc>
            </a:pPr>
            <a:r>
              <a:rPr lang="es-ES" dirty="0"/>
              <a:t>Estos cables se mantienen bajo tensión para estabilizar la plataforma, lo que permite que se mantenga en su posición incluso en condiciones de oleaje severo.</a:t>
            </a:r>
          </a:p>
          <a:p>
            <a:pPr marL="0" indent="0" algn="just">
              <a:buNone/>
            </a:pPr>
            <a:endParaRPr lang="es-ES" dirty="0"/>
          </a:p>
        </p:txBody>
      </p:sp>
    </p:spTree>
    <p:extLst>
      <p:ext uri="{BB962C8B-B14F-4D97-AF65-F5344CB8AC3E}">
        <p14:creationId xmlns:p14="http://schemas.microsoft.com/office/powerpoint/2010/main" val="416580516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19E6F5-05DC-9995-611E-161294A54025}"/>
              </a:ext>
            </a:extLst>
          </p:cNvPr>
          <p:cNvSpPr>
            <a:spLocks noGrp="1"/>
          </p:cNvSpPr>
          <p:nvPr>
            <p:ph type="title"/>
          </p:nvPr>
        </p:nvSpPr>
        <p:spPr>
          <a:xfrm>
            <a:off x="838199" y="183009"/>
            <a:ext cx="10515600" cy="996053"/>
          </a:xfrm>
        </p:spPr>
        <p:txBody>
          <a:bodyPr>
            <a:normAutofit/>
          </a:bodyPr>
          <a:lstStyle/>
          <a:p>
            <a:endParaRPr lang="es-ES" sz="2800" dirty="0"/>
          </a:p>
        </p:txBody>
      </p:sp>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387930"/>
            <a:ext cx="11032671" cy="5470070"/>
          </a:xfrm>
        </p:spPr>
        <p:txBody>
          <a:bodyPr>
            <a:normAutofit fontScale="92500"/>
          </a:bodyPr>
          <a:lstStyle/>
          <a:p>
            <a:pPr marL="0" indent="0">
              <a:buNone/>
            </a:pPr>
            <a:r>
              <a:rPr lang="es-ES" b="1" dirty="0"/>
              <a:t>3 Equipo de Perforación:</a:t>
            </a:r>
            <a:endParaRPr lang="es-ES" dirty="0"/>
          </a:p>
          <a:p>
            <a:pPr lvl="1"/>
            <a:r>
              <a:rPr lang="es-ES" sz="2800" dirty="0"/>
              <a:t>Equipadas con torres de perforación y otros equipos necesarios para llevar a cabo operaciones de perforación en alta mar.</a:t>
            </a:r>
          </a:p>
          <a:p>
            <a:pPr lvl="1"/>
            <a:r>
              <a:rPr lang="es-ES" sz="2800" dirty="0"/>
              <a:t>Tienen sistemas de control avanzados para monitorear las operaciones en tiempo real</a:t>
            </a:r>
            <a:r>
              <a:rPr lang="es-ES" dirty="0"/>
              <a:t>.</a:t>
            </a:r>
          </a:p>
          <a:p>
            <a:pPr marL="0" indent="0">
              <a:buNone/>
            </a:pPr>
            <a:r>
              <a:rPr lang="es-ES" b="1" dirty="0"/>
              <a:t>Ventajas</a:t>
            </a:r>
          </a:p>
          <a:p>
            <a:pPr>
              <a:buFont typeface="Arial" panose="020B0604020202020204" pitchFamily="34" charset="0"/>
              <a:buChar char="•"/>
            </a:pPr>
            <a:r>
              <a:rPr lang="es-ES" b="1" dirty="0"/>
              <a:t>Estabilidad:</a:t>
            </a:r>
            <a:r>
              <a:rPr lang="es-ES" dirty="0"/>
              <a:t> El sistema de tensión proporciona una excelente estabilidad en condiciones de oleaje y viento, lo que reduce el movimiento de la plataforma.</a:t>
            </a:r>
          </a:p>
          <a:p>
            <a:pPr>
              <a:buFont typeface="Arial" panose="020B0604020202020204" pitchFamily="34" charset="0"/>
              <a:buChar char="•"/>
            </a:pPr>
            <a:r>
              <a:rPr lang="es-ES" b="1" dirty="0"/>
              <a:t>Acceso a Aguas Profundas:</a:t>
            </a:r>
            <a:r>
              <a:rPr lang="es-ES" dirty="0"/>
              <a:t> Estas plataformas son ideales para perforaciones en aguas profundas, donde otros tipos de plataformas pueden ser menos eficientes.</a:t>
            </a:r>
          </a:p>
          <a:p>
            <a:pPr>
              <a:buFont typeface="Arial" panose="020B0604020202020204" pitchFamily="34" charset="0"/>
              <a:buChar char="•"/>
            </a:pPr>
            <a:r>
              <a:rPr lang="es-ES" b="1" dirty="0"/>
              <a:t>Flexibilidad:</a:t>
            </a:r>
            <a:r>
              <a:rPr lang="es-ES" dirty="0"/>
              <a:t> Pueden ser utilizadas para perforaciones verticales y direccionales, permitiendo acceder a depósitos en diversas orientaciones.</a:t>
            </a:r>
          </a:p>
          <a:p>
            <a:pPr marL="0" indent="0" algn="just">
              <a:buNone/>
            </a:pPr>
            <a:endParaRPr lang="es-ES" dirty="0"/>
          </a:p>
        </p:txBody>
      </p:sp>
    </p:spTree>
    <p:extLst>
      <p:ext uri="{BB962C8B-B14F-4D97-AF65-F5344CB8AC3E}">
        <p14:creationId xmlns:p14="http://schemas.microsoft.com/office/powerpoint/2010/main" val="302487560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19E6F5-05DC-9995-611E-161294A54025}"/>
              </a:ext>
            </a:extLst>
          </p:cNvPr>
          <p:cNvSpPr>
            <a:spLocks noGrp="1"/>
          </p:cNvSpPr>
          <p:nvPr>
            <p:ph type="title"/>
          </p:nvPr>
        </p:nvSpPr>
        <p:spPr>
          <a:xfrm>
            <a:off x="838199" y="183009"/>
            <a:ext cx="10515600" cy="996053"/>
          </a:xfrm>
        </p:spPr>
        <p:txBody>
          <a:bodyPr>
            <a:normAutofit/>
          </a:bodyPr>
          <a:lstStyle/>
          <a:p>
            <a:endParaRPr lang="es-ES" sz="2800" dirty="0"/>
          </a:p>
        </p:txBody>
      </p:sp>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387930"/>
            <a:ext cx="11032671" cy="4789034"/>
          </a:xfrm>
        </p:spPr>
        <p:txBody>
          <a:bodyPr>
            <a:normAutofit lnSpcReduction="10000"/>
          </a:bodyPr>
          <a:lstStyle/>
          <a:p>
            <a:pPr marL="0" indent="0" algn="just">
              <a:buNone/>
            </a:pPr>
            <a:r>
              <a:rPr lang="es-ES" b="1" dirty="0" err="1"/>
              <a:t>Tension</a:t>
            </a:r>
            <a:r>
              <a:rPr lang="es-ES" b="1" dirty="0"/>
              <a:t> </a:t>
            </a:r>
            <a:r>
              <a:rPr lang="es-ES" b="1" dirty="0" err="1"/>
              <a:t>Leg</a:t>
            </a:r>
            <a:r>
              <a:rPr lang="es-ES" b="1" dirty="0"/>
              <a:t> </a:t>
            </a:r>
            <a:r>
              <a:rPr lang="es-ES" b="1" dirty="0" err="1"/>
              <a:t>Platform</a:t>
            </a:r>
            <a:r>
              <a:rPr lang="es-ES" b="1" dirty="0"/>
              <a:t> (TLP) de Shell - Mars</a:t>
            </a:r>
            <a:endParaRPr lang="es-ES" dirty="0"/>
          </a:p>
          <a:p>
            <a:pPr algn="just">
              <a:buFont typeface="Arial" panose="020B0604020202020204" pitchFamily="34" charset="0"/>
              <a:buChar char="•"/>
            </a:pPr>
            <a:r>
              <a:rPr lang="es-ES" b="1" dirty="0"/>
              <a:t>Ubicación:</a:t>
            </a:r>
            <a:r>
              <a:rPr lang="es-ES" dirty="0"/>
              <a:t> Golfo de México.</a:t>
            </a:r>
          </a:p>
          <a:p>
            <a:pPr algn="just">
              <a:buFont typeface="Arial" panose="020B0604020202020204" pitchFamily="34" charset="0"/>
              <a:buChar char="•"/>
            </a:pPr>
            <a:r>
              <a:rPr lang="es-ES" b="1" dirty="0"/>
              <a:t>Características:</a:t>
            </a:r>
            <a:r>
              <a:rPr lang="es-ES" dirty="0"/>
              <a:t> Esta plataforma ha estado en operación desde 1996 y es conocida por su capacidad para operar en profundidades de más de 1,200 metros. Su diseño innovador le permite resistir condiciones marinas extremas.</a:t>
            </a:r>
          </a:p>
          <a:p>
            <a:pPr marL="0" indent="0" algn="just">
              <a:buNone/>
            </a:pPr>
            <a:r>
              <a:rPr lang="es-ES" b="1" dirty="0"/>
              <a:t>TLP de ExxonMobil - Sable Island</a:t>
            </a:r>
            <a:endParaRPr lang="es-ES" dirty="0"/>
          </a:p>
          <a:p>
            <a:pPr algn="just">
              <a:buFont typeface="Arial" panose="020B0604020202020204" pitchFamily="34" charset="0"/>
              <a:buChar char="•"/>
            </a:pPr>
            <a:r>
              <a:rPr lang="es-ES" b="1" dirty="0"/>
              <a:t>Ubicación:</a:t>
            </a:r>
            <a:r>
              <a:rPr lang="es-ES" dirty="0"/>
              <a:t> Offshore de Canadá.</a:t>
            </a:r>
          </a:p>
          <a:p>
            <a:pPr algn="just">
              <a:buFont typeface="Arial" panose="020B0604020202020204" pitchFamily="34" charset="0"/>
              <a:buChar char="•"/>
            </a:pPr>
            <a:r>
              <a:rPr lang="es-ES" b="1" dirty="0"/>
              <a:t>Características:</a:t>
            </a:r>
            <a:r>
              <a:rPr lang="es-ES" dirty="0"/>
              <a:t> Diseñada para la producción de petróleo en aguas profundas, utiliza un sistema de tensión que le permite ser extremadamente estable.</a:t>
            </a:r>
          </a:p>
          <a:p>
            <a:pPr marL="0" indent="0" algn="just">
              <a:buNone/>
            </a:pPr>
            <a:endParaRPr lang="es-ES" dirty="0"/>
          </a:p>
        </p:txBody>
      </p:sp>
    </p:spTree>
    <p:extLst>
      <p:ext uri="{BB962C8B-B14F-4D97-AF65-F5344CB8AC3E}">
        <p14:creationId xmlns:p14="http://schemas.microsoft.com/office/powerpoint/2010/main" val="211484555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19E6F5-05DC-9995-611E-161294A54025}"/>
              </a:ext>
            </a:extLst>
          </p:cNvPr>
          <p:cNvSpPr>
            <a:spLocks noGrp="1"/>
          </p:cNvSpPr>
          <p:nvPr>
            <p:ph type="title"/>
          </p:nvPr>
        </p:nvSpPr>
        <p:spPr>
          <a:xfrm>
            <a:off x="838199" y="183009"/>
            <a:ext cx="10515600" cy="996053"/>
          </a:xfrm>
        </p:spPr>
        <p:txBody>
          <a:bodyPr>
            <a:normAutofit/>
          </a:bodyPr>
          <a:lstStyle/>
          <a:p>
            <a:endParaRPr lang="es-ES" sz="2800" dirty="0"/>
          </a:p>
        </p:txBody>
      </p:sp>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387930"/>
            <a:ext cx="11032671" cy="4789034"/>
          </a:xfrm>
        </p:spPr>
        <p:txBody>
          <a:bodyPr>
            <a:normAutofit/>
          </a:bodyPr>
          <a:lstStyle/>
          <a:p>
            <a:pPr marL="0" indent="0">
              <a:buNone/>
            </a:pPr>
            <a:r>
              <a:rPr lang="es-ES" b="1" dirty="0"/>
              <a:t>Consideraciones de Seguridad y Medio Ambiente</a:t>
            </a:r>
          </a:p>
          <a:p>
            <a:pPr>
              <a:buFont typeface="Arial" panose="020B0604020202020204" pitchFamily="34" charset="0"/>
              <a:buChar char="•"/>
            </a:pPr>
            <a:r>
              <a:rPr lang="es-ES" b="1" dirty="0"/>
              <a:t>Regulaciones:</a:t>
            </a:r>
            <a:r>
              <a:rPr lang="es-ES" dirty="0"/>
              <a:t> Deben cumplir con estrictas normativas de seguridad y medio ambiente para minimizar el riesgo de accidentes y derrames.</a:t>
            </a:r>
          </a:p>
          <a:p>
            <a:pPr>
              <a:buFont typeface="Arial" panose="020B0604020202020204" pitchFamily="34" charset="0"/>
              <a:buChar char="•"/>
            </a:pPr>
            <a:r>
              <a:rPr lang="es-ES" b="1" dirty="0"/>
              <a:t>Monitoreo:</a:t>
            </a:r>
            <a:r>
              <a:rPr lang="es-ES" dirty="0"/>
              <a:t> Implementan sistemas de monitoreo continuo para detectar cualquier anomalía en el funcionamiento de la plataforma.</a:t>
            </a:r>
          </a:p>
          <a:p>
            <a:pPr marL="0" indent="0" algn="just">
              <a:buNone/>
            </a:pPr>
            <a:r>
              <a:rPr lang="es-ES" dirty="0"/>
              <a:t>Las plataformas de tensión son una tecnología avanzada en la ingeniería offshore, proporcionando soluciones efectivas para la perforación y producción en aguas profundas. Su diseño y capacidad para manejar condiciones extremas las convierten en una opción valiosa para la industria del petróleo y gas, especialmente en áreas donde la estabilidad y la seguridad son críticas.</a:t>
            </a:r>
          </a:p>
        </p:txBody>
      </p:sp>
    </p:spTree>
    <p:extLst>
      <p:ext uri="{BB962C8B-B14F-4D97-AF65-F5344CB8AC3E}">
        <p14:creationId xmlns:p14="http://schemas.microsoft.com/office/powerpoint/2010/main" val="284607265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19E6F5-05DC-9995-611E-161294A54025}"/>
              </a:ext>
            </a:extLst>
          </p:cNvPr>
          <p:cNvSpPr>
            <a:spLocks noGrp="1"/>
          </p:cNvSpPr>
          <p:nvPr>
            <p:ph type="title"/>
          </p:nvPr>
        </p:nvSpPr>
        <p:spPr>
          <a:xfrm>
            <a:off x="838199" y="183009"/>
            <a:ext cx="10515600" cy="996053"/>
          </a:xfrm>
        </p:spPr>
        <p:txBody>
          <a:bodyPr>
            <a:normAutofit/>
          </a:bodyPr>
          <a:lstStyle/>
          <a:p>
            <a:r>
              <a:rPr lang="es-ES" sz="2800" dirty="0"/>
              <a:t>PLATAFORMAS SPAR</a:t>
            </a:r>
          </a:p>
        </p:txBody>
      </p:sp>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387930"/>
            <a:ext cx="11032671" cy="4789034"/>
          </a:xfrm>
        </p:spPr>
        <p:txBody>
          <a:bodyPr>
            <a:normAutofit/>
          </a:bodyPr>
          <a:lstStyle/>
          <a:p>
            <a:pPr marL="0" indent="0" algn="just">
              <a:buNone/>
            </a:pPr>
            <a:r>
              <a:rPr lang="es-ES" dirty="0"/>
              <a:t>Las plataformas </a:t>
            </a:r>
            <a:r>
              <a:rPr lang="es-ES" dirty="0" err="1"/>
              <a:t>Spar</a:t>
            </a:r>
            <a:r>
              <a:rPr lang="es-ES" dirty="0"/>
              <a:t> son estructuras flotantes diseñadas para la perforación y producción de petróleo y gas en aguas profundas. Se anclan al lecho marino mediante cadenas o cables, lo que les proporciona estabilidad y les permite resistir condiciones marinas adversas.</a:t>
            </a:r>
          </a:p>
        </p:txBody>
      </p:sp>
    </p:spTree>
    <p:extLst>
      <p:ext uri="{BB962C8B-B14F-4D97-AF65-F5344CB8AC3E}">
        <p14:creationId xmlns:p14="http://schemas.microsoft.com/office/powerpoint/2010/main" val="227452844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19E6F5-05DC-9995-611E-161294A54025}"/>
              </a:ext>
            </a:extLst>
          </p:cNvPr>
          <p:cNvSpPr>
            <a:spLocks noGrp="1"/>
          </p:cNvSpPr>
          <p:nvPr>
            <p:ph type="title"/>
          </p:nvPr>
        </p:nvSpPr>
        <p:spPr>
          <a:xfrm>
            <a:off x="838199" y="183009"/>
            <a:ext cx="10515600" cy="996053"/>
          </a:xfrm>
        </p:spPr>
        <p:txBody>
          <a:bodyPr>
            <a:normAutofit/>
          </a:bodyPr>
          <a:lstStyle/>
          <a:p>
            <a:endParaRPr lang="es-ES" sz="2800" dirty="0"/>
          </a:p>
        </p:txBody>
      </p:sp>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387930"/>
            <a:ext cx="11032671" cy="4789034"/>
          </a:xfrm>
        </p:spPr>
        <p:txBody>
          <a:bodyPr>
            <a:normAutofit lnSpcReduction="10000"/>
          </a:bodyPr>
          <a:lstStyle/>
          <a:p>
            <a:r>
              <a:rPr lang="es-ES" b="1" dirty="0"/>
              <a:t>Diseño y Estructura</a:t>
            </a:r>
          </a:p>
          <a:p>
            <a:pPr>
              <a:buFont typeface="+mj-lt"/>
              <a:buAutoNum type="arabicPeriod"/>
            </a:pPr>
            <a:r>
              <a:rPr lang="es-ES" b="1" dirty="0"/>
              <a:t>Cuerpo Flotante:</a:t>
            </a:r>
            <a:endParaRPr lang="es-ES" dirty="0"/>
          </a:p>
          <a:p>
            <a:pPr lvl="1"/>
            <a:r>
              <a:rPr lang="es-ES" dirty="0"/>
              <a:t>La plataforma </a:t>
            </a:r>
            <a:r>
              <a:rPr lang="es-ES" dirty="0" err="1"/>
              <a:t>Spar</a:t>
            </a:r>
            <a:r>
              <a:rPr lang="es-ES" dirty="0"/>
              <a:t> tiene un diseño alargado y cilíndrico que se encuentra parcialmente sumergido. Esta forma contribuye a su estabilidad en el agua.</a:t>
            </a:r>
          </a:p>
          <a:p>
            <a:pPr lvl="1"/>
            <a:r>
              <a:rPr lang="es-ES" dirty="0"/>
              <a:t>La parte superior de la plataforma es donde se realizan las operaciones de perforación y producción.</a:t>
            </a:r>
          </a:p>
          <a:p>
            <a:pPr marL="0" indent="0">
              <a:buNone/>
            </a:pPr>
            <a:r>
              <a:rPr lang="es-ES" b="1" dirty="0"/>
              <a:t>2.Cadenas de Anclaje:</a:t>
            </a:r>
            <a:endParaRPr lang="es-ES" dirty="0"/>
          </a:p>
          <a:p>
            <a:pPr lvl="1">
              <a:lnSpc>
                <a:spcPct val="100000"/>
              </a:lnSpc>
            </a:pPr>
            <a:r>
              <a:rPr lang="es-ES" dirty="0"/>
              <a:t>Se utilizan varias cadenas o cables que conectan la plataforma al fondo marino, manteniéndola en su lugar y permitiendo que se mantenga vertical incluso en condiciones de oleaje fuerte.</a:t>
            </a:r>
          </a:p>
          <a:p>
            <a:pPr lvl="1">
              <a:lnSpc>
                <a:spcPct val="100000"/>
              </a:lnSpc>
            </a:pPr>
            <a:r>
              <a:rPr lang="es-ES" dirty="0"/>
              <a:t>Estos anclajes son cruciales para la estabilidad de la plataforma y la seguridad de las operaciones.</a:t>
            </a:r>
          </a:p>
          <a:p>
            <a:pPr marL="0" indent="0" algn="just">
              <a:buNone/>
            </a:pPr>
            <a:endParaRPr lang="es-ES" dirty="0"/>
          </a:p>
        </p:txBody>
      </p:sp>
    </p:spTree>
    <p:extLst>
      <p:ext uri="{BB962C8B-B14F-4D97-AF65-F5344CB8AC3E}">
        <p14:creationId xmlns:p14="http://schemas.microsoft.com/office/powerpoint/2010/main" val="320093693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19E6F5-05DC-9995-611E-161294A54025}"/>
              </a:ext>
            </a:extLst>
          </p:cNvPr>
          <p:cNvSpPr>
            <a:spLocks noGrp="1"/>
          </p:cNvSpPr>
          <p:nvPr>
            <p:ph type="title"/>
          </p:nvPr>
        </p:nvSpPr>
        <p:spPr>
          <a:xfrm>
            <a:off x="838199" y="183009"/>
            <a:ext cx="10515600" cy="996053"/>
          </a:xfrm>
        </p:spPr>
        <p:txBody>
          <a:bodyPr>
            <a:normAutofit/>
          </a:bodyPr>
          <a:lstStyle/>
          <a:p>
            <a:endParaRPr lang="es-ES" sz="2800" dirty="0"/>
          </a:p>
        </p:txBody>
      </p:sp>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387930"/>
            <a:ext cx="11032671" cy="4789034"/>
          </a:xfrm>
        </p:spPr>
        <p:txBody>
          <a:bodyPr>
            <a:normAutofit lnSpcReduction="10000"/>
          </a:bodyPr>
          <a:lstStyle/>
          <a:p>
            <a:pPr marL="0" indent="0">
              <a:buNone/>
            </a:pPr>
            <a:r>
              <a:rPr lang="es-ES" b="1" dirty="0"/>
              <a:t>3.Sistemas de Perforación:</a:t>
            </a:r>
            <a:endParaRPr lang="es-ES" dirty="0"/>
          </a:p>
          <a:p>
            <a:pPr lvl="1">
              <a:lnSpc>
                <a:spcPct val="100000"/>
              </a:lnSpc>
            </a:pPr>
            <a:r>
              <a:rPr lang="es-ES" dirty="0"/>
              <a:t>Equipadas con tecnología avanzada para la perforación de pozos, incluyendo torres de perforación y sistemas de control modernos.</a:t>
            </a:r>
          </a:p>
          <a:p>
            <a:r>
              <a:rPr lang="es-ES" b="1" dirty="0"/>
              <a:t>Ventajas</a:t>
            </a:r>
          </a:p>
          <a:p>
            <a:pPr>
              <a:buFont typeface="Arial" panose="020B0604020202020204" pitchFamily="34" charset="0"/>
              <a:buChar char="•"/>
            </a:pPr>
            <a:r>
              <a:rPr lang="es-ES" b="1" dirty="0"/>
              <a:t>Estabilidad en Aguas Profundas:</a:t>
            </a:r>
            <a:r>
              <a:rPr lang="es-ES" dirty="0"/>
              <a:t> Las plataformas </a:t>
            </a:r>
            <a:r>
              <a:rPr lang="es-ES" dirty="0" err="1"/>
              <a:t>Spar</a:t>
            </a:r>
            <a:r>
              <a:rPr lang="es-ES" dirty="0"/>
              <a:t> son ideales para operar en aguas profundas (más de 1,500 metros), donde su diseño les proporciona una excelente resistencia al movimiento.</a:t>
            </a:r>
          </a:p>
          <a:p>
            <a:pPr>
              <a:buFont typeface="Arial" panose="020B0604020202020204" pitchFamily="34" charset="0"/>
              <a:buChar char="•"/>
            </a:pPr>
            <a:r>
              <a:rPr lang="es-ES" b="1" dirty="0"/>
              <a:t>Menor Movimiento:</a:t>
            </a:r>
            <a:r>
              <a:rPr lang="es-ES" dirty="0"/>
              <a:t> Su diseño permite que experimenten menos movimiento en comparación con otras plataformas flotantes, lo que mejora la seguridad y eficiencia de las operaciones.</a:t>
            </a:r>
          </a:p>
          <a:p>
            <a:pPr>
              <a:buFont typeface="Arial" panose="020B0604020202020204" pitchFamily="34" charset="0"/>
              <a:buChar char="•"/>
            </a:pPr>
            <a:r>
              <a:rPr lang="es-ES" b="1" dirty="0"/>
              <a:t>Flexibilidad en la Perforación:</a:t>
            </a:r>
            <a:r>
              <a:rPr lang="es-ES" dirty="0"/>
              <a:t> Pueden realizar perforaciones verticales y direccionales, accediendo a reservorios en diversas orientaciones.</a:t>
            </a:r>
          </a:p>
          <a:p>
            <a:pPr marL="0" indent="0" algn="just">
              <a:buNone/>
            </a:pPr>
            <a:endParaRPr lang="es-ES" dirty="0"/>
          </a:p>
        </p:txBody>
      </p:sp>
    </p:spTree>
    <p:extLst>
      <p:ext uri="{BB962C8B-B14F-4D97-AF65-F5344CB8AC3E}">
        <p14:creationId xmlns:p14="http://schemas.microsoft.com/office/powerpoint/2010/main" val="292526345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19E6F5-05DC-9995-611E-161294A54025}"/>
              </a:ext>
            </a:extLst>
          </p:cNvPr>
          <p:cNvSpPr>
            <a:spLocks noGrp="1"/>
          </p:cNvSpPr>
          <p:nvPr>
            <p:ph type="title"/>
          </p:nvPr>
        </p:nvSpPr>
        <p:spPr>
          <a:xfrm>
            <a:off x="838199" y="183009"/>
            <a:ext cx="10515600" cy="996053"/>
          </a:xfrm>
        </p:spPr>
        <p:txBody>
          <a:bodyPr>
            <a:normAutofit/>
          </a:bodyPr>
          <a:lstStyle/>
          <a:p>
            <a:endParaRPr lang="es-ES" sz="2800" dirty="0"/>
          </a:p>
        </p:txBody>
      </p:sp>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387930"/>
            <a:ext cx="11032671" cy="4789034"/>
          </a:xfrm>
        </p:spPr>
        <p:txBody>
          <a:bodyPr>
            <a:normAutofit fontScale="92500" lnSpcReduction="10000"/>
          </a:bodyPr>
          <a:lstStyle/>
          <a:p>
            <a:r>
              <a:rPr lang="es-ES" b="1" dirty="0" err="1"/>
              <a:t>Thunder</a:t>
            </a:r>
            <a:r>
              <a:rPr lang="es-ES" b="1" dirty="0"/>
              <a:t> </a:t>
            </a:r>
            <a:r>
              <a:rPr lang="es-ES" b="1" dirty="0" err="1"/>
              <a:t>Horse</a:t>
            </a:r>
            <a:endParaRPr lang="es-ES" dirty="0"/>
          </a:p>
          <a:p>
            <a:pPr>
              <a:buFont typeface="Arial" panose="020B0604020202020204" pitchFamily="34" charset="0"/>
              <a:buChar char="•"/>
            </a:pPr>
            <a:r>
              <a:rPr lang="es-ES" b="1" dirty="0"/>
              <a:t>Operador:</a:t>
            </a:r>
            <a:r>
              <a:rPr lang="es-ES" dirty="0"/>
              <a:t> BP</a:t>
            </a:r>
          </a:p>
          <a:p>
            <a:pPr>
              <a:buFont typeface="Arial" panose="020B0604020202020204" pitchFamily="34" charset="0"/>
              <a:buChar char="•"/>
            </a:pPr>
            <a:r>
              <a:rPr lang="es-ES" b="1" dirty="0"/>
              <a:t>Ubicación:</a:t>
            </a:r>
            <a:r>
              <a:rPr lang="es-ES" dirty="0"/>
              <a:t> Golfo de México</a:t>
            </a:r>
          </a:p>
          <a:p>
            <a:pPr>
              <a:buFont typeface="Arial" panose="020B0604020202020204" pitchFamily="34" charset="0"/>
              <a:buChar char="•"/>
            </a:pPr>
            <a:r>
              <a:rPr lang="es-ES" b="1" dirty="0"/>
              <a:t>Características:</a:t>
            </a:r>
            <a:r>
              <a:rPr lang="es-ES" dirty="0"/>
              <a:t> Esta plataforma puede operar en profundidades de hasta 1,500 metros y es una de las más grandes de su tipo, diseñada para la producción de petróleo y gas natural.</a:t>
            </a:r>
          </a:p>
          <a:p>
            <a:r>
              <a:rPr lang="es-ES" b="1" dirty="0" err="1"/>
              <a:t>Turritella</a:t>
            </a:r>
            <a:endParaRPr lang="es-ES" dirty="0"/>
          </a:p>
          <a:p>
            <a:pPr>
              <a:buFont typeface="Arial" panose="020B0604020202020204" pitchFamily="34" charset="0"/>
              <a:buChar char="•"/>
            </a:pPr>
            <a:r>
              <a:rPr lang="es-ES" b="1" dirty="0"/>
              <a:t>Operador:</a:t>
            </a:r>
            <a:r>
              <a:rPr lang="es-ES" dirty="0"/>
              <a:t> Shell</a:t>
            </a:r>
          </a:p>
          <a:p>
            <a:pPr>
              <a:buFont typeface="Arial" panose="020B0604020202020204" pitchFamily="34" charset="0"/>
              <a:buChar char="•"/>
            </a:pPr>
            <a:r>
              <a:rPr lang="es-ES" b="1" dirty="0"/>
              <a:t>Ubicación:</a:t>
            </a:r>
            <a:r>
              <a:rPr lang="es-ES" dirty="0"/>
              <a:t> Golfo de México</a:t>
            </a:r>
          </a:p>
          <a:p>
            <a:pPr>
              <a:buFont typeface="Arial" panose="020B0604020202020204" pitchFamily="34" charset="0"/>
              <a:buChar char="•"/>
            </a:pPr>
            <a:r>
              <a:rPr lang="es-ES" b="1" dirty="0"/>
              <a:t>Características:</a:t>
            </a:r>
            <a:r>
              <a:rPr lang="es-ES" dirty="0"/>
              <a:t> Innovadora en su diseño, la </a:t>
            </a:r>
            <a:r>
              <a:rPr lang="es-ES" dirty="0" err="1"/>
              <a:t>Turritella</a:t>
            </a:r>
            <a:r>
              <a:rPr lang="es-ES" dirty="0"/>
              <a:t> es la primera plataforma </a:t>
            </a:r>
            <a:r>
              <a:rPr lang="es-ES" dirty="0" err="1"/>
              <a:t>Spar</a:t>
            </a:r>
            <a:r>
              <a:rPr lang="es-ES" dirty="0"/>
              <a:t> de producción de petróleo que utiliza un sistema de conexión de </a:t>
            </a:r>
            <a:r>
              <a:rPr lang="es-ES" dirty="0" err="1"/>
              <a:t>risers</a:t>
            </a:r>
            <a:r>
              <a:rPr lang="es-ES" dirty="0"/>
              <a:t> flexible, lo que aumenta su versatilidad.</a:t>
            </a:r>
          </a:p>
          <a:p>
            <a:pPr marL="0" indent="0" algn="just">
              <a:buNone/>
            </a:pPr>
            <a:endParaRPr lang="es-ES" dirty="0"/>
          </a:p>
        </p:txBody>
      </p:sp>
    </p:spTree>
    <p:extLst>
      <p:ext uri="{BB962C8B-B14F-4D97-AF65-F5344CB8AC3E}">
        <p14:creationId xmlns:p14="http://schemas.microsoft.com/office/powerpoint/2010/main" val="400025395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19E6F5-05DC-9995-611E-161294A54025}"/>
              </a:ext>
            </a:extLst>
          </p:cNvPr>
          <p:cNvSpPr>
            <a:spLocks noGrp="1"/>
          </p:cNvSpPr>
          <p:nvPr>
            <p:ph type="title"/>
          </p:nvPr>
        </p:nvSpPr>
        <p:spPr>
          <a:xfrm>
            <a:off x="838199" y="183009"/>
            <a:ext cx="10515600" cy="996053"/>
          </a:xfrm>
        </p:spPr>
        <p:txBody>
          <a:bodyPr>
            <a:normAutofit/>
          </a:bodyPr>
          <a:lstStyle/>
          <a:p>
            <a:endParaRPr lang="es-ES" sz="2800" dirty="0"/>
          </a:p>
        </p:txBody>
      </p:sp>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387930"/>
            <a:ext cx="11032671" cy="4789034"/>
          </a:xfrm>
        </p:spPr>
        <p:txBody>
          <a:bodyPr>
            <a:normAutofit fontScale="92500"/>
          </a:bodyPr>
          <a:lstStyle/>
          <a:p>
            <a:pPr marL="0" indent="0">
              <a:buNone/>
            </a:pPr>
            <a:r>
              <a:rPr lang="es-ES" b="1" dirty="0"/>
              <a:t>Noble Bob Douglas</a:t>
            </a:r>
            <a:endParaRPr lang="es-ES" dirty="0"/>
          </a:p>
          <a:p>
            <a:pPr>
              <a:buFont typeface="Arial" panose="020B0604020202020204" pitchFamily="34" charset="0"/>
              <a:buChar char="•"/>
            </a:pPr>
            <a:r>
              <a:rPr lang="es-ES" b="1" dirty="0"/>
              <a:t>Operador:</a:t>
            </a:r>
            <a:r>
              <a:rPr lang="es-ES" dirty="0"/>
              <a:t> Noble </a:t>
            </a:r>
            <a:r>
              <a:rPr lang="es-ES" dirty="0" err="1"/>
              <a:t>Drilling</a:t>
            </a:r>
            <a:endParaRPr lang="es-ES" dirty="0"/>
          </a:p>
          <a:p>
            <a:pPr>
              <a:buFont typeface="Arial" panose="020B0604020202020204" pitchFamily="34" charset="0"/>
              <a:buChar char="•"/>
            </a:pPr>
            <a:r>
              <a:rPr lang="es-ES" b="1" dirty="0"/>
              <a:t>Ubicación:</a:t>
            </a:r>
            <a:r>
              <a:rPr lang="es-ES" dirty="0"/>
              <a:t> Operaciones en diversas regiones, incluido el Mar del Norte.</a:t>
            </a:r>
          </a:p>
          <a:p>
            <a:pPr>
              <a:buFont typeface="Arial" panose="020B0604020202020204" pitchFamily="34" charset="0"/>
              <a:buChar char="•"/>
            </a:pPr>
            <a:r>
              <a:rPr lang="es-ES" b="1" dirty="0"/>
              <a:t>Características:</a:t>
            </a:r>
            <a:r>
              <a:rPr lang="es-ES" dirty="0"/>
              <a:t> Esta plataforma está diseñada para operar en aguas profundas y ha demostrado su capacidad para resistir condiciones severas.</a:t>
            </a:r>
          </a:p>
          <a:p>
            <a:pPr marL="0" indent="0">
              <a:buNone/>
            </a:pPr>
            <a:r>
              <a:rPr lang="es-ES" b="1" dirty="0"/>
              <a:t>Consideraciones de Seguridad y Medio Ambiente</a:t>
            </a:r>
          </a:p>
          <a:p>
            <a:pPr>
              <a:buFont typeface="Arial" panose="020B0604020202020204" pitchFamily="34" charset="0"/>
              <a:buChar char="•"/>
            </a:pPr>
            <a:r>
              <a:rPr lang="es-ES" b="1" dirty="0"/>
              <a:t>Regulaciones:</a:t>
            </a:r>
            <a:r>
              <a:rPr lang="es-ES" dirty="0"/>
              <a:t> Deben cumplir con normas estrictas de seguridad y medio ambiente para prevenir derrames y proteger la fauna marina.</a:t>
            </a:r>
          </a:p>
          <a:p>
            <a:pPr>
              <a:buFont typeface="Arial" panose="020B0604020202020204" pitchFamily="34" charset="0"/>
              <a:buChar char="•"/>
            </a:pPr>
            <a:r>
              <a:rPr lang="es-ES" b="1" dirty="0"/>
              <a:t>Monitoreo y Mantenimiento:</a:t>
            </a:r>
            <a:r>
              <a:rPr lang="es-ES" dirty="0"/>
              <a:t> Se implementan sistemas de monitoreo continuo y programas de mantenimiento para garantizar la seguridad y la eficacia operativa.</a:t>
            </a:r>
          </a:p>
          <a:p>
            <a:pPr marL="0" indent="0" algn="just">
              <a:buNone/>
            </a:pPr>
            <a:endParaRPr lang="es-ES" dirty="0"/>
          </a:p>
        </p:txBody>
      </p:sp>
    </p:spTree>
    <p:extLst>
      <p:ext uri="{BB962C8B-B14F-4D97-AF65-F5344CB8AC3E}">
        <p14:creationId xmlns:p14="http://schemas.microsoft.com/office/powerpoint/2010/main" val="378217742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19E6F5-05DC-9995-611E-161294A54025}"/>
              </a:ext>
            </a:extLst>
          </p:cNvPr>
          <p:cNvSpPr>
            <a:spLocks noGrp="1"/>
          </p:cNvSpPr>
          <p:nvPr>
            <p:ph type="title"/>
          </p:nvPr>
        </p:nvSpPr>
        <p:spPr>
          <a:xfrm>
            <a:off x="838199" y="183009"/>
            <a:ext cx="10515600" cy="996053"/>
          </a:xfrm>
        </p:spPr>
        <p:txBody>
          <a:bodyPr>
            <a:normAutofit/>
          </a:bodyPr>
          <a:lstStyle/>
          <a:p>
            <a:endParaRPr lang="es-ES" sz="2800" dirty="0"/>
          </a:p>
        </p:txBody>
      </p:sp>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387930"/>
            <a:ext cx="11032671" cy="4789034"/>
          </a:xfrm>
        </p:spPr>
        <p:txBody>
          <a:bodyPr>
            <a:normAutofit/>
          </a:bodyPr>
          <a:lstStyle/>
          <a:p>
            <a:pPr marL="0" indent="0" algn="just">
              <a:buNone/>
            </a:pPr>
            <a:r>
              <a:rPr lang="es-ES" dirty="0"/>
              <a:t>Las plataformas </a:t>
            </a:r>
            <a:r>
              <a:rPr lang="es-ES" dirty="0" err="1"/>
              <a:t>Spar</a:t>
            </a:r>
            <a:r>
              <a:rPr lang="es-ES" dirty="0"/>
              <a:t> son una opción valiosa para la exploración y producción de hidrocarburos en aguas profundas. Su diseño innovador y capacidad para resistir condiciones extremas las convierten en una tecnología avanzada en la industria del petróleo y gas. Con la evolución de la tecnología, las plataformas </a:t>
            </a:r>
            <a:r>
              <a:rPr lang="es-ES" dirty="0" err="1"/>
              <a:t>Spar</a:t>
            </a:r>
            <a:r>
              <a:rPr lang="es-ES" dirty="0"/>
              <a:t> continúan desempeñando un papel fundamental en la búsqueda de nuevas reservas de petróleo y gas.</a:t>
            </a:r>
          </a:p>
        </p:txBody>
      </p:sp>
    </p:spTree>
    <p:extLst>
      <p:ext uri="{BB962C8B-B14F-4D97-AF65-F5344CB8AC3E}">
        <p14:creationId xmlns:p14="http://schemas.microsoft.com/office/powerpoint/2010/main" val="50870222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19E6F5-05DC-9995-611E-161294A54025}"/>
              </a:ext>
            </a:extLst>
          </p:cNvPr>
          <p:cNvSpPr>
            <a:spLocks noGrp="1"/>
          </p:cNvSpPr>
          <p:nvPr>
            <p:ph type="title"/>
          </p:nvPr>
        </p:nvSpPr>
        <p:spPr>
          <a:xfrm>
            <a:off x="838199" y="183009"/>
            <a:ext cx="10515600" cy="996053"/>
          </a:xfrm>
        </p:spPr>
        <p:txBody>
          <a:bodyPr>
            <a:normAutofit/>
          </a:bodyPr>
          <a:lstStyle/>
          <a:p>
            <a:r>
              <a:rPr lang="es-ES" sz="2800" dirty="0"/>
              <a:t>PERFORACION Y PRODUCCION OFFSHORE</a:t>
            </a:r>
          </a:p>
        </p:txBody>
      </p:sp>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179063"/>
            <a:ext cx="11032671" cy="5495928"/>
          </a:xfrm>
        </p:spPr>
        <p:txBody>
          <a:bodyPr>
            <a:normAutofit/>
          </a:bodyPr>
          <a:lstStyle/>
          <a:p>
            <a:pPr marL="0" indent="0">
              <a:buNone/>
            </a:pPr>
            <a:r>
              <a:rPr lang="es-ES" b="1" dirty="0"/>
              <a:t>Perforación Offshore</a:t>
            </a:r>
          </a:p>
          <a:p>
            <a:pPr lvl="1"/>
            <a:endParaRPr lang="es-ES" dirty="0"/>
          </a:p>
          <a:p>
            <a:pPr marL="0" indent="0" algn="just">
              <a:buNone/>
            </a:pPr>
            <a:r>
              <a:rPr lang="es-ES" dirty="0"/>
              <a:t>La perforación offshore se refiere al proceso de perforar el lecho marino para acceder a reservas de petróleo y gas situadas bajo el agua. Este proceso es complejo y requiere tecnología avanzada, planificación cuidadosa y consideraciones de seguridad y medio ambiente.</a:t>
            </a:r>
          </a:p>
        </p:txBody>
      </p:sp>
    </p:spTree>
    <p:extLst>
      <p:ext uri="{BB962C8B-B14F-4D97-AF65-F5344CB8AC3E}">
        <p14:creationId xmlns:p14="http://schemas.microsoft.com/office/powerpoint/2010/main" val="174093026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19E6F5-05DC-9995-611E-161294A54025}"/>
              </a:ext>
            </a:extLst>
          </p:cNvPr>
          <p:cNvSpPr>
            <a:spLocks noGrp="1"/>
          </p:cNvSpPr>
          <p:nvPr>
            <p:ph type="title"/>
          </p:nvPr>
        </p:nvSpPr>
        <p:spPr>
          <a:xfrm>
            <a:off x="838199" y="183009"/>
            <a:ext cx="10515600" cy="996053"/>
          </a:xfrm>
        </p:spPr>
        <p:txBody>
          <a:bodyPr>
            <a:normAutofit/>
          </a:bodyPr>
          <a:lstStyle/>
          <a:p>
            <a:r>
              <a:rPr lang="es-ES" sz="2800" dirty="0"/>
              <a:t>FASES DE LA PERFORACION OFFSHORE</a:t>
            </a:r>
          </a:p>
        </p:txBody>
      </p:sp>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387929"/>
            <a:ext cx="11032671" cy="5287061"/>
          </a:xfrm>
        </p:spPr>
        <p:txBody>
          <a:bodyPr>
            <a:normAutofit fontScale="92500" lnSpcReduction="20000"/>
          </a:bodyPr>
          <a:lstStyle/>
          <a:p>
            <a:pPr marL="0" indent="0">
              <a:buNone/>
            </a:pPr>
            <a:r>
              <a:rPr lang="es-ES" b="1" dirty="0"/>
              <a:t>a. Estudio y Planificación:</a:t>
            </a:r>
            <a:endParaRPr lang="es-ES" dirty="0"/>
          </a:p>
          <a:p>
            <a:pPr>
              <a:buFont typeface="Arial" panose="020B0604020202020204" pitchFamily="34" charset="0"/>
              <a:buChar char="•"/>
            </a:pPr>
            <a:r>
              <a:rPr lang="es-ES" b="1" dirty="0"/>
              <a:t>Investigación Geológica:</a:t>
            </a:r>
            <a:r>
              <a:rPr lang="es-ES" dirty="0"/>
              <a:t> Se realizan estudios sísmicos y análisis de datos geológicos para identificar las ubicaciones óptimas para perforar.</a:t>
            </a:r>
          </a:p>
          <a:p>
            <a:pPr>
              <a:buFont typeface="Arial" panose="020B0604020202020204" pitchFamily="34" charset="0"/>
              <a:buChar char="•"/>
            </a:pPr>
            <a:r>
              <a:rPr lang="es-ES" b="1" dirty="0"/>
              <a:t>Selección de la Plataforma:</a:t>
            </a:r>
            <a:r>
              <a:rPr lang="es-ES" dirty="0"/>
              <a:t> La elección del tipo de plataforma (fija, </a:t>
            </a:r>
            <a:r>
              <a:rPr lang="es-ES" dirty="0" err="1"/>
              <a:t>semisumergible</a:t>
            </a:r>
            <a:r>
              <a:rPr lang="es-ES" dirty="0"/>
              <a:t>, </a:t>
            </a:r>
            <a:r>
              <a:rPr lang="es-ES" dirty="0" err="1"/>
              <a:t>Spar</a:t>
            </a:r>
            <a:r>
              <a:rPr lang="es-ES" dirty="0"/>
              <a:t>, etc.) depende de la profundidad del agua y las condiciones ambientales.</a:t>
            </a:r>
          </a:p>
          <a:p>
            <a:pPr marL="0" indent="0">
              <a:buNone/>
            </a:pPr>
            <a:r>
              <a:rPr lang="es-ES" b="1" dirty="0"/>
              <a:t>b. Movilización de la Plataforma:</a:t>
            </a:r>
            <a:endParaRPr lang="es-ES" dirty="0"/>
          </a:p>
          <a:p>
            <a:pPr>
              <a:buFont typeface="Arial" panose="020B0604020202020204" pitchFamily="34" charset="0"/>
              <a:buChar char="•"/>
            </a:pPr>
            <a:r>
              <a:rPr lang="es-ES" dirty="0"/>
              <a:t>La plataforma se transporta al sitio de perforación. Para plataformas flotantes, se utilizan remolcadores y sistemas de posicionamiento dinámico para anclarlas en la ubicación deseada.</a:t>
            </a:r>
          </a:p>
          <a:p>
            <a:pPr marL="0" indent="0">
              <a:buNone/>
            </a:pPr>
            <a:r>
              <a:rPr lang="es-ES" b="1" dirty="0"/>
              <a:t>c. Perforación del Pozo:</a:t>
            </a:r>
            <a:endParaRPr lang="es-ES" dirty="0"/>
          </a:p>
          <a:p>
            <a:pPr>
              <a:buFont typeface="Arial" panose="020B0604020202020204" pitchFamily="34" charset="0"/>
              <a:buChar char="•"/>
            </a:pPr>
            <a:r>
              <a:rPr lang="es-ES" b="1" dirty="0"/>
              <a:t>Broca de Perforación:</a:t>
            </a:r>
            <a:r>
              <a:rPr lang="es-ES" dirty="0"/>
              <a:t> Se utiliza una broca rotativa para penetrar el lecho marino.</a:t>
            </a:r>
          </a:p>
          <a:p>
            <a:pPr>
              <a:buFont typeface="Arial" panose="020B0604020202020204" pitchFamily="34" charset="0"/>
              <a:buChar char="•"/>
            </a:pPr>
            <a:r>
              <a:rPr lang="es-ES" b="1" dirty="0"/>
              <a:t>Lodo de Perforación:</a:t>
            </a:r>
            <a:r>
              <a:rPr lang="es-ES" dirty="0"/>
              <a:t> Se inyecta lodo para enfriar la broca, estabilizar el pozo y ayudar a transportar los recortes de roca hacia la superficie.</a:t>
            </a:r>
          </a:p>
          <a:p>
            <a:pPr>
              <a:buFont typeface="Arial" panose="020B0604020202020204" pitchFamily="34" charset="0"/>
              <a:buChar char="•"/>
            </a:pPr>
            <a:endParaRPr lang="es-ES" dirty="0"/>
          </a:p>
          <a:p>
            <a:pPr marL="0" indent="0" algn="just">
              <a:buNone/>
            </a:pPr>
            <a:endParaRPr lang="es-ES" dirty="0"/>
          </a:p>
        </p:txBody>
      </p:sp>
    </p:spTree>
    <p:extLst>
      <p:ext uri="{BB962C8B-B14F-4D97-AF65-F5344CB8AC3E}">
        <p14:creationId xmlns:p14="http://schemas.microsoft.com/office/powerpoint/2010/main" val="15879285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19E6F5-05DC-9995-611E-161294A54025}"/>
              </a:ext>
            </a:extLst>
          </p:cNvPr>
          <p:cNvSpPr>
            <a:spLocks noGrp="1"/>
          </p:cNvSpPr>
          <p:nvPr>
            <p:ph type="title"/>
          </p:nvPr>
        </p:nvSpPr>
        <p:spPr>
          <a:xfrm>
            <a:off x="838199" y="183009"/>
            <a:ext cx="10515600" cy="996053"/>
          </a:xfrm>
        </p:spPr>
        <p:txBody>
          <a:bodyPr>
            <a:normAutofit/>
          </a:bodyPr>
          <a:lstStyle/>
          <a:p>
            <a:endParaRPr lang="es-ES" sz="2800" dirty="0"/>
          </a:p>
        </p:txBody>
      </p:sp>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930729"/>
            <a:ext cx="11032671" cy="5744261"/>
          </a:xfrm>
        </p:spPr>
        <p:txBody>
          <a:bodyPr>
            <a:normAutofit/>
          </a:bodyPr>
          <a:lstStyle/>
          <a:p>
            <a:pPr marL="0" indent="0">
              <a:buNone/>
            </a:pPr>
            <a:r>
              <a:rPr lang="es-ES" b="1" dirty="0"/>
              <a:t>d. Control de Presión:</a:t>
            </a:r>
            <a:endParaRPr lang="es-ES" dirty="0"/>
          </a:p>
          <a:p>
            <a:pPr>
              <a:buFont typeface="Arial" panose="020B0604020202020204" pitchFamily="34" charset="0"/>
              <a:buChar char="•"/>
            </a:pPr>
            <a:r>
              <a:rPr lang="es-ES" dirty="0"/>
              <a:t>Se utilizan sistemas de control de presión, conocidos como </a:t>
            </a:r>
            <a:r>
              <a:rPr lang="es-ES" dirty="0" err="1"/>
              <a:t>Blowout</a:t>
            </a:r>
            <a:r>
              <a:rPr lang="es-ES" dirty="0"/>
              <a:t> </a:t>
            </a:r>
            <a:r>
              <a:rPr lang="es-ES" dirty="0" err="1"/>
              <a:t>Preventers</a:t>
            </a:r>
            <a:r>
              <a:rPr lang="es-ES" dirty="0"/>
              <a:t> (BOP), para manejar la presión del pozo y prevenir erupciones.</a:t>
            </a:r>
          </a:p>
          <a:p>
            <a:pPr marL="0" indent="0">
              <a:buNone/>
            </a:pPr>
            <a:r>
              <a:rPr lang="es-ES" b="1" dirty="0"/>
              <a:t>e. Revestimiento del Pozo:</a:t>
            </a:r>
            <a:endParaRPr lang="es-ES" dirty="0"/>
          </a:p>
          <a:p>
            <a:pPr>
              <a:buFont typeface="Arial" panose="020B0604020202020204" pitchFamily="34" charset="0"/>
              <a:buChar char="•"/>
            </a:pPr>
            <a:r>
              <a:rPr lang="es-ES" dirty="0"/>
              <a:t>Una vez alcanzada la profundidad deseada, se instalan tuberías de revestimiento para estabilizar las paredes del pozo y prevenir filtraciones de agua o hidrocarburos.</a:t>
            </a:r>
          </a:p>
          <a:p>
            <a:pPr marL="0" indent="0">
              <a:buNone/>
            </a:pPr>
            <a:r>
              <a:rPr lang="es-ES" b="1" dirty="0"/>
              <a:t>f. Finalización del Pozo:</a:t>
            </a:r>
            <a:endParaRPr lang="es-ES" dirty="0"/>
          </a:p>
          <a:p>
            <a:pPr>
              <a:buFont typeface="Arial" panose="020B0604020202020204" pitchFamily="34" charset="0"/>
              <a:buChar char="•"/>
            </a:pPr>
            <a:r>
              <a:rPr lang="es-ES" dirty="0"/>
              <a:t>El pozo se prepara para la producción, lo que puede incluir la perforación adicional de secciones horizontales para maximizar el acceso al reservorio</a:t>
            </a:r>
          </a:p>
          <a:p>
            <a:pPr>
              <a:buFont typeface="Arial" panose="020B0604020202020204" pitchFamily="34" charset="0"/>
              <a:buChar char="•"/>
            </a:pPr>
            <a:endParaRPr lang="es-ES" dirty="0"/>
          </a:p>
          <a:p>
            <a:pPr marL="0" indent="0" algn="just">
              <a:buNone/>
            </a:pPr>
            <a:endParaRPr lang="es-ES" dirty="0"/>
          </a:p>
        </p:txBody>
      </p:sp>
    </p:spTree>
    <p:extLst>
      <p:ext uri="{BB962C8B-B14F-4D97-AF65-F5344CB8AC3E}">
        <p14:creationId xmlns:p14="http://schemas.microsoft.com/office/powerpoint/2010/main" val="55228914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19E6F5-05DC-9995-611E-161294A54025}"/>
              </a:ext>
            </a:extLst>
          </p:cNvPr>
          <p:cNvSpPr>
            <a:spLocks noGrp="1"/>
          </p:cNvSpPr>
          <p:nvPr>
            <p:ph type="title"/>
          </p:nvPr>
        </p:nvSpPr>
        <p:spPr>
          <a:xfrm>
            <a:off x="838199" y="183009"/>
            <a:ext cx="10515600" cy="996053"/>
          </a:xfrm>
        </p:spPr>
        <p:txBody>
          <a:bodyPr>
            <a:normAutofit/>
          </a:bodyPr>
          <a:lstStyle/>
          <a:p>
            <a:r>
              <a:rPr lang="es-ES" sz="2800" dirty="0"/>
              <a:t>TIPOS DE PERFORACION OFFSHORE</a:t>
            </a:r>
          </a:p>
        </p:txBody>
      </p:sp>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387930"/>
            <a:ext cx="11032671" cy="4789034"/>
          </a:xfrm>
        </p:spPr>
        <p:txBody>
          <a:bodyPr>
            <a:normAutofit lnSpcReduction="10000"/>
          </a:bodyPr>
          <a:lstStyle/>
          <a:p>
            <a:pPr marL="0" indent="0">
              <a:buNone/>
            </a:pPr>
            <a:r>
              <a:rPr lang="es-ES" b="1" dirty="0"/>
              <a:t>a. Perforación Vertical:</a:t>
            </a:r>
            <a:endParaRPr lang="es-ES" dirty="0"/>
          </a:p>
          <a:p>
            <a:pPr>
              <a:buFont typeface="Arial" panose="020B0604020202020204" pitchFamily="34" charset="0"/>
              <a:buChar char="•"/>
            </a:pPr>
            <a:r>
              <a:rPr lang="es-ES" dirty="0"/>
              <a:t>La forma más simple, donde el pozo se perfora directamente hacia abajo. Es útil cuando los depósitos están directamente debajo de la plataforma.</a:t>
            </a:r>
          </a:p>
          <a:p>
            <a:pPr marL="0" indent="0">
              <a:buNone/>
            </a:pPr>
            <a:r>
              <a:rPr lang="es-ES" b="1" dirty="0"/>
              <a:t>b. Perforación Direccional:</a:t>
            </a:r>
            <a:endParaRPr lang="es-ES" dirty="0"/>
          </a:p>
          <a:p>
            <a:pPr>
              <a:buFont typeface="Arial" panose="020B0604020202020204" pitchFamily="34" charset="0"/>
              <a:buChar char="•"/>
            </a:pPr>
            <a:r>
              <a:rPr lang="es-ES" dirty="0"/>
              <a:t>Permite cambiar la dirección del pozo para alcanzar reservas que no están directamente debajo de la plataforma. Es útil en áreas con múltiples reservorios o para minimizar el impacto en el medio ambiente.</a:t>
            </a:r>
          </a:p>
          <a:p>
            <a:pPr marL="0" indent="0">
              <a:buNone/>
            </a:pPr>
            <a:r>
              <a:rPr lang="es-ES" b="1" dirty="0"/>
              <a:t>c. Perforación Horizontal:</a:t>
            </a:r>
            <a:endParaRPr lang="es-ES" dirty="0"/>
          </a:p>
          <a:p>
            <a:pPr>
              <a:buFont typeface="Arial" panose="020B0604020202020204" pitchFamily="34" charset="0"/>
              <a:buChar char="•"/>
            </a:pPr>
            <a:r>
              <a:rPr lang="es-ES" dirty="0"/>
              <a:t>Se perfora horizontalmente después de una sección vertical inicial. Esta técnica maximiza la exposición al reservorio y puede aumentar la producción.</a:t>
            </a:r>
          </a:p>
          <a:p>
            <a:pPr marL="0" indent="0" algn="just">
              <a:buNone/>
            </a:pPr>
            <a:endParaRPr lang="es-ES" dirty="0"/>
          </a:p>
        </p:txBody>
      </p:sp>
    </p:spTree>
    <p:extLst>
      <p:ext uri="{BB962C8B-B14F-4D97-AF65-F5344CB8AC3E}">
        <p14:creationId xmlns:p14="http://schemas.microsoft.com/office/powerpoint/2010/main" val="289505502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19E6F5-05DC-9995-611E-161294A54025}"/>
              </a:ext>
            </a:extLst>
          </p:cNvPr>
          <p:cNvSpPr>
            <a:spLocks noGrp="1"/>
          </p:cNvSpPr>
          <p:nvPr>
            <p:ph type="title"/>
          </p:nvPr>
        </p:nvSpPr>
        <p:spPr>
          <a:xfrm>
            <a:off x="838199" y="183009"/>
            <a:ext cx="9465130" cy="996053"/>
          </a:xfrm>
        </p:spPr>
        <p:txBody>
          <a:bodyPr>
            <a:normAutofit/>
          </a:bodyPr>
          <a:lstStyle/>
          <a:p>
            <a:r>
              <a:rPr lang="es-ES" sz="2800" dirty="0"/>
              <a:t>TECNOLOGIA UTILIZADA EN PERFORACION OFFSHORE</a:t>
            </a:r>
          </a:p>
        </p:txBody>
      </p:sp>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387929"/>
            <a:ext cx="11032671" cy="5287061"/>
          </a:xfrm>
        </p:spPr>
        <p:txBody>
          <a:bodyPr>
            <a:normAutofit/>
          </a:bodyPr>
          <a:lstStyle/>
          <a:p>
            <a:pPr marL="0" indent="0">
              <a:buNone/>
            </a:pPr>
            <a:r>
              <a:rPr lang="es-ES" b="1" dirty="0"/>
              <a:t>a. Equipos de Perforación:</a:t>
            </a:r>
            <a:endParaRPr lang="es-ES" dirty="0"/>
          </a:p>
          <a:p>
            <a:pPr>
              <a:buFont typeface="Arial" panose="020B0604020202020204" pitchFamily="34" charset="0"/>
              <a:buChar char="•"/>
            </a:pPr>
            <a:r>
              <a:rPr lang="es-ES" dirty="0"/>
              <a:t>Incluyen torres de perforación, sistemas de control automatizados y equipos de monitoreo. Estos sistemas permiten operaciones seguras y eficientes.</a:t>
            </a:r>
          </a:p>
          <a:p>
            <a:pPr marL="0" indent="0">
              <a:buNone/>
            </a:pPr>
            <a:r>
              <a:rPr lang="es-ES" b="1" dirty="0"/>
              <a:t>b. Sistemas de Posicionamiento Dinámico:</a:t>
            </a:r>
            <a:endParaRPr lang="es-ES" dirty="0"/>
          </a:p>
          <a:p>
            <a:pPr>
              <a:buFont typeface="Arial" panose="020B0604020202020204" pitchFamily="34" charset="0"/>
              <a:buChar char="•"/>
            </a:pPr>
            <a:r>
              <a:rPr lang="es-ES" dirty="0"/>
              <a:t>Utilizados en plataformas flotantes, estos sistemas permiten que la plataforma se mantenga en una posición fija sobre el pozo utilizando propulsores y GPS.</a:t>
            </a:r>
          </a:p>
          <a:p>
            <a:pPr marL="0" indent="0">
              <a:buNone/>
            </a:pPr>
            <a:r>
              <a:rPr lang="es-ES" b="1" dirty="0"/>
              <a:t>c. Monitoreo y Control:</a:t>
            </a:r>
            <a:endParaRPr lang="es-ES" dirty="0"/>
          </a:p>
          <a:p>
            <a:pPr>
              <a:buFont typeface="Arial" panose="020B0604020202020204" pitchFamily="34" charset="0"/>
              <a:buChar char="•"/>
            </a:pPr>
            <a:r>
              <a:rPr lang="es-ES" dirty="0"/>
              <a:t>Se implementan sistemas de monitoreo en tiempo real para rastrear la presión, la temperatura y otros parámetros críticos del pozo</a:t>
            </a:r>
          </a:p>
          <a:p>
            <a:pPr marL="0" indent="0" algn="just">
              <a:buNone/>
            </a:pPr>
            <a:endParaRPr lang="es-ES" dirty="0"/>
          </a:p>
        </p:txBody>
      </p:sp>
    </p:spTree>
    <p:extLst>
      <p:ext uri="{BB962C8B-B14F-4D97-AF65-F5344CB8AC3E}">
        <p14:creationId xmlns:p14="http://schemas.microsoft.com/office/powerpoint/2010/main" val="267171320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19E6F5-05DC-9995-611E-161294A54025}"/>
              </a:ext>
            </a:extLst>
          </p:cNvPr>
          <p:cNvSpPr>
            <a:spLocks noGrp="1"/>
          </p:cNvSpPr>
          <p:nvPr>
            <p:ph type="title"/>
          </p:nvPr>
        </p:nvSpPr>
        <p:spPr>
          <a:xfrm>
            <a:off x="838199" y="183009"/>
            <a:ext cx="10515600" cy="996053"/>
          </a:xfrm>
        </p:spPr>
        <p:txBody>
          <a:bodyPr>
            <a:normAutofit/>
          </a:bodyPr>
          <a:lstStyle/>
          <a:p>
            <a:endParaRPr lang="es-ES" sz="2800" dirty="0"/>
          </a:p>
        </p:txBody>
      </p:sp>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387930"/>
            <a:ext cx="11032671" cy="4789034"/>
          </a:xfrm>
        </p:spPr>
        <p:txBody>
          <a:bodyPr>
            <a:normAutofit/>
          </a:bodyPr>
          <a:lstStyle/>
          <a:p>
            <a:pPr marL="0" indent="0">
              <a:buNone/>
            </a:pPr>
            <a:r>
              <a:rPr lang="es-ES" b="1" dirty="0"/>
              <a:t>Seguridad y Consideraciones Ambientales</a:t>
            </a:r>
          </a:p>
          <a:p>
            <a:pPr>
              <a:buFont typeface="Arial" panose="020B0604020202020204" pitchFamily="34" charset="0"/>
              <a:buChar char="•"/>
            </a:pPr>
            <a:r>
              <a:rPr lang="es-ES" b="1" dirty="0"/>
              <a:t>Medidas de Seguridad:</a:t>
            </a:r>
            <a:r>
              <a:rPr lang="es-ES" dirty="0"/>
              <a:t> Las operaciones deben seguir estrictas regulaciones para prevenir accidentes y derrames, con planes de contingencia en caso de emergencias.</a:t>
            </a:r>
          </a:p>
          <a:p>
            <a:pPr>
              <a:buFont typeface="Arial" panose="020B0604020202020204" pitchFamily="34" charset="0"/>
              <a:buChar char="•"/>
            </a:pPr>
            <a:r>
              <a:rPr lang="es-ES" b="1" dirty="0"/>
              <a:t>Evaluación Ambiental:</a:t>
            </a:r>
            <a:r>
              <a:rPr lang="es-ES" dirty="0"/>
              <a:t> Se llevan a cabo estudios de impacto ambiental antes de iniciar la perforación para minimizar los efectos en la vida marina y el ecosistema.</a:t>
            </a:r>
          </a:p>
          <a:p>
            <a:pPr>
              <a:buFont typeface="Arial" panose="020B0604020202020204" pitchFamily="34" charset="0"/>
              <a:buChar char="•"/>
            </a:pPr>
            <a:r>
              <a:rPr lang="es-ES" b="1" dirty="0"/>
              <a:t>Manejo de Residuos:</a:t>
            </a:r>
            <a:r>
              <a:rPr lang="es-ES" dirty="0"/>
              <a:t> Se gestionan adecuadamente los residuos generados durante la perforación, incluidos los recortes de roca y el lodo de perforación.</a:t>
            </a:r>
          </a:p>
          <a:p>
            <a:pPr marL="0" indent="0" algn="just">
              <a:buNone/>
            </a:pPr>
            <a:endParaRPr lang="es-ES" dirty="0"/>
          </a:p>
        </p:txBody>
      </p:sp>
    </p:spTree>
    <p:extLst>
      <p:ext uri="{BB962C8B-B14F-4D97-AF65-F5344CB8AC3E}">
        <p14:creationId xmlns:p14="http://schemas.microsoft.com/office/powerpoint/2010/main" val="109916270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19E6F5-05DC-9995-611E-161294A54025}"/>
              </a:ext>
            </a:extLst>
          </p:cNvPr>
          <p:cNvSpPr>
            <a:spLocks noGrp="1"/>
          </p:cNvSpPr>
          <p:nvPr>
            <p:ph type="title"/>
          </p:nvPr>
        </p:nvSpPr>
        <p:spPr>
          <a:xfrm>
            <a:off x="838199" y="183009"/>
            <a:ext cx="10515600" cy="996053"/>
          </a:xfrm>
        </p:spPr>
        <p:txBody>
          <a:bodyPr>
            <a:normAutofit/>
          </a:bodyPr>
          <a:lstStyle/>
          <a:p>
            <a:r>
              <a:rPr lang="es-ES" sz="2800" dirty="0"/>
              <a:t>PRODUCCION OFFSHORE</a:t>
            </a:r>
          </a:p>
        </p:txBody>
      </p:sp>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387930"/>
            <a:ext cx="11032671" cy="4789034"/>
          </a:xfrm>
        </p:spPr>
        <p:txBody>
          <a:bodyPr>
            <a:normAutofit/>
          </a:bodyPr>
          <a:lstStyle/>
          <a:p>
            <a:pPr marL="0" indent="0" algn="just">
              <a:buNone/>
            </a:pPr>
            <a:r>
              <a:rPr lang="es-ES" dirty="0"/>
              <a:t>La producción offshore se refiere a la extracción de petróleo y gas desde el lecho marino después de completar la perforación de un pozo. Este proceso es fundamental para convertir las reservas de hidrocarburos en productos utilizables.</a:t>
            </a:r>
          </a:p>
        </p:txBody>
      </p:sp>
    </p:spTree>
    <p:extLst>
      <p:ext uri="{BB962C8B-B14F-4D97-AF65-F5344CB8AC3E}">
        <p14:creationId xmlns:p14="http://schemas.microsoft.com/office/powerpoint/2010/main" val="418034575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19E6F5-05DC-9995-611E-161294A54025}"/>
              </a:ext>
            </a:extLst>
          </p:cNvPr>
          <p:cNvSpPr>
            <a:spLocks noGrp="1"/>
          </p:cNvSpPr>
          <p:nvPr>
            <p:ph type="title"/>
          </p:nvPr>
        </p:nvSpPr>
        <p:spPr>
          <a:xfrm>
            <a:off x="838199" y="183009"/>
            <a:ext cx="10515600" cy="996053"/>
          </a:xfrm>
        </p:spPr>
        <p:txBody>
          <a:bodyPr>
            <a:normAutofit/>
          </a:bodyPr>
          <a:lstStyle/>
          <a:p>
            <a:r>
              <a:rPr lang="es-ES" sz="2800" dirty="0"/>
              <a:t>FASES DE LA PRODUCCION OFFSHORE</a:t>
            </a:r>
          </a:p>
        </p:txBody>
      </p:sp>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387930"/>
            <a:ext cx="11032671" cy="4789034"/>
          </a:xfrm>
        </p:spPr>
        <p:txBody>
          <a:bodyPr>
            <a:normAutofit/>
          </a:bodyPr>
          <a:lstStyle/>
          <a:p>
            <a:pPr marL="0" indent="0">
              <a:buNone/>
            </a:pPr>
            <a:r>
              <a:rPr lang="es-ES" b="1" dirty="0"/>
              <a:t>a. Extracción de Hidrocarburos:</a:t>
            </a:r>
            <a:endParaRPr lang="es-ES" dirty="0"/>
          </a:p>
          <a:p>
            <a:pPr>
              <a:buFont typeface="Arial" panose="020B0604020202020204" pitchFamily="34" charset="0"/>
              <a:buChar char="•"/>
            </a:pPr>
            <a:r>
              <a:rPr lang="es-ES" dirty="0"/>
              <a:t>Una vez que el pozo ha sido perforado y completado, se inicia la extracción de petróleo y gas. Dependiendo de la presión del reservorio, los hidrocarburos pueden fluir de manera natural o requerir métodos de estimulación.</a:t>
            </a:r>
          </a:p>
          <a:p>
            <a:pPr marL="0" indent="0">
              <a:buNone/>
            </a:pPr>
            <a:r>
              <a:rPr lang="es-ES" b="1" dirty="0"/>
              <a:t>b. Métodos de Extracción:</a:t>
            </a:r>
            <a:endParaRPr lang="es-ES" dirty="0"/>
          </a:p>
          <a:p>
            <a:pPr>
              <a:buFont typeface="Arial" panose="020B0604020202020204" pitchFamily="34" charset="0"/>
              <a:buChar char="•"/>
            </a:pPr>
            <a:r>
              <a:rPr lang="es-ES" b="1" dirty="0"/>
              <a:t>Producción Natural:</a:t>
            </a:r>
            <a:r>
              <a:rPr lang="es-ES" dirty="0"/>
              <a:t> Si la presión del reservorio es suficiente, los hidrocarburos fluyen hacia la superficie sin intervención adicional.</a:t>
            </a:r>
          </a:p>
          <a:p>
            <a:pPr>
              <a:buFont typeface="Arial" panose="020B0604020202020204" pitchFamily="34" charset="0"/>
              <a:buChar char="•"/>
            </a:pPr>
            <a:r>
              <a:rPr lang="es-ES" b="1" dirty="0"/>
              <a:t>Estimulación:</a:t>
            </a:r>
            <a:r>
              <a:rPr lang="es-ES" dirty="0"/>
              <a:t> Se pueden utilizar técnicas como la inyección de agua, gas o químicos para aumentar la presión y mejorar el flujo de hidrocarburos.</a:t>
            </a:r>
          </a:p>
          <a:p>
            <a:pPr marL="0" indent="0" algn="just">
              <a:buNone/>
            </a:pPr>
            <a:endParaRPr lang="es-ES" dirty="0"/>
          </a:p>
        </p:txBody>
      </p:sp>
    </p:spTree>
    <p:extLst>
      <p:ext uri="{BB962C8B-B14F-4D97-AF65-F5344CB8AC3E}">
        <p14:creationId xmlns:p14="http://schemas.microsoft.com/office/powerpoint/2010/main" val="249353445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19E6F5-05DC-9995-611E-161294A54025}"/>
              </a:ext>
            </a:extLst>
          </p:cNvPr>
          <p:cNvSpPr>
            <a:spLocks noGrp="1"/>
          </p:cNvSpPr>
          <p:nvPr>
            <p:ph type="title"/>
          </p:nvPr>
        </p:nvSpPr>
        <p:spPr>
          <a:xfrm>
            <a:off x="838199" y="183009"/>
            <a:ext cx="10515600" cy="996053"/>
          </a:xfrm>
        </p:spPr>
        <p:txBody>
          <a:bodyPr>
            <a:normAutofit/>
          </a:bodyPr>
          <a:lstStyle/>
          <a:p>
            <a:r>
              <a:rPr lang="es-ES" sz="2800" dirty="0"/>
              <a:t>TECNOLOGIA DE PRODUCCION</a:t>
            </a:r>
          </a:p>
        </p:txBody>
      </p:sp>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387930"/>
            <a:ext cx="11032671" cy="4789034"/>
          </a:xfrm>
        </p:spPr>
        <p:txBody>
          <a:bodyPr>
            <a:normAutofit/>
          </a:bodyPr>
          <a:lstStyle/>
          <a:p>
            <a:pPr marL="0" indent="0">
              <a:buNone/>
            </a:pPr>
            <a:r>
              <a:rPr lang="es-ES" b="1" dirty="0"/>
              <a:t>a. Equipos de Producción:</a:t>
            </a:r>
            <a:endParaRPr lang="es-ES" dirty="0"/>
          </a:p>
          <a:p>
            <a:pPr>
              <a:buFont typeface="Arial" panose="020B0604020202020204" pitchFamily="34" charset="0"/>
              <a:buChar char="•"/>
            </a:pPr>
            <a:r>
              <a:rPr lang="es-ES" b="1" dirty="0"/>
              <a:t>Baterías de Separación:</a:t>
            </a:r>
            <a:r>
              <a:rPr lang="es-ES" dirty="0"/>
              <a:t> Se utilizan para separar el petróleo, el gas y el agua que se extraen del pozo. Esta separación puede ocurrir en la plataforma o en instalaciones de procesamiento en tierra.</a:t>
            </a:r>
          </a:p>
          <a:p>
            <a:pPr>
              <a:buFont typeface="Arial" panose="020B0604020202020204" pitchFamily="34" charset="0"/>
              <a:buChar char="•"/>
            </a:pPr>
            <a:r>
              <a:rPr lang="es-ES" b="1" dirty="0"/>
              <a:t>Compresores y Bombas:</a:t>
            </a:r>
            <a:r>
              <a:rPr lang="es-ES" dirty="0"/>
              <a:t> Ayudan en el transporte de los hidrocarburos hacia las instalaciones de procesamiento.</a:t>
            </a:r>
          </a:p>
          <a:p>
            <a:pPr marL="0" indent="0">
              <a:buNone/>
            </a:pPr>
            <a:r>
              <a:rPr lang="es-ES" b="1" dirty="0"/>
              <a:t>b. Sistemas de </a:t>
            </a:r>
            <a:r>
              <a:rPr lang="es-ES" b="1" dirty="0" err="1"/>
              <a:t>Riser</a:t>
            </a:r>
            <a:r>
              <a:rPr lang="es-ES" b="1" dirty="0"/>
              <a:t>:</a:t>
            </a:r>
            <a:endParaRPr lang="es-ES" dirty="0"/>
          </a:p>
          <a:p>
            <a:pPr>
              <a:buFont typeface="Arial" panose="020B0604020202020204" pitchFamily="34" charset="0"/>
              <a:buChar char="•"/>
            </a:pPr>
            <a:r>
              <a:rPr lang="es-ES" dirty="0"/>
              <a:t>Los </a:t>
            </a:r>
            <a:r>
              <a:rPr lang="es-ES" dirty="0" err="1"/>
              <a:t>risers</a:t>
            </a:r>
            <a:r>
              <a:rPr lang="es-ES" dirty="0"/>
              <a:t> son tuberías verticales que transportan los hidrocarburos desde el fondo marino hasta la superficie. Los sistemas de </a:t>
            </a:r>
            <a:r>
              <a:rPr lang="es-ES" dirty="0" err="1"/>
              <a:t>riser</a:t>
            </a:r>
            <a:r>
              <a:rPr lang="es-ES" dirty="0"/>
              <a:t> pueden ser rígidos o flexibles, dependiendo de la profundidad y condiciones del mar.</a:t>
            </a:r>
          </a:p>
          <a:p>
            <a:pPr marL="0" indent="0" algn="just">
              <a:buNone/>
            </a:pPr>
            <a:endParaRPr lang="es-ES" dirty="0"/>
          </a:p>
        </p:txBody>
      </p:sp>
    </p:spTree>
    <p:extLst>
      <p:ext uri="{BB962C8B-B14F-4D97-AF65-F5344CB8AC3E}">
        <p14:creationId xmlns:p14="http://schemas.microsoft.com/office/powerpoint/2010/main" val="220385058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19E6F5-05DC-9995-611E-161294A54025}"/>
              </a:ext>
            </a:extLst>
          </p:cNvPr>
          <p:cNvSpPr>
            <a:spLocks noGrp="1"/>
          </p:cNvSpPr>
          <p:nvPr>
            <p:ph type="title"/>
          </p:nvPr>
        </p:nvSpPr>
        <p:spPr>
          <a:xfrm>
            <a:off x="838199" y="183009"/>
            <a:ext cx="10515600" cy="996053"/>
          </a:xfrm>
        </p:spPr>
        <p:txBody>
          <a:bodyPr>
            <a:normAutofit/>
          </a:bodyPr>
          <a:lstStyle/>
          <a:p>
            <a:r>
              <a:rPr lang="es-ES" sz="2800" dirty="0"/>
              <a:t>ALMACENAMIENTO Y TRANSPORTE</a:t>
            </a:r>
          </a:p>
        </p:txBody>
      </p:sp>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387930"/>
            <a:ext cx="11032671" cy="4789034"/>
          </a:xfrm>
        </p:spPr>
        <p:txBody>
          <a:bodyPr>
            <a:normAutofit/>
          </a:bodyPr>
          <a:lstStyle/>
          <a:p>
            <a:pPr marL="0" indent="0">
              <a:buNone/>
            </a:pPr>
            <a:r>
              <a:rPr lang="es-ES" b="1" dirty="0"/>
              <a:t>a. Almacenamiento en la Plataforma:</a:t>
            </a:r>
            <a:endParaRPr lang="es-ES" dirty="0"/>
          </a:p>
          <a:p>
            <a:pPr>
              <a:buFont typeface="Arial" panose="020B0604020202020204" pitchFamily="34" charset="0"/>
              <a:buChar char="•"/>
            </a:pPr>
            <a:r>
              <a:rPr lang="es-ES" dirty="0"/>
              <a:t>El petróleo y el gas se almacenan temporalmente en tanques en la plataforma antes de ser transportados. Las plataformas pueden tener sistemas de almacenamiento diseñados para manejar grandes volúmenes de hidrocarburos.</a:t>
            </a:r>
          </a:p>
          <a:p>
            <a:pPr marL="0" indent="0">
              <a:buNone/>
            </a:pPr>
            <a:r>
              <a:rPr lang="es-ES" b="1" dirty="0"/>
              <a:t>b. Transporte a Tierra:</a:t>
            </a:r>
            <a:endParaRPr lang="es-ES" dirty="0"/>
          </a:p>
          <a:p>
            <a:pPr>
              <a:buFont typeface="Arial" panose="020B0604020202020204" pitchFamily="34" charset="0"/>
              <a:buChar char="•"/>
            </a:pPr>
            <a:r>
              <a:rPr lang="es-ES" b="1" dirty="0"/>
              <a:t>Oleoductos:</a:t>
            </a:r>
            <a:r>
              <a:rPr lang="es-ES" dirty="0"/>
              <a:t> Los hidrocarburos se transportan a instalaciones de procesamiento en tierra a través de oleoductos submarinos.</a:t>
            </a:r>
          </a:p>
          <a:p>
            <a:pPr>
              <a:buFont typeface="Arial" panose="020B0604020202020204" pitchFamily="34" charset="0"/>
              <a:buChar char="•"/>
            </a:pPr>
            <a:r>
              <a:rPr lang="es-ES" b="1" dirty="0"/>
              <a:t>Buques Cisterna:</a:t>
            </a:r>
            <a:r>
              <a:rPr lang="es-ES" dirty="0"/>
              <a:t> En algunos casos, se utilizan buques cisterna para el transporte marítimo de petróleo y gas a mercados internacionales.</a:t>
            </a:r>
          </a:p>
          <a:p>
            <a:pPr marL="0" indent="0" algn="just">
              <a:buNone/>
            </a:pPr>
            <a:endParaRPr lang="es-ES" dirty="0"/>
          </a:p>
        </p:txBody>
      </p:sp>
    </p:spTree>
    <p:extLst>
      <p:ext uri="{BB962C8B-B14F-4D97-AF65-F5344CB8AC3E}">
        <p14:creationId xmlns:p14="http://schemas.microsoft.com/office/powerpoint/2010/main" val="86286909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19E6F5-05DC-9995-611E-161294A54025}"/>
              </a:ext>
            </a:extLst>
          </p:cNvPr>
          <p:cNvSpPr>
            <a:spLocks noGrp="1"/>
          </p:cNvSpPr>
          <p:nvPr>
            <p:ph type="title"/>
          </p:nvPr>
        </p:nvSpPr>
        <p:spPr>
          <a:xfrm>
            <a:off x="838199" y="183009"/>
            <a:ext cx="10515600" cy="996053"/>
          </a:xfrm>
        </p:spPr>
        <p:txBody>
          <a:bodyPr>
            <a:normAutofit/>
          </a:bodyPr>
          <a:lstStyle/>
          <a:p>
            <a:r>
              <a:rPr lang="es-ES" sz="2800" dirty="0"/>
              <a:t>GESTION DE AGUA PRODUCIDA</a:t>
            </a:r>
          </a:p>
        </p:txBody>
      </p:sp>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387930"/>
            <a:ext cx="11032671" cy="4789034"/>
          </a:xfrm>
        </p:spPr>
        <p:txBody>
          <a:bodyPr>
            <a:normAutofit/>
          </a:bodyPr>
          <a:lstStyle/>
          <a:p>
            <a:pPr marL="0" indent="0" algn="just">
              <a:buNone/>
            </a:pPr>
            <a:r>
              <a:rPr lang="es-ES" dirty="0"/>
              <a:t>Durante la producción, a menudo se extrae agua junto con los hidrocarburos. Esta agua debe ser tratada y gestionada adecuadamente para evitar impactos ambientales. Los métodos de gestión incluyen:</a:t>
            </a:r>
          </a:p>
          <a:p>
            <a:pPr marL="0" indent="0" algn="just">
              <a:buNone/>
            </a:pPr>
            <a:endParaRPr lang="es-ES" dirty="0"/>
          </a:p>
          <a:p>
            <a:pPr algn="just">
              <a:buFont typeface="Arial" panose="020B0604020202020204" pitchFamily="34" charset="0"/>
              <a:buChar char="•"/>
            </a:pPr>
            <a:r>
              <a:rPr lang="es-ES" b="1" dirty="0"/>
              <a:t>Reinyección:</a:t>
            </a:r>
            <a:r>
              <a:rPr lang="es-ES" dirty="0"/>
              <a:t> Enviar agua producida de vuelta al reservorio para mantener la presión.</a:t>
            </a:r>
          </a:p>
          <a:p>
            <a:pPr algn="just">
              <a:buFont typeface="Arial" panose="020B0604020202020204" pitchFamily="34" charset="0"/>
              <a:buChar char="•"/>
            </a:pPr>
            <a:r>
              <a:rPr lang="es-ES" b="1" dirty="0"/>
              <a:t>Tratamiento:</a:t>
            </a:r>
            <a:r>
              <a:rPr lang="es-ES" dirty="0"/>
              <a:t> Procesar el agua para eliminar contaminantes antes de su liberación al mar.</a:t>
            </a:r>
          </a:p>
          <a:p>
            <a:pPr marL="0" indent="0" algn="just">
              <a:buNone/>
            </a:pPr>
            <a:endParaRPr lang="es-ES" dirty="0"/>
          </a:p>
        </p:txBody>
      </p:sp>
    </p:spTree>
    <p:extLst>
      <p:ext uri="{BB962C8B-B14F-4D97-AF65-F5344CB8AC3E}">
        <p14:creationId xmlns:p14="http://schemas.microsoft.com/office/powerpoint/2010/main" val="418542578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19E6F5-05DC-9995-611E-161294A54025}"/>
              </a:ext>
            </a:extLst>
          </p:cNvPr>
          <p:cNvSpPr>
            <a:spLocks noGrp="1"/>
          </p:cNvSpPr>
          <p:nvPr>
            <p:ph type="title"/>
          </p:nvPr>
        </p:nvSpPr>
        <p:spPr>
          <a:xfrm>
            <a:off x="838199" y="183009"/>
            <a:ext cx="10515600" cy="996053"/>
          </a:xfrm>
        </p:spPr>
        <p:txBody>
          <a:bodyPr>
            <a:normAutofit/>
          </a:bodyPr>
          <a:lstStyle/>
          <a:p>
            <a:endParaRPr lang="es-ES" sz="2800" dirty="0"/>
          </a:p>
        </p:txBody>
      </p:sp>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387930"/>
            <a:ext cx="11032671" cy="4789034"/>
          </a:xfrm>
        </p:spPr>
        <p:txBody>
          <a:bodyPr>
            <a:normAutofit/>
          </a:bodyPr>
          <a:lstStyle/>
          <a:p>
            <a:pPr marL="0" indent="0" algn="just">
              <a:buNone/>
            </a:pPr>
            <a:r>
              <a:rPr lang="es-ES" b="1" dirty="0"/>
              <a:t>Consideraciones de Seguridad y Medio Ambiente</a:t>
            </a:r>
          </a:p>
          <a:p>
            <a:pPr algn="just">
              <a:buFont typeface="Arial" panose="020B0604020202020204" pitchFamily="34" charset="0"/>
              <a:buChar char="•"/>
            </a:pPr>
            <a:r>
              <a:rPr lang="es-ES" b="1" dirty="0"/>
              <a:t>Regulaciones:</a:t>
            </a:r>
            <a:r>
              <a:rPr lang="es-ES" dirty="0"/>
              <a:t> La producción offshore está sujeta a estrictas regulaciones para prevenir derrames y proteger la vida marina.</a:t>
            </a:r>
          </a:p>
          <a:p>
            <a:pPr algn="just">
              <a:buFont typeface="Arial" panose="020B0604020202020204" pitchFamily="34" charset="0"/>
              <a:buChar char="•"/>
            </a:pPr>
            <a:r>
              <a:rPr lang="es-ES" b="1" dirty="0"/>
              <a:t>Monitoreo Ambiental:</a:t>
            </a:r>
            <a:r>
              <a:rPr lang="es-ES" dirty="0"/>
              <a:t> Se realizan estudios para evaluar el impacto ambiental de las operaciones de producción y se implementan medidas para mitigarlo.</a:t>
            </a:r>
          </a:p>
          <a:p>
            <a:pPr algn="just">
              <a:buFont typeface="Arial" panose="020B0604020202020204" pitchFamily="34" charset="0"/>
              <a:buChar char="•"/>
            </a:pPr>
            <a:r>
              <a:rPr lang="es-ES" b="1" dirty="0"/>
              <a:t>Planes de Emergencia:</a:t>
            </a:r>
            <a:r>
              <a:rPr lang="es-ES" dirty="0"/>
              <a:t> Se desarrollan planes de contingencia para responder a derrames u otros incidentes.</a:t>
            </a:r>
          </a:p>
          <a:p>
            <a:pPr marL="0" indent="0" algn="just">
              <a:buNone/>
            </a:pPr>
            <a:endParaRPr lang="es-ES" dirty="0"/>
          </a:p>
        </p:txBody>
      </p:sp>
    </p:spTree>
    <p:extLst>
      <p:ext uri="{BB962C8B-B14F-4D97-AF65-F5344CB8AC3E}">
        <p14:creationId xmlns:p14="http://schemas.microsoft.com/office/powerpoint/2010/main" val="110652009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19E6F5-05DC-9995-611E-161294A54025}"/>
              </a:ext>
            </a:extLst>
          </p:cNvPr>
          <p:cNvSpPr>
            <a:spLocks noGrp="1"/>
          </p:cNvSpPr>
          <p:nvPr>
            <p:ph type="title"/>
          </p:nvPr>
        </p:nvSpPr>
        <p:spPr>
          <a:xfrm>
            <a:off x="838199" y="183009"/>
            <a:ext cx="10515600" cy="996053"/>
          </a:xfrm>
        </p:spPr>
        <p:txBody>
          <a:bodyPr>
            <a:normAutofit/>
          </a:bodyPr>
          <a:lstStyle/>
          <a:p>
            <a:r>
              <a:rPr lang="es-ES" sz="2400" dirty="0"/>
              <a:t>Técnica de Exploración de Hidrocarburos por Métodos No Convencionales: Fracking</a:t>
            </a:r>
            <a:endParaRPr lang="es-ES" sz="5400" dirty="0"/>
          </a:p>
        </p:txBody>
      </p:sp>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2383983"/>
            <a:ext cx="11032671" cy="3053441"/>
          </a:xfrm>
        </p:spPr>
        <p:txBody>
          <a:bodyPr>
            <a:normAutofit/>
          </a:bodyPr>
          <a:lstStyle/>
          <a:p>
            <a:pPr marL="0" indent="0" algn="just">
              <a:buNone/>
            </a:pPr>
            <a:r>
              <a:rPr lang="es-ES" dirty="0"/>
              <a:t>El fracking, o fracturación hidráulica, es una técnica utilizada para extraer petróleo y gas de formaciones rocosas de baja permeabilidad, como las formaciones de esquisto. Esta técnica permite acceder a reservas de hidrocarburos que no se podrían extraer mediante métodos convencionales.</a:t>
            </a:r>
          </a:p>
        </p:txBody>
      </p:sp>
    </p:spTree>
    <p:extLst>
      <p:ext uri="{BB962C8B-B14F-4D97-AF65-F5344CB8AC3E}">
        <p14:creationId xmlns:p14="http://schemas.microsoft.com/office/powerpoint/2010/main" val="89291311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19E6F5-05DC-9995-611E-161294A54025}"/>
              </a:ext>
            </a:extLst>
          </p:cNvPr>
          <p:cNvSpPr>
            <a:spLocks noGrp="1"/>
          </p:cNvSpPr>
          <p:nvPr>
            <p:ph type="title"/>
          </p:nvPr>
        </p:nvSpPr>
        <p:spPr>
          <a:xfrm>
            <a:off x="838199" y="183009"/>
            <a:ext cx="10515600" cy="996053"/>
          </a:xfrm>
        </p:spPr>
        <p:txBody>
          <a:bodyPr>
            <a:normAutofit/>
          </a:bodyPr>
          <a:lstStyle/>
          <a:p>
            <a:r>
              <a:rPr lang="es-ES" sz="2800" dirty="0"/>
              <a:t>PROCESO DE FRACKING</a:t>
            </a:r>
          </a:p>
        </p:txBody>
      </p:sp>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028700"/>
            <a:ext cx="11032671" cy="5829300"/>
          </a:xfrm>
        </p:spPr>
        <p:txBody>
          <a:bodyPr>
            <a:normAutofit lnSpcReduction="10000"/>
          </a:bodyPr>
          <a:lstStyle/>
          <a:p>
            <a:pPr marL="0" indent="0">
              <a:buNone/>
            </a:pPr>
            <a:r>
              <a:rPr lang="es-ES" b="1" dirty="0"/>
              <a:t>1.Preparación del Pozo:</a:t>
            </a:r>
            <a:endParaRPr lang="es-ES" dirty="0"/>
          </a:p>
          <a:p>
            <a:pPr>
              <a:buFont typeface="Arial" panose="020B0604020202020204" pitchFamily="34" charset="0"/>
              <a:buChar char="•"/>
            </a:pPr>
            <a:r>
              <a:rPr lang="es-ES" dirty="0"/>
              <a:t>Se perfora un pozo vertical o horizontal hasta alcanzar la formación de roca que contiene los hidrocarburos.</a:t>
            </a:r>
          </a:p>
          <a:p>
            <a:pPr marL="0" indent="0">
              <a:buNone/>
            </a:pPr>
            <a:r>
              <a:rPr lang="es-ES" dirty="0"/>
              <a:t>2.</a:t>
            </a:r>
            <a:r>
              <a:rPr lang="es-ES" b="1" dirty="0"/>
              <a:t>Inyección de Fluido:</a:t>
            </a:r>
          </a:p>
          <a:p>
            <a:pPr>
              <a:buFont typeface="Arial" panose="020B0604020202020204" pitchFamily="34" charset="0"/>
              <a:buChar char="•"/>
            </a:pPr>
            <a:r>
              <a:rPr lang="es-ES" dirty="0"/>
              <a:t>Se inyecta una mezcla de agua, arena y aditivos químicos a alta presión en la formación rocosa. Este fluido provoca la fracturación de la roca.</a:t>
            </a:r>
          </a:p>
          <a:p>
            <a:pPr marL="0" indent="0">
              <a:buNone/>
            </a:pPr>
            <a:r>
              <a:rPr lang="es-ES" b="1" dirty="0"/>
              <a:t>3.Creación de Fracturas:</a:t>
            </a:r>
            <a:endParaRPr lang="es-ES" dirty="0"/>
          </a:p>
          <a:p>
            <a:pPr>
              <a:buFont typeface="Arial" panose="020B0604020202020204" pitchFamily="34" charset="0"/>
              <a:buChar char="•"/>
            </a:pPr>
            <a:r>
              <a:rPr lang="es-ES" dirty="0"/>
              <a:t>Las fracturas creadas por la presión permiten que el petróleo o gas fluyan hacia el pozo. La arena se utiliza para mantener abiertas las fracturas y facilitar el flujo de hidrocarburos.</a:t>
            </a:r>
          </a:p>
          <a:p>
            <a:pPr marL="0" indent="0">
              <a:buNone/>
            </a:pPr>
            <a:r>
              <a:rPr lang="es-ES" b="1" dirty="0"/>
              <a:t>4.Producción:</a:t>
            </a:r>
            <a:endParaRPr lang="es-ES" dirty="0"/>
          </a:p>
          <a:p>
            <a:pPr>
              <a:buFont typeface="Arial" panose="020B0604020202020204" pitchFamily="34" charset="0"/>
              <a:buChar char="•"/>
            </a:pPr>
            <a:r>
              <a:rPr lang="es-ES" dirty="0"/>
              <a:t>Una vez que se ha fracturado la roca, los hidrocarburos comienzan a fluir hacia la superficie. El pozo se completa y se inicia la producción.</a:t>
            </a:r>
          </a:p>
          <a:p>
            <a:pPr>
              <a:buFont typeface="Arial" panose="020B0604020202020204" pitchFamily="34" charset="0"/>
              <a:buChar char="•"/>
            </a:pPr>
            <a:endParaRPr lang="es-ES" dirty="0"/>
          </a:p>
          <a:p>
            <a:pPr marL="0" indent="0" algn="just">
              <a:buNone/>
            </a:pPr>
            <a:endParaRPr lang="es-ES" dirty="0"/>
          </a:p>
        </p:txBody>
      </p:sp>
    </p:spTree>
    <p:extLst>
      <p:ext uri="{BB962C8B-B14F-4D97-AF65-F5344CB8AC3E}">
        <p14:creationId xmlns:p14="http://schemas.microsoft.com/office/powerpoint/2010/main" val="423699124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19E6F5-05DC-9995-611E-161294A54025}"/>
              </a:ext>
            </a:extLst>
          </p:cNvPr>
          <p:cNvSpPr>
            <a:spLocks noGrp="1"/>
          </p:cNvSpPr>
          <p:nvPr>
            <p:ph type="title"/>
          </p:nvPr>
        </p:nvSpPr>
        <p:spPr>
          <a:xfrm>
            <a:off x="838199" y="183009"/>
            <a:ext cx="10515600" cy="996053"/>
          </a:xfrm>
        </p:spPr>
        <p:txBody>
          <a:bodyPr>
            <a:normAutofit/>
          </a:bodyPr>
          <a:lstStyle/>
          <a:p>
            <a:endParaRPr lang="es-ES" sz="2800" dirty="0"/>
          </a:p>
        </p:txBody>
      </p:sp>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387929"/>
            <a:ext cx="11032671" cy="5143499"/>
          </a:xfrm>
        </p:spPr>
        <p:txBody>
          <a:bodyPr>
            <a:normAutofit fontScale="92500" lnSpcReduction="10000"/>
          </a:bodyPr>
          <a:lstStyle/>
          <a:p>
            <a:pPr marL="0" indent="0">
              <a:buNone/>
            </a:pPr>
            <a:r>
              <a:rPr lang="es-ES" b="1" dirty="0"/>
              <a:t>Componentes del Fluido de Fracking</a:t>
            </a:r>
          </a:p>
          <a:p>
            <a:pPr>
              <a:buFont typeface="Arial" panose="020B0604020202020204" pitchFamily="34" charset="0"/>
              <a:buChar char="•"/>
            </a:pPr>
            <a:r>
              <a:rPr lang="es-ES" b="1" dirty="0"/>
              <a:t>Agua:</a:t>
            </a:r>
            <a:r>
              <a:rPr lang="es-ES" dirty="0"/>
              <a:t> Constituye la mayor parte del fluido utilizado.</a:t>
            </a:r>
          </a:p>
          <a:p>
            <a:pPr>
              <a:buFont typeface="Arial" panose="020B0604020202020204" pitchFamily="34" charset="0"/>
              <a:buChar char="•"/>
            </a:pPr>
            <a:r>
              <a:rPr lang="es-ES" b="1" dirty="0"/>
              <a:t>Arena:</a:t>
            </a:r>
            <a:r>
              <a:rPr lang="es-ES" dirty="0"/>
              <a:t> Actúa como agente de soporte para mantener abiertas las fracturas.</a:t>
            </a:r>
          </a:p>
          <a:p>
            <a:pPr>
              <a:buFont typeface="Arial" panose="020B0604020202020204" pitchFamily="34" charset="0"/>
              <a:buChar char="•"/>
            </a:pPr>
            <a:r>
              <a:rPr lang="es-ES" b="1" dirty="0"/>
              <a:t>Aditivos Químicos:</a:t>
            </a:r>
            <a:r>
              <a:rPr lang="es-ES" dirty="0"/>
              <a:t> Se utilizan para mejorar la eficiencia del proceso, controlar la corrosión, y reducir la fricción. Pueden incluir biocidas, agentes espesantes y surfactantes.</a:t>
            </a:r>
          </a:p>
          <a:p>
            <a:pPr marL="0" indent="0">
              <a:buNone/>
            </a:pPr>
            <a:r>
              <a:rPr lang="es-ES" b="1" dirty="0"/>
              <a:t>Ventajas del Fracking</a:t>
            </a:r>
          </a:p>
          <a:p>
            <a:pPr>
              <a:buFont typeface="Arial" panose="020B0604020202020204" pitchFamily="34" charset="0"/>
              <a:buChar char="•"/>
            </a:pPr>
            <a:r>
              <a:rPr lang="es-ES" b="1" dirty="0"/>
              <a:t>Acceso a Nuevas Reservas:</a:t>
            </a:r>
            <a:r>
              <a:rPr lang="es-ES" dirty="0"/>
              <a:t> Permite la explotación de recursos previamente inaccesibles, aumentando la oferta de petróleo y gas.</a:t>
            </a:r>
          </a:p>
          <a:p>
            <a:pPr>
              <a:buFont typeface="Arial" panose="020B0604020202020204" pitchFamily="34" charset="0"/>
              <a:buChar char="•"/>
            </a:pPr>
            <a:r>
              <a:rPr lang="es-ES" b="1" dirty="0"/>
              <a:t>Incremento de Producción:</a:t>
            </a:r>
            <a:r>
              <a:rPr lang="es-ES" dirty="0"/>
              <a:t> Puede aumentar la producción de pozos existentes y prolongar la vida útil de los campos petroleros.</a:t>
            </a:r>
          </a:p>
          <a:p>
            <a:pPr>
              <a:buFont typeface="Arial" panose="020B0604020202020204" pitchFamily="34" charset="0"/>
              <a:buChar char="•"/>
            </a:pPr>
            <a:r>
              <a:rPr lang="es-ES" b="1" dirty="0"/>
              <a:t>Reducción de Dependencia Energética:</a:t>
            </a:r>
            <a:r>
              <a:rPr lang="es-ES" dirty="0"/>
              <a:t> Ayuda a diversificar las fuentes de energía y reduce la dependencia de importaciones.</a:t>
            </a:r>
          </a:p>
          <a:p>
            <a:pPr marL="0" indent="0" algn="just">
              <a:buNone/>
            </a:pPr>
            <a:endParaRPr lang="es-ES" dirty="0"/>
          </a:p>
        </p:txBody>
      </p:sp>
    </p:spTree>
    <p:extLst>
      <p:ext uri="{BB962C8B-B14F-4D97-AF65-F5344CB8AC3E}">
        <p14:creationId xmlns:p14="http://schemas.microsoft.com/office/powerpoint/2010/main" val="143770318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19E6F5-05DC-9995-611E-161294A54025}"/>
              </a:ext>
            </a:extLst>
          </p:cNvPr>
          <p:cNvSpPr>
            <a:spLocks noGrp="1"/>
          </p:cNvSpPr>
          <p:nvPr>
            <p:ph type="title"/>
          </p:nvPr>
        </p:nvSpPr>
        <p:spPr>
          <a:xfrm>
            <a:off x="838199" y="183009"/>
            <a:ext cx="10515600" cy="996053"/>
          </a:xfrm>
        </p:spPr>
        <p:txBody>
          <a:bodyPr>
            <a:normAutofit/>
          </a:bodyPr>
          <a:lstStyle/>
          <a:p>
            <a:endParaRPr lang="es-ES" sz="2800" dirty="0"/>
          </a:p>
        </p:txBody>
      </p:sp>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387929"/>
            <a:ext cx="11032671" cy="5287061"/>
          </a:xfrm>
        </p:spPr>
        <p:txBody>
          <a:bodyPr>
            <a:normAutofit fontScale="92500" lnSpcReduction="10000"/>
          </a:bodyPr>
          <a:lstStyle/>
          <a:p>
            <a:pPr marL="0" indent="0">
              <a:buNone/>
            </a:pPr>
            <a:r>
              <a:rPr lang="es-ES" b="1" dirty="0"/>
              <a:t>Desafíos y Controversias</a:t>
            </a:r>
          </a:p>
          <a:p>
            <a:pPr>
              <a:buFont typeface="+mj-lt"/>
              <a:buAutoNum type="arabicPeriod"/>
            </a:pPr>
            <a:r>
              <a:rPr lang="es-ES" b="1" dirty="0"/>
              <a:t>Impacto Ambiental:</a:t>
            </a:r>
            <a:endParaRPr lang="es-ES" dirty="0"/>
          </a:p>
          <a:p>
            <a:pPr lvl="1"/>
            <a:r>
              <a:rPr lang="es-ES" b="1" dirty="0"/>
              <a:t>Contaminación de Agua:</a:t>
            </a:r>
            <a:r>
              <a:rPr lang="es-ES" dirty="0"/>
              <a:t> Existe el riesgo de que los químicos utilizados en el fracking contaminen los acuíferos subterráneos.</a:t>
            </a:r>
          </a:p>
          <a:p>
            <a:pPr lvl="1"/>
            <a:r>
              <a:rPr lang="es-ES" b="1" dirty="0"/>
              <a:t>Consumo de Agua:</a:t>
            </a:r>
            <a:r>
              <a:rPr lang="es-ES" dirty="0"/>
              <a:t> La técnica requiere grandes volúmenes de agua, lo que puede afectar los recursos hídricos locales, especialmente en áreas con escasez de agua.</a:t>
            </a:r>
          </a:p>
          <a:p>
            <a:pPr>
              <a:buFont typeface="+mj-lt"/>
              <a:buAutoNum type="arabicPeriod"/>
            </a:pPr>
            <a:r>
              <a:rPr lang="es-ES" b="1" dirty="0"/>
              <a:t>Terremotos Inducidos:</a:t>
            </a:r>
            <a:endParaRPr lang="es-ES" dirty="0"/>
          </a:p>
          <a:p>
            <a:pPr lvl="1"/>
            <a:r>
              <a:rPr lang="es-ES" dirty="0"/>
              <a:t>La inyección de fluidos en formaciones subterráneas puede causar sismos menores en algunas áreas.</a:t>
            </a:r>
          </a:p>
          <a:p>
            <a:pPr>
              <a:buFont typeface="+mj-lt"/>
              <a:buAutoNum type="arabicPeriod"/>
            </a:pPr>
            <a:r>
              <a:rPr lang="es-ES" b="1" dirty="0"/>
              <a:t>Emisiones de Gases de Efecto Invernadero:</a:t>
            </a:r>
            <a:endParaRPr lang="es-ES" dirty="0"/>
          </a:p>
          <a:p>
            <a:pPr lvl="1"/>
            <a:r>
              <a:rPr lang="es-ES" dirty="0"/>
              <a:t>Aunque el gas natural es más limpio que el carbón, el fracking puede liberar metano, un potente gas de efecto invernadero, durante la extracción y el transporte.</a:t>
            </a:r>
          </a:p>
          <a:p>
            <a:pPr marL="0" indent="0">
              <a:buNone/>
            </a:pPr>
            <a:r>
              <a:rPr lang="es-ES" b="1" dirty="0"/>
              <a:t>4. Problemas Sociales y de Salud:</a:t>
            </a:r>
            <a:endParaRPr lang="es-ES" dirty="0"/>
          </a:p>
          <a:p>
            <a:pPr lvl="1"/>
            <a:r>
              <a:rPr lang="es-ES" dirty="0"/>
              <a:t>Las comunidades cercanas a las áreas de fracking han expresado preocupaciones sobre los impactos en la salud pública y la calidad de vida.</a:t>
            </a:r>
          </a:p>
          <a:p>
            <a:pPr marL="457200" lvl="1" indent="0">
              <a:buNone/>
            </a:pPr>
            <a:endParaRPr lang="es-ES" dirty="0"/>
          </a:p>
          <a:p>
            <a:pPr marL="0" indent="0" algn="just">
              <a:buNone/>
            </a:pPr>
            <a:endParaRPr lang="es-ES" dirty="0"/>
          </a:p>
        </p:txBody>
      </p:sp>
    </p:spTree>
    <p:extLst>
      <p:ext uri="{BB962C8B-B14F-4D97-AF65-F5344CB8AC3E}">
        <p14:creationId xmlns:p14="http://schemas.microsoft.com/office/powerpoint/2010/main" val="236165974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19E6F5-05DC-9995-611E-161294A54025}"/>
              </a:ext>
            </a:extLst>
          </p:cNvPr>
          <p:cNvSpPr>
            <a:spLocks noGrp="1"/>
          </p:cNvSpPr>
          <p:nvPr>
            <p:ph type="title"/>
          </p:nvPr>
        </p:nvSpPr>
        <p:spPr>
          <a:xfrm>
            <a:off x="838199" y="183009"/>
            <a:ext cx="10515600" cy="996053"/>
          </a:xfrm>
        </p:spPr>
        <p:txBody>
          <a:bodyPr>
            <a:normAutofit/>
          </a:bodyPr>
          <a:lstStyle/>
          <a:p>
            <a:endParaRPr lang="es-ES" sz="2800" dirty="0"/>
          </a:p>
        </p:txBody>
      </p:sp>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179062"/>
            <a:ext cx="11032671" cy="4997902"/>
          </a:xfrm>
        </p:spPr>
        <p:txBody>
          <a:bodyPr>
            <a:normAutofit/>
          </a:bodyPr>
          <a:lstStyle/>
          <a:p>
            <a:r>
              <a:rPr lang="es-ES" b="1" dirty="0"/>
              <a:t>Regulación y Monitoreo</a:t>
            </a:r>
          </a:p>
          <a:p>
            <a:pPr>
              <a:buFont typeface="Arial" panose="020B0604020202020204" pitchFamily="34" charset="0"/>
              <a:buChar char="•"/>
            </a:pPr>
            <a:r>
              <a:rPr lang="es-ES" b="1" dirty="0"/>
              <a:t>Normativas:</a:t>
            </a:r>
            <a:r>
              <a:rPr lang="es-ES" dirty="0"/>
              <a:t> Los procesos de fracking están regulados a nivel estatal y federal en muchos países, con requisitos específicos sobre la gestión de residuos, el uso del agua y la protección ambiental.</a:t>
            </a:r>
          </a:p>
          <a:p>
            <a:pPr>
              <a:buFont typeface="Arial" panose="020B0604020202020204" pitchFamily="34" charset="0"/>
              <a:buChar char="•"/>
            </a:pPr>
            <a:r>
              <a:rPr lang="es-ES" b="1" dirty="0"/>
              <a:t>Monitoreo Ambiental:</a:t>
            </a:r>
            <a:r>
              <a:rPr lang="es-ES" dirty="0"/>
              <a:t> Se llevan a cabo estudios para evaluar y mitigar los impactos ambientales asociados con el fracking.</a:t>
            </a:r>
          </a:p>
        </p:txBody>
      </p:sp>
    </p:spTree>
    <p:extLst>
      <p:ext uri="{BB962C8B-B14F-4D97-AF65-F5344CB8AC3E}">
        <p14:creationId xmlns:p14="http://schemas.microsoft.com/office/powerpoint/2010/main" val="115499257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19E6F5-05DC-9995-611E-161294A54025}"/>
              </a:ext>
            </a:extLst>
          </p:cNvPr>
          <p:cNvSpPr>
            <a:spLocks noGrp="1"/>
          </p:cNvSpPr>
          <p:nvPr>
            <p:ph type="title"/>
          </p:nvPr>
        </p:nvSpPr>
        <p:spPr>
          <a:xfrm>
            <a:off x="838199" y="183009"/>
            <a:ext cx="10515600" cy="996053"/>
          </a:xfrm>
        </p:spPr>
        <p:txBody>
          <a:bodyPr>
            <a:normAutofit/>
          </a:bodyPr>
          <a:lstStyle/>
          <a:p>
            <a:endParaRPr lang="es-ES" sz="2800" dirty="0"/>
          </a:p>
        </p:txBody>
      </p:sp>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2383983"/>
            <a:ext cx="11032671" cy="3298370"/>
          </a:xfrm>
        </p:spPr>
        <p:txBody>
          <a:bodyPr>
            <a:normAutofit/>
          </a:bodyPr>
          <a:lstStyle/>
          <a:p>
            <a:pPr marL="0" indent="0" algn="just">
              <a:buNone/>
            </a:pPr>
            <a:r>
              <a:rPr lang="es-ES" dirty="0"/>
              <a:t>El fracking es una técnica de exploración y producción de hidrocarburos que ha transformado la industria energética, permitiendo el acceso a recursos previamente inalcanzables. Sin embargo, su uso plantea desafíos significativos en términos de impacto ambiental y salud pública. La regulación efectiva y el monitoreo continuo son esenciales para gestionar estos riesgos y garantizar una práctica sostenible en la extracción de recursos.</a:t>
            </a:r>
          </a:p>
          <a:p>
            <a:pPr marL="0" indent="0" algn="just">
              <a:buNone/>
            </a:pPr>
            <a:endParaRPr lang="es-ES" dirty="0"/>
          </a:p>
        </p:txBody>
      </p:sp>
    </p:spTree>
    <p:extLst>
      <p:ext uri="{BB962C8B-B14F-4D97-AF65-F5344CB8AC3E}">
        <p14:creationId xmlns:p14="http://schemas.microsoft.com/office/powerpoint/2010/main" val="262113329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19E6F5-05DC-9995-611E-161294A54025}"/>
              </a:ext>
            </a:extLst>
          </p:cNvPr>
          <p:cNvSpPr>
            <a:spLocks noGrp="1"/>
          </p:cNvSpPr>
          <p:nvPr>
            <p:ph type="title"/>
          </p:nvPr>
        </p:nvSpPr>
        <p:spPr>
          <a:xfrm>
            <a:off x="838199" y="183009"/>
            <a:ext cx="8697687" cy="996053"/>
          </a:xfrm>
        </p:spPr>
        <p:txBody>
          <a:bodyPr>
            <a:normAutofit/>
          </a:bodyPr>
          <a:lstStyle/>
          <a:p>
            <a:r>
              <a:rPr lang="es-ES" sz="2400" dirty="0"/>
              <a:t>Aspectos Ambientales y Protección de los Acuíferos en Relación al Fracking</a:t>
            </a:r>
            <a:endParaRPr lang="es-ES" sz="5400" dirty="0"/>
          </a:p>
        </p:txBody>
      </p:sp>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387930"/>
            <a:ext cx="11032671" cy="4789034"/>
          </a:xfrm>
        </p:spPr>
        <p:txBody>
          <a:bodyPr>
            <a:normAutofit lnSpcReduction="10000"/>
          </a:bodyPr>
          <a:lstStyle/>
          <a:p>
            <a:pPr marL="0" indent="0" algn="just">
              <a:buNone/>
            </a:pPr>
            <a:r>
              <a:rPr lang="es-ES" dirty="0"/>
              <a:t>El fracking, o fracturación hidráulica, plantea una serie de preocupaciones ambientales que deben ser abordadas para minimizar su impacto.</a:t>
            </a:r>
          </a:p>
          <a:p>
            <a:pPr marL="0" indent="0">
              <a:buNone/>
            </a:pPr>
            <a:r>
              <a:rPr lang="es-ES" b="1" dirty="0"/>
              <a:t>1. Contaminación de Agua</a:t>
            </a:r>
          </a:p>
          <a:p>
            <a:pPr>
              <a:buFont typeface="Arial" panose="020B0604020202020204" pitchFamily="34" charset="0"/>
              <a:buChar char="•"/>
            </a:pPr>
            <a:r>
              <a:rPr lang="es-ES" b="1" dirty="0"/>
              <a:t>Contaminación de Acuíferos:</a:t>
            </a:r>
            <a:endParaRPr lang="es-ES" dirty="0"/>
          </a:p>
          <a:p>
            <a:pPr marL="742950" lvl="1" indent="-285750">
              <a:buFont typeface="Arial" panose="020B0604020202020204" pitchFamily="34" charset="0"/>
              <a:buChar char="•"/>
            </a:pPr>
            <a:r>
              <a:rPr lang="es-ES" dirty="0"/>
              <a:t>Existe el riesgo de que los fluidos utilizados en el fracking, que contienen una mezcla de agua, arena y aditivos químicos, contaminen las fuentes de agua subterránea.</a:t>
            </a:r>
          </a:p>
          <a:p>
            <a:pPr marL="742950" lvl="1" indent="-285750">
              <a:buFont typeface="Arial" panose="020B0604020202020204" pitchFamily="34" charset="0"/>
              <a:buChar char="•"/>
            </a:pPr>
            <a:r>
              <a:rPr lang="es-ES" dirty="0"/>
              <a:t>Si las fracturas se extienden más allá del objetivo deseado, los químicos pueden infiltrarse en los acuíferos.</a:t>
            </a:r>
          </a:p>
          <a:p>
            <a:pPr>
              <a:buFont typeface="Arial" panose="020B0604020202020204" pitchFamily="34" charset="0"/>
              <a:buChar char="•"/>
            </a:pPr>
            <a:r>
              <a:rPr lang="es-ES" b="1" dirty="0"/>
              <a:t>Fugas y Derrames:</a:t>
            </a:r>
            <a:endParaRPr lang="es-ES" dirty="0"/>
          </a:p>
          <a:p>
            <a:pPr marL="742950" lvl="1" indent="-285750">
              <a:buFont typeface="Arial" panose="020B0604020202020204" pitchFamily="34" charset="0"/>
              <a:buChar char="•"/>
            </a:pPr>
            <a:r>
              <a:rPr lang="es-ES" dirty="0"/>
              <a:t>Durante la inyección de fluidos y el manejo de residuos, pueden ocurrir fugas o derrames, lo que podría contaminar el suelo y el agua superficial.</a:t>
            </a:r>
          </a:p>
          <a:p>
            <a:pPr marL="0" indent="0" algn="just">
              <a:buNone/>
            </a:pPr>
            <a:endParaRPr lang="es-ES" dirty="0"/>
          </a:p>
        </p:txBody>
      </p:sp>
    </p:spTree>
    <p:extLst>
      <p:ext uri="{BB962C8B-B14F-4D97-AF65-F5344CB8AC3E}">
        <p14:creationId xmlns:p14="http://schemas.microsoft.com/office/powerpoint/2010/main" val="427689289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19E6F5-05DC-9995-611E-161294A54025}"/>
              </a:ext>
            </a:extLst>
          </p:cNvPr>
          <p:cNvSpPr>
            <a:spLocks noGrp="1"/>
          </p:cNvSpPr>
          <p:nvPr>
            <p:ph type="title"/>
          </p:nvPr>
        </p:nvSpPr>
        <p:spPr>
          <a:xfrm>
            <a:off x="838199" y="183009"/>
            <a:ext cx="10515600" cy="996053"/>
          </a:xfrm>
        </p:spPr>
        <p:txBody>
          <a:bodyPr>
            <a:normAutofit/>
          </a:bodyPr>
          <a:lstStyle/>
          <a:p>
            <a:endParaRPr lang="es-ES" sz="2800" dirty="0"/>
          </a:p>
        </p:txBody>
      </p:sp>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387930"/>
            <a:ext cx="11032671" cy="4789034"/>
          </a:xfrm>
        </p:spPr>
        <p:txBody>
          <a:bodyPr>
            <a:normAutofit lnSpcReduction="10000"/>
          </a:bodyPr>
          <a:lstStyle/>
          <a:p>
            <a:pPr marL="0" indent="0">
              <a:buNone/>
            </a:pPr>
            <a:r>
              <a:rPr lang="es-ES" b="1" dirty="0"/>
              <a:t>2. Consumo de Agua</a:t>
            </a:r>
          </a:p>
          <a:p>
            <a:pPr>
              <a:buFont typeface="Arial" panose="020B0604020202020204" pitchFamily="34" charset="0"/>
              <a:buChar char="•"/>
            </a:pPr>
            <a:r>
              <a:rPr lang="es-ES" b="1" dirty="0"/>
              <a:t>Demanda de Recursos Hídricos:</a:t>
            </a:r>
            <a:endParaRPr lang="es-ES" dirty="0"/>
          </a:p>
          <a:p>
            <a:pPr marL="742950" lvl="1" indent="-285750">
              <a:buFont typeface="Arial" panose="020B0604020202020204" pitchFamily="34" charset="0"/>
              <a:buChar char="•"/>
            </a:pPr>
            <a:r>
              <a:rPr lang="es-ES" dirty="0"/>
              <a:t>El fracking requiere grandes cantidades de agua (de cientos de miles a millones de litros por pozo), lo que puede afectar el suministro local de agua, especialmente en áreas con escasez de recursos hídricos.</a:t>
            </a:r>
          </a:p>
          <a:p>
            <a:pPr marL="742950" lvl="1" indent="-285750">
              <a:buFont typeface="Arial" panose="020B0604020202020204" pitchFamily="34" charset="0"/>
              <a:buChar char="•"/>
            </a:pPr>
            <a:r>
              <a:rPr lang="es-ES" dirty="0"/>
              <a:t>Esta extracción intensiva puede afectar a ecosistemas acuáticos y a la agricultura.</a:t>
            </a:r>
          </a:p>
          <a:p>
            <a:pPr marL="0" indent="0">
              <a:buNone/>
            </a:pPr>
            <a:r>
              <a:rPr lang="es-ES" b="1" dirty="0"/>
              <a:t>3. Impacto en la Calidad del Aire</a:t>
            </a:r>
          </a:p>
          <a:p>
            <a:pPr>
              <a:buFont typeface="Arial" panose="020B0604020202020204" pitchFamily="34" charset="0"/>
              <a:buChar char="•"/>
            </a:pPr>
            <a:r>
              <a:rPr lang="es-ES" b="1" dirty="0"/>
              <a:t>Emisiones de Gases:</a:t>
            </a:r>
            <a:endParaRPr lang="es-ES" dirty="0"/>
          </a:p>
          <a:p>
            <a:pPr marL="742950" lvl="1" indent="-285750">
              <a:buFont typeface="Arial" panose="020B0604020202020204" pitchFamily="34" charset="0"/>
              <a:buChar char="•"/>
            </a:pPr>
            <a:r>
              <a:rPr lang="es-ES" dirty="0"/>
              <a:t>Las actividades de fracking pueden liberar metano, un potente gas de efecto invernadero, así como otros compuestos orgánicos volátiles (COV) que contribuyen a la contaminación del aire.</a:t>
            </a:r>
          </a:p>
          <a:p>
            <a:pPr marL="742950" lvl="1" indent="-285750">
              <a:buFont typeface="Arial" panose="020B0604020202020204" pitchFamily="34" charset="0"/>
              <a:buChar char="•"/>
            </a:pPr>
            <a:r>
              <a:rPr lang="es-ES" dirty="0"/>
              <a:t>Las emisiones de los camiones que transportan agua y el gas asociado a las operaciones pueden afectar la calidad del aire local.</a:t>
            </a:r>
          </a:p>
          <a:p>
            <a:pPr marL="0" indent="0" algn="just">
              <a:buNone/>
            </a:pPr>
            <a:endParaRPr lang="es-ES" dirty="0"/>
          </a:p>
        </p:txBody>
      </p:sp>
    </p:spTree>
    <p:extLst>
      <p:ext uri="{BB962C8B-B14F-4D97-AF65-F5344CB8AC3E}">
        <p14:creationId xmlns:p14="http://schemas.microsoft.com/office/powerpoint/2010/main" val="199589196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19E6F5-05DC-9995-611E-161294A54025}"/>
              </a:ext>
            </a:extLst>
          </p:cNvPr>
          <p:cNvSpPr>
            <a:spLocks noGrp="1"/>
          </p:cNvSpPr>
          <p:nvPr>
            <p:ph type="title"/>
          </p:nvPr>
        </p:nvSpPr>
        <p:spPr>
          <a:xfrm>
            <a:off x="838199" y="183009"/>
            <a:ext cx="10515600" cy="996053"/>
          </a:xfrm>
        </p:spPr>
        <p:txBody>
          <a:bodyPr>
            <a:normAutofit/>
          </a:bodyPr>
          <a:lstStyle/>
          <a:p>
            <a:endParaRPr lang="es-ES" sz="2800" dirty="0"/>
          </a:p>
        </p:txBody>
      </p:sp>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387930"/>
            <a:ext cx="11032671" cy="4789034"/>
          </a:xfrm>
        </p:spPr>
        <p:txBody>
          <a:bodyPr>
            <a:normAutofit lnSpcReduction="10000"/>
          </a:bodyPr>
          <a:lstStyle/>
          <a:p>
            <a:pPr marL="0" indent="0">
              <a:buNone/>
            </a:pPr>
            <a:r>
              <a:rPr lang="es-ES" b="1" dirty="0"/>
              <a:t>4. Generación de Residuos</a:t>
            </a:r>
          </a:p>
          <a:p>
            <a:pPr>
              <a:buFont typeface="Arial" panose="020B0604020202020204" pitchFamily="34" charset="0"/>
              <a:buChar char="•"/>
            </a:pPr>
            <a:r>
              <a:rPr lang="es-ES" b="1" dirty="0"/>
              <a:t>Gestión de Residuos:</a:t>
            </a:r>
            <a:endParaRPr lang="es-ES" dirty="0"/>
          </a:p>
          <a:p>
            <a:pPr marL="742950" lvl="1" indent="-285750">
              <a:buFont typeface="Arial" panose="020B0604020202020204" pitchFamily="34" charset="0"/>
              <a:buChar char="•"/>
            </a:pPr>
            <a:r>
              <a:rPr lang="es-ES" dirty="0"/>
              <a:t>Los residuos resultantes del fracking, incluidos los lodos y el agua producida, deben ser gestionados adecuadamente para prevenir la contaminación.</a:t>
            </a:r>
          </a:p>
          <a:p>
            <a:pPr marL="742950" lvl="1" indent="-285750">
              <a:buFont typeface="Arial" panose="020B0604020202020204" pitchFamily="34" charset="0"/>
              <a:buChar char="•"/>
            </a:pPr>
            <a:r>
              <a:rPr lang="es-ES" dirty="0"/>
              <a:t>La eliminación inadecuada de estos residuos puede causar contaminación del suelo y del agua.</a:t>
            </a:r>
          </a:p>
          <a:p>
            <a:pPr marL="0" indent="0">
              <a:buNone/>
            </a:pPr>
            <a:r>
              <a:rPr lang="es-ES" b="1" dirty="0"/>
              <a:t>5. Impacto en la Fauna y Flora</a:t>
            </a:r>
          </a:p>
          <a:p>
            <a:pPr>
              <a:buFont typeface="Arial" panose="020B0604020202020204" pitchFamily="34" charset="0"/>
              <a:buChar char="•"/>
            </a:pPr>
            <a:r>
              <a:rPr lang="es-ES" b="1" dirty="0"/>
              <a:t>Alteración de Hábitats:</a:t>
            </a:r>
            <a:endParaRPr lang="es-ES" dirty="0"/>
          </a:p>
          <a:p>
            <a:pPr marL="742950" lvl="1" indent="-285750">
              <a:buFont typeface="Arial" panose="020B0604020202020204" pitchFamily="34" charset="0"/>
              <a:buChar char="•"/>
            </a:pPr>
            <a:r>
              <a:rPr lang="es-ES" dirty="0"/>
              <a:t>La construcción de infraestructuras, como caminos y plataformas, puede fragmentar hábitats naturales y afectar a especies locales.</a:t>
            </a:r>
          </a:p>
          <a:p>
            <a:pPr marL="742950" lvl="1" indent="-285750">
              <a:buFont typeface="Arial" panose="020B0604020202020204" pitchFamily="34" charset="0"/>
              <a:buChar char="•"/>
            </a:pPr>
            <a:r>
              <a:rPr lang="es-ES" dirty="0"/>
              <a:t>La contaminación del agua y del suelo también puede impactar negativamente la flora y fauna circundantes.</a:t>
            </a:r>
          </a:p>
          <a:p>
            <a:pPr marL="0" indent="0" algn="just">
              <a:buNone/>
            </a:pPr>
            <a:endParaRPr lang="es-ES" dirty="0"/>
          </a:p>
        </p:txBody>
      </p:sp>
    </p:spTree>
    <p:extLst>
      <p:ext uri="{BB962C8B-B14F-4D97-AF65-F5344CB8AC3E}">
        <p14:creationId xmlns:p14="http://schemas.microsoft.com/office/powerpoint/2010/main" val="297491858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19E6F5-05DC-9995-611E-161294A54025}"/>
              </a:ext>
            </a:extLst>
          </p:cNvPr>
          <p:cNvSpPr>
            <a:spLocks noGrp="1"/>
          </p:cNvSpPr>
          <p:nvPr>
            <p:ph type="title"/>
          </p:nvPr>
        </p:nvSpPr>
        <p:spPr>
          <a:xfrm>
            <a:off x="838199" y="183009"/>
            <a:ext cx="10515600" cy="996053"/>
          </a:xfrm>
        </p:spPr>
        <p:txBody>
          <a:bodyPr>
            <a:normAutofit/>
          </a:bodyPr>
          <a:lstStyle/>
          <a:p>
            <a:endParaRPr lang="es-ES" sz="2800" dirty="0"/>
          </a:p>
        </p:txBody>
      </p:sp>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387930"/>
            <a:ext cx="11032671" cy="4789034"/>
          </a:xfrm>
        </p:spPr>
        <p:txBody>
          <a:bodyPr>
            <a:normAutofit fontScale="92500" lnSpcReduction="20000"/>
          </a:bodyPr>
          <a:lstStyle/>
          <a:p>
            <a:pPr marL="0" indent="0">
              <a:buNone/>
            </a:pPr>
            <a:r>
              <a:rPr lang="es-ES" b="1" dirty="0"/>
              <a:t>Protección de los Acuíferos</a:t>
            </a:r>
          </a:p>
          <a:p>
            <a:r>
              <a:rPr lang="es-ES" dirty="0"/>
              <a:t>Para mitigar los riesgos ambientales asociados con el fracking y proteger los acuíferos, se pueden implementar varias estrategias:</a:t>
            </a:r>
          </a:p>
          <a:p>
            <a:pPr marL="0" indent="0">
              <a:buNone/>
            </a:pPr>
            <a:r>
              <a:rPr lang="es-ES" b="1" dirty="0"/>
              <a:t>1. Regulación Estricta</a:t>
            </a:r>
          </a:p>
          <a:p>
            <a:pPr>
              <a:buFont typeface="Arial" panose="020B0604020202020204" pitchFamily="34" charset="0"/>
              <a:buChar char="•"/>
            </a:pPr>
            <a:r>
              <a:rPr lang="es-ES" b="1" dirty="0"/>
              <a:t>Normativas Ambientales:</a:t>
            </a:r>
            <a:endParaRPr lang="es-ES" dirty="0"/>
          </a:p>
          <a:p>
            <a:pPr marL="742950" lvl="1" indent="-285750">
              <a:buFont typeface="Arial" panose="020B0604020202020204" pitchFamily="34" charset="0"/>
              <a:buChar char="•"/>
            </a:pPr>
            <a:r>
              <a:rPr lang="es-ES" dirty="0"/>
              <a:t>Se deben establecer regulaciones claras que limiten el uso de productos químicos en el fracking y que requieran la divulgación completa de las sustancias utilizadas.</a:t>
            </a:r>
          </a:p>
          <a:p>
            <a:pPr marL="742950" lvl="1" indent="-285750">
              <a:buFont typeface="Arial" panose="020B0604020202020204" pitchFamily="34" charset="0"/>
              <a:buChar char="•"/>
            </a:pPr>
            <a:r>
              <a:rPr lang="es-ES" dirty="0"/>
              <a:t>Las normas deben incluir requisitos para la gestión de aguas residuales y derrames.</a:t>
            </a:r>
          </a:p>
          <a:p>
            <a:pPr marL="0" indent="0">
              <a:buNone/>
            </a:pPr>
            <a:r>
              <a:rPr lang="es-ES" b="1" dirty="0"/>
              <a:t>2. Monitoreo y Evaluación</a:t>
            </a:r>
          </a:p>
          <a:p>
            <a:pPr>
              <a:buFont typeface="Arial" panose="020B0604020202020204" pitchFamily="34" charset="0"/>
              <a:buChar char="•"/>
            </a:pPr>
            <a:r>
              <a:rPr lang="es-ES" b="1" dirty="0"/>
              <a:t>Monitoreo de Recursos Hídricos:</a:t>
            </a:r>
            <a:endParaRPr lang="es-ES" dirty="0"/>
          </a:p>
          <a:p>
            <a:pPr marL="742950" lvl="1" indent="-285750">
              <a:buFont typeface="Arial" panose="020B0604020202020204" pitchFamily="34" charset="0"/>
              <a:buChar char="•"/>
            </a:pPr>
            <a:r>
              <a:rPr lang="es-ES" dirty="0"/>
              <a:t>Implementar programas de monitoreo de la calidad del agua antes, durante y después de las actividades de fracking para detectar contaminaciones.</a:t>
            </a:r>
          </a:p>
          <a:p>
            <a:pPr marL="742950" lvl="1" indent="-285750">
              <a:buFont typeface="Arial" panose="020B0604020202020204" pitchFamily="34" charset="0"/>
              <a:buChar char="•"/>
            </a:pPr>
            <a:r>
              <a:rPr lang="es-ES" dirty="0"/>
              <a:t>Establecer líneas base para evaluar los impactos a largo plazo en acuíferos y ecosistemas locales.</a:t>
            </a:r>
          </a:p>
          <a:p>
            <a:pPr marL="0" indent="0" algn="just">
              <a:buNone/>
            </a:pPr>
            <a:endParaRPr lang="es-ES" dirty="0"/>
          </a:p>
        </p:txBody>
      </p:sp>
    </p:spTree>
    <p:extLst>
      <p:ext uri="{BB962C8B-B14F-4D97-AF65-F5344CB8AC3E}">
        <p14:creationId xmlns:p14="http://schemas.microsoft.com/office/powerpoint/2010/main" val="258256264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19E6F5-05DC-9995-611E-161294A54025}"/>
              </a:ext>
            </a:extLst>
          </p:cNvPr>
          <p:cNvSpPr>
            <a:spLocks noGrp="1"/>
          </p:cNvSpPr>
          <p:nvPr>
            <p:ph type="title"/>
          </p:nvPr>
        </p:nvSpPr>
        <p:spPr>
          <a:xfrm>
            <a:off x="838199" y="183009"/>
            <a:ext cx="10515600" cy="996053"/>
          </a:xfrm>
        </p:spPr>
        <p:txBody>
          <a:bodyPr>
            <a:normAutofit/>
          </a:bodyPr>
          <a:lstStyle/>
          <a:p>
            <a:endParaRPr lang="es-ES" sz="2800" dirty="0"/>
          </a:p>
        </p:txBody>
      </p:sp>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387930"/>
            <a:ext cx="11032671" cy="4789034"/>
          </a:xfrm>
        </p:spPr>
        <p:txBody>
          <a:bodyPr>
            <a:normAutofit fontScale="85000" lnSpcReduction="20000"/>
          </a:bodyPr>
          <a:lstStyle/>
          <a:p>
            <a:pPr marL="0" indent="0">
              <a:buNone/>
            </a:pPr>
            <a:r>
              <a:rPr lang="es-ES" b="1" dirty="0"/>
              <a:t>3. Prácticas de Manejo de Agua</a:t>
            </a:r>
          </a:p>
          <a:p>
            <a:pPr>
              <a:buFont typeface="Arial" panose="020B0604020202020204" pitchFamily="34" charset="0"/>
              <a:buChar char="•"/>
            </a:pPr>
            <a:r>
              <a:rPr lang="es-ES" b="1" dirty="0"/>
              <a:t>Uso Sostenible del Agua:</a:t>
            </a:r>
            <a:endParaRPr lang="es-ES" dirty="0"/>
          </a:p>
          <a:p>
            <a:pPr marL="742950" lvl="1" indent="-285750">
              <a:buFont typeface="Arial" panose="020B0604020202020204" pitchFamily="34" charset="0"/>
              <a:buChar char="•"/>
            </a:pPr>
            <a:r>
              <a:rPr lang="es-ES" dirty="0"/>
              <a:t>Fomentar el reciclaje y la reutilización de agua utilizada en el fracking para reducir la demanda de recursos hídricos.</a:t>
            </a:r>
          </a:p>
          <a:p>
            <a:pPr marL="742950" lvl="1" indent="-285750">
              <a:buFont typeface="Arial" panose="020B0604020202020204" pitchFamily="34" charset="0"/>
              <a:buChar char="•"/>
            </a:pPr>
            <a:r>
              <a:rPr lang="es-ES" dirty="0"/>
              <a:t>Implementar tecnologías que minimicen la cantidad de agua necesaria para las operaciones.</a:t>
            </a:r>
          </a:p>
          <a:p>
            <a:pPr marL="0" indent="0">
              <a:buNone/>
            </a:pPr>
            <a:r>
              <a:rPr lang="es-ES" b="1" dirty="0"/>
              <a:t>4. Planificación Espacial</a:t>
            </a:r>
          </a:p>
          <a:p>
            <a:pPr>
              <a:buFont typeface="Arial" panose="020B0604020202020204" pitchFamily="34" charset="0"/>
              <a:buChar char="•"/>
            </a:pPr>
            <a:r>
              <a:rPr lang="es-ES" b="1" dirty="0"/>
              <a:t>Ubicación de Operaciones:</a:t>
            </a:r>
            <a:endParaRPr lang="es-ES" dirty="0"/>
          </a:p>
          <a:p>
            <a:pPr marL="742950" lvl="1" indent="-285750">
              <a:buFont typeface="Arial" panose="020B0604020202020204" pitchFamily="34" charset="0"/>
              <a:buChar char="•"/>
            </a:pPr>
            <a:r>
              <a:rPr lang="es-ES" dirty="0"/>
              <a:t>Evitar la ubicación de pozos de fracking en áreas sensibles, como zonas de recarga de acuíferos o en proximidad a fuentes de agua potable.</a:t>
            </a:r>
          </a:p>
          <a:p>
            <a:pPr marL="742950" lvl="1" indent="-285750">
              <a:buFont typeface="Arial" panose="020B0604020202020204" pitchFamily="34" charset="0"/>
              <a:buChar char="•"/>
            </a:pPr>
            <a:r>
              <a:rPr lang="es-ES" dirty="0"/>
              <a:t>Realizar evaluaciones de impacto ambiental (EIA) detalladas antes de iniciar proyectos.</a:t>
            </a:r>
          </a:p>
          <a:p>
            <a:pPr marL="0" indent="0">
              <a:buNone/>
            </a:pPr>
            <a:r>
              <a:rPr lang="es-ES" b="1" dirty="0"/>
              <a:t>5. Educación y Transparencia</a:t>
            </a:r>
          </a:p>
          <a:p>
            <a:pPr>
              <a:buFont typeface="Arial" panose="020B0604020202020204" pitchFamily="34" charset="0"/>
              <a:buChar char="•"/>
            </a:pPr>
            <a:r>
              <a:rPr lang="es-ES" b="1" dirty="0"/>
              <a:t>Conciencia Pública:</a:t>
            </a:r>
            <a:endParaRPr lang="es-ES" dirty="0"/>
          </a:p>
          <a:p>
            <a:pPr marL="742950" lvl="1" indent="-285750">
              <a:buFont typeface="Arial" panose="020B0604020202020204" pitchFamily="34" charset="0"/>
              <a:buChar char="•"/>
            </a:pPr>
            <a:r>
              <a:rPr lang="es-ES" dirty="0"/>
              <a:t>Promover la transparencia en las operaciones de fracking, incluyendo la divulgación de los químicos utilizados y los resultados de los monitoreos de calidad del agua.</a:t>
            </a:r>
          </a:p>
          <a:p>
            <a:pPr marL="742950" lvl="1" indent="-285750">
              <a:buFont typeface="Arial" panose="020B0604020202020204" pitchFamily="34" charset="0"/>
              <a:buChar char="•"/>
            </a:pPr>
            <a:r>
              <a:rPr lang="es-ES" dirty="0"/>
              <a:t>Involucrar a las comunidades locales en el proceso de toma de decisiones.</a:t>
            </a:r>
          </a:p>
          <a:p>
            <a:pPr marL="0" indent="0" algn="just">
              <a:buNone/>
            </a:pPr>
            <a:endParaRPr lang="es-ES" dirty="0"/>
          </a:p>
        </p:txBody>
      </p:sp>
    </p:spTree>
    <p:extLst>
      <p:ext uri="{BB962C8B-B14F-4D97-AF65-F5344CB8AC3E}">
        <p14:creationId xmlns:p14="http://schemas.microsoft.com/office/powerpoint/2010/main" val="51219018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19E6F5-05DC-9995-611E-161294A54025}"/>
              </a:ext>
            </a:extLst>
          </p:cNvPr>
          <p:cNvSpPr>
            <a:spLocks noGrp="1"/>
          </p:cNvSpPr>
          <p:nvPr>
            <p:ph type="title"/>
          </p:nvPr>
        </p:nvSpPr>
        <p:spPr>
          <a:xfrm>
            <a:off x="838199" y="183009"/>
            <a:ext cx="10515600" cy="996053"/>
          </a:xfrm>
        </p:spPr>
        <p:txBody>
          <a:bodyPr>
            <a:normAutofit/>
          </a:bodyPr>
          <a:lstStyle/>
          <a:p>
            <a:endParaRPr lang="es-ES" sz="2800" dirty="0"/>
          </a:p>
        </p:txBody>
      </p:sp>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387930"/>
            <a:ext cx="11032671" cy="4789034"/>
          </a:xfrm>
        </p:spPr>
        <p:txBody>
          <a:bodyPr>
            <a:normAutofit/>
          </a:bodyPr>
          <a:lstStyle/>
          <a:p>
            <a:pPr marL="0" indent="0" algn="just">
              <a:buNone/>
            </a:pPr>
            <a:r>
              <a:rPr lang="es-ES" dirty="0"/>
              <a:t>El fracking presenta desafíos significativos para el medio ambiente, especialmente en lo que respecta a la contaminación del agua y el consumo de recursos hídricos. Sin embargo, con una regulación adecuada, prácticas de manejo responsables y un enfoque en la transparencia, es posible mitigar estos riesgos y proteger los acuíferos y otros recursos naturales. La colaboración entre la industria, los gobiernos y las comunidades es esencial para garantizar un equilibrio entre la producción de energía y la conservación ambiental.</a:t>
            </a:r>
          </a:p>
        </p:txBody>
      </p:sp>
    </p:spTree>
    <p:extLst>
      <p:ext uri="{BB962C8B-B14F-4D97-AF65-F5344CB8AC3E}">
        <p14:creationId xmlns:p14="http://schemas.microsoft.com/office/powerpoint/2010/main" val="146863862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19E6F5-05DC-9995-611E-161294A54025}"/>
              </a:ext>
            </a:extLst>
          </p:cNvPr>
          <p:cNvSpPr>
            <a:spLocks noGrp="1"/>
          </p:cNvSpPr>
          <p:nvPr>
            <p:ph type="title"/>
          </p:nvPr>
        </p:nvSpPr>
        <p:spPr>
          <a:xfrm>
            <a:off x="838199" y="183009"/>
            <a:ext cx="10515600" cy="996053"/>
          </a:xfrm>
        </p:spPr>
        <p:txBody>
          <a:bodyPr>
            <a:normAutofit/>
          </a:bodyPr>
          <a:lstStyle/>
          <a:p>
            <a:r>
              <a:rPr lang="es-ES" sz="2800" dirty="0"/>
              <a:t>EJEMPLOS DE FRACKING EN EL MUNDO </a:t>
            </a:r>
          </a:p>
        </p:txBody>
      </p:sp>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338943"/>
            <a:ext cx="11032671" cy="5143499"/>
          </a:xfrm>
        </p:spPr>
        <p:txBody>
          <a:bodyPr>
            <a:normAutofit fontScale="92500" lnSpcReduction="20000"/>
          </a:bodyPr>
          <a:lstStyle/>
          <a:p>
            <a:pPr marL="0" indent="0">
              <a:buNone/>
            </a:pPr>
            <a:r>
              <a:rPr lang="es-ES" b="1" dirty="0"/>
              <a:t>Estados Unidos:</a:t>
            </a:r>
            <a:endParaRPr lang="es-ES" dirty="0"/>
          </a:p>
          <a:p>
            <a:pPr>
              <a:buFont typeface="Arial" panose="020B0604020202020204" pitchFamily="34" charset="0"/>
              <a:buChar char="•"/>
            </a:pPr>
            <a:r>
              <a:rPr lang="es-ES" b="1" dirty="0"/>
              <a:t>Formación de </a:t>
            </a:r>
            <a:r>
              <a:rPr lang="es-ES" b="1" dirty="0" err="1"/>
              <a:t>Bakken</a:t>
            </a:r>
            <a:r>
              <a:rPr lang="es-ES" b="1" dirty="0"/>
              <a:t> (Dakota del Norte):</a:t>
            </a:r>
            <a:r>
              <a:rPr lang="es-ES" dirty="0"/>
              <a:t> Uno de los ejemplos más conocidos de fracking, donde la técnica ha permitido un aumento significativo en la producción de petróleo y gas natural.</a:t>
            </a:r>
          </a:p>
          <a:p>
            <a:pPr>
              <a:buFont typeface="Arial" panose="020B0604020202020204" pitchFamily="34" charset="0"/>
              <a:buChar char="•"/>
            </a:pPr>
            <a:r>
              <a:rPr lang="es-ES" b="1" dirty="0"/>
              <a:t>Formación de Marcellus (</a:t>
            </a:r>
            <a:r>
              <a:rPr lang="es-ES" b="1" dirty="0" err="1"/>
              <a:t>Appalaches</a:t>
            </a:r>
            <a:r>
              <a:rPr lang="es-ES" b="1" dirty="0"/>
              <a:t>):</a:t>
            </a:r>
            <a:r>
              <a:rPr lang="es-ES" dirty="0"/>
              <a:t> Esta formación de gas de esquisto ha sido fundamental para convertir a EE. UU. en uno de los principales productores de gas natural del mundo.</a:t>
            </a:r>
          </a:p>
          <a:p>
            <a:pPr marL="0" indent="0" algn="just">
              <a:buNone/>
            </a:pPr>
            <a:r>
              <a:rPr lang="es-ES" b="1" dirty="0"/>
              <a:t>Canadá:</a:t>
            </a:r>
          </a:p>
          <a:p>
            <a:pPr algn="just"/>
            <a:r>
              <a:rPr lang="es-ES" b="1" dirty="0"/>
              <a:t>Formación de </a:t>
            </a:r>
            <a:r>
              <a:rPr lang="es-ES" b="1" dirty="0" err="1"/>
              <a:t>Montney</a:t>
            </a:r>
            <a:r>
              <a:rPr lang="es-ES" b="1" dirty="0"/>
              <a:t>: </a:t>
            </a:r>
            <a:r>
              <a:rPr lang="es-ES" dirty="0"/>
              <a:t>El uso de fracking en esta formación ha permitido a Canadá acceder a vastas reservas de gas natural, impulsando su economía energética.</a:t>
            </a:r>
          </a:p>
          <a:p>
            <a:pPr marL="0" indent="0">
              <a:buNone/>
            </a:pPr>
            <a:r>
              <a:rPr lang="es-ES" b="1" dirty="0"/>
              <a:t>Reino Unido:</a:t>
            </a:r>
            <a:endParaRPr lang="es-ES" dirty="0"/>
          </a:p>
          <a:p>
            <a:pPr>
              <a:buFont typeface="Arial" panose="020B0604020202020204" pitchFamily="34" charset="0"/>
              <a:buChar char="•"/>
            </a:pPr>
            <a:r>
              <a:rPr lang="es-ES" dirty="0"/>
              <a:t>En Inglaterra, las empresas han intentado implementar fracking en formaciones de esquisto, pero han enfrentado oposición pública y regulaciones estrictas que han retrasado proyectos.</a:t>
            </a:r>
          </a:p>
          <a:p>
            <a:pPr algn="just"/>
            <a:endParaRPr lang="es-ES" dirty="0"/>
          </a:p>
        </p:txBody>
      </p:sp>
    </p:spTree>
    <p:extLst>
      <p:ext uri="{BB962C8B-B14F-4D97-AF65-F5344CB8AC3E}">
        <p14:creationId xmlns:p14="http://schemas.microsoft.com/office/powerpoint/2010/main" val="40166125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19E6F5-05DC-9995-611E-161294A54025}"/>
              </a:ext>
            </a:extLst>
          </p:cNvPr>
          <p:cNvSpPr>
            <a:spLocks noGrp="1"/>
          </p:cNvSpPr>
          <p:nvPr>
            <p:ph type="title"/>
          </p:nvPr>
        </p:nvSpPr>
        <p:spPr>
          <a:xfrm>
            <a:off x="838199" y="183009"/>
            <a:ext cx="10515600" cy="996053"/>
          </a:xfrm>
        </p:spPr>
        <p:txBody>
          <a:bodyPr>
            <a:normAutofit/>
          </a:bodyPr>
          <a:lstStyle/>
          <a:p>
            <a:r>
              <a:rPr lang="es-ES" sz="2800" dirty="0"/>
              <a:t>REPERCUSION DEL FRAKING EN PERU</a:t>
            </a:r>
          </a:p>
        </p:txBody>
      </p:sp>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387930"/>
            <a:ext cx="11032671" cy="4789034"/>
          </a:xfrm>
        </p:spPr>
        <p:txBody>
          <a:bodyPr>
            <a:normAutofit/>
          </a:bodyPr>
          <a:lstStyle/>
          <a:p>
            <a:pPr marL="0" indent="0" algn="just">
              <a:buNone/>
            </a:pPr>
            <a:r>
              <a:rPr lang="es-ES" dirty="0"/>
              <a:t>En Perú, el fracking no está tan desarrollado como en otros países, pero se han discutido sus implicaciones y potenciales impactos ambientales y sociales:</a:t>
            </a:r>
          </a:p>
          <a:p>
            <a:pPr marL="0" indent="0">
              <a:buNone/>
            </a:pPr>
            <a:r>
              <a:rPr lang="es-ES" b="1" dirty="0"/>
              <a:t>Exploración de Hidrocarburos</a:t>
            </a:r>
          </a:p>
          <a:p>
            <a:pPr>
              <a:buFont typeface="Arial" panose="020B0604020202020204" pitchFamily="34" charset="0"/>
              <a:buChar char="•"/>
            </a:pPr>
            <a:r>
              <a:rPr lang="es-ES" b="1" dirty="0"/>
              <a:t>Intereses en la Amazonía:</a:t>
            </a:r>
            <a:r>
              <a:rPr lang="es-ES" dirty="0"/>
              <a:t> Existen áreas en la Amazonía peruana con potencial para el fracking, pero la explotación de estos recursos se encuentra en un contexto delicado debido a la rica biodiversidad y a la presencia de comunidades indígenas.</a:t>
            </a:r>
          </a:p>
          <a:p>
            <a:pPr>
              <a:buFont typeface="Arial" panose="020B0604020202020204" pitchFamily="34" charset="0"/>
              <a:buChar char="•"/>
            </a:pPr>
            <a:r>
              <a:rPr lang="es-ES" b="1" dirty="0"/>
              <a:t>Reservas de Gas Natural:</a:t>
            </a:r>
            <a:r>
              <a:rPr lang="es-ES" dirty="0"/>
              <a:t> Se han identificado reservas no convencionales de gas en la región de La Libertad y otros lugares, que podrían beneficiarse del fracking.</a:t>
            </a:r>
          </a:p>
          <a:p>
            <a:pPr marL="0" indent="0" algn="just">
              <a:buNone/>
            </a:pPr>
            <a:endParaRPr lang="es-ES" dirty="0"/>
          </a:p>
        </p:txBody>
      </p:sp>
    </p:spTree>
    <p:extLst>
      <p:ext uri="{BB962C8B-B14F-4D97-AF65-F5344CB8AC3E}">
        <p14:creationId xmlns:p14="http://schemas.microsoft.com/office/powerpoint/2010/main" val="297393469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19E6F5-05DC-9995-611E-161294A54025}"/>
              </a:ext>
            </a:extLst>
          </p:cNvPr>
          <p:cNvSpPr>
            <a:spLocks noGrp="1"/>
          </p:cNvSpPr>
          <p:nvPr>
            <p:ph type="title"/>
          </p:nvPr>
        </p:nvSpPr>
        <p:spPr>
          <a:xfrm>
            <a:off x="838199" y="183009"/>
            <a:ext cx="10515600" cy="996053"/>
          </a:xfrm>
        </p:spPr>
        <p:txBody>
          <a:bodyPr>
            <a:normAutofit/>
          </a:bodyPr>
          <a:lstStyle/>
          <a:p>
            <a:endParaRPr lang="es-ES" sz="2800" dirty="0"/>
          </a:p>
        </p:txBody>
      </p:sp>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387930"/>
            <a:ext cx="11032671" cy="4789034"/>
          </a:xfrm>
        </p:spPr>
        <p:txBody>
          <a:bodyPr>
            <a:normAutofit fontScale="92500" lnSpcReduction="20000"/>
          </a:bodyPr>
          <a:lstStyle/>
          <a:p>
            <a:pPr marL="0" indent="0">
              <a:buNone/>
            </a:pPr>
            <a:r>
              <a:rPr lang="es-ES" b="1" dirty="0"/>
              <a:t>Impacto Ambiental</a:t>
            </a:r>
          </a:p>
          <a:p>
            <a:pPr>
              <a:buFont typeface="Arial" panose="020B0604020202020204" pitchFamily="34" charset="0"/>
              <a:buChar char="•"/>
            </a:pPr>
            <a:r>
              <a:rPr lang="es-ES" b="1" dirty="0"/>
              <a:t>Contaminación del Agua:</a:t>
            </a:r>
            <a:r>
              <a:rPr lang="es-ES" dirty="0"/>
              <a:t> La preocupación principal es la posible contaminación de acuíferos y fuentes de agua potable, especialmente en áreas cercanas a comunidades vulnerables.</a:t>
            </a:r>
          </a:p>
          <a:p>
            <a:pPr>
              <a:buFont typeface="Arial" panose="020B0604020202020204" pitchFamily="34" charset="0"/>
              <a:buChar char="•"/>
            </a:pPr>
            <a:r>
              <a:rPr lang="es-ES" b="1" dirty="0"/>
              <a:t>Deforestación y Biodiversidad:</a:t>
            </a:r>
            <a:r>
              <a:rPr lang="es-ES" dirty="0"/>
              <a:t> La exploración y extracción de hidrocarburos pueden llevar a la deforestación y afectar ecosistemas frágiles en la Amazonía.</a:t>
            </a:r>
          </a:p>
          <a:p>
            <a:r>
              <a:rPr lang="es-ES" b="1" dirty="0"/>
              <a:t>Cuestiones Sociales</a:t>
            </a:r>
          </a:p>
          <a:p>
            <a:pPr>
              <a:buFont typeface="Arial" panose="020B0604020202020204" pitchFamily="34" charset="0"/>
              <a:buChar char="•"/>
            </a:pPr>
            <a:r>
              <a:rPr lang="es-ES" b="1" dirty="0"/>
              <a:t>Derechos de las Comunidades Indígenas:</a:t>
            </a:r>
            <a:r>
              <a:rPr lang="es-ES" dirty="0"/>
              <a:t> La implementación de fracking en territorios indígenas podría generar conflictos por el acceso y uso de la tierra, así como por la falta de consulta previa.</a:t>
            </a:r>
          </a:p>
          <a:p>
            <a:pPr>
              <a:buFont typeface="Arial" panose="020B0604020202020204" pitchFamily="34" charset="0"/>
              <a:buChar char="•"/>
            </a:pPr>
            <a:r>
              <a:rPr lang="es-ES" b="1" dirty="0"/>
              <a:t>Protestas y Resistencia:</a:t>
            </a:r>
            <a:r>
              <a:rPr lang="es-ES" dirty="0"/>
              <a:t> Ha habido movilizaciones sociales en oposición a la explotación de recursos naturales, incluyendo el fracking, lo que refleja la preocupación por la salud, el medio ambiente y los derechos de las comunidades locales.</a:t>
            </a:r>
          </a:p>
          <a:p>
            <a:pPr>
              <a:buFont typeface="Arial" panose="020B0604020202020204" pitchFamily="34" charset="0"/>
              <a:buChar char="•"/>
            </a:pPr>
            <a:endParaRPr lang="es-ES" dirty="0"/>
          </a:p>
          <a:p>
            <a:pPr marL="0" indent="0" algn="just">
              <a:buNone/>
            </a:pPr>
            <a:endParaRPr lang="es-ES" dirty="0"/>
          </a:p>
        </p:txBody>
      </p:sp>
    </p:spTree>
    <p:extLst>
      <p:ext uri="{BB962C8B-B14F-4D97-AF65-F5344CB8AC3E}">
        <p14:creationId xmlns:p14="http://schemas.microsoft.com/office/powerpoint/2010/main" val="238737150"/>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19E6F5-05DC-9995-611E-161294A54025}"/>
              </a:ext>
            </a:extLst>
          </p:cNvPr>
          <p:cNvSpPr>
            <a:spLocks noGrp="1"/>
          </p:cNvSpPr>
          <p:nvPr>
            <p:ph type="title"/>
          </p:nvPr>
        </p:nvSpPr>
        <p:spPr>
          <a:xfrm>
            <a:off x="838199" y="183009"/>
            <a:ext cx="10515600" cy="996053"/>
          </a:xfrm>
        </p:spPr>
        <p:txBody>
          <a:bodyPr>
            <a:normAutofit/>
          </a:bodyPr>
          <a:lstStyle/>
          <a:p>
            <a:endParaRPr lang="es-ES" sz="2800" dirty="0"/>
          </a:p>
        </p:txBody>
      </p:sp>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179061"/>
            <a:ext cx="11032671" cy="5254395"/>
          </a:xfrm>
        </p:spPr>
        <p:txBody>
          <a:bodyPr>
            <a:normAutofit fontScale="92500"/>
          </a:bodyPr>
          <a:lstStyle/>
          <a:p>
            <a:pPr marL="0" indent="0">
              <a:buNone/>
            </a:pPr>
            <a:r>
              <a:rPr lang="es-ES" b="1" dirty="0"/>
              <a:t>Regulación y Debate Público</a:t>
            </a:r>
          </a:p>
          <a:p>
            <a:pPr algn="just">
              <a:buFont typeface="Arial" panose="020B0604020202020204" pitchFamily="34" charset="0"/>
              <a:buChar char="•"/>
            </a:pPr>
            <a:r>
              <a:rPr lang="es-ES" b="1" dirty="0"/>
              <a:t>Marco Legal:</a:t>
            </a:r>
            <a:r>
              <a:rPr lang="es-ES" dirty="0"/>
              <a:t> La regulación del fracking en Perú aún está en discusión. El gobierno debe balancear el desarrollo económico con la protección del medio ambiente y los derechos de las comunidades.</a:t>
            </a:r>
          </a:p>
          <a:p>
            <a:pPr algn="just">
              <a:buFont typeface="Arial" panose="020B0604020202020204" pitchFamily="34" charset="0"/>
              <a:buChar char="•"/>
            </a:pPr>
            <a:r>
              <a:rPr lang="es-ES" b="1" dirty="0"/>
              <a:t>Propuestas de Investigación:</a:t>
            </a:r>
            <a:r>
              <a:rPr lang="es-ES" dirty="0"/>
              <a:t> Hay llamados para realizar estudios de impacto ambiental rigurosos antes de implementar cualquier proyecto de fracking, asegurando que se consideren todos los aspectos sociales y ecológicos.</a:t>
            </a:r>
          </a:p>
          <a:p>
            <a:pPr marL="0" indent="0" algn="just">
              <a:buNone/>
            </a:pPr>
            <a:r>
              <a:rPr lang="es-ES" dirty="0"/>
              <a:t>El fracking presenta tanto oportunidades como desafíos en Perú. Si bien puede ofrecer acceso a nuevos recursos energéticos, también plantea serias preocupaciones ambientales y sociales. La gestión adecuada y la participación de las comunidades son cruciales para garantizar que cualquier desarrollo se realice de manera sostenible y respetuosa. La experiencia de otros países con el fracking puede servir como lección para abordar estos temas en el contexto peruano.</a:t>
            </a:r>
          </a:p>
        </p:txBody>
      </p:sp>
    </p:spTree>
    <p:extLst>
      <p:ext uri="{BB962C8B-B14F-4D97-AF65-F5344CB8AC3E}">
        <p14:creationId xmlns:p14="http://schemas.microsoft.com/office/powerpoint/2010/main" val="428844152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05381496"/>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22582</TotalTime>
  <Words>6307</Words>
  <Application>Microsoft Office PowerPoint</Application>
  <PresentationFormat>Panorámica</PresentationFormat>
  <Paragraphs>390</Paragraphs>
  <Slides>73</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73</vt:i4>
      </vt:variant>
    </vt:vector>
  </HeadingPairs>
  <TitlesOfParts>
    <vt:vector size="78" baseType="lpstr">
      <vt:lpstr>Arial</vt:lpstr>
      <vt:lpstr>Calibri</vt:lpstr>
      <vt:lpstr>Outfit</vt:lpstr>
      <vt:lpstr>Prompt</vt:lpstr>
      <vt:lpstr>Tema de Office</vt:lpstr>
      <vt:lpstr>Presentación de PowerPoint</vt:lpstr>
      <vt:lpstr>Presentación de PowerPoint</vt:lpstr>
      <vt:lpstr>TECNOLOGIA OFF SHORE Y FRACKING</vt:lpstr>
      <vt:lpstr>INTRODUCCION</vt:lpstr>
      <vt:lpstr>TECNOLOGIAS OFFSHORE</vt:lpstr>
      <vt:lpstr>FRACKING</vt:lpstr>
      <vt:lpstr>Presentación de PowerPoint</vt:lpstr>
      <vt:lpstr>INTRODUCCION A LAS ESTRUCTURAS E INGENIERIA OFFSHORE</vt:lpstr>
      <vt:lpstr>PRINCIPALES ASPECTOS DE LA INGENIERIA OFFSHORE</vt:lpstr>
      <vt:lpstr>Presentación de PowerPoint</vt:lpstr>
      <vt:lpstr>Presentación de PowerPoint</vt:lpstr>
      <vt:lpstr>Presentación de PowerPoint</vt:lpstr>
      <vt:lpstr>Presentación de PowerPoint</vt:lpstr>
      <vt:lpstr>Presentación de PowerPoint</vt:lpstr>
      <vt:lpstr>ESTRUCTURAS FIJAS Y FLOTANTES. PERFORACION Y PRODUCCION OFFSHORE</vt:lpstr>
      <vt:lpstr>PRINCIPALES TIPOS DE ESTRUCTURAS FIJAS</vt:lpstr>
      <vt:lpstr>Presentación de PowerPoint</vt:lpstr>
      <vt:lpstr>Presentación de PowerPoint</vt:lpstr>
      <vt:lpstr>Presentación de PowerPoint</vt:lpstr>
      <vt:lpstr>Presentación de PowerPoint</vt:lpstr>
      <vt:lpstr>Presentación de PowerPoint</vt:lpstr>
      <vt:lpstr>Presentación de PowerPoint</vt:lpstr>
      <vt:lpstr>ESTRUCTUCTURAS FLOTANTES</vt:lpstr>
      <vt:lpstr>TIPOS DE PLATAFORMAS FLOTANTES</vt:lpstr>
      <vt:lpstr>Presentación de PowerPoint</vt:lpstr>
      <vt:lpstr>Presentación de PowerPoint</vt:lpstr>
      <vt:lpstr>Presentación de PowerPoint</vt:lpstr>
      <vt:lpstr>BUQUES DE PERFORACION (DRILLSHIPS)</vt:lpstr>
      <vt:lpstr>Presentación de PowerPoint</vt:lpstr>
      <vt:lpstr>Presentación de PowerPoint</vt:lpstr>
      <vt:lpstr>Presentación de PowerPoint</vt:lpstr>
      <vt:lpstr>Presentación de PowerPoint</vt:lpstr>
      <vt:lpstr>Presentación de PowerPoint</vt:lpstr>
      <vt:lpstr>PLATAFORMAS DE TENSION </vt:lpstr>
      <vt:lpstr>Presentación de PowerPoint</vt:lpstr>
      <vt:lpstr>Presentación de PowerPoint</vt:lpstr>
      <vt:lpstr>Presentación de PowerPoint</vt:lpstr>
      <vt:lpstr>Presentación de PowerPoint</vt:lpstr>
      <vt:lpstr>PLATAFORMAS SPAR</vt:lpstr>
      <vt:lpstr>Presentación de PowerPoint</vt:lpstr>
      <vt:lpstr>Presentación de PowerPoint</vt:lpstr>
      <vt:lpstr>Presentación de PowerPoint</vt:lpstr>
      <vt:lpstr>Presentación de PowerPoint</vt:lpstr>
      <vt:lpstr>Presentación de PowerPoint</vt:lpstr>
      <vt:lpstr>PERFORACION Y PRODUCCION OFFSHORE</vt:lpstr>
      <vt:lpstr>FASES DE LA PERFORACION OFFSHORE</vt:lpstr>
      <vt:lpstr>Presentación de PowerPoint</vt:lpstr>
      <vt:lpstr>TIPOS DE PERFORACION OFFSHORE</vt:lpstr>
      <vt:lpstr>TECNOLOGIA UTILIZADA EN PERFORACION OFFSHORE</vt:lpstr>
      <vt:lpstr>Presentación de PowerPoint</vt:lpstr>
      <vt:lpstr>PRODUCCION OFFSHORE</vt:lpstr>
      <vt:lpstr>FASES DE LA PRODUCCION OFFSHORE</vt:lpstr>
      <vt:lpstr>TECNOLOGIA DE PRODUCCION</vt:lpstr>
      <vt:lpstr>ALMACENAMIENTO Y TRANSPORTE</vt:lpstr>
      <vt:lpstr>GESTION DE AGUA PRODUCIDA</vt:lpstr>
      <vt:lpstr>Presentación de PowerPoint</vt:lpstr>
      <vt:lpstr>Técnica de Exploración de Hidrocarburos por Métodos No Convencionales: Fracking</vt:lpstr>
      <vt:lpstr>PROCESO DE FRACKING</vt:lpstr>
      <vt:lpstr>Presentación de PowerPoint</vt:lpstr>
      <vt:lpstr>Presentación de PowerPoint</vt:lpstr>
      <vt:lpstr>Presentación de PowerPoint</vt:lpstr>
      <vt:lpstr>Presentación de PowerPoint</vt:lpstr>
      <vt:lpstr>Aspectos Ambientales y Protección de los Acuíferos en Relación al Fracking</vt:lpstr>
      <vt:lpstr>Presentación de PowerPoint</vt:lpstr>
      <vt:lpstr>Presentación de PowerPoint</vt:lpstr>
      <vt:lpstr>Presentación de PowerPoint</vt:lpstr>
      <vt:lpstr>Presentación de PowerPoint</vt:lpstr>
      <vt:lpstr>Presentación de PowerPoint</vt:lpstr>
      <vt:lpstr>EJEMPLOS DE FRACKING EN EL MUNDO </vt:lpstr>
      <vt:lpstr>REPERCUSION DEL FRAKING EN PERU</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Ci5D2</dc:creator>
  <cp:lastModifiedBy>Benji Jonathan Cruzate Contreras</cp:lastModifiedBy>
  <cp:revision>50</cp:revision>
  <dcterms:created xsi:type="dcterms:W3CDTF">2022-04-19T18:02:09Z</dcterms:created>
  <dcterms:modified xsi:type="dcterms:W3CDTF">2024-09-24T20:11:35Z</dcterms:modified>
</cp:coreProperties>
</file>